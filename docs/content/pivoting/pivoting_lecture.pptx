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Started the final project</a:t>
            </a:r>
            <a:r>
              <a:rPr/>
              <a:t> — claimed a topic and a candidate dataset</a:t>
            </a:r>
          </a:p>
          <a:p>
            <a:pPr lvl="0"/>
            <a:r>
              <a:rPr/>
              <a:t>Sized up a new dataset in R with </a:t>
            </a:r>
            <a:r>
              <a:rPr>
                <a:latin typeface="Courier"/>
              </a:rPr>
              <a:t>read_csv()</a:t>
            </a:r>
            <a:r>
              <a:rPr/>
              <a:t>,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</a:p>
          <a:p>
            <a:pPr lvl="0"/>
            <a:r>
              <a:rPr/>
              <a:t>Wrote H₀ and Hₐ for a question you chose yourself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Every dataset we’ve analyzed so far came to us </a:t>
            </a:r>
            <a:r>
              <a:rPr sz="2000" b="1"/>
              <a:t>already tidy</a:t>
            </a:r>
            <a:r>
              <a:rPr sz="2000"/>
              <a:t> — one row per observation,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four short chunks</a:t>
            </a:r>
            <a:r>
              <a:rPr/>
              <a:t>. After each chunk you switch to the </a:t>
            </a:r>
            <a:r>
              <a:rPr b="1"/>
              <a:t>activity</a:t>
            </a:r>
            <a:r>
              <a:rPr/>
              <a:t> and type the code yourself.</a:t>
            </a:r>
          </a:p>
          <a:p>
            <a:pPr lvl="0" indent="0" marL="0">
              <a:buNone/>
            </a:pPr>
            <a:r>
              <a:rPr b="1"/>
              <a:t>For every code block,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what you think the output will be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 (the evidence)</a:t>
            </a:r>
          </a:p>
          <a:p>
            <a:pPr lvl="0"/>
            <a:r>
              <a:rPr sz="2000"/>
              <a:t>Guessing the shape of </a:t>
            </a:r>
            <a:r>
              <a:rPr sz="2000">
                <a:latin typeface="Courier"/>
              </a:rPr>
              <a:t>ice_long</a:t>
            </a:r>
            <a:r>
              <a:rPr sz="2000"/>
              <a:t> before you pivot forces you to reason about what </a:t>
            </a:r>
            <a:r>
              <a:rPr sz="2000">
                <a:latin typeface="Courier"/>
              </a:rPr>
              <a:t>pivot_longer()</a:t>
            </a:r>
            <a:r>
              <a:rPr sz="2000"/>
              <a:t> actually does, instead of just watching it happen.</a:t>
            </a:r>
          </a:p>
          <a:p>
            <a:pPr lvl="0"/>
            <a:r>
              <a:rPr sz="2000"/>
              <a:t>Typing </a:t>
            </a:r>
            <a:r>
              <a:rPr sz="2000">
                <a:latin typeface="Courier"/>
              </a:rPr>
              <a:t>names_prefix</a:t>
            </a:r>
            <a:r>
              <a:rPr sz="2000"/>
              <a:t>, </a:t>
            </a:r>
            <a:r>
              <a:rPr sz="2000">
                <a:latin typeface="Courier"/>
              </a:rPr>
              <a:t>names_to</a:t>
            </a:r>
            <a:r>
              <a:rPr sz="2000"/>
              <a:t>, and </a:t>
            </a:r>
            <a:r>
              <a:rPr sz="2000">
                <a:latin typeface="Courier"/>
              </a:rPr>
              <a:t>values_to</a:t>
            </a:r>
            <a:r>
              <a:rPr sz="2000"/>
              <a:t> yourself is how you notice which argument does which job — copy-pasting lets you skip right past that.</a:t>
            </a:r>
          </a:p>
          <a:p>
            <a:pPr lvl="0"/>
            <a:r>
              <a:rPr sz="2000"/>
              <a:t>Reshaping wrong in front of an error message (a missing </a:t>
            </a:r>
            <a:r>
              <a:rPr sz="2000">
                <a:latin typeface="Courier"/>
              </a:rPr>
              <a:t>date</a:t>
            </a:r>
            <a:r>
              <a:rPr sz="2000"/>
              <a:t> column, a stray </a:t>
            </a:r>
            <a:r>
              <a:rPr sz="2000">
                <a:latin typeface="Courier"/>
              </a:rPr>
              <a:t>X</a:t>
            </a:r>
            <a:r>
              <a:rPr sz="2000"/>
              <a:t>) teaches you more about tidy data than reshaping right on the first try.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4 · Why Wide Data Is 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where the ice data comes from, why “wide” data breaks tidy tools, and reading the messy text file into R.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1–2</a:t>
            </a:r>
            <a:r>
              <a:rPr sz="2000"/>
              <a:t> (read the raw file and inspect its wide shape).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This table has one column per year — 53 of them. Before the next slides: can </a:t>
            </a:r>
            <a:r>
              <a:rPr sz="2000">
                <a:latin typeface="Courier"/>
              </a:rPr>
              <a:t>ggplot()</a:t>
            </a:r>
            <a:r>
              <a:rPr sz="2000"/>
              <a:t> use this shape directly? If not, what has to change first?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(ice_raw)       </a:t>
            </a:r>
            <a:r>
              <a:rPr>
                <a:solidFill>
                  <a:srgbClr val="5E5E5E"/>
                </a:solidFill>
                <a:latin typeface="Courier"/>
              </a:rPr>
              <a:t># rows x columns - look how WIDE</a:t>
            </a:r>
          </a:p>
          <a:p>
            <a:pPr lvl="0" indent="0">
              <a:buNone/>
            </a:pPr>
            <a:r>
              <a:rPr>
                <a:latin typeface="Courier"/>
              </a:rPr>
              <a:t>[1] 209  55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ice_raw[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]  </a:t>
            </a:r>
            <a:r>
              <a:rPr>
                <a:solidFill>
                  <a:srgbClr val="5E5E5E"/>
                </a:solidFill>
                <a:latin typeface="Courier"/>
              </a:rPr>
              <a:t># just the first few columns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5
  date   X1973 X1974 X1975 X1976
  &lt;chr&gt;  &lt;dbl&gt; &lt;dbl&gt; &lt;dbl&gt; &lt;dbl&gt;
1 Nov-10    NA    NA    NA    NA
2 Nov-11    NA    NA    NA    NA
3 Nov-12    NA    NA    NA    NA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beats </a:t>
            </a:r>
            <a:r>
              <a:rPr>
                <a:latin typeface="Courier"/>
              </a:rPr>
              <a:t>read_csv()</a:t>
            </a:r>
            <a:r>
              <a:rPr/>
              <a:t> here —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says which placeholders really mean “missing”</a:t>
            </a:r>
          </a:p>
          <a:p>
            <a:pPr lvl="0"/>
            <a:r>
              <a:rPr/>
              <a:t>The day labels (</a:t>
            </a:r>
            <a:r>
              <a:rPr>
                <a:latin typeface="Courier"/>
              </a:rPr>
              <a:t>Nov-10</a:t>
            </a:r>
            <a:r>
              <a:rPr/>
              <a:t>…) were </a:t>
            </a:r>
            <a:r>
              <a:rPr b="1"/>
              <a:t>row names</a:t>
            </a:r>
            <a:r>
              <a:rPr/>
              <a:t>, not a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Column names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—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a name can’t start with a number!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1–2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</a:t>
            </a:r>
            <a:r>
              <a:rPr>
                <a:latin typeface="Courier"/>
              </a:rPr>
              <a:t>sup.txt</a:t>
            </a:r>
            <a:r>
              <a:rPr/>
              <a:t> straight from the web with </a:t>
            </a:r>
            <a:r>
              <a:rPr>
                <a:latin typeface="Courier"/>
              </a:rPr>
              <a:t>read.table()</a:t>
            </a:r>
            <a:r>
              <a:rPr/>
              <a:t>, turn the row labels into a real </a:t>
            </a:r>
            <a:r>
              <a:rPr>
                <a:latin typeface="Courier"/>
              </a:rPr>
              <a:t>date</a:t>
            </a:r>
            <a:r>
              <a:rPr/>
              <a:t> column, and look at the wide shape. Predict how many columns it has before you run it.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4 · Reshape with pivot_longer &amp; Fix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pivot_longer()</a:t>
            </a:r>
            <a:r>
              <a:rPr/>
              <a:t> to make the data tidy, the before/after shape, and the tricky winters-cross-the-new-year date fix.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3–4</a:t>
            </a:r>
            <a:r>
              <a:rPr sz="2000"/>
              <a:t> (pivot to long, then fix the calendar-year wrinkle).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ice_raw</a:t>
            </a:r>
            <a:r>
              <a:rPr sz="2000"/>
              <a:t> is ~190 rows × 53 columns. After </a:t>
            </a:r>
            <a:r>
              <a:rPr sz="2000">
                <a:latin typeface="Courier"/>
              </a:rPr>
              <a:t>pivot_longer()</a:t>
            </a:r>
            <a:r>
              <a:rPr sz="2000"/>
              <a:t>, how many </a:t>
            </a:r>
            <a:r>
              <a:rPr sz="2000" b="1"/>
              <a:t>columns</a:t>
            </a:r>
            <a:r>
              <a:rPr sz="2000"/>
              <a:t> will </a:t>
            </a:r>
            <a:r>
              <a:rPr sz="2000">
                <a:latin typeface="Courier"/>
              </a:rPr>
              <a:t>ice_long</a:t>
            </a:r>
            <a:r>
              <a:rPr sz="2000"/>
              <a:t> have?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Live Demo — Watch It Break (on purpose)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Suppose I forgot </a:t>
            </a:r>
            <a:r>
              <a:rPr>
                <a:latin typeface="Courier"/>
              </a:rPr>
              <a:t>rownames_to_column()</a:t>
            </a:r>
            <a:r>
              <a:rPr/>
              <a:t>, so there is no </a:t>
            </a:r>
            <a:r>
              <a:rPr>
                <a:latin typeface="Courier"/>
              </a:rPr>
              <a:t>date</a:t>
            </a:r>
            <a:r>
              <a:rPr/>
              <a:t> column yet: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to pivot every column except date...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 stops:</a:t>
            </a:r>
          </a:p>
          <a:p>
            <a:pPr lvl="0" indent="0">
              <a:buNone/>
            </a:pPr>
            <a:r>
              <a:rPr>
                <a:latin typeface="Courier"/>
              </a:rPr>
              <a:t>Error in `pivot_longer()`:
! Can't select columns that don't exist.
✖ Column `date` doesn't exist.</a:t>
            </a:r>
          </a:p>
          <a:p>
            <a:pPr lvl="0" indent="0" marL="0">
              <a:buNone/>
            </a:pPr>
            <a:r>
              <a:rPr/>
              <a:t>The fix — make the row labels a real column first: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ice_raw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✅ Why show a broken run?</a:t>
            </a:r>
          </a:p>
          <a:p>
            <a:pPr lvl="0" indent="0" marL="1270000">
              <a:buNone/>
            </a:pPr>
            <a:r>
              <a:rPr sz="2000"/>
              <a:t>“Column </a:t>
            </a:r>
            <a:r>
              <a:rPr sz="2000">
                <a:latin typeface="Courier"/>
              </a:rPr>
              <a:t>date</a:t>
            </a:r>
            <a:r>
              <a:rPr sz="2000"/>
              <a:t> doesn’t exist” means you referenced a column R can’t see — here because the day labels were still </a:t>
            </a:r>
            <a:r>
              <a:rPr sz="2000" b="1"/>
              <a:t>row names</a:t>
            </a:r>
            <a:r>
              <a:rPr sz="2000"/>
              <a:t>, not data. Reading the message points you straight to the fix.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Once a dataset’s categories are trapped in column names instead of a column of values, this reshape is usually the first thing you reach for — it’s what turns a spreadsheet into something </a:t>
            </a:r>
            <a:r>
              <a:rPr sz="2000">
                <a:latin typeface="Courier"/>
              </a:rPr>
              <a:t>group_by()</a:t>
            </a:r>
            <a:r>
              <a:rPr sz="2000"/>
              <a:t> can work with.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 season runs </a:t>
            </a:r>
            <a:r>
              <a:rPr b="1"/>
              <a:t>Nov → May</a:t>
            </a:r>
            <a:r>
              <a:rPr/>
              <a:t>, but NOAA labels it by the year winter </a:t>
            </a:r>
            <a:r>
              <a:rPr b="1"/>
              <a:t>ends</a:t>
            </a:r>
            <a:r>
              <a:rPr/>
              <a:t> in — so </a:t>
            </a:r>
            <a:r>
              <a:rPr>
                <a:latin typeface="Courier"/>
              </a:rPr>
              <a:t>Nov-10</a:t>
            </a:r>
            <a:r>
              <a:rPr/>
              <a:t> under </a:t>
            </a:r>
            <a:r>
              <a:rPr>
                <a:latin typeface="Courier"/>
              </a:rPr>
              <a:t>1974</a:t>
            </a:r>
            <a:r>
              <a:rPr/>
              <a:t> really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3–4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the data long with </a:t>
            </a:r>
            <a:r>
              <a:rPr>
                <a:latin typeface="Courier"/>
              </a:rPr>
              <a:t>pivot_longer()</a:t>
            </a:r>
            <a:r>
              <a:rPr/>
              <a:t>, then fix the winters that cross the new year with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. Predict the new shape before you run it.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4 · Summarize &amp; Pivot Back Wider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group_by() %&gt;% summarize()</a:t>
            </a:r>
            <a:r>
              <a:rPr/>
              <a:t> on the newly-tidy data, and </a:t>
            </a:r>
            <a:r>
              <a:rPr>
                <a:latin typeface="Courier"/>
              </a:rPr>
              <a:t>pivot_wider()</a:t>
            </a:r>
            <a:r>
              <a:rPr/>
              <a:t> to build a readable year-by-month table.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5–6</a:t>
            </a:r>
            <a:r>
              <a:rPr sz="2000"/>
              <a:t> (summarize by month, then make a pivot table).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12’s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Expect to reach for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again in your own research.</a:t>
            </a:r>
            <a:r>
              <a:rPr sz="2000"/>
              <a:t> Government text files, field data sheets, and Excel exports are so often shaped one-column-per-year or one-column-per-site that this pivot comes up in almost any real dataset you didn’t design yourself.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5–6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Summarize mean ice cover by year-month, then use </a:t>
            </a:r>
            <a:r>
              <a:rPr>
                <a:latin typeface="Courier"/>
              </a:rPr>
              <a:t>pivot_wider()</a:t>
            </a:r>
            <a:r>
              <a:rPr/>
              <a:t> to build the Excel-style table. Predict how many rows and columns the wide table will have.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4 of 4 · Visualize &amp; Model the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rebuilding NOAA’s spaghetti plot, pulling each year’s peak ice with </a:t>
            </a:r>
            <a:r>
              <a:rPr>
                <a:latin typeface="Courier"/>
              </a:rPr>
              <a:t>slice_max()</a:t>
            </a:r>
            <a:r>
              <a:rPr/>
              <a:t>, and modeling whether maximum ice cover is declining.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7–9</a:t>
            </a:r>
            <a:r>
              <a:rPr sz="2000"/>
              <a:t> (spaghetti plot, yearly maximum, trend model).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this plot live every winter — </a:t>
            </a:r>
            <a:r>
              <a:rPr b="1"/>
              <a:t>current year</a:t>
            </a:r>
            <a:r>
              <a:rPr/>
              <a:t> (black), </a:t>
            </a:r>
            <a:r>
              <a:rPr b="1"/>
              <a:t>historical average</a:t>
            </a:r>
            <a:r>
              <a:rPr/>
              <a:t> (red), </a:t>
            </a:r>
            <a:r>
              <a:rPr b="1"/>
              <a:t>every past year</a:t>
            </a:r>
            <a:r>
              <a:rPr/>
              <a:t> (thin blue):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 build </a:t>
            </a:r>
            <a:r>
              <a:rPr b="1"/>
              <a:t>our own version</a:t>
            </a:r>
            <a:r>
              <a:rPr/>
              <a:t> from the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whole ice season, Nov → May</a:t>
            </a:r>
          </a:p>
          <a:p>
            <a:pPr lvl="0"/>
            <a:r>
              <a:rPr/>
              <a:t>The pattern that emerges — or doesn’t — is the climate story</a:t>
            </a:r>
          </a:p>
          <a:p>
            <a:pPr lvl="0" indent="0" marL="0">
              <a:buNone/>
            </a:pPr>
            <a:r>
              <a:rPr/>
              <a:t>A good example of the </a:t>
            </a:r>
            <a:r>
              <a:rPr b="1"/>
              <a:t>same chart type</a:t>
            </a:r>
            <a:r>
              <a:rPr/>
              <a:t> showing up in published science.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pivoting_lecture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32000"/>
            <a:ext cx="44323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 blue — every past year, faded so patterns stand out</a:t>
            </a:r>
          </a:p>
          <a:p>
            <a:pPr lvl="0"/>
            <a:r>
              <a:rPr/>
              <a:t>Thick red — the 50+ year average</a:t>
            </a:r>
          </a:p>
          <a:p>
            <a:pPr lvl="0"/>
            <a:r>
              <a:rPr/>
              <a:t>Thick black — this year, drawn last so it sits on top</a:t>
            </a:r>
          </a:p>
          <a:p>
            <a:pPr lvl="0" indent="0" marL="0">
              <a:buNone/>
            </a:pPr>
            <a:r>
              <a:rPr/>
              <a:t>Compare it to NOAA’s published plot — did we recreate it?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Over 50+ years, is Lake Superior’s </a:t>
            </a:r>
            <a:r>
              <a:rPr sz="2000" i="1"/>
              <a:t>maximum</a:t>
            </a:r>
            <a:r>
              <a:rPr sz="2000"/>
              <a:t> winter ice cover </a:t>
            </a:r>
            <a:r>
              <a:rPr sz="2000" b="1"/>
              <a:t>declining, flat, or rising</a:t>
            </a:r>
            <a:r>
              <a:rPr sz="2000"/>
              <a:t>?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New question:</a:t>
            </a:r>
            <a:r>
              <a:rPr/>
              <a:t> has each winter’s </a:t>
            </a:r>
            <a:r>
              <a:rPr b="1"/>
              <a:t>peak</a:t>
            </a:r>
            <a:r>
              <a:rPr/>
              <a:t> ice cover changed over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Given the huge year-to-year scatter in Great Lakes ice, do you expect the slope’s p-value to be </a:t>
            </a:r>
            <a:r>
              <a:rPr sz="2000" b="1"/>
              <a:t>below or above 0.05</a:t>
            </a:r>
            <a:r>
              <a:rPr sz="2000"/>
              <a:t>? Predict before you read </a:t>
            </a:r>
            <a:r>
              <a:rPr sz="2000">
                <a:latin typeface="Courier"/>
              </a:rPr>
              <a:t>summary()</a:t>
            </a:r>
            <a:r>
              <a:rPr sz="2000"/>
              <a:t>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as the Regression lecture</a:t>
            </a:r>
            <a:r>
              <a:rPr/>
              <a:t>, with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</a:p>
          <a:p>
            <a:pPr lvl="0"/>
            <a:r>
              <a:rPr/>
              <a:t>The </a:t>
            </a:r>
            <a:r>
              <a:rPr b="1"/>
              <a:t>slope</a:t>
            </a:r>
            <a:r>
              <a:rPr/>
              <a:t> = percentage points of max ice gained or lost per year</a:t>
            </a:r>
          </a:p>
          <a:p>
            <a:pPr lvl="0"/>
            <a:r>
              <a:rPr/>
              <a:t>Read the slope’s </a:t>
            </a:r>
            <a:r>
              <a:rPr>
                <a:latin typeface="Courier"/>
              </a:rPr>
              <a:t>Pr(&gt;|t|)</a:t>
            </a:r>
            <a:r>
              <a:rPr/>
              <a:t> to decide if the trend is real</a:t>
            </a:r>
          </a:p>
          <a:p>
            <a:pPr lvl="0"/>
            <a:r>
              <a:rPr/>
              <a:t>Then read the </a:t>
            </a:r>
            <a:r>
              <a:rPr b="1"/>
              <a:t>R²</a:t>
            </a:r>
            <a:r>
              <a:rPr/>
              <a:t> — it is small here</a:t>
            </a:r>
          </a:p>
          <a:p>
            <a:pPr lvl="1"/>
            <a:r>
              <a:rPr/>
              <a:t>the trend is real, and it explains only a slice of the variation</a:t>
            </a:r>
          </a:p>
          <a:p>
            <a:pPr lvl="1"/>
            <a:r>
              <a:rPr/>
              <a:t>both numbers, or you have told half the story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Trend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pivoting_lecture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765300"/>
            <a:ext cx="44323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Notice the </a:t>
            </a:r>
            <a:r>
              <a:rPr b="1"/>
              <a:t>huge year-to-year scatter</a:t>
            </a:r>
          </a:p>
          <a:p>
            <a:pPr lvl="1"/>
            <a:r>
              <a:rPr/>
              <a:t>Great Lakes ice is famously variable</a:t>
            </a:r>
          </a:p>
          <a:p>
            <a:pPr lvl="1"/>
            <a:r>
              <a:rPr/>
              <a:t>driven by short-term weather — ENSO, the polar vortex</a:t>
            </a:r>
          </a:p>
          <a:p>
            <a:pPr lvl="1"/>
            <a:r>
              <a:rPr/>
              <a:t>not just a steady climate trend</a:t>
            </a:r>
          </a:p>
          <a:p>
            <a:pPr lvl="0"/>
            <a:r>
              <a:rPr/>
              <a:t>This is real data</a:t>
            </a:r>
          </a:p>
          <a:p>
            <a:pPr lvl="1"/>
            <a:r>
              <a:rPr/>
              <a:t>the story is messier, and more honest, than a clean line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7–9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spaghetti plot, pull each winter’s peak with </a:t>
            </a:r>
            <a:r>
              <a:rPr>
                <a:latin typeface="Courier"/>
              </a:rPr>
              <a:t>slice_max()</a:t>
            </a:r>
            <a:r>
              <a:rPr/>
              <a:t>, and fit </a:t>
            </a:r>
            <a:r>
              <a:rPr>
                <a:latin typeface="Courier"/>
              </a:rPr>
              <a:t>lm(ice_cover ~ year)</a:t>
            </a:r>
            <a:r>
              <a:rPr/>
              <a:t>. Predict the trend’s direction and significance before you run it.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pairs, unlocking </a:t>
            </a:r>
            <a:r>
              <a:rPr>
                <a:latin typeface="Courier"/>
              </a:rPr>
              <a:t>group_by()</a:t>
            </a:r>
            <a:r>
              <a:rPr/>
              <a:t>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applies to </a:t>
            </a:r>
            <a:r>
              <a:rPr i="1"/>
              <a:t>any</a:t>
            </a:r>
            <a:r>
              <a:rPr/>
              <a:t> time-indexed variable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Lecture 16:</a:t>
            </a:r>
          </a:p>
          <a:p>
            <a:pPr lvl="0"/>
            <a:r>
              <a:rPr b="1"/>
              <a:t>Joins</a:t>
            </a:r>
            <a:r>
              <a:rPr/>
              <a:t> — two tables that each hold half the story</a:t>
            </a:r>
          </a:p>
          <a:p>
            <a:pPr lvl="0"/>
            <a:r>
              <a:rPr/>
              <a:t>Homework: the same pivot workflow on a Great Lake of your choice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— Wide, Long, and Wild: Pivoting Real Data</dc:title>
  <dc:creator>Bill Perry</dc:creator>
  <cp:keywords/>
  <dc:description>Lake Superior Ice Data and how to pivot and summarize data.</dc:description>
  <dcterms:created xsi:type="dcterms:W3CDTF">2026-10-19T16:11:03Z</dcterms:created>
  <dcterms:modified xsi:type="dcterms:W3CDTF">2026-10-19T16:11:03Z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15</vt:lpwstr>
  </property>
  <property fmtid="{D5CDD505-2E9C-101B-9397-08002B2CF9AE}" pid="13" name="resources">
    <vt:lpwstr/>
  </property>
  <property fmtid="{D5CDD505-2E9C-101B-9397-08002B2CF9AE}" pid="14" name="subtitle">
    <vt:lpwstr>Reshaping Lake Superior ice cover data with pivot_longer() and pivot_wider()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8</vt:lpwstr>
  </property>
</Properties>
</file>