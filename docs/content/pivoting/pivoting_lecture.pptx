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Wide, Long, and Wild: Pivoting Real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Reshaping Lake Superior ice cover data with pivot_longer() and pivot_wider()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Started the final project</a:t>
            </a:r>
            <a:r>
              <a:rPr/>
              <a:t> — claimed a topic and a candidate dataset</a:t>
            </a:r>
          </a:p>
          <a:p>
            <a:pPr lvl="0"/>
            <a:r>
              <a:rPr/>
              <a:t>Sized up a new dataset in R with 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</a:p>
          <a:p>
            <a:pPr lvl="0"/>
            <a:r>
              <a:rPr/>
              <a:t>Wrote H₀ and Hₐ for a question you chose yourself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/>
            <a:r>
              <a:rPr sz="2000"/>
              <a:t>Every dataset we’ve analyzed so far came to us </a:t>
            </a:r>
            <a:r>
              <a:rPr sz="2000" b="1"/>
              <a:t>already tidy</a:t>
            </a:r>
            <a:r>
              <a:rPr sz="2000"/>
              <a:t> — one row per observation, one column per variable.</a:t>
            </a:r>
          </a:p>
          <a:p>
            <a:pPr lvl="0"/>
            <a:r>
              <a:rPr sz="2000"/>
              <a:t>Today’s dataset will </a:t>
            </a:r>
            <a:r>
              <a:rPr sz="2000" b="1"/>
              <a:t>not</a:t>
            </a:r>
            <a:r>
              <a:rPr sz="2000"/>
              <a:t> be tidy.</a:t>
            </a:r>
          </a:p>
          <a:p>
            <a:pPr lvl="0"/>
            <a:r>
              <a:rPr sz="2000"/>
              <a:t>We’ll learn how to fix that.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a genuinely </a:t>
            </a:r>
            <a:r>
              <a:rPr b="1"/>
              <a:t>messy, wide</a:t>
            </a:r>
            <a:r>
              <a:rPr/>
              <a:t> real-world dataset — Lake Superior daily ice cover</a:t>
            </a:r>
          </a:p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wide data is hard for R (and great for humans)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pivot_longer()</a:t>
            </a:r>
            <a:r>
              <a:rPr/>
              <a:t> — turn wide data into tidy long data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pivot_wider()</a:t>
            </a:r>
            <a:r>
              <a:rPr/>
              <a:t> — turn long data back into a human-readable summary table</a:t>
            </a:r>
          </a:p>
          <a:p>
            <a:pPr lvl="0"/>
            <a:r>
              <a:rPr/>
              <a:t>Handle a tricky real-world wrinkle: </a:t>
            </a:r>
            <a:r>
              <a:rPr b="1"/>
              <a:t>winter seasons that cross the new year</a:t>
            </a:r>
          </a:p>
          <a:p>
            <a:pPr lvl="0"/>
            <a:r>
              <a:rPr/>
              <a:t>Recreate NOAA’s own “spaghetti plot” comparing every year of ice cover</a:t>
            </a:r>
          </a:p>
          <a:p>
            <a:pPr lvl="0"/>
            <a:r>
              <a:rPr/>
              <a:t>Ask: is Lake Superior’s </a:t>
            </a:r>
            <a:r>
              <a:rPr b="1"/>
              <a:t>maximum ice cover</a:t>
            </a:r>
            <a:r>
              <a:rPr/>
              <a:t> changing over time?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reshaped real NOAA ice data and built the same kind of plot NOAA scientists publish.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R4DS 2e — Hadley Wickham</a:t>
            </a:r>
          </a:p>
          <a:p>
            <a:pPr lvl="1"/>
            <a:r>
              <a:rPr>
                <a:hlinkClick r:id="rId2"/>
              </a:rPr>
              <a:t>Ch. 5 Data tidying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Guessing the shape of </a:t>
            </a:r>
            <a:r>
              <a:rPr sz="2000">
                <a:latin typeface="Courier"/>
              </a:rPr>
              <a:t>ice_long</a:t>
            </a:r>
            <a:r>
              <a:rPr sz="2000"/>
              <a:t> before you pivot forces you to reason about what </a:t>
            </a:r>
            <a:r>
              <a:rPr sz="2000">
                <a:latin typeface="Courier"/>
              </a:rPr>
              <a:t>pivot_longer()</a:t>
            </a:r>
            <a:r>
              <a:rPr sz="2000"/>
              <a:t> actually does, instead of just watching it happen.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names_prefix</a:t>
            </a:r>
            <a:r>
              <a:rPr sz="2000"/>
              <a:t>, </a:t>
            </a:r>
            <a:r>
              <a:rPr sz="2000">
                <a:latin typeface="Courier"/>
              </a:rPr>
              <a:t>names_to</a:t>
            </a:r>
            <a:r>
              <a:rPr sz="2000"/>
              <a:t>, and </a:t>
            </a:r>
            <a:r>
              <a:rPr sz="2000">
                <a:latin typeface="Courier"/>
              </a:rPr>
              <a:t>values_to</a:t>
            </a:r>
            <a:r>
              <a:rPr sz="2000"/>
              <a:t> yourself is how you notice which argument does which job — copy-pasting lets you skip right past that.</a:t>
            </a:r>
          </a:p>
          <a:p>
            <a:pPr lvl="0"/>
            <a:r>
              <a:rPr sz="2000"/>
              <a:t>Reshaping wrong in front of an error message (a missing </a:t>
            </a:r>
            <a:r>
              <a:rPr sz="2000">
                <a:latin typeface="Courier"/>
              </a:rPr>
              <a:t>date</a:t>
            </a:r>
            <a:r>
              <a:rPr sz="2000"/>
              <a:t> column, a stray </a:t>
            </a:r>
            <a:r>
              <a:rPr sz="2000">
                <a:latin typeface="Courier"/>
              </a:rPr>
              <a:t>X</a:t>
            </a:r>
            <a:r>
              <a:rPr sz="2000"/>
              <a:t>) teaches you more about tidy data than reshaping right on the first try.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Wide Data Is a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the ice data comes from, why “wide” data breaks tidy tools, and reading the messy text file into 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1–2</a:t>
            </a:r>
            <a:r>
              <a:rPr sz="2000"/>
              <a:t> (read the raw file and inspect its wide shape).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Data: Lake Superior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NOAA-GLERL</a:t>
            </a:r>
            <a:r>
              <a:rPr/>
              <a:t> (Great Lakes Environmental Research Laboratory) has tracked daily Great Lakes ice cover since </a:t>
            </a:r>
            <a:r>
              <a:rPr b="1"/>
              <a:t>1973</a:t>
            </a:r>
            <a:r>
              <a:rPr/>
              <a:t> — over 50 years of satellite-derived ice charts.</a:t>
            </a:r>
          </a:p>
          <a:p>
            <a:pPr lvl="0" indent="0" marL="0">
              <a:buNone/>
            </a:pPr>
            <a:r>
              <a:rPr b="1"/>
              <a:t>Today’s dataset:</a:t>
            </a:r>
            <a:r>
              <a:rPr/>
              <a:t> daily percent ice cover for Lake Superior, one row per </a:t>
            </a:r>
            <a:r>
              <a:rPr b="1"/>
              <a:t>day-of-winter</a:t>
            </a:r>
            <a:r>
              <a:rPr/>
              <a:t>, one column per </a:t>
            </a:r>
            <a:r>
              <a:rPr b="1"/>
              <a:t>year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Source:</a:t>
            </a:r>
            <a:br/>
            <a:r>
              <a:rPr>
                <a:latin typeface="Courier"/>
              </a:rPr>
              <a:t>https://www.glerl.noaa.gov/data/ice/glicd/daily/sup.txt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is a </a:t>
            </a:r>
            <a:r>
              <a:rPr sz="2000" b="1"/>
              <a:t>plain text file living on a government server</a:t>
            </a:r>
            <a:r>
              <a:rPr sz="2000"/>
              <a:t> — not a tidy CSV. This is what real environmental data often looks like.</a:t>
            </a:r>
          </a:p>
        </p:txBody>
      </p:sp>
      <p:pic>
        <p:nvPicPr>
          <p:cNvPr descr="https://www.glerl.noaa.gov/data/ice/imgs/ice_collag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155700"/>
            <a:ext cx="44069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Great Lakes ice cover monitoring includes satellite imagery, field sampling, and decades of charts.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Does “Wide” Data Look Like?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table has one column per year — 53 of them. Before the next slides: can </a:t>
            </a:r>
            <a:r>
              <a:rPr sz="2000">
                <a:latin typeface="Courier"/>
              </a:rPr>
              <a:t>ggplot()</a:t>
            </a:r>
            <a:r>
              <a:rPr sz="2000"/>
              <a:t> use this shape directly? If not, what has to change first?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1973 1974 1975 ... 2024 2025
Nov-10    NA   NA   NA       NA   NA
Nov-11    NA   NA   NA       NA   NA
...
Jan-15   2.1  4.0  1.8      8.2  6.5
...</a:t>
            </a:r>
          </a:p>
          <a:p>
            <a:pPr lvl="0"/>
            <a:r>
              <a:rPr b="1"/>
              <a:t>One row</a:t>
            </a:r>
            <a:r>
              <a:rPr/>
              <a:t> per calendar day-of-winter (Nov 10 → ~May)</a:t>
            </a:r>
          </a:p>
          <a:p>
            <a:pPr lvl="0"/>
            <a:r>
              <a:rPr b="1"/>
              <a:t>One column per year</a:t>
            </a:r>
            <a:r>
              <a:rPr/>
              <a:t> — 53 columns, one for each ice season since 1973</a:t>
            </a:r>
          </a:p>
          <a:p>
            <a:pPr lvl="0"/>
            <a:r>
              <a:rPr/>
              <a:t>Lots of </a:t>
            </a:r>
            <a:r>
              <a:rPr>
                <a:latin typeface="Courier"/>
              </a:rPr>
              <a:t>NA</a:t>
            </a:r>
            <a:r>
              <a:rPr/>
              <a:t> — many days simply had no ice that year or that month</a:t>
            </a:r>
          </a:p>
          <a:p>
            <a:pPr lvl="0" indent="0" marL="0">
              <a:buNone/>
            </a:pPr>
            <a:r>
              <a:rPr/>
              <a:t>This format is </a:t>
            </a:r>
            <a:r>
              <a:rPr b="1"/>
              <a:t>perfect for a human</a:t>
            </a:r>
            <a:r>
              <a:rPr/>
              <a:t> scanning a printed table. It’s </a:t>
            </a:r>
            <a:r>
              <a:rPr b="1"/>
              <a:t>terrible for R and ggplot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breaks tidy tools:</a:t>
            </a:r>
          </a:p>
          <a:p>
            <a:pPr lvl="0"/>
            <a:r>
              <a:rPr>
                <a:latin typeface="Courier"/>
              </a:rPr>
              <a:t>ggplot()</a:t>
            </a:r>
            <a:r>
              <a:rPr/>
              <a:t> wants one column to map to </a:t>
            </a:r>
            <a:r>
              <a:rPr>
                <a:latin typeface="Courier"/>
              </a:rPr>
              <a:t>x</a:t>
            </a:r>
            <a:r>
              <a:rPr/>
              <a:t>, one to </a:t>
            </a:r>
            <a:r>
              <a:rPr>
                <a:latin typeface="Courier"/>
              </a:rPr>
              <a:t>y</a:t>
            </a:r>
          </a:p>
          <a:p>
            <a:pPr lvl="0"/>
            <a:r>
              <a:rPr/>
              <a:t>Here, “year” is hiding as 53 separate </a:t>
            </a:r>
            <a:r>
              <a:rPr b="1"/>
              <a:t>column names</a:t>
            </a:r>
            <a:r>
              <a:rPr/>
              <a:t>, not as data values</a:t>
            </a:r>
          </a:p>
          <a:p>
            <a:pPr lvl="0"/>
            <a:r>
              <a:rPr>
                <a:latin typeface="Courier"/>
              </a:rPr>
              <a:t>group_by(year)</a:t>
            </a:r>
            <a:r>
              <a:rPr/>
              <a:t> is impossible — there’s no </a:t>
            </a:r>
            <a:r>
              <a:rPr>
                <a:latin typeface="Courier"/>
              </a:rPr>
              <a:t>year</a:t>
            </a:r>
            <a:r>
              <a:rPr/>
              <a:t> column to group by!</a:t>
            </a:r>
          </a:p>
          <a:p>
            <a:pPr lvl="0" indent="0" marL="0">
              <a:buNone/>
            </a:pPr>
            <a:r>
              <a:rPr/>
              <a:t>📖 R4DS Ch. 5.2 — “every value in its own cell”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Read the Raw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 and friends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messy text file directly from the web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url &lt;- </a:t>
            </a:r>
            <a:r>
              <a:rPr>
                <a:solidFill>
                  <a:srgbClr val="20794D"/>
                </a:solidFill>
                <a:latin typeface="Courier"/>
              </a:rPr>
              <a:t>"https://www.glerl.noaa.gov/data/ice/glicd/daily/sup.txt"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ice_raw &lt;- </a:t>
            </a:r>
            <a:r>
              <a:rPr>
                <a:solidFill>
                  <a:srgbClr val="4758AB"/>
                </a:solidFill>
                <a:latin typeface="Courier"/>
              </a:rPr>
              <a:t>read.table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url,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na.strings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"-999"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"-99.00"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(ice_raw)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55
  date   X1973 X1974 X1975 X1976 X1977 X1978 X1979 X1980 X1981 X1982 X1983 X1984
  &lt;chr&gt;  &lt;dbl&gt; &lt;dbl&gt; &lt;dbl&gt; &lt;dbl&gt; &lt;dbl&gt; &lt;dbl&gt; &lt;dbl&gt; &lt;dbl&gt; &lt;dbl&gt; &lt;dbl&gt; &lt;dbl&gt; &lt;dbl&gt;
1 Nov-10    NA    NA    NA    NA    NA    NA    NA    NA    NA    NA    NA    NA
2 Nov-11    NA    NA    NA    NA    NA    NA    NA    NA    NA    NA    NA    NA
3 Nov-12    NA    NA    NA    NA    NA    NA    NA    NA    NA    NA    NA    NA
4 Nov-13    NA    NA    NA    NA    NA    NA    NA    NA    NA    NA    NA    NA
5 Nov-14    NA    NA    NA    NA    NA    NA    NA    NA    NA    NA    NA    NA
6 Nov-15    NA    NA    NA    NA    NA    NA    NA    NA    NA    NA    NA    NA
# ℹ 42 more variables: X1985 &lt;dbl&gt;, X1986 &lt;dbl&gt;, X1987 &lt;dbl&gt;, X1988 &lt;dbl&gt;,
#   X1989 &lt;dbl&gt;, X1990 &lt;dbl&gt;, X1991 &lt;dbl&gt;, X1992 &lt;dbl&gt;, X1993 &lt;dbl&gt;,
#   X1994 &lt;dbl&gt;, X1995 &lt;dbl&gt;, X1996 &lt;dbl&gt;, X1997 &lt;dbl&gt;, X1998 &lt;dbl&gt;,
#   X1999 &lt;dbl&gt;, X2000 &lt;dbl&gt;, X2001 &lt;dbl&gt;, X2002 &lt;dbl&gt;, X2003 &lt;dbl&gt;,
#   X2004 &lt;dbl&gt;, X2005 &lt;dbl&gt;, X2006 &lt;dbl&gt;, X2007 &lt;dbl&gt;, X2008 &lt;dbl&gt;,
#   X2009 &lt;dbl&gt;, X2010 &lt;dbl&gt;, X2011 &lt;dbl&gt;, X2012 &lt;dbl&gt;, X2013 &lt;dbl&gt;,
#   X2014 &lt;dbl&gt;, X2015 &lt;dbl&gt;, X2016 &lt;dbl&gt;, X2017 &lt;dbl&gt;, X2018 &lt;dbl&gt;,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happening here: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(base R) handles this better than </a:t>
            </a:r>
            <a:r>
              <a:rPr>
                <a:latin typeface="Courier"/>
              </a:rPr>
              <a:t>read_csv()</a:t>
            </a:r>
            <a:r>
              <a:rPr/>
              <a:t> since the file isn’t comma-separated</a:t>
            </a:r>
          </a:p>
          <a:p>
            <a:pPr lvl="0"/>
            <a:r>
              <a:rPr>
                <a:latin typeface="Courier"/>
              </a:rPr>
              <a:t>na.strings</a:t>
            </a:r>
            <a:r>
              <a:rPr/>
              <a:t> tells R which placeholder values actually mean “missing”</a:t>
            </a:r>
          </a:p>
          <a:p>
            <a:pPr lvl="0"/>
            <a:r>
              <a:rPr/>
              <a:t>The day-of-winter labels (</a:t>
            </a:r>
            <a:r>
              <a:rPr>
                <a:latin typeface="Courier"/>
              </a:rPr>
              <a:t>Nov-10</a:t>
            </a:r>
            <a:r>
              <a:rPr/>
              <a:t>, </a:t>
            </a:r>
            <a:r>
              <a:rPr>
                <a:latin typeface="Courier"/>
              </a:rPr>
              <a:t>Nov-11</a:t>
            </a:r>
            <a:r>
              <a:rPr/>
              <a:t>…) were row names, not a real column — </a:t>
            </a:r>
            <a:r>
              <a:rPr>
                <a:latin typeface="Courier"/>
              </a:rPr>
              <a:t>rownames_to_column()</a:t>
            </a:r>
            <a:r>
              <a:rPr/>
              <a:t> fixes that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Look at the column names: </a:t>
            </a:r>
            <a:r>
              <a:rPr sz="2000">
                <a:latin typeface="Courier"/>
              </a:rPr>
              <a:t>X1973</a:t>
            </a:r>
            <a:r>
              <a:rPr sz="2000"/>
              <a:t>, </a:t>
            </a:r>
            <a:r>
              <a:rPr sz="2000">
                <a:latin typeface="Courier"/>
              </a:rPr>
              <a:t>X1974</a:t>
            </a:r>
            <a:r>
              <a:rPr sz="2000"/>
              <a:t>… R adds an </a:t>
            </a:r>
            <a:r>
              <a:rPr sz="2000">
                <a:latin typeface="Courier"/>
              </a:rPr>
              <a:t>X</a:t>
            </a:r>
            <a:r>
              <a:rPr sz="2000"/>
              <a:t> because column names can’t start with a number!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</a:t>
            </a:r>
            <a:r>
              <a:rPr>
                <a:latin typeface="Courier"/>
              </a:rPr>
              <a:t>sup.txt</a:t>
            </a:r>
            <a:r>
              <a:rPr/>
              <a:t> straight from the web with </a:t>
            </a:r>
            <a:r>
              <a:rPr>
                <a:latin typeface="Courier"/>
              </a:rPr>
              <a:t>read.table()</a:t>
            </a:r>
            <a:r>
              <a:rPr/>
              <a:t>, turn the row labels into a real </a:t>
            </a:r>
            <a:r>
              <a:rPr>
                <a:latin typeface="Courier"/>
              </a:rPr>
              <a:t>date</a:t>
            </a:r>
            <a:r>
              <a:rPr/>
              <a:t> column, and look at the wide shape. Predict how many columns it has before you run 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Reshape with pivot_longer &amp; Fix Dates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pivot_longer()</a:t>
            </a:r>
            <a:r>
              <a:rPr/>
              <a:t> to make the data tidy, the before/after shape, and the tricky winters-cross-the-new-year date fix.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3–4</a:t>
            </a:r>
            <a:r>
              <a:rPr sz="2000"/>
              <a:t> (pivot to long, then fix the calendar-year wrinkle).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pivot_longer()</a:t>
            </a:r>
            <a:r>
              <a:rPr/>
              <a:t> — Collapsing Wide to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ice_raw</a:t>
            </a:r>
            <a:r>
              <a:rPr sz="2000"/>
              <a:t> is ~190 rows × 53 columns. After </a:t>
            </a:r>
            <a:r>
              <a:rPr sz="2000">
                <a:latin typeface="Courier"/>
              </a:rPr>
              <a:t>pivot_longer()</a:t>
            </a:r>
            <a:r>
              <a:rPr sz="2000"/>
              <a:t> collapses every year column, how many </a:t>
            </a:r>
            <a:r>
              <a:rPr sz="2000" b="1"/>
              <a:t>columns</a:t>
            </a:r>
            <a:r>
              <a:rPr sz="2000"/>
              <a:t> will </a:t>
            </a:r>
            <a:r>
              <a:rPr sz="2000">
                <a:latin typeface="Courier"/>
              </a:rPr>
              <a:t>ice_long</a:t>
            </a:r>
            <a:r>
              <a:rPr sz="2000"/>
              <a:t> have, and roughly how many </a:t>
            </a:r>
            <a:r>
              <a:rPr sz="2000" b="1"/>
              <a:t>rows</a:t>
            </a:r>
            <a:r>
              <a:rPr sz="2000"/>
              <a:t>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Collapse all year columns into year + ice_cover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ice_long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names_prefix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"ice_cover"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ice_long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(year, 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(ice_long)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date   year  ice_cover
  &lt;chr&gt;  &lt;chr&gt;     &lt;dbl&gt;
1 Apr-01 1973        3  
2 Apr-02 1973        2.7
3 Apr-03 1973        2.4
4 Apr-04 1973        2  
5 Apr-05 1973        1.7
6 Apr-06 1973        1.4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arguments:</a:t>
            </a:r>
          </a:p>
          <a:p>
            <a:pPr lvl="0"/>
            <a:r>
              <a:rPr>
                <a:latin typeface="Courier"/>
              </a:rPr>
              <a:t>cols = -date</a:t>
            </a:r>
            <a:r>
              <a:rPr/>
              <a:t> — pivot </a:t>
            </a:r>
            <a:r>
              <a:rPr i="1"/>
              <a:t>every column except</a:t>
            </a:r>
            <a:r>
              <a:rPr/>
              <a:t>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names_to = "year"</a:t>
            </a:r>
            <a:r>
              <a:rPr/>
              <a:t> — the old </a:t>
            </a:r>
            <a:r>
              <a:rPr b="1"/>
              <a:t>column names</a:t>
            </a:r>
            <a:r>
              <a:rPr/>
              <a:t> become values in a new </a:t>
            </a:r>
            <a:r>
              <a:rPr>
                <a:latin typeface="Courier"/>
              </a:rPr>
              <a:t>year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names_prefix = "X"</a:t>
            </a:r>
            <a:r>
              <a:rPr/>
              <a:t> — strip the </a:t>
            </a:r>
            <a:r>
              <a:rPr>
                <a:latin typeface="Courier"/>
              </a:rPr>
              <a:t>X</a:t>
            </a:r>
            <a:r>
              <a:rPr/>
              <a:t> that R glued onto the numbers</a:t>
            </a:r>
          </a:p>
          <a:p>
            <a:pPr lvl="0"/>
            <a:r>
              <a:rPr>
                <a:latin typeface="Courier"/>
              </a:rPr>
              <a:t>values_to = "ice_cover"</a:t>
            </a:r>
            <a:r>
              <a:rPr/>
              <a:t> — the old </a:t>
            </a:r>
            <a:r>
              <a:rPr b="1"/>
              <a:t>cell values</a:t>
            </a:r>
            <a:r>
              <a:rPr/>
              <a:t> become a new </a:t>
            </a:r>
            <a:r>
              <a:rPr>
                <a:latin typeface="Courier"/>
              </a:rPr>
              <a:t>ice_cover</a:t>
            </a:r>
            <a:r>
              <a:rPr/>
              <a:t> column</a:t>
            </a:r>
          </a:p>
          <a:p>
            <a:pPr lvl="0" indent="0" marL="0">
              <a:buNone/>
            </a:pPr>
            <a:r>
              <a:rPr/>
              <a:t>📖 R4DS Ch. 5.3 — </a:t>
            </a:r>
            <a:r>
              <a:rPr>
                <a:latin typeface="Courier"/>
              </a:rPr>
              <a:t>pivot_longer()</a:t>
            </a:r>
            <a:r>
              <a:rPr/>
              <a:t> for wide-to-long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rownames_to_column()</a:t>
            </a:r>
            <a:r>
              <a:rPr/>
              <a:t>, so there is no </a:t>
            </a:r>
            <a:r>
              <a:rPr>
                <a:latin typeface="Courier"/>
              </a:rPr>
              <a:t>date</a:t>
            </a:r>
            <a:r>
              <a:rPr/>
              <a:t> column yet: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to pivot every column except date...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`pivot_longer()`:
! Can't select columns that don't exist.
✖ Column `date` doesn't exist.</a:t>
            </a:r>
          </a:p>
          <a:p>
            <a:pPr lvl="0" indent="0" marL="0">
              <a:buNone/>
            </a:pPr>
            <a:r>
              <a:rPr/>
              <a:t>The fix — make the row labels a real column first: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ice_raw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“Column </a:t>
            </a:r>
            <a:r>
              <a:rPr sz="2000">
                <a:latin typeface="Courier"/>
              </a:rPr>
              <a:t>date</a:t>
            </a:r>
            <a:r>
              <a:rPr sz="2000"/>
              <a:t> doesn’t exist” means you referenced a column R can’t see — here because the day labels were still </a:t>
            </a:r>
            <a:r>
              <a:rPr sz="2000" b="1"/>
              <a:t>row names</a:t>
            </a:r>
            <a:r>
              <a:rPr sz="2000"/>
              <a:t>, not data. Reading the message points you straight to the fix.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and After: Same Data, Different Shape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Wide (</a:t>
            </a:r>
            <a:r>
              <a:rPr b="1">
                <a:latin typeface="Courier"/>
              </a:rPr>
              <a:t>ice_raw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Nov-10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Long (</a:t>
            </a:r>
            <a:r>
              <a:rPr b="1">
                <a:latin typeface="Courier"/>
              </a:rPr>
              <a:t>ice_long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ice_cover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information. Completely different shape.</a:t>
            </a:r>
          </a:p>
          <a:p>
            <a:pPr lvl="0"/>
            <a:r>
              <a:rPr/>
              <a:t>Wide: 53 columns, ~190 rows</a:t>
            </a:r>
          </a:p>
          <a:p>
            <a:pPr lvl="0"/>
            <a:r>
              <a:rPr/>
              <a:t>Long: 3 columns, ~190 × 53 rows</a:t>
            </a:r>
          </a:p>
          <a:p>
            <a:pPr lvl="0"/>
            <a:r>
              <a:rPr/>
              <a:t>The long version has </a:t>
            </a:r>
            <a:r>
              <a:rPr b="1"/>
              <a:t>one row per observation</a:t>
            </a:r>
            <a:r>
              <a:rPr/>
              <a:t> — exactly what </a:t>
            </a:r>
            <a:r>
              <a:rPr>
                <a:latin typeface="Courier"/>
              </a:rPr>
              <a:t>ggplot()</a:t>
            </a:r>
            <a:r>
              <a:rPr/>
              <a:t> and </a:t>
            </a:r>
            <a:r>
              <a:rPr>
                <a:latin typeface="Courier"/>
              </a:rPr>
              <a:t>group_by()</a:t>
            </a:r>
            <a:r>
              <a:rPr/>
              <a:t> expect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a dataset’s categories are trapped in column names instead of a column of values, this reshape is usually the first thing you reach for — it’s what turns a spreadsheet into something </a:t>
            </a:r>
            <a:r>
              <a:rPr sz="2000">
                <a:latin typeface="Courier"/>
              </a:rPr>
              <a:t>group_by()</a:t>
            </a:r>
            <a:r>
              <a:rPr sz="2000"/>
              <a:t> can work with.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Tricky Real-World Wrinkle: Winters Cross the New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an ice season runs </a:t>
            </a:r>
            <a:r>
              <a:rPr b="1"/>
              <a:t>Nov → May</a:t>
            </a:r>
            <a:r>
              <a:rPr/>
              <a:t>, but NOAA labels the whole season by the year </a:t>
            </a:r>
            <a:r>
              <a:rPr b="1"/>
              <a:t>winter ends in</a:t>
            </a:r>
            <a:r>
              <a:rPr/>
              <a:t>. So </a:t>
            </a:r>
            <a:r>
              <a:rPr>
                <a:latin typeface="Courier"/>
              </a:rPr>
              <a:t>Nov-10</a:t>
            </a:r>
            <a:r>
              <a:rPr/>
              <a:t> under column </a:t>
            </a:r>
            <a:r>
              <a:rPr>
                <a:latin typeface="Courier"/>
              </a:rPr>
              <a:t>1974</a:t>
            </a:r>
            <a:r>
              <a:rPr/>
              <a:t> actually happened in </a:t>
            </a:r>
            <a:r>
              <a:rPr b="1"/>
              <a:t>November 1973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Assign Nov/Dec to the PREVIOUS calendar year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ice_clean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calendar_year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str_starts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20794D"/>
                </a:solidFill>
                <a:latin typeface="Courier"/>
              </a:rPr>
              <a:t>"Nov|Dec"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full_date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(calendar_year, date,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(ice_cover, full_date)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(ice_clean)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year ice_cover calendar_year full_date  month
  &lt;chr&gt;  &lt;dbl&gt;     &lt;dbl&gt;         &lt;dbl&gt; &lt;date&gt;     &lt;ord&gt;
1 Apr-01  1973       3            1973 1973-04-01 Apr  
2 Apr-02  1973       2.7          1973 1973-04-02 Apr  
3 Apr-03  1973       2.4          1973 1973-04-03 Apr  
4 Apr-04  1973       2            1973 1973-04-04 Apr  
5 Apr-05  1973       1.7          1973 1973-04-05 Apr  
6 Apr-06  1973       1.4          1973 1973-04-06 Apr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logic:</a:t>
            </a:r>
          </a:p>
          <a:p>
            <a:pPr lvl="0"/>
            <a:r>
              <a:rPr>
                <a:latin typeface="Courier"/>
              </a:rPr>
              <a:t>str_starts(date, "Nov|Dec")</a:t>
            </a:r>
            <a:r>
              <a:rPr/>
              <a:t> — does this row’s day-of-winter text start with “Nov” or “Dec”?</a:t>
            </a:r>
          </a:p>
          <a:p>
            <a:pPr lvl="0"/>
            <a:r>
              <a:rPr/>
              <a:t>If yes, subtract 1 from </a:t>
            </a:r>
            <a:r>
              <a:rPr>
                <a:latin typeface="Courier"/>
              </a:rPr>
              <a:t>year</a:t>
            </a:r>
            <a:r>
              <a:rPr/>
              <a:t> to get the real calendar year</a:t>
            </a:r>
          </a:p>
          <a:p>
            <a:pPr lvl="0"/>
            <a:r>
              <a:rPr>
                <a:latin typeface="Courier"/>
              </a:rPr>
              <a:t>ymd()</a:t>
            </a:r>
            <a:r>
              <a:rPr/>
              <a:t> (from </a:t>
            </a:r>
            <a:r>
              <a:rPr>
                <a:latin typeface="Courier"/>
              </a:rPr>
              <a:t>lubridate</a:t>
            </a:r>
            <a:r>
              <a:rPr/>
              <a:t>) glues the pieces into one real R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no real date or no ice reading</a:t>
            </a:r>
          </a:p>
          <a:p>
            <a:pPr lvl="0" indent="0" marL="0">
              <a:buNone/>
            </a:pPr>
            <a:r>
              <a:rPr/>
              <a:t>📖 R4DS Ch. 17 — working with dates and times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3–4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the data long with </a:t>
            </a:r>
            <a:r>
              <a:rPr>
                <a:latin typeface="Courier"/>
              </a:rPr>
              <a:t>pivot_longer()</a:t>
            </a:r>
            <a:r>
              <a:rPr/>
              <a:t>, then fix the winters that cross the new year with </a:t>
            </a:r>
            <a:r>
              <a:rPr>
                <a:latin typeface="Courier"/>
              </a:rPr>
              <a:t>if_else()</a:t>
            </a:r>
            <a:r>
              <a:rPr/>
              <a:t> + </a:t>
            </a:r>
            <a:r>
              <a:rPr>
                <a:latin typeface="Courier"/>
              </a:rPr>
              <a:t>ymd()</a:t>
            </a:r>
            <a:r>
              <a:rPr/>
              <a:t>. Predict the new shape before you run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Summarize &amp; Pivot Back Wider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 %&gt;% summarize()</a:t>
            </a:r>
            <a:r>
              <a:rPr/>
              <a:t> on the newly-tidy data, and </a:t>
            </a:r>
            <a:r>
              <a:rPr>
                <a:latin typeface="Courier"/>
              </a:rPr>
              <a:t>pivot_wider()</a:t>
            </a:r>
            <a:r>
              <a:rPr/>
              <a:t> to build a readable year-by-month table.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5–6</a:t>
            </a:r>
            <a:r>
              <a:rPr sz="2000"/>
              <a:t> (summarize by month, then make a pivot table).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Now That We’re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ice cover per year-month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monthly_avg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monthly_avg &lt;- monthly_avg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month_date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(year, month, </a:t>
            </a:r>
            <a:r>
              <a:rPr>
                <a:solidFill>
                  <a:srgbClr val="20794D"/>
                </a:solidFill>
                <a:latin typeface="Courier"/>
              </a:rPr>
              <a:t>"01"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(monthly_avg)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 year month mean_ice month_date
  &lt;dbl&gt; &lt;ord&gt;    &lt;dbl&gt; &lt;date&gt;    
1  1973 Jan       18.1 1973-01-01
2  1973 Feb       32.8 1973-02-01
3  1973 Mar       28.2 1973-03-01
4  1973 Apr        2.2 1973-04-01
5  1973 Dec       12.0 1973-12-01
6  1974 Jan       24.1 1974-01-01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should look familiar.</a:t>
            </a:r>
          </a:p>
          <a:p>
            <a:pPr lvl="0"/>
            <a:r>
              <a:rPr/>
              <a:t>Exactly the same </a:t>
            </a:r>
            <a:r>
              <a:rPr>
                <a:latin typeface="Courier"/>
              </a:rPr>
              <a:t>group_by() %&gt;% summarize()</a:t>
            </a:r>
            <a:r>
              <a:rPr/>
              <a:t> pattern from Lecture 12’s Duluth weather data</a:t>
            </a:r>
          </a:p>
          <a:p>
            <a:pPr lvl="0"/>
            <a:r>
              <a:rPr/>
              <a:t>We could </a:t>
            </a:r>
            <a:r>
              <a:rPr b="1"/>
              <a:t>not</a:t>
            </a:r>
            <a:r>
              <a:rPr/>
              <a:t> have written this on the wide data — there was no </a:t>
            </a:r>
            <a:r>
              <a:rPr>
                <a:latin typeface="Courier"/>
              </a:rPr>
              <a:t>year</a:t>
            </a:r>
            <a:r>
              <a:rPr/>
              <a:t> or </a:t>
            </a:r>
            <a:r>
              <a:rPr>
                <a:latin typeface="Courier"/>
              </a:rPr>
              <a:t>month</a:t>
            </a:r>
            <a:r>
              <a:rPr/>
              <a:t> column to group by until we pivoted</a:t>
            </a:r>
          </a:p>
          <a:p>
            <a:pPr lvl="0" indent="0" marL="0">
              <a:buNone/>
            </a:pPr>
            <a:r>
              <a:rPr/>
              <a:t>The reshape wasn’t just cosmetic — it </a:t>
            </a:r>
            <a:r>
              <a:rPr b="1"/>
              <a:t>unlocked</a:t>
            </a:r>
            <a:r>
              <a:rPr/>
              <a:t> every tidyverse tool we already know.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— Going Back the Other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long data into a year-by-month summary table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ice_pivot_table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id_cols =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ice_cover,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(ice_pivot_table)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54 × 9
    year   Apr   Dec   Feb   Jan   Mar   May   Nov   Jun
   &lt;dbl&gt; &lt;dbl&gt; &lt;dbl&gt; &lt;dbl&gt; &lt;dbl&gt; &lt;dbl&gt; &lt;dbl&gt; &lt;dbl&gt; &lt;dbl&gt;
 1  1973  2.2  12.0   32.8 18.1   28.2 NA       NA    NA
 2  1974 23.9   8.4   58.4 24.1   64.0  3.3     NA    NA
 3  1975  8.70 NA     35.9 10.7   17.2 NA       NA    NA
 4  1976  6.52  5.48  27.8 15.4   32.3 NA       NA    NA
 5  1977 24.2  19.1   92.0 61.1   78.0  2.15    NA    NA
 6  1978  9.67  5.98  55.4 17.3   63.7  2.57    NA    NA
 7  1979 48.5   3.31  85.4 36.8   87.6 21.3     NA    NA
 8  1980 15.6  NA     58.8  8.95  41.9 NA       NA    NA
 9  1981 11.7  14.2   74.5 30.7   41.3 NA       NA    NA
10  1982 14.5   1.91  66.5 25.2   54.1  2.5     NA    NA
# ℹ 44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pivot_wider()</a:t>
            </a:r>
            <a:r>
              <a:rPr b="1"/>
              <a:t> is the mirror image of </a:t>
            </a:r>
            <a:r>
              <a:rPr b="1">
                <a:latin typeface="Courier"/>
              </a:rPr>
              <a:t>pivot_longer()</a:t>
            </a:r>
            <a:r>
              <a:rPr b="1"/>
              <a:t>:</a:t>
            </a:r>
          </a:p>
          <a:p>
            <a:pPr lvl="0"/>
            <a:r>
              <a:rPr>
                <a:latin typeface="Courier"/>
              </a:rPr>
              <a:t>id_cols = year</a:t>
            </a:r>
            <a:r>
              <a:rPr/>
              <a:t> — one row per year</a:t>
            </a:r>
          </a:p>
          <a:p>
            <a:pPr lvl="0"/>
            <a:r>
              <a:rPr>
                <a:latin typeface="Courier"/>
              </a:rPr>
              <a:t>names_from = month</a:t>
            </a:r>
            <a:r>
              <a:rPr/>
              <a:t> — month values become new column headers</a:t>
            </a:r>
          </a:p>
          <a:p>
            <a:pPr lvl="0"/>
            <a:r>
              <a:rPr>
                <a:latin typeface="Courier"/>
              </a:rPr>
              <a:t>values_from = ice_cover</a:t>
            </a:r>
            <a:r>
              <a:rPr/>
              <a:t> — fills the cells</a:t>
            </a:r>
          </a:p>
          <a:p>
            <a:pPr lvl="0"/>
            <a:r>
              <a:rPr>
                <a:latin typeface="Courier"/>
              </a:rPr>
              <a:t>values_fn = mean</a:t>
            </a:r>
            <a:r>
              <a:rPr/>
              <a:t> — averages if multiple days land in the same year-month cell</a:t>
            </a:r>
          </a:p>
          <a:p>
            <a:pPr lvl="0" indent="0" marL="0">
              <a:buNone/>
            </a:pPr>
            <a:r>
              <a:rPr/>
              <a:t>This recreates an Excel-style pivot table — but computed, not copy-pasted.</a:t>
            </a:r>
          </a:p>
          <a:p>
            <a:pPr lvl="0" indent="0" marL="0">
              <a:buNone/>
            </a:pPr>
            <a:r>
              <a:rPr/>
              <a:t>📖 R4DS Ch. 5.4 — </a:t>
            </a:r>
            <a:r>
              <a:rPr>
                <a:latin typeface="Courier"/>
              </a:rPr>
              <a:t>pivot_wider()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Learn Both Directions?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to use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pivot_longer()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arrives wide (one column per year/site/etc.) and you need it tidy for </a:t>
                      </a:r>
                      <a:r>
                        <a:rPr>
                          <a:latin typeface="Courier"/>
                        </a:rPr>
                        <a:t>ggplot()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pivot_wider()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have tidy long data but need a </a:t>
                      </a:r>
                      <a:r>
                        <a:rPr b="1"/>
                        <a:t>human-readable summary table</a:t>
                      </a:r>
                      <a:r>
                        <a:rPr/>
                        <a:t> — for a report, a colleague, or Excel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Expect to reach for </a:t>
            </a:r>
            <a:r>
              <a:rPr sz="2000" b="1">
                <a:latin typeface="Courier"/>
              </a:rPr>
              <a:t>pivot_longer()</a:t>
            </a:r>
            <a:r>
              <a:rPr sz="2000" b="1"/>
              <a:t> again in your own research.</a:t>
            </a:r>
            <a:r>
              <a:rPr sz="2000"/>
              <a:t> Government text files, field data sheets, and Excel exports are so often shaped one-column-per-year or one-column-per-site that this pivot comes up in almost any real dataset you didn’t design yourself.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mean ice cover by year-month, then use </a:t>
            </a:r>
            <a:r>
              <a:rPr>
                <a:latin typeface="Courier"/>
              </a:rPr>
              <a:t>pivot_wider()</a:t>
            </a:r>
            <a:r>
              <a:rPr/>
              <a:t> to build the Excel-style table. Predict how many rows and columns the wide table will have.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Visualize &amp; Model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rebuilding NOAA’s spaghetti plot, pulling each year’s peak ice with </a:t>
            </a:r>
            <a:r>
              <a:rPr>
                <a:latin typeface="Courier"/>
              </a:rPr>
              <a:t>slice_max()</a:t>
            </a:r>
            <a:r>
              <a:rPr/>
              <a:t>, and modeling whether maximum ice cover is declining.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(spaghetti plot, yearly maximum, trend model).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NOAA’s Own “Spaghetti Plot”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 publishes a live version of this exact plot every winter, comparing the </a:t>
            </a:r>
            <a:r>
              <a:rPr b="1"/>
              <a:t>current year</a:t>
            </a:r>
            <a:r>
              <a:rPr/>
              <a:t> (black), the </a:t>
            </a:r>
            <a:r>
              <a:rPr b="1"/>
              <a:t>historical average</a:t>
            </a:r>
            <a:r>
              <a:rPr/>
              <a:t> (red), and </a:t>
            </a:r>
            <a:r>
              <a:rPr b="1"/>
              <a:t>every past year</a:t>
            </a:r>
            <a:r>
              <a:rPr/>
              <a:t> (thin blue lines):</a:t>
            </a:r>
          </a:p>
        </p:txBody>
      </p:sp>
      <p:pic>
        <p:nvPicPr>
          <p:cNvPr descr="https://www.glerl.noaa.gov/data/ice/spaghetti/sup_ice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09700"/>
            <a:ext cx="44323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NOAA’s live Lake Superior ice cover comparison — current season vs. historical average vs. all past years.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Today, we’ll build </a:t>
            </a:r>
            <a:r>
              <a:rPr b="1"/>
              <a:t>our own version</a:t>
            </a:r>
            <a:r>
              <a:rPr/>
              <a:t> of this plot from the raw data we just tidied.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“spaghetti plot”?</a:t>
            </a:r>
          </a:p>
          <a:p>
            <a:pPr lvl="0"/>
            <a:r>
              <a:rPr/>
              <a:t>Dozens of thin overlapping lines look like noodles</a:t>
            </a:r>
          </a:p>
          <a:p>
            <a:pPr lvl="0"/>
            <a:r>
              <a:rPr/>
              <a:t>Each line is one year’s entire ice season, Nov → May</a:t>
            </a:r>
          </a:p>
          <a:p>
            <a:pPr lvl="0"/>
            <a:r>
              <a:rPr/>
              <a:t>The pattern that emerges — or doesn’t — tells the real climate story</a:t>
            </a:r>
          </a:p>
          <a:p>
            <a:pPr lvl="0" indent="0" marL="0">
              <a:buNone/>
            </a:pPr>
            <a:r>
              <a:rPr/>
              <a:t>This is a great example of how the </a:t>
            </a:r>
            <a:r>
              <a:rPr b="1"/>
              <a:t>same chart type</a:t>
            </a:r>
            <a:r>
              <a:rPr/>
              <a:t> appears in real published science.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Prep: Put Every Winter on One Shared Axis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Force every date onto one fake shared year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ice_plot_data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(full_date)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1999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Historical average for each day-of-winter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historical_avg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(plot_date)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avg_ice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current_yr &lt;-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(ice_plot_data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past_years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current_year_data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trick:</a:t>
            </a:r>
            <a:r>
              <a:rPr/>
              <a:t> every winter spans two real calendar years (e.g. Nov 1973–May 1974). To overlay them, we relabel every date onto </a:t>
            </a:r>
            <a:r>
              <a:rPr b="1"/>
              <a:t>one fake shared year</a:t>
            </a:r>
            <a:r>
              <a:rPr/>
              <a:t> (1999 for fall, 2000 for spring) — only the month/day matters for the x-axis.</a:t>
            </a:r>
          </a:p>
          <a:p>
            <a:pPr lvl="0" indent="0" marL="0">
              <a:buNone/>
            </a:pPr>
            <a:r>
              <a:rPr/>
              <a:t>This is a common trick for any </a:t>
            </a:r>
            <a:r>
              <a:rPr b="1"/>
              <a:t>seasonal, cyclical</a:t>
            </a:r>
            <a:r>
              <a:rPr/>
              <a:t> time series.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the Spaghetti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ice_spaghetti_plot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past_years,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historical_avg,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avg_ice),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current_year_data,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date_labels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"%b"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date_breaks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 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Average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"Comparing"</a:t>
            </a:r>
            <a:r>
              <a:rPr>
                <a:solidFill>
                  <a:srgbClr val="003B4F"/>
                </a:solidFill>
                <a:latin typeface="Courier"/>
              </a:rPr>
              <a:t>, current_yr, </a:t>
            </a:r>
            <a:r>
              <a:rPr>
                <a:solidFill>
                  <a:srgbClr val="20794D"/>
                </a:solidFill>
                <a:latin typeface="Courier"/>
              </a:rPr>
              <a:t>"to Historical Data"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ice_spaghetti_plot</a:t>
            </a:r>
          </a:p>
        </p:txBody>
      </p:sp>
      <p:pic>
        <p:nvPicPr>
          <p:cNvPr descr="pivoting_lecture_files/figure-pptx/spaghetti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layers, three </a:t>
            </a:r>
            <a:r>
              <a:rPr b="1">
                <a:latin typeface="Courier"/>
              </a:rPr>
              <a:t>geom_line()</a:t>
            </a:r>
            <a:r>
              <a:rPr b="1"/>
              <a:t> calls:</a:t>
            </a:r>
          </a:p>
          <a:p>
            <a:pPr lvl="0"/>
            <a:r>
              <a:rPr/>
              <a:t>Thin, transparent blue lines — every past year, faded so patterns (not individual years) stand out</a:t>
            </a:r>
          </a:p>
          <a:p>
            <a:pPr lvl="0"/>
            <a:r>
              <a:rPr/>
              <a:t>Thick red line — the 50+ year historical average</a:t>
            </a:r>
          </a:p>
          <a:p>
            <a:pPr lvl="0"/>
            <a:r>
              <a:rPr/>
              <a:t>Thick black line — this year, drawn last so it’s on top</a:t>
            </a:r>
          </a:p>
          <a:p>
            <a:pPr lvl="0" indent="0" marL="0">
              <a:buNone/>
            </a:pPr>
            <a:r>
              <a:rPr/>
              <a:t>Compare your version to NOAA’s published plot — did we recreate it?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New Question: Is Maximum Ice Cover Changing?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over 50+ years, is Lake Superior’s </a:t>
            </a:r>
            <a:r>
              <a:rPr sz="2000" i="1"/>
              <a:t>maximum</a:t>
            </a:r>
            <a:r>
              <a:rPr sz="2000"/>
              <a:t> winter ice cover </a:t>
            </a:r>
            <a:r>
              <a:rPr sz="2000" b="1"/>
              <a:t>declining, flat, or rising</a:t>
            </a:r>
            <a:r>
              <a:rPr sz="2000"/>
              <a:t>? Write your guess before the model runs.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far:</a:t>
            </a:r>
            <a:r>
              <a:rPr/>
              <a:t> we’ve visualized the </a:t>
            </a:r>
            <a:r>
              <a:rPr i="1"/>
              <a:t>shape</a:t>
            </a:r>
            <a:r>
              <a:rPr/>
              <a:t> of each ice season.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has the </a:t>
            </a:r>
            <a:r>
              <a:rPr b="1"/>
              <a:t>peak</a:t>
            </a:r>
            <a:r>
              <a:rPr/>
              <a:t> (maximum) ice cover of each winter changed over the last 50 years?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Find the single highest ice-cover day each year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max_ice_per_year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order_by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with_ties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(ice_cover))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# Groups:   year [6]
  date    year ice_cover calendar_year full_date  month
  &lt;chr&gt;  &lt;dbl&gt;     &lt;dbl&gt;         &lt;dbl&gt; &lt;date&gt;     &lt;ord&gt;
1 Jan-22  2012       8.2          2012 2012-01-22 Jan  
2 Mar-17  2002      10.3          2002 2002-03-17 Mar  
3 Jan-16  1998      11.1          1998 1998-01-16 Jan  
4 Feb-19  2024      12            2024 2024-02-19 Feb  
5 Jan-25  1987      14.5          1987 1987-01-25 Jan  
6 Mar-02  2006      16.7          2006 2006-03-02 Mar  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slice_max()</a:t>
            </a:r>
            <a:r>
              <a:rPr/>
              <a:t> keeps only the single row with the highest value in each group — here, one row per year: the date and value of that winter’s ice peak.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also gives us the “ice-on/ice-off” story:</a:t>
            </a:r>
          </a:p>
          <a:p>
            <a:pPr lvl="0"/>
            <a:r>
              <a:rPr/>
              <a:t>The </a:t>
            </a:r>
            <a:r>
              <a:rPr b="1"/>
              <a:t>date</a:t>
            </a:r>
            <a:r>
              <a:rPr/>
              <a:t> of each year’s maximum is itself meaningful — an early peak (Jan) vs. a late peak (Mar/Apr) tells you something about how long the ice season lasted</a:t>
            </a:r>
          </a:p>
          <a:p>
            <a:pPr lvl="0"/>
            <a:r>
              <a:rPr/>
              <a:t>1998’s max ice cover was only ~11%, on Jan 16 — a nearly ice-free winter</a:t>
            </a:r>
          </a:p>
          <a:p>
            <a:pPr lvl="0"/>
            <a:r>
              <a:rPr/>
              <a:t>1979’s max was ~97%, on Feb 25 — almost total coverage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the Trend in Maximum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Given the huge year-to-year scatter in Great Lakes ice, do you expect the slope’s p-value to be </a:t>
            </a:r>
            <a:r>
              <a:rPr sz="2000" b="1"/>
              <a:t>below or above 0.05</a:t>
            </a:r>
            <a:r>
              <a:rPr sz="2000"/>
              <a:t>? Predict before you read </a:t>
            </a:r>
            <a:r>
              <a:rPr sz="2000">
                <a:latin typeface="Courier"/>
              </a:rPr>
              <a:t>summary()</a:t>
            </a:r>
            <a:r>
              <a:rPr sz="2000"/>
              <a:t>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max ice cover by year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(ice_cover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max_ice_per_year)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(max_ice_model)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ice_cover ~ year, data = max_ice_per_year)
Residuals:
    Min      1Q  Median      3Q     Max 
-53.692 -24.810   3.811  20.982  48.599 
Coefficients:
             Estimate Std. Error t value Pr(&gt;|t|)   
(Intercept) 1427.4557   498.1910   2.865  0.00600 **
year          -0.6841     0.2492  -2.746  0.00827 **
---
Signif. codes:  0 '***' 0.001 '**' 0.01 '*' 0.05 '.' 0.1 ' ' 1
Residual standard error: 28.54 on 52 degrees of freedom
Multiple R-squared:  0.1266,    Adjusted R-squared:  0.1098 
F-statistic: 7.539 on 1 and 52 DF,  p-value: 0.008274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max_ice_plot &lt;- 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— Annual Maximum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"Max 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max_ice_plot</a:t>
            </a:r>
          </a:p>
        </p:txBody>
      </p:sp>
      <p:pic>
        <p:nvPicPr>
          <p:cNvPr descr="pivoting_lecture_files/figure-pptx/max-ice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 b="1"/>
              <a:t> syntax as Lecture 11/13</a:t>
            </a:r>
            <a:r>
              <a:rPr/>
              <a:t> — only now </a:t>
            </a:r>
            <a:r>
              <a:rPr>
                <a:latin typeface="Courier"/>
              </a:rPr>
              <a:t>X = year</a:t>
            </a:r>
            <a:r>
              <a:rPr/>
              <a:t> and </a:t>
            </a:r>
            <a:r>
              <a:rPr>
                <a:latin typeface="Courier"/>
              </a:rPr>
              <a:t>Y = ice_cover</a:t>
            </a:r>
            <a:r>
              <a:rPr/>
              <a:t> (the yearly peak, not a daily or monthly mean).</a:t>
            </a:r>
          </a:p>
          <a:p>
            <a:pPr lvl="0"/>
            <a:r>
              <a:rPr/>
              <a:t>The slope tells us how many percentage points of max ice cover change per year</a:t>
            </a:r>
          </a:p>
          <a:p>
            <a:pPr lvl="0"/>
            <a:r>
              <a:rPr/>
              <a:t>Notice the </a:t>
            </a:r>
            <a:r>
              <a:rPr b="1"/>
              <a:t>huge year-to-year scatter</a:t>
            </a:r>
            <a:r>
              <a:rPr/>
              <a:t> — Great Lakes ice cover is famously variable, driven by short-term weather patterns like ENSO and the polar vortex, not just a steady climate trend</a:t>
            </a:r>
          </a:p>
          <a:p>
            <a:pPr lvl="0" indent="0" marL="0">
              <a:buNone/>
            </a:pPr>
            <a:r>
              <a:rPr/>
              <a:t>This is real data — the story is messier (and more honest) than a clean line.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spaghetti plot, pull each winter’s peak with </a:t>
            </a:r>
            <a:r>
              <a:rPr>
                <a:latin typeface="Courier"/>
              </a:rPr>
              <a:t>slice_max()</a:t>
            </a:r>
            <a:r>
              <a:rPr/>
              <a:t>, and fit </a:t>
            </a:r>
            <a:r>
              <a:rPr>
                <a:latin typeface="Courier"/>
              </a:rPr>
              <a:t>lm(ice_cover ~ year)</a:t>
            </a:r>
            <a:r>
              <a:rPr/>
              <a:t>. Predict the trend’s direction and significance before you run it.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Real-world data is often </a:t>
            </a:r>
            <a:r>
              <a:rPr b="1"/>
              <a:t>wide</a:t>
            </a:r>
            <a:r>
              <a:rPr/>
              <a:t> — shaped for human eyes, not for R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collapses many columns into key-value pairs — unlocking </a:t>
            </a:r>
            <a:r>
              <a:rPr>
                <a:latin typeface="Courier"/>
              </a:rPr>
              <a:t>group_by()</a:t>
            </a:r>
            <a:r>
              <a:rPr/>
              <a:t>,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ggplot()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does the reverse — builds a readable summary table from tidy data</a:t>
            </a:r>
          </a:p>
          <a:p>
            <a:pPr lvl="0"/>
            <a:r>
              <a:rPr/>
              <a:t>Seasonal data that </a:t>
            </a:r>
            <a:r>
              <a:rPr b="1"/>
              <a:t>crosses the calendar year boundary</a:t>
            </a:r>
            <a:r>
              <a:rPr/>
              <a:t> needs careful date logic</a:t>
            </a:r>
          </a:p>
          <a:p>
            <a:pPr lvl="0"/>
            <a:r>
              <a:rPr>
                <a:latin typeface="Courier"/>
              </a:rPr>
              <a:t>slice_max()</a:t>
            </a:r>
            <a:r>
              <a:rPr/>
              <a:t> pulls out the single extreme value per group — useful for “ice-on/ice-off” type questions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12 applies to </a:t>
            </a:r>
            <a:r>
              <a:rPr i="1"/>
              <a:t>any</a:t>
            </a:r>
            <a:r>
              <a:rPr/>
              <a:t> time-indexed variable, including a yearly maximum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+ </a:t>
            </a:r>
            <a:r>
              <a:rPr>
                <a:latin typeface="Courier"/>
              </a:rPr>
              <a:t>rownames_to_column()</a:t>
            </a:r>
            <a:r>
              <a:rPr/>
              <a:t> for messy text files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/ </a:t>
            </a:r>
            <a:r>
              <a:rPr>
                <a:latin typeface="Courier"/>
              </a:rPr>
              <a:t>pivot_wider()</a:t>
            </a:r>
          </a:p>
          <a:p>
            <a:pPr lvl="0"/>
            <a:r>
              <a:rPr>
                <a:latin typeface="Courier"/>
              </a:rPr>
              <a:t>str_starts()</a:t>
            </a:r>
            <a:r>
              <a:rPr/>
              <a:t>, </a:t>
            </a:r>
            <a:r>
              <a:rPr>
                <a:latin typeface="Courier"/>
              </a:rPr>
              <a:t>if_else()</a:t>
            </a:r>
            <a:r>
              <a:rPr/>
              <a:t>, </a:t>
            </a:r>
            <a:r>
              <a:rPr>
                <a:latin typeface="Courier"/>
              </a:rPr>
              <a:t>ymd()</a:t>
            </a:r>
            <a:r>
              <a:rPr/>
              <a:t>, </a:t>
            </a:r>
            <a:r>
              <a:rPr>
                <a:latin typeface="Courier"/>
              </a:rPr>
              <a:t>update()</a:t>
            </a:r>
            <a:r>
              <a:rPr/>
              <a:t> for date wrangling</a:t>
            </a:r>
          </a:p>
          <a:p>
            <a:pPr lvl="0"/>
            <a:r>
              <a:rPr>
                <a:latin typeface="Courier"/>
              </a:rPr>
              <a:t>slice_max(order_by = ..., n =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5 — Data tidying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Data source:</a:t>
            </a:r>
          </a:p>
          <a:p>
            <a:pPr lvl="0"/>
            <a:r>
              <a:rPr/>
              <a:t>NOAA-GLERL Great Lakes Ice Cover Database</a:t>
            </a:r>
            <a:br/>
            <a:r>
              <a:rPr>
                <a:latin typeface="Courier"/>
              </a:rPr>
              <a:t>glerl.noaa.gov/data/ice</a:t>
            </a:r>
          </a:p>
          <a:p>
            <a:pPr lvl="0" indent="0" marL="0">
              <a:buNone/>
            </a:pPr>
            <a:r>
              <a:rPr b="1"/>
              <a:t>Up next — Extension (out of class):</a:t>
            </a:r>
          </a:p>
          <a:p>
            <a:pPr lvl="0"/>
            <a:r>
              <a:rPr/>
              <a:t>Apply the same wide-to-long pivot workflow to a Great Lake of your choice</a:t>
            </a:r>
          </a:p>
          <a:p>
            <a:pPr lvl="0"/>
            <a:r>
              <a:rPr/>
              <a:t>Compare your lake’s maximum ice trend to Lake Superior’s, predicting first by hand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Wide, Long, and Wild: Pivoting Real Data</dc:title>
  <dc:creator>Bill Perry</dc:creator>
  <cp:keywords/>
  <dc:description>Lake Superior Ice Data and how to pivot and summarize data.</dc:description>
  <dcterms:created xsi:type="dcterms:W3CDTF">2026-09-15T02:12:38Z</dcterms:created>
  <dcterms:modified xsi:type="dcterms:W3CDTF">2026-09-15T02:12:38Z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17</vt:lpwstr>
  </property>
  <property fmtid="{D5CDD505-2E9C-101B-9397-08002B2CF9AE}" pid="13" name="resources">
    <vt:lpwstr/>
  </property>
  <property fmtid="{D5CDD505-2E9C-101B-9397-08002B2CF9AE}" pid="14" name="subtitle">
    <vt:lpwstr>Reshaping Lake Superior ice cover data with pivot_longer() and pivot_wider()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9</vt:lpwstr>
  </property>
</Properties>
</file>