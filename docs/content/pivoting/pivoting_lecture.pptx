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(ice_raw)       </a:t>
            </a:r>
            <a:r>
              <a:rPr>
                <a:solidFill>
                  <a:srgbClr val="5E5E5E"/>
                </a:solidFill>
                <a:latin typeface="Courier"/>
              </a:rPr>
              <a:t># rows x columns - look how WIDE</a:t>
            </a:r>
          </a:p>
          <a:p>
            <a:pPr lvl="0" indent="0">
              <a:buNone/>
            </a:pPr>
            <a:r>
              <a:rPr>
                <a:latin typeface="Courier"/>
              </a:rPr>
              <a:t>[1] 209  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]  </a:t>
            </a:r>
            <a:r>
              <a:rPr>
                <a:solidFill>
                  <a:srgbClr val="5E5E5E"/>
                </a:solidFill>
                <a:latin typeface="Courier"/>
              </a:rPr>
              <a:t># just the first few columns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date   X1973 X1974 X1975 X1976
  &lt;chr&gt;  &lt;dbl&gt; &lt;dbl&gt; &lt;dbl&gt; &lt;dbl&gt;
1 Nov-10    NA    NA    NA    NA
2 Nov-11    NA    NA    NA    NA
3 Nov-12    NA    NA    NA    NA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beats </a:t>
            </a:r>
            <a:r>
              <a:rPr>
                <a:latin typeface="Courier"/>
              </a:rPr>
              <a:t>read_csv()</a:t>
            </a:r>
            <a:r>
              <a:rPr/>
              <a:t> here —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says which placeholders really mean “missing”</a:t>
            </a:r>
          </a:p>
          <a:p>
            <a:pPr lvl="0"/>
            <a:r>
              <a:rPr/>
              <a:t>The day labels (</a:t>
            </a:r>
            <a:r>
              <a:rPr>
                <a:latin typeface="Courier"/>
              </a:rPr>
              <a:t>Nov-10</a:t>
            </a:r>
            <a:r>
              <a:rPr/>
              <a:t>…) were </a:t>
            </a:r>
            <a:r>
              <a:rPr b="1"/>
              <a:t>row names</a:t>
            </a:r>
            <a:r>
              <a:rPr/>
              <a:t>, not a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Column names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—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a name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 season runs </a:t>
            </a:r>
            <a:r>
              <a:rPr b="1"/>
              <a:t>Nov → May</a:t>
            </a:r>
            <a:r>
              <a:rPr/>
              <a:t>, but NOAA labels it by the year winter </a:t>
            </a:r>
            <a:r>
              <a:rPr b="1"/>
              <a:t>ends</a:t>
            </a:r>
            <a:r>
              <a:rPr/>
              <a:t> in — so </a:t>
            </a:r>
            <a:r>
              <a:rPr>
                <a:latin typeface="Courier"/>
              </a:rPr>
              <a:t>Nov-10</a:t>
            </a:r>
            <a:r>
              <a:rPr/>
              <a:t> under </a:t>
            </a:r>
            <a:r>
              <a:rPr>
                <a:latin typeface="Courier"/>
              </a:rPr>
              <a:t>1974</a:t>
            </a:r>
            <a:r>
              <a:rPr/>
              <a:t> really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this plot live every winter — </a:t>
            </a:r>
            <a:r>
              <a:rPr b="1"/>
              <a:t>current year</a:t>
            </a:r>
            <a:r>
              <a:rPr/>
              <a:t> (black), </a:t>
            </a:r>
            <a:r>
              <a:rPr b="1"/>
              <a:t>historical average</a:t>
            </a:r>
            <a:r>
              <a:rPr/>
              <a:t> (red), </a:t>
            </a:r>
            <a:r>
              <a:rPr b="1"/>
              <a:t>every past year</a:t>
            </a:r>
            <a:r>
              <a:rPr/>
              <a:t> (thin blue):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 build </a:t>
            </a:r>
            <a:r>
              <a:rPr b="1"/>
              <a:t>our own version</a:t>
            </a:r>
            <a:r>
              <a:rPr/>
              <a:t> from the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whole ice season, Nov → May</a:t>
            </a:r>
          </a:p>
          <a:p>
            <a:pPr lvl="0"/>
            <a:r>
              <a:rPr/>
              <a:t>The pattern that emerges — or doesn’t — is the climate story</a:t>
            </a:r>
          </a:p>
          <a:p>
            <a:pPr lvl="0" indent="0" marL="0">
              <a:buNone/>
            </a:pPr>
            <a:r>
              <a:rPr/>
              <a:t>A good example of the </a:t>
            </a:r>
            <a:r>
              <a:rPr b="1"/>
              <a:t>same chart type</a:t>
            </a:r>
            <a:r>
              <a:rPr/>
              <a:t> showing up in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 blue — every past year, faded so patterns stand out</a:t>
            </a:r>
          </a:p>
          <a:p>
            <a:pPr lvl="0"/>
            <a:r>
              <a:rPr/>
              <a:t>Thick red — the 50+ year average</a:t>
            </a:r>
          </a:p>
          <a:p>
            <a:pPr lvl="0"/>
            <a:r>
              <a:rPr/>
              <a:t>Thick black — this year, drawn last so it sits on top</a:t>
            </a:r>
          </a:p>
          <a:p>
            <a:pPr lvl="0" indent="0" marL="0">
              <a:buNone/>
            </a:pPr>
            <a:r>
              <a:rPr/>
              <a:t>Compare it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New question:</a:t>
            </a:r>
            <a:r>
              <a:rPr/>
              <a:t> has each winter’s </a:t>
            </a:r>
            <a:r>
              <a:rPr b="1"/>
              <a:t>peak</a:t>
            </a:r>
            <a:r>
              <a:rPr/>
              <a:t> ice cover changed over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as the Regression lecture</a:t>
            </a:r>
            <a:r>
              <a:rPr/>
              <a:t>, with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= percentage points of max ice gained or lost per year</a:t>
            </a:r>
          </a:p>
          <a:p>
            <a:pPr lvl="0"/>
            <a:r>
              <a:rPr/>
              <a:t>Read the slope’s </a:t>
            </a:r>
            <a:r>
              <a:rPr>
                <a:latin typeface="Courier"/>
              </a:rPr>
              <a:t>Pr(&gt;|t|)</a:t>
            </a:r>
            <a:r>
              <a:rPr/>
              <a:t> to decide if the trend is real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Trend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65300"/>
            <a:ext cx="44323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Notice the </a:t>
            </a:r>
            <a:r>
              <a:rPr b="1"/>
              <a:t>huge year-to-year scatter</a:t>
            </a:r>
          </a:p>
          <a:p>
            <a:pPr lvl="1"/>
            <a:r>
              <a:rPr/>
              <a:t>Great Lakes ice is famously variable</a:t>
            </a:r>
          </a:p>
          <a:p>
            <a:pPr lvl="1"/>
            <a:r>
              <a:rPr/>
              <a:t>driven by short-term weather — ENSO, the polar vortex</a:t>
            </a:r>
          </a:p>
          <a:p>
            <a:pPr lvl="1"/>
            <a:r>
              <a:rPr/>
              <a:t>not just a steady climate trend</a:t>
            </a:r>
          </a:p>
          <a:p>
            <a:pPr lvl="0"/>
            <a:r>
              <a:rPr/>
              <a:t>This is real data</a:t>
            </a:r>
          </a:p>
          <a:p>
            <a:pPr lvl="1"/>
            <a:r>
              <a:rPr/>
              <a:t>the story is messier, and more honest, than a clean line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pairs, unlocking </a:t>
            </a:r>
            <a:r>
              <a:rPr>
                <a:latin typeface="Courier"/>
              </a:rPr>
              <a:t>group_by()</a:t>
            </a:r>
            <a:r>
              <a:rPr/>
              <a:t>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applies to </a:t>
            </a:r>
            <a:r>
              <a:rPr i="1"/>
              <a:t>any</a:t>
            </a:r>
            <a:r>
              <a:rPr/>
              <a:t> time-indexed variable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The same pivot workflow on a Great Lake of your choice</a:t>
            </a:r>
          </a:p>
          <a:p>
            <a:pPr lvl="0"/>
            <a:r>
              <a:rPr/>
              <a:t>Compare its maximum ice trend to Lake Superior’s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2026-10-08T13:40:07Z</dcterms:created>
  <dcterms:modified xsi:type="dcterms:W3CDTF">2026-10-08T13:40:07Z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