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knows. The gap between your guess and the real answer is what makes the idea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 — including the typos R actually throws at you.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 A 90-minute lecture overloads it; an 8-minute chunk does not.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Wrangling Verbs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, and chaining them into a pipeline.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 you will do Activity Parts 1–3.</a:t>
            </a:r>
            <a:r>
              <a:rPr sz="2000"/>
              <a:t> Keep the worksheet open beside you — you will type every verb yourself.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Real coding </a:t>
            </a:r>
            <a:r>
              <a:rPr sz="2000" i="1"/>
              <a:t>is</a:t>
            </a:r>
            <a:r>
              <a:rPr sz="2000"/>
              <a:t> fixing errors. Watching me read the message, spot the </a:t>
            </a:r>
            <a:r>
              <a:rPr sz="2000">
                <a:latin typeface="Courier"/>
              </a:rPr>
              <a:t>=</a:t>
            </a:r>
            <a:r>
              <a:rPr sz="2000"/>
              <a:t>, and repair it teaches the debugging process that finished code samples always hide.</a:t>
            </a:r>
          </a:p>
          <a:p>
            <a:pPr lvl="0" indent="0" marL="1270000">
              <a:buNone/>
            </a:pPr>
            <a:r>
              <a:rPr sz="2000"/>
              <a:t>When you hit this exact error yourself, you will recognise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worksheet and work through </a:t>
            </a:r>
            <a:r>
              <a:rPr b="1"/>
              <a:t>filter, select, mutate, arrange, and the full pipeline.</a:t>
            </a:r>
            <a:r>
              <a:rPr/>
              <a:t> Type every line; predict before you run.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Natural stopping point (optional two-session split)</a:t>
            </a:r>
          </a:p>
          <a:p>
            <a:pPr lvl="0" indent="0" marL="1270000">
              <a:buNone/>
            </a:pPr>
            <a:r>
              <a:rPr sz="2000"/>
              <a:t>Chunk 1 is all </a:t>
            </a:r>
            <a:r>
              <a:rPr sz="2000" i="1"/>
              <a:t>new code</a:t>
            </a:r>
            <a:r>
              <a:rPr sz="2000"/>
              <a:t>. Everything after this is </a:t>
            </a:r>
            <a:r>
              <a:rPr sz="2000" i="1"/>
              <a:t>new statistics</a:t>
            </a:r>
            <a:r>
              <a:rPr sz="2000"/>
              <a:t>. If class runs short, </a:t>
            </a:r>
            <a:r>
              <a:rPr sz="2000" b="1"/>
              <a:t>stop here</a:t>
            </a:r>
            <a:r>
              <a:rPr sz="2000"/>
              <a:t> and start next session at Chunk 2 — that keeps students from meeting new code and new statistics at the same moment, which is exactly what cognitive-load research warns against.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Centre — Mean &amp;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extracting one group with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pull()</a:t>
            </a:r>
            <a:r>
              <a:rPr/>
              <a:t>, and the median.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5 (mean &amp; median).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Spread &amp;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variance, SD, SE, the trap in </a:t>
            </a:r>
            <a:r>
              <a:rPr>
                <a:latin typeface="Courier"/>
              </a:rPr>
              <a:t>length()</a:t>
            </a:r>
            <a:r>
              <a:rPr/>
              <a:t>, and the fix </a:t>
            </a:r>
            <a:r>
              <a:rPr>
                <a:latin typeface="Courier"/>
              </a:rPr>
              <a:t>sum(!is.na())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4 (the NA problem) and the SD / SE steps of Part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Tidy Stats &amp;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skimr</a:t>
            </a:r>
            <a:r>
              <a:rPr/>
              <a:t>, and the boxplot / mean ± SE plots.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6–9.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lecture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lecture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lecture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6–9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Tidy stats with </a:t>
            </a:r>
            <a:r>
              <a:rPr>
                <a:latin typeface="Courier"/>
              </a:rPr>
              <a:t>group_by()</a:t>
            </a:r>
            <a:r>
              <a:rPr/>
              <a:t>, a fast </a:t>
            </a:r>
            <a:r>
              <a:rPr>
                <a:latin typeface="Courier"/>
              </a:rPr>
              <a:t>skim()</a:t>
            </a:r>
            <a:r>
              <a:rPr/>
              <a:t>, and both plots. Predict each output, type it, then run it.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2026-07-05T19:53:35Z</dcterms:created>
  <dcterms:modified xsi:type="dcterms:W3CDTF">2026-07-05T19:53:35Z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