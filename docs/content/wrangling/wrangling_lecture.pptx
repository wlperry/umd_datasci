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Describing 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Wrangling, summaries, statistics, and our first real comparisons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R as a calculator</a:t>
            </a:r>
            <a:r>
              <a:rPr/>
              <a:t> — arithmetic, order of operations, assignment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 b="1"/>
              <a:t>Vectors</a:t>
            </a:r>
            <a:r>
              <a:rPr/>
              <a:t> — </a:t>
            </a:r>
            <a:r>
              <a:rPr>
                <a:latin typeface="Courier"/>
              </a:rPr>
              <a:t>c()</a:t>
            </a:r>
            <a:r>
              <a:rPr/>
              <a:t>, data types (</a:t>
            </a:r>
            <a:r>
              <a:rPr>
                <a:latin typeface="Courier"/>
              </a:rPr>
              <a:t>numeric</a:t>
            </a:r>
            <a:r>
              <a:rPr/>
              <a:t>, </a:t>
            </a:r>
            <a:r>
              <a:rPr>
                <a:latin typeface="Courier"/>
              </a:rPr>
              <a:t>character</a:t>
            </a:r>
            <a:r>
              <a:rPr/>
              <a:t>, </a:t>
            </a:r>
            <a:r>
              <a:rPr>
                <a:latin typeface="Courier"/>
              </a:rPr>
              <a:t>logical</a:t>
            </a:r>
            <a:r>
              <a:rPr/>
              <a:t>)</a:t>
            </a:r>
          </a:p>
          <a:p>
            <a:pPr lvl="0"/>
            <a:r>
              <a:rPr b="1"/>
              <a:t>Functions</a:t>
            </a:r>
            <a:r>
              <a:rPr/>
              <a:t> — calling built-in functions, reading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First ggplot</a:t>
            </a:r>
            <a:r>
              <a:rPr/>
              <a:t> — boxplot + </a:t>
            </a:r>
            <a:r>
              <a:rPr>
                <a:latin typeface="Courier"/>
              </a:rPr>
              <a:t>geom_jitter()</a:t>
            </a:r>
            <a:r>
              <a:rPr/>
              <a:t>, saved as PNG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get data into R and make a plot. Today we learn to </a:t>
            </a:r>
            <a:r>
              <a:rPr sz="2000" i="1"/>
              <a:t>wrangle</a:t>
            </a:r>
            <a:r>
              <a:rPr sz="2000"/>
              <a:t> and </a:t>
            </a:r>
            <a:r>
              <a:rPr sz="2000" i="1"/>
              <a:t>describe</a:t>
            </a:r>
            <a:r>
              <a:rPr sz="2000"/>
              <a:t> what we actually have.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 1 — Tidyverse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0">
              <a:buNone/>
            </a:pPr>
            <a:r>
              <a:rPr b="1"/>
              <a:t>Part 2 — Descriptive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NA handling —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>
                <a:latin typeface="Courier"/>
              </a:rPr>
              <a:t>skimr</a:t>
            </a:r>
            <a:r>
              <a:rPr/>
              <a:t> for a fast full overview</a:t>
            </a:r>
          </a:p>
          <a:p>
            <a:pPr lvl="0"/>
            <a:r>
              <a:rPr/>
              <a:t>Boxplot + mean ± SE plots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and describe our leaf data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/>
            <a:r>
              <a:rPr>
                <a:latin typeface="Courier"/>
              </a:rPr>
              <a:t>skimr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knows. The gap between your guess and the real answer is what makes the idea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 — including the typos R actually throws at you.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 A 90-minute lecture overloads it; an 8-minute chunk does not.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Wrangling Verbs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, and chaining them into a pipeline.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 you will do Activity Parts 1–3.</a:t>
            </a:r>
            <a:r>
              <a:rPr sz="2000"/>
              <a:t> Keep the worksheet open beside you — you will type every verb yourself.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These five verbs are the tidyverse grammar for data. Learn them once and you can wrangle almost any dataset.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20 leaves. Before you run it, guess how many rows </a:t>
            </a:r>
            <a:r>
              <a:rPr sz="2000">
                <a:latin typeface="Courier"/>
              </a:rPr>
              <a:t>filter(side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Real coding </a:t>
            </a:r>
            <a:r>
              <a:rPr sz="2000" i="1"/>
              <a:t>is</a:t>
            </a:r>
            <a:r>
              <a:rPr sz="2000"/>
              <a:t> fixing errors. Watching me read the message, spot the </a:t>
            </a:r>
            <a:r>
              <a:rPr sz="2000">
                <a:latin typeface="Courier"/>
              </a:rPr>
              <a:t>=</a:t>
            </a:r>
            <a:r>
              <a:rPr sz="2000"/>
              <a:t>, and repair it teaches the debugging process that finished code samples always hide.</a:t>
            </a:r>
          </a:p>
          <a:p>
            <a:pPr lvl="0" indent="0" marL="1270000">
              <a:buNone/>
            </a:pPr>
            <a:r>
              <a:rPr sz="2000"/>
              <a:t>When you hit this exact error yourself, you will recognise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weight_g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weight_g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frame.</a:t>
            </a:r>
          </a:p>
          <a:p>
            <a:pPr lvl="0" indent="0" marL="1270000">
              <a:buNone/>
            </a:pPr>
            <a:r>
              <a:rPr sz="2000"/>
              <a:t>To overwrite a column, just 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pipeline </a:t>
            </a:r>
            <a:r>
              <a:rPr sz="2000">
                <a:latin typeface="Courier"/>
              </a:rPr>
              <a:t>%&gt;%</a:t>
            </a:r>
            <a:r>
              <a:rPr sz="2000"/>
              <a:t> is what makes tidyverse readable. You can see every step in order — unlike nested function calls that read inside-out.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worksheet and work through </a:t>
            </a:r>
            <a:r>
              <a:rPr b="1"/>
              <a:t>filter, select, mutate, arrange, and the full pipeline.</a:t>
            </a:r>
            <a:r>
              <a:rPr/>
              <a:t> Type every line; predict before you run.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Natural stopping point (optional two-session split)</a:t>
            </a:r>
          </a:p>
          <a:p>
            <a:pPr lvl="0" indent="0" marL="1270000">
              <a:buNone/>
            </a:pPr>
            <a:r>
              <a:rPr sz="2000"/>
              <a:t>Chunk 1 is all </a:t>
            </a:r>
            <a:r>
              <a:rPr sz="2000" i="1"/>
              <a:t>new code</a:t>
            </a:r>
            <a:r>
              <a:rPr sz="2000"/>
              <a:t>. Everything after this is </a:t>
            </a:r>
            <a:r>
              <a:rPr sz="2000" i="1"/>
              <a:t>new statistics</a:t>
            </a:r>
            <a:r>
              <a:rPr sz="2000"/>
              <a:t>. If class runs short, </a:t>
            </a:r>
            <a:r>
              <a:rPr sz="2000" b="1"/>
              <a:t>stop here</a:t>
            </a:r>
            <a:r>
              <a:rPr sz="2000"/>
              <a:t> and start next session at Chunk 2 — that keeps students from meeting new code and new statistics at the same moment, which is exactly what cognitive-load research warns against.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04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Centre — Mean &amp;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mean, extracting one group with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pull()</a:t>
            </a:r>
            <a:r>
              <a:rPr/>
              <a:t>, and the median.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5 (mean &amp; median).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Spread &amp; Counting Correctly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variance, SD, SE, the trap in </a:t>
            </a:r>
            <a:r>
              <a:rPr>
                <a:latin typeface="Courier"/>
              </a:rPr>
              <a:t>length()</a:t>
            </a:r>
            <a:r>
              <a:rPr/>
              <a:t>, and the fix </a:t>
            </a:r>
            <a:r>
              <a:rPr>
                <a:latin typeface="Courier"/>
              </a:rPr>
              <a:t>sum(!is.na())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4 (the NA problem) and the SD / SE steps of Part 5.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Tidy Stats &amp;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</a:t>
            </a:r>
            <a:r>
              <a:rPr>
                <a:latin typeface="Courier"/>
              </a:rPr>
              <a:t>skimr</a:t>
            </a:r>
            <a:r>
              <a:rPr/>
              <a:t>, and the boxplot / mean ± SE plots.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6–9.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</a:t>
            </a:r>
            <a:r>
              <a:rPr sz="2000">
                <a:latin typeface="Courier"/>
              </a:rPr>
              <a:t>stats_df</a:t>
            </a:r>
            <a:r>
              <a:rPr sz="2000"/>
              <a:t>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Basic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boxplot — data is already long format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</a:p>
        </p:txBody>
      </p:sp>
      <p:pic>
        <p:nvPicPr>
          <p:cNvPr descr="wrangling_lecture_files/figure-pptx/boxplot-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Because our data is in </a:t>
            </a:r>
            <a:r>
              <a:rPr b="1"/>
              <a:t>long format</a:t>
            </a:r>
            <a:r>
              <a:rPr/>
              <a:t>, </a:t>
            </a:r>
            <a:r>
              <a:rPr>
                <a:latin typeface="Courier"/>
              </a:rPr>
              <a:t>ggplot2</a:t>
            </a:r>
            <a:r>
              <a:rPr/>
              <a:t> reads </a:t>
            </a:r>
            <a:r>
              <a:rPr>
                <a:latin typeface="Courier"/>
              </a:rPr>
              <a:t>side</a:t>
            </a:r>
            <a:r>
              <a:rPr/>
              <a:t> straight off the x-axis — no reshaping needed.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Overlay Individual Points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raw data points over the boxplot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tree_jitter_plot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tree_jitter_plot</a:t>
            </a:r>
          </a:p>
        </p:txBody>
      </p:sp>
      <p:pic>
        <p:nvPicPr>
          <p:cNvPr descr="wrangling_lecture_files/figure-pptx/boxplot-ji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— spreads points left and right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 to show overlap</a:t>
            </a:r>
          </a:p>
          <a:p>
            <a:pPr lvl="0"/>
            <a:r>
              <a:rPr>
                <a:latin typeface="Courier"/>
              </a:rPr>
              <a:t>size = 2.5</a:t>
            </a:r>
            <a:r>
              <a:rPr/>
              <a:t> — point size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raw points with a boxplot — with only 10 leaves per group, every point matters!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Plot —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and plots mean and SE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wrangling_lecture_files/figure-pptx/mean-s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Individual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shown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6–9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Tidy stats with </a:t>
            </a:r>
            <a:r>
              <a:rPr>
                <a:latin typeface="Courier"/>
              </a:rPr>
              <a:t>group_by()</a:t>
            </a:r>
            <a:r>
              <a:rPr/>
              <a:t>, a fast </a:t>
            </a:r>
            <a:r>
              <a:rPr>
                <a:latin typeface="Courier"/>
              </a:rPr>
              <a:t>skim()</a:t>
            </a:r>
            <a:r>
              <a:rPr/>
              <a:t>, and both plots. Predict each output, type it, then run it.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 wrangling skills:</a:t>
            </a:r>
          </a:p>
          <a:p>
            <a:pPr lvl="1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1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1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1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More R skills: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,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§18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04:</a:t>
            </a:r>
          </a:p>
          <a:p>
            <a:pPr lvl="0"/>
            <a:r>
              <a:rPr/>
              <a:t>Two-sample t-test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Interpreting and reporting results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Describing Our Data</dc:title>
  <dc:creator>Bill Perry</dc:creator>
  <cp:keywords/>
  <dc:description>Filter, select, mutate, and arrange with the tidyverse pipe; compute mean, median, variance, SD, and SE; start comparing groups.</dc:description>
  <dcterms:created xsi:type="dcterms:W3CDTF">2026-07-05T19:40:47Z</dcterms:created>
  <dcterms:modified xsi:type="dcterms:W3CDTF">2026-07-05T19:40:47Z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Wrangling, summaries, statistics, and our first real comparisons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