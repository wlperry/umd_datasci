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a-tidy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data-transform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lect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mutate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a-tidy" TargetMode="External" /><Relationship Id="rId4" Type="http://schemas.openxmlformats.org/officeDocument/2006/relationships/hyperlink" Target="https://datacarpentry.github.io/R-ecology-lesson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 — Wrangling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filter, select, mutate, arrange — and chaining them into a pipeline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04 — GGPlot II)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Setup</a:t>
            </a:r>
            <a:r>
              <a:rPr/>
              <a:t> — R and Positron installed; project folders created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)</a:t>
            </a:r>
          </a:p>
          <a:p>
            <a:pPr lvl="0"/>
            <a:r>
              <a:rPr b="1"/>
              <a:t>Loading data</a:t>
            </a:r>
            <a:r>
              <a:rPr/>
              <a:t> — </a:t>
            </a:r>
            <a:r>
              <a:rPr>
                <a:latin typeface="Courier"/>
              </a:rPr>
              <a:t>read_excel()</a:t>
            </a:r>
            <a:r>
              <a:rPr/>
              <a:t> and </a:t>
            </a:r>
            <a:r>
              <a:rPr>
                <a:latin typeface="Courier"/>
              </a:rPr>
              <a:t>read_csv()</a:t>
            </a:r>
            <a:r>
              <a:rPr/>
              <a:t>; a first look with </a:t>
            </a:r>
            <a:r>
              <a:rPr>
                <a:latin typeface="Courier"/>
              </a:rPr>
              <a:t>glimpse()</a:t>
            </a:r>
          </a:p>
          <a:p>
            <a:pPr lvl="0"/>
            <a:r>
              <a:rPr b="1"/>
              <a:t>Pipe</a:t>
            </a:r>
            <a:r>
              <a:rPr/>
              <a:t> — </a:t>
            </a:r>
            <a:r>
              <a:rPr>
                <a:latin typeface="Courier"/>
              </a:rPr>
              <a:t>%&gt;%</a:t>
            </a:r>
            <a:r>
              <a:rPr/>
              <a:t> reads as “then”; chains steps together</a:t>
            </a:r>
          </a:p>
          <a:p>
            <a:pPr lvl="0"/>
            <a:r>
              <a:rPr b="1"/>
              <a:t>GGPlot I &amp; II</a:t>
            </a:r>
            <a:r>
              <a:rPr/>
              <a:t> — geoms, facets, </a:t>
            </a:r>
            <a:r>
              <a:rPr>
                <a:latin typeface="Courier"/>
              </a:rPr>
              <a:t>stat_summary()</a:t>
            </a:r>
            <a:r>
              <a:rPr/>
              <a:t>, </a:t>
            </a:r>
            <a:r>
              <a:rPr>
                <a:latin typeface="Courier"/>
              </a:rPr>
              <a:t>scale_color_manual()</a:t>
            </a:r>
            <a:r>
              <a:rPr/>
              <a:t>, coordinates, and themes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04</a:t>
            </a:r>
          </a:p>
          <a:p>
            <a:pPr lvl="0" indent="0" marL="1270000">
              <a:buNone/>
            </a:pPr>
            <a:r>
              <a:rPr sz="2000"/>
              <a:t>You can already load data and plot it beautifully. Today we learn to </a:t>
            </a:r>
            <a:r>
              <a:rPr sz="2000" i="1"/>
              <a:t>reshape and clean</a:t>
            </a:r>
            <a:r>
              <a:rPr sz="2000"/>
              <a:t> the data itself, before it ever reaches </a:t>
            </a:r>
            <a:r>
              <a:rPr sz="2000">
                <a:latin typeface="Courier"/>
              </a:rPr>
              <a:t>ggplot()</a:t>
            </a:r>
            <a:r>
              <a:rPr sz="2000"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core tidyverse verbs: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— pick rows by a condition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pick columns by name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create new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Chain them all into a </a:t>
            </a:r>
            <a:r>
              <a:rPr b="1"/>
              <a:t>pipeline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wrangle our leaf data into exactly the columns and rows you need, in one connected pipeline.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Our tools today:</a:t>
            </a:r>
          </a:p>
          <a:p>
            <a:pPr lvl="0"/>
            <a:r>
              <a:rPr>
                <a:latin typeface="Courier"/>
              </a:rPr>
              <a:t>readxl</a:t>
            </a:r>
          </a:p>
          <a:p>
            <a:pPr lvl="0"/>
            <a:r>
              <a:rPr>
                <a:latin typeface="Courier"/>
              </a:rPr>
              <a:t>tidyverse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5</a:t>
            </a:r>
            <a:r>
              <a:rPr/>
              <a:t> — Data Tidying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</a:t>
            </a:r>
            <a:r>
              <a:rPr b="1"/>
              <a:t>shorter lecture than usual</a:t>
            </a:r>
            <a:r>
              <a:rPr/>
              <a:t> — one focused idea, wrangling, done properly. You will switch to the activity once, at the end, and type the code yourself into your R script there.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>
                <a:latin typeface="Courier"/>
              </a:rPr>
              <a:t>filter()</a:t>
            </a:r>
            <a:r>
              <a:rPr sz="2000"/>
              <a:t>, </a:t>
            </a:r>
            <a:r>
              <a:rPr sz="2000">
                <a:latin typeface="Courier"/>
              </a:rPr>
              <a:t>select()</a:t>
            </a:r>
            <a:r>
              <a:rPr sz="2000"/>
              <a:t>, </a:t>
            </a:r>
            <a:r>
              <a:rPr sz="2000">
                <a:latin typeface="Courier"/>
              </a:rPr>
              <a:t>mutate()</a:t>
            </a:r>
            <a:r>
              <a:rPr sz="2000"/>
              <a:t>, and </a:t>
            </a:r>
            <a:r>
              <a:rPr sz="2000">
                <a:latin typeface="Courier"/>
              </a:rPr>
              <a:t>arrange()</a:t>
            </a:r>
            <a:r>
              <a:rPr sz="2000"/>
              <a:t> look interchangeable on a slide — guessing the output first is what actually forces you to tell them apart.</a:t>
            </a:r>
          </a:p>
          <a:p>
            <a:pPr lvl="0"/>
            <a:r>
              <a:rPr sz="2000"/>
              <a:t>You will type </a:t>
            </a:r>
            <a:r>
              <a:rPr sz="2000">
                <a:latin typeface="Courier"/>
              </a:rPr>
              <a:t>%&gt;%</a:t>
            </a:r>
            <a:r>
              <a:rPr sz="2000"/>
              <a:t> dozens of times today; typing it now is what makes it automatic later, when you’re chaining five verbs under a deadline instead of reading one line calmly.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Take a First Look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glimpse(): one row per column — name, type, first values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(leaf_df)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53
Columns: 8
$ twig_id      &lt;chr&gt; NA, NA, NA, NA, NA, NA, NA, NA, NA, NA, NA, NA, "twig_1",…
$ leaf_id      &lt;chr&gt; NA, NA, NA, NA, NA, NA, NA, NA, NA, NA, NA, NA, "l07", "l…
$ teams        &lt;chr&gt; "12345", "12345", "12345", "12345", "12345", "12345", "12…
$ shade        &lt;chr&gt; "sunny", "sunny", "sunny", "sunny", "sunny", "sunny", "sh…
$ mass_g       &lt;dbl&gt; 0.4000, 0.4800, 0.3400, 0.6500, 0.2700, 0.4300, 0.3900, 0…
$ petiole_mm   &lt;dbl&gt; 79.0000, 63.0000, 68.0000, 35.0000, 34.0000, 40.0000, 40.…
$ thickness_mm &lt;dbl&gt; 0.15, 0.14, 0.14, 0.15, 0.11, 0.16, 0.14, 0.15, 0.12, 0.1…
$ paper_mass_g &lt;dbl&gt; 0.2100, 0.2100, 0.2100, 0.2400, 0.1500, 0.3400, 0.2900, 0…</a:t>
            </a:r>
          </a:p>
          <a:p>
            <a:pPr lvl="0"/>
            <a:r>
              <a:rPr>
                <a:latin typeface="Courier"/>
              </a:rPr>
              <a:t>&lt;chr&gt;</a:t>
            </a:r>
            <a:r>
              <a:rPr/>
              <a:t> = character (</a:t>
            </a:r>
            <a:r>
              <a:rPr>
                <a:latin typeface="Courier"/>
              </a:rPr>
              <a:t>shade</a:t>
            </a:r>
            <a:r>
              <a:rPr/>
              <a:t>, </a:t>
            </a:r>
            <a:r>
              <a:rPr>
                <a:latin typeface="Courier"/>
              </a:rPr>
              <a:t>teams</a:t>
            </a:r>
            <a:r>
              <a:rPr/>
              <a:t>)</a:t>
            </a:r>
          </a:p>
          <a:p>
            <a:pPr lvl="0"/>
            <a:r>
              <a:rPr>
                <a:latin typeface="Courier"/>
              </a:rPr>
              <a:t>&lt;dbl&gt;</a:t>
            </a:r>
            <a:r>
              <a:rPr/>
              <a:t> = numeric (</a:t>
            </a:r>
            <a:r>
              <a:rPr>
                <a:latin typeface="Courier"/>
              </a:rPr>
              <a:t>mass_g</a:t>
            </a:r>
            <a:r>
              <a:rPr/>
              <a:t>, </a:t>
            </a:r>
            <a:r>
              <a:rPr>
                <a:latin typeface="Courier"/>
              </a:rPr>
              <a:t>petiole_mm</a:t>
            </a:r>
            <a:r>
              <a:rPr/>
              <a:t>, </a:t>
            </a:r>
            <a:r>
              <a:rPr>
                <a:latin typeface="Courier"/>
              </a:rPr>
              <a:t>thickness_mm</a:t>
            </a:r>
            <a:r>
              <a:rPr/>
              <a:t>, </a:t>
            </a:r>
            <a:r>
              <a:rPr>
                <a:latin typeface="Courier"/>
              </a:rPr>
              <a:t>paper_mass_g</a:t>
            </a:r>
            <a:r>
              <a:rPr/>
              <a:t>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Core Tidyverse Verbs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functions do most of the work in data wrangling: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filter()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rows</a:t>
                      </a:r>
                      <a:r>
                        <a:rPr/>
                        <a:t> matching a condition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select()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columns</a:t>
                      </a:r>
                      <a:r>
                        <a:rPr/>
                        <a:t> by name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mutate()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add or change</a:t>
                      </a:r>
                      <a:r>
                        <a:rPr/>
                        <a:t> a 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arrange()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sort</a:t>
                      </a:r>
                      <a:r>
                        <a:rPr/>
                        <a:t>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summarize()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collapse</a:t>
                      </a:r>
                      <a:r>
                        <a:rPr/>
                        <a:t> rows to a summary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take a data frame as first input (via </a:t>
            </a:r>
            <a:r>
              <a:rPr>
                <a:latin typeface="Courier"/>
              </a:rPr>
              <a:t>%&gt;%</a:t>
            </a:r>
            <a:r>
              <a:rPr/>
              <a:t>) and return a data frame. We’ll wrangle with the first four today — </a:t>
            </a:r>
            <a:r>
              <a:rPr>
                <a:latin typeface="Courier"/>
              </a:rPr>
              <a:t>summarize()</a:t>
            </a:r>
            <a:r>
              <a:rPr/>
              <a:t> is next lecture’s topic.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these five?</a:t>
            </a:r>
          </a:p>
          <a:p>
            <a:pPr lvl="0" indent="0" marL="1270000">
              <a:buNone/>
            </a:pPr>
            <a:r>
              <a:rPr sz="2000"/>
              <a:t>Almost every wrangling step you’ll write this semester decomposes into some combination of picking rows, picking columns, adding a column, sorting, or collapsing to a summary — that’s </a:t>
            </a:r>
            <a:r>
              <a:rPr sz="2000">
                <a:latin typeface="Courier"/>
              </a:rPr>
              <a:t>filter</a:t>
            </a:r>
            <a:r>
              <a:rPr sz="2000"/>
              <a:t>, </a:t>
            </a:r>
            <a:r>
              <a:rPr sz="2000">
                <a:latin typeface="Courier"/>
              </a:rPr>
              <a:t>select</a:t>
            </a:r>
            <a:r>
              <a:rPr sz="2000"/>
              <a:t>, </a:t>
            </a:r>
            <a:r>
              <a:rPr sz="2000">
                <a:latin typeface="Courier"/>
              </a:rPr>
              <a:t>mutate</a:t>
            </a:r>
            <a:r>
              <a:rPr sz="2000"/>
              <a:t>, </a:t>
            </a:r>
            <a:r>
              <a:rPr sz="2000">
                <a:latin typeface="Courier"/>
              </a:rPr>
              <a:t>arrange</a:t>
            </a:r>
            <a:r>
              <a:rPr sz="2000"/>
              <a:t>, and </a:t>
            </a:r>
            <a:r>
              <a:rPr sz="2000">
                <a:latin typeface="Courier"/>
              </a:rPr>
              <a:t>summarize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/>
              <a:t>Think of them as building blocks:</a:t>
            </a:r>
          </a:p>
          <a:p>
            <a:pPr lvl="0" indent="0">
              <a:buNone/>
            </a:pPr>
            <a:r>
              <a:rPr>
                <a:latin typeface="Courier"/>
              </a:rPr>
              <a:t>filter()   → rows you want
select()   → columns you want
mutate()   → new columns you need
arrange()  → order the rows
summarize()→ collapse to summaries (next lecture)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 have 53 leaves. Before you run it, guess how many rows </a:t>
            </a:r>
            <a:r>
              <a:rPr sz="2000">
                <a:latin typeface="Courier"/>
              </a:rPr>
              <a:t>filter(shade == "sunny")</a:t>
            </a:r>
            <a:r>
              <a:rPr sz="2000"/>
              <a:t> returns. Write your number down, then run it and check.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filter() keeps rows where the condition is TRUE 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sunny leaves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twig_id leaf_id teams shade mass_g petiole_mm thickness_mm paper_mass_g
  &lt;chr&gt;   &lt;chr&gt;   &lt;chr&gt; &lt;chr&gt;  &lt;dbl&gt;      &lt;dbl&gt;        &lt;dbl&gt;        &lt;dbl&gt;
1 &lt;NA&gt;    &lt;NA&gt;    12345 sunny   0.4          79         0.15         0.21
2 &lt;NA&gt;    &lt;NA&gt;    12345 sunny   0.48         63         0.14         0.21
3 &lt;NA&gt;    &lt;NA&gt;    12345 sunny   0.34         68         0.14         0.21
4 &lt;NA&gt;    &lt;NA&gt;    12345 sunny   0.65         35         0.15         0.24
5 &lt;NA&gt;    &lt;NA&gt;    12345 sunny   0.27         34         0.11         0.15
6 &lt;NA&gt;    &lt;NA&gt;    12345 sunny   0.43         40         0.16         0.34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leaves heavier than 0.5 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twig_id leaf_id teams        shade mass_g petiole_mm thickness_mm paper_mass_g
  &lt;chr&gt;   &lt;chr&gt;   &lt;chr&gt;        &lt;chr&gt;  &lt;dbl&gt;      &lt;dbl&gt;        &lt;dbl&gt;        &lt;dbl&gt;
1 &lt;NA&gt;    &lt;NA&gt;    12345        sunny  0.65      35             0.15        0.24 
2 &lt;NA&gt;    &lt;NA&gt;    12345        shady  0.6       68             0.12        0.23 
3 &lt;NA&gt;    &lt;NA&gt;    12345        shady  0.57      73             0.14        0.28 
4 twig_1  l07     fighting_mo… shady  0.589     66             0.32        0.257
5 twig_1  l08     fighting_mo… shady  0.511     51             0.25        0.249
6 twig_2  l09     fighting_mo… shady  0.920      0.383        NA          NA   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two conditions with , (AND)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, 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twig_id leaf_id teams        shade mass_g petiole_mm thickness_mm paper_mass_g
  &lt;chr&gt;   &lt;chr&gt;   &lt;chr&gt;        &lt;chr&gt;  &lt;dbl&gt;      &lt;dbl&gt;        &lt;dbl&gt;        &lt;dbl&gt;
1 &lt;NA&gt;    &lt;NA&gt;    12345        shady  0.6       68             0.12        0.23 
2 &lt;NA&gt;    &lt;NA&gt;    12345        shady  0.57      73             0.14        0.28 
3 twig_1  l07     fighting_mo… shady  0.589     66             0.32        0.257
4 twig_1  l08     fighting_mo… shady  0.511     51             0.25        0.249
5 twig_2  l09     fighting_mo… shady  0.920      0.383        NA          NA    
6 twig_2  l10     fighting_mo… shady  0.782     67             0.27        0.342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comparison operators: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exactly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&gt;=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 or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is.na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all NA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!is.na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all rows that are </a:t>
                      </a:r>
                      <a:r>
                        <a:rPr b="1"/>
                        <a:t>NOT NA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=</a:t>
            </a:r>
            <a:r>
              <a:rPr sz="2000"/>
              <a:t> assigns a value.</a:t>
            </a:r>
          </a:p>
          <a:p>
            <a:pPr lvl="0"/>
            <a:r>
              <a:rPr sz="2000">
                <a:latin typeface="Courier"/>
              </a:rPr>
              <a:t>==</a:t>
            </a:r>
            <a:r>
              <a:rPr sz="2000"/>
              <a:t> tests equality.</a:t>
            </a:r>
          </a:p>
          <a:p>
            <a:pPr lvl="0"/>
            <a:r>
              <a:rPr sz="2000">
                <a:latin typeface="Courier"/>
              </a:rPr>
              <a:t>filter(shade = "sunny")</a:t>
            </a:r>
            <a:r>
              <a:rPr sz="2000"/>
              <a:t> → error.</a:t>
            </a:r>
          </a:p>
          <a:p>
            <a:pPr lvl="0"/>
            <a:r>
              <a:rPr sz="2000">
                <a:latin typeface="Courier"/>
              </a:rPr>
              <a:t>filter(shade == "sunny")</a:t>
            </a:r>
            <a:r>
              <a:rPr sz="2000"/>
              <a:t> → correct.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 will type this </a:t>
            </a:r>
            <a:r>
              <a:rPr b="1"/>
              <a:t>wrong</a:t>
            </a:r>
            <a:r>
              <a:rPr/>
              <a:t> on purpose: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equals sign — a very common mistake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 stops and tells us: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`filter()`:
! We detected a named input.
i This usually means that you've used `=` instead of `==`.</a:t>
            </a:r>
          </a:p>
          <a:p>
            <a:pPr lvl="0" indent="0" marL="0">
              <a:buNone/>
            </a:pPr>
            <a:r>
              <a:rPr/>
              <a:t>Now the fix — two equals signs: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</a:t>
            </a:r>
            <a:r>
              <a:rPr sz="2000" b="1">
                <a:latin typeface="Courier"/>
              </a:rPr>
              <a:t>filter()</a:t>
            </a:r>
            <a:r>
              <a:rPr sz="2000" b="1"/>
              <a:t>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filter(shade = "sunny")</a:t>
            </a:r>
            <a:r>
              <a:rPr sz="2000"/>
              <a:t> is the single most common typo in this whole unit, because </a:t>
            </a:r>
            <a:r>
              <a:rPr sz="2000">
                <a:latin typeface="Courier"/>
              </a:rPr>
              <a:t>=</a:t>
            </a:r>
            <a:r>
              <a:rPr sz="2000"/>
              <a:t> and </a:t>
            </a:r>
            <a:r>
              <a:rPr sz="2000">
                <a:latin typeface="Courier"/>
              </a:rPr>
              <a:t>==</a:t>
            </a:r>
            <a:r>
              <a:rPr sz="2000"/>
              <a:t> look almost identical and only one of them tests equality. dplyr’s error message actually names the mistake — “you’ve used </a:t>
            </a:r>
            <a:r>
              <a:rPr sz="2000">
                <a:latin typeface="Courier"/>
              </a:rPr>
              <a:t>=</a:t>
            </a:r>
            <a:r>
              <a:rPr sz="2000"/>
              <a:t> instead of </a:t>
            </a:r>
            <a:r>
              <a:rPr sz="2000">
                <a:latin typeface="Courier"/>
              </a:rPr>
              <a:t>==</a:t>
            </a:r>
            <a:r>
              <a:rPr sz="2000"/>
              <a:t>” — so once you’ve seen it fixed here, the next time R prints it at you it’s a fix, not a mystery.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select() keeps the columns you name ------------------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shade and mass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(shade,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shade mass_g
  &lt;chr&gt;  &lt;dbl&gt;
1 sunny   0.4 
2 sunny   0.48
3 sunny   0.34
4 sunny   0.65
5 sunny   0.27
6 sunny   0.43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the paper_mass_g column (use minus sign)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paper_mass_g)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twig_id leaf_id teams shade mass_g petiole_mm thickness_mm
  &lt;chr&gt;   &lt;chr&gt;   &lt;chr&gt; &lt;chr&gt;  &lt;dbl&gt;      &lt;dbl&gt;        &lt;dbl&gt;
1 &lt;NA&gt;    &lt;NA&gt;    12345 sunny   0.4          79         0.15
2 &lt;NA&gt;    &lt;NA&gt;    12345 sunny   0.48         63         0.14
3 &lt;NA&gt;    &lt;NA&gt;    12345 sunny   0.34         68         0.14
4 &lt;NA&gt;    &lt;NA&gt;    12345 sunny   0.65         35         0.15
5 &lt;NA&gt;    &lt;NA&gt;    12345 sunny   0.27         34         0.11
6 &lt;NA&gt;    &lt;NA&gt;    12345 sunny   0.43         40         0.16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columns that start with a word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starts_with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"mass"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1
  mass_g
   &lt;dbl&gt;
1   0.4 
2   0.48
3   0.34
4   0.65
5   0.27
6   0.43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Why </a:t>
            </a:r>
            <a:r>
              <a:rPr b="1">
                <a:latin typeface="Courier"/>
              </a:rPr>
              <a:t>select()</a:t>
            </a:r>
            <a:r>
              <a:rPr b="1"/>
              <a:t> matters:</a:t>
            </a:r>
          </a:p>
          <a:p>
            <a:pPr lvl="1"/>
            <a:r>
              <a:rPr/>
              <a:t>Real datasets often have 50–100+ columns</a:t>
            </a:r>
          </a:p>
          <a:p>
            <a:pPr lvl="1"/>
            <a:r>
              <a:rPr/>
              <a:t>You rarely need all of them</a:t>
            </a:r>
          </a:p>
          <a:p>
            <a:pPr lvl="1"/>
            <a:r>
              <a:rPr>
                <a:latin typeface="Courier"/>
              </a:rPr>
              <a:t>select()</a:t>
            </a:r>
            <a:r>
              <a:rPr/>
              <a:t> keeps your workspace clean</a:t>
            </a:r>
          </a:p>
          <a:p>
            <a:pPr lvl="0"/>
            <a:r>
              <a:rPr b="1"/>
              <a:t>Useful helpers:</a:t>
            </a:r>
          </a:p>
          <a:p>
            <a:pPr lvl="1"/>
            <a:r>
              <a:rPr>
                <a:latin typeface="Courier"/>
              </a:rPr>
              <a:t>starts_with("x")</a:t>
            </a:r>
            <a:r>
              <a:rPr/>
              <a:t> — columns starting with “x”</a:t>
            </a:r>
          </a:p>
          <a:p>
            <a:pPr lvl="1"/>
            <a:r>
              <a:rPr>
                <a:latin typeface="Courier"/>
              </a:rPr>
              <a:t>ends_with("_mm")</a:t>
            </a:r>
            <a:r>
              <a:rPr/>
              <a:t> — columns ending with “_mm”</a:t>
            </a:r>
          </a:p>
          <a:p>
            <a:pPr lvl="1"/>
            <a:r>
              <a:rPr>
                <a:latin typeface="Courier"/>
              </a:rPr>
              <a:t>contains("mass")</a:t>
            </a:r>
            <a:r>
              <a:rPr/>
              <a:t> — columns containing “mass”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Creating New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mass_g * 1000</a:t>
            </a:r>
            <a:r>
              <a:rPr sz="2000"/>
              <a:t> converts grams to milligrams. Before running: will </a:t>
            </a:r>
            <a:r>
              <a:rPr sz="2000">
                <a:latin typeface="Courier"/>
              </a:rPr>
              <a:t>mutate()</a:t>
            </a:r>
            <a:r>
              <a:rPr sz="2000"/>
              <a:t> </a:t>
            </a:r>
            <a:r>
              <a:rPr sz="2000" b="1"/>
              <a:t>replace</a:t>
            </a:r>
            <a:r>
              <a:rPr sz="2000"/>
              <a:t> </a:t>
            </a:r>
            <a:r>
              <a:rPr sz="2000">
                <a:latin typeface="Courier"/>
              </a:rPr>
              <a:t>mass_g</a:t>
            </a:r>
            <a:r>
              <a:rPr sz="2000"/>
              <a:t> or </a:t>
            </a:r>
            <a:r>
              <a:rPr sz="2000" b="1"/>
              <a:t>add</a:t>
            </a:r>
            <a:r>
              <a:rPr sz="2000"/>
              <a:t> a new column? How many columns will the result have?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adds a new column to the data frame 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grams to milligrams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mass_mg =</a:t>
            </a:r>
            <a:r>
              <a:rPr>
                <a:solidFill>
                  <a:srgbClr val="003B4F"/>
                </a:solidFill>
                <a:latin typeface="Courier"/>
              </a:rPr>
              <a:t> mass_g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9
  twig_id leaf_id teams shade mass_g petiole_mm thickness_mm paper_mass_g
  &lt;chr&gt;   &lt;chr&gt;   &lt;chr&gt; &lt;chr&gt;  &lt;dbl&gt;      &lt;dbl&gt;        &lt;dbl&gt;        &lt;dbl&gt;
1 &lt;NA&gt;    &lt;NA&gt;    12345 sunny   0.4          79         0.15         0.21
2 &lt;NA&gt;    &lt;NA&gt;    12345 sunny   0.48         63         0.14         0.21
3 &lt;NA&gt;    &lt;NA&gt;    12345 sunny   0.34         68         0.14         0.21
4 &lt;NA&gt;    &lt;NA&gt;    12345 sunny   0.65         35         0.15         0.24
5 &lt;NA&gt;    &lt;NA&gt;    12345 sunny   0.27         34         0.11         0.15
6 &lt;NA&gt;    &lt;NA&gt;    12345 sunny   0.43         40         0.16         0.34
# ℹ 1 more variable: mass_mg &lt;dbl&gt;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size category based on mass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9
  twig_id leaf_id teams shade mass_g petiole_mm thickness_mm paper_mass_g
  &lt;chr&gt;   &lt;chr&gt;   &lt;chr&gt; &lt;chr&gt;  &lt;dbl&gt;      &lt;dbl&gt;        &lt;dbl&gt;        &lt;dbl&gt;
1 &lt;NA&gt;    &lt;NA&gt;    12345 sunny   0.4          79         0.15         0.21
2 &lt;NA&gt;    &lt;NA&gt;    12345 sunny   0.48         63         0.14         0.21
3 &lt;NA&gt;    &lt;NA&gt;    12345 sunny   0.34         68         0.14         0.21
4 &lt;NA&gt;    &lt;NA&gt;    12345 sunny   0.65         35         0.15         0.24
5 &lt;NA&gt;    &lt;NA&gt;    12345 sunny   0.27         34         0.11         0.15
6 &lt;NA&gt;    &lt;NA&gt;    12345 sunny   0.43         40         0.16         0.34
# ℹ 1 more variable: size_class &lt;chr&gt;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can create several new columns at once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mass_mg    =</a:t>
            </a:r>
            <a:r>
              <a:rPr>
                <a:solidFill>
                  <a:srgbClr val="003B4F"/>
                </a:solidFill>
                <a:latin typeface="Courier"/>
              </a:rPr>
              <a:t> mass_g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petiole_cm =</a:t>
            </a:r>
            <a:r>
              <a:rPr>
                <a:solidFill>
                  <a:srgbClr val="003B4F"/>
                </a:solidFill>
                <a:latin typeface="Courier"/>
              </a:rPr>
              <a:t> petiole_mm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petiole length in cm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10
  twig_id leaf_id teams shade mass_g petiole_mm thickness_mm paper_mass_g
  &lt;chr&gt;   &lt;chr&gt;   &lt;chr&gt; &lt;chr&gt;  &lt;dbl&gt;      &lt;dbl&gt;        &lt;dbl&gt;        &lt;dbl&gt;
1 &lt;NA&gt;    &lt;NA&gt;    12345 sunny   0.4          79         0.15         0.21
2 &lt;NA&gt;    &lt;NA&gt;    12345 sunny   0.48         63         0.14         0.21
3 &lt;NA&gt;    &lt;NA&gt;    12345 sunny   0.34         68         0.14         0.21
4 &lt;NA&gt;    &lt;NA&gt;    12345 sunny   0.65         35         0.15         0.24
5 &lt;NA&gt;    &lt;NA&gt;    12345 sunny   0.27         34         0.11         0.15
6 &lt;NA&gt;    &lt;NA&gt;    12345 sunny   0.43         40         0.16         0.34
# ℹ 2 more variables: mass_mg &lt;dbl&gt;, petiole_cm &lt;dbl&gt;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mutate()</a:t>
            </a:r>
            <a:r>
              <a:rPr/>
              <a:t> keeps </a:t>
            </a:r>
            <a:r>
              <a:rPr b="1"/>
              <a:t>all existing columns</a:t>
            </a:r>
            <a:r>
              <a:rPr/>
              <a:t> and adds new ones</a:t>
            </a:r>
          </a:p>
          <a:p>
            <a:pPr lvl="0"/>
            <a:r>
              <a:rPr b="1"/>
              <a:t>Use </a:t>
            </a:r>
            <a:r>
              <a:rPr b="1">
                <a:latin typeface="Courier"/>
              </a:rPr>
              <a:t>if_else(condition, value_if_true, value_if_false)</a:t>
            </a:r>
            <a:r>
              <a:rPr b="1"/>
              <a:t> to create categories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Watch the column count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mutate()</a:t>
            </a:r>
            <a:r>
              <a:rPr sz="2000"/>
              <a:t> never removes columns — it adds to the right of your data frame, so </a:t>
            </a:r>
            <a:r>
              <a:rPr sz="2000">
                <a:latin typeface="Courier"/>
              </a:rPr>
              <a:t>leaf_df</a:t>
            </a:r>
            <a:r>
              <a:rPr sz="2000"/>
              <a:t> gains one column per new variable you create.</a:t>
            </a:r>
          </a:p>
          <a:p>
            <a:pPr lvl="0" indent="0" marL="1270000">
              <a:buNone/>
            </a:pPr>
            <a:r>
              <a:rPr sz="2000"/>
              <a:t>To overwrite a column instead of adding one, reuse the same name on the left: </a:t>
            </a:r>
            <a:r>
              <a:rPr sz="2000">
                <a:latin typeface="Courier"/>
              </a:rPr>
              <a:t>mutate(mass_g = round(mass_g, 2))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arrange() sorts rows by one or more columns 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Lightest leaves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53 × 8
   twig_id leaf_id teams       shade mass_g petiole_mm thickness_mm paper_mass_g
   &lt;chr&gt;   &lt;chr&gt;   &lt;chr&gt;       &lt;chr&gt;  &lt;dbl&gt;      &lt;dbl&gt;        &lt;dbl&gt;        &lt;dbl&gt;
 1 twig_6  l06     fighting_m… sunny  0.193       29           0.13        0.113
 2 &lt;NA&gt;    4       Oscar_Karl  sunny  0.230       35.7         0.36       NA    
 3 &lt;NA&gt;    &lt;NA&gt;    12345       sunny  0.27        34           0.11        0.15 
 4 &lt;NA&gt;    6       Oscar_Karl  sunny  0.282       46.9         0.4        NA    
 5 &lt;NA&gt;    5       Oscar_Karl  sunny  0.304       51.3         0.43       NA    
 6 &lt;NA&gt;    &lt;NA&gt;    12345       sunny  0.34        68           0.14        0.21 
 7 &lt;NA&gt;    &lt;NA&gt;    12345       shady  0.34        58           0.15        0.23 
 8 &lt;NA&gt;    &lt;NA&gt;    12345       shady  0.34        45           0.13        0.27 
 9 &lt;NA&gt;    &lt;NA&gt;    leaf_oglers shady  0.344       48.3         0.67        0.196
10 &lt;NA&gt;    5       Oscar_Karl  shady  0.344       37.0         0.25       NA    
# ℹ 43 more rows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Heaviest leaves first (use desc() to reverse)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(mass_g))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53 × 8
   twig_id leaf_id teams       shade mass_g petiole_mm thickness_mm paper_mass_g
   &lt;chr&gt;   &lt;chr&gt;   &lt;chr&gt;       &lt;chr&gt;  &lt;dbl&gt;      &lt;dbl&gt;        &lt;dbl&gt;        &lt;dbl&gt;
 1 &lt;NA&gt;    &lt;NA&gt;    still_load… sunny  1.08      84             0.68        0.420
 2 twig_2  l09     fighting_m… shady  0.920      0.383        NA          NA    
 3 &lt;NA&gt;    &lt;NA&gt;    leaf_oglers shady  0.8       41.2           0.5         0.3  
 4 &lt;NA&gt;    &lt;NA&gt;    leaf_oglers sunny  0.791     53.9           0.23        0.332
 5 twig_2  l10     fighting_m… shady  0.782     67             0.27        0.342
 6 twig_5  l04     fighting_m… sunny  0.76      79             0.16        0.312
 7 twig_4  l01     fighting_m… sunny  0.737     75             0.24        0.303
 8 &lt;NA&gt;    &lt;NA&gt;    leaf_oglers sunny  0.688     45.3           0.19        0.372
 9 &lt;NA&gt;    &lt;NA&gt;    leaf_oglers shady  0.68      61.2           0.47        0.32 
10 &lt;NA&gt;    &lt;NA&gt;    still_load… sunny  0.665     64             0.69        0.427
# ℹ 43 more rows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Sort by shade, then by mass within each shade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(shade,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(mass_g))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53 × 8
   twig_id leaf_id teams       shade mass_g petiole_mm thickness_mm paper_mass_g
   &lt;chr&gt;   &lt;chr&gt;   &lt;chr&gt;       &lt;chr&gt;  &lt;dbl&gt;      &lt;dbl&gt;        &lt;dbl&gt;        &lt;dbl&gt;
 1 twig_2  l09     fighting_m… shady  0.920      0.383        NA          NA    
 2 &lt;NA&gt;    &lt;NA&gt;    leaf_oglers shady  0.8       41.2           0.5         0.3  
 3 twig_2  l10     fighting_m… shady  0.782     67             0.27        0.342
 4 &lt;NA&gt;    &lt;NA&gt;    leaf_oglers shady  0.68      61.2           0.47        0.32 
 5 &lt;NA&gt;    &lt;NA&gt;    leaf_oglers shady  0.61      59.4           0.23        0.25 
 6 &lt;NA&gt;    &lt;NA&gt;    still_load… shady  0.607     82             0.32        0.301
 7 &lt;NA&gt;    &lt;NA&gt;    12345       shady  0.6       68             0.12        0.23 
 8 twig_1  l07     fighting_m… shady  0.589     66             0.32        0.257
 9 twig_3  l11     fighting_m… shady  0.585     68             0.41        0.26 
10 &lt;NA&gt;    &lt;NA&gt;    12345       shady  0.57      73             0.14        0.28 
# ℹ 43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Default: </a:t>
            </a:r>
            <a:r>
              <a:rPr b="1"/>
              <a:t>ascending</a:t>
            </a:r>
            <a:r>
              <a:rPr/>
              <a:t> order (smallest first)</a:t>
            </a:r>
          </a:p>
          <a:p>
            <a:pPr lvl="0"/>
            <a:r>
              <a:rPr>
                <a:latin typeface="Courier"/>
              </a:rPr>
              <a:t>desc(column)</a:t>
            </a:r>
            <a:r>
              <a:rPr/>
              <a:t> → </a:t>
            </a:r>
            <a:r>
              <a:rPr b="1"/>
              <a:t>descending</a:t>
            </a:r>
            <a:r>
              <a:rPr/>
              <a:t> order (largest first)</a:t>
            </a:r>
          </a:p>
          <a:p>
            <a:pPr lvl="0"/>
            <a:r>
              <a:rPr/>
              <a:t>Very useful before printing a table or checking outliers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arrange()</a:t>
            </a:r>
            <a:r>
              <a:rPr sz="2000"/>
              <a:t> is rarely used in the middle of an analysis pipeline — it is most useful at the </a:t>
            </a:r>
            <a:r>
              <a:rPr sz="2000" b="1"/>
              <a:t>end</a:t>
            </a:r>
            <a:r>
              <a:rPr sz="2000"/>
              <a:t> when you want to inspect your results in a specific order.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Chain all the verbs together -------------------------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Read it top to bottom like a recipe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wrangled_df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remove any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(shade, mass_g, thickness_mm)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keep only needed cols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mass_mg =</a:t>
            </a:r>
            <a:r>
              <a:rPr>
                <a:solidFill>
                  <a:srgbClr val="003B4F"/>
                </a:solidFill>
                <a:latin typeface="Courier"/>
              </a:rPr>
              <a:t> mass_g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(shade,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(mass_g)) </a:t>
            </a:r>
            <a:r>
              <a:rPr>
                <a:solidFill>
                  <a:srgbClr val="5E5E5E"/>
                </a:solidFill>
                <a:latin typeface="Courier"/>
              </a:rPr>
              <a:t># sort by shade, then mass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(wrangled_df)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shade mass_g thickness_mm mass_mg size_class
  &lt;chr&gt;  &lt;dbl&gt;        &lt;dbl&gt;   &lt;dbl&gt; &lt;chr&gt;     
1 shady  0.920        NA       920. large     
2 shady  0.8           0.5     800  large     
3 shady  0.782         0.27    782. large     
4 shady  0.68          0.47    680  large     
5 shady  0.61          0.23    610  large     
6 shady  0.607         0.32    607. large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the pipeline out loud:</a:t>
            </a:r>
          </a:p>
          <a:p>
            <a:pPr lvl="0"/>
            <a:r>
              <a:rPr/>
              <a:t>Take </a:t>
            </a:r>
            <a:r>
              <a:rPr>
                <a:latin typeface="Courier"/>
              </a:rPr>
              <a:t>leaf_df</a:t>
            </a:r>
            <a:r>
              <a:rPr/>
              <a:t>,</a:t>
            </a:r>
          </a:p>
          <a:p>
            <a:pPr lvl="1"/>
            <a:r>
              <a:rPr b="1"/>
              <a:t>then</a:t>
            </a:r>
            <a:r>
              <a:rPr/>
              <a:t> filter to non-zero masses,</a:t>
            </a:r>
          </a:p>
          <a:p>
            <a:pPr lvl="2"/>
            <a:r>
              <a:rPr b="1"/>
              <a:t>then</a:t>
            </a:r>
            <a:r>
              <a:rPr/>
              <a:t> select three columns,</a:t>
            </a:r>
          </a:p>
          <a:p>
            <a:pPr lvl="3"/>
            <a:r>
              <a:rPr b="1"/>
              <a:t>then</a:t>
            </a:r>
            <a:r>
              <a:rPr/>
              <a:t> add two new columns,</a:t>
            </a:r>
          </a:p>
          <a:p>
            <a:pPr lvl="4"/>
            <a:r>
              <a:rPr b="1"/>
              <a:t>then</a:t>
            </a:r>
            <a:r>
              <a:rPr/>
              <a:t> sort by shade and mass.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Compare it to nested calls</a:t>
            </a:r>
          </a:p>
          <a:p>
            <a:pPr lvl="0" indent="0" marL="1270000">
              <a:buNone/>
            </a:pPr>
            <a:r>
              <a:rPr sz="2000"/>
              <a:t>Write the same pipeline as nested functions — </a:t>
            </a:r>
            <a:r>
              <a:rPr sz="2000">
                <a:latin typeface="Courier"/>
              </a:rPr>
              <a:t>arrange(mutate(select(filter(leaf_df, mass_g &gt; 0), shade, mass_g, thickness_mm), mass_mg = mass_g * 1000, size_class = if_else(mass_g &gt; 0.5, "large", "small")), shade, desc(mass_g))</a:t>
            </a:r>
            <a:r>
              <a:rPr sz="2000"/>
              <a:t> — and the </a:t>
            </a:r>
            <a:r>
              <a:rPr sz="2000" i="1"/>
              <a:t>first</a:t>
            </a:r>
            <a:r>
              <a:rPr sz="2000"/>
              <a:t> thing that runs is buried in the middle. The pipe lets you read top to bottom in the order R actually executes.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5 starts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5 — Wrangling</a:t>
            </a:r>
          </a:p>
          <a:p>
            <a:pPr lvl="0" indent="0" marL="0">
              <a:buNone/>
            </a:pPr>
            <a:r>
              <a:rPr/>
              <a:t>Close the slides. Open the Activity 5 and work through </a:t>
            </a:r>
            <a:r>
              <a:rPr>
                <a:latin typeface="Courier"/>
              </a:rPr>
              <a:t>filter</a:t>
            </a:r>
            <a:r>
              <a:rPr/>
              <a:t>, </a:t>
            </a:r>
            <a:r>
              <a:rPr>
                <a:latin typeface="Courier"/>
              </a:rPr>
              <a:t>select</a:t>
            </a:r>
            <a:r>
              <a:rPr/>
              <a:t>, </a:t>
            </a:r>
            <a:r>
              <a:rPr>
                <a:latin typeface="Courier"/>
              </a:rPr>
              <a:t>mutate</a:t>
            </a:r>
            <a:r>
              <a:rPr/>
              <a:t>, </a:t>
            </a:r>
            <a:r>
              <a:rPr>
                <a:latin typeface="Courier"/>
              </a:rPr>
              <a:t>arrange</a:t>
            </a:r>
            <a:r>
              <a:rPr/>
              <a:t>, and the full pipeline. Type every line yourself into your script; predict before you run.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filter()</a:t>
            </a:r>
            <a:r>
              <a:rPr/>
              <a:t> — keep rows by condition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keep columns by name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add new calculated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Full pipeline: chain all verbs with </a:t>
            </a:r>
            <a:r>
              <a:rPr>
                <a:latin typeface="Courier"/>
              </a:rPr>
              <a:t>%&gt;%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§5</a:t>
            </a:r>
            <a:r>
              <a:rPr/>
              <a:t> — Data Tidying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Up next — Lecture 06, Summary Statistics:</a:t>
            </a:r>
          </a:p>
          <a:p>
            <a:pPr lvl="0"/>
            <a:r>
              <a:rPr/>
              <a:t>Mean, median, variance, SD, SE</a:t>
            </a:r>
          </a:p>
          <a:p>
            <a:pPr lvl="0"/>
            <a:r>
              <a:rPr/>
              <a:t>Counting correctly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, and </a:t>
            </a:r>
            <a:r>
              <a:rPr>
                <a:latin typeface="Courier"/>
              </a:rPr>
              <a:t>skimr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 — Wrangling Data</dc:title>
  <dc:creator>Bill Perry</dc:creator>
  <cp:keywords/>
  <dc:description>Filter, select, mutate, and arrange with the tidyverse pipe — building one clean wrangling pipeline on the leaf data.</dc:description>
  <dcterms:created xsi:type="dcterms:W3CDTF">2026-09-23T17:37:28Z</dcterms:created>
  <dcterms:modified xsi:type="dcterms:W3CDTF">2026-09-23T17:37:28Z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5</vt:lpwstr>
  </property>
  <property fmtid="{D5CDD505-2E9C-101B-9397-08002B2CF9AE}" pid="13" name="resources">
    <vt:lpwstr/>
  </property>
  <property fmtid="{D5CDD505-2E9C-101B-9397-08002B2CF9AE}" pid="14" name="subtitle">
    <vt:lpwstr>filter, select, mutate, arrange — and chaining them into a pipeline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3</vt:lpwstr>
  </property>
</Properties>
</file>