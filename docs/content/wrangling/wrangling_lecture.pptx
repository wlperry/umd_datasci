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Wrangling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filter, select, mutate, arrange — and chaining them into a pipeline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 — GGPlot 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a first look with </a:t>
            </a:r>
            <a:r>
              <a:rPr>
                <a:latin typeface="Courier"/>
              </a:rPr>
              <a:t>glimpse()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GGPlot I &amp; II</a:t>
            </a:r>
            <a:r>
              <a:rPr/>
              <a:t> — geoms, facets, </a:t>
            </a:r>
            <a:r>
              <a:rPr>
                <a:latin typeface="Courier"/>
              </a:rPr>
              <a:t>stat_summary()</a:t>
            </a:r>
            <a:r>
              <a:rPr/>
              <a:t>, </a:t>
            </a:r>
            <a:r>
              <a:rPr>
                <a:latin typeface="Courier"/>
              </a:rPr>
              <a:t>scale_color_manual()</a:t>
            </a:r>
            <a:r>
              <a:rPr/>
              <a:t>, coordinates, and themes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can already load data and plot it beautifully. Today we learn to </a:t>
            </a:r>
            <a:r>
              <a:rPr sz="2000" i="1"/>
              <a:t>reshape and clean</a:t>
            </a:r>
            <a:r>
              <a:rPr sz="2000"/>
              <a:t> the data itself, before it ever reaches </a:t>
            </a:r>
            <a:r>
              <a:rPr sz="2000">
                <a:latin typeface="Courier"/>
              </a:rPr>
              <a:t>ggplot()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core tidyverse verbs: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our leaf data into exactly the columns and rows you need,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shorter lecture than usual</a:t>
            </a:r>
            <a:r>
              <a:rPr/>
              <a:t> — one focused idea, wrangling, done properly. You will switch to the activity once, at the end, and type the code yourself into your R script there.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and </a:t>
            </a:r>
            <a:r>
              <a:rPr sz="2000">
                <a:latin typeface="Courier"/>
              </a:rPr>
              <a:t>arrange()</a:t>
            </a:r>
            <a:r>
              <a:rPr sz="2000"/>
              <a:t> look interchangeable on a slide — guessing the output first is what actually forces you to tell them apart.</a:t>
            </a:r>
          </a:p>
          <a:p>
            <a:pPr lvl="0"/>
            <a:r>
              <a:rPr sz="2000"/>
              <a:t>You will type </a:t>
            </a:r>
            <a:r>
              <a:rPr sz="2000">
                <a:latin typeface="Courier"/>
              </a:rPr>
              <a:t>%&gt;%</a:t>
            </a:r>
            <a:r>
              <a:rPr sz="2000"/>
              <a:t> dozens of times today; typing it now is what makes it automatic later, when you’re chaining five verbs under a deadline instead of reading one line calmly.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Take a First 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glimpse(): one row per column — name, type, first 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NA…
$ leaf_id      &lt;chr&gt; NA, NA, NA, NA, NA, NA, NA, NA, NA, NA, NA…
$ teams        &lt;chr&gt; "12345", "12345", "12345", "12345", "12345…
$ shade        &lt;chr&gt; "sunny", "sunny", "sunny", "sunny", "sunny…
$ mass_g       &lt;dbl&gt; 0.4000, 0.4800, 0.3400, 0.6500, 0.2700, 0.…
$ petiole_mm   &lt;dbl&gt; 79.0000, 63.0000, 68.0000, 35.0000, 34.000…
$ thickness_mm &lt;dbl&gt; 0.15, 0.14, 0.14, 0.15, 0.11, 0.16, 0.14, …
$ paper_mass_g &lt;dbl&gt; 0.2100, 0.2100, 0.2100, 0.2400, 0.1500, 0.…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 (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teams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 (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  <a:r>
              <a:rPr/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 We’ll wrangle with the first four today — </a:t>
            </a:r>
            <a:r>
              <a:rPr>
                <a:latin typeface="Courier"/>
              </a:rPr>
              <a:t>summarize()</a:t>
            </a:r>
            <a:r>
              <a:rPr/>
              <a:t> is next lecture’s topic.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these five?</a:t>
            </a:r>
          </a:p>
          <a:p>
            <a:pPr lvl="0" indent="0" marL="1270000">
              <a:buNone/>
            </a:pPr>
            <a:r>
              <a:rPr sz="2000"/>
              <a:t>Almost every wrangling step you’ll write this semester decomposes into some combination of picking rows, picking columns, adding a column, sorting, or collapsing to a summary — that’s </a:t>
            </a:r>
            <a:r>
              <a:rPr sz="2000">
                <a:latin typeface="Courier"/>
              </a:rPr>
              <a:t>filter</a:t>
            </a:r>
            <a:r>
              <a:rPr sz="2000"/>
              <a:t>, </a:t>
            </a:r>
            <a:r>
              <a:rPr sz="2000">
                <a:latin typeface="Courier"/>
              </a:rPr>
              <a:t>select</a:t>
            </a:r>
            <a:r>
              <a:rPr sz="2000"/>
              <a:t>, </a:t>
            </a:r>
            <a:r>
              <a:rPr sz="2000">
                <a:latin typeface="Courier"/>
              </a:rPr>
              <a:t>mutate</a:t>
            </a:r>
            <a:r>
              <a:rPr sz="2000"/>
              <a:t>, </a:t>
            </a:r>
            <a:r>
              <a:rPr sz="2000">
                <a:latin typeface="Courier"/>
              </a:rPr>
              <a:t>arrange</a:t>
            </a:r>
            <a:r>
              <a:rPr sz="2000"/>
              <a:t>, and </a:t>
            </a:r>
            <a:r>
              <a:rPr sz="2000">
                <a:latin typeface="Courier"/>
              </a:rPr>
              <a:t>summarize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 (next lecture)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have 53 leaves. Before you run it, guess how many rows </a:t>
            </a:r>
            <a:r>
              <a:rPr sz="2000">
                <a:latin typeface="Courier"/>
              </a:rPr>
              <a:t>filter(shade == "sunny")</a:t>
            </a:r>
            <a:r>
              <a:rPr sz="2000"/>
              <a:t> returns. Write your number down, then run it and check.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shade mass_g petiole_mm thickness_mm
  &lt;chr&gt;   &lt;chr&gt;   &lt;chr&gt; &lt;chr&gt;  &lt;dbl&gt;      &lt;dbl&gt;        &lt;dbl&gt;
1 &lt;NA&gt;    &lt;NA&gt;    12345 sunny   0.4          79         0.15
2 &lt;NA&gt;    &lt;NA&gt;    12345 sunny   0.48         63         0.14
3 &lt;NA&gt;    &lt;NA&gt;    12345 sunny   0.34         68         0.14
4 &lt;NA&gt;    &lt;NA&gt;    12345 sunny   0.65         35         0.15
5 &lt;NA&gt;    &lt;NA&gt;    12345 sunny   0.27         34         0.11
6 &lt;NA&gt;    &lt;NA&gt;    12345 sunny   0.43         40         0.16
# ℹ 1 more variable: paper_mass_g &lt;dbl&gt;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0.5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     shade mass_g petiole_mm thickness_mm
  &lt;chr&gt;   &lt;chr&gt;   &lt;chr&gt;      &lt;chr&gt;  &lt;dbl&gt;      &lt;dbl&gt;        &lt;dbl&gt;
1 &lt;NA&gt;    &lt;NA&gt;    12345      sunny  0.65      35             0.15
2 &lt;NA&gt;    &lt;NA&gt;    12345      shady  0.6       68             0.12
3 &lt;NA&gt;    &lt;NA&gt;    12345      shady  0.57      73             0.14
4 twig_1  l07     fighting_… shady  0.589     66             0.32
5 twig_1  l08     fighting_… shady  0.511     51             0.25
6 twig_2  l09     fighting_… shady  0.920      0.383        NA   
# ℹ 1 more variable: paper_mass_g &lt;dbl&gt;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,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     shade mass_g petiole_mm thickness_mm
  &lt;chr&gt;   &lt;chr&gt;   &lt;chr&gt;      &lt;chr&gt;  &lt;dbl&gt;      &lt;dbl&gt;        &lt;dbl&gt;
1 &lt;NA&gt;    &lt;NA&gt;    12345      shady  0.6       68             0.12
2 &lt;NA&gt;    &lt;NA&gt;    12345      shady  0.57      73             0.14
3 twig_1  l07     fighting_… shady  0.589     66             0.32
4 twig_1  l08     fighting_… shady  0.511     51             0.25
5 twig_2  l09     fighting_… shady  0.920      0.383        NA   
6 twig_2  l10     fighting_… shady  0.782     67             0.27
# ℹ 1 more variable: paper_mass_g &lt;dbl&gt;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filter(shade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filter(shade == "sunny")</a:t>
            </a:r>
            <a:r>
              <a:rPr sz="2000"/>
              <a:t> → correct.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 type this </a:t>
            </a:r>
            <a:r>
              <a:rPr b="1"/>
              <a:t>wrong</a:t>
            </a:r>
            <a:r>
              <a:rPr/>
              <a:t> on purpose: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equals sign — a very common mistake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 and tells us: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`filter()`:
! We detected a named input.
i This usually means that you've used `=` instead of `==`.</a:t>
            </a:r>
          </a:p>
          <a:p>
            <a:pPr lvl="0" indent="0" marL="0">
              <a:buNone/>
            </a:pPr>
            <a:r>
              <a:rPr/>
              <a:t>Now the fix — two equals signs: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</a:t>
            </a:r>
            <a:r>
              <a:rPr sz="2000" b="1">
                <a:latin typeface="Courier"/>
              </a:rPr>
              <a:t>filter()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filter(shade = "sunny")</a:t>
            </a:r>
            <a:r>
              <a:rPr sz="2000"/>
              <a:t> is the single most common typo in this whole unit, because </a:t>
            </a:r>
            <a:r>
              <a:rPr sz="2000">
                <a:latin typeface="Courier"/>
              </a:rPr>
              <a:t>=</a:t>
            </a:r>
            <a:r>
              <a:rPr sz="2000"/>
              <a:t> and </a:t>
            </a:r>
            <a:r>
              <a:rPr sz="2000">
                <a:latin typeface="Courier"/>
              </a:rPr>
              <a:t>==</a:t>
            </a:r>
            <a:r>
              <a:rPr sz="2000"/>
              <a:t> look almost identical and only one of them tests equality. dplyr’s error message actually names the mistake — “you’ve used </a:t>
            </a:r>
            <a:r>
              <a:rPr sz="2000">
                <a:latin typeface="Courier"/>
              </a:rPr>
              <a:t>=</a:t>
            </a:r>
            <a:r>
              <a:rPr sz="2000"/>
              <a:t> instead of </a:t>
            </a:r>
            <a:r>
              <a:rPr sz="2000">
                <a:latin typeface="Courier"/>
              </a:rPr>
              <a:t>==</a:t>
            </a:r>
            <a:r>
              <a:rPr sz="2000"/>
              <a:t>” — so once you’ve seen it fixed here, the next time R prints it at you it’s a fix, not a mystery.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shade and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shade mass_g
  &lt;chr&gt;  &lt;dbl&gt;
1 sunny   0.4 
2 sunny   0.48
3 sunny   0.34
4 sunny   0.65
5 sunny   0.27
6 sunny   0.43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paper_mass_g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paper_mass_g)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twig_id leaf_id teams shade mass_g petiole_mm thickness_mm
  &lt;chr&gt;   &lt;chr&gt;   &lt;chr&gt; &lt;chr&gt;  &lt;dbl&gt;      &lt;dbl&gt;        &lt;dbl&gt;
1 &lt;NA&gt;    &lt;NA&gt;    12345 sunny   0.4          79         0.15
2 &lt;NA&gt;    &lt;NA&gt;    12345 sunny   0.48         63         0.14
3 &lt;NA&gt;    &lt;NA&gt;    12345 sunny   0.34         68         0.14
4 &lt;NA&gt;    &lt;NA&gt;    12345 sunny   0.65         35         0.15
5 &lt;NA&gt;    &lt;NA&gt;    12345 sunny   0.27         34         0.11
6 &lt;NA&gt;    &lt;NA&gt;    12345 sunny   0.43         40         0.16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"mass"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mass_g
   &lt;dbl&gt;
1   0.4 
2   0.48
3   0.34
4   0.65
5   0.27
6   0.43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ends_with("_mm")</a:t>
            </a:r>
            <a:r>
              <a:rPr/>
              <a:t> — columns ending with “_mm”</a:t>
            </a:r>
          </a:p>
          <a:p>
            <a:pPr lvl="1"/>
            <a:r>
              <a:rPr>
                <a:latin typeface="Courier"/>
              </a:rPr>
              <a:t>contains("mass")</a:t>
            </a:r>
            <a:r>
              <a:rPr/>
              <a:t> — columns containing “mass”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mass_g * 1000</a:t>
            </a:r>
            <a:r>
              <a:rPr sz="2000"/>
              <a:t> converts grams to milligrams. Before running: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mass_g</a:t>
            </a:r>
            <a:r>
              <a:rPr sz="2000"/>
              <a:t>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9
  twig_id leaf_id teams shade mass_g petiole_mm thickness_mm
  &lt;chr&gt;   &lt;chr&gt;   &lt;chr&gt; &lt;chr&gt;  &lt;dbl&gt;      &lt;dbl&gt;        &lt;dbl&gt;
1 &lt;NA&gt;    &lt;NA&gt;    12345 sunny   0.4          79         0.15
2 &lt;NA&gt;    &lt;NA&gt;    12345 sunny   0.48         63         0.14
3 &lt;NA&gt;    &lt;NA&gt;    12345 sunny   0.34         68         0.14
4 &lt;NA&gt;    &lt;NA&gt;    12345 sunny   0.65         35         0.15
5 &lt;NA&gt;    &lt;NA&gt;    12345 sunny   0.27         34         0.11
6 &lt;NA&gt;    &lt;NA&gt;    12345 sunny   0.43         40         0.16
# ℹ 2 more variables: paper_mass_g &lt;dbl&gt;, mass_mg &lt;dbl&gt;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9
  twig_id leaf_id teams shade mass_g petiole_mm thickness_mm
  &lt;chr&gt;   &lt;chr&gt;   &lt;chr&gt; &lt;chr&gt;  &lt;dbl&gt;      &lt;dbl&gt;        &lt;dbl&gt;
1 &lt;NA&gt;    &lt;NA&gt;    12345 sunny   0.4          79         0.15
2 &lt;NA&gt;    &lt;NA&gt;    12345 sunny   0.48         63         0.14
3 &lt;NA&gt;    &lt;NA&gt;    12345 sunny   0.34         68         0.14
4 &lt;NA&gt;    &lt;NA&gt;    12345 sunny   0.65         35         0.15
5 &lt;NA&gt;    &lt;NA&gt;    12345 sunny   0.27         34         0.11
6 &lt;NA&gt;    &lt;NA&gt;    12345 sunny   0.43         40         0.16
# ℹ 2 more variables: paper_mass_g &lt;dbl&gt;, size_class &lt;chr&gt;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create several new columns at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  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petiole_cm =</a:t>
            </a:r>
            <a:r>
              <a:rPr>
                <a:solidFill>
                  <a:srgbClr val="003B4F"/>
                </a:solidFill>
                <a:latin typeface="Courier"/>
              </a:rPr>
              <a:t> petiole_mm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petiole length in cm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10
  twig_id leaf_id teams shade mass_g petiole_mm thickness_mm
  &lt;chr&gt;   &lt;chr&gt;   &lt;chr&gt; &lt;chr&gt;  &lt;dbl&gt;      &lt;dbl&gt;        &lt;dbl&gt;
1 &lt;NA&gt;    &lt;NA&gt;    12345 sunny   0.4          79         0.15
2 &lt;NA&gt;    &lt;NA&gt;    12345 sunny   0.48         63         0.14
3 &lt;NA&gt;    &lt;NA&gt;    12345 sunny   0.34         68         0.14
4 &lt;NA&gt;    &lt;NA&gt;    12345 sunny   0.65         35         0.15
5 &lt;NA&gt;    &lt;NA&gt;    12345 sunny   0.27         34         0.11
6 &lt;NA&gt;    &lt;NA&gt;    12345 sunny   0.43         40         0.16
# ℹ 3 more variables: paper_mass_g &lt;dbl&gt;, mass_mg &lt;dbl&gt;,
#   petiole_cm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Watch the column count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frame, so </a:t>
            </a:r>
            <a:r>
              <a:rPr sz="2000">
                <a:latin typeface="Courier"/>
              </a:rPr>
              <a:t>leaf_df</a:t>
            </a:r>
            <a:r>
              <a:rPr sz="2000"/>
              <a:t> gains one column per new variable you create.</a:t>
            </a:r>
          </a:p>
          <a:p>
            <a:pPr lvl="0" indent="0" marL="1270000">
              <a:buNone/>
            </a:pPr>
            <a:r>
              <a:rPr sz="2000"/>
              <a:t>To overwrite a column instead of adding one, reuse the same name on the left: </a:t>
            </a:r>
            <a:r>
              <a:rPr sz="2000">
                <a:latin typeface="Courier"/>
              </a:rPr>
              <a:t>mutate(mass_g = round(mass_g, 2))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shade mass_g petiole_mm thickness_mm
   &lt;chr&gt;   &lt;chr&gt;   &lt;chr&gt;     &lt;chr&gt;  &lt;dbl&gt;      &lt;dbl&gt;        &lt;dbl&gt;
 1 twig_6  l06     fighting… sunny  0.193       29           0.13
 2 &lt;NA&gt;    4       Oscar_Ka… sunny  0.230       35.7         0.36
 3 &lt;NA&gt;    &lt;NA&gt;    12345     sunny  0.27        34           0.11
 4 &lt;NA&gt;    6       Oscar_Ka… sunny  0.282       46.9         0.4 
 5 &lt;NA&gt;    5       Oscar_Ka… sunny  0.304       51.3         0.43
 6 &lt;NA&gt;    &lt;NA&gt;    12345     sunny  0.34        68           0.14
 7 &lt;NA&gt;    &lt;NA&gt;    12345     shady  0.34        58           0.15
 8 &lt;NA&gt;    &lt;NA&gt;    12345     shady  0.34        45           0.13
 9 &lt;NA&gt;    &lt;NA&gt;    leaf_ogl… shady  0.344       48.3         0.67
10 &lt;NA&gt;    5       Oscar_Ka… shady  0.344       37.0         0.25
# ℹ 43 more rows
# ℹ 1 more variable: paper_mass_g &lt;dbl&gt;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shade mass_g petiole_mm thickness_mm
   &lt;chr&gt;   &lt;chr&gt;   &lt;chr&gt;     &lt;chr&gt;  &lt;dbl&gt;      &lt;dbl&gt;        &lt;dbl&gt;
 1 &lt;NA&gt;    &lt;NA&gt;    still_lo… sunny  1.08      84             0.68
 2 twig_2  l09     fighting… shady  0.920      0.383        NA   
 3 &lt;NA&gt;    &lt;NA&gt;    leaf_ogl… shady  0.8       41.2           0.5 
 4 &lt;NA&gt;    &lt;NA&gt;    leaf_ogl… sunny  0.791     53.9           0.23
 5 twig_2  l10     fighting… shady  0.782     67             0.27
 6 twig_5  l04     fighting… sunny  0.76      79             0.16
 7 twig_4  l01     fighting… sunny  0.737     75             0.24
 8 &lt;NA&gt;    &lt;NA&gt;    leaf_ogl… sunny  0.688     45.3           0.19
 9 &lt;NA&gt;    &lt;NA&gt;    leaf_ogl… shady  0.68      61.2           0.47
10 &lt;NA&gt;    &lt;NA&gt;    still_lo… sunny  0.665     64             0.69
# ℹ 43 more rows
# ℹ 1 more variable: paper_mass_g &lt;dbl&gt;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shade, then by mass within each shade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shade mass_g petiole_mm thickness_mm
   &lt;chr&gt;   &lt;chr&gt;   &lt;chr&gt;     &lt;chr&gt;  &lt;dbl&gt;      &lt;dbl&gt;        &lt;dbl&gt;
 1 twig_2  l09     fighting… shady  0.920      0.383        NA   
 2 &lt;NA&gt;    &lt;NA&gt;    leaf_ogl… shady  0.8       41.2           0.5 
 3 twig_2  l10     fighting… shady  0.782     67             0.27
 4 &lt;NA&gt;    &lt;NA&gt;    leaf_ogl… shady  0.68      61.2           0.47
 5 &lt;NA&gt;    &lt;NA&gt;    leaf_ogl… shady  0.61      59.4           0.23
 6 &lt;NA&gt;    &lt;NA&gt;    still_lo… shady  0.607     82             0.32
 7 &lt;NA&gt;    &lt;NA&gt;    12345     shady  0.6       68             0.12
 8 twig_1  l07     fighting… shady  0.589     66             0.32
 9 twig_3  l11     fighting… shady  0.585     68             0.41
10 &lt;NA&gt;    &lt;NA&gt;    12345     shady  0.57      73             0.14
# ℹ 43 more rows
# ℹ 1 more variable: paper_mass_g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mass_g, thickness_mm)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# sort by shade, then mass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shade mass_g thickness_mm mass_mg size_class
  &lt;chr&gt;  &lt;dbl&gt;        &lt;dbl&gt;   &lt;dbl&gt; &lt;chr&gt;     
1 shady  0.920        NA       920. large     
2 shady  0.8           0.5     800  large     
3 shady  0.782         0.27    782. large     
4 shady  0.68          0.47    680  large     
5 shady  0.61          0.23    610  large     
6 shady  0.607         0.32    607.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leaf_df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masses,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shade and mass.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Compare it to nested calls</a:t>
            </a:r>
          </a:p>
          <a:p>
            <a:pPr lvl="0" indent="0" marL="1270000">
              <a:buNone/>
            </a:pPr>
            <a:r>
              <a:rPr sz="2000"/>
              <a:t>Write the same pipeline as nested functions — </a:t>
            </a:r>
            <a:r>
              <a:rPr sz="2000">
                <a:latin typeface="Courier"/>
              </a:rPr>
              <a:t>arrange(mutate(select(filter(leaf_df, mass_g &gt; 0), shade, mass_g, thickness_mm), mass_mg = mass_g * 1000, size_class = if_else(mass_g &gt; 0.5, "large", "small")), shade, desc(mass_g))</a:t>
            </a:r>
            <a:r>
              <a:rPr sz="2000"/>
              <a:t> — and the </a:t>
            </a:r>
            <a:r>
              <a:rPr sz="2000" i="1"/>
              <a:t>first</a:t>
            </a:r>
            <a:r>
              <a:rPr sz="2000"/>
              <a:t> thing that runs is buried in the middle. The pipe lets you read top to bottom in the order R actually executes.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5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5 — Wrangling</a:t>
            </a:r>
          </a:p>
          <a:p>
            <a:pPr lvl="0" indent="0" marL="0">
              <a:buNone/>
            </a:pPr>
            <a:r>
              <a:rPr/>
              <a:t>Close the slides. Open the Activity 5 and work through </a:t>
            </a:r>
            <a:r>
              <a:rPr>
                <a:latin typeface="Courier"/>
              </a:rPr>
              <a:t>filter</a:t>
            </a:r>
            <a:r>
              <a:rPr/>
              <a:t>, </a:t>
            </a:r>
            <a:r>
              <a:rPr>
                <a:latin typeface="Courier"/>
              </a:rPr>
              <a:t>select</a:t>
            </a:r>
            <a:r>
              <a:rPr/>
              <a:t>, </a:t>
            </a:r>
            <a:r>
              <a:rPr>
                <a:latin typeface="Courier"/>
              </a:rPr>
              <a:t>mutate</a:t>
            </a:r>
            <a:r>
              <a:rPr/>
              <a:t>, </a:t>
            </a:r>
            <a:r>
              <a:rPr>
                <a:latin typeface="Courier"/>
              </a:rPr>
              <a:t>arrange</a:t>
            </a:r>
            <a:r>
              <a:rPr/>
              <a:t>, and the full pipeline. Type every line yourself into your script; predict before you run.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06, Summary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Counting correctly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Wrangling Data</dc:title>
  <dc:creator>Bill Perry</dc:creator>
  <cp:keywords/>
  <dc:description>Filter, select, mutate, and arrange with the tidyverse pipe — building one clean wrangling pipeline on the leaf data.</dc:description>
  <dcterms:created xsi:type="dcterms:W3CDTF">2026-10-01T13:36:20Z</dcterms:created>
  <dcterms:modified xsi:type="dcterms:W3CDTF">2026-10-01T13:36:20Z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filter, select, mutate, arrange — and chaining them into a pipeline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