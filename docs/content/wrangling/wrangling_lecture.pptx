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a-tidy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lect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mutate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data-tidy" TargetMode="External" /><Relationship Id="rId4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Wrangling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filter, select, mutate, arrange — and chaining them into a pipeline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 — GGPlot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</a:t>
            </a:r>
            <a:r>
              <a:rPr/>
              <a:t> — R and Positron installed; project folders created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  <a:r>
              <a:rPr/>
              <a:t>; a first look with </a:t>
            </a:r>
            <a:r>
              <a:rPr>
                <a:latin typeface="Courier"/>
              </a:rPr>
              <a:t>glimpse()</a:t>
            </a:r>
          </a:p>
          <a:p>
            <a:pPr lvl="0"/>
            <a:r>
              <a:rPr b="1"/>
              <a:t>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“then”; chains steps together</a:t>
            </a:r>
          </a:p>
          <a:p>
            <a:pPr lvl="0"/>
            <a:r>
              <a:rPr b="1"/>
              <a:t>GGPlot I &amp; II</a:t>
            </a:r>
            <a:r>
              <a:rPr/>
              <a:t> — geoms, facets, </a:t>
            </a:r>
            <a:r>
              <a:rPr>
                <a:latin typeface="Courier"/>
              </a:rPr>
              <a:t>stat_summary()</a:t>
            </a:r>
            <a:r>
              <a:rPr/>
              <a:t>, </a:t>
            </a:r>
            <a:r>
              <a:rPr>
                <a:latin typeface="Courier"/>
              </a:rPr>
              <a:t>scale_color_manual()</a:t>
            </a:r>
            <a:r>
              <a:rPr/>
              <a:t>, coordinates, and themes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04</a:t>
            </a:r>
          </a:p>
          <a:p>
            <a:pPr lvl="0" indent="0" marL="1270000">
              <a:buNone/>
            </a:pPr>
            <a:r>
              <a:rPr sz="2000"/>
              <a:t>You can already load data and plot it beautifully. Today we learn to </a:t>
            </a:r>
            <a:r>
              <a:rPr sz="2000" i="1"/>
              <a:t>reshape and clean</a:t>
            </a:r>
            <a:r>
              <a:rPr sz="2000"/>
              <a:t> the data itself, before it ever reaches </a:t>
            </a:r>
            <a:r>
              <a:rPr sz="2000">
                <a:latin typeface="Courier"/>
              </a:rPr>
              <a:t>ggplot()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core tidyverse verbs: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 by a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Chain them all into a </a:t>
            </a:r>
            <a:r>
              <a:rPr b="1"/>
              <a:t>pipeline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wrangle our leaf data into exactly the columns and rows you need, in one connected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</a:p>
          <a:p>
            <a:pPr lvl="0"/>
            <a:r>
              <a:rPr>
                <a:latin typeface="Courier"/>
              </a:rPr>
              <a:t>readxl</a:t>
            </a:r>
          </a:p>
          <a:p>
            <a:pPr lvl="0"/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5</a:t>
            </a:r>
            <a:r>
              <a:rPr/>
              <a:t> — Data Tidying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shorter lecture than usual</a:t>
            </a:r>
            <a:r>
              <a:rPr/>
              <a:t> — one focused idea, wrangling, done properly. You will switch to the activity once, at the end, and type the code yourself into your R script there.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/>
            <a:r>
              <a:rPr sz="2000">
                <a:latin typeface="Courier"/>
              </a:rPr>
              <a:t>filter()</a:t>
            </a:r>
            <a:r>
              <a:rPr sz="2000"/>
              <a:t>, </a:t>
            </a:r>
            <a:r>
              <a:rPr sz="2000">
                <a:latin typeface="Courier"/>
              </a:rPr>
              <a:t>select()</a:t>
            </a:r>
            <a:r>
              <a:rPr sz="2000"/>
              <a:t>, </a:t>
            </a:r>
            <a:r>
              <a:rPr sz="2000">
                <a:latin typeface="Courier"/>
              </a:rPr>
              <a:t>mutate()</a:t>
            </a:r>
            <a:r>
              <a:rPr sz="2000"/>
              <a:t>, and </a:t>
            </a:r>
            <a:r>
              <a:rPr sz="2000">
                <a:latin typeface="Courier"/>
              </a:rPr>
              <a:t>arrange()</a:t>
            </a:r>
            <a:r>
              <a:rPr sz="2000"/>
              <a:t> look interchangeable on a slide — guessing the output first is what actually forces you to tell them apart.</a:t>
            </a:r>
          </a:p>
          <a:p>
            <a:pPr lvl="0"/>
            <a:r>
              <a:rPr sz="2000"/>
              <a:t>You will type </a:t>
            </a:r>
            <a:r>
              <a:rPr sz="2000">
                <a:latin typeface="Courier"/>
              </a:rPr>
              <a:t>%&gt;%</a:t>
            </a:r>
            <a:r>
              <a:rPr sz="2000"/>
              <a:t> dozens of times today; typing it now is what makes it automatic later, when you’re chaining five verbs under a deadline instead of reading one line calmly.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Take a First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glimpse(): one row per column — name, type, first values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(leaf_df)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53
Columns: 8
$ twig_id      &lt;chr&gt; NA, NA, NA, NA, NA, NA, NA, NA, NA, NA, NA…
$ leaf_id      &lt;chr&gt; NA, NA, NA, NA, NA, NA, NA, NA, NA, NA, NA…
$ teams        &lt;chr&gt; "12345", "12345", "12345", "12345", "12345…
$ shade        &lt;chr&gt; "sunny", "sunny", "sunny", "sunny", "sunny…
$ mass_g       &lt;dbl&gt; 0.4000, 0.4800, 0.3400, 0.6500, 0.2700, 0.…
$ petiole_mm   &lt;dbl&gt; 79.0000, 63.0000, 68.0000, 35.0000, 34.000…
$ thickness_mm &lt;dbl&gt; 0.15, 0.14, 0.14, 0.15, 0.11, 0.16, 0.14, …
$ paper_mass_g &lt;dbl&gt; 0.2100, 0.2100, 0.2100, 0.2400, 0.1500, 0.…</a:t>
            </a:r>
          </a:p>
          <a:p>
            <a:pPr lvl="0"/>
            <a:r>
              <a:rPr>
                <a:latin typeface="Courier"/>
              </a:rPr>
              <a:t>&lt;chr&gt;</a:t>
            </a:r>
            <a:r>
              <a:rPr/>
              <a:t> = character (</a:t>
            </a:r>
            <a:r>
              <a:rPr>
                <a:latin typeface="Courier"/>
              </a:rPr>
              <a:t>shade</a:t>
            </a:r>
            <a:r>
              <a:rPr/>
              <a:t>, </a:t>
            </a:r>
            <a:r>
              <a:rPr>
                <a:latin typeface="Courier"/>
              </a:rPr>
              <a:t>teams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&lt;dbl&gt;</a:t>
            </a:r>
            <a:r>
              <a:rPr/>
              <a:t> = numeric (</a:t>
            </a:r>
            <a:r>
              <a:rPr>
                <a:latin typeface="Courier"/>
              </a:rPr>
              <a:t>mass_g</a:t>
            </a:r>
            <a:r>
              <a:rPr/>
              <a:t>, </a:t>
            </a:r>
            <a:r>
              <a:rPr>
                <a:latin typeface="Courier"/>
              </a:rPr>
              <a:t>petiole_mm</a:t>
            </a:r>
            <a:r>
              <a:rPr/>
              <a:t>, </a:t>
            </a:r>
            <a:r>
              <a:rPr>
                <a:latin typeface="Courier"/>
              </a:rPr>
              <a:t>thickness_mm</a:t>
            </a:r>
            <a:r>
              <a:rPr/>
              <a:t>, </a:t>
            </a:r>
            <a:r>
              <a:rPr>
                <a:latin typeface="Courier"/>
              </a:rPr>
              <a:t>paper_mass_g</a:t>
            </a:r>
            <a:r>
              <a:rPr/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Core Tidyverse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functions do most of the work in data wrangling: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first input (via </a:t>
            </a:r>
            <a:r>
              <a:rPr>
                <a:latin typeface="Courier"/>
              </a:rPr>
              <a:t>%&gt;%</a:t>
            </a:r>
            <a:r>
              <a:rPr/>
              <a:t>) and return a data frame. We’ll wrangle with the first four today — </a:t>
            </a:r>
            <a:r>
              <a:rPr>
                <a:latin typeface="Courier"/>
              </a:rPr>
              <a:t>summarize()</a:t>
            </a:r>
            <a:r>
              <a:rPr/>
              <a:t> is next lecture’s topic.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these five?</a:t>
            </a:r>
          </a:p>
          <a:p>
            <a:pPr lvl="0" indent="0" marL="1270000">
              <a:buNone/>
            </a:pPr>
            <a:r>
              <a:rPr sz="2000"/>
              <a:t>Almost every wrangling step you’ll write this semester decomposes into some combination of picking rows, picking columns, adding a column, sorting, or collapsing to a summary — that’s </a:t>
            </a:r>
            <a:r>
              <a:rPr sz="2000">
                <a:latin typeface="Courier"/>
              </a:rPr>
              <a:t>filter</a:t>
            </a:r>
            <a:r>
              <a:rPr sz="2000"/>
              <a:t>, </a:t>
            </a:r>
            <a:r>
              <a:rPr sz="2000">
                <a:latin typeface="Courier"/>
              </a:rPr>
              <a:t>select</a:t>
            </a:r>
            <a:r>
              <a:rPr sz="2000"/>
              <a:t>, </a:t>
            </a:r>
            <a:r>
              <a:rPr sz="2000">
                <a:latin typeface="Courier"/>
              </a:rPr>
              <a:t>mutate</a:t>
            </a:r>
            <a:r>
              <a:rPr sz="2000"/>
              <a:t>, </a:t>
            </a:r>
            <a:r>
              <a:rPr sz="2000">
                <a:latin typeface="Courier"/>
              </a:rPr>
              <a:t>arrange</a:t>
            </a:r>
            <a:r>
              <a:rPr sz="2000"/>
              <a:t>, and </a:t>
            </a:r>
            <a:r>
              <a:rPr sz="2000">
                <a:latin typeface="Courier"/>
              </a:rPr>
              <a:t>summarize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Think of them as building blocks:</a:t>
            </a:r>
          </a:p>
          <a:p>
            <a:pPr lvl="0" indent="0">
              <a:buNone/>
            </a:pPr>
            <a:r>
              <a:rPr>
                <a:latin typeface="Courier"/>
              </a:rPr>
              <a:t>filter()   → rows you want
select()   → columns you want
mutate()   → new columns you need
arrange()  → order the rows
summarize()→ collapse to summaries (next lecture)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We have 53 leaves. Before you run it, guess how many rows </a:t>
            </a:r>
            <a:r>
              <a:rPr sz="2000">
                <a:latin typeface="Courier"/>
              </a:rPr>
              <a:t>filter(shade == "sunny")</a:t>
            </a:r>
            <a:r>
              <a:rPr sz="2000"/>
              <a:t> returns. Write your number down, then run it and check.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shade mass_g petiole_mm thickness_mm paper_mass_g
  &lt;chr&gt;   &lt;chr&gt;   &lt;chr&gt; &lt;chr&gt;  &lt;dbl&gt;      &lt;dbl&gt;        &lt;dbl&gt;        &lt;dbl&gt;
1 &lt;NA&gt;    &lt;NA&gt;    12345 sunny   0.4          79         0.15         0.21
2 &lt;NA&gt;    &lt;NA&gt;    12345 sunny   0.48         63         0.14         0.21
3 &lt;NA&gt;    &lt;NA&gt;    12345 sunny   0.34         68         0.14         0.21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2832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NA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!is.na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rows that are </a:t>
                      </a:r>
                      <a:r>
                        <a:rPr b="1"/>
                        <a:t>NOT 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Numbers and Two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leaves heavier than 0.5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shade mass_g petiole_mm thickness_mm paper_mass_g
  &lt;chr&gt;   &lt;chr&gt;   &lt;chr&gt; &lt;chr&gt;  &lt;dbl&gt;      &lt;dbl&gt;        &lt;dbl&gt;        &lt;dbl&gt;
1 &lt;NA&gt;    &lt;NA&gt;    12345 sunny   0.65         35         0.15         0.24
2 &lt;NA&gt;    &lt;NA&gt;    12345 shady   0.6          68         0.12         0.23
3 &lt;NA&gt;    &lt;NA&gt;    12345 shady   0.57         73         0.14         0.28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,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mass_g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       shade mass_g petiole_mm thickness_mm paper_mass_g
  &lt;chr&gt;   &lt;chr&gt;   &lt;chr&gt;        &lt;chr&gt;  &lt;dbl&gt;      &lt;dbl&gt;        &lt;dbl&gt;        &lt;dbl&gt;
1 &lt;NA&gt;    &lt;NA&gt;    12345        shady  0.6           68         0.12        0.23 
2 &lt;NA&gt;    &lt;NA&gt;    12345        shady  0.57          73         0.14        0.28 
3 twig_1  l07     fighting_mo… shady  0.589         66         0.32        0.257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comma</a:t>
            </a:r>
            <a:r>
              <a:rPr/>
              <a:t> between conditions means </a:t>
            </a:r>
            <a:r>
              <a:rPr b="1"/>
              <a:t>AND</a:t>
            </a:r>
          </a:p>
          <a:p>
            <a:pPr lvl="1"/>
            <a:r>
              <a:rPr/>
              <a:t>both have to be true for the row to stay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value.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equality.</a:t>
            </a:r>
          </a:p>
          <a:p>
            <a:pPr lvl="0"/>
            <a:r>
              <a:rPr sz="2000">
                <a:latin typeface="Courier"/>
              </a:rPr>
              <a:t>filter(shade = "sunny")</a:t>
            </a:r>
            <a:r>
              <a:rPr sz="2000"/>
              <a:t> → error.</a:t>
            </a:r>
          </a:p>
          <a:p>
            <a:pPr lvl="0"/>
            <a:r>
              <a:rPr sz="2000">
                <a:latin typeface="Courier"/>
              </a:rPr>
              <a:t>filter(shade == "sunny")</a:t>
            </a:r>
            <a:r>
              <a:rPr sz="2000"/>
              <a:t> → correct.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Live Demo — Watch It Break (on purpose)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will type this </a:t>
            </a:r>
            <a:r>
              <a:rPr b="1"/>
              <a:t>wrong</a:t>
            </a:r>
            <a:r>
              <a:rPr/>
              <a:t> on purpose: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equals sign — a very common mistake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 stops and tells us:</a:t>
            </a:r>
          </a:p>
          <a:p>
            <a:pPr lvl="0" indent="0">
              <a:buNone/>
            </a:pPr>
            <a:r>
              <a:rPr>
                <a:latin typeface="Courier"/>
              </a:rPr>
              <a:t>Error in `filter()`:
! We detected a named input.
i This usually means that you've used `=` instead of `==`.</a:t>
            </a:r>
          </a:p>
          <a:p>
            <a:pPr lvl="0" indent="0" marL="0">
              <a:buNone/>
            </a:pPr>
            <a:r>
              <a:rPr/>
              <a:t>Now the fix — two equals signs: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✅ Why show a broken </a:t>
            </a:r>
            <a:r>
              <a:rPr sz="2000" b="1">
                <a:latin typeface="Courier"/>
              </a:rPr>
              <a:t>filter()</a:t>
            </a:r>
            <a:r>
              <a:rPr sz="2000" b="1"/>
              <a:t>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filter(shade = "sunny")</a:t>
            </a:r>
            <a:r>
              <a:rPr sz="2000"/>
              <a:t> is the single most common typo in this whole unit, because </a:t>
            </a:r>
            <a:r>
              <a:rPr sz="2000">
                <a:latin typeface="Courier"/>
              </a:rPr>
              <a:t>=</a:t>
            </a:r>
            <a:r>
              <a:rPr sz="2000"/>
              <a:t> and </a:t>
            </a:r>
            <a:r>
              <a:rPr sz="2000">
                <a:latin typeface="Courier"/>
              </a:rPr>
              <a:t>==</a:t>
            </a:r>
            <a:r>
              <a:rPr sz="2000"/>
              <a:t> look almost identical and only one of them tests equality. dplyr’s error message actually names the mistake — “you’ve used </a:t>
            </a:r>
            <a:r>
              <a:rPr sz="2000">
                <a:latin typeface="Courier"/>
              </a:rPr>
              <a:t>=</a:t>
            </a:r>
            <a:r>
              <a:rPr sz="2000"/>
              <a:t> instead of </a:t>
            </a:r>
            <a:r>
              <a:rPr sz="2000">
                <a:latin typeface="Courier"/>
              </a:rPr>
              <a:t>==</a:t>
            </a:r>
            <a:r>
              <a:rPr sz="2000"/>
              <a:t>” — so once you’ve seen it fixed here, the next time R prints it at you it’s a fix, not a mystery.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shade and mass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(shade,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shade mass_g
  &lt;chr&gt;  &lt;dbl&gt;
1 sunny   0.4 
2 sunny   0.48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a column with a minus sign - what is left?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paper_mass_g)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"twig_id"      "leaf_id"      "teams"        "shade"        "mass_g"      
[6] "petiole_mm"   "thickness_mm"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start with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"mass"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1
  mass_g
   &lt;dbl&gt;
1   0.4 
2   0.48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it matters:</a:t>
            </a:r>
            <a:r>
              <a:rPr/>
              <a:t> real data sets have 50–100+ columns and you rarely need all of them</a:t>
            </a:r>
          </a:p>
          <a:p>
            <a:pPr lvl="0"/>
            <a:r>
              <a:rPr b="1"/>
              <a:t>Useful helpers:</a:t>
            </a:r>
          </a:p>
          <a:p>
            <a:pPr lvl="1"/>
            <a:r>
              <a:rPr>
                <a:latin typeface="Courier"/>
              </a:rPr>
              <a:t>starts_with("x")</a:t>
            </a:r>
            <a:r>
              <a:rPr/>
              <a:t> — columns starting with “x”</a:t>
            </a:r>
          </a:p>
          <a:p>
            <a:pPr lvl="1"/>
            <a:r>
              <a:rPr>
                <a:latin typeface="Courier"/>
              </a:rPr>
              <a:t>ends_with("_mm")</a:t>
            </a:r>
            <a:r>
              <a:rPr/>
              <a:t> — columns ending with “_mm”</a:t>
            </a:r>
          </a:p>
          <a:p>
            <a:pPr lvl="1"/>
            <a:r>
              <a:rPr>
                <a:latin typeface="Courier"/>
              </a:rPr>
              <a:t>contains("mass")</a:t>
            </a:r>
            <a:r>
              <a:rPr/>
              <a:t> — columns containing “mass”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mass_g * 1000</a:t>
            </a:r>
            <a:r>
              <a:rPr sz="2000"/>
              <a:t> converts grams to milligrams. Before running: will </a:t>
            </a:r>
            <a:r>
              <a:rPr sz="2000">
                <a:latin typeface="Courier"/>
              </a:rPr>
              <a:t>mutate()</a:t>
            </a:r>
            <a:r>
              <a:rPr sz="2000"/>
              <a:t> </a:t>
            </a:r>
            <a:r>
              <a:rPr sz="2000" b="1"/>
              <a:t>replace</a:t>
            </a:r>
            <a:r>
              <a:rPr sz="2000"/>
              <a:t> </a:t>
            </a:r>
            <a:r>
              <a:rPr sz="2000">
                <a:latin typeface="Courier"/>
              </a:rPr>
              <a:t>mass_g</a:t>
            </a:r>
            <a:r>
              <a:rPr sz="2000"/>
              <a:t> or </a:t>
            </a:r>
            <a:r>
              <a:rPr sz="2000" b="1"/>
              <a:t>add</a:t>
            </a:r>
            <a:r>
              <a:rPr sz="2000"/>
              <a:t> a new column? How many columns will the result have?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mass_mg =</a:t>
            </a:r>
            <a:r>
              <a:rPr>
                <a:solidFill>
                  <a:srgbClr val="003B4F"/>
                </a:solidFill>
                <a:latin typeface="Courier"/>
              </a:rPr>
              <a:t> mass_g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9
  twig_id leaf_id teams shade mass_g petiole_mm thickness_mm paper_mass_g
  &lt;chr&gt;   &lt;chr&gt;   &lt;chr&gt; &lt;chr&gt;  &lt;dbl&gt;      &lt;dbl&gt;        &lt;dbl&gt;        &lt;dbl&gt;
1 &lt;NA&gt;    &lt;NA&gt;    12345 sunny   0.4          79         0.15         0.21
2 &lt;NA&gt;    &lt;NA&gt;    12345 sunny   0.48         63         0.14         0.21
3 &lt;NA&gt;    &lt;NA&gt;    12345 sunny   0.34         68         0.14         0.21
# ℹ 1 more variable: mass_mg &lt;dbl&gt;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mutate()</a:t>
            </a:r>
            <a:r>
              <a:rPr/>
              <a:t> keeps </a:t>
            </a:r>
            <a:r>
              <a:rPr b="1"/>
              <a:t>all existing columns</a:t>
            </a:r>
            <a:r>
              <a:rPr/>
              <a:t> and adds new ones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Watch the column count</a:t>
            </a:r>
          </a:p>
          <a:p>
            <a:pPr lvl="0"/>
            <a:r>
              <a:rPr sz="2000">
                <a:latin typeface="Courier"/>
              </a:rPr>
              <a:t>mutate()</a:t>
            </a:r>
            <a:r>
              <a:rPr sz="2000"/>
              <a:t> never removes columns</a:t>
            </a:r>
          </a:p>
          <a:p>
            <a:pPr lvl="1"/>
            <a:r>
              <a:rPr sz="2000"/>
              <a:t>it adds to the </a:t>
            </a:r>
            <a:r>
              <a:rPr sz="2000" b="1"/>
              <a:t>right</a:t>
            </a:r>
            <a:r>
              <a:rPr sz="2000"/>
              <a:t> of your data frame</a:t>
            </a:r>
          </a:p>
          <a:p>
            <a:pPr lvl="1"/>
            <a:r>
              <a:rPr sz="2000"/>
              <a:t>one new column per variable you create</a:t>
            </a:r>
          </a:p>
          <a:p>
            <a:pPr lvl="0"/>
            <a:r>
              <a:rPr sz="2000"/>
              <a:t>To </a:t>
            </a:r>
            <a:r>
              <a:rPr sz="2000" b="1"/>
              <a:t>overwrite</a:t>
            </a:r>
            <a:r>
              <a:rPr sz="2000"/>
              <a:t> instead, reuse the name on the left:</a:t>
            </a:r>
          </a:p>
          <a:p>
            <a:pPr lvl="1"/>
            <a:r>
              <a:rPr sz="2000">
                <a:latin typeface="Courier"/>
              </a:rPr>
              <a:t>mutate(mass_g = round(mass_g, 2))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Categories and Several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size category based on mass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9
  twig_id leaf_id teams shade mass_g petiole_mm thickness_mm paper_mass_g
  &lt;chr&gt;   &lt;chr&gt;   &lt;chr&gt; &lt;chr&gt;  &lt;dbl&gt;      &lt;dbl&gt;        &lt;dbl&gt;        &lt;dbl&gt;
1 &lt;NA&gt;    &lt;NA&gt;    12345 sunny   0.4          79         0.15         0.21
2 &lt;NA&gt;    &lt;NA&gt;    12345 sunny   0.48         63         0.14         0.21
# ℹ 1 more variable: size_class &lt;chr&gt;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create several new columns at once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mass_mg    =</a:t>
            </a:r>
            <a:r>
              <a:rPr>
                <a:solidFill>
                  <a:srgbClr val="003B4F"/>
                </a:solidFill>
                <a:latin typeface="Courier"/>
              </a:rPr>
              <a:t> mass_g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petiole_cm =</a:t>
            </a:r>
            <a:r>
              <a:rPr>
                <a:solidFill>
                  <a:srgbClr val="003B4F"/>
                </a:solidFill>
                <a:latin typeface="Courier"/>
              </a:rPr>
              <a:t> petiole_mm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petiole length in cm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10
  twig_id leaf_id teams shade mass_g petiole_mm thickness_mm paper_mass_g
  &lt;chr&gt;   &lt;chr&gt;   &lt;chr&gt; &lt;chr&gt;  &lt;dbl&gt;      &lt;dbl&gt;        &lt;dbl&gt;        &lt;dbl&gt;
1 &lt;NA&gt;    &lt;NA&gt;    12345 sunny   0.4          79         0.15         0.21
2 &lt;NA&gt;    &lt;NA&gt;    12345 sunny   0.48         63         0.14         0.21
# ℹ 2 more variables: mass_mg &lt;dbl&gt;, petiole_cm &lt;dbl&gt;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Use </a:t>
            </a:r>
            <a:r>
              <a:rPr b="1">
                <a:latin typeface="Courier"/>
              </a:rPr>
              <a:t>if_else(condition, value_if_true, value_if_false)</a:t>
            </a:r>
            <a:r>
              <a:rPr/>
              <a:t> to create categories</a:t>
            </a:r>
          </a:p>
          <a:p>
            <a:pPr lvl="0"/>
            <a:r>
              <a:rPr/>
              <a:t>Separate several new columns with </a:t>
            </a:r>
            <a:r>
              <a:rPr b="1"/>
              <a:t>commas</a:t>
            </a:r>
            <a:r>
              <a:rPr/>
              <a:t>, like the arguments they are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one or more columns 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       shade mass_g petiole_mm thickness_mm paper_mass_g
  &lt;chr&gt;   &lt;chr&gt;   &lt;chr&gt;        &lt;chr&gt;  &lt;dbl&gt;      &lt;dbl&gt;        &lt;dbl&gt;        &lt;dbl&gt;
1 twig_6  l06     fighting_mo… sunny  0.193       29           0.13        0.113
2 &lt;NA&gt;    4       Oscar_Karl   sunny  0.230       35.7         0.36       NA    
3 &lt;NA&gt;    &lt;NA&gt;    12345        sunny  0.27        34           0.11        0.15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Heaviest leaves first (use desc() to reverse)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       shade mass_g petiole_mm thickness_mm paper_mass_g
  &lt;chr&gt;   &lt;chr&gt;   &lt;chr&gt;        &lt;chr&gt;  &lt;dbl&gt;      &lt;dbl&gt;        &lt;dbl&gt;        &lt;dbl&gt;
1 &lt;NA&gt;    &lt;NA&gt;    still_loadi… sunny  1.08      84             0.68        0.420
2 twig_2  l09     fighting_mo… shady  0.920      0.383        NA          NA    
3 &lt;NA&gt;    &lt;NA&gt;    leaf_oglers  shady  0.8       41.2           0.5         0.3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Default: </a:t>
            </a:r>
            <a:r>
              <a:rPr b="1"/>
              <a:t>ascending</a:t>
            </a:r>
            <a:r>
              <a:rPr/>
              <a:t> order (smallest first)</a:t>
            </a:r>
          </a:p>
          <a:p>
            <a:pPr lvl="0"/>
            <a:r>
              <a:rPr>
                <a:latin typeface="Courier"/>
              </a:rPr>
              <a:t>desc(column)</a:t>
            </a:r>
            <a:r>
              <a:rPr/>
              <a:t> → </a:t>
            </a:r>
            <a:r>
              <a:rPr b="1"/>
              <a:t>descending</a:t>
            </a:r>
            <a:r>
              <a:rPr/>
              <a:t> order (largest first)</a:t>
            </a:r>
          </a:p>
          <a:p>
            <a:pPr lvl="0"/>
            <a:r>
              <a:rPr/>
              <a:t>Very useful before printing a table or checking outliers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is rarely used in the middle of a pipeline — it is most useful at the </a:t>
            </a:r>
            <a:r>
              <a:rPr sz="2000" b="1"/>
              <a:t>end</a:t>
            </a:r>
            <a:r>
              <a:rPr sz="2000"/>
              <a:t>, when you want to inspect your results in a specific order.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by 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shade, then by mass within each shade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(shade,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8
  twig_id leaf_id teams        shade mass_g petiole_mm thickness_mm paper_mass_g
  &lt;chr&gt;   &lt;chr&gt;   &lt;chr&gt;        &lt;chr&gt;  &lt;dbl&gt;      &lt;dbl&gt;        &lt;dbl&gt;        &lt;dbl&gt;
1 twig_2  l09     fighting_mo… shady  0.920      0.383        NA          NA    
2 &lt;NA&gt;    &lt;NA&gt;    leaf_oglers  shady  0.8       41.2           0.5         0.3  
3 twig_2  l10     fighting_mo… shady  0.782     67             0.27        0.342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first</a:t>
            </a:r>
            <a:r>
              <a:rPr/>
              <a:t> column sorts the whole data frame</a:t>
            </a:r>
          </a:p>
          <a:p>
            <a:pPr lvl="0"/>
            <a:r>
              <a:rPr/>
              <a:t>The </a:t>
            </a:r>
            <a:r>
              <a:rPr b="1"/>
              <a:t>second</a:t>
            </a:r>
            <a:r>
              <a:rPr/>
              <a:t> breaks ties </a:t>
            </a:r>
            <a:r>
              <a:rPr i="1"/>
              <a:t>inside</a:t>
            </a:r>
            <a:r>
              <a:rPr/>
              <a:t> each group of the first</a:t>
            </a:r>
          </a:p>
          <a:p>
            <a:pPr lvl="0"/>
            <a:r>
              <a:rPr/>
              <a:t>Here: shady leaves first, and within shady, heaviest first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can mix directions — </a:t>
            </a:r>
            <a:r>
              <a:rPr sz="2000">
                <a:latin typeface="Courier"/>
              </a:rPr>
              <a:t>arrange(shade, desc(mass_g))</a:t>
            </a:r>
            <a:r>
              <a:rPr sz="2000"/>
              <a:t> sorts shade ascending and mass descending in the same call.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the verbs together 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it top to bottom like a recipe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wrangled_df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(shade, mass_g, thickness_mm)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keep only needed cols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mass_mg =</a:t>
            </a:r>
            <a:r>
              <a:rPr>
                <a:solidFill>
                  <a:srgbClr val="003B4F"/>
                </a:solidFill>
                <a:latin typeface="Courier"/>
              </a:rPr>
              <a:t> mass_g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(shade,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(mass_g)) </a:t>
            </a:r>
            <a:r>
              <a:rPr>
                <a:solidFill>
                  <a:srgbClr val="5E5E5E"/>
                </a:solidFill>
                <a:latin typeface="Courier"/>
              </a:rPr>
              <a:t># sort by shade, then mass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(wrangled_df,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shade mass_g thickness_mm mass_mg size_class
  &lt;chr&gt;  &lt;dbl&gt;        &lt;dbl&gt;   &lt;dbl&gt; &lt;chr&gt;     
1 shady  0.920        NA       920. large     
2 shady  0.8           0.5     800  large     
3 shady  0.782         0.27    782. large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the pipeline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leaf_df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non-zero masses,</a:t>
            </a:r>
          </a:p>
          <a:p>
            <a:pPr lvl="2"/>
            <a:r>
              <a:rPr b="1"/>
              <a:t>then</a:t>
            </a:r>
            <a:r>
              <a:rPr/>
              <a:t> select three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shade and mass.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Compare it to nested calls</a:t>
            </a:r>
          </a:p>
          <a:p>
            <a:pPr lvl="0"/>
            <a:r>
              <a:rPr sz="2000"/>
              <a:t>Written as nested functions, the </a:t>
            </a:r>
            <a:r>
              <a:rPr sz="2000" b="1"/>
              <a:t>first</a:t>
            </a:r>
            <a:r>
              <a:rPr sz="2000"/>
              <a:t> step ends up buried in the middle</a:t>
            </a:r>
          </a:p>
          <a:p>
            <a:pPr lvl="0"/>
            <a:r>
              <a:rPr sz="2000"/>
              <a:t>The pipe lets you read top to bottom, in the order R actually runs things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5 starts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5 — Wrangling</a:t>
            </a:r>
          </a:p>
          <a:p>
            <a:pPr lvl="0" indent="0" marL="0">
              <a:buNone/>
            </a:pPr>
            <a:r>
              <a:rPr/>
              <a:t>Close the slides. Open the Activity 5 and work through </a:t>
            </a:r>
            <a:r>
              <a:rPr>
                <a:latin typeface="Courier"/>
              </a:rPr>
              <a:t>filter</a:t>
            </a:r>
            <a:r>
              <a:rPr/>
              <a:t>, </a:t>
            </a:r>
            <a:r>
              <a:rPr>
                <a:latin typeface="Courier"/>
              </a:rPr>
              <a:t>select</a:t>
            </a:r>
            <a:r>
              <a:rPr/>
              <a:t>, </a:t>
            </a:r>
            <a:r>
              <a:rPr>
                <a:latin typeface="Courier"/>
              </a:rPr>
              <a:t>mutate</a:t>
            </a:r>
            <a:r>
              <a:rPr/>
              <a:t>, </a:t>
            </a:r>
            <a:r>
              <a:rPr>
                <a:latin typeface="Courier"/>
              </a:rPr>
              <a:t>arrange</a:t>
            </a:r>
            <a:r>
              <a:rPr/>
              <a:t>, and the full pipeline. Type every line yourself into your script; predict before you run.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filter()</a:t>
            </a:r>
            <a:r>
              <a:rPr/>
              <a:t> — keep rows by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keep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add new calculated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Full pipeline: chain all verbs with </a:t>
            </a:r>
            <a:r>
              <a:rPr>
                <a:latin typeface="Courier"/>
              </a:rPr>
              <a:t>%&gt;%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§5</a:t>
            </a:r>
            <a:r>
              <a:rPr/>
              <a:t> — Data Tidying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06, Summary Statistics:</a:t>
            </a:r>
          </a:p>
          <a:p>
            <a:pPr lvl="0"/>
            <a:r>
              <a:rPr/>
              <a:t>Mean, median, variance, SD, SE</a:t>
            </a:r>
          </a:p>
          <a:p>
            <a:pPr lvl="0"/>
            <a:r>
              <a:rPr/>
              <a:t>Counting correctly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skimr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Wrangling Data</dc:title>
  <dc:creator>Bill Perry</dc:creator>
  <cp:keywords/>
  <dc:description>Filter, select, mutate, and arrange with the tidyverse pipe — building one clean wrangling pipeline on the leaf data.</dc:description>
  <dcterms:created xsi:type="dcterms:W3CDTF">2026-10-19T16:11:32Z</dcterms:created>
  <dcterms:modified xsi:type="dcterms:W3CDTF">2026-10-19T16:11:32Z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5</vt:lpwstr>
  </property>
  <property fmtid="{D5CDD505-2E9C-101B-9397-08002B2CF9AE}" pid="13" name="resources">
    <vt:lpwstr/>
  </property>
  <property fmtid="{D5CDD505-2E9C-101B-9397-08002B2CF9AE}" pid="14" name="subtitle">
    <vt:lpwstr>filter, select, mutate, arrange — and chaining them into a pipeline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3</vt:lpwstr>
  </property>
</Properties>
</file>