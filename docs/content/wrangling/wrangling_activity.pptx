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05 - Wrangling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filter, select, mutate, arrange — and chaining them into a pipeline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Wrangling Our Leaf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Worksheet 04 (GGPlot II)</a:t>
            </a:r>
          </a:p>
          <a:p>
            <a:pPr lvl="0"/>
            <a:r>
              <a:rPr/>
              <a:t>Loaded our leaf data with </a:t>
            </a:r>
            <a:r>
              <a:rPr>
                <a:latin typeface="Courier"/>
              </a:rPr>
              <a:t>read_excel()</a:t>
            </a:r>
          </a:p>
          <a:p>
            <a:pPr lvl="0"/>
            <a:r>
              <a:rPr/>
              <a:t>Built faceted plots, mean ± SE plots with </a:t>
            </a:r>
            <a:r>
              <a:rPr>
                <a:latin typeface="Courier"/>
              </a:rPr>
              <a:t>stat_summary()</a:t>
            </a:r>
            <a:r>
              <a:rPr/>
              <a:t>, and custom colors with </a:t>
            </a:r>
            <a:r>
              <a:rPr>
                <a:latin typeface="Courier"/>
              </a:rPr>
              <a:t>scale_color_manual()</a:t>
            </a:r>
          </a:p>
          <a:p>
            <a:pPr lvl="0"/>
            <a:r>
              <a:rPr/>
              <a:t>Adjusted axis limits with </a:t>
            </a:r>
            <a:r>
              <a:rPr>
                <a:latin typeface="Courier"/>
              </a:rPr>
              <a:t>coord_cartesian()</a:t>
            </a:r>
            <a:r>
              <a:rPr/>
              <a:t> and picked a theme</a:t>
            </a:r>
          </a:p>
          <a:p>
            <a:pPr lvl="0"/>
            <a:r>
              <a:rPr/>
              <a:t>Used the pipe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and </a:t>
            </a:r>
            <a:r>
              <a:rPr>
                <a:latin typeface="Courier"/>
              </a:rPr>
              <a:t>arrange()</a:t>
            </a:r>
            <a:r>
              <a:rPr/>
              <a:t> to wrangle data</a:t>
            </a:r>
          </a:p>
          <a:p>
            <a:pPr lvl="0" indent="-342900" marL="342900">
              <a:buAutoNum type="arabicPeriod"/>
            </a:pPr>
            <a:r>
              <a:rPr/>
              <a:t>Chain all four verbs into a single pipeline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at your own pace. Type the code into a new R script in Positron and run it line by line. Code blocks marked </a:t>
            </a:r>
            <a:r>
              <a:rPr sz="2000" b="1"/>
              <a:t>▶ Run this</a:t>
            </a:r>
            <a:r>
              <a:rPr sz="2000"/>
              <a:t> should be executed exactly as written. Blocks marked </a:t>
            </a:r>
            <a:r>
              <a:rPr sz="2000" b="1"/>
              <a:t>✏️ Your turn</a:t>
            </a:r>
            <a:r>
              <a:rPr sz="2000"/>
              <a:t> ask you to write or modify something.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you run any </a:t>
            </a:r>
            <a:r>
              <a:rPr sz="2000" b="1"/>
              <a:t>▶ Run this</a:t>
            </a:r>
            <a:r>
              <a:rPr sz="2000"/>
              <a:t> block, cover the output and </a:t>
            </a:r>
            <a:r>
              <a:rPr sz="2000" i="1"/>
              <a:t>predict</a:t>
            </a:r>
            <a:r>
              <a:rPr sz="2000"/>
              <a:t> what R will print — how many rows, how many columns, which value comes out on top. Then run it and compare. Two reasons it is worth the extra few seconds:</a:t>
            </a:r>
          </a:p>
          <a:p>
            <a:pPr lvl="0"/>
            <a:r>
              <a:rPr sz="2000" b="1"/>
              <a:t>Predicting exposes what you don’t actually know yet.</a:t>
            </a:r>
            <a:r>
              <a:rPr sz="2000"/>
              <a:t> It’s easy to nod along at </a:t>
            </a:r>
            <a:r>
              <a:rPr sz="2000">
                <a:latin typeface="Courier"/>
              </a:rPr>
              <a:t>filter()</a:t>
            </a:r>
            <a:r>
              <a:rPr sz="2000"/>
              <a:t> vs </a:t>
            </a:r>
            <a:r>
              <a:rPr sz="2000">
                <a:latin typeface="Courier"/>
              </a:rPr>
              <a:t>select()</a:t>
            </a:r>
            <a:r>
              <a:rPr sz="2000"/>
              <a:t> on a slide; it’s much harder to fake a row count you have to commit to in writing first.</a:t>
            </a:r>
          </a:p>
          <a:p>
            <a:pPr lvl="0"/>
            <a:r>
              <a:rPr sz="2000" b="1"/>
              <a:t>Typing beats pasting.</a:t>
            </a:r>
            <a:r>
              <a:rPr sz="2000"/>
              <a:t> You’ll write </a:t>
            </a:r>
            <a:r>
              <a:rPr sz="2000">
                <a:latin typeface="Courier"/>
              </a:rPr>
              <a:t>%&gt;%</a:t>
            </a:r>
            <a:r>
              <a:rPr sz="2000"/>
              <a:t>, </a:t>
            </a:r>
            <a:r>
              <a:rPr sz="2000">
                <a:latin typeface="Courier"/>
              </a:rPr>
              <a:t>filter()</a:t>
            </a:r>
            <a:r>
              <a:rPr sz="2000"/>
              <a:t>, and </a:t>
            </a:r>
            <a:r>
              <a:rPr sz="2000">
                <a:latin typeface="Courier"/>
              </a:rPr>
              <a:t>mutate()</a:t>
            </a:r>
            <a:r>
              <a:rPr sz="2000"/>
              <a:t> dozens of times today — typing them by hand is what turns the syntax into muscle memory, and it trains your eye to spot the </a:t>
            </a:r>
            <a:r>
              <a:rPr sz="2000">
                <a:latin typeface="Courier"/>
              </a:rPr>
              <a:t>=</a:t>
            </a:r>
            <a:r>
              <a:rPr sz="2000"/>
              <a:t> vs </a:t>
            </a:r>
            <a:r>
              <a:rPr sz="2000">
                <a:latin typeface="Courier"/>
              </a:rPr>
              <a:t>==</a:t>
            </a:r>
            <a:r>
              <a:rPr sz="2000"/>
              <a:t> typo before R does.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Libraries first</a:t>
            </a:r>
          </a:p>
          <a:p>
            <a:pPr lvl="0" indent="0" marL="0">
              <a:buNone/>
            </a:pPr>
            <a:r>
              <a:rPr/>
              <a:t>Always load all packages at the very top of your script.</a:t>
            </a:r>
          </a:p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— always at the top of the script 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 you forgot </a:t>
            </a:r>
            <a:r>
              <a:rPr sz="2000">
                <a:latin typeface="Courier"/>
              </a:rPr>
              <a:t>library(readxl)</a:t>
            </a:r>
            <a:r>
              <a:rPr sz="2000"/>
              <a:t>. You must reload libraries every time you restart 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Load the leaf data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Excel file — path is relative to your project folder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each of these: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 </a:t>
            </a:r>
            <a:r>
              <a:rPr>
                <a:solidFill>
                  <a:srgbClr val="5E5E5E"/>
                </a:solidFill>
                <a:latin typeface="Courier"/>
              </a:rPr>
              <a:t># column names, types, first values — use this!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 </a:t>
            </a:r>
            <a:r>
              <a:rPr>
                <a:solidFill>
                  <a:srgbClr val="5E5E5E"/>
                </a:solidFill>
                <a:latin typeface="Courier"/>
              </a:rPr>
              <a:t># rows × columns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the table below from the </a:t>
            </a:r>
            <a:r>
              <a:rPr>
                <a:latin typeface="Courier"/>
              </a:rPr>
              <a:t>glimpse()</a:t>
            </a:r>
            <a:r>
              <a:rPr/>
              <a:t> output.</a:t>
            </a:r>
          </a:p>
          <a:p>
            <a:pPr lvl="0" indent="0">
              <a:buNone/>
            </a:pPr>
            <a:r>
              <a:rPr>
                <a:latin typeface="Courier"/>
              </a:rPr>
              <a:t>Column name     | Data type (&lt;chr&gt; / &lt;dbl&gt;)  | Example value
----------------|----------------------------|---------------
index           |                            |
side            |                            |
weight_g        |                            |
width_cm        |                            |
height_cm       |                            |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leaves are from the sunny side and how many from the shady side? Use </a:t>
            </a:r>
            <a:r>
              <a:rPr>
                <a:latin typeface="Courier"/>
              </a:rPr>
              <a:t>table(tree_df$side)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Sunny leaves:
Shady leaves:
Is the design balanced (equal n per group)?  Y / 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The core tidyverse verbs — filter, select, mutate, arrange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four functions do most of the work in data wrangling. All take a data frame and return a data frame.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filter()</a:t>
            </a:r>
            <a:r>
              <a:rPr b="1"/>
              <a:t> — keeping rows you want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There are 20 leaves in total. Before running, guess how many rows </a:t>
            </a:r>
            <a:r>
              <a:rPr sz="2000">
                <a:latin typeface="Courier"/>
              </a:rPr>
              <a:t>filter(side == "sunny")</a:t>
            </a:r>
            <a:r>
              <a:rPr sz="2000"/>
              <a:t> will return. Write your number, then check.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leaves heavier than 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Combine conditions (AND = both must be true)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=</a:t>
            </a:r>
            <a:r>
              <a:rPr sz="2000"/>
              <a:t> assigns a value. </a:t>
            </a:r>
            <a:r>
              <a:rPr sz="2000">
                <a:latin typeface="Courier"/>
              </a:rPr>
              <a:t>==</a:t>
            </a:r>
            <a:r>
              <a:rPr sz="2000"/>
              <a:t> tests equality. Always use </a:t>
            </a:r>
            <a:r>
              <a:rPr sz="2000">
                <a:latin typeface="Courier"/>
              </a:rPr>
              <a:t>==</a:t>
            </a:r>
            <a:r>
              <a:rPr sz="2000"/>
              <a:t> inside </a:t>
            </a:r>
            <a:r>
              <a:rPr sz="2000">
                <a:latin typeface="Courier"/>
              </a:rPr>
              <a:t>filter()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</a:t>
            </a:r>
            <a:r>
              <a:rPr>
                <a:latin typeface="Courier"/>
              </a:rPr>
              <a:t>filter()</a:t>
            </a:r>
            <a:r>
              <a:rPr/>
              <a:t> to find all leaves where </a:t>
            </a:r>
            <a:r>
              <a:rPr>
                <a:latin typeface="Courier"/>
              </a:rPr>
              <a:t>height_cm</a:t>
            </a:r>
            <a:r>
              <a:rPr/>
              <a:t> is greater than 25. How many rows does the result have?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Number of leaves with height_cm &gt; 25:
Are they mostly sunny or shady side?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select()</a:t>
            </a:r>
            <a:r>
              <a:rPr b="1"/>
              <a:t> — keeping columns you want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side and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Drop the index column (use 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index)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columns that end with a unit label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ends_with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"_cm"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Create a data frame called </a:t>
            </a:r>
            <a:r>
              <a:rPr>
                <a:latin typeface="Courier"/>
              </a:rPr>
              <a:t>lean_df</a:t>
            </a:r>
            <a:r>
              <a:rPr/>
              <a:t> that has only </a:t>
            </a:r>
            <a:r>
              <a:rPr>
                <a:latin typeface="Courier"/>
              </a:rPr>
              <a:t>side</a:t>
            </a:r>
            <a:r>
              <a:rPr/>
              <a:t> and </a:t>
            </a:r>
            <a:r>
              <a:rPr>
                <a:latin typeface="Courier"/>
              </a:rPr>
              <a:t>height_cm</a:t>
            </a:r>
            <a:r>
              <a:rPr/>
              <a:t>. Then run </a:t>
            </a:r>
            <a:r>
              <a:rPr>
                <a:latin typeface="Courier"/>
              </a:rPr>
              <a:t>glimpse(lean_df)</a:t>
            </a:r>
            <a:r>
              <a:rPr/>
              <a:t> to verify.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How many columns does lean_df have?
What are they?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mutate()</a:t>
            </a:r>
            <a:r>
              <a:rPr b="1"/>
              <a:t> — adding new columns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adds new columns (or changes existing ones) without removing anything.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Will </a:t>
            </a:r>
            <a:r>
              <a:rPr sz="2000">
                <a:latin typeface="Courier"/>
              </a:rPr>
              <a:t>mutate(weight_mg = weight_g * 1000)</a:t>
            </a:r>
            <a:r>
              <a:rPr sz="2000"/>
              <a:t> </a:t>
            </a:r>
            <a:r>
              <a:rPr sz="2000" b="1"/>
              <a:t>replace</a:t>
            </a:r>
            <a:r>
              <a:rPr sz="2000"/>
              <a:t> </a:t>
            </a:r>
            <a:r>
              <a:rPr sz="2000">
                <a:latin typeface="Courier"/>
              </a:rPr>
              <a:t>weight_g</a:t>
            </a:r>
            <a:r>
              <a:rPr sz="2000"/>
              <a:t> or </a:t>
            </a:r>
            <a:r>
              <a:rPr sz="2000" b="1"/>
              <a:t>add</a:t>
            </a:r>
            <a:r>
              <a:rPr sz="2000"/>
              <a:t> a new column? How many columns will the result have — more, fewer, or the same?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a size category based on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</a:t>
            </a:r>
            <a:r>
              <a:rPr>
                <a:latin typeface="Courier"/>
              </a:rPr>
              <a:t>mutate()</a:t>
            </a:r>
            <a:r>
              <a:rPr/>
              <a:t> to add a column called </a:t>
            </a:r>
            <a:r>
              <a:rPr>
                <a:latin typeface="Courier"/>
              </a:rPr>
              <a:t>height_mm</a:t>
            </a:r>
            <a:r>
              <a:rPr/>
              <a:t> (height converted to millimetres — multiply by 10). What is the maximum height in mm?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Column name you added:
Maximum height in mm: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arrange()</a:t>
            </a:r>
            <a:r>
              <a:rPr b="1"/>
              <a:t> — sorting rows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a column ---------------------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 (ascending — default)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Heaviest leaves first (descending — use desc())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Sort by side, then by weight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Sort the data by </a:t>
            </a:r>
            <a:r>
              <a:rPr>
                <a:latin typeface="Courier"/>
              </a:rPr>
              <a:t>height_cm</a:t>
            </a:r>
            <a:r>
              <a:rPr/>
              <a:t> descending. What is the </a:t>
            </a:r>
            <a:r>
              <a:rPr>
                <a:latin typeface="Courier"/>
              </a:rPr>
              <a:t>index</a:t>
            </a:r>
            <a:r>
              <a:rPr/>
              <a:t> number and </a:t>
            </a:r>
            <a:r>
              <a:rPr>
                <a:latin typeface="Courier"/>
              </a:rPr>
              <a:t>side</a:t>
            </a:r>
            <a:r>
              <a:rPr/>
              <a:t> of the tallest leaf?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Index of tallest leaf:
Side (sunny or shady):
Height (cm):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pipeline — chaining all four verbs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four verbs — read it as a recipe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tree_clean_df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weight_g, height_cm)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keep three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 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          </a:t>
            </a:r>
            <a:r>
              <a:rPr>
                <a:solidFill>
                  <a:srgbClr val="5E5E5E"/>
                </a:solidFill>
                <a:latin typeface="Courier"/>
              </a:rPr>
              <a:t># sort by side, then weight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(tree_clean_df)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Read the pipeline out loud, one </a:t>
            </a:r>
            <a:r>
              <a:rPr>
                <a:latin typeface="Courier"/>
              </a:rPr>
              <a:t>%&gt;%</a:t>
            </a:r>
            <a:r>
              <a:rPr/>
              <a:t> step at a time. Write in plain English what each step does:</a:t>
            </a:r>
          </a:p>
          <a:p>
            <a:pPr lvl="0" indent="0">
              <a:buNone/>
            </a:pPr>
            <a:r>
              <a:rPr>
                <a:latin typeface="Courier"/>
              </a:rPr>
              <a:t>Step 1 (filter):
Step 2 (select):
Step 3 (mutate):
Step 4 (arrange):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Load an Excel file with </a:t>
            </a:r>
            <a:r>
              <a:rPr>
                <a:latin typeface="Courier"/>
              </a:rPr>
              <a:t>read_excel()</a:t>
            </a:r>
            <a:r>
              <a:rPr/>
              <a:t> and inspect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filter()</a:t>
            </a:r>
            <a:r>
              <a:rPr/>
              <a:t> to keep rows matching a condition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select()</a:t>
            </a:r>
            <a:r>
              <a:rPr/>
              <a:t> to keep specific columns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mutate()</a:t>
            </a:r>
            <a:r>
              <a:rPr/>
              <a:t> to add a new calculated column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arrange()</a:t>
            </a:r>
            <a:r>
              <a:rPr/>
              <a:t> to sort rows</a:t>
            </a:r>
          </a:p>
          <a:p>
            <a:pPr lvl="0"/>
            <a:r>
              <a:rPr/>
              <a:t>☐ Chain all four verbs into a single </a:t>
            </a:r>
            <a:r>
              <a:rPr>
                <a:latin typeface="Courier"/>
              </a:rPr>
              <a:t>%&gt;%</a:t>
            </a:r>
            <a:r>
              <a:rPr/>
              <a:t> pipeline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complete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This section is optional — work through it if you finish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</a:t>
            </a:r>
            <a:r>
              <a:rPr b="1">
                <a:latin typeface="Courier"/>
              </a:rPr>
              <a:t>mutate()</a:t>
            </a:r>
            <a:r>
              <a:rPr b="1"/>
              <a:t> to add a column, then plot it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size_class column, then make a bar chart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size_class))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"dodge"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"Number of large vs small leaves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"Size class"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</a:t>
            </a:r>
            <a:r>
              <a:rPr>
                <a:latin typeface="Courier"/>
              </a:rPr>
              <a:t>position = "dodge"</a:t>
            </a:r>
            <a:r>
              <a:rPr/>
              <a:t> do to the bars? What happens if you change it to </a:t>
            </a:r>
            <a:r>
              <a:rPr>
                <a:latin typeface="Courier"/>
              </a:rPr>
              <a:t>position = "fill"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latin typeface="Courier"/>
              </a:rPr>
              <a:t>dodge does:
fill does: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load </a:t>
            </a:r>
            <a:r>
              <a:rPr>
                <a:latin typeface="Courier"/>
              </a:rPr>
              <a:t>library(readxl)</a:t>
            </a:r>
            <a:r>
              <a:rPr/>
              <a:t> and </a:t>
            </a:r>
            <a:r>
              <a:rPr>
                <a:latin typeface="Courier"/>
              </a:rPr>
              <a:t>library(tidyverse)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 b="1"/>
              <a:t>Spelling?</a:t>
            </a:r>
            <a:r>
              <a:rPr/>
              <a:t> 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≠ </a:t>
            </a:r>
            <a:r>
              <a:rPr>
                <a:latin typeface="Courier"/>
              </a:rPr>
              <a:t>"sunny"</a:t>
            </a:r>
            <a:r>
              <a:rPr/>
              <a:t>. Check with </a:t>
            </a:r>
            <a:r>
              <a:rPr>
                <a:latin typeface="Courier"/>
              </a:rPr>
              <a:t>names(tree_df)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File not found?</a:t>
            </a:r>
            <a:r>
              <a:rPr/>
              <a:t> Check with </a:t>
            </a:r>
            <a:r>
              <a:rPr>
                <a:latin typeface="Courier"/>
              </a:rPr>
              <a:t>getwd()</a:t>
            </a:r>
            <a:r>
              <a:rPr/>
              <a:t> and confirm the </a:t>
            </a:r>
            <a:r>
              <a:rPr>
                <a:latin typeface="Courier"/>
              </a:rPr>
              <a:t>data/</a:t>
            </a:r>
            <a:r>
              <a:rPr/>
              <a:t> folder is inside your project.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class, Canvas,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an </a:t>
            </a:r>
            <a:r>
              <a:rPr sz="2000">
                <a:latin typeface="Courier"/>
              </a:rPr>
              <a:t>=</a:t>
            </a:r>
            <a:r>
              <a:rPr sz="2000"/>
              <a:t> where you meant </a:t>
            </a:r>
            <a:r>
              <a:rPr sz="2000">
                <a:latin typeface="Courier"/>
              </a:rPr>
              <a:t>==</a:t>
            </a:r>
            <a:r>
              <a:rPr sz="2000"/>
              <a:t>, a typo’d column name — these are the errors this worksheet is built around, and reading the message before you panic will solve most of them.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05. Next: Worksheet 06 will cover summary statistics — mean, median, SD, SE, </a:t>
            </a:r>
            <a:r>
              <a:rPr i="1">
                <a:latin typeface="Courier"/>
              </a:rPr>
              <a:t>group_by()</a:t>
            </a:r>
            <a:r>
              <a:rPr i="1"/>
              <a:t> + </a:t>
            </a:r>
            <a:r>
              <a:rPr i="1">
                <a:latin typeface="Courier"/>
              </a:rPr>
              <a:t>summarize()</a:t>
            </a:r>
            <a:r>
              <a:rPr i="1"/>
              <a:t>, and </a:t>
            </a:r>
            <a:r>
              <a:rPr i="1">
                <a:latin typeface="Courier"/>
              </a:rPr>
              <a:t>skimr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05 - Wrangling data</dc:title>
  <dc:creator>Bill Perry</dc:creator>
  <cp:keywords/>
  <dc:description>Hands-on companion to the wrangling lecture. Chain filter(), select(), mutate(), and arrange() into a pipeline on the leaf data.</dc:description>
  <dcterms:created xsi:type="dcterms:W3CDTF">2026-08-27T17:13:10Z</dcterms:created>
  <dcterms:modified xsi:type="dcterms:W3CDTF">2026-08-27T17:13:10Z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5</vt:lpwstr>
  </property>
  <property fmtid="{D5CDD505-2E9C-101B-9397-08002B2CF9AE}" pid="13" name="resources">
    <vt:lpwstr/>
  </property>
  <property fmtid="{D5CDD505-2E9C-101B-9397-08002B2CF9AE}" pid="14" name="subtitle">
    <vt:lpwstr>filter, select, mutate, arrange — and chaining them into a pipeline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3</vt:lpwstr>
  </property>
</Properties>
</file>