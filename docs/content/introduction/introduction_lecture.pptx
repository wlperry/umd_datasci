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01 — Introduction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question, our data, and a first look at what we will do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syllabus has </a:t>
            </a:r>
            <a:r>
              <a:rPr b="1"/>
              <a:t>all the details</a:t>
            </a:r>
            <a:r>
              <a:rPr/>
              <a:t> — topics, grading, policies, schedule</a:t>
            </a:r>
          </a:p>
          <a:p>
            <a:pPr lvl="0"/>
            <a:r>
              <a:rPr/>
              <a:t>Read it before Thursday</a:t>
            </a:r>
          </a:p>
          <a:p>
            <a:pPr lvl="0"/>
            <a:r>
              <a:rPr/>
              <a:t>It will evolve — check Canvas for the current version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syllabus is the contract between us. If something is unclear, ask now — not at exam time.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Bill Perry</a:t>
            </a:r>
            <a:r>
              <a:rPr/>
              <a:t> — call me Bill or Dr. Perry</a:t>
            </a:r>
          </a:p>
          <a:p>
            <a:pPr lvl="0"/>
            <a:r>
              <a:rPr/>
              <a:t>Office: Swenson Science Building 13</a:t>
            </a:r>
          </a:p>
          <a:p>
            <a:pPr lvl="0"/>
            <a:r>
              <a:rPr/>
              <a:t>Phone: 218-726-8145</a:t>
            </a:r>
          </a:p>
          <a:p>
            <a:pPr lvl="0"/>
            <a:r>
              <a:rPr/>
              <a:t>Email: wlperry@d.umn.edu</a:t>
            </a:r>
          </a:p>
          <a:p>
            <a:pPr lvl="0"/>
            <a:r>
              <a:rPr/>
              <a:t>Drop-in hours: Monday 12:15–1:15, Tuesday 2–3 (tentative)</a:t>
            </a:r>
          </a:p>
          <a:p>
            <a:pPr lvl="0"/>
            <a:r>
              <a:rPr/>
              <a:t>Lab: SSB 170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way to reach me:</a:t>
            </a:r>
            <a:r>
              <a:rPr sz="2000"/>
              <a:t> email or drop in. If I am in the lab I am usually around.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673100"/>
            <a:ext cx="44069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Exterior photo of the Swenson Science Building, with the instructor’s office entrance and lab location highlighted in red.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 · My goals for this course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Help you learn the tools to </a:t>
            </a:r>
            <a:r>
              <a:rPr b="1"/>
              <a:t>organize and present data</a:t>
            </a:r>
            <a:r>
              <a:rPr/>
              <a:t> from potentially very large datasets</a:t>
            </a:r>
          </a:p>
          <a:p>
            <a:pPr lvl="0"/>
            <a:r>
              <a:rPr/>
              <a:t>How to use </a:t>
            </a:r>
            <a:r>
              <a:rPr b="1"/>
              <a:t>Excel</a:t>
            </a:r>
            <a:r>
              <a:rPr/>
              <a:t> for some tasks — and when to stop using it</a:t>
            </a:r>
          </a:p>
          <a:p>
            <a:pPr lvl="0"/>
            <a:r>
              <a:rPr/>
              <a:t>How to use </a:t>
            </a:r>
            <a:r>
              <a:rPr b="1"/>
              <a:t>R</a:t>
            </a:r>
            <a:r>
              <a:rPr/>
              <a:t> — a coding language — to work with data and graphics</a:t>
            </a:r>
          </a:p>
          <a:p>
            <a:pPr lvl="0"/>
            <a:r>
              <a:rPr/>
              <a:t>How to </a:t>
            </a:r>
            <a:r>
              <a:rPr b="1"/>
              <a:t>organize, clean, summarize, and visualize</a:t>
            </a:r>
            <a:r>
              <a:rPr/>
              <a:t> data — the pipeline</a:t>
            </a:r>
          </a:p>
          <a:p>
            <a:pPr lvl="0"/>
            <a:r>
              <a:rPr/>
              <a:t>How to formulate and test </a:t>
            </a:r>
            <a:r>
              <a:rPr b="1"/>
              <a:t>hypotheses</a:t>
            </a:r>
          </a:p>
          <a:p>
            <a:pPr lvl="0"/>
            <a:r>
              <a:rPr/>
              <a:t>How to use </a:t>
            </a:r>
            <a:r>
              <a:rPr b="1"/>
              <a:t>statistics</a:t>
            </a:r>
            <a:r>
              <a:rPr/>
              <a:t> to test those hypotheses</a:t>
            </a:r>
          </a:p>
          <a:p>
            <a:pPr lvl="0"/>
            <a:r>
              <a:rPr/>
              <a:t>How to </a:t>
            </a:r>
            <a:r>
              <a:rPr b="1"/>
              <a:t>interpret</a:t>
            </a:r>
            <a:r>
              <a:rPr/>
              <a:t> what the data is telling us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 pipeline:</a:t>
            </a:r>
            <a:r>
              <a:rPr sz="2000"/>
              <a:t> raw data → clean → summarize → visualize → test → report.</a:t>
            </a:r>
          </a:p>
          <a:p>
            <a:pPr lvl="0" indent="0" marL="1270000">
              <a:buNone/>
            </a:pPr>
            <a:r>
              <a:rPr sz="2000"/>
              <a:t>This course teaches every step.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Communication</a:t>
            </a:r>
            <a:r>
              <a:rPr/>
              <a:t> — ask questions in class, in office hours, by email</a:t>
            </a:r>
          </a:p>
          <a:p>
            <a:pPr lvl="0"/>
            <a:r>
              <a:rPr b="1"/>
              <a:t>Practice</a:t>
            </a:r>
            <a:r>
              <a:rPr/>
              <a:t> — the only way to learn to code is to write code</a:t>
            </a:r>
          </a:p>
          <a:p>
            <a:pPr lvl="0"/>
            <a:r>
              <a:rPr b="1"/>
              <a:t>Failure</a:t>
            </a:r>
            <a:r>
              <a:rPr/>
              <a:t> — every error message is information; celebrate finding bugs</a:t>
            </a:r>
          </a:p>
          <a:p>
            <a:pPr lvl="0"/>
            <a:r>
              <a:rPr b="1"/>
              <a:t>Learn to troubleshoot</a:t>
            </a:r>
            <a:r>
              <a:rPr/>
              <a:t> — reading error messages is a skill we will practice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</a:p>
          <a:p>
            <a:pPr lvl="0" indent="0" marL="1270000">
              <a:buNone/>
            </a:pPr>
            <a:r>
              <a:rPr sz="2000"/>
              <a:t>Every working data scientist searches Google for error messages every single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will do:</a:t>
            </a:r>
          </a:p>
          <a:p>
            <a:pPr lvl="0"/>
            <a:r>
              <a:rPr/>
              <a:t>Provide clear examples</a:t>
            </a:r>
          </a:p>
          <a:p>
            <a:pPr lvl="0"/>
            <a:r>
              <a:rPr/>
              <a:t>Walk through code line by line</a:t>
            </a:r>
          </a:p>
          <a:p>
            <a:pPr lvl="0"/>
            <a:r>
              <a:rPr/>
              <a:t>Give you real datasets to work with</a:t>
            </a:r>
          </a:p>
          <a:p>
            <a:pPr lvl="0" indent="0" marL="0">
              <a:buNone/>
            </a:pPr>
            <a:r>
              <a:rPr b="1"/>
              <a:t>What you need to do:</a:t>
            </a:r>
          </a:p>
          <a:p>
            <a:pPr lvl="0"/>
            <a:r>
              <a:rPr/>
              <a:t>Type the code yourself (do not copy-paste)</a:t>
            </a:r>
          </a:p>
          <a:p>
            <a:pPr lvl="0"/>
            <a:r>
              <a:rPr/>
              <a:t>Run it, break it, fix it</a:t>
            </a:r>
          </a:p>
          <a:p>
            <a:pPr lvl="0"/>
            <a:r>
              <a:rPr/>
              <a:t>Bring questions to class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 ·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is a way to </a:t>
            </a:r>
            <a:r>
              <a:rPr b="1"/>
              <a:t>acquire, organize, and apply knowledge</a:t>
            </a:r>
          </a:p>
          <a:p>
            <a:pPr lvl="0"/>
            <a:r>
              <a:rPr/>
              <a:t>We make </a:t>
            </a:r>
            <a:r>
              <a:rPr b="1"/>
              <a:t>predictions</a:t>
            </a:r>
            <a:r>
              <a:rPr/>
              <a:t> and test them with a </a:t>
            </a:r>
            <a:r>
              <a:rPr b="1"/>
              <a:t>falsifiable approach</a:t>
            </a:r>
            <a:r>
              <a:rPr/>
              <a:t> — statistics</a:t>
            </a:r>
          </a:p>
          <a:p>
            <a:pPr lvl="0"/>
            <a:r>
              <a:rPr/>
              <a:t>Explanations that </a:t>
            </a:r>
            <a:r>
              <a:rPr b="1"/>
              <a:t>cannot be tested or falsified</a:t>
            </a:r>
            <a:r>
              <a:rPr/>
              <a:t> are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/>
              <a:t>“Leaves on the shady side are bigger” </a:t>
            </a:r>
            <a:r>
              <a:rPr b="1"/>
              <a:t>testable</a:t>
            </a:r>
          </a:p>
          <a:p>
            <a:pPr lvl="0"/>
            <a:r>
              <a:rPr/>
              <a:t>“The forest has a spirit that controls leaf size” — </a:t>
            </a:r>
            <a:r>
              <a:rPr b="1"/>
              <a:t>not testable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shown to be wrong.</a:t>
            </a:r>
          </a:p>
          <a:p>
            <a:pPr lvl="0" indent="0" marL="1270000">
              <a:buNone/>
            </a:pPr>
            <a:r>
              <a:rPr sz="2000"/>
              <a:t>A good hypothesis is one you could prove false.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 — </a:t>
            </a:r>
            <a:r>
              <a:rPr sz="2000" i="1"/>
              <a:t>Statistics and Samples</a:t>
            </a:r>
            <a:r>
              <a:rPr sz="2000"/>
              <a:t>. Covers how biologists turn a question about nature into something we can measure and test — the same path we take today with leaves.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 · Real-world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Talking about data science is </a:t>
            </a:r>
            <a:r>
              <a:rPr b="1"/>
              <a:t>super boring</a:t>
            </a:r>
          </a:p>
          <a:p>
            <a:pPr lvl="0"/>
            <a:r>
              <a:rPr/>
              <a:t>The only way to learn it is to </a:t>
            </a:r>
            <a:r>
              <a:rPr b="1"/>
              <a:t>do it</a:t>
            </a:r>
            <a:r>
              <a:rPr/>
              <a:t> — collect data, enter it, analyze it</a:t>
            </a:r>
          </a:p>
          <a:p>
            <a:pPr lvl="0"/>
            <a:r>
              <a:rPr/>
              <a:t>This lecture and the next will be about how to work with data from the </a:t>
            </a:r>
            <a:r>
              <a:rPr b="1"/>
              <a:t>very start</a:t>
            </a:r>
          </a:p>
          <a:p>
            <a:pPr lvl="0"/>
            <a:r>
              <a:rPr/>
              <a:t>Your task: </a:t>
            </a:r>
            <a:r>
              <a:rPr b="1"/>
              <a:t>collect data → organize it → enter it into a spreadsheet → develop metadata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We are going to go outside, collect leaves, and build our first dataset today. That dataset will follow us for the first part of the course.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will we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are going to </a:t>
            </a:r>
            <a:r>
              <a:rPr b="1"/>
              <a:t>measure something in nature</a:t>
            </a:r>
          </a:p>
          <a:p>
            <a:pPr lvl="0"/>
            <a:r>
              <a:rPr/>
              <a:t>Suggestion: leaf mass, width, length, and surface area from the </a:t>
            </a:r>
            <a:r>
              <a:rPr b="1"/>
              <a:t>sunny side vs. shady side</a:t>
            </a:r>
            <a:r>
              <a:rPr/>
              <a:t> of a tree</a:t>
            </a:r>
          </a:p>
          <a:p>
            <a:pPr lvl="1"/>
            <a:r>
              <a:rPr/>
              <a:t>Do leaves respond to light intensity?</a:t>
            </a:r>
          </a:p>
          <a:p>
            <a:pPr lvl="0"/>
            <a:r>
              <a:rPr b="1"/>
              <a:t>The null hypothesis (H₀):</a:t>
            </a:r>
          </a:p>
          <a:p>
            <a:pPr lvl="1"/>
            <a:r>
              <a:rPr i="1"/>
              <a:t>There is no difference in leaf size or shape between the two sides of a tree.</a:t>
            </a:r>
          </a:p>
          <a:p>
            <a:pPr lvl="0"/>
            <a:r>
              <a:rPr b="1"/>
              <a:t>The alternate hypothesis (Hₐ):</a:t>
            </a:r>
          </a:p>
          <a:p>
            <a:pPr lvl="1"/>
            <a:r>
              <a:rPr i="1"/>
              <a:t>Leaf size differs between the sunny and shady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 indent="0" marL="1270000">
              <a:buNone/>
            </a:pPr>
            <a:r>
              <a:rPr sz="2000" b="1"/>
              <a:t>Null hypothesis (H₀)</a:t>
            </a:r>
            <a:r>
              <a:rPr sz="2000"/>
              <a:t> — the “nothing is happening” claim. Statistics will tell us whether the data are consistent with this or not.</a:t>
            </a:r>
          </a:p>
          <a:p>
            <a:pPr lvl="0" indent="0" marL="1270000">
              <a:buNone/>
            </a:pPr>
            <a:r>
              <a:rPr sz="2000" b="1"/>
              <a:t>Alternate hypothesis (Hₐ)</a:t>
            </a:r>
            <a:r>
              <a:rPr sz="2000"/>
              <a:t> — the claim we think might be true.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does leaf size vary?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Does the sunny side vs. shady side of a tree differ due to light?</a:t>
            </a:r>
          </a:p>
          <a:p>
            <a:pPr lvl="1"/>
            <a:r>
              <a:rPr b="1"/>
              <a:t>Predict:</a:t>
            </a:r>
            <a:r>
              <a:rPr/>
              <a:t> what do you think will happen before we collect any data?</a:t>
            </a:r>
          </a:p>
          <a:p>
            <a:pPr lvl="2"/>
            <a:r>
              <a:rPr i="1"/>
              <a:t>Your prediction:</a:t>
            </a:r>
          </a:p>
          <a:p>
            <a:pPr lvl="1"/>
            <a:r>
              <a:rPr b="1"/>
              <a:t>Hypothesize:</a:t>
            </a:r>
            <a:r>
              <a:rPr/>
              <a:t> what is the formal testable statement?</a:t>
            </a:r>
          </a:p>
          <a:p>
            <a:pPr lvl="2"/>
            <a:r>
              <a:rPr i="1"/>
              <a:t>Your null hypothesis: ____________________________</a:t>
            </a:r>
          </a:p>
          <a:p>
            <a:pPr lvl="2"/>
            <a:r>
              <a:rPr i="1"/>
              <a:t>Your alternate hypothesis: 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Key distinction</a:t>
            </a:r>
          </a:p>
          <a:p>
            <a:pPr lvl="0"/>
            <a:r>
              <a:rPr sz="2000"/>
              <a:t>A </a:t>
            </a:r>
            <a:r>
              <a:rPr sz="2000" b="1"/>
              <a:t>prediction</a:t>
            </a:r>
            <a:r>
              <a:rPr sz="2000"/>
              <a:t> says what you think will happen and usually has a direction.</a:t>
            </a:r>
          </a:p>
          <a:p>
            <a:pPr lvl="0"/>
            <a:r>
              <a:rPr sz="2000"/>
              <a:t>A </a:t>
            </a:r>
            <a:r>
              <a:rPr sz="2000" b="1"/>
              <a:t>hypothesis</a:t>
            </a:r>
            <a:r>
              <a:rPr sz="2000"/>
              <a:t> is a formal statement that can be accepted or rejected with data.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would we collect data to test this?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collect leaves from </a:t>
            </a:r>
            <a:r>
              <a:rPr b="1"/>
              <a:t>one tree</a:t>
            </a:r>
            <a:r>
              <a:rPr/>
              <a:t> to do this? — Yes or no?</a:t>
            </a:r>
          </a:p>
          <a:p>
            <a:pPr lvl="1"/>
            <a:r>
              <a:rPr b="1"/>
              <a:t>Discuss</a:t>
            </a:r>
          </a:p>
          <a:p>
            <a:pPr lvl="0"/>
            <a:r>
              <a:rPr/>
              <a:t>What is the problem with using only one tree?</a:t>
            </a:r>
          </a:p>
          <a:p>
            <a:pPr lvl="0"/>
            <a:r>
              <a:rPr/>
              <a:t>How might results from many trees differ from one tree?</a:t>
            </a:r>
          </a:p>
          <a:p>
            <a:pPr lvl="0"/>
            <a:r>
              <a:rPr/>
              <a:t>Do we need to be sure our sample is </a:t>
            </a:r>
            <a:r>
              <a:rPr b="1"/>
              <a:t>randomly selected</a:t>
            </a:r>
            <a:r>
              <a:rPr/>
              <a:t>?</a:t>
            </a:r>
          </a:p>
          <a:p>
            <a:pPr lvl="1"/>
            <a:r>
              <a:rPr/>
              <a:t>Why do we need to randomize?</a:t>
            </a:r>
          </a:p>
          <a:p>
            <a:pPr lvl="1"/>
            <a:r>
              <a:rPr/>
              <a:t>How can we randomize our sampling?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Replication and randomization</a:t>
            </a:r>
          </a:p>
          <a:p>
            <a:pPr lvl="0" indent="0" marL="1270000">
              <a:buNone/>
            </a:pPr>
            <a:r>
              <a:rPr sz="2000"/>
              <a:t>These two principles are the foundation of all experimental design. One tree is a sample size of one — we cannot generalize from that.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📚 Suggested reading (outside of class)</a:t>
            </a:r>
          </a:p>
          <a:p>
            <a:pPr lvl="0" indent="0" marL="1270000">
              <a:buNone/>
            </a:pPr>
            <a:r>
              <a:rPr sz="2000"/>
              <a:t>Whitlock &amp; Schluter, Ch. 1, section on samples and populations — why we sample instead of measuring every leaf on every tree, and what makes a sample representative.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variables could we record?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variables could we record about the </a:t>
            </a:r>
            <a:r>
              <a:rPr b="1"/>
              <a:t>tree</a:t>
            </a:r>
            <a:r>
              <a:rPr/>
              <a:t>?</a:t>
            </a:r>
          </a:p>
          <a:p>
            <a:pPr lvl="0"/>
            <a:r>
              <a:rPr/>
              <a:t>What variables could we record about the </a:t>
            </a:r>
            <a:r>
              <a:rPr b="1"/>
              <a:t>leaf</a:t>
            </a:r>
            <a:r>
              <a:rPr/>
              <a:t>?</a:t>
            </a:r>
          </a:p>
          <a:p>
            <a:pPr lvl="0" indent="0" marL="0">
              <a:buNone/>
            </a:pPr>
            <a:r>
              <a:rPr b="1"/>
              <a:t>Dependent variable (response):</a:t>
            </a:r>
          </a:p>
          <a:p>
            <a:pPr lvl="0"/>
            <a:r>
              <a:rPr/>
              <a:t>The thing we measure — it </a:t>
            </a:r>
            <a:r>
              <a:rPr i="1"/>
              <a:t>depends on</a:t>
            </a:r>
            <a:r>
              <a:rPr/>
              <a:t> our treatment</a:t>
            </a:r>
          </a:p>
          <a:p>
            <a:pPr lvl="0"/>
            <a:r>
              <a:rPr/>
              <a:t>Example: leaf mass, leaf area</a:t>
            </a:r>
          </a:p>
          <a:p>
            <a:pPr lvl="0" indent="0" marL="0">
              <a:buNone/>
            </a:pPr>
            <a:r>
              <a:rPr b="1"/>
              <a:t>Independent variable (explanatory):</a:t>
            </a:r>
          </a:p>
          <a:p>
            <a:pPr lvl="0"/>
            <a:r>
              <a:rPr/>
              <a:t>The thing we control or group by</a:t>
            </a:r>
          </a:p>
          <a:p>
            <a:pPr lvl="0"/>
            <a:r>
              <a:rPr/>
              <a:t>Example: side of tree (sunny vs. shady)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Dependent variable</a:t>
            </a:r>
            <a:r>
              <a:rPr sz="2000"/>
              <a:t> → what you measure (Y)</a:t>
            </a:r>
          </a:p>
          <a:p>
            <a:pPr lvl="0"/>
            <a:r>
              <a:rPr sz="2000" b="1"/>
              <a:t>Independent variable</a:t>
            </a:r>
            <a:r>
              <a:rPr sz="2000"/>
              <a:t> → what you control or group by (X)</a:t>
            </a:r>
          </a:p>
          <a:p>
            <a:pPr lvl="1"/>
            <a:r>
              <a:rPr sz="2000"/>
              <a:t>In a graph: Y goes on the vertical axis, X goes on the horizontal axis.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1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1 — “Measuring Leaves and Entering Data”</a:t>
            </a:r>
          </a:p>
          <a:p>
            <a:pPr lvl="0" indent="0" marL="0">
              <a:buNone/>
            </a:pPr>
            <a:r>
              <a:rPr/>
              <a:t>Close the slides. Open the </a:t>
            </a:r>
            <a:r>
              <a:rPr b="1"/>
              <a:t>Activity 1</a:t>
            </a:r>
            <a:r>
              <a:rPr/>
              <a:t> worksheet, form your field group, and head outside to the pine stand.</a:t>
            </a:r>
          </a:p>
          <a:p>
            <a:pPr lvl="0" indent="0" marL="0">
              <a:buNone/>
            </a:pPr>
            <a:r>
              <a:rPr/>
              <a:t>The worksheet walks you through everything from here: collecting leaves, deciding what to measure, building your spreadsheet, and sketching a first graph. Come back to these slides only if you want to re-check a definition.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Each group collects 3 sunny + 3 shady leaves per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Collect </a:t>
            </a:r>
            <a:r>
              <a:rPr b="1"/>
              <a:t>3 mature leaves from the sunny side</a:t>
            </a:r>
            <a:r>
              <a:rPr/>
              <a:t> and </a:t>
            </a:r>
            <a:r>
              <a:rPr b="1"/>
              <a:t>3 from the shady side</a:t>
            </a:r>
            <a:r>
              <a:rPr/>
              <a:t> of the same tree</a:t>
            </a:r>
          </a:p>
          <a:p>
            <a:pPr lvl="0"/>
            <a:r>
              <a:rPr/>
              <a:t>Do this on </a:t>
            </a:r>
            <a:r>
              <a:rPr b="1"/>
              <a:t>at least 1 tree per group</a:t>
            </a:r>
            <a:r>
              <a:rPr/>
              <a:t> (more trees if time allows — we share trees since we are limited)</a:t>
            </a:r>
          </a:p>
          <a:p>
            <a:pPr lvl="0"/>
            <a:r>
              <a:rPr/>
              <a:t>Standardize your collection: </a:t>
            </a:r>
            <a:r>
              <a:rPr b="1"/>
              <a:t>(DISCUSS AND FIGURE IT OUT BY YOURSELVES)</a:t>
            </a:r>
          </a:p>
          <a:p>
            <a:pPr lvl="1"/>
            <a:r>
              <a:rPr/>
              <a:t>How high do we collect from?</a:t>
            </a:r>
          </a:p>
          <a:p>
            <a:pPr lvl="1"/>
            <a:r>
              <a:rPr/>
              <a:t>What does “mature” mean?</a:t>
            </a:r>
          </a:p>
          <a:p>
            <a:pPr lvl="1"/>
            <a:r>
              <a:rPr/>
              <a:t>What will we measure with — </a:t>
            </a:r>
            <a:r>
              <a:rPr b="1"/>
              <a:t>calipers or a ruler</a:t>
            </a:r>
            <a:r>
              <a:rPr/>
              <a:t>?</a:t>
            </a:r>
          </a:p>
          <a:p>
            <a:pPr lvl="1"/>
            <a:r>
              <a:rPr/>
              <a:t>Any other decisions to standardize?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everyone collects differently (different heights, different leaf ages), we cannot combine our data.</a:t>
            </a:r>
          </a:p>
          <a:p>
            <a:pPr lvl="0" indent="0" marL="1270000">
              <a:buNone/>
            </a:pPr>
            <a:r>
              <a:rPr sz="2000" b="1"/>
              <a:t>Agree on the rules or methods before collecting…..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Back in the lab · Before we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can we measure?</a:t>
            </a:r>
          </a:p>
          <a:p>
            <a:pPr lvl="1"/>
            <a:r>
              <a:rPr/>
              <a:t>mass (grams)</a:t>
            </a:r>
          </a:p>
          <a:p>
            <a:pPr lvl="1"/>
            <a:r>
              <a:rPr/>
              <a:t>length (mm or cm)</a:t>
            </a:r>
          </a:p>
          <a:p>
            <a:pPr lvl="1"/>
            <a:r>
              <a:rPr/>
              <a:t>width (mm or cm)</a:t>
            </a:r>
          </a:p>
          <a:p>
            <a:pPr lvl="1"/>
            <a:r>
              <a:rPr/>
              <a:t>surface area (cm²) — how?</a:t>
            </a:r>
          </a:p>
          <a:p>
            <a:pPr lvl="1"/>
            <a:r>
              <a:rPr/>
              <a:t>others?</a:t>
            </a:r>
          </a:p>
          <a:p>
            <a:pPr lvl="0"/>
            <a:r>
              <a:rPr b="1"/>
              <a:t>Decisions to make as a group:</a:t>
            </a:r>
          </a:p>
          <a:p>
            <a:pPr lvl="1"/>
            <a:r>
              <a:rPr/>
              <a:t>What units?</a:t>
            </a:r>
          </a:p>
          <a:p>
            <a:pPr lvl="1"/>
            <a:r>
              <a:rPr/>
              <a:t>What abbreviations or vocabulary for the variables?</a:t>
            </a:r>
          </a:p>
          <a:p>
            <a:pPr lvl="1"/>
            <a:r>
              <a:rPr/>
              <a:t>What if a leaf is damaged?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vocabulary</a:t>
            </a:r>
          </a:p>
          <a:p>
            <a:pPr lvl="0"/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data.</a:t>
            </a:r>
          </a:p>
          <a:p>
            <a:pPr lvl="0"/>
            <a:r>
              <a:rPr sz="2000"/>
              <a:t>Who collected it? When? Where? With what instrument? Under what conditions?</a:t>
            </a:r>
          </a:p>
          <a:p>
            <a:pPr lvl="0"/>
            <a:r>
              <a:rPr sz="2000"/>
              <a:t>Without metadata, data are nearly useless to anyone else — including future you.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Back in the lab · Setting up the spreadsheet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you enter this into the Excel sheet?</a:t>
            </a:r>
          </a:p>
          <a:p>
            <a:pPr lvl="1"/>
            <a:r>
              <a:rPr/>
              <a:t>What does the sheet look like? Mock something up</a:t>
            </a:r>
          </a:p>
          <a:p>
            <a:pPr lvl="0"/>
            <a:r>
              <a:rPr/>
              <a:t>What are the </a:t>
            </a:r>
            <a:r>
              <a:rPr b="1"/>
              <a:t>column names</a:t>
            </a:r>
            <a:r>
              <a:rPr/>
              <a:t> you will use?</a:t>
            </a:r>
          </a:p>
          <a:p>
            <a:pPr lvl="0"/>
            <a:r>
              <a:rPr/>
              <a:t>What are the </a:t>
            </a:r>
            <a:r>
              <a:rPr b="1"/>
              <a:t>units</a:t>
            </a:r>
            <a:r>
              <a:rPr/>
              <a:t> for each column?</a:t>
            </a:r>
          </a:p>
          <a:p>
            <a:pPr lvl="0"/>
            <a:r>
              <a:rPr/>
              <a:t>What is the </a:t>
            </a:r>
            <a:r>
              <a:rPr b="1"/>
              <a:t>vocabulary</a:t>
            </a:r>
            <a:r>
              <a:rPr/>
              <a:t>? (no spaces in column names, use </a:t>
            </a:r>
            <a:r>
              <a:rPr>
                <a:latin typeface="Courier"/>
              </a:rPr>
              <a:t>_</a:t>
            </a:r>
            <a:r>
              <a:rPr/>
              <a:t> instead)</a:t>
            </a:r>
          </a:p>
          <a:p>
            <a:pPr lvl="0"/>
            <a:r>
              <a:rPr/>
              <a:t>Where does the </a:t>
            </a:r>
            <a:r>
              <a:rPr b="1"/>
              <a:t>metadata</a:t>
            </a:r>
            <a:r>
              <a:rPr/>
              <a:t> go?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 for column names: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leaf_mass_g</a:t>
            </a:r>
            <a:r>
              <a:rPr sz="2000"/>
              <a:t>, not </a:t>
            </a:r>
            <a:r>
              <a:rPr sz="2000">
                <a:latin typeface="Courier"/>
              </a:rPr>
              <a:t>Leaf Mass (g) - why???</a:t>
            </a:r>
          </a:p>
          <a:p>
            <a:pPr lvl="0" indent="0" marL="1270000">
              <a:buNone/>
            </a:pPr>
            <a:r>
              <a:rPr sz="2000"/>
              <a:t>Consistent, no spaces, no special characters, units in the name and all lower case - why?????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 you make a graph in Excel?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what you collected, make a simple Excel chart</a:t>
            </a:r>
          </a:p>
          <a:p>
            <a:pPr lvl="1"/>
            <a:r>
              <a:rPr/>
              <a:t>What would the graph look like?</a:t>
            </a:r>
          </a:p>
          <a:p>
            <a:pPr lvl="1"/>
            <a:r>
              <a:rPr/>
              <a:t>What goes on the X axis? The Y axis?</a:t>
            </a:r>
          </a:p>
          <a:p>
            <a:pPr lvl="1"/>
            <a:r>
              <a:rPr/>
              <a:t>What can you derive from the data already?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Excel is great for a first look. But as datasets grow larger and analyses more complex, we need another approach - 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R code looks like · A preview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 not need to understand this yet — just look at the shape of it.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tools we need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our leaf data into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"data/tree_experiment.xlsx"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the mean weight for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Make a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It reads almost like English: </a:t>
            </a:r>
            <a:r>
              <a:rPr sz="2000" i="1"/>
              <a:t>take tree_df, then group by side, then compute the mean</a:t>
            </a:r>
            <a:r>
              <a:rPr sz="2000"/>
              <a:t>. That is the goal — code that tells a clear story.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Thursday · Install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Downloading R and Positron: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R</a:t>
            </a:r>
            <a:r>
              <a:rPr/>
              <a:t>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/>
              <a:t>Installs to your computer — can you find it?</a:t>
            </a:r>
          </a:p>
          <a:p>
            <a:pPr lvl="0" indent="-342900" marL="342900">
              <a:buAutoNum type="arabicPeriod"/>
            </a:pPr>
            <a:r>
              <a:rPr/>
              <a:t>Download </a:t>
            </a:r>
            <a:r>
              <a:rPr b="1"/>
              <a:t>Positron</a:t>
            </a:r>
            <a:r>
              <a:rPr/>
              <a:t>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/>
              <a:t>Install </a:t>
            </a:r>
            <a:r>
              <a:rPr b="1"/>
              <a:t>R first</a:t>
            </a:r>
            <a:r>
              <a:rPr/>
              <a:t>, then Positron — Positron needs to find R on your machine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Install R first, then Positron. If you install Positron first, it may not find R automatically.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Suggested reading before Lecture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Whitlock &amp; Schluter</a:t>
            </a:r>
            <a:r>
              <a:rPr/>
              <a:t>, Ch. 1 — </a:t>
            </a:r>
            <a:r>
              <a:rPr i="1"/>
              <a:t>Statistics and Samples</a:t>
            </a:r>
          </a:p>
          <a:p>
            <a:pPr lvl="1"/>
            <a:r>
              <a:rPr/>
              <a:t>Read the whole chapter — it is short and covers everything we discussed today: forming a question, samples vs. populations, and why we replicate and randomize</a:t>
            </a:r>
          </a:p>
          <a:p>
            <a:pPr lvl="0"/>
            <a:r>
              <a:rPr b="1"/>
              <a:t>R for Data Science (2e)</a:t>
            </a:r>
            <a:r>
              <a:rPr/>
              <a:t>, Ch. 1 — </a:t>
            </a:r>
            <a:r>
              <a:rPr i="1"/>
              <a:t>Data Visualization</a:t>
            </a:r>
            <a:r>
              <a:rPr/>
              <a:t> (skim only)</a:t>
            </a:r>
          </a:p>
          <a:p>
            <a:pPr lvl="1"/>
            <a:r>
              <a:rPr/>
              <a:t>You do not need to run any code yet. Just look at the pictures and read the first few pages — it previews what we build in Lecture 2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Both PDFs are in the course </a:t>
            </a:r>
            <a:r>
              <a:rPr sz="2000">
                <a:latin typeface="Courier"/>
              </a:rPr>
              <a:t>readings/</a:t>
            </a:r>
            <a:r>
              <a:rPr sz="2000"/>
              <a:t> folder. Neither reading requires you to write anything — just read and come with questions.</a:t>
            </a:r>
          </a:p>
          <a:p>
            <a:pPr lvl="0" indent="0" marL="0">
              <a:buNone/>
            </a:pPr>
            <a:r>
              <a:rPr i="1"/>
              <a:t>See you Thursday — bring your laptop and the leaf data you entered in Excel.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01 — Introduction</dc:title>
  <dc:creator>Bill Perry</dc:creator>
  <cp:keywords/>
  <dc:description>Course logistics and syllabus overview, why we use R alongside Excel, and a first look at what a data science workflow looks like.</dc:description>
  <dcterms:created xsi:type="dcterms:W3CDTF">2026-10-08T20:17:29Z</dcterms:created>
  <dcterms:modified xsi:type="dcterms:W3CDTF">2026-10-08T20:17:29Z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</vt:lpwstr>
  </property>
  <property fmtid="{D5CDD505-2E9C-101B-9397-08002B2CF9AE}" pid="13" name="resources">
    <vt:lpwstr/>
  </property>
  <property fmtid="{D5CDD505-2E9C-101B-9397-08002B2CF9AE}" pid="14" name="subtitle">
    <vt:lpwstr>Our question, our data, and a first look at what we will do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</vt:lpwstr>
  </property>
</Properties>
</file>