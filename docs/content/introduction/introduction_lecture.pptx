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673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Exterior photo of the Swenson Science Building, with the instructor’s office entrance and lab location highlighted in red.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report.</a:t>
            </a:r>
          </a:p>
          <a:p>
            <a:pPr lvl="0" indent="0" marL="1270000">
              <a:buNone/>
            </a:pPr>
            <a:r>
              <a:rPr sz="2000"/>
              <a:t>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 — </a:t>
            </a:r>
            <a:r>
              <a:rPr sz="2000" i="1"/>
              <a:t>Statistics and Samples</a:t>
            </a:r>
            <a:r>
              <a:rPr sz="2000"/>
              <a:t>. Covers how biologists turn a question about nature into something we can measure and test — the same path we take today with leaves.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 — Yes or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1, section on samples and populations — why we sample instead of measuring every leaf on every tree, and what makes a sample representative.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</a:p>
          <a:p>
            <a:pPr lvl="0"/>
            <a:r>
              <a:rPr/>
              <a:t>The thing we measure — it </a:t>
            </a:r>
            <a:r>
              <a:rPr i="1"/>
              <a:t>depends on</a:t>
            </a:r>
            <a:r>
              <a:rPr/>
              <a:t> our treatment</a:t>
            </a:r>
          </a:p>
          <a:p>
            <a:pPr lvl="0"/>
            <a:r>
              <a:rPr/>
              <a:t>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</a:p>
          <a:p>
            <a:pPr lvl="0"/>
            <a:r>
              <a:rPr/>
              <a:t>The thing we control or group by</a:t>
            </a:r>
          </a:p>
          <a:p>
            <a:pPr lvl="0"/>
            <a:r>
              <a:rPr/>
              <a:t>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 — “Measuring Leaves and Entering Data”</a:t>
            </a:r>
          </a:p>
          <a:p>
            <a:pPr lvl="0" indent="0" marL="0">
              <a:buNone/>
            </a:pPr>
            <a:r>
              <a:rPr/>
              <a:t>Close the slides. Open the </a:t>
            </a:r>
            <a:r>
              <a:rPr b="1"/>
              <a:t>Activity 1</a:t>
            </a:r>
            <a:r>
              <a:rPr/>
              <a:t> worksheet, form your field group, and head outside to the pine stand.</a:t>
            </a:r>
          </a:p>
          <a:p>
            <a:pPr lvl="0" indent="0" marL="0">
              <a:buNone/>
            </a:pPr>
            <a:r>
              <a:rPr/>
              <a:t>The worksheet walks you through everything from here: collecting leaves, deciding what to measure, building your spreadsheet, and sketching a first graph. Come back to these slides only if you want to re-check a definition.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collects 3 sunny + 3 shady leaves per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3 mature leaves from the sunny side</a:t>
            </a:r>
            <a:r>
              <a:rPr/>
              <a:t> and </a:t>
            </a:r>
            <a:r>
              <a:rPr b="1"/>
              <a:t>3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1 tree per group</a:t>
            </a:r>
            <a:r>
              <a:rPr/>
              <a:t> (more trees if time allows — 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What will we measure with — </a:t>
            </a:r>
            <a:r>
              <a:rPr b="1"/>
              <a:t>calipers or a ruler</a:t>
            </a:r>
            <a:r>
              <a:rPr/>
              <a:t>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Suggested reading before Lecture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Whitlock &amp; Schluter</a:t>
            </a:r>
            <a:r>
              <a:rPr/>
              <a:t>, Ch. 1 — </a:t>
            </a:r>
            <a:r>
              <a:rPr i="1"/>
              <a:t>Statistics and Samples</a:t>
            </a:r>
          </a:p>
          <a:p>
            <a:pPr lvl="1"/>
            <a:r>
              <a:rPr/>
              <a:t>Read the whole chapter — it is short and covers everything we discussed today: forming a question, samples vs. populations, and why we replicate and randomize</a:t>
            </a:r>
          </a:p>
          <a:p>
            <a:pPr lvl="0"/>
            <a:r>
              <a:rPr b="1"/>
              <a:t>R for Data Science (2e)</a:t>
            </a:r>
            <a:r>
              <a:rPr/>
              <a:t>, Ch. 1 — </a:t>
            </a:r>
            <a:r>
              <a:rPr i="1"/>
              <a:t>Data Visualization</a:t>
            </a:r>
            <a:r>
              <a:rPr/>
              <a:t> (skim only)</a:t>
            </a:r>
          </a:p>
          <a:p>
            <a:pPr lvl="1"/>
            <a:r>
              <a:rPr/>
              <a:t>You do not need to run any code yet. Just look at the pictures and read the first few pages — it previews what we build in Lecture 2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Both PDFs are in the course </a:t>
            </a:r>
            <a:r>
              <a:rPr sz="2000">
                <a:latin typeface="Courier"/>
              </a:rPr>
              <a:t>readings/</a:t>
            </a:r>
            <a:r>
              <a:rPr sz="2000"/>
              <a:t> folder. Neither reading requires you to write anything — just read and come with questions.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2026-09-24T01:37:33Z</dcterms:created>
  <dcterms:modified xsi:type="dcterms:W3CDTF">2026-09-24T01:37:33Z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Our question, our data, and a first look at what we will do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