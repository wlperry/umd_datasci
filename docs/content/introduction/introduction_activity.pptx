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1 — Measuring Leaves and Entering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Field observations, hypotheses, and organizing data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How to use this worksheet:</a:t>
            </a:r>
            <a:r>
              <a:rPr sz="2000"/>
              <a:t> This is a field + discussion worksheet — no coding today. Work in your assigned group. Fill in every blank before you leave lab; you will need these answers again in Lecture 2 and in Homework 1.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Ask a testable question and turn it into a null and alternate hypothesis</a:t>
            </a:r>
          </a:p>
          <a:p>
            <a:pPr lvl="0"/>
            <a:r>
              <a:rPr/>
              <a:t>Identify dependent and independent variables</a:t>
            </a:r>
          </a:p>
          <a:p>
            <a:pPr lvl="0"/>
            <a:r>
              <a:rPr/>
              <a:t>Decide, as a class, how to standardize a field measurement</a:t>
            </a:r>
          </a:p>
          <a:p>
            <a:pPr lvl="0"/>
            <a:r>
              <a:rPr/>
              <a:t>Design a spreadsheet — column names, units, and metadata — </a:t>
            </a:r>
            <a:r>
              <a:rPr i="1"/>
              <a:t>before</a:t>
            </a:r>
            <a:r>
              <a:rPr/>
              <a:t> you collect data</a:t>
            </a:r>
          </a:p>
          <a:p>
            <a:pPr lvl="0"/>
            <a:r>
              <a:rPr/>
              <a:t>Make a first, quick look at the data in Excel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Build the question (do this before you go outside)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observation: trees growing in shady or crowded conditions sometimes seem to have larger leaves, as if the leaf is compensating for lower light.</a:t>
            </a:r>
          </a:p>
          <a:p>
            <a:pPr lvl="0" indent="0" marL="0">
              <a:buNone/>
            </a:pPr>
            <a:r>
              <a:rPr b="1"/>
              <a:t>Your question: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 indent="0" marL="0">
              <a:buNone/>
            </a:pPr>
            <a:r>
              <a:rPr b="1"/>
              <a:t>Your prediction</a:t>
            </a:r>
            <a:r>
              <a:rPr/>
              <a:t> (what do you think will happen, and why?):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 indent="0" marL="0">
              <a:buNone/>
            </a:pPr>
            <a:r>
              <a:rPr b="1"/>
              <a:t>Null hypothesis (H₀)</a:t>
            </a:r>
            <a:r>
              <a:rPr/>
              <a:t> — the “no difference” statement: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 indent="0" marL="0">
              <a:buNone/>
            </a:pPr>
            <a:r>
              <a:rPr b="1"/>
              <a:t>Alternate hypothesis (Hₐ)</a:t>
            </a:r>
            <a:r>
              <a:rPr/>
              <a:t> — the statement we think might be true: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 indent="0" marL="0">
              <a:buNone/>
            </a:pPr>
            <a:r>
              <a:rPr b="1"/>
              <a:t>Dependent variable(s)</a:t>
            </a:r>
            <a:r>
              <a:rPr/>
              <a:t> (what you will measure):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 indent="0" marL="0">
              <a:buNone/>
            </a:pPr>
            <a:r>
              <a:rPr b="1"/>
              <a:t>Independent variable</a:t>
            </a:r>
            <a:r>
              <a:rPr/>
              <a:t> (what you are comparing/grouping by):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Check with your group before moving on</a:t>
            </a:r>
          </a:p>
          <a:p>
            <a:pPr lvl="0" indent="0" marL="1270000">
              <a:buNone/>
            </a:pPr>
            <a:r>
              <a:rPr sz="2000"/>
              <a:t>If two group members wrote different hypotheses, talk it through — you need to agree as a group before you collect data.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Design the sampling (decide as a class)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Answer these as a class discussion, then write down the class’s decision — you must all follow the same protocol or the data cannot be combined.</a:t>
            </a:r>
          </a:p>
          <a:p>
            <a:pPr lvl="0"/>
            <a:r>
              <a:rPr/>
              <a:t>How many trees will each group sample? </a:t>
            </a:r>
            <a:r>
              <a:rPr b="1">
                <a:latin typeface="Courier"/>
              </a:rPr>
              <a:t>____</a:t>
            </a:r>
          </a:p>
          <a:p>
            <a:pPr lvl="0"/>
            <a:r>
              <a:rPr/>
              <a:t>How many leaves per side, per tree? </a:t>
            </a:r>
            <a:r>
              <a:rPr b="1">
                <a:latin typeface="Courier"/>
              </a:rPr>
              <a:t>____</a:t>
            </a:r>
          </a:p>
          <a:p>
            <a:pPr lvl="0"/>
            <a:r>
              <a:rPr/>
              <a:t>What counts as “sunny side” vs. “shady side”? Write the rule the class agreed on: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/>
            <a:r>
              <a:rPr/>
              <a:t>What counts as a “mature” leaf (not a bud, not damaged)?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/>
            <a:r>
              <a:rPr/>
              <a:t>What height on the tree will you sample from, and why does that matter?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/>
            <a:r>
              <a:rPr/>
              <a:t>Any other rule your class agreed on to keep everyone’s measurements comparable: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Go outside — collect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Head to the field site with your group</a:t>
            </a:r>
          </a:p>
          <a:p>
            <a:pPr lvl="0"/>
            <a:r>
              <a:rPr/>
              <a:t>Collect </a:t>
            </a:r>
            <a:r>
              <a:rPr b="1"/>
              <a:t>3 mature leaves from the sunny side and 3 from the shady side</a:t>
            </a:r>
            <a:r>
              <a:rPr/>
              <a:t> of each tree, on at least 1 tree per group, following the class protocol above</a:t>
            </a:r>
          </a:p>
          <a:p>
            <a:pPr lvl="0"/>
            <a:r>
              <a:rPr/>
              <a:t>For each leaf, </a:t>
            </a:r>
            <a:r>
              <a:rPr b="1"/>
              <a:t>trace its outline onto a sheet of white copier paper</a:t>
            </a:r>
            <a:r>
              <a:rPr/>
              <a:t> and label the tracing with the tree ID and side (sunny/shady) — we will use these tracings later (weight of paper predicts leaf area)</a:t>
            </a:r>
          </a:p>
          <a:p>
            <a:pPr lvl="0"/>
            <a:r>
              <a:rPr/>
              <a:t>Bring everything back to lab: leaves, tracings, and your field notes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Label every tracing </a:t>
            </a:r>
            <a:r>
              <a:rPr sz="2000" i="1"/>
              <a:t>immediately</a:t>
            </a:r>
            <a:r>
              <a:rPr sz="2000"/>
              <a:t> — a pile of unlabeled leaf outlines is useless data. Write the tree ID and side on the paper before you trace the next leaf.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Back in the lab — decide what and how to measure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a group, decide:</a:t>
            </a:r>
          </a:p>
          <a:p>
            <a:pPr lvl="0"/>
            <a:r>
              <a:rPr/>
              <a:t>What will you measure on each leaf? (mass, length, width, area from the tracing, …) List them: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/>
            <a:r>
              <a:rPr/>
              <a:t>What tool and units for each? (calipers or a ruler → mm, balance → g, …)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/>
            <a:r>
              <a:rPr/>
              <a:t>What will you do if a leaf is torn, chewed, or otherwise damaged?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 indent="0" marL="0">
              <a:buNone/>
            </a:pPr>
            <a:r>
              <a:rPr/>
              <a:t>Now measure your leaves and record the raw numbers here (or directly into your spreadsheet if you are ready):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500"/>
                <a:gridCol w="1460500"/>
                <a:gridCol w="1460500"/>
                <a:gridCol w="1460500"/>
                <a:gridCol w="1460500"/>
                <a:gridCol w="1460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 (sunny/shady)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Measurement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Measurement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Measurement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Build the spreadsheet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Excel and set up your data sheet. Decide as a group:</a:t>
            </a:r>
          </a:p>
          <a:p>
            <a:pPr lvl="0"/>
            <a:r>
              <a:rPr b="1"/>
              <a:t>Column names</a:t>
            </a:r>
            <a:r>
              <a:rPr/>
              <a:t> — no spaces, lowercase, units in the name (e.g. </a:t>
            </a:r>
            <a:r>
              <a:rPr>
                <a:latin typeface="Courier"/>
              </a:rPr>
              <a:t>leaf_mass_g</a:t>
            </a:r>
            <a:r>
              <a:rPr/>
              <a:t>, not </a:t>
            </a:r>
            <a:r>
              <a:rPr>
                <a:latin typeface="Courier"/>
              </a:rPr>
              <a:t>Leaf Mass (g)</a:t>
            </a:r>
            <a:r>
              <a:rPr/>
              <a:t>). Write your planned column names: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/>
            <a:r>
              <a:rPr b="1"/>
              <a:t>One row per what?</a:t>
            </a:r>
            <a:r>
              <a:rPr/>
              <a:t> (Hint: one row per </a:t>
            </a:r>
            <a:r>
              <a:rPr i="1"/>
              <a:t>observation</a:t>
            </a:r>
            <a:r>
              <a:rPr/>
              <a:t> — one leaf)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/>
            <a:r>
              <a:rPr b="1"/>
              <a:t>Where does the metadata go?</a:t>
            </a:r>
            <a:r>
              <a:rPr/>
              <a:t> Metadata = data </a:t>
            </a:r>
            <a:r>
              <a:rPr i="1"/>
              <a:t>about</a:t>
            </a:r>
            <a:r>
              <a:rPr/>
              <a:t> your data: who collected it, what date, what tree/site, what instrument. Decide where in the workbook this lives (a separate </a:t>
            </a:r>
            <a:r>
              <a:rPr>
                <a:latin typeface="Courier"/>
              </a:rPr>
              <a:t>metadata</a:t>
            </a:r>
            <a:r>
              <a:rPr/>
              <a:t> tab is common) and what it will record: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 indent="0" marL="0">
              <a:buNone/>
            </a:pPr>
            <a:r>
              <a:rPr/>
              <a:t>Enter your measurements into the spreadsheet using your agreed column names.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</a:t>
            </a:r>
          </a:p>
          <a:p>
            <a:pPr lvl="0" indent="0" marL="1270000">
              <a:buNone/>
            </a:pPr>
            <a:r>
              <a:rPr sz="2000"/>
              <a:t>Keep your </a:t>
            </a:r>
            <a:r>
              <a:rPr sz="2000" b="1"/>
              <a:t>raw</a:t>
            </a:r>
            <a:r>
              <a:rPr sz="2000"/>
              <a:t> entered data untouched in one tab. If you need to fix or recode something, do it in a copy — never overwrite the original numbers you measured.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A first look — make a quick Excel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Make a simple chart in Excel comparing sunny vs. shady leaves (any one measurement is fine for now)</a:t>
            </a:r>
          </a:p>
          <a:p>
            <a:pPr lvl="0"/>
            <a:r>
              <a:rPr/>
              <a:t>What did you put on the X axis? On the Y axis?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  <a:p>
            <a:pPr lvl="0"/>
            <a:r>
              <a:rPr/>
              <a:t>Based on this rough look, does your data seem to support Hₐ or H₀ so far?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_______________________________________________________________________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you leave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Every leaf tracing is labeled (tree ID + side)</a:t>
            </a:r>
          </a:p>
          <a:p>
            <a:pPr lvl="0"/>
            <a:r>
              <a:rPr/>
              <a:t>☐ Spreadsheet has clean column names, units, and a metadata tab</a:t>
            </a:r>
          </a:p>
          <a:p>
            <a:pPr lvl="0"/>
            <a:r>
              <a:rPr/>
              <a:t>☐ Your group’s hypotheses (Part 1) are written down and agreed on</a:t>
            </a:r>
          </a:p>
          <a:p>
            <a:pPr lvl="0"/>
            <a:r>
              <a:rPr/>
              <a:t>☐ </a:t>
            </a:r>
            <a:r>
              <a:rPr b="1"/>
              <a:t>Email your spreadsheet to the instructor before the next class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📚 Suggested reading before Lecture 2</a:t>
            </a:r>
          </a:p>
          <a:p>
            <a:pPr lvl="0" indent="0" marL="1270000">
              <a:buNone/>
            </a:pPr>
            <a:r>
              <a:rPr sz="2000"/>
              <a:t>Whitlock &amp; Schluter, Ch. 1 — </a:t>
            </a:r>
            <a:r>
              <a:rPr sz="2000" i="1"/>
              <a:t>Statistics and Samples</a:t>
            </a:r>
            <a:r>
              <a:rPr sz="2000"/>
              <a:t>. It covers exactly what we practiced today: turning an observation into a testable question, and why we sample instead of measuring every leaf that exists.</a:t>
            </a:r>
          </a:p>
          <a:p>
            <a:pPr lvl="0" indent="0" marL="0">
              <a:buNone/>
            </a:pPr>
            <a:r>
              <a:rPr i="1"/>
              <a:t>Next time: we bring this spreadsheet into R and build our first plot.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1 — Measuring Leaves and Entering Data</dc:title>
  <dc:creator>Bill Perry</dc:creator>
  <cp:keywords/>
  <dc:description>Head outside to collect leaf samples, practice inductive and deductive reasoning, formulate a testable hypothesis, and organize the resulting data for entry into a spreadsheet.</dc:description>
  <dcterms:created xsi:type="dcterms:W3CDTF">2026-08-27T17:12:02Z</dcterms:created>
  <dcterms:modified xsi:type="dcterms:W3CDTF">2026-08-27T17:12:02Z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</vt:lpwstr>
  </property>
  <property fmtid="{D5CDD505-2E9C-101B-9397-08002B2CF9AE}" pid="13" name="resources">
    <vt:lpwstr/>
  </property>
  <property fmtid="{D5CDD505-2E9C-101B-9397-08002B2CF9AE}" pid="14" name="subtitle">
    <vt:lpwstr>Field observations, hypotheses, and organizing data</vt:lpwstr>
  </property>
  <property fmtid="{D5CDD505-2E9C-101B-9397-08002B2CF9AE}" pid="15" name="toc-title">
    <vt:lpwstr>Table of contents</vt:lpwstr>
  </property>
  <property fmtid="{D5CDD505-2E9C-101B-9397-08002B2CF9AE}" pid="16" name="type">
    <vt:lpwstr>activity</vt:lpwstr>
  </property>
  <property fmtid="{D5CDD505-2E9C-101B-9397-08002B2CF9AE}" pid="17" name="week">
    <vt:lpwstr>1</vt:lpwstr>
  </property>
</Properties>
</file>