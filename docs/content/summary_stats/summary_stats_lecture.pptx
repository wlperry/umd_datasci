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#numeric-summaries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Centre, Spread, and Counting Correctly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mean, median, variance, SD, SE, and the </a:t>
            </a:r>
            <a:r>
              <a:rPr>
                <a:latin typeface="Courier"/>
              </a:rPr>
              <a:t>length()</a:t>
            </a:r>
            <a:r>
              <a:rPr/>
              <a:t> trap.</a:t>
            </a:r>
          </a:p>
          <a:p>
            <a:pPr lvl="0" indent="0" marL="0">
              <a:buNone/>
            </a:pPr>
            <a:r>
              <a:rPr b="1"/>
              <a:t>🛑 After this chunk: Activity Parts 1–3 (load, the NA problem, and base-R stats).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the Mean — filter() and pull()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filter() + pull() to extract one group's values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sunny_mass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sunny_mass </a:t>
            </a:r>
            <a:r>
              <a:rPr>
                <a:solidFill>
                  <a:srgbClr val="5E5E5E"/>
                </a:solidFill>
                <a:latin typeface="Courier"/>
              </a:rPr>
              <a:t># look at the raw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 [1] 0.4000 0.4800 0.3400 0.6500 0.2700 0.4300 0.7366 0.4263 0.5682 0.7600
[11] 0.5777 0.1933 0.7912 0.4990 0.6882 0.4162 0.6185 1.0842 0.6649 0.3571
[21] 0.3484 0.5107 0.2303 0.3041 0.2817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mean_sunny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mass:"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mass: 0.505 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>
                <a:latin typeface="Courier"/>
              </a:rPr>
              <a:t>pull(mass_g)</a:t>
            </a:r>
            <a:r>
              <a:rPr/>
              <a:t> — extracts that column as a </a:t>
            </a:r>
            <a:r>
              <a:rPr b="1"/>
              <a:t>vector</a:t>
            </a:r>
          </a:p>
          <a:p>
            <a:pPr lvl="0"/>
            <a:r>
              <a:rPr>
                <a:latin typeface="Courier"/>
              </a:rPr>
              <a:t>na.rm = TRUE</a:t>
            </a:r>
            <a:r>
              <a:rPr/>
              <a:t> — removes any </a:t>
            </a:r>
            <a:r>
              <a:rPr>
                <a:latin typeface="Courier"/>
              </a:rPr>
              <a:t>NA</a:t>
            </a:r>
            <a:r>
              <a:rPr/>
              <a:t> before computing</a:t>
            </a:r>
          </a:p>
          <a:p>
            <a:pPr lvl="0" indent="0" marL="0">
              <a:buNone/>
            </a:pPr>
            <a:r>
              <a:rPr b="1"/>
              <a:t>Key pattern: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→ picks </a:t>
            </a:r>
            <a:r>
              <a:rPr b="1"/>
              <a:t>rows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pull()</a:t>
            </a:r>
            <a:r>
              <a:rPr/>
              <a:t> → extracts a </a:t>
            </a:r>
            <a:r>
              <a:rPr b="1"/>
              <a:t>column</a:t>
            </a:r>
            <a:r>
              <a:rPr/>
              <a:t> as a vector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Median for each side 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shady_mass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med_sunny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med_shady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sunny: 0.48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shady: 0.521 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gives an </a:t>
                </a:r>
                <a:r>
                  <a:rPr b="1"/>
                  <a:t>unbiased</a:t>
                </a:r>
                <a:r>
                  <a:rPr/>
                  <a:t> estimate of population variance.</a:t>
                </a:r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Variance for each side 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var_sunny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var_shady &lt;-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(var_sunny,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sunny: 0.0442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"Variance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(var_shady,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Variance shady: 0.0219 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Variance is in </a:t>
            </a:r>
            <a:r>
              <a:rPr sz="2000" b="1"/>
              <a:t>squared units</a:t>
            </a:r>
            <a:r>
              <a:rPr sz="2000"/>
              <a:t> (g²) — hard to interpret. That is why we use SD.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§13.3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For a normal distribution: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68%</a:t>
                </a:r>
                <a:r>
                  <a:rPr/>
                  <a:t> of values fall within mean ± 1 SD</a:t>
                </a:r>
              </a:p>
              <a:p>
                <a:pPr lvl="1"/>
                <a:r>
                  <a:rPr/>
                  <a:t>~</a:t>
                </a:r>
                <a:r>
                  <a:rPr b="1"/>
                  <a:t>95%</a:t>
                </a:r>
                <a:r>
                  <a:rPr/>
                  <a:t> fall within mean ± 2 SD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Standard deviation for each side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sd_shady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sunny:"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sunny: 0.21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shady:"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shady: 0.148 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 = SD / sqrt(n) — need correct n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(shady_mass))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se_sunny &lt;- sd_sunny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se_shady &lt;- sd_shady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sunny  ="</a:t>
            </a:r>
            <a:r>
              <a:rPr>
                <a:solidFill>
                  <a:srgbClr val="003B4F"/>
                </a:solidFill>
                <a:latin typeface="Courier"/>
              </a:rPr>
              <a:t>, n_sunny,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sunny  = 25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sunny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sunny = 0.042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shady  ="</a:t>
            </a:r>
            <a:r>
              <a:rPr>
                <a:solidFill>
                  <a:srgbClr val="003B4F"/>
                </a:solidFill>
                <a:latin typeface="Courier"/>
              </a:rPr>
              <a:t>, n_shady,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shady  = 28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shady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shady = 0.028 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with </a:t>
            </a:r>
            <a:r>
              <a:rPr>
                <a:latin typeface="Courier"/>
              </a:rPr>
              <a:t>length()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how many NAs are there?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in SE gives the WRONG answer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n  ="</a:t>
            </a:r>
            <a:r>
              <a:rPr>
                <a:solidFill>
                  <a:srgbClr val="003B4F"/>
                </a:solidFill>
                <a:latin typeface="Courier"/>
              </a:rPr>
              <a:t>, wrong_n,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n  = 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"Wrong SE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Wrong SE = 0.931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in the vector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will not warn you!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/>
            <a:r>
              <a:rPr/>
              <a:t>Using n = 5 in SE = SD / √n when n should be 3 gives the wrong answer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Break it down step by step 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TRUE where NA, FALSE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FLIP: TRUE where real, FALSE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count the TRUEs = number of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to our real leaf data 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n_sun_check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"Non-missing sunny masses ="</a:t>
            </a:r>
            <a:r>
              <a:rPr>
                <a:solidFill>
                  <a:srgbClr val="003B4F"/>
                </a:solidFill>
                <a:latin typeface="Courier"/>
              </a:rPr>
              <a:t>, n_sun_check,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Non-missing sunny masses = 25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it: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counts </a:t>
            </a:r>
            <a:r>
              <a:rPr>
                <a:latin typeface="Courier"/>
              </a:rPr>
              <a:t>TRUE</a:t>
            </a:r>
            <a:r>
              <a:rPr/>
              <a:t>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 — Base R, One Group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All stats for the sunny side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(sunny_mass))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mean_s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med_s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sd_s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(sunny_mass,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 &lt;- sd_s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Sunny Leaves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Sunny Leaves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n_s,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     = 25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  = 0.505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Median = 0.48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    = 0.21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    = 0.042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 labelled output</a:t>
            </a:r>
          </a:p>
          <a:p>
            <a:pPr lvl="0"/>
            <a:r>
              <a:rPr/>
              <a:t>This is </a:t>
            </a:r>
            <a:r>
              <a:rPr b="1"/>
              <a:t>clear</a:t>
            </a:r>
            <a:r>
              <a:rPr/>
              <a:t> but repetitive for many groups → that is why we use </a:t>
            </a:r>
            <a:r>
              <a:rPr>
                <a:latin typeface="Courier"/>
              </a:rPr>
              <a:t>group_by()</a:t>
            </a:r>
            <a:r>
              <a:rPr/>
              <a:t> next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work the NA problem, and compute mean / median / spread in base R. Predict each output, type it, then run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Tidy Stats at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summarizing many columns at once with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</a:t>
            </a:r>
            <a:r>
              <a:rPr sz="2000">
                <a:latin typeface="Courier"/>
              </a:rPr>
              <a:t>stats_df</a:t>
            </a:r>
            <a:r>
              <a:rPr sz="2000"/>
              <a:t> have?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all stats for both sides at once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(sd_mass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   n mean_mass med_mass sd_mass se_mass
  &lt;chr&gt; &lt;int&gt;     &lt;dbl&gt;    &lt;dbl&gt;   &lt;dbl&gt;   &lt;dbl&gt;
1 shady    28     0.523    0.521   0.148   0.028
2 sunny    25     0.505    0.48    0.21    0.042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—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— collapses each group to one row of stats</a:t>
            </a:r>
          </a:p>
          <a:p>
            <a:pPr lvl="0"/>
            <a:r>
              <a:rPr/>
              <a:t>You get </a:t>
            </a:r>
            <a:r>
              <a:rPr b="1"/>
              <a:t>both groups in one clean table</a:t>
            </a:r>
          </a:p>
          <a:p>
            <a:pPr lvl="0"/>
            <a:r>
              <a:rPr/>
              <a:t>You can reference a column just created (</a:t>
            </a:r>
            <a:r>
              <a:rPr>
                <a:latin typeface="Courier"/>
              </a:rPr>
              <a:t>sd_mass</a:t>
            </a:r>
            <a:r>
              <a:rPr/>
              <a:t> → </a:t>
            </a:r>
            <a:r>
              <a:rPr>
                <a:latin typeface="Courier"/>
              </a:rPr>
              <a:t>se_mass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group_by() pipe summarizes all measurements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mean_thick mean_pet
  &lt;chr&gt; &lt;int&gt;     &lt;dbl&gt;      &lt;dbl&gt;    &lt;dbl&gt;
1 shady    28     0.523      0.356     56.7
2 sunny    25     0.505      0.29      54.4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With one </a:t>
            </a:r>
            <a:r>
              <a:rPr b="1">
                <a:latin typeface="Courier"/>
              </a:rPr>
              <a:t>group_by()</a:t>
            </a:r>
            <a:r>
              <a:rPr b="1"/>
              <a:t> pipe</a:t>
            </a:r>
            <a:r>
              <a:rPr/>
              <a:t> you summarize </a:t>
            </a:r>
            <a:r>
              <a:rPr b="1"/>
              <a:t>all three measurements</a:t>
            </a:r>
            <a:r>
              <a:rPr/>
              <a:t> across both sides.</a:t>
            </a:r>
          </a:p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full column summaries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4351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368800"/>
                <a:gridCol w="4368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Piped 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254500"/>
            <a:ext cx="8750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800"/>
                <a:gridCol w="673100"/>
                <a:gridCol w="1117600"/>
                <a:gridCol w="1574800"/>
                <a:gridCol w="444500"/>
                <a:gridCol w="444500"/>
                <a:gridCol w="673100"/>
                <a:gridCol w="1016000"/>
                <a:gridCol w="1231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twig_id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twig_id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leaf_id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teams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571500"/>
                <a:gridCol w="952500"/>
                <a:gridCol w="1333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  <a:gridCol w="571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▇▅▃▁▁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▇▇▆▃▁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petiole_mm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56.66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50.28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58.69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66.85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91.00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▁▁▅▇▂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petiole_mm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44.85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49.00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▆▇▂▃▅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thickness_mm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▇▆▃▇▂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thickness_mm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▇▂▃▁▂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shady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▁▇▃▂▃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0.34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▂▇▃▅▅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column and per group: </a:t>
            </a:r>
            <a:r>
              <a:rPr>
                <a:latin typeface="Courier"/>
              </a:rPr>
              <a:t>n_missing</a:t>
            </a:r>
            <a:r>
              <a:rPr/>
              <a:t>, 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sd</a:t>
            </a:r>
            <a:r>
              <a:rPr/>
              <a:t>, percentiles (</a:t>
            </a:r>
            <a:r>
              <a:rPr>
                <a:latin typeface="Courier"/>
              </a:rPr>
              <a:t>p0</a:t>
            </a:r>
            <a:r>
              <a:rPr/>
              <a:t> to </a:t>
            </a:r>
            <a:r>
              <a:rPr>
                <a:latin typeface="Courier"/>
              </a:rPr>
              <a:t>p100</a:t>
            </a:r>
            <a:r>
              <a:rPr/>
              <a:t>), and a mini histogram.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your fastest </a:t>
            </a:r>
            <a:r>
              <a:rPr sz="2000" b="1"/>
              <a:t>first look</a:t>
            </a:r>
            <a:r>
              <a:rPr sz="2000"/>
              <a:t> at any dataset. Pair it with </a:t>
            </a:r>
            <a:r>
              <a:rPr sz="2000">
                <a:latin typeface="Courier"/>
              </a:rPr>
              <a:t>group_by()</a:t>
            </a:r>
            <a:r>
              <a:rPr sz="2000"/>
              <a:t> to compare groups instantly.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4–6: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</a:t>
            </a:r>
            <a:r>
              <a:rPr>
                <a:latin typeface="Courier"/>
              </a:rPr>
              <a:t>across()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  <a:r>
              <a:rPr/>
              <a:t>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Statistics concepts:</a:t>
            </a:r>
          </a:p>
          <a:p>
            <a:pPr lvl="1"/>
            <a:r>
              <a:rPr b="1"/>
              <a:t>Mean</a:t>
            </a:r>
            <a:r>
              <a:rPr/>
              <a:t> — balance point; sensitive to outliers</a:t>
            </a:r>
          </a:p>
          <a:p>
            <a:pPr lvl="1"/>
            <a:r>
              <a:rPr b="1"/>
              <a:t>Median</a:t>
            </a:r>
            <a:r>
              <a:rPr/>
              <a:t> — middle value; robust</a:t>
            </a:r>
          </a:p>
          <a:p>
            <a:pPr lvl="1"/>
            <a:r>
              <a:rPr b="1"/>
              <a:t>Variance / SD</a:t>
            </a:r>
            <a:r>
              <a:rPr/>
              <a:t> — spread of individual data</a:t>
            </a:r>
          </a:p>
          <a:p>
            <a:pPr lvl="1"/>
            <a:r>
              <a:rPr b="1"/>
              <a:t>SE</a:t>
            </a:r>
            <a:r>
              <a:rPr/>
              <a:t> — precision of the sample mean</a:t>
            </a:r>
          </a:p>
          <a:p>
            <a:pPr lvl="0"/>
            <a:r>
              <a:rPr b="1"/>
              <a:t>R skills:</a:t>
            </a:r>
          </a:p>
          <a:p>
            <a:pPr lvl="1"/>
            <a:r>
              <a:rPr>
                <a:latin typeface="Courier"/>
              </a:rPr>
              <a:t>sum(!is.na())</a:t>
            </a:r>
            <a:r>
              <a:rPr/>
              <a:t> — the right way to count </a:t>
            </a:r>
            <a:r>
              <a:rPr i="1"/>
              <a:t>n</a:t>
            </a:r>
          </a:p>
          <a:p>
            <a:pPr lvl="1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— all stats for all groups at once</a:t>
            </a:r>
          </a:p>
          <a:p>
            <a:pPr lvl="1"/>
            <a:r>
              <a:rPr>
                <a:latin typeface="Courier"/>
              </a:rPr>
              <a:t>across()</a:t>
            </a:r>
            <a:r>
              <a:rPr/>
              <a:t> — one function, many columns</a:t>
            </a:r>
          </a:p>
          <a:p>
            <a:pPr lvl="1"/>
            <a:r>
              <a:rPr>
                <a:latin typeface="Courier"/>
              </a:rPr>
              <a:t>skim()</a:t>
            </a:r>
            <a:r>
              <a:rPr/>
              <a:t> — instant full dataset overview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 by hand; counting correctly with NAs; group_by() + summarize(), across(), and skimr for describing our leaf data.</dc:description>
  <dcterms:created xsi:type="dcterms:W3CDTF">2026-09-08T18:27:40Z</dcterms:created>
  <dcterms:modified xsi:type="dcterms:W3CDTF">2026-09-08T18:27:40Z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