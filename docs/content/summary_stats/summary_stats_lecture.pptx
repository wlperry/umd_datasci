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scripts/06_summary_stats_skeleton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themes/summary_stats_function.R" TargetMode="External" /><Relationship Id="rId3" Type="http://schemas.openxmlformats.org/officeDocument/2006/relationships/hyperlink" Target="themes/r_themes_for_3_sizes.R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leaf_df</a:t>
            </a:r>
            <a:r>
              <a:rPr/>
              <a:t> — 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📂 Activity skeleton:</a:t>
            </a:r>
            <a:r>
              <a:rPr sz="2000"/>
              <a:t> </a:t>
            </a:r>
            <a:r>
              <a:rPr sz="2000">
                <a:hlinkClick r:id="rId2"/>
                <a:latin typeface="Courier"/>
              </a:rPr>
              <a:t>06_summary_stats_skeleton.R</a:t>
            </a:r>
            <a:r>
              <a:rPr sz="2000"/>
              <a:t> has this loading step, plus both </a:t>
            </a:r>
            <a:r>
              <a:rPr sz="2000">
                <a:latin typeface="Courier"/>
              </a:rPr>
              <a:t>source()</a:t>
            </a:r>
            <a:r>
              <a:rPr sz="2000"/>
              <a:t> lines below, already done for you.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Build and Use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finding NAs in real data, counting correctly with </a:t>
            </a:r>
            <a:r>
              <a:rPr>
                <a:latin typeface="Courier"/>
              </a:rPr>
              <a:t>sum(!is.na())</a:t>
            </a:r>
            <a:r>
              <a:rPr/>
              <a:t>, writing the summary </a:t>
            </a:r>
            <a:r>
              <a:rPr b="1"/>
              <a:t>by hand</a:t>
            </a:r>
            <a:r>
              <a:rPr/>
              <a:t>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only then packaging it into a reusable </a:t>
            </a:r>
            <a:r>
              <a:rPr>
                <a:latin typeface="Courier"/>
              </a:rPr>
              <a:t>summary_stats()</a:t>
            </a:r>
            <a:r>
              <a:rPr/>
              <a:t> helper.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  <a:p>
            <a:pPr lvl="0"/>
            <a:r>
              <a:rPr>
                <a:latin typeface="Courier"/>
              </a:rPr>
              <a:t>skim()</a:t>
            </a:r>
            <a:r>
              <a:rPr/>
              <a:t> reports the median for us later today — no code to type by hand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Counting Correctly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sum() counts the TRUEs =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  <a:r>
              <a:rPr/>
              <a:t>; </a:t>
            </a:r>
            <a:r>
              <a:rPr>
                <a:latin typeface="Courier"/>
              </a:rPr>
              <a:t>!is.na(x)</a:t>
            </a:r>
            <a:r>
              <a:rPr/>
              <a:t>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/>
            <a:r>
              <a:rPr>
                <a:latin typeface="Courier"/>
              </a:rPr>
              <a:t>sum(!is.na(x))</a:t>
            </a:r>
            <a:r>
              <a:rPr/>
              <a:t> counts those </a:t>
            </a:r>
            <a:r>
              <a:rPr>
                <a:latin typeface="Courier"/>
              </a:rPr>
              <a:t>TRUE</a:t>
            </a:r>
            <a:r>
              <a:rPr/>
              <a:t>s → the correct </a:t>
            </a:r>
            <a:r>
              <a:rPr i="1"/>
              <a:t>n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never warns you</a:t>
            </a:r>
          </a:p>
          <a:p>
            <a:pPr lvl="0"/>
            <a:r>
              <a:rPr/>
              <a:t>Our leaf data has real NAs too: not every leaf got a </a:t>
            </a:r>
            <a:r>
              <a:rPr>
                <a:latin typeface="Courier"/>
              </a:rPr>
              <a:t>paper_mass_g</a:t>
            </a:r>
            <a:r>
              <a:rPr/>
              <a:t> measurement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NAs in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MISSING a paper_mass_g value?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13 × 8
   twig_id leaf_id teams       shade mass_g petiole_mm thickness_mm paper_mass_g
   &lt;chr&gt;   &lt;chr&gt;   &lt;chr&gt;       &lt;chr&gt;  &lt;dbl&gt;      &lt;dbl&gt;        &lt;dbl&gt;        &lt;dbl&gt;
 1 twig_2  l09     fighting_m… shady  0.920      0.383        NA              NA
 2 &lt;NA&gt;    1       Oscar_Karl  shady  0.454     53.6           0.36           NA
 3 &lt;NA&gt;    2       Oscar_Karl  shady  0.371     26.3           0.43           NA
 4 &lt;NA&gt;    3       Oscar_Karl  shady  0.351     57.8           0.48           NA
 5 &lt;NA&gt;    4       Oscar_Karl  shady  0.453     51.0           0.41           NA
 6 &lt;NA&gt;    5       Oscar_Karl  shady  0.344     37.0           0.25           NA
 7 &lt;NA&gt;    6       Oscar_Karl  shady  0.426     66.3           0.5            NA
 8 &lt;NA&gt;    1       Oscar_Karl  sunny  0.357     48.7           0.41           NA
 9 &lt;NA&gt;    2       Oscar_Karl  sunny  0.348     44.8           0.39           NA
10 &lt;NA&gt;    3       Oscar_Karl  sunny  0.511     63.4           0.53           NA
11 &lt;NA&gt;    4       Oscar_Karl  sunny  0.230     35.7           0.36           NA
12 &lt;NA&gt;    5       Oscar_Karl  sunny  0.304     51.3           0.43           NA
13 &lt;NA&gt;    6       Oscar_Karl  sunny  0.282     46.9           0.4            NA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Flip it with ! — keep only the rows that HAVE a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40 × 8
   twig_id leaf_id teams shade mass_g petiole_mm thickness_mm paper_mass_g
   &lt;chr&gt;   &lt;chr&gt;   &lt;chr&gt; &lt;chr&gt;  &lt;dbl&gt;      &lt;dbl&gt;        &lt;dbl&gt;        &lt;dbl&gt;
 1 &lt;NA&gt;    &lt;NA&gt;    12345 sunny   0.4          79         0.15         0.21
 2 &lt;NA&gt;    &lt;NA&gt;    12345 sunny   0.48         63         0.14         0.21
 3 &lt;NA&gt;    &lt;NA&gt;    12345 sunny   0.34         68         0.14         0.21
 4 &lt;NA&gt;    &lt;NA&gt;    12345 sunny   0.65         35         0.15         0.24
 5 &lt;NA&gt;    &lt;NA&gt;    12345 sunny   0.27         34         0.11         0.15
 6 &lt;NA&gt;    &lt;NA&gt;    12345 sunny   0.43         40         0.16         0.34
 7 &lt;NA&gt;    &lt;NA&gt;    12345 shady   0.39         40         0.14         0.29
 8 &lt;NA&gt;    &lt;NA&gt;    12345 shady   0.45         65         0.15         0.25
 9 &lt;NA&gt;    &lt;NA&gt;    12345 shady   0.6          68         0.12         0.23
10 &lt;NA&gt;    &lt;NA&gt;    12345 shady   0.57         73         0.14         0.28
# ℹ 30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filter(is.na(paper_mass_g))</a:t>
            </a:r>
            <a:r>
              <a:rPr/>
              <a:t> </a:t>
            </a:r>
            <a:r>
              <a:rPr b="1"/>
              <a:t>shows you the problem</a:t>
            </a:r>
            <a:r>
              <a:rPr/>
              <a:t> — every row where the measurement is missing</a:t>
            </a:r>
          </a:p>
          <a:p>
            <a:pPr lvl="0"/>
            <a:r>
              <a:rPr>
                <a:latin typeface="Courier"/>
              </a:rPr>
              <a:t>filter(!is.na(paper_mass_g))</a:t>
            </a:r>
            <a:r>
              <a:rPr/>
              <a:t> keeps the rows with real values — the same </a:t>
            </a:r>
            <a:r>
              <a:rPr>
                <a:latin typeface="Courier"/>
              </a:rPr>
              <a:t>!</a:t>
            </a:r>
            <a:r>
              <a:rPr/>
              <a:t> idea as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Look at the row counts: the two tables together add back up to </a:t>
            </a:r>
            <a:r>
              <a:rPr>
                <a:latin typeface="Courier"/>
              </a:rPr>
              <a:t>nrow(leaf_df)</a:t>
            </a:r>
          </a:p>
          <a:p>
            <a:pPr lvl="0"/>
            <a:r>
              <a:rPr/>
              <a:t>Do this </a:t>
            </a:r>
            <a:r>
              <a:rPr b="1"/>
              <a:t>before</a:t>
            </a:r>
            <a:r>
              <a:rPr/>
              <a:t> any statistics — you cannot trust a mean until you know what is missing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Why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 b="1"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 b="1"/>
                  <a:t>?</a:t>
                </a:r>
              </a:p>
              <a:p>
                <a:pPr lvl="0" indent="0" marL="1270000">
                  <a:buNone/>
                </a:pPr>
                <a:r>
                  <a:rPr sz="2000"/>
                  <a:t>Estimating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 sz="2000"/>
                  <a:t> already used up one piece of information, leaving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</a:t>
                </a:r>
                <a:r>
                  <a:rPr sz="2000" b="1"/>
                  <a:t>degrees of freedom</a:t>
                </a:r>
                <a:r>
                  <a:rPr sz="2000"/>
                  <a:t> to estimate spread. 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instead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/>
                  <a:t> corrects for that, so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 comes out an </a:t>
                </a:r>
                <a:r>
                  <a:rPr sz="2000" b="1"/>
                  <a:t>unbiased</a:t>
                </a:r>
                <a:r>
                  <a:rPr sz="2000"/>
                  <a:t> estimate of the population variance.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  <a:p>
                <a:pPr lvl="0"/>
                <a:r>
                  <a:rPr/>
                  <a:t>Variance is in </a:t>
                </a:r>
                <a:r>
                  <a:rPr b="1"/>
                  <a:t>squared units</a:t>
                </a:r>
                <a:r>
                  <a:rPr/>
                  <a:t> (g²) — hard to interpret. That is why we use SD.</a:t>
                </a:r>
              </a:p>
            </p:txBody>
          </p:sp>
        </mc:Choice>
      </mc:AlternateContent>
      <p:pic>
        <p:nvPicPr>
          <p:cNvPr descr="summary_stats_lecture_files/figure-pptx/sd-normal-band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244600"/>
            <a:ext cx="44069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 It By Hand First — One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statistic, written out, for the sunny leaves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mean variance    sd     n     se
  &lt;dbl&gt;    &lt;dbl&gt; &lt;dbl&gt; &lt;int&gt;  &lt;dbl&gt;
1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many rows down to </a:t>
            </a:r>
            <a:r>
              <a:rPr b="1"/>
              <a:t>one row</a:t>
            </a:r>
            <a:r>
              <a:rPr/>
              <a:t> of statistics</a:t>
            </a:r>
          </a:p>
          <a:p>
            <a:pPr lvl="0"/>
            <a:r>
              <a:rPr/>
              <a:t>Every function gets </a:t>
            </a:r>
            <a:r>
              <a:rPr>
                <a:latin typeface="Courier"/>
              </a:rPr>
              <a:t>na.rm = TRUE</a:t>
            </a:r>
            <a:r>
              <a:rPr/>
              <a:t> — otherwise one </a:t>
            </a:r>
            <a:r>
              <a:rPr>
                <a:latin typeface="Courier"/>
              </a:rPr>
              <a:t>NA</a:t>
            </a:r>
            <a:r>
              <a:rPr/>
              <a:t> makes the whole answer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n = sum(!is.na(mass_g))</a:t>
            </a:r>
            <a:r>
              <a:rPr/>
              <a:t> — the correct count, not </a:t>
            </a:r>
            <a:r>
              <a:rPr>
                <a:latin typeface="Courier"/>
              </a:rPr>
              <a:t>n()</a:t>
            </a:r>
          </a:p>
          <a:p>
            <a:pPr lvl="0"/>
            <a:r>
              <a:rPr>
                <a:latin typeface="Courier"/>
              </a:rPr>
              <a:t>se = sd / sqrt(n)</a:t>
            </a:r>
            <a:r>
              <a:rPr/>
              <a:t> — you can reuse </a:t>
            </a:r>
            <a:r>
              <a:rPr>
                <a:latin typeface="Courier"/>
              </a:rPr>
              <a:t>sd</a:t>
            </a:r>
            <a:r>
              <a:rPr/>
              <a:t> and </a:t>
            </a:r>
            <a:r>
              <a:rPr>
                <a:latin typeface="Courier"/>
              </a:rPr>
              <a:t>n</a:t>
            </a:r>
            <a:r>
              <a:rPr/>
              <a:t> </a:t>
            </a:r>
            <a:r>
              <a:rPr b="1"/>
              <a:t>later in the same </a:t>
            </a:r>
            <a:r>
              <a:rPr b="1">
                <a:latin typeface="Courier"/>
              </a:rPr>
              <a:t>summarize()</a:t>
            </a:r>
            <a:r>
              <a:rPr/>
              <a:t>, because they are already columns by then</a:t>
            </a:r>
          </a:p>
          <a:p>
            <a:pPr lvl="0"/>
            <a:r>
              <a:rPr/>
              <a:t>The result is a data frame, so it pipes onward into </a:t>
            </a:r>
            <a:r>
              <a:rPr>
                <a:latin typeface="Courier"/>
              </a:rPr>
              <a:t>ggplot()</a:t>
            </a:r>
            <a:r>
              <a:rPr/>
              <a:t> or </a:t>
            </a:r>
            <a:r>
              <a:rPr>
                <a:latin typeface="Courier"/>
              </a:rPr>
              <a:t>write_csv()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It By Hand — Every Group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group_by() splits the data; summarize() runs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shade  mean variance    sd     n     se
  &lt;chr&gt; &lt;dbl&gt;    &lt;dbl&gt; &lt;dbl&gt; &lt;int&gt;  &lt;dbl&gt;
1 shady 0.523   0.0219 0.148    28 0.0280
2 sunny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Exactly the same </a:t>
            </a:r>
            <a:r>
              <a:rPr>
                <a:latin typeface="Courier"/>
              </a:rPr>
              <a:t>summarize()</a:t>
            </a:r>
            <a:r>
              <a:rPr/>
              <a:t> — the only new line is </a:t>
            </a:r>
            <a:r>
              <a:rPr>
                <a:latin typeface="Courier"/>
              </a:rPr>
              <a:t>group_by(shade)</a:t>
            </a:r>
          </a:p>
          <a:p>
            <a:pPr lvl="0"/>
            <a:r>
              <a:rPr/>
              <a:t>One row </a:t>
            </a:r>
            <a:r>
              <a:rPr b="1"/>
              <a:t>per group</a:t>
            </a:r>
            <a:r>
              <a:rPr/>
              <a:t> instead of one row overall</a:t>
            </a:r>
          </a:p>
          <a:p>
            <a:pPr lvl="0"/>
            <a:r>
              <a:rPr/>
              <a:t>This is the workhorse pattern for the rest of the course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sunny and again for shady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exists to remove.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Now Package It —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summary_stats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variable)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({{ variable }})),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.groups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It is the same </a:t>
            </a:r>
            <a:r>
              <a:rPr b="1">
                <a:latin typeface="Courier"/>
              </a:rPr>
              <a:t>summarize()</a:t>
            </a:r>
            <a:r>
              <a:rPr b="1"/>
              <a:t> you just wrote by hand</a:t>
            </a:r>
            <a:r>
              <a:rPr/>
              <a:t> — wrapped in </a:t>
            </a:r>
            <a:r>
              <a:rPr>
                <a:latin typeface="Courier"/>
              </a:rPr>
              <a:t>function()</a:t>
            </a:r>
            <a:r>
              <a:rPr/>
              <a:t> so you type it once, not once per variable</a:t>
            </a:r>
          </a:p>
          <a:p>
            <a:pPr lvl="0"/>
            <a:r>
              <a:rPr/>
              <a:t>Plus a 95% confidence interval for the mean, for free</a:t>
            </a:r>
          </a:p>
          <a:p>
            <a:pPr lvl="0"/>
            <a:r>
              <a:rPr>
                <a:latin typeface="Courier"/>
              </a:rPr>
              <a:t>{ variable }</a:t>
            </a:r>
            <a:r>
              <a:rPr/>
              <a:t> lets you pass a bare column name in, like </a:t>
            </a:r>
            <a:r>
              <a:rPr>
                <a:latin typeface="Courier"/>
              </a:rPr>
              <a:t>mass_g</a:t>
            </a:r>
          </a:p>
          <a:p>
            <a:pPr lvl="0"/>
            <a:r>
              <a:rPr/>
              <a:t>Works on </a:t>
            </a:r>
            <a:r>
              <a:rPr b="1"/>
              <a:t>one group</a:t>
            </a:r>
            <a:r>
              <a:rPr/>
              <a:t> or, if the data are already </a:t>
            </a:r>
            <a:r>
              <a:rPr>
                <a:latin typeface="Courier"/>
              </a:rPr>
              <a:t>group_by()</a:t>
            </a:r>
            <a:r>
              <a:rPr/>
              <a:t>-ed, </a:t>
            </a:r>
            <a:r>
              <a:rPr b="1"/>
              <a:t>every group at once</a:t>
            </a:r>
          </a:p>
          <a:p>
            <a:pPr lvl="0"/>
            <a:r>
              <a:rPr/>
              <a:t>Source: </a:t>
            </a:r>
            <a:r>
              <a:rPr>
                <a:hlinkClick r:id="rId2"/>
                <a:latin typeface="Courier"/>
              </a:rPr>
              <a:t>themes/summary_stats_function.R</a:t>
            </a:r>
            <a:r>
              <a:rPr/>
              <a:t> — same </a:t>
            </a:r>
            <a:r>
              <a:rPr>
                <a:latin typeface="Courier"/>
              </a:rPr>
              <a:t>themes/</a:t>
            </a:r>
            <a:r>
              <a:rPr/>
              <a:t> folder as your ggplot </a:t>
            </a:r>
            <a:r>
              <a:rPr>
                <a:hlinkClick r:id="rId3"/>
                <a:latin typeface="Courier"/>
              </a:rPr>
              <a:t>theme file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summary_stats() from another .R file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Group at a Time — </a:t>
            </a:r>
            <a:r>
              <a:rPr>
                <a:latin typeface="Courier"/>
              </a:rPr>
              <a:t>filter()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side, then hand it straight to the function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    n  mean variance    sd    se ci_lower ci_upper
  &lt;int&gt; &lt;dbl&gt;    &lt;dbl&gt; &lt;dbl&gt; &lt;dbl&gt;    &lt;dbl&gt;    &lt;dbl&gt;
1    25  0.51     0.04  0.21  0.04     0.42     0.59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filter(shade == "sunny")</a:t>
            </a:r>
            <a:r>
              <a:rPr/>
              <a:t> — keeps only sunny rows</a:t>
            </a:r>
          </a:p>
          <a:p>
            <a:pPr lvl="0"/>
            <a:r>
              <a:rPr/>
              <a:t>Pipe the filtered data straight into </a:t>
            </a:r>
            <a:r>
              <a:rPr>
                <a:latin typeface="Courier"/>
              </a:rPr>
              <a:t>summary_stats(mass_g)</a:t>
            </a:r>
            <a:r>
              <a:rPr/>
              <a:t> — no </a:t>
            </a:r>
            <a:r>
              <a:rPr>
                <a:latin typeface="Courier"/>
              </a:rPr>
              <a:t>pull()</a:t>
            </a:r>
            <a:r>
              <a:rPr/>
              <a:t>, no vector, no hand-written math</a:t>
            </a:r>
          </a:p>
          <a:p>
            <a:pPr lvl="0"/>
            <a:r>
              <a:rPr/>
              <a:t>Swap </a:t>
            </a:r>
            <a:r>
              <a:rPr>
                <a:latin typeface="Courier"/>
              </a:rPr>
              <a:t>"sunny"</a:t>
            </a:r>
            <a:r>
              <a:rPr/>
              <a:t> for </a:t>
            </a:r>
            <a:r>
              <a:rPr>
                <a:latin typeface="Courier"/>
              </a:rPr>
              <a:t>"shady"</a:t>
            </a:r>
            <a:r>
              <a:rPr/>
              <a:t> to get the other side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Load the data, find the NAs, write the summary by hand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then source </a:t>
            </a:r>
            <a:r>
              <a:rPr>
                <a:latin typeface="Courier"/>
              </a:rPr>
              <a:t>summary_stats()</a:t>
            </a:r>
            <a:r>
              <a:rPr/>
              <a:t> and use it on one group. Predict each output, type it, then run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Every Group, Every Column, Fast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 for every group at once, fast overviews with </a:t>
            </a:r>
            <a:r>
              <a:rPr>
                <a:latin typeface="Courier"/>
              </a:rPr>
              <a:t>skimr</a:t>
            </a:r>
            <a:r>
              <a:rPr/>
              <a:t>, and — if time allows — </a:t>
            </a:r>
            <a:r>
              <a:rPr>
                <a:latin typeface="Courier"/>
              </a:rPr>
              <a:t>across()</a:t>
            </a:r>
            <a:r>
              <a:rPr/>
              <a:t> for many columns at once.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 first, then call the SAME function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8
  shade     n  mean variance    sd    se ci_lower ci_upper
  &lt;chr&gt; &lt;int&gt; &lt;dbl&gt;    &lt;dbl&gt; &lt;dbl&gt; &lt;dbl&gt;    &lt;dbl&gt;    &lt;dbl&gt;
1 shady    28  0.52     0.02  0.15  0.03     0.47     0.58
2 sunny    25  0.51     0.04  0.21  0.04     0.42     0.59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group_by(shade)</a:t>
            </a:r>
            <a:r>
              <a:rPr/>
              <a:t> splits the data by the </a:t>
            </a:r>
            <a:r>
              <a:rPr>
                <a:latin typeface="Courier"/>
              </a:rPr>
              <a:t>shade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summary_stats()</a:t>
            </a:r>
            <a:r>
              <a:rPr/>
              <a:t> doesn’t change at all — it runs once per group</a:t>
            </a:r>
          </a:p>
          <a:p>
            <a:pPr lvl="0"/>
            <a:r>
              <a:rPr/>
              <a:t>You get </a:t>
            </a:r>
            <a:r>
              <a:rPr b="1"/>
              <a:t>both groups, every statistic, in one clean table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summary_stats() handles ONE variable, so for several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measurements at once we still write summarize() directly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mean_pet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(petiole_mm,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mean_thick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(thickness_mm,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mean_pet mean_thick
  &lt;chr&gt; &lt;int&gt;     &lt;dbl&gt;    &lt;dbl&gt;      &lt;dbl&gt;
1 shady    28     0.523     56.7      0.356
2 sunny    25     0.505     54.4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mean_mass</a:t>
            </a:r>
          </a:p>
          <a:p>
            <a:pPr lvl="0"/>
            <a:r>
              <a:rPr/>
              <a:t>Shady leaves thicker? → check </a:t>
            </a:r>
            <a:r>
              <a:rPr>
                <a:latin typeface="Courier"/>
              </a:rPr>
              <a:t>mean_thick</a:t>
            </a:r>
          </a:p>
          <a:p>
            <a:pPr lvl="0"/>
            <a:r>
              <a:rPr/>
              <a:t>Shady petioles longer? → check </a:t>
            </a:r>
            <a:r>
              <a:rPr>
                <a:latin typeface="Courier"/>
              </a:rPr>
              <a:t>mean_pet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shade — mass only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Variable type: numeric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skim()</a:t>
            </a:r>
            <a:r>
              <a:rPr/>
              <a:t> is your fastest </a:t>
            </a:r>
            <a:r>
              <a:rPr b="1"/>
              <a:t>first look</a:t>
            </a:r>
            <a:r>
              <a:rPr/>
              <a:t> — </a:t>
            </a:r>
            <a:r>
              <a:rPr>
                <a:latin typeface="Courier"/>
              </a:rPr>
              <a:t>n_missing</a:t>
            </a:r>
            <a:r>
              <a:rPr/>
              <a:t>, mean, SD, percentiles, and a mini histogram, per group, in one line.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(mass_g, petiole_mm, thickness_mm),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shade mass_g petiole_mm thickness_mm
  &lt;chr&gt;  &lt;dbl&gt;      &lt;dbl&gt;        &lt;dbl&gt;
1 shady  0.523       56.7        0.356
2 sunny  0.505       54.4  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mean_mass</a:t>
            </a:r>
            <a:r>
              <a:rPr/>
              <a:t>/</a:t>
            </a:r>
            <a:r>
              <a:rPr>
                <a:latin typeface="Courier"/>
              </a:rPr>
              <a:t>mean_thick</a:t>
            </a:r>
            <a:r>
              <a:rPr/>
              <a:t>/</a:t>
            </a:r>
            <a:r>
              <a:rPr>
                <a:latin typeface="Courier"/>
              </a:rPr>
              <a:t>mean_pet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4–6, then Part 7 (review and checkpoint) on your own.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Statistics concepts:</a:t>
                </a:r>
              </a:p>
              <a:p>
                <a:pPr lvl="1"/>
                <a:r>
                  <a:rPr b="1"/>
                  <a:t>Mean</a:t>
                </a:r>
                <a:r>
                  <a:rPr/>
                  <a:t> — balance point; sensitive to outliers</a:t>
                </a:r>
              </a:p>
              <a:p>
                <a:pPr lvl="1"/>
                <a:r>
                  <a:rPr b="1"/>
                  <a:t>Median</a:t>
                </a:r>
                <a:r>
                  <a:rPr/>
                  <a:t> — middle value; robust</a:t>
                </a:r>
              </a:p>
              <a:p>
                <a:pPr lvl="1"/>
                <a:r>
                  <a:rPr b="1"/>
                  <a:t>Variance / SD</a:t>
                </a:r>
                <a:r>
                  <a:rPr/>
                  <a:t> — spread of individual data;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makes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unbiased</a:t>
                </a:r>
              </a:p>
              <a:p>
                <a:pPr lvl="1"/>
                <a:r>
                  <a:rPr b="1"/>
                  <a:t>SE</a:t>
                </a:r>
                <a:r>
                  <a:rPr/>
                  <a:t> — precision of the sample mean</a:t>
                </a:r>
              </a:p>
              <a:p>
                <a:pPr lvl="0"/>
                <a:r>
                  <a:rPr b="1"/>
                  <a:t>R skills:</a:t>
                </a:r>
              </a:p>
              <a:p>
                <a:pPr lvl="1"/>
                <a:r>
                  <a:rPr>
                    <a:latin typeface="Courier"/>
                  </a:rPr>
                  <a:t>filter(is.na())</a:t>
                </a:r>
                <a:r>
                  <a:rPr/>
                  <a:t> / </a:t>
                </a:r>
                <a:r>
                  <a:rPr>
                    <a:latin typeface="Courier"/>
                  </a:rPr>
                  <a:t>filter(!is.na())</a:t>
                </a:r>
                <a:r>
                  <a:rPr/>
                  <a:t> — see the missing data before you summarize</a:t>
                </a:r>
              </a:p>
              <a:p>
                <a:pPr lvl="1"/>
                <a:r>
                  <a:rPr>
                    <a:latin typeface="Courier"/>
                  </a:rPr>
                  <a:t>sum(!is.na())</a:t>
                </a:r>
                <a:r>
                  <a:rPr/>
                  <a:t> — the right way to count </a:t>
                </a:r>
                <a:r>
                  <a:rPr i="1"/>
                  <a:t>n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+ </a:t>
                </a:r>
                <a:r>
                  <a:rPr>
                    <a:latin typeface="Courier"/>
                  </a:rPr>
                  <a:t>summarize()</a:t>
                </a:r>
                <a:r>
                  <a:rPr/>
                  <a:t> by hand — mean, variance, sd, n, se</a:t>
                </a:r>
              </a:p>
              <a:p>
                <a:pPr lvl="1"/>
                <a:r>
                  <a:rPr/>
                  <a:t>The same code packaged as a reusable </a:t>
                </a:r>
                <a:r>
                  <a:rPr>
                    <a:latin typeface="Courier"/>
                  </a:rPr>
                  <a:t>summary_stats()</a:t>
                </a:r>
                <a:r>
                  <a:rPr/>
                  <a:t> function, sourced from </a:t>
                </a:r>
                <a:r>
                  <a:rPr>
                    <a:latin typeface="Courier"/>
                  </a:rPr>
                  <a:t>themes/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— run the same summary on every group at once</a:t>
                </a:r>
              </a:p>
              <a:p>
                <a:pPr lvl="1"/>
                <a:r>
                  <a:rPr>
                    <a:latin typeface="Courier"/>
                  </a:rPr>
                  <a:t>skim()</a:t>
                </a:r>
                <a:r>
                  <a:rPr/>
                  <a:t> — instant full dataset overview</a:t>
                </a:r>
              </a:p>
              <a:p>
                <a:pPr lvl="1"/>
                <a:r>
                  <a:rPr>
                    <a:latin typeface="Courier"/>
                  </a:rPr>
                  <a:t>across()</a:t>
                </a:r>
                <a:r>
                  <a:rPr/>
                  <a:t> — one function, many columns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SE; counting correctly with NAs; a reusable summary_stats() helper; group_by() + summarize(), across(), and skimr for describing our leaf data.</dc:description>
  <dcterms:created xsi:type="dcterms:W3CDTF">2026-09-22T13:50:21Z</dcterms:created>
  <dcterms:modified xsi:type="dcterms:W3CDTF">2026-09-22T13:50:21Z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