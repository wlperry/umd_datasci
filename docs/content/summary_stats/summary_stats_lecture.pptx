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4" Type="http://schemas.openxmlformats.org/officeDocument/2006/relationships/viewProps" Target="viewProps.xml" /><Relationship Id="rId3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6" Type="http://schemas.openxmlformats.org/officeDocument/2006/relationships/tableStyles" Target="tableStyles.xml" /><Relationship Id="rId3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hyperlink" Target="https://r4ds.hadley.nz/numbers" TargetMode="External" /><Relationship Id="rId3" Type="http://schemas.openxmlformats.org/officeDocument/2006/relationships/hyperlink" Target="https://r4ds.hadley.nz/missing-values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scripts/06_summary_stats_skeleton.R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numbers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missing-values" TargetMode="Externa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missing-values" TargetMode="Externa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themes/summary_stats_function.R" TargetMode="External" /><Relationship Id="rId3" Type="http://schemas.openxmlformats.org/officeDocument/2006/relationships/hyperlink" Target="themes/r_themes_for_3_sizes.R" TargetMode="Externa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" TargetMode="Externa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#sec-summarize" TargetMode="External" /><Relationship Id="rId3" Type="http://schemas.openxmlformats.org/officeDocument/2006/relationships/hyperlink" Target="https://r4ds.hadley.nz/data-transform#sec-summarize" TargetMode="Externa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numbers" TargetMode="External" /><Relationship Id="rId3" Type="http://schemas.openxmlformats.org/officeDocument/2006/relationships/hyperlink" Target="https://r4ds.hadley.nz/missing-values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06 — Summary Statistics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Mean, median, spread, and describing groups the tidy way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2026-10-19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05 — Wrangling)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filter()</a:t>
            </a:r>
            <a:r>
              <a:rPr/>
              <a:t>, </a:t>
            </a:r>
            <a:r>
              <a:rPr>
                <a:latin typeface="Courier"/>
              </a:rPr>
              <a:t>select()</a:t>
            </a:r>
            <a:r>
              <a:rPr/>
              <a:t>, </a:t>
            </a:r>
            <a:r>
              <a:rPr>
                <a:latin typeface="Courier"/>
              </a:rPr>
              <a:t>mutate()</a:t>
            </a:r>
            <a:r>
              <a:rPr/>
              <a:t>, </a:t>
            </a:r>
            <a:r>
              <a:rPr>
                <a:latin typeface="Courier"/>
              </a:rPr>
              <a:t>arrange()</a:t>
            </a:r>
            <a:r>
              <a:rPr/>
              <a:t> — the core wrangling verbs</a:t>
            </a:r>
          </a:p>
          <a:p>
            <a:pPr lvl="0"/>
            <a:r>
              <a:rPr/>
              <a:t>Chaining verbs into one pipeline with </a:t>
            </a:r>
            <a:r>
              <a:rPr>
                <a:latin typeface="Courier"/>
              </a:rPr>
              <a:t>%&gt;%</a:t>
            </a:r>
          </a:p>
          <a:p>
            <a:pPr lvl="0"/>
            <a:r>
              <a:rPr/>
              <a:t>Our leaf data: </a:t>
            </a:r>
            <a:r>
              <a:rPr>
                <a:latin typeface="Courier"/>
              </a:rPr>
              <a:t>leaf_df</a:t>
            </a:r>
            <a:r>
              <a:rPr/>
              <a:t> — </a:t>
            </a:r>
            <a:r>
              <a:rPr>
                <a:latin typeface="Courier"/>
              </a:rPr>
              <a:t>shade</a:t>
            </a:r>
            <a:r>
              <a:rPr/>
              <a:t>, </a:t>
            </a:r>
            <a:r>
              <a:rPr>
                <a:latin typeface="Courier"/>
              </a:rPr>
              <a:t>mass_g</a:t>
            </a:r>
            <a:r>
              <a:rPr/>
              <a:t>, </a:t>
            </a:r>
            <a:r>
              <a:rPr>
                <a:latin typeface="Courier"/>
              </a:rPr>
              <a:t>petiole_mm</a:t>
            </a:r>
            <a:r>
              <a:rPr/>
              <a:t>, </a:t>
            </a:r>
            <a:r>
              <a:rPr>
                <a:latin typeface="Courier"/>
              </a:rPr>
              <a:t>thickness_mm</a:t>
            </a:r>
            <a:r>
              <a:rPr/>
              <a:t>, </a:t>
            </a:r>
            <a:r>
              <a:rPr>
                <a:latin typeface="Courier"/>
              </a:rPr>
              <a:t>paper_mass_g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 from Lecture 05</a:t>
            </a:r>
          </a:p>
          <a:p>
            <a:pPr lvl="0" indent="0" marL="1270000">
              <a:buNone/>
            </a:pPr>
            <a:r>
              <a:rPr sz="2000"/>
              <a:t>You can already reshape the data into exactly the rows and columns you need. Today we learn to </a:t>
            </a:r>
            <a:r>
              <a:rPr sz="2000" i="1"/>
              <a:t>describe</a:t>
            </a:r>
            <a:r>
              <a:rPr sz="2000"/>
              <a:t> what’s in it — one number at a time, then all at once.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Our Scientific Question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Biological prediction:</a:t>
            </a:r>
            <a:r>
              <a:rPr/>
              <a:t> Leaves on the </a:t>
            </a:r>
            <a:r>
              <a:rPr i="1"/>
              <a:t>shady</a:t>
            </a:r>
            <a:r>
              <a:rPr/>
              <a:t> side of a tree will be </a:t>
            </a:r>
            <a:r>
              <a:rPr b="1"/>
              <a:t>larger and heavier</a:t>
            </a:r>
            <a:r>
              <a:rPr/>
              <a:t> to capture more of the limited light.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32893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Hypothesis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H₀ — null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difference in leaf size between sunny and shady sides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Hₐ — alternate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Leaf size differs between sunny and shady sides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Plan for this unit:</a:t>
            </a:r>
          </a:p>
          <a:p>
            <a:pPr lvl="0" indent="-342900" marL="342900">
              <a:buAutoNum type="arabicPeriod"/>
            </a:pPr>
            <a:r>
              <a:rPr b="1"/>
              <a:t>Today</a:t>
            </a:r>
            <a:r>
              <a:rPr/>
              <a:t> — </a:t>
            </a:r>
            <a:r>
              <a:rPr i="1"/>
              <a:t>describe</a:t>
            </a:r>
            <a:r>
              <a:rPr/>
              <a:t> the data</a:t>
            </a:r>
          </a:p>
          <a:p>
            <a:pPr lvl="0" indent="-342900" marL="342900">
              <a:buAutoNum type="arabicPeriod"/>
            </a:pPr>
            <a:r>
              <a:rPr b="1"/>
              <a:t>Lecture 09</a:t>
            </a:r>
            <a:r>
              <a:rPr/>
              <a:t> — formally </a:t>
            </a:r>
            <a:r>
              <a:rPr i="1"/>
              <a:t>test</a:t>
            </a:r>
            <a:r>
              <a:rPr/>
              <a:t> the hypotheses with a t-test</a:t>
            </a:r>
          </a:p>
          <a:p>
            <a:pPr lvl="0" indent="0" marL="0">
              <a:buNone/>
            </a:pPr>
            <a:r>
              <a:rPr/>
              <a:t>Statistics helps us decide which hypothesis is better supported by the data.</a:t>
            </a:r>
          </a:p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Whitlock &amp; Schluter, Ch. 3 — </a:t>
            </a:r>
            <a:r>
              <a:rPr i="1"/>
              <a:t>Describing Data</a:t>
            </a:r>
          </a:p>
          <a:p>
            <a:pPr lvl="0"/>
            <a:r>
              <a:rPr/>
              <a:t>📖 Whitlock &amp; Schluter, Ch. 4 — </a:t>
            </a:r>
            <a:r>
              <a:rPr i="1"/>
              <a:t>Estimating with Uncertainty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Ch 13</a:t>
            </a:r>
            <a:r>
              <a:rPr/>
              <a:t> — Numbers</a:t>
            </a:r>
          </a:p>
          <a:p>
            <a:pPr lvl="0"/>
            <a:r>
              <a:rPr/>
              <a:t>📖 </a:t>
            </a:r>
            <a:r>
              <a:rPr>
                <a:hlinkClick r:id="rId3"/>
              </a:rPr>
              <a:t>R4DS Ch 18</a:t>
            </a:r>
            <a:r>
              <a:rPr/>
              <a:t> — Missing Values</a:t>
            </a:r>
          </a:p>
          <a:p>
            <a:pPr lvl="0" indent="0" marL="0">
              <a:buNone/>
            </a:pPr>
            <a:r>
              <a:rPr/>
              <a:t>Both W&amp;S PDFs are in the course </a:t>
            </a:r>
            <a:r>
              <a:rPr>
                <a:latin typeface="Courier"/>
              </a:rPr>
              <a:t>readings/</a:t>
            </a:r>
            <a:r>
              <a:rPr/>
              <a:t> folder.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to Use These Slides — Predict · Type ·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lecture runs in </a:t>
            </a:r>
            <a:r>
              <a:rPr b="1"/>
              <a:t>two chunks</a:t>
            </a:r>
            <a:r>
              <a:rPr/>
              <a:t>. After each chunk you switch to the activity and type the code yourself into your R script.</a:t>
            </a:r>
          </a:p>
          <a:p>
            <a:pPr lvl="0" indent="0" marL="0">
              <a:buNone/>
            </a:pPr>
            <a:r>
              <a:rPr b="1"/>
              <a:t>For every code block, do three things:</a:t>
            </a:r>
          </a:p>
          <a:p>
            <a:pPr lvl="0" indent="-342900" marL="342900">
              <a:buAutoNum type="arabicPeriod"/>
            </a:pPr>
            <a:r>
              <a:rPr b="1"/>
              <a:t>Predict</a:t>
            </a:r>
            <a:r>
              <a:rPr/>
              <a:t> — before it runs, say what you think the output will be</a:t>
            </a:r>
          </a:p>
          <a:p>
            <a:pPr lvl="0" indent="-342900" marL="342900">
              <a:buAutoNum type="arabicPeriod"/>
            </a:pPr>
            <a:r>
              <a:rPr b="1"/>
              <a:t>Type</a:t>
            </a:r>
            <a:r>
              <a:rPr/>
              <a:t> it out by hand — do not copy-paste</a:t>
            </a:r>
          </a:p>
          <a:p>
            <a:pPr lvl="0" indent="-342900" marL="342900">
              <a:buAutoNum type="arabicPeriod"/>
            </a:pPr>
            <a:r>
              <a:rPr b="1"/>
              <a:t>Run</a:t>
            </a:r>
            <a:r>
              <a:rPr/>
              <a:t> it and compare to your prediction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Why bother?</a:t>
            </a:r>
          </a:p>
          <a:p>
            <a:pPr lvl="0"/>
            <a:r>
              <a:rPr sz="2000"/>
              <a:t>A single mean or SD looks obvious once it’s on the slide — predicting it first is what tells you whether you actually understand where the number comes from.</a:t>
            </a:r>
          </a:p>
          <a:p>
            <a:pPr lvl="0"/>
            <a:r>
              <a:rPr sz="2000"/>
              <a:t>Typing </a:t>
            </a:r>
            <a:r>
              <a:rPr sz="2000">
                <a:latin typeface="Courier"/>
              </a:rPr>
              <a:t>sum(!is.na(x))</a:t>
            </a:r>
            <a:r>
              <a:rPr sz="2000"/>
              <a:t> yourself, instead of pasting it, is what makes you notice </a:t>
            </a:r>
            <a:r>
              <a:rPr sz="2000" i="1"/>
              <a:t>why</a:t>
            </a:r>
            <a:r>
              <a:rPr sz="2000"/>
              <a:t> it’s there instead of </a:t>
            </a:r>
            <a:r>
              <a:rPr sz="2000">
                <a:latin typeface="Courier"/>
              </a:rPr>
              <a:t>length(x)</a:t>
            </a:r>
            <a:r>
              <a:rPr sz="2000"/>
              <a:t>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Load Libraries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all packages at the top of every script 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</a:t>
            </a:r>
            <a:r>
              <a:rPr>
                <a:solidFill>
                  <a:srgbClr val="5E5E5E"/>
                </a:solidFill>
                <a:latin typeface="Courier"/>
              </a:rPr>
              <a:t># reading Excel files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wrangling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(janitor) </a:t>
            </a:r>
            <a:r>
              <a:rPr>
                <a:solidFill>
                  <a:srgbClr val="5E5E5E"/>
                </a:solidFill>
                <a:latin typeface="Courier"/>
              </a:rPr>
              <a:t># clean_names()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(skimr) </a:t>
            </a:r>
            <a:r>
              <a:rPr>
                <a:solidFill>
                  <a:srgbClr val="5E5E5E"/>
                </a:solidFill>
                <a:latin typeface="Courier"/>
              </a:rPr>
              <a:t># fast descriptive summaries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Read the leaf data from the data folder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&lt;-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"data/2026_09_03_data_sci_leaf_area.xlsx"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clean_names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Install once — load every session</a:t>
            </a:r>
          </a:p>
          <a:p>
            <a:pPr lvl="0"/>
            <a:r>
              <a:rPr sz="2000"/>
              <a:t>Run in the Console one time only: </a:t>
            </a:r>
            <a:r>
              <a:rPr sz="2000">
                <a:latin typeface="Courier"/>
              </a:rPr>
              <a:t>install.packages("skimr")</a:t>
            </a:r>
          </a:p>
          <a:p>
            <a:pPr lvl="0"/>
            <a:r>
              <a:rPr sz="2000"/>
              <a:t>Then every session: </a:t>
            </a:r>
            <a:r>
              <a:rPr sz="2000">
                <a:latin typeface="Courier"/>
              </a:rPr>
              <a:t>library(skimr)</a:t>
            </a:r>
            <a:r>
              <a:rPr sz="2000"/>
              <a:t> activates it.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📂 Activity skeleton:</a:t>
            </a:r>
            <a:r>
              <a:rPr sz="2000"/>
              <a:t> </a:t>
            </a:r>
            <a:r>
              <a:rPr sz="2000">
                <a:hlinkClick r:id="rId2"/>
                <a:latin typeface="Courier"/>
              </a:rPr>
              <a:t>06_summary_stats_skeleton.R</a:t>
            </a:r>
            <a:r>
              <a:rPr sz="2000"/>
              <a:t> has this loading step, plus both </a:t>
            </a:r>
            <a:r>
              <a:rPr sz="2000">
                <a:latin typeface="Courier"/>
              </a:rPr>
              <a:t>source()</a:t>
            </a:r>
            <a:r>
              <a:rPr sz="2000"/>
              <a:t> lines below, already done for you.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1 of 2 · Build and Use </a:t>
            </a:r>
            <a:r>
              <a:rPr>
                <a:latin typeface="Courier"/>
              </a:rPr>
              <a:t>summary_stats()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finding NAs in real data, counting correctly with </a:t>
            </a:r>
            <a:r>
              <a:rPr>
                <a:latin typeface="Courier"/>
              </a:rPr>
              <a:t>sum(!is.na())</a:t>
            </a:r>
            <a:r>
              <a:rPr/>
              <a:t>, writing the summary </a:t>
            </a:r>
            <a:r>
              <a:rPr b="1"/>
              <a:t>by hand</a:t>
            </a:r>
            <a:r>
              <a:rPr/>
              <a:t> with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  <a:r>
              <a:rPr/>
              <a:t>, and only then packaging it into a reusable </a:t>
            </a:r>
            <a:r>
              <a:rPr>
                <a:latin typeface="Courier"/>
              </a:rPr>
              <a:t>summary_stats()</a:t>
            </a:r>
            <a:r>
              <a:rPr/>
              <a:t> helper.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the Mean?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‾"/>
                        </m:accPr>
                        <m:e>
                          <m:r>
                            <m:t>x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m:t>n</m:t>
                          </m:r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Add up all values, divide by </a:t>
                </a:r>
                <a:r>
                  <a:rPr i="1"/>
                  <a:t>n</a:t>
                </a:r>
              </a:p>
              <a:p>
                <a:pPr lvl="0"/>
                <a:r>
                  <a:rPr/>
                  <a:t>The </a:t>
                </a:r>
                <a:r>
                  <a:rPr b="1"/>
                  <a:t>balance point</a:t>
                </a:r>
                <a:r>
                  <a:rPr/>
                  <a:t> of the distribution</a:t>
                </a:r>
              </a:p>
              <a:p>
                <a:pPr lvl="0"/>
                <a:r>
                  <a:rPr b="1"/>
                  <a:t>Sensitive to outliers</a:t>
                </a:r>
                <a:r>
                  <a:rPr/>
                  <a:t> — one very large value pulls the mean up</a:t>
                </a:r>
              </a:p>
              <a:p>
                <a:pPr lvl="0" indent="0" marL="0">
                  <a:buNone/>
                </a:pPr>
                <a:r>
                  <a:rPr b="1"/>
                  <a:t>Example:</a:t>
                </a:r>
              </a:p>
              <a:p>
                <a:pPr lvl="0" indent="0" marL="0">
                  <a:buNone/>
                </a:pPr>
                <a:r>
                  <a:rPr/>
                  <a:t>Values: 5, 6, 7, 8, </a:t>
                </a:r>
                <a:r>
                  <a:rPr b="1"/>
                  <a:t>50</a:t>
                </a:r>
                <a:r>
                  <a:rPr/>
                  <a:t> → mean = 15.2</a:t>
                </a:r>
              </a:p>
              <a:p>
                <a:pPr lvl="0" indent="0" marL="0">
                  <a:buNone/>
                </a:pPr>
                <a:r>
                  <a:rPr i="1"/>
                  <a:t>Is 15.2 a fair summary? Not really — the outlier dominates!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it matters:</a:t>
            </a:r>
          </a:p>
          <a:p>
            <a:pPr lvl="0"/>
            <a:r>
              <a:rPr/>
              <a:t>The most commonly reported statistic</a:t>
            </a:r>
          </a:p>
          <a:p>
            <a:pPr lvl="0"/>
            <a:r>
              <a:rPr/>
              <a:t>Used in every t-test, ANOVA, and regression</a:t>
            </a:r>
          </a:p>
          <a:p>
            <a:pPr lvl="0"/>
            <a:r>
              <a:rPr/>
              <a:t>Always pair it with a measure of </a:t>
            </a:r>
            <a:r>
              <a:rPr b="1"/>
              <a:t>spread</a:t>
            </a:r>
            <a:r>
              <a:rPr/>
              <a:t> (SD or SE)</a:t>
            </a:r>
          </a:p>
          <a:p>
            <a:pPr lvl="0" indent="0" marL="0">
              <a:buNone/>
            </a:pPr>
            <a:r>
              <a:rPr/>
              <a:t>📖 Whitlock &amp; Schluter, Ch. 3 — </a:t>
            </a:r>
            <a:r>
              <a:rPr i="1"/>
              <a:t>Describing Data</a:t>
            </a:r>
            <a:r>
              <a:rPr/>
              <a:t>; </a:t>
            </a:r>
            <a:r>
              <a:rPr>
                <a:hlinkClick r:id="rId2"/>
              </a:rPr>
              <a:t>R4DS §13 — Numbers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Is the Median?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middle value when data are sorted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Sorted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Median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5, 6, </a:t>
                      </a:r>
                      <a:r>
                        <a:rPr b="1"/>
                        <a:t>7</a:t>
                      </a:r>
                      <a:r>
                        <a:rPr/>
                        <a:t>, 8, 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5, 6, </a:t>
                      </a:r>
                      <a:r>
                        <a:rPr b="1"/>
                        <a:t>7, 8</a:t>
                      </a:r>
                      <a:r>
                        <a:rPr/>
                        <a:t>, 50, 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(7 + 8) / 2 = 7.5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Not pulled by outliers → </a:t>
            </a:r>
            <a:r>
              <a:rPr b="1"/>
              <a:t>robust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If </a:t>
            </a:r>
            <a:r>
              <a:rPr b="1"/>
              <a:t>mean ≫ median</a:t>
            </a:r>
            <a:r>
              <a:rPr/>
              <a:t> → right-skewed</a:t>
            </a:r>
          </a:p>
          <a:p>
            <a:pPr lvl="0"/>
            <a:r>
              <a:rPr/>
              <a:t>If </a:t>
            </a:r>
            <a:r>
              <a:rPr b="1"/>
              <a:t>mean ≈ median</a:t>
            </a:r>
            <a:r>
              <a:rPr/>
              <a:t> → roughly symmetric</a:t>
            </a:r>
          </a:p>
          <a:p>
            <a:pPr lvl="0"/>
            <a:r>
              <a:rPr>
                <a:latin typeface="Courier"/>
              </a:rPr>
              <a:t>skim()</a:t>
            </a:r>
            <a:r>
              <a:rPr/>
              <a:t> reports the median for us later today — no code to type by hand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Counting Correctly — </a:t>
            </a:r>
            <a:r>
              <a:rPr>
                <a:latin typeface="Courier"/>
              </a:rPr>
              <a:t>sum(!is.na())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length() counts ALL positions — including NAs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# a vector with missing values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(x) </a:t>
            </a:r>
            <a:r>
              <a:rPr>
                <a:solidFill>
                  <a:srgbClr val="5E5E5E"/>
                </a:solidFill>
                <a:latin typeface="Courier"/>
              </a:rPr>
              <a:t># returns 5 — but 2 are NA!</a:t>
            </a:r>
          </a:p>
          <a:p>
            <a:pPr lvl="0" indent="0">
              <a:buNone/>
            </a:pPr>
            <a:r>
              <a:rPr>
                <a:latin typeface="Courier"/>
              </a:rPr>
              <a:t>[1] 5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(x)) </a:t>
            </a:r>
            <a:r>
              <a:rPr>
                <a:solidFill>
                  <a:srgbClr val="5E5E5E"/>
                </a:solidFill>
                <a:latin typeface="Courier"/>
              </a:rPr>
              <a:t># sum() counts the TRUEs = real values</a:t>
            </a:r>
          </a:p>
          <a:p>
            <a:pPr lvl="0" indent="0">
              <a:buNone/>
            </a:pPr>
            <a:r>
              <a:rPr>
                <a:latin typeface="Courier"/>
              </a:rPr>
              <a:t>[1] 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length(x)</a:t>
            </a:r>
            <a:r>
              <a:rPr/>
              <a:t> counts </a:t>
            </a:r>
            <a:r>
              <a:rPr b="1"/>
              <a:t>all positions</a:t>
            </a:r>
            <a:r>
              <a:rPr/>
              <a:t> — including </a:t>
            </a:r>
            <a:r>
              <a:rPr>
                <a:latin typeface="Courier"/>
              </a:rPr>
              <a:t>NA</a:t>
            </a:r>
          </a:p>
          <a:p>
            <a:pPr lvl="0"/>
            <a:r>
              <a:rPr>
                <a:latin typeface="Courier"/>
              </a:rPr>
              <a:t>is.na(x)</a:t>
            </a:r>
            <a:r>
              <a:rPr/>
              <a:t> → </a:t>
            </a:r>
            <a:r>
              <a:rPr>
                <a:latin typeface="Courier"/>
              </a:rPr>
              <a:t>TRUE</a:t>
            </a:r>
            <a:r>
              <a:rPr/>
              <a:t> for each </a:t>
            </a:r>
            <a:r>
              <a:rPr>
                <a:latin typeface="Courier"/>
              </a:rPr>
              <a:t>NA</a:t>
            </a:r>
            <a:r>
              <a:rPr/>
              <a:t>; </a:t>
            </a:r>
            <a:r>
              <a:rPr>
                <a:latin typeface="Courier"/>
              </a:rPr>
              <a:t>!is.na(x)</a:t>
            </a:r>
            <a:r>
              <a:rPr/>
              <a:t> flips it to </a:t>
            </a:r>
            <a:r>
              <a:rPr>
                <a:latin typeface="Courier"/>
              </a:rPr>
              <a:t>TRUE</a:t>
            </a:r>
            <a:r>
              <a:rPr/>
              <a:t> for </a:t>
            </a:r>
            <a:r>
              <a:rPr b="1"/>
              <a:t>real</a:t>
            </a:r>
            <a:r>
              <a:rPr/>
              <a:t> values</a:t>
            </a:r>
          </a:p>
          <a:p>
            <a:pPr lvl="0"/>
            <a:r>
              <a:rPr>
                <a:latin typeface="Courier"/>
              </a:rPr>
              <a:t>sum(!is.na(x))</a:t>
            </a:r>
            <a:r>
              <a:rPr/>
              <a:t> counts those </a:t>
            </a:r>
            <a:r>
              <a:rPr>
                <a:latin typeface="Courier"/>
              </a:rPr>
              <a:t>TRUE</a:t>
            </a:r>
            <a:r>
              <a:rPr/>
              <a:t>s → the correct </a:t>
            </a:r>
            <a:r>
              <a:rPr i="1"/>
              <a:t>n</a:t>
            </a:r>
          </a:p>
          <a:p>
            <a:pPr lvl="0"/>
            <a:r>
              <a:rPr/>
              <a:t>This is a </a:t>
            </a:r>
            <a:r>
              <a:rPr b="1"/>
              <a:t>silent error</a:t>
            </a:r>
            <a:r>
              <a:rPr/>
              <a:t> — R never warns you</a:t>
            </a:r>
          </a:p>
          <a:p>
            <a:pPr lvl="0"/>
            <a:r>
              <a:rPr/>
              <a:t>Our leaf data has real NAs too: not every leaf got a </a:t>
            </a:r>
            <a:r>
              <a:rPr>
                <a:latin typeface="Courier"/>
              </a:rPr>
              <a:t>paper_mass_g</a:t>
            </a:r>
            <a:r>
              <a:rPr/>
              <a:t> measurement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§18 — Missing Values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Best practice:</a:t>
            </a:r>
            <a:r>
              <a:rPr sz="2000"/>
              <a:t> always use </a:t>
            </a:r>
            <a:r>
              <a:rPr sz="2000">
                <a:latin typeface="Courier"/>
              </a:rPr>
              <a:t>sum(!is.na(x))</a:t>
            </a:r>
            <a:r>
              <a:rPr sz="2000"/>
              <a:t> when you need </a:t>
            </a:r>
            <a:r>
              <a:rPr sz="2000" i="1"/>
              <a:t>n</a:t>
            </a:r>
            <a:r>
              <a:rPr sz="2000"/>
              <a:t> — even when you think there are no NAs.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Finding the NAs in Real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Which rows are MISSING a paper_mass_g value? 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(paper_mass_g))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(teams, shade, mass_g, paper_mass_g)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13 × 4
   teams              shade mass_g paper_mass_g
   &lt;chr&gt;              &lt;chr&gt;  &lt;dbl&gt;        &lt;dbl&gt;
 1 fighting_mongooses shady  0.920           NA
 2 Oscar_Karl         shady  0.454           NA
 3 Oscar_Karl         shady  0.371           NA
 4 Oscar_Karl         shady  0.351           NA
 5 Oscar_Karl         shady  0.453           NA
 6 Oscar_Karl         shady  0.344           NA
 7 Oscar_Karl         shady  0.426           NA
 8 Oscar_Karl         sunny  0.357           NA
 9 Oscar_Karl         sunny  0.348           NA
10 Oscar_Karl         sunny  0.511           NA
11 Oscar_Karl         sunny  0.230           NA
12 Oscar_Karl         sunny  0.304           NA
13 Oscar_Karl         sunny  0.282           NA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Flip it with ! — keep only rows that HAVE a value 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(paper_mass_g))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[1] 40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filter(is.na(paper_mass_g))</a:t>
            </a:r>
            <a:r>
              <a:rPr/>
              <a:t> </a:t>
            </a:r>
            <a:r>
              <a:rPr b="1"/>
              <a:t>shows you the problem</a:t>
            </a:r>
            <a:r>
              <a:rPr/>
              <a:t> — every row where the measurement is missing</a:t>
            </a:r>
          </a:p>
          <a:p>
            <a:pPr lvl="0"/>
            <a:r>
              <a:rPr>
                <a:latin typeface="Courier"/>
              </a:rPr>
              <a:t>filter(!is.na(paper_mass_g))</a:t>
            </a:r>
            <a:r>
              <a:rPr/>
              <a:t> keeps the rows with real values — the same </a:t>
            </a:r>
            <a:r>
              <a:rPr>
                <a:latin typeface="Courier"/>
              </a:rPr>
              <a:t>!</a:t>
            </a:r>
            <a:r>
              <a:rPr/>
              <a:t> idea as </a:t>
            </a:r>
            <a:r>
              <a:rPr>
                <a:latin typeface="Courier"/>
              </a:rPr>
              <a:t>sum(!is.na())</a:t>
            </a:r>
          </a:p>
          <a:p>
            <a:pPr lvl="0"/>
            <a:r>
              <a:rPr/>
              <a:t>The two counts add back up to </a:t>
            </a:r>
            <a:r>
              <a:rPr>
                <a:latin typeface="Courier"/>
              </a:rPr>
              <a:t>nrow(leaf_df)</a:t>
            </a:r>
          </a:p>
          <a:p>
            <a:pPr lvl="0"/>
            <a:r>
              <a:rPr/>
              <a:t>Do this </a:t>
            </a:r>
            <a:r>
              <a:rPr b="1"/>
              <a:t>before</a:t>
            </a:r>
            <a:r>
              <a:rPr/>
              <a:t> any statistics — you cannot trust a mean until you know what is missing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§18 — Missing Values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Variance?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s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x</m:t>
                              </m:r>
                            </m:e>
                          </m:acc>
                          <m:sSup>
                            <m:e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den>
                      </m:f>
                    </m:oMath>
                  </m:oMathPara>
                </a14:m>
              </a:p>
              <a:p>
                <a:pPr lvl="0" indent="-342900" marL="342900">
                  <a:buAutoNum type="arabicPeriod"/>
                </a:pPr>
                <a:r>
                  <a:rPr/>
                  <a:t>For each value, compute distance from mean: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)</m:t>
                    </m:r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 b="1"/>
                  <a:t>Square</a:t>
                </a:r>
                <a:r>
                  <a:rPr/>
                  <a:t> those distances → all positive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Sum them up, divide by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/>
                  <a:t>, not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 b="1"/>
                  <a:t>Larger variance = more spread = more uncertainty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1270000">
                  <a:buNone/>
                </a:pPr>
                <a:r>
                  <a:rPr sz="2000" b="1"/>
                  <a:t>Note</a:t>
                </a:r>
              </a:p>
              <a:p>
                <a:pPr lvl="0" indent="0" marL="1270000">
                  <a:buNone/>
                </a:pPr>
                <a:r>
                  <a:rPr sz="2000" b="1"/>
                  <a:t>Why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 sz="2000" b="1"/>
                  <a:t>, not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 sz="2000" b="1"/>
                  <a:t>?</a:t>
                </a:r>
              </a:p>
              <a:p>
                <a:pPr lvl="0" indent="0" marL="1270000">
                  <a:buNone/>
                </a:pPr>
                <a:r>
                  <a:rPr sz="2000"/>
                  <a:t>Estimating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</m:oMath>
                </a14:m>
                <a:r>
                  <a:rPr sz="2000"/>
                  <a:t> already used up one piece of information, leaving only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 sz="2000"/>
                  <a:t> </a:t>
                </a:r>
                <a:r>
                  <a:rPr sz="2000" b="1"/>
                  <a:t>degrees of freedom</a:t>
                </a:r>
                <a:r>
                  <a:rPr sz="2000"/>
                  <a:t> to estimate spread. Dividing by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 sz="2000"/>
                  <a:t> instead of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 sz="2000"/>
                  <a:t> corrects for that, so </a:t>
                </a:r>
                <a14:m>
                  <m:oMath xmlns:m="http://schemas.openxmlformats.org/officeDocument/2006/math">
                    <m:sSup>
                      <m:e>
                        <m:r>
                          <m:t>s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 sz="2000"/>
                  <a:t> comes out an </a:t>
                </a:r>
                <a:r>
                  <a:rPr sz="2000" b="1"/>
                  <a:t>unbiased</a:t>
                </a:r>
                <a:r>
                  <a:rPr sz="2000"/>
                  <a:t> estimate of the population variance.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Standard Deviation?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rPr>
                          <m:sty m:val="p"/>
                        </m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sSup>
                            <m:e>
                              <m:r>
                                <m:t>s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rad>
                      <m:r>
                        <m:rPr>
                          <m:sty m:val="p"/>
                        </m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rPr>
                                  <m:sty m:val="p"/>
                                </m:rPr>
                                <m:t>∑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x</m:t>
                                  </m:r>
                                </m:e>
                              </m:acc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</a:p>
              <a:p>
                <a:pPr lvl="0"/>
                <a:r>
                  <a:rPr/>
                  <a:t>The </a:t>
                </a:r>
                <a:r>
                  <a:rPr b="1"/>
                  <a:t>square root of variance</a:t>
                </a:r>
                <a:r>
                  <a:rPr/>
                  <a:t> → back in original units (g) ✓</a:t>
                </a:r>
              </a:p>
              <a:p>
                <a:pPr lvl="0"/>
                <a:r>
                  <a:rPr/>
                  <a:t>Reports how spread out </a:t>
                </a:r>
                <a:r>
                  <a:rPr i="1"/>
                  <a:t>individual</a:t>
                </a:r>
                <a:r>
                  <a:rPr/>
                  <a:t> data points are</a:t>
                </a:r>
              </a:p>
              <a:p>
                <a:pPr lvl="0"/>
                <a:r>
                  <a:rPr/>
                  <a:t>Variance is in </a:t>
                </a:r>
                <a:r>
                  <a:rPr b="1"/>
                  <a:t>squared units</a:t>
                </a:r>
                <a:r>
                  <a:rPr/>
                  <a:t> (g²) — hard to interpret. That is why we use SD.</a:t>
                </a:r>
              </a:p>
            </p:txBody>
          </p:sp>
        </mc:Choice>
      </mc:AlternateContent>
      <p:pic>
        <p:nvPicPr>
          <p:cNvPr descr="summary_stats_lecture_files/figure-pptx/sd-normal-band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1244600"/>
            <a:ext cx="4406900" cy="264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Is Standard Error?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t>E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m:t>n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Measures how precisely we know the </a:t>
                </a:r>
                <a:r>
                  <a:rPr b="1"/>
                  <a:t>mean</a:t>
                </a:r>
              </a:p>
              <a:p>
                <a:pPr lvl="0"/>
                <a:r>
                  <a:rPr/>
                  <a:t>Not the spread of raw data — the </a:t>
                </a:r>
                <a:r>
                  <a:rPr b="1"/>
                  <a:t>uncertainty of the mean itself</a:t>
                </a:r>
              </a:p>
              <a:p>
                <a:pPr lvl="0"/>
                <a:r>
                  <a:rPr/>
                  <a:t>Gets </a:t>
                </a:r>
                <a:r>
                  <a:rPr b="1"/>
                  <a:t>smaller</a:t>
                </a:r>
                <a:r>
                  <a:rPr/>
                  <a:t> as </a:t>
                </a:r>
                <a:r>
                  <a:rPr i="1"/>
                  <a:t>n</a:t>
                </a:r>
                <a:r>
                  <a:rPr/>
                  <a:t> increases → more data = more precise estimate</a:t>
                </a:r>
              </a:p>
            </p:txBody>
          </p:sp>
        </mc:Choice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Describes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spread of </a:t>
                      </a:r>
                      <a:r>
                        <a:rPr i="1"/>
                        <a:t>individual</a:t>
                      </a:r>
                      <a:r>
                        <a:rPr/>
                        <a:t> data points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precision of the </a:t>
                      </a:r>
                      <a:r>
                        <a:rPr i="1"/>
                        <a:t>sample mean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report SE when making claims about group means.</a:t>
            </a:r>
          </a:p>
          <a:p>
            <a:pPr lvl="0" indent="0" marL="0">
              <a:buNone/>
            </a:pPr>
            <a:r>
              <a:rPr/>
              <a:t>📖 Whitlock &amp; Schluter, Ch. 4 — </a:t>
            </a:r>
            <a:r>
              <a:rPr i="1"/>
              <a:t>Estimating with Uncertainty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Do It By Hand First — One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Every statistic, written out, for the sunny leaves 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(shade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(mass_g,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variance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var</a:t>
            </a:r>
            <a:r>
              <a:rPr>
                <a:solidFill>
                  <a:srgbClr val="003B4F"/>
                </a:solidFill>
                <a:latin typeface="Courier"/>
              </a:rPr>
              <a:t>(mass_g,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(mass_g,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(mass_g)),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       =</a:t>
            </a:r>
            <a:r>
              <a:rPr>
                <a:solidFill>
                  <a:srgbClr val="003B4F"/>
                </a:solidFill>
                <a:latin typeface="Courier"/>
              </a:rPr>
              <a:t> sd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5
   mean variance    sd     n     se
  &lt;dbl&gt;    &lt;dbl&gt; &lt;dbl&gt; &lt;int&gt;  &lt;dbl&gt;
1 0.505   0.0442 0.210    25 0.0421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summarize()</a:t>
            </a:r>
            <a:r>
              <a:rPr/>
              <a:t> collapses many rows down to </a:t>
            </a:r>
            <a:r>
              <a:rPr b="1"/>
              <a:t>one row</a:t>
            </a:r>
            <a:r>
              <a:rPr/>
              <a:t> of statistics</a:t>
            </a:r>
          </a:p>
          <a:p>
            <a:pPr lvl="0"/>
            <a:r>
              <a:rPr/>
              <a:t>Every function gets </a:t>
            </a:r>
            <a:r>
              <a:rPr>
                <a:latin typeface="Courier"/>
              </a:rPr>
              <a:t>na.rm = TRUE</a:t>
            </a:r>
            <a:r>
              <a:rPr/>
              <a:t> — otherwise one </a:t>
            </a:r>
            <a:r>
              <a:rPr>
                <a:latin typeface="Courier"/>
              </a:rPr>
              <a:t>NA</a:t>
            </a:r>
            <a:r>
              <a:rPr/>
              <a:t> makes the whole answer </a:t>
            </a:r>
            <a:r>
              <a:rPr>
                <a:latin typeface="Courier"/>
              </a:rPr>
              <a:t>NA</a:t>
            </a:r>
          </a:p>
          <a:p>
            <a:pPr lvl="0"/>
            <a:r>
              <a:rPr>
                <a:latin typeface="Courier"/>
              </a:rPr>
              <a:t>n = sum(!is.na(mass_g))</a:t>
            </a:r>
            <a:r>
              <a:rPr/>
              <a:t> — the correct count, not </a:t>
            </a:r>
            <a:r>
              <a:rPr>
                <a:latin typeface="Courier"/>
              </a:rPr>
              <a:t>n()</a:t>
            </a:r>
          </a:p>
          <a:p>
            <a:pPr lvl="0"/>
            <a:r>
              <a:rPr>
                <a:latin typeface="Courier"/>
              </a:rPr>
              <a:t>se = sd / sqrt(n)</a:t>
            </a:r>
            <a:r>
              <a:rPr/>
              <a:t> — you can reuse </a:t>
            </a:r>
            <a:r>
              <a:rPr>
                <a:latin typeface="Courier"/>
              </a:rPr>
              <a:t>sd</a:t>
            </a:r>
            <a:r>
              <a:rPr/>
              <a:t> and </a:t>
            </a:r>
            <a:r>
              <a:rPr>
                <a:latin typeface="Courier"/>
              </a:rPr>
              <a:t>n</a:t>
            </a:r>
            <a:r>
              <a:rPr/>
              <a:t> </a:t>
            </a:r>
            <a:r>
              <a:rPr b="1"/>
              <a:t>later in the same </a:t>
            </a:r>
            <a:r>
              <a:rPr b="1">
                <a:latin typeface="Courier"/>
              </a:rPr>
              <a:t>summarize()</a:t>
            </a:r>
            <a:r>
              <a:rPr/>
              <a:t>, because they are already columns by then</a:t>
            </a:r>
          </a:p>
          <a:p>
            <a:pPr lvl="0"/>
            <a:r>
              <a:rPr/>
              <a:t>The result is a data frame, so it pipes onward into </a:t>
            </a:r>
            <a:r>
              <a:rPr>
                <a:latin typeface="Courier"/>
              </a:rPr>
              <a:t>ggplot()</a:t>
            </a:r>
            <a:r>
              <a:rPr/>
              <a:t> or </a:t>
            </a:r>
            <a:r>
              <a:rPr>
                <a:latin typeface="Courier"/>
              </a:rPr>
              <a:t>write_csv()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 It By Hand — Every Group at Once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How many </a:t>
            </a:r>
            <a:r>
              <a:rPr sz="2000" b="1"/>
              <a:t>rows</a:t>
            </a:r>
            <a:r>
              <a:rPr sz="2000"/>
              <a:t> will this return? (Hint: how many values does </a:t>
            </a:r>
            <a:r>
              <a:rPr sz="2000">
                <a:latin typeface="Courier"/>
              </a:rPr>
              <a:t>shade</a:t>
            </a:r>
            <a:r>
              <a:rPr sz="2000"/>
              <a:t> take?)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group_by() splits the data; summarize() runs per group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(shade)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(mass_g,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variance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var</a:t>
            </a:r>
            <a:r>
              <a:rPr>
                <a:solidFill>
                  <a:srgbClr val="003B4F"/>
                </a:solidFill>
                <a:latin typeface="Courier"/>
              </a:rPr>
              <a:t>(mass_g,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(mass_g,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(mass_g)),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       =</a:t>
            </a:r>
            <a:r>
              <a:rPr>
                <a:solidFill>
                  <a:srgbClr val="003B4F"/>
                </a:solidFill>
                <a:latin typeface="Courier"/>
              </a:rPr>
              <a:t> sd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6
  shade  mean variance    sd     n     se
  &lt;chr&gt; &lt;dbl&gt;    &lt;dbl&gt; &lt;dbl&gt; &lt;int&gt;  &lt;dbl&gt;
1 shady 0.523   0.0219 0.148    28 0.0280
2 sunny 0.505   0.0442 0.210    25 0.0421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Exactly the same </a:t>
            </a:r>
            <a:r>
              <a:rPr>
                <a:latin typeface="Courier"/>
              </a:rPr>
              <a:t>summarize()</a:t>
            </a:r>
            <a:r>
              <a:rPr/>
              <a:t> — the only new line is </a:t>
            </a:r>
            <a:r>
              <a:rPr>
                <a:latin typeface="Courier"/>
              </a:rPr>
              <a:t>group_by(shade)</a:t>
            </a:r>
          </a:p>
          <a:p>
            <a:pPr lvl="0"/>
            <a:r>
              <a:rPr/>
              <a:t>One row </a:t>
            </a:r>
            <a:r>
              <a:rPr b="1"/>
              <a:t>per group</a:t>
            </a:r>
            <a:r>
              <a:rPr/>
              <a:t> instead of one row overall</a:t>
            </a:r>
          </a:p>
          <a:p>
            <a:pPr lvl="0"/>
            <a:r>
              <a:rPr/>
              <a:t>This is the workhorse pattern for the rest of the course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Running this once for sunny and again for shady is exactly the repetition </a:t>
            </a:r>
            <a:r>
              <a:rPr sz="2000">
                <a:latin typeface="Courier"/>
              </a:rPr>
              <a:t>group_by()</a:t>
            </a:r>
            <a:r>
              <a:rPr sz="2000"/>
              <a:t> exists to remove.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Now Package It — </a:t>
            </a:r>
            <a:r>
              <a:rPr>
                <a:latin typeface="Courier"/>
              </a:rPr>
              <a:t>summary_stats()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summary_stats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(data, variable)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n 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({{ variable }})),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mean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({{ variable }},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variance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var</a:t>
            </a:r>
            <a:r>
              <a:rPr>
                <a:solidFill>
                  <a:srgbClr val="003B4F"/>
                </a:solidFill>
                <a:latin typeface="Courier"/>
              </a:rPr>
              <a:t>({{ variable }},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sd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({{ variable }},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se       =</a:t>
            </a:r>
            <a:r>
              <a:rPr>
                <a:solidFill>
                  <a:srgbClr val="003B4F"/>
                </a:solidFill>
                <a:latin typeface="Courier"/>
              </a:rPr>
              <a:t> sd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ci_lower =</a:t>
            </a:r>
            <a:r>
              <a:rPr>
                <a:solidFill>
                  <a:srgbClr val="003B4F"/>
                </a:solidFill>
                <a:latin typeface="Courier"/>
              </a:rPr>
              <a:t> mean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qt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0.975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df =</a:t>
            </a:r>
            <a:r>
              <a:rPr>
                <a:solidFill>
                  <a:srgbClr val="003B4F"/>
                </a:solidFill>
                <a:latin typeface="Courier"/>
              </a:rPr>
              <a:t> n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se,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ci_upper =</a:t>
            </a:r>
            <a:r>
              <a:rPr>
                <a:solidFill>
                  <a:srgbClr val="003B4F"/>
                </a:solidFill>
                <a:latin typeface="Courier"/>
              </a:rPr>
              <a:t> mean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qt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0.975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df =</a:t>
            </a:r>
            <a:r>
              <a:rPr>
                <a:solidFill>
                  <a:srgbClr val="003B4F"/>
                </a:solidFill>
                <a:latin typeface="Courier"/>
              </a:rPr>
              <a:t> n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se,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.groups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"drop"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It is the same </a:t>
            </a:r>
            <a:r>
              <a:rPr b="1">
                <a:latin typeface="Courier"/>
              </a:rPr>
              <a:t>summarize()</a:t>
            </a:r>
            <a:r>
              <a:rPr b="1"/>
              <a:t> you just wrote by hand</a:t>
            </a:r>
            <a:r>
              <a:rPr/>
              <a:t> — wrapped in </a:t>
            </a:r>
            <a:r>
              <a:rPr>
                <a:latin typeface="Courier"/>
              </a:rPr>
              <a:t>function()</a:t>
            </a:r>
            <a:r>
              <a:rPr/>
              <a:t> so you type it once, not once per variable</a:t>
            </a:r>
          </a:p>
          <a:p>
            <a:pPr lvl="0"/>
            <a:r>
              <a:rPr/>
              <a:t>Plus a 95% confidence interval for the mean, for free</a:t>
            </a:r>
          </a:p>
          <a:p>
            <a:pPr lvl="0"/>
            <a:r>
              <a:rPr>
                <a:latin typeface="Courier"/>
              </a:rPr>
              <a:t>{ variable }</a:t>
            </a:r>
            <a:r>
              <a:rPr/>
              <a:t> lets you pass a bare column name in, like </a:t>
            </a:r>
            <a:r>
              <a:rPr>
                <a:latin typeface="Courier"/>
              </a:rPr>
              <a:t>mass_g</a:t>
            </a:r>
          </a:p>
          <a:p>
            <a:pPr lvl="0"/>
            <a:r>
              <a:rPr/>
              <a:t>Works on </a:t>
            </a:r>
            <a:r>
              <a:rPr b="1"/>
              <a:t>one group</a:t>
            </a:r>
            <a:r>
              <a:rPr/>
              <a:t> or, if the data are already </a:t>
            </a:r>
            <a:r>
              <a:rPr>
                <a:latin typeface="Courier"/>
              </a:rPr>
              <a:t>group_by()</a:t>
            </a:r>
            <a:r>
              <a:rPr/>
              <a:t>-ed, </a:t>
            </a:r>
            <a:r>
              <a:rPr b="1"/>
              <a:t>every group at once</a:t>
            </a:r>
          </a:p>
          <a:p>
            <a:pPr lvl="0"/>
            <a:r>
              <a:rPr/>
              <a:t>Source: </a:t>
            </a:r>
            <a:r>
              <a:rPr>
                <a:hlinkClick r:id="rId2"/>
                <a:latin typeface="Courier"/>
              </a:rPr>
              <a:t>themes/summary_stats_function.R</a:t>
            </a:r>
            <a:r>
              <a:rPr/>
              <a:t> — same </a:t>
            </a:r>
            <a:r>
              <a:rPr>
                <a:latin typeface="Courier"/>
              </a:rPr>
              <a:t>themes/</a:t>
            </a:r>
            <a:r>
              <a:rPr/>
              <a:t> folder as your ggplot </a:t>
            </a:r>
            <a:r>
              <a:rPr>
                <a:hlinkClick r:id="rId3"/>
                <a:latin typeface="Courier"/>
              </a:rPr>
              <a:t>theme file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source() loads summary_stats() from another .R file 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source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"themes/summary_stats_function.R"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One Group at a Time — </a:t>
            </a:r>
            <a:r>
              <a:rPr>
                <a:latin typeface="Courier"/>
              </a:rPr>
              <a:t>filter()</a:t>
            </a:r>
            <a:r>
              <a:rPr/>
              <a:t> + </a:t>
            </a:r>
            <a:r>
              <a:rPr>
                <a:latin typeface="Courier"/>
              </a:rPr>
              <a:t>summary_stats()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Filter to one side, then hand it straight to the function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(shade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summary_stats</a:t>
            </a:r>
            <a:r>
              <a:rPr>
                <a:solidFill>
                  <a:srgbClr val="003B4F"/>
                </a:solidFill>
                <a:latin typeface="Courier"/>
              </a:rPr>
              <a:t>(mass_g)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7
      n  mean variance    sd     se ci_lower ci_upper
  &lt;int&gt; &lt;dbl&gt;    &lt;dbl&gt; &lt;dbl&gt;  &lt;dbl&gt;    &lt;dbl&gt;    &lt;dbl&gt;
1    25 0.505   0.0442 0.210 0.0421    0.418    0.592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filter(shade == "sunny")</a:t>
            </a:r>
            <a:r>
              <a:rPr/>
              <a:t> — keeps only sunny rows</a:t>
            </a:r>
          </a:p>
          <a:p>
            <a:pPr lvl="0"/>
            <a:r>
              <a:rPr/>
              <a:t>Pipe the filtered data straight into </a:t>
            </a:r>
            <a:r>
              <a:rPr>
                <a:latin typeface="Courier"/>
              </a:rPr>
              <a:t>summary_stats(mass_g)</a:t>
            </a:r>
            <a:r>
              <a:rPr/>
              <a:t> — no </a:t>
            </a:r>
            <a:r>
              <a:rPr>
                <a:latin typeface="Courier"/>
              </a:rPr>
              <a:t>pull()</a:t>
            </a:r>
            <a:r>
              <a:rPr/>
              <a:t>, no vector, no hand-written math</a:t>
            </a:r>
          </a:p>
          <a:p>
            <a:pPr lvl="0"/>
            <a:r>
              <a:rPr/>
              <a:t>Swap </a:t>
            </a:r>
            <a:r>
              <a:rPr>
                <a:latin typeface="Courier"/>
              </a:rPr>
              <a:t>"sunny"</a:t>
            </a:r>
            <a:r>
              <a:rPr/>
              <a:t> for </a:t>
            </a:r>
            <a:r>
              <a:rPr>
                <a:latin typeface="Courier"/>
              </a:rPr>
              <a:t>"shady"</a:t>
            </a:r>
            <a:r>
              <a:rPr/>
              <a:t> to get the other side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§3 — Data Transformation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🛑 Pause — Do Activity Parts 1–3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🛑 Do Activity Parts 1–3 now</a:t>
            </a:r>
          </a:p>
          <a:p>
            <a:pPr lvl="0" indent="0" marL="0">
              <a:buNone/>
            </a:pPr>
            <a:r>
              <a:rPr/>
              <a:t>Load the data, find the NAs, write the summary by hand with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  <a:r>
              <a:rPr/>
              <a:t>, then source </a:t>
            </a:r>
            <a:r>
              <a:rPr>
                <a:latin typeface="Courier"/>
              </a:rPr>
              <a:t>summary_stats()</a:t>
            </a:r>
            <a:r>
              <a:rPr/>
              <a:t> and use it on one group. Predict each output, type it, then run it.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2 of 2 · Every Group, Every Column, Fast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summary_stats()</a:t>
            </a:r>
            <a:r>
              <a:rPr/>
              <a:t> for every group at once, fast overviews with </a:t>
            </a:r>
            <a:r>
              <a:rPr>
                <a:latin typeface="Courier"/>
              </a:rPr>
              <a:t>skimr</a:t>
            </a:r>
            <a:r>
              <a:rPr/>
              <a:t>, and — if time allows — </a:t>
            </a:r>
            <a:r>
              <a:rPr>
                <a:latin typeface="Courier"/>
              </a:rPr>
              <a:t>across()</a:t>
            </a:r>
            <a:r>
              <a:rPr/>
              <a:t> for many columns at once.</a:t>
            </a:r>
          </a:p>
          <a:p>
            <a:pPr lvl="0" indent="0" marL="0">
              <a:buNone/>
            </a:pPr>
            <a:r>
              <a:rPr b="1"/>
              <a:t>🛑 After this chunk: Activity Parts 4–6.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Stats the Tidy Way —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summary_stats()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How many </a:t>
            </a:r>
            <a:r>
              <a:rPr sz="2000" b="1"/>
              <a:t>rows</a:t>
            </a:r>
            <a:r>
              <a:rPr sz="2000"/>
              <a:t> will this return? (Hint: how many values does </a:t>
            </a:r>
            <a:r>
              <a:rPr sz="2000">
                <a:latin typeface="Courier"/>
              </a:rPr>
              <a:t>shade</a:t>
            </a:r>
            <a:r>
              <a:rPr sz="2000"/>
              <a:t> take?) Predict the number before you run it.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Group first, then call the SAME function 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stats_df &lt;- 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(shade)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summary_stats</a:t>
            </a:r>
            <a:r>
              <a:rPr>
                <a:solidFill>
                  <a:srgbClr val="003B4F"/>
                </a:solidFill>
                <a:latin typeface="Courier"/>
              </a:rPr>
              <a:t>(mass_g)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stats_df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8
  shade     n  mean variance    sd     se ci_lower ci_upper
  &lt;chr&gt; &lt;int&gt; &lt;dbl&gt;    &lt;dbl&gt; &lt;dbl&gt;  &lt;dbl&gt;    &lt;dbl&gt;    &lt;dbl&gt;
1 shady    28 0.523   0.0219 0.148 0.0280    0.466    0.580
2 sunny    25 0.505   0.0442 0.210 0.0421    0.418    0.592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group_by(shade)</a:t>
            </a:r>
            <a:r>
              <a:rPr/>
              <a:t> splits the data by the </a:t>
            </a:r>
            <a:r>
              <a:rPr>
                <a:latin typeface="Courier"/>
              </a:rPr>
              <a:t>shade</a:t>
            </a:r>
            <a:r>
              <a:rPr/>
              <a:t> column</a:t>
            </a:r>
          </a:p>
          <a:p>
            <a:pPr lvl="0"/>
            <a:r>
              <a:rPr>
                <a:latin typeface="Courier"/>
              </a:rPr>
              <a:t>summary_stats()</a:t>
            </a:r>
            <a:r>
              <a:rPr/>
              <a:t> doesn’t change at all — it runs once per group</a:t>
            </a:r>
          </a:p>
          <a:p>
            <a:pPr lvl="0"/>
            <a:r>
              <a:rPr/>
              <a:t>You get </a:t>
            </a:r>
            <a:r>
              <a:rPr b="1"/>
              <a:t>both groups, every statistic, in one clean table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§3.5 — </a:t>
            </a:r>
            <a:r>
              <a:rPr>
                <a:hlinkClick r:id="rId3"/>
                <a:latin typeface="Courier"/>
              </a:rPr>
              <a:t>summarize()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Multiple Variables at Once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summary_stats() handles ONE variable, so for several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measurements at once we still write summarize() directly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size_stats_df &lt;- 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(shade)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  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(mass_g)),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mean_mass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(mass_g,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mean_pet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(petiole_mm,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mean_thick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(thickness_mm,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size_stats_df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5
  shade     n mean_mass mean_pet mean_thick
  &lt;chr&gt; &lt;int&gt;     &lt;dbl&gt;    &lt;dbl&gt;      &lt;dbl&gt;
1 shady    28     0.523     56.7      0.356
2 sunny    25     0.505     54.4      0.290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Do the numbers support our hypothesis?</a:t>
            </a:r>
          </a:p>
          <a:p>
            <a:pPr lvl="0"/>
            <a:r>
              <a:rPr/>
              <a:t>Shady heavier? → check </a:t>
            </a:r>
            <a:r>
              <a:rPr>
                <a:latin typeface="Courier"/>
              </a:rPr>
              <a:t>mean_mass</a:t>
            </a:r>
          </a:p>
          <a:p>
            <a:pPr lvl="0"/>
            <a:r>
              <a:rPr/>
              <a:t>Shady leaves thicker? → check </a:t>
            </a:r>
            <a:r>
              <a:rPr>
                <a:latin typeface="Courier"/>
              </a:rPr>
              <a:t>mean_thick</a:t>
            </a:r>
          </a:p>
          <a:p>
            <a:pPr lvl="0"/>
            <a:r>
              <a:rPr/>
              <a:t>Shady petioles longer? → check </a:t>
            </a:r>
            <a:r>
              <a:rPr>
                <a:latin typeface="Courier"/>
              </a:rPr>
              <a:t>mean_pet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Fast Summaries with </a:t>
            </a:r>
            <a:r>
              <a:rPr>
                <a:latin typeface="Courier"/>
              </a:rPr>
              <a:t>skimr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skim() grouped by shade — mass only 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(shade, mass_g)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(shade)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skim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2819400"/>
          <a:ext cx="8750300" cy="14351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4368800"/>
                <a:gridCol w="4368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Piped data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Number of rows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Number of columns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_______________________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Column type frequency: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numeric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________________________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Group variables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shade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>
            <p:ph idx="1"/>
          </p:nvPr>
        </p:nvSpPr>
        <p:spPr>
          <a:xfrm>
            <a:off x="127000" y="4254500"/>
            <a:ext cx="8750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Data summary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Variable type: numeric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2819400"/>
          <a:ext cx="8750300" cy="19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/>
                <a:gridCol w="622300"/>
                <a:gridCol w="1028700"/>
                <a:gridCol w="1435100"/>
                <a:gridCol w="520700"/>
                <a:gridCol w="520700"/>
                <a:gridCol w="520700"/>
                <a:gridCol w="520700"/>
                <a:gridCol w="520700"/>
                <a:gridCol w="520700"/>
                <a:gridCol w="520700"/>
                <a:gridCol w="6223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skim_variable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shade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n_missing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complete_rate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hist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mass_g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shady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▇▅▃▁▁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mass_g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▇▇▆▃▁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skim()</a:t>
            </a:r>
            <a:r>
              <a:rPr/>
              <a:t> is your fastest </a:t>
            </a:r>
            <a:r>
              <a:rPr b="1"/>
              <a:t>first look</a:t>
            </a:r>
            <a:r>
              <a:rPr/>
              <a:t> — </a:t>
            </a:r>
            <a:r>
              <a:rPr>
                <a:latin typeface="Courier"/>
              </a:rPr>
              <a:t>n_missing</a:t>
            </a:r>
            <a:r>
              <a:rPr/>
              <a:t>, mean, SD, percentiles, and a mini histogram, per group, in one line.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Fast Way — </a:t>
            </a:r>
            <a:r>
              <a:rPr>
                <a:latin typeface="Courier"/>
              </a:rPr>
              <a:t>across()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Apply the SAME function to every numeric column 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mean_all_df &lt;- 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(shade)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across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(mass_g, petiole_mm, thickness_mm),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(.x,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mean_all_df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4
  shade mass_g petiole_mm thickness_mm
  &lt;chr&gt;  &lt;dbl&gt;      &lt;dbl&gt;        &lt;dbl&gt;
1 shady  0.523       56.7        0.356
2 sunny  0.505       54.4        0.290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across(columns, function)</a:t>
            </a:r>
            <a:r>
              <a:rPr/>
              <a:t> applies one function to </a:t>
            </a:r>
            <a:r>
              <a:rPr b="1"/>
              <a:t>many columns</a:t>
            </a:r>
            <a:r>
              <a:rPr/>
              <a:t> at once</a:t>
            </a:r>
          </a:p>
          <a:p>
            <a:pPr lvl="0"/>
            <a:r>
              <a:rPr>
                <a:latin typeface="Courier"/>
              </a:rPr>
              <a:t>.x</a:t>
            </a:r>
            <a:r>
              <a:rPr/>
              <a:t> is a stand-in for “whichever column we’re on right now”</a:t>
            </a:r>
          </a:p>
          <a:p>
            <a:pPr lvl="0"/>
            <a:r>
              <a:rPr/>
              <a:t>Same idea as </a:t>
            </a:r>
            <a:r>
              <a:rPr>
                <a:latin typeface="Courier"/>
              </a:rPr>
              <a:t>mean_mass</a:t>
            </a:r>
            <a:r>
              <a:rPr/>
              <a:t>/</a:t>
            </a:r>
            <a:r>
              <a:rPr>
                <a:latin typeface="Courier"/>
              </a:rPr>
              <a:t>mean_thick</a:t>
            </a:r>
            <a:r>
              <a:rPr/>
              <a:t>/</a:t>
            </a:r>
            <a:r>
              <a:rPr>
                <a:latin typeface="Courier"/>
              </a:rPr>
              <a:t>mean_pet</a:t>
            </a:r>
            <a:r>
              <a:rPr/>
              <a:t> above — just without typing each one out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Once you have more than 3–4 measurement columns, </a:t>
            </a:r>
            <a:r>
              <a:rPr sz="2000">
                <a:latin typeface="Courier"/>
              </a:rPr>
              <a:t>across()</a:t>
            </a:r>
            <a:r>
              <a:rPr sz="2000"/>
              <a:t> saves real typing — and real typos.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→ ACTIVITY 6 starts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🛑 Go to Activity 6 — Summary Statistics</a:t>
            </a:r>
          </a:p>
          <a:p>
            <a:pPr lvl="0" indent="0" marL="0">
              <a:buNone/>
            </a:pPr>
            <a:r>
              <a:rPr/>
              <a:t>Close the slides. Finish Activity Parts 4–6, then Part 7 (review and checkpoint) on your own.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Statistics concepts:</a:t>
                </a:r>
              </a:p>
              <a:p>
                <a:pPr lvl="1"/>
                <a:r>
                  <a:rPr b="1"/>
                  <a:t>Mean</a:t>
                </a:r>
                <a:r>
                  <a:rPr/>
                  <a:t> — balance point; sensitive to outliers</a:t>
                </a:r>
              </a:p>
              <a:p>
                <a:pPr lvl="1"/>
                <a:r>
                  <a:rPr b="1"/>
                  <a:t>Median</a:t>
                </a:r>
                <a:r>
                  <a:rPr/>
                  <a:t> — middle value; robust</a:t>
                </a:r>
              </a:p>
              <a:p>
                <a:pPr lvl="1"/>
                <a:r>
                  <a:rPr b="1"/>
                  <a:t>Variance / SD</a:t>
                </a:r>
                <a:r>
                  <a:rPr/>
                  <a:t> — spread of individual data;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/>
                  <a:t> makes </a:t>
                </a:r>
                <a14:m>
                  <m:oMath xmlns:m="http://schemas.openxmlformats.org/officeDocument/2006/math">
                    <m:sSup>
                      <m:e>
                        <m:r>
                          <m:t>s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unbiased</a:t>
                </a:r>
              </a:p>
              <a:p>
                <a:pPr lvl="1"/>
                <a:r>
                  <a:rPr b="1"/>
                  <a:t>SE</a:t>
                </a:r>
                <a:r>
                  <a:rPr/>
                  <a:t> — precision of the sample mean</a:t>
                </a:r>
              </a:p>
              <a:p>
                <a:pPr lvl="0"/>
                <a:r>
                  <a:rPr b="1"/>
                  <a:t>R skills:</a:t>
                </a:r>
              </a:p>
              <a:p>
                <a:pPr lvl="1"/>
                <a:r>
                  <a:rPr>
                    <a:latin typeface="Courier"/>
                  </a:rPr>
                  <a:t>filter(is.na())</a:t>
                </a:r>
                <a:r>
                  <a:rPr/>
                  <a:t> / </a:t>
                </a:r>
                <a:r>
                  <a:rPr>
                    <a:latin typeface="Courier"/>
                  </a:rPr>
                  <a:t>filter(!is.na())</a:t>
                </a:r>
                <a:r>
                  <a:rPr/>
                  <a:t> — see the missing data before you summarize</a:t>
                </a:r>
              </a:p>
              <a:p>
                <a:pPr lvl="1"/>
                <a:r>
                  <a:rPr>
                    <a:latin typeface="Courier"/>
                  </a:rPr>
                  <a:t>sum(!is.na())</a:t>
                </a:r>
                <a:r>
                  <a:rPr/>
                  <a:t> — the right way to count </a:t>
                </a:r>
                <a:r>
                  <a:rPr i="1"/>
                  <a:t>n</a:t>
                </a:r>
              </a:p>
              <a:p>
                <a:pPr lvl="1"/>
                <a:r>
                  <a:rPr>
                    <a:latin typeface="Courier"/>
                  </a:rPr>
                  <a:t>group_by()</a:t>
                </a:r>
                <a:r>
                  <a:rPr/>
                  <a:t> + </a:t>
                </a:r>
                <a:r>
                  <a:rPr>
                    <a:latin typeface="Courier"/>
                  </a:rPr>
                  <a:t>summarize()</a:t>
                </a:r>
                <a:r>
                  <a:rPr/>
                  <a:t> by hand — mean, variance, sd, n, se</a:t>
                </a:r>
              </a:p>
              <a:p>
                <a:pPr lvl="1"/>
                <a:r>
                  <a:rPr/>
                  <a:t>The same code packaged as a reusable </a:t>
                </a:r>
                <a:r>
                  <a:rPr>
                    <a:latin typeface="Courier"/>
                  </a:rPr>
                  <a:t>summary_stats()</a:t>
                </a:r>
                <a:r>
                  <a:rPr/>
                  <a:t> function, sourced from </a:t>
                </a:r>
                <a:r>
                  <a:rPr>
                    <a:latin typeface="Courier"/>
                  </a:rPr>
                  <a:t>themes/</a:t>
                </a:r>
              </a:p>
              <a:p>
                <a:pPr lvl="1"/>
                <a:r>
                  <a:rPr>
                    <a:latin typeface="Courier"/>
                  </a:rPr>
                  <a:t>group_by()</a:t>
                </a:r>
                <a:r>
                  <a:rPr/>
                  <a:t> — run the same summary on every group at once</a:t>
                </a:r>
              </a:p>
              <a:p>
                <a:pPr lvl="1"/>
                <a:r>
                  <a:rPr>
                    <a:latin typeface="Courier"/>
                  </a:rPr>
                  <a:t>skim()</a:t>
                </a:r>
                <a:r>
                  <a:rPr/>
                  <a:t> — instant full dataset overview</a:t>
                </a:r>
              </a:p>
              <a:p>
                <a:pPr lvl="1"/>
                <a:r>
                  <a:rPr>
                    <a:latin typeface="Courier"/>
                  </a:rPr>
                  <a:t>across()</a:t>
                </a:r>
                <a:r>
                  <a:rPr/>
                  <a:t> — one function, many columns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Whitlock &amp; Schluter, Ch. 3 — </a:t>
            </a:r>
            <a:r>
              <a:rPr i="1"/>
              <a:t>Describing Data</a:t>
            </a:r>
          </a:p>
          <a:p>
            <a:pPr lvl="0"/>
            <a:r>
              <a:rPr/>
              <a:t>📖 Whitlock &amp; Schluter, Ch. 4 — </a:t>
            </a:r>
            <a:r>
              <a:rPr i="1"/>
              <a:t>Estimating with Uncertainty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§13</a:t>
            </a:r>
            <a:r>
              <a:rPr/>
              <a:t> — Numbers</a:t>
            </a:r>
          </a:p>
          <a:p>
            <a:pPr lvl="0"/>
            <a:r>
              <a:rPr/>
              <a:t>📖 </a:t>
            </a:r>
            <a:r>
              <a:rPr>
                <a:hlinkClick r:id="rId3"/>
              </a:rPr>
              <a:t>R4DS §18</a:t>
            </a:r>
            <a:r>
              <a:rPr/>
              <a:t> — Missing Values</a:t>
            </a:r>
          </a:p>
          <a:p>
            <a:pPr lvl="0" indent="0" marL="0">
              <a:buNone/>
            </a:pPr>
            <a:r>
              <a:rPr/>
              <a:t>Both W&amp;S PDFs are in the course </a:t>
            </a:r>
            <a:r>
              <a:rPr>
                <a:latin typeface="Courier"/>
              </a:rPr>
              <a:t>readings/</a:t>
            </a:r>
            <a:r>
              <a:rPr/>
              <a:t> folder.</a:t>
            </a:r>
          </a:p>
          <a:p>
            <a:pPr lvl="0" indent="0" marL="0">
              <a:buNone/>
            </a:pPr>
            <a:r>
              <a:rPr b="1"/>
              <a:t>Up next — Lecture 07, Quarto:</a:t>
            </a:r>
          </a:p>
          <a:p>
            <a:pPr lvl="0"/>
            <a:r>
              <a:rPr/>
              <a:t>Writing reproducible reports</a:t>
            </a:r>
          </a:p>
          <a:p>
            <a:pPr lvl="0"/>
            <a:r>
              <a:rPr/>
              <a:t>Mixing prose, code, and results in one document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06 — Summary Statistics</dc:title>
  <dc:creator>Bill Perry</dc:creator>
  <cp:keywords/>
  <dc:description>Mean, median, variance, SD, and SE; counting correctly with NAs; a reusable summary_stats() helper; group_by() + summarize(), across(), and skimr for describing our leaf data.</dc:description>
  <dcterms:created xsi:type="dcterms:W3CDTF">2026-10-20T00:52:32Z</dcterms:created>
  <dcterms:modified xsi:type="dcterms:W3CDTF">2026-10-20T00:52:32Z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2026-10-19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6</vt:lpwstr>
  </property>
  <property fmtid="{D5CDD505-2E9C-101B-9397-08002B2CF9AE}" pid="13" name="resources">
    <vt:lpwstr/>
  </property>
  <property fmtid="{D5CDD505-2E9C-101B-9397-08002B2CF9AE}" pid="14" name="subtitle">
    <vt:lpwstr>Mean, median, spread, and describing groups the tidy way</vt:lpwstr>
  </property>
  <property fmtid="{D5CDD505-2E9C-101B-9397-08002B2CF9AE}" pid="15" name="toc-title">
    <vt:lpwstr>Table of contents</vt:lpwstr>
  </property>
  <property fmtid="{D5CDD505-2E9C-101B-9397-08002B2CF9AE}" pid="16" name="type">
    <vt:lpwstr>lecture</vt:lpwstr>
  </property>
  <property fmtid="{D5CDD505-2E9C-101B-9397-08002B2CF9AE}" pid="17" name="week">
    <vt:lpwstr>3</vt:lpwstr>
  </property>
</Properties>
</file>