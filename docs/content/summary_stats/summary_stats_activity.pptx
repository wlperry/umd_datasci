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06 - Summary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Mean, median, spread, and describing groups the tidy way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Describing Our Leaf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Worksheet 05</a:t>
            </a:r>
          </a:p>
          <a:p>
            <a:pPr lvl="0"/>
            <a:r>
              <a:rPr/>
              <a:t>Used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and </a:t>
            </a:r>
            <a:r>
              <a:rPr>
                <a:latin typeface="Courier"/>
              </a:rPr>
              <a:t>arrange()</a:t>
            </a:r>
            <a:r>
              <a:rPr/>
              <a:t> to wrangle the leaf data</a:t>
            </a:r>
          </a:p>
          <a:p>
            <a:pPr lvl="0"/>
            <a:r>
              <a:rPr/>
              <a:t>Chained all four verbs into a single pipeline</a:t>
            </a:r>
          </a:p>
          <a:p>
            <a:pPr lvl="0"/>
            <a:r>
              <a:rPr/>
              <a:t>Used the pipe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Understand why </a:t>
            </a:r>
            <a:r>
              <a:rPr>
                <a:latin typeface="Courier"/>
              </a:rPr>
              <a:t>NA</a:t>
            </a:r>
            <a:r>
              <a:rPr/>
              <a:t> values require special handling with </a:t>
            </a:r>
            <a:r>
              <a:rPr>
                <a:latin typeface="Courier"/>
              </a:rPr>
              <a:t>sum(!is.na())</a:t>
            </a:r>
          </a:p>
          <a:p>
            <a:pPr lvl="0" indent="-342900" marL="342900">
              <a:buAutoNum type="arabicPeriod"/>
            </a:pPr>
            <a:r>
              <a:rPr/>
              <a:t>Calculate mean, median, SD, and SE using </a:t>
            </a:r>
            <a:r>
              <a:rPr>
                <a:latin typeface="Courier"/>
              </a:rPr>
              <a:t>filter()</a:t>
            </a:r>
            <a:r>
              <a:rPr/>
              <a:t> and </a:t>
            </a:r>
            <a:r>
              <a:rPr>
                <a:latin typeface="Courier"/>
              </a:rPr>
              <a:t>pull()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to compute stats the tidy way</a:t>
            </a:r>
          </a:p>
          <a:p>
            <a:pPr lvl="0" indent="-342900" marL="342900">
              <a:buAutoNum type="arabicPeriod"/>
            </a:pPr>
            <a:r>
              <a:rPr/>
              <a:t>Summarize many columns at once with </a:t>
            </a:r>
            <a:r>
              <a:rPr>
                <a:latin typeface="Courier"/>
              </a:rPr>
              <a:t>across()</a:t>
            </a:r>
          </a:p>
          <a:p>
            <a:pPr lvl="0" indent="-342900" marL="342900">
              <a:buAutoNum type="arabicPeriod"/>
            </a:pPr>
            <a:r>
              <a:rPr/>
              <a:t>Explore data quickly with </a:t>
            </a:r>
            <a:r>
              <a:rPr>
                <a:latin typeface="Courier"/>
              </a:rPr>
              <a:t>skimr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at your own pace. Type the code into a new R script in Positron and run it line by line. Code blocks marked </a:t>
            </a:r>
            <a:r>
              <a:rPr sz="2000" b="1"/>
              <a:t>▶ Run this</a:t>
            </a:r>
            <a:r>
              <a:rPr sz="2000"/>
              <a:t> should be executed exactly as written. Blocks marked </a:t>
            </a:r>
            <a:r>
              <a:rPr sz="2000" b="1"/>
              <a:t>✏️ Your turn</a:t>
            </a:r>
            <a:r>
              <a:rPr sz="2000"/>
              <a:t> ask you to write or modify something.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— always at the top of the script 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     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Excel file — path is relative to your project folder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NA problem — counting observations correctly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an NA?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NA</a:t>
            </a:r>
            <a:r>
              <a:rPr/>
              <a:t> stands for “Not Available” — it marks a </a:t>
            </a:r>
            <a:r>
              <a:rPr b="1"/>
              <a:t>missing value</a:t>
            </a:r>
            <a:r>
              <a:rPr/>
              <a:t>. Missing data are common in real ecological studies.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</a:t>
            </a:r>
            <a:r>
              <a:rPr b="1">
                <a:latin typeface="Courier"/>
              </a:rPr>
              <a:t>length()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small vector with missing values for demonstration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did </a:t>
            </a:r>
            <a:r>
              <a:rPr>
                <a:latin typeface="Courier"/>
              </a:rPr>
              <a:t>length(x)</a:t>
            </a:r>
            <a:r>
              <a:rPr/>
              <a:t> return? How many of those positions are real data values?</a:t>
            </a:r>
          </a:p>
          <a:p>
            <a:pPr lvl="0" indent="0">
              <a:buNone/>
            </a:pPr>
            <a:r>
              <a:rPr>
                <a:latin typeface="Courier"/>
              </a:rPr>
              <a:t>length(x) returned:
Number of real (non-NA) values: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Breaking down </a:t>
            </a:r>
            <a:r>
              <a:rPr b="1">
                <a:latin typeface="Courier"/>
              </a:rPr>
              <a:t>is.na()</a:t>
            </a:r>
            <a:r>
              <a:rPr b="1"/>
              <a:t> step by step</a:t>
            </a:r>
          </a:p>
          <a:p>
            <a:pPr lvl="0" indent="0" marL="0">
              <a:buNone/>
            </a:pPr>
            <a:r>
              <a:rPr b="1"/>
              <a:t>▶ Run each line one at a time: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Step 1: is.na() marks where the NAs are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Step 2: ! flips TRUE to FALSE and FALSE to TRUE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Step 3: sum() counts the TRUEs — TRUEs are real values!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Trace through what each step does to </a:t>
            </a:r>
            <a:r>
              <a:rPr>
                <a:latin typeface="Courier"/>
              </a:rPr>
              <a:t>c(4, 3, NA, 7, NA)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is.na(x)       produces:
!is.na(x)      produces:
sum(!is.na(x)) produces: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Any stats function on a vector containing </a:t>
            </a:r>
            <a:r>
              <a:rPr sz="2000">
                <a:latin typeface="Courier"/>
              </a:rPr>
              <a:t>NA</a:t>
            </a:r>
            <a:r>
              <a:rPr sz="2000"/>
              <a:t> returns </a:t>
            </a:r>
            <a:r>
              <a:rPr sz="2000">
                <a:latin typeface="Courier"/>
              </a:rPr>
              <a:t>NA</a:t>
            </a:r>
            <a:r>
              <a:rPr sz="2000"/>
              <a:t> — not an error. R will not tell you something went wrong. Always include </a:t>
            </a:r>
            <a:r>
              <a:rPr sz="2000">
                <a:latin typeface="Courier"/>
              </a:rPr>
              <a:t>na.rm = TRUE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Descriptive statistics in base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Extract one group with </a:t>
            </a:r>
            <a:r>
              <a:rPr b="1">
                <a:latin typeface="Courier"/>
              </a:rPr>
              <a:t>filter()</a:t>
            </a:r>
            <a:r>
              <a:rPr b="1"/>
              <a:t> and </a:t>
            </a:r>
            <a:r>
              <a:rPr b="1">
                <a:latin typeface="Courier"/>
              </a:rPr>
              <a:t>pull()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sunny leaf weights as a plain vector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sunny_wt    </a:t>
            </a:r>
            <a:r>
              <a:rPr>
                <a:solidFill>
                  <a:srgbClr val="5E5E5E"/>
                </a:solidFill>
                <a:latin typeface="Courier"/>
              </a:rPr>
              <a:t># print the raw values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the code to extract the shady leaf weights as a vector called </a:t>
            </a:r>
            <a:r>
              <a:rPr>
                <a:latin typeface="Courier"/>
              </a:rPr>
              <a:t>shady_wt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Mean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for the sunny side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mean_sunny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weight:"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Calculate the mean for the shady side. Store it as </a:t>
            </a:r>
            <a:r>
              <a:rPr>
                <a:latin typeface="Courier"/>
              </a:rPr>
              <a:t>mean_shady</a:t>
            </a:r>
            <a:r>
              <a:rPr/>
              <a:t> and print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Mean shady leaf weight (g):
Is the shady mean larger than sunny?  Y / N
Does this match the hypothesis?       Y / 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Median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Median for each side 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med_sunny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med_shady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Compare the mean and median for the sunny side. If they are about equal, what does that tell you about the shape of the distribution?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sunny:
Median sunny:
What it suggests about distribution shape: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Standard Deviation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SD for each side 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sd_shady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side has more variable leaf weights? What does a larger SD tell you biologically?</a:t>
            </a:r>
          </a:p>
          <a:p>
            <a:pPr lvl="0" indent="0">
              <a:buNone/>
            </a:pPr>
            <a:r>
              <a:rPr>
                <a:latin typeface="Courier"/>
              </a:rPr>
              <a:t>More variable side:
Biological interpretation: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Standard Error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SE = SD / √n. Since n is larger than 1, will the SE be </a:t>
            </a:r>
            <a:r>
              <a:rPr sz="2000" b="1"/>
              <a:t>larger or smaller</a:t>
            </a:r>
            <a:r>
              <a:rPr sz="2000"/>
              <a:t> than the SD you just calculated? Predict, then run.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 = SD / sqrt(n) — must use the correct n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(shady_wt))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se_sunny &lt;- sd_sunny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se_shady &lt;- sd_shady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sunny  ="</a:t>
            </a:r>
            <a:r>
              <a:rPr>
                <a:solidFill>
                  <a:srgbClr val="003B4F"/>
                </a:solidFill>
                <a:latin typeface="Courier"/>
              </a:rPr>
              <a:t>, n_sun,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sunny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shady  ="</a:t>
            </a:r>
            <a:r>
              <a:rPr>
                <a:solidFill>
                  <a:srgbClr val="003B4F"/>
                </a:solidFill>
                <a:latin typeface="Courier"/>
              </a:rPr>
              <a:t>, n_sha,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shady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your own words, what does the SE tell you that the SD does not?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If you collected 40 leaves per side instead of 10, would the SE get larger or smaller? Why?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Tidy stats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All groups, all stats, one pipeline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How many </a:t>
            </a:r>
            <a:r>
              <a:rPr sz="2000" b="1"/>
              <a:t>rows</a:t>
            </a:r>
            <a:r>
              <a:rPr sz="2000"/>
              <a:t> will </a:t>
            </a:r>
            <a:r>
              <a:rPr sz="2000">
                <a:latin typeface="Courier"/>
              </a:rPr>
              <a:t>stats_df</a:t>
            </a:r>
            <a:r>
              <a:rPr sz="2000"/>
              <a:t> have? (How many values does </a:t>
            </a:r>
            <a:r>
              <a:rPr sz="2000">
                <a:latin typeface="Courier"/>
              </a:rPr>
              <a:t>side</a:t>
            </a:r>
            <a:r>
              <a:rPr sz="2000"/>
              <a:t> take?) Predict the number before running.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group_by() + summarize() — the core tidyverse pattern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med_wt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 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</a:t>
            </a:r>
            <a:r>
              <a:rPr sz="2000">
                <a:latin typeface="Courier"/>
              </a:rPr>
              <a:t>group_by(side)</a:t>
            </a:r>
            <a:r>
              <a:rPr sz="2000"/>
              <a:t> splits the data by the </a:t>
            </a:r>
            <a:r>
              <a:rPr sz="2000">
                <a:latin typeface="Courier"/>
              </a:rPr>
              <a:t>side</a:t>
            </a:r>
            <a:r>
              <a:rPr sz="2000"/>
              <a:t> column, and every </a:t>
            </a:r>
            <a:r>
              <a:rPr sz="2000">
                <a:latin typeface="Courier"/>
              </a:rPr>
              <a:t>summarize()</a:t>
            </a:r>
            <a:r>
              <a:rPr sz="2000"/>
              <a:t> calculation runs separately within each group — that’s why </a:t>
            </a:r>
            <a:r>
              <a:rPr sz="2000">
                <a:latin typeface="Courier"/>
              </a:rPr>
              <a:t>stats_df</a:t>
            </a:r>
            <a:r>
              <a:rPr sz="2000"/>
              <a:t> comes back with exactly one row per side instead of one row overall.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The </a:t>
            </a:r>
            <a:r>
              <a:rPr>
                <a:latin typeface="Courier"/>
              </a:rPr>
              <a:t>se_wt</a:t>
            </a:r>
            <a:r>
              <a:rPr/>
              <a:t> line references </a:t>
            </a:r>
            <a:r>
              <a:rPr>
                <a:latin typeface="Courier"/>
              </a:rPr>
              <a:t>sd_wt</a:t>
            </a:r>
            <a:r>
              <a:rPr/>
              <a:t> and </a:t>
            </a:r>
            <a:r>
              <a:rPr>
                <a:latin typeface="Courier"/>
              </a:rPr>
              <a:t>n</a:t>
            </a:r>
            <a:r>
              <a:rPr/>
              <a:t> that were just created in the same </a:t>
            </a:r>
            <a:r>
              <a:rPr>
                <a:latin typeface="Courier"/>
              </a:rPr>
              <a:t>summarize()</a:t>
            </a:r>
            <a:r>
              <a:rPr/>
              <a:t> call. Rewrite the SE formula in plain words:</a:t>
            </a:r>
          </a:p>
          <a:p>
            <a:pPr lvl="0" indent="0">
              <a:buNone/>
            </a:pPr>
            <a:r>
              <a:rPr>
                <a:latin typeface="Courier"/>
              </a:rPr>
              <a:t>SE equals: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numbers in </a:t>
            </a:r>
            <a:r>
              <a:rPr>
                <a:latin typeface="Courier"/>
              </a:rPr>
              <a:t>stats_df</a:t>
            </a:r>
            <a:r>
              <a:rPr/>
              <a:t> match what you calculated by hand in Part 3?</a:t>
            </a:r>
          </a:p>
          <a:p>
            <a:pPr lvl="0" indent="0">
              <a:buNone/>
            </a:pPr>
            <a:r>
              <a:rPr>
                <a:latin typeface="Courier"/>
              </a:rPr>
              <a:t>Y / N — if not, explain any differences: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Summary across multiple variables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Summarize all three measurements at once 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(width_cm,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Looking at </a:t>
            </a:r>
            <a:r>
              <a:rPr>
                <a:latin typeface="Courier"/>
              </a:rPr>
              <a:t>size_stats_df</a:t>
            </a:r>
            <a:r>
              <a:rPr/>
              <a:t>, fill in the table:</a:t>
            </a:r>
          </a:p>
          <a:p>
            <a:pPr lvl="0" indent="0">
              <a:buNone/>
            </a:pPr>
            <a:r>
              <a:rPr>
                <a:latin typeface="Courier"/>
              </a:rPr>
              <a:t>Measurement    | Sunny mean | Shady mean | Shady larger? (Y/N)
---------------|------------|------------|---------------------
weight_g       |            |            |
height_cm      |            |            |
width_cm       |            |            |
Overall: does the data support the hypothesis?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The fast way — </a:t>
            </a:r>
            <a:r>
              <a:rPr>
                <a:latin typeface="Courier"/>
              </a:rPr>
              <a:t>across()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the SAME function to every measurement column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mean_all_df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(weight_g, width_cm, height_cm),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(.x,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mean_all_df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Compare </a:t>
            </a:r>
            <a:r>
              <a:rPr>
                <a:latin typeface="Courier"/>
              </a:rPr>
              <a:t>mean_all_df</a:t>
            </a:r>
            <a:r>
              <a:rPr/>
              <a:t> to </a:t>
            </a:r>
            <a:r>
              <a:rPr>
                <a:latin typeface="Courier"/>
              </a:rPr>
              <a:t>size_stats_df</a:t>
            </a:r>
            <a:r>
              <a:rPr/>
              <a:t> from Part 4. Same numbers?</a:t>
            </a:r>
          </a:p>
          <a:p>
            <a:pPr lvl="0" indent="0">
              <a:buNone/>
            </a:pPr>
            <a:r>
              <a:rPr>
                <a:latin typeface="Courier"/>
              </a:rPr>
              <a:t>Same numbers?  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mean</a:t>
            </a:r>
            <a:r>
              <a:rPr/>
              <a:t> inside </a:t>
            </a:r>
            <a:r>
              <a:rPr>
                <a:latin typeface="Courier"/>
              </a:rPr>
              <a:t>across()</a:t>
            </a:r>
            <a:r>
              <a:rPr/>
              <a:t> to </a:t>
            </a:r>
            <a:r>
              <a:rPr>
                <a:latin typeface="Courier"/>
              </a:rPr>
              <a:t>sd</a:t>
            </a:r>
            <a:r>
              <a:rPr/>
              <a:t>. What do you get back?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What changed: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Fast overview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side — everything at once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 at the </a:t>
            </a:r>
            <a:r>
              <a:rPr>
                <a:latin typeface="Courier"/>
              </a:rPr>
              <a:t>n_missing</a:t>
            </a:r>
            <a:r>
              <a:rPr/>
              <a:t> row for </a:t>
            </a:r>
            <a:r>
              <a:rPr>
                <a:latin typeface="Courier"/>
              </a:rPr>
              <a:t>weight_g</a:t>
            </a:r>
            <a:r>
              <a:rPr/>
              <a:t>. How many values are missing per group?</a:t>
            </a:r>
          </a:p>
          <a:p>
            <a:pPr lvl="0" indent="0">
              <a:buNone/>
            </a:pPr>
            <a:r>
              <a:rPr>
                <a:latin typeface="Courier"/>
              </a:rPr>
              <a:t>n_missing sunny weight_g:
n_missing shady weight_g: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 at the </a:t>
            </a:r>
            <a:r>
              <a:rPr>
                <a:latin typeface="Courier"/>
              </a:rPr>
              <a:t>mean</a:t>
            </a:r>
            <a:r>
              <a:rPr/>
              <a:t> and </a:t>
            </a:r>
            <a:r>
              <a:rPr>
                <a:latin typeface="Courier"/>
              </a:rPr>
              <a:t>p50</a:t>
            </a:r>
            <a:r>
              <a:rPr/>
              <a:t> (50th percentile = median) values for </a:t>
            </a:r>
            <a:r>
              <a:rPr>
                <a:latin typeface="Courier"/>
              </a:rPr>
              <a:t>weight_g</a:t>
            </a:r>
            <a:r>
              <a:rPr/>
              <a:t>. Are mean and median close for each group? What does that suggest about skewness?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one line of </a:t>
            </a:r>
            <a:r>
              <a:rPr sz="2000">
                <a:latin typeface="Courier"/>
              </a:rPr>
              <a:t>skim()</a:t>
            </a:r>
            <a:r>
              <a:rPr sz="2000"/>
              <a:t> gets you </a:t>
            </a:r>
            <a:r>
              <a:rPr sz="2000">
                <a:latin typeface="Courier"/>
              </a:rPr>
              <a:t>n_missing</a:t>
            </a:r>
            <a:r>
              <a:rPr sz="2000"/>
              <a:t>, mean, SD, and percentiles for every column, grouped by </a:t>
            </a:r>
            <a:r>
              <a:rPr sz="2000">
                <a:latin typeface="Courier"/>
              </a:rPr>
              <a:t>side</a:t>
            </a:r>
            <a:r>
              <a:rPr sz="2000"/>
              <a:t> — the same numbers you just computed by hand in Part 3, produced without writing </a:t>
            </a:r>
            <a:r>
              <a:rPr sz="2000">
                <a:latin typeface="Courier"/>
              </a:rPr>
              <a:t>filter()</a:t>
            </a:r>
            <a:r>
              <a:rPr sz="2000"/>
              <a:t> or </a:t>
            </a:r>
            <a:r>
              <a:rPr sz="2000">
                <a:latin typeface="Courier"/>
              </a:rPr>
              <a:t>pull()</a:t>
            </a:r>
            <a:r>
              <a:rPr sz="2000"/>
              <a:t> at all.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Explain why </a:t>
            </a:r>
            <a:r>
              <a:rPr>
                <a:latin typeface="Courier"/>
              </a:rPr>
              <a:t>length()</a:t>
            </a:r>
            <a:r>
              <a:rPr/>
              <a:t> is unreliable with NAs and use </a:t>
            </a:r>
            <a:r>
              <a:rPr>
                <a:latin typeface="Courier"/>
              </a:rPr>
              <a:t>sum(!is.na())</a:t>
            </a:r>
            <a:r>
              <a:rPr/>
              <a:t> instead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filter()</a:t>
            </a:r>
            <a:r>
              <a:rPr/>
              <a:t> and </a:t>
            </a:r>
            <a:r>
              <a:rPr>
                <a:latin typeface="Courier"/>
              </a:rPr>
              <a:t>pull()</a:t>
            </a:r>
            <a:r>
              <a:rPr/>
              <a:t> to extract a group’s values as a vector</a:t>
            </a:r>
          </a:p>
          <a:p>
            <a:pPr lvl="0"/>
            <a:r>
              <a:rPr/>
              <a:t>☐ Calculate mean, median, SD, and SE with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to compute stats for all groups at once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across()</a:t>
            </a:r>
            <a:r>
              <a:rPr/>
              <a:t> to apply one function to many columns at once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skim()</a:t>
            </a:r>
            <a:r>
              <a:rPr/>
              <a:t> for a fast full-dataset overview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complete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Extension — out of class (~30–40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Turn this in with your worksheet. In class you computed n, mean, SD, and SE. Now you add three spread statistics — one of them new — and reason about what each one tells you.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E2 and E3 must be handwritten</a:t>
            </a:r>
            <a:r>
              <a:rPr sz="2000"/>
              <a:t> on paper, photographed, and embedded (</a:t>
            </a:r>
            <a:r>
              <a:rPr sz="2000">
                <a:latin typeface="Courier"/>
              </a:rPr>
              <a:t>![caption](my_photo.jpg)</a:t>
            </a:r>
            <a:r>
              <a:rPr sz="2000"/>
              <a:t>). Typed answers to E2/E3 get </a:t>
            </a:r>
            <a:r>
              <a:rPr sz="2000" b="1"/>
              <a:t>at most half credit, even if correct</a:t>
            </a:r>
            <a:r>
              <a:rPr sz="2000"/>
              <a:t> — I want your own prediction and reasoning about </a:t>
            </a:r>
            <a:r>
              <a:rPr sz="2000" i="1"/>
              <a:t>your own</a:t>
            </a:r>
            <a:r>
              <a:rPr sz="2000"/>
              <a:t> numbers.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E1 · Three more spread statistics (4 pts)</a:t>
            </a:r>
          </a:p>
          <a:p>
            <a:pPr lvl="0" indent="0" marL="0">
              <a:buNone/>
            </a:pPr>
            <a:r>
              <a:rPr/>
              <a:t>Extend your grouped-by-</a:t>
            </a:r>
            <a:r>
              <a:rPr>
                <a:latin typeface="Courier"/>
              </a:rPr>
              <a:t>side</a:t>
            </a:r>
            <a:r>
              <a:rPr/>
              <a:t> summary of </a:t>
            </a:r>
            <a:r>
              <a:rPr>
                <a:latin typeface="Courier"/>
              </a:rPr>
              <a:t>weight_g</a:t>
            </a:r>
            <a:r>
              <a:rPr/>
              <a:t> to also include:</a:t>
            </a:r>
          </a:p>
          <a:p>
            <a:pPr lvl="0"/>
            <a:r>
              <a:rPr>
                <a:latin typeface="Courier"/>
              </a:rPr>
              <a:t>iqr_wt</a:t>
            </a:r>
            <a:r>
              <a:rPr/>
              <a:t> — the interquartile range (</a:t>
            </a:r>
            <a:r>
              <a:rPr>
                <a:latin typeface="Courier"/>
              </a:rPr>
              <a:t>IQR()</a:t>
            </a:r>
            <a:r>
              <a:rPr/>
              <a:t>, mind </a:t>
            </a:r>
            <a:r>
              <a:rPr>
                <a:latin typeface="Courier"/>
              </a:rPr>
              <a:t>na.rm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range_wt</a:t>
            </a:r>
            <a:r>
              <a:rPr/>
              <a:t> — </a:t>
            </a:r>
            <a:r>
              <a:rPr>
                <a:latin typeface="Courier"/>
              </a:rPr>
              <a:t>max(weight_g) - min(weight_g)</a:t>
            </a:r>
          </a:p>
          <a:p>
            <a:pPr lvl="0"/>
            <a:r>
              <a:rPr>
                <a:latin typeface="Courier"/>
              </a:rPr>
              <a:t>cv_wt</a:t>
            </a:r>
            <a:r>
              <a:rPr/>
              <a:t> — the </a:t>
            </a:r>
            <a:r>
              <a:rPr b="1"/>
              <a:t>coefficient of variation</a:t>
            </a:r>
            <a:r>
              <a:rPr/>
              <a:t>, computed by hand as </a:t>
            </a:r>
            <a:r>
              <a:rPr>
                <a:latin typeface="Courier"/>
              </a:rPr>
              <a:t>sd(weight_g) / mean(weight_g)</a:t>
            </a:r>
            <a:r>
              <a:rPr/>
              <a:t> (a unitless measure of </a:t>
            </a:r>
            <a:r>
              <a:rPr i="1"/>
              <a:t>relative</a:t>
            </a:r>
            <a:r>
              <a:rPr/>
              <a:t> spread — you have not been shown this one; work it out from the definition)</a:t>
            </a:r>
          </a:p>
          <a:p>
            <a:pPr lvl="0" indent="0" marL="0">
              <a:buNone/>
            </a:pPr>
            <a:r>
              <a:rPr/>
              <a:t>Show the full table (n, mean, sd, iqr_wt, range_wt, cv_wt) by side.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E2 · Predict, then check — ✍️ by hand (3 pts)</a:t>
            </a:r>
          </a:p>
          <a:p>
            <a:pPr lvl="0" indent="0" marL="0">
              <a:buNone/>
            </a:pPr>
            <a:r>
              <a:rPr b="1"/>
              <a:t>Before running E1:</a:t>
            </a:r>
          </a:p>
          <a:p>
            <a:pPr lvl="0" indent="-342900" marL="342900">
              <a:buAutoNum type="arabicPeriod"/>
            </a:pPr>
            <a:r>
              <a:rPr/>
              <a:t>Which side do you predict has the larger </a:t>
            </a:r>
            <a:r>
              <a:rPr>
                <a:latin typeface="Courier"/>
              </a:rPr>
              <a:t>sd</a:t>
            </a:r>
            <a:r>
              <a:rPr/>
              <a:t>? The larger </a:t>
            </a:r>
            <a:r>
              <a:rPr>
                <a:latin typeface="Courier"/>
              </a:rPr>
              <a:t>cv_wt</a:t>
            </a:r>
            <a:r>
              <a:rPr/>
              <a:t>? (They need not be the same side — think about why.)</a:t>
            </a:r>
          </a:p>
          <a:p>
            <a:pPr lvl="0" indent="-342900" marL="342900">
              <a:buAutoNum type="arabicPeriod"/>
            </a:pPr>
            <a:r>
              <a:rPr/>
              <a:t>One reason, based on the raw Part-1 numbers you already saw.</a:t>
            </a:r>
          </a:p>
          <a:p>
            <a:pPr lvl="0" indent="0" marL="0">
              <a:buNone/>
            </a:pPr>
            <a:r>
              <a:rPr/>
              <a:t>Then run E1 and, by hand, say whether both predictions held. If the bigger-SD side did </a:t>
            </a:r>
            <a:r>
              <a:rPr i="1"/>
              <a:t>not</a:t>
            </a:r>
            <a:r>
              <a:rPr/>
              <a:t> have the bigger CV, explain why that can happen.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E3 · Explain it — ✍️ by hand, with YOUR values (3 pts)</a:t>
            </a:r>
          </a:p>
          <a:p>
            <a:pPr lvl="0" indent="-342900" marL="342900">
              <a:buAutoNum type="arabicPeriod"/>
            </a:pPr>
            <a:r>
              <a:rPr/>
              <a:t>In plain language, what does your </a:t>
            </a:r>
            <a:r>
              <a:rPr>
                <a:latin typeface="Courier"/>
              </a:rPr>
              <a:t>cv_wt</a:t>
            </a:r>
            <a:r>
              <a:rPr/>
              <a:t> tell you about the </a:t>
            </a:r>
            <a:r>
              <a:rPr i="1"/>
              <a:t>relative</a:t>
            </a:r>
            <a:r>
              <a:rPr/>
              <a:t> variability of each side that the raw </a:t>
            </a:r>
            <a:r>
              <a:rPr>
                <a:latin typeface="Courier"/>
              </a:rPr>
              <a:t>sd</a:t>
            </a:r>
            <a:r>
              <a:rPr/>
              <a:t> alone does not?</a:t>
            </a:r>
          </a:p>
          <a:p>
            <a:pPr lvl="0" indent="-342900" marL="342900">
              <a:buAutoNum type="arabicPeriod"/>
            </a:pPr>
            <a:r>
              <a:rPr/>
              <a:t>Why is the CV useful for comparing spread between two groups with different means, when the raw SD can mislead?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load </a:t>
            </a:r>
            <a:r>
              <a:rPr>
                <a:latin typeface="Courier"/>
              </a:rPr>
              <a:t>library(readxl)</a:t>
            </a:r>
            <a:r>
              <a:rPr/>
              <a:t>, </a:t>
            </a:r>
            <a:r>
              <a:rPr>
                <a:latin typeface="Courier"/>
              </a:rPr>
              <a:t>library(tidyverse)</a:t>
            </a:r>
            <a:r>
              <a:rPr/>
              <a:t>, and </a:t>
            </a:r>
            <a:r>
              <a:rPr>
                <a:latin typeface="Courier"/>
              </a:rPr>
              <a:t>library(skimr)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 b="1"/>
              <a:t>Spelling?</a:t>
            </a:r>
            <a:r>
              <a:rPr/>
              <a:t> 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≠ </a:t>
            </a:r>
            <a:r>
              <a:rPr>
                <a:latin typeface="Courier"/>
              </a:rPr>
              <a:t>"sunny"</a:t>
            </a:r>
            <a:r>
              <a:rPr/>
              <a:t>. Check with </a:t>
            </a:r>
            <a:r>
              <a:rPr>
                <a:latin typeface="Courier"/>
              </a:rPr>
              <a:t>names(tree_df)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na.rm = TRUE</a:t>
            </a:r>
            <a:r>
              <a:rPr b="1"/>
              <a:t> missing?</a:t>
            </a:r>
            <a:r>
              <a:rPr/>
              <a:t> Any stat function on a column with NAs returns </a:t>
            </a:r>
            <a:r>
              <a:rPr>
                <a:latin typeface="Courier"/>
              </a:rPr>
              <a:t>NA</a:t>
            </a:r>
            <a:r>
              <a:rPr/>
              <a:t> without it — no error, just a silent wrong answer.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class, Canvas,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a missing </a:t>
            </a:r>
            <a:r>
              <a:rPr sz="2000">
                <a:latin typeface="Courier"/>
              </a:rPr>
              <a:t>na.rm = TRUE</a:t>
            </a:r>
            <a:r>
              <a:rPr sz="2000"/>
              <a:t>, a typo’d column name — these are the errors this worksheet is built around, and reading the message before you panic will solve most of them.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the Summary Statistics worksheet. Next: Quarto — writing reproducible reports that mix prose, code, and results in one document.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06 - Summary statistics</dc:title>
  <dc:creator>Bill Perry</dc:creator>
  <cp:keywords/>
  <dc:description>Hands-on companion to the summary statistics lecture. Handle NAs correctly with sum(!is.na()), compute mean, median, SD, and SE by group, then summarize many columns at once with across() and skimr.</dc:description>
  <dcterms:created xsi:type="dcterms:W3CDTF">2026-08-27T20:06:30Z</dcterms:created>
  <dcterms:modified xsi:type="dcterms:W3CDTF">2026-08-27T20:06:30Z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6</vt:lpwstr>
  </property>
  <property fmtid="{D5CDD505-2E9C-101B-9397-08002B2CF9AE}" pid="13" name="resources">
    <vt:lpwstr/>
  </property>
  <property fmtid="{D5CDD505-2E9C-101B-9397-08002B2CF9AE}" pid="14" name="subtitle">
    <vt:lpwstr>Mean, median, spread, and describing groups the tidy way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3</vt:lpwstr>
  </property>
</Properties>
</file>