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2026-10-19</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(shade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4902200" y="660400"/>
            <a:ext cx="3581400" cy="38100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699000" y="660400"/>
            <a:ext cx="3987800" cy="3810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leaf_project/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699000" y="660400"/>
            <a:ext cx="3987800" cy="3810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mass_g</a:t>
            </a:r>
            <a:r>
              <a:rPr/>
              <a:t> ≠ </a:t>
            </a:r>
            <a:r>
              <a:rPr>
                <a:latin typeface="Courier"/>
              </a:rPr>
              <a:t>Mass_g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mass_g</a:t>
            </a:r>
            <a:r>
              <a:rPr sz="2000"/>
              <a:t> and </a:t>
            </a:r>
            <a:r>
              <a:rPr sz="2000">
                <a:latin typeface="Courier"/>
              </a:rPr>
              <a:t>mass_G</a:t>
            </a:r>
            <a:r>
              <a:rPr sz="2000"/>
              <a:t> are </a:t>
            </a:r>
            <a:r>
              <a:rPr sz="2000" i="1"/>
              <a:t>different</a:t>
            </a:r>
            <a:r>
              <a:rPr sz="2000"/>
              <a:t> objects.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a:t>
            </a:r>
            <a:r>
              <a:rPr sz="2000" i="1"/>
              <a:t>Workflow: basics</a:t>
            </a:r>
            <a:r>
              <a:rPr sz="2000"/>
              <a:t> and Ch. 4 </a:t>
            </a:r>
            <a:r>
              <a:rPr sz="2000" i="1"/>
              <a:t>Workflow: code style</a:t>
            </a:r>
            <a:r>
              <a:rPr sz="2000"/>
              <a:t>. Short — read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Functions and their arguments</a:t>
            </a:r>
          </a:p>
        </p:txBody>
      </p:sp>
      <p:sp>
        <p:nvSpPr>
          <p:cNvPr id="3" name="Content Placeholder 2"/>
          <p:cNvSpPr>
            <a:spLocks noGrp="1"/>
          </p:cNvSpPr>
          <p:nvPr>
            <p:ph idx="1" sz="half"/>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pic>
        <p:nvPicPr>
          <p:cNvPr descr="images/diagram_function.png" id="0" name="Picture 1"/>
          <p:cNvPicPr>
            <a:picLocks noGrp="1" noChangeAspect="1"/>
          </p:cNvPicPr>
          <p:nvPr/>
        </p:nvPicPr>
        <p:blipFill>
          <a:blip r:embed="rId2"/>
          <a:stretch>
            <a:fillRect/>
          </a:stretch>
        </p:blipFill>
        <p:spPr bwMode="auto">
          <a:xfrm>
            <a:off x="4495800" y="863600"/>
            <a:ext cx="44069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mass_g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shade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(mass_g)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(mass_g)    </a:t>
            </a:r>
            <a:r>
              <a:rPr>
                <a:solidFill>
                  <a:srgbClr val="5E5E5E"/>
                </a:solidFill>
                <a:latin typeface="Courier"/>
              </a:rPr>
              <a:t># what type?</a:t>
            </a:r>
            <a:br/>
            <a:r>
              <a:rPr>
                <a:solidFill>
                  <a:srgbClr val="4758AB"/>
                </a:solidFill>
                <a:latin typeface="Courier"/>
              </a:rPr>
              <a:t>str</a:t>
            </a:r>
            <a:r>
              <a:rPr>
                <a:solidFill>
                  <a:srgbClr val="003B4F"/>
                </a:solidFill>
                <a:latin typeface="Courier"/>
              </a:rPr>
              <a:t>(mass_g)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495800" y="838200"/>
            <a:ext cx="4406900" cy="3441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a:t>
            </a:r>
            <a:br/>
            <a:r>
              <a:rPr>
                <a:solidFill>
                  <a:srgbClr val="003B4F"/>
                </a:solidFill>
                <a:latin typeface="Courier"/>
              </a:rPr>
              <a:t>  </a:t>
            </a:r>
            <a:r>
              <a:rPr>
                <a:solidFill>
                  <a:srgbClr val="4758AB"/>
                </a:solidFill>
                <a:latin typeface="Courier"/>
              </a:rPr>
              <a:t>read_excel</a:t>
            </a:r>
            <a:r>
              <a:rPr>
                <a:solidFill>
                  <a:srgbClr val="003B4F"/>
                </a:solidFill>
                <a:latin typeface="Courier"/>
              </a:rPr>
              <a:t>(</a:t>
            </a:r>
            <a:r>
              <a:rPr>
                <a:solidFill>
                  <a:srgbClr val="20794D"/>
                </a:solidFill>
                <a:latin typeface="Courier"/>
              </a:rPr>
              <a:t>"data/2026_09_03_data_sci_leaf_area.xlsx"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Mass (g)"</a:t>
            </a:r>
            <a:r>
              <a:rPr sz="2000"/>
              <a:t> into tidy names like </a:t>
            </a:r>
            <a:r>
              <a:rPr sz="2000">
                <a:latin typeface="Courier"/>
              </a:rPr>
              <a:t>leaf_mass_g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eight columns:</a:t>
            </a:r>
          </a:p>
          <a:p>
            <a:pPr lvl="0"/>
            <a:r>
              <a:rPr>
                <a:latin typeface="Courier"/>
              </a:rPr>
              <a:t>twig_id</a:t>
            </a:r>
            <a:r>
              <a:rPr/>
              <a:t>, </a:t>
            </a:r>
            <a:r>
              <a:rPr>
                <a:latin typeface="Courier"/>
              </a:rPr>
              <a:t>leaf_id</a:t>
            </a:r>
            <a:r>
              <a:rPr/>
              <a:t>, </a:t>
            </a:r>
            <a:r>
              <a:rPr>
                <a:latin typeface="Courier"/>
              </a:rPr>
              <a:t>teams</a:t>
            </a:r>
            <a:r>
              <a:rPr/>
              <a:t> — sample identifiers </a:t>
            </a:r>
            <a:r>
              <a:rPr i="1"/>
              <a:t>(character)</a:t>
            </a:r>
          </a:p>
          <a:p>
            <a:pPr lvl="0"/>
            <a:r>
              <a:rPr>
                <a:latin typeface="Courier"/>
              </a:rPr>
              <a:t>shade</a:t>
            </a:r>
            <a:r>
              <a:rPr/>
              <a:t> — </a:t>
            </a:r>
            <a:r>
              <a:rPr>
                <a:latin typeface="Courier"/>
              </a:rPr>
              <a:t>"sunny"</a:t>
            </a:r>
            <a:r>
              <a:rPr/>
              <a:t> / </a:t>
            </a:r>
            <a:r>
              <a:rPr>
                <a:latin typeface="Courier"/>
              </a:rPr>
              <a:t>"shady"</a:t>
            </a:r>
            <a:r>
              <a:rPr/>
              <a:t> </a:t>
            </a:r>
            <a:r>
              <a:rPr i="1"/>
              <a:t>(character)</a:t>
            </a:r>
          </a:p>
          <a:p>
            <a:pPr lvl="0"/>
            <a:r>
              <a:rPr>
                <a:latin typeface="Courier"/>
              </a:rPr>
              <a:t>mass_g</a:t>
            </a:r>
            <a:r>
              <a:rPr/>
              <a:t>, </a:t>
            </a:r>
            <a:r>
              <a:rPr>
                <a:latin typeface="Courier"/>
              </a:rPr>
              <a:t>petiole_mm</a:t>
            </a:r>
            <a:r>
              <a:rPr/>
              <a:t>, </a:t>
            </a:r>
            <a:r>
              <a:rPr>
                <a:latin typeface="Courier"/>
              </a:rPr>
              <a:t>thickness_mm</a:t>
            </a:r>
            <a:r>
              <a:rPr/>
              <a:t>, </a:t>
            </a:r>
            <a:r>
              <a:rPr>
                <a:latin typeface="Courier"/>
              </a:rPr>
              <a:t>paper_mass_g</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mass_g     </a:t>
            </a:r>
            <a:r>
              <a:rPr>
                <a:solidFill>
                  <a:srgbClr val="5E5E5E"/>
                </a:solidFill>
                <a:latin typeface="Courier"/>
              </a:rPr>
              <a:t># just the leaf masses,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41  8</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a:t>
            </a:r>
            <a:br/>
            <a:r>
              <a:rPr>
                <a:solidFill>
                  <a:srgbClr val="003B4F"/>
                </a:solidFill>
                <a:latin typeface="Courier"/>
              </a:rPr>
              <a:t>                   </a:t>
            </a:r>
            <a:r>
              <a:rPr>
                <a:solidFill>
                  <a:srgbClr val="5E5E5E"/>
                </a:solidFill>
                <a:latin typeface="Courier"/>
              </a:rPr>
              <a:t>#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shade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3 rows</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 In Lecture 03 we chain more steps together.</a:t>
            </a:r>
          </a:p>
        </p:txBody>
      </p:sp>
      <p:pic>
        <p:nvPicPr>
          <p:cNvPr descr="images/diagram_pipe.png" id="0" name="Picture 1"/>
          <p:cNvPicPr>
            <a:picLocks noGrp="1" noChangeAspect="1"/>
          </p:cNvPicPr>
          <p:nvPr/>
        </p:nvPicPr>
        <p:blipFill>
          <a:blip r:embed="rId2"/>
          <a:stretch>
            <a:fillRect/>
          </a:stretch>
        </p:blipFill>
        <p:spPr bwMode="auto">
          <a:xfrm>
            <a:off x="4495800" y="787400"/>
            <a:ext cx="4406900" cy="35560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shade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mass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mass_g</a:t>
            </a:r>
            <a:r>
              <a:rPr sz="2000"/>
              <a:t> for </a:t>
            </a:r>
            <a:r>
              <a:rPr sz="2000">
                <a:latin typeface="Courier"/>
              </a:rPr>
              <a:t>thickness_mm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a:p>
            <a:pPr lvl="0" indent="0" marL="0">
              <a:buNone/>
            </a:pPr>
            <a:r>
              <a:rPr>
                <a:latin typeface="Courier"/>
              </a:rPr>
              <a:t>geom_jitter()</a:t>
            </a:r>
            <a:r>
              <a:rPr/>
              <a:t> is just </a:t>
            </a:r>
            <a:r>
              <a:rPr>
                <a:latin typeface="Courier"/>
              </a:rPr>
              <a:t>geom_point()</a:t>
            </a:r>
            <a:r>
              <a:rPr/>
              <a:t> with a small sideways nudge (</a:t>
            </a:r>
            <a:r>
              <a:rPr>
                <a:latin typeface="Courier"/>
              </a:rPr>
              <a:t>width = 0.15</a:t>
            </a:r>
            <a:r>
              <a:rPr/>
              <a:t>) so overlapping leaves don’t hide behind each other.</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shade, </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"figures/leaf_mass.png"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petiole_mm</a:t>
            </a:r>
            <a:r>
              <a:rPr sz="2000"/>
              <a:t> by </a:t>
            </a:r>
            <a:r>
              <a:rPr sz="2000">
                <a:latin typeface="Courier"/>
              </a:rPr>
              <a:t>shade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2026-10-20T00:52:02Z</dcterms:created>
  <dcterms:modified xsi:type="dcterms:W3CDTF">2026-10-20T00:52:02Z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2026-10-19</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