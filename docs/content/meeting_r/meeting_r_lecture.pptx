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2026-10-08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4902200" y="660400"/>
            <a:ext cx="3581400" cy="38100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a:t>
            </a:r>
            <a:r>
              <a:rPr sz="2000" i="1"/>
              <a:t>different</a:t>
            </a:r>
            <a:r>
              <a:rPr sz="2000"/>
              <a:t> objects.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a:t>
            </a:r>
            <a:r>
              <a:rPr sz="2000" i="1"/>
              <a:t>Workflow: basics</a:t>
            </a:r>
            <a:r>
              <a:rPr sz="2000"/>
              <a:t> and Ch. 4 </a:t>
            </a:r>
            <a:r>
              <a:rPr sz="2000" i="1"/>
              <a:t>Workflow: code style</a:t>
            </a:r>
            <a:r>
              <a:rPr sz="2000"/>
              <a:t>. Short — read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Functions and their arguments</a:t>
            </a:r>
          </a:p>
        </p:txBody>
      </p:sp>
      <p:sp>
        <p:nvSpPr>
          <p:cNvPr id="3" name="Content Placeholder 2"/>
          <p:cNvSpPr>
            <a:spLocks noGrp="1"/>
          </p:cNvSpPr>
          <p:nvPr>
            <p:ph idx="1" sz="half"/>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pic>
        <p:nvPicPr>
          <p:cNvPr descr="images/diagram_function.png" id="0" name="Picture 1"/>
          <p:cNvPicPr>
            <a:picLocks noGrp="1" noChangeAspect="1"/>
          </p:cNvPicPr>
          <p:nvPr/>
        </p:nvPicPr>
        <p:blipFill>
          <a:blip r:embed="rId2"/>
          <a:stretch>
            <a:fillRect/>
          </a:stretch>
        </p:blipFill>
        <p:spPr bwMode="auto">
          <a:xfrm>
            <a:off x="4495800" y="863600"/>
            <a:ext cx="4406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495800" y="838200"/>
            <a:ext cx="4406900" cy="3441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3 rows</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 In Lecture 03 we chain more steps together.</a:t>
            </a:r>
          </a:p>
        </p:txBody>
      </p:sp>
      <p:pic>
        <p:nvPicPr>
          <p:cNvPr descr="images/diagram_pip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2026-10-08T20:17:38Z</dcterms:created>
  <dcterms:modified xsi:type="dcterms:W3CDTF">2026-10-08T20:17:38Z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2026-10-08</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