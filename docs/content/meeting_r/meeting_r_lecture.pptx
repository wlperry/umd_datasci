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(side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weight_g</a:t>
            </a:r>
            <a:r>
              <a:rPr/>
              <a:t> ≠ </a:t>
            </a:r>
            <a:r>
              <a:rPr>
                <a:latin typeface="Courier"/>
              </a:rPr>
              <a:t>Weight_g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weight_g</a:t>
            </a:r>
            <a:r>
              <a:rPr sz="2000"/>
              <a:t> and </a:t>
            </a:r>
            <a:r>
              <a:rPr sz="2000">
                <a:latin typeface="Courier"/>
              </a:rPr>
              <a:t>weight_G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weight_g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(weight_g)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(weight_g)    </a:t>
            </a:r>
            <a:r>
              <a:rPr>
                <a:solidFill>
                  <a:srgbClr val="5E5E5E"/>
                </a:solidFill>
                <a:latin typeface="Courier"/>
              </a:rPr>
              <a:t># what type?</a:t>
            </a:r>
            <a:br/>
            <a:r>
              <a:rPr>
                <a:solidFill>
                  <a:srgbClr val="4758AB"/>
                </a:solidFill>
                <a:latin typeface="Courier"/>
              </a:rPr>
              <a:t>str</a:t>
            </a:r>
            <a:r>
              <a:rPr>
                <a:solidFill>
                  <a:srgbClr val="003B4F"/>
                </a:solidFill>
                <a:latin typeface="Courier"/>
              </a:rPr>
              <a:t>(weight_g)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Weight (g)"</a:t>
            </a:r>
            <a:r>
              <a:rPr sz="2000"/>
              <a:t> into tidy names like </a:t>
            </a:r>
            <a:r>
              <a:rPr sz="2000">
                <a:latin typeface="Courier"/>
              </a:rPr>
              <a:t>leaf_weight_g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five columns:</a:t>
            </a:r>
          </a:p>
          <a:p>
            <a:pPr lvl="0"/>
            <a:r>
              <a:rPr>
                <a:latin typeface="Courier"/>
              </a:rPr>
              <a:t>index</a:t>
            </a:r>
            <a:r>
              <a:rPr/>
              <a:t> — leaf number </a:t>
            </a:r>
            <a:r>
              <a:rPr i="1"/>
              <a:t>(numeric)</a:t>
            </a:r>
          </a:p>
          <a:p>
            <a:pPr lvl="0"/>
            <a:r>
              <a:rPr>
                <a:latin typeface="Courier"/>
              </a:rPr>
              <a:t>side</a:t>
            </a:r>
            <a:r>
              <a:rPr/>
              <a:t> — </a:t>
            </a:r>
            <a:r>
              <a:rPr>
                <a:latin typeface="Courier"/>
              </a:rPr>
              <a:t>"sunny"</a:t>
            </a:r>
            <a:r>
              <a:rPr/>
              <a:t> / </a:t>
            </a:r>
            <a:r>
              <a:rPr>
                <a:latin typeface="Courier"/>
              </a:rPr>
              <a:t>"shady"</a:t>
            </a:r>
            <a:r>
              <a:rPr/>
              <a:t> </a:t>
            </a:r>
            <a:r>
              <a:rPr i="1"/>
              <a:t>(character)</a:t>
            </a:r>
          </a:p>
          <a:p>
            <a:pPr lvl="0"/>
            <a:r>
              <a:rPr>
                <a:latin typeface="Courier"/>
              </a:rPr>
              <a:t>weight_g</a:t>
            </a:r>
            <a:r>
              <a:rPr/>
              <a:t>, </a:t>
            </a:r>
            <a:r>
              <a:rPr>
                <a:latin typeface="Courier"/>
              </a:rPr>
              <a:t>width_cm</a:t>
            </a:r>
            <a:r>
              <a:rPr/>
              <a:t>, </a:t>
            </a:r>
            <a:r>
              <a:rPr>
                <a:latin typeface="Courier"/>
              </a:rPr>
              <a:t>height_cm</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weight_g     </a:t>
            </a:r>
            <a:r>
              <a:rPr>
                <a:solidFill>
                  <a:srgbClr val="5E5E5E"/>
                </a:solidFill>
                <a:latin typeface="Courier"/>
              </a:rPr>
              <a:t># just the weights,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side column (character), weight_g column (numeric), and height_cm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20  5</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side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filter(side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side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weight_g</a:t>
            </a:r>
            <a:r>
              <a:rPr sz="2000"/>
              <a:t> for </a:t>
            </a:r>
            <a:r>
              <a:rPr sz="2000">
                <a:latin typeface="Courier"/>
              </a:rPr>
              <a:t>height_cm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weight boxplot ready to save as a PNG.</a:t>
            </a:r>
          </a:p>
          <a:p>
            <a:pPr lvl="0" indent="0" marL="1270000">
              <a:buNone/>
            </a:pPr>
            <a:r>
              <a:rPr sz="2000"/>
              <a:t>Screenshot of the Save Plot dialog in Positron’s Plots pane, with the leaf weight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width_cm</a:t>
            </a:r>
            <a:r>
              <a:rPr sz="2000"/>
              <a:t> by </a:t>
            </a:r>
            <a:r>
              <a:rPr sz="2000">
                <a:latin typeface="Courier"/>
              </a:rPr>
              <a:t>side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2026-08-27T17:12:15Z</dcterms:created>
  <dcterms:modified xsi:type="dcterms:W3CDTF">2026-08-27T17:12:15Z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2026-08-27</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