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DCC31"/>
    <a:srgbClr val="70121D"/>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726"/>
  </p:normalViewPr>
  <p:slideViewPr>
    <p:cSldViewPr snapToGrid="0" snapToObjects="1">
      <p:cViewPr varScale="1">
        <p:scale>
          <a:sx d="100" n="165"/>
          <a:sy d="100" n="165"/>
        </p:scale>
        <p:origin x="560" y="184"/>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4" Type="http://schemas.openxmlformats.org/officeDocument/2006/relationships/viewProps" Target="viewProps.xml" /><Relationship Id="rId33" Type="http://schemas.openxmlformats.org/officeDocument/2006/relationships/presProps" Target="presProps.xml" /><Relationship Id="rId1" Type="http://schemas.openxmlformats.org/officeDocument/2006/relationships/slideMaster" Target="slideMasters/slideMaster1.xml" /><Relationship Id="rId36" Type="http://schemas.openxmlformats.org/officeDocument/2006/relationships/tableStyles" Target="tableStyles.xml" /><Relationship Id="rId35"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565688"/>
          </a:xfrm>
        </p:spPr>
        <p:txBody>
          <a:bodyPr>
            <a:normAutofit/>
          </a:bodyPr>
          <a:lstStyle>
            <a:lvl1pPr>
              <a:defRPr sz="2400"/>
            </a:lvl1pPr>
          </a:lstStyle>
          <a:p>
            <a:r>
              <a:rPr lang="en-US" dirty="0"/>
              <a:t>Click to edit Master title style</a:t>
            </a:r>
          </a:p>
        </p:txBody>
      </p:sp>
      <p:sp>
        <p:nvSpPr>
          <p:cNvPr id="3" name="Subtitle 2"/>
          <p:cNvSpPr>
            <a:spLocks noGrp="1"/>
          </p:cNvSpPr>
          <p:nvPr>
            <p:ph type="subTitle" idx="1"/>
          </p:nvPr>
        </p:nvSpPr>
        <p:spPr>
          <a:xfrm>
            <a:off x="255722" y="565689"/>
            <a:ext cx="6400800" cy="1314450"/>
          </a:xfrm>
        </p:spPr>
        <p:txBody>
          <a:bodyPr>
            <a:normAutofit/>
          </a:bodyPr>
          <a:lstStyle>
            <a:lvl1pPr marL="0" indent="0" algn="ctr">
              <a:buNone/>
              <a:defRPr sz="2000">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6/28/26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normAutofit/>
          </a:bodyPr>
          <a:lstStyle>
            <a:lvl1pPr algn="l">
              <a:defRPr sz="2400"/>
            </a:lvl1pPr>
          </a:lstStyle>
          <a:p>
            <a:r>
              <a:rPr lang="en-US" dirty="0"/>
              <a:t>Click to edit Master title style</a:t>
            </a:r>
          </a:p>
        </p:txBody>
      </p:sp>
      <p:sp>
        <p:nvSpPr>
          <p:cNvPr id="3" name="Content Placeholder 2"/>
          <p:cNvSpPr>
            <a:spLocks noGrp="1"/>
          </p:cNvSpPr>
          <p:nvPr>
            <p:ph idx="1"/>
          </p:nvPr>
        </p:nvSpPr>
        <p:spPr>
          <a:xfrm>
            <a:off x="0" y="614605"/>
            <a:ext cx="9089756" cy="3914289"/>
          </a:xfrm>
        </p:spPr>
        <p:txBody>
          <a:bodyPr/>
          <a:lstStyle>
            <a:lvl1pPr marL="230188" indent="-230188">
              <a:tabLst/>
              <a:defRPr sz="2000"/>
            </a:lvl1pPr>
            <a:lvl2pPr marL="514350" indent="-284163">
              <a:spcBef>
                <a:spcPts val="0"/>
              </a:spcBef>
              <a:tabLst/>
              <a:defRPr sz="2000"/>
            </a:lvl2pPr>
            <a:lvl3pPr marL="692150" indent="-177800">
              <a:spcBef>
                <a:spcPts val="0"/>
              </a:spcBef>
              <a:tabLst/>
              <a:defRPr sz="1600"/>
            </a:lvl3pPr>
            <a:lvl4pPr marL="914400" indent="-222250">
              <a:spcBef>
                <a:spcPts val="0"/>
              </a:spcBef>
              <a:tabLst/>
              <a:defRPr sz="1600"/>
            </a:lvl4pPr>
            <a:lvl5pPr marL="1146175" indent="-231775">
              <a:spcBef>
                <a:spcPts val="0"/>
              </a:spcBef>
              <a:tabLst/>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6/28/26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21556"/>
          </a:xfrm>
        </p:spPr>
        <p:txBody>
          <a:bodyPr anchor="t">
            <a:normAutofit/>
          </a:bodyPr>
          <a:lstStyle>
            <a:lvl1pPr algn="l">
              <a:defRPr sz="2400" b="1" cap="all"/>
            </a:lvl1pPr>
          </a:lstStyle>
          <a:p>
            <a:r>
              <a:rPr lang="en-US" dirty="0"/>
              <a:t>Click to edit Master title style</a:t>
            </a:r>
          </a:p>
        </p:txBody>
      </p:sp>
      <p:sp>
        <p:nvSpPr>
          <p:cNvPr id="3" name="Text Placeholder 2"/>
          <p:cNvSpPr>
            <a:spLocks noGrp="1"/>
          </p:cNvSpPr>
          <p:nvPr>
            <p:ph type="body" idx="1"/>
          </p:nvPr>
        </p:nvSpPr>
        <p:spPr>
          <a:xfrm>
            <a:off x="457200" y="1141649"/>
            <a:ext cx="7772400" cy="1125140"/>
          </a:xfrm>
        </p:spPr>
        <p:txBody>
          <a:bodyPr anchor="b">
            <a:normAutofit/>
          </a:bodyPr>
          <a:lstStyle>
            <a:lvl1pPr marL="0" indent="0">
              <a:buNone/>
              <a:defRPr sz="16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6/28/26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1A1A2E"/>
          </a:solidFill>
        </p:spPr>
        <p:txBody>
          <a:bodyPr/>
          <a:lstStyle>
            <a:lvl1pPr algn="l">
              <a:defRPr b="0">
                <a:solidFill>
                  <a:srgbClr val="F4CD54"/>
                </a:solidFill>
              </a:defRPr>
            </a:lvl1pPr>
          </a:lstStyle>
          <a:p>
            <a:r>
              <a:rPr lang="en-US" dirty="0"/>
              <a:t>Click to edit Master title style</a:t>
            </a:r>
          </a:p>
        </p:txBody>
      </p:sp>
      <p:sp>
        <p:nvSpPr>
          <p:cNvPr id="3" name="Content Placeholder 2"/>
          <p:cNvSpPr>
            <a:spLocks noGrp="1"/>
          </p:cNvSpPr>
          <p:nvPr>
            <p:ph sz="half" idx="1"/>
          </p:nvPr>
        </p:nvSpPr>
        <p:spPr>
          <a:xfrm>
            <a:off x="9041" y="662663"/>
            <a:ext cx="4201332" cy="3818173"/>
          </a:xfrm>
        </p:spPr>
        <p:txBody>
          <a:bodyPr/>
          <a:lstStyle>
            <a:lvl1pPr marL="230188" indent="-230188">
              <a:tabLst/>
              <a:defRPr sz="2000"/>
            </a:lvl1pPr>
            <a:lvl2pPr marL="460375" indent="-230188">
              <a:tabLst/>
              <a:defRPr sz="1800"/>
            </a:lvl2pPr>
            <a:lvl3pPr marL="630238" indent="-169863">
              <a:tabLst/>
              <a:defRPr sz="1600"/>
            </a:lvl3pPr>
            <a:lvl4pPr marL="914400" indent="-284163">
              <a:tabLst/>
              <a:defRPr sz="1600"/>
            </a:lvl4pPr>
            <a:lvl5pPr marL="1146175" indent="-231775">
              <a:tabLst/>
              <a:defRPr sz="1600"/>
            </a:lvl5pPr>
            <a:lvl6pPr>
              <a:defRPr sz="1350"/>
            </a:lvl6pPr>
            <a:lvl7pPr>
              <a:defRPr sz="1350"/>
            </a:lvl7pPr>
            <a:lvl8pPr>
              <a:defRPr sz="1350"/>
            </a:lvl8pPr>
            <a:lvl9pPr>
              <a:defRPr sz="135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502258" y="662664"/>
            <a:ext cx="4418308" cy="3818172"/>
          </a:xfrm>
        </p:spPr>
        <p:txBody>
          <a:bodyPr/>
          <a:lstStyle>
            <a:lvl1pPr marL="342900" indent="-342900">
              <a:defRPr lang="en-US" sz="2000" kern="1200" dirty="0">
                <a:solidFill>
                  <a:schemeClr val="tx1"/>
                </a:solidFill>
                <a:latin typeface="+mn-lt"/>
                <a:ea typeface="+mn-ea"/>
                <a:cs typeface="+mn-cs"/>
              </a:defRPr>
            </a:lvl1pPr>
            <a:lvl2pPr marL="515937" indent="-285750">
              <a:defRPr lang="en-US" sz="1800" kern="1200" dirty="0">
                <a:solidFill>
                  <a:schemeClr val="tx1"/>
                </a:solidFill>
                <a:latin typeface="+mn-lt"/>
                <a:ea typeface="+mn-ea"/>
                <a:cs typeface="+mn-cs"/>
              </a:defRPr>
            </a:lvl2pPr>
            <a:lvl3pPr marL="746125" indent="-285750">
              <a:defRPr lang="en-US" sz="1600" kern="1200" dirty="0">
                <a:solidFill>
                  <a:schemeClr val="tx1"/>
                </a:solidFill>
                <a:latin typeface="+mn-lt"/>
                <a:ea typeface="+mn-ea"/>
                <a:cs typeface="+mn-cs"/>
              </a:defRPr>
            </a:lvl3pPr>
            <a:lvl4pPr marL="915987" indent="-285750">
              <a:defRPr lang="en-US" sz="1600" kern="1200" dirty="0">
                <a:solidFill>
                  <a:schemeClr val="tx1"/>
                </a:solidFill>
                <a:latin typeface="+mn-lt"/>
                <a:ea typeface="+mn-ea"/>
                <a:cs typeface="+mn-cs"/>
              </a:defRPr>
            </a:lvl4pPr>
            <a:lvl5pPr marL="1200150" indent="-285750">
              <a:defRPr lang="en-US" sz="1600" kern="1200" dirty="0">
                <a:solidFill>
                  <a:schemeClr val="tx1"/>
                </a:solidFill>
                <a:latin typeface="+mn-lt"/>
                <a:ea typeface="+mn-ea"/>
                <a:cs typeface="+mn-cs"/>
              </a:defRPr>
            </a:lvl5pPr>
            <a:lvl6pPr>
              <a:defRPr sz="1350"/>
            </a:lvl6pPr>
            <a:lvl7pPr>
              <a:defRPr sz="1350"/>
            </a:lvl7pPr>
            <a:lvl8pPr>
              <a:defRPr sz="1350"/>
            </a:lvl8pPr>
            <a:lvl9pPr>
              <a:defRPr sz="1350"/>
            </a:lvl9pPr>
          </a:lstStyle>
          <a:p>
            <a:pPr marL="230188" lvl="0" indent="-230188" algn="l" defTabSz="342900" rtl="0" eaLnBrk="1" latinLnBrk="0" hangingPunct="1">
              <a:spcBef>
                <a:spcPct val="20000"/>
              </a:spcBef>
              <a:buFont typeface="Arial"/>
              <a:buChar char="•"/>
              <a:tabLst/>
            </a:pPr>
            <a:r>
              <a:rPr lang="en-US" dirty="0"/>
              <a:t>Click to edit Master text styles</a:t>
            </a:r>
          </a:p>
          <a:p>
            <a:pPr marL="460375" lvl="1" indent="-230188" algn="l" defTabSz="342900" rtl="0" eaLnBrk="1" latinLnBrk="0" hangingPunct="1">
              <a:spcBef>
                <a:spcPct val="20000"/>
              </a:spcBef>
              <a:buFont typeface="Arial"/>
              <a:buChar char="–"/>
              <a:tabLst/>
            </a:pPr>
            <a:r>
              <a:rPr lang="en-US" dirty="0"/>
              <a:t>Second level</a:t>
            </a:r>
          </a:p>
          <a:p>
            <a:pPr marL="630238" lvl="2" indent="-169863" algn="l" defTabSz="342900" rtl="0" eaLnBrk="1" latinLnBrk="0" hangingPunct="1">
              <a:spcBef>
                <a:spcPct val="20000"/>
              </a:spcBef>
              <a:buFont typeface="Arial"/>
              <a:buChar char="•"/>
              <a:tabLst/>
            </a:pPr>
            <a:r>
              <a:rPr lang="en-US" dirty="0"/>
              <a:t>Third level</a:t>
            </a:r>
          </a:p>
          <a:p>
            <a:pPr marL="914400" lvl="3" indent="-284163" algn="l" defTabSz="342900" rtl="0" eaLnBrk="1" latinLnBrk="0" hangingPunct="1">
              <a:spcBef>
                <a:spcPct val="20000"/>
              </a:spcBef>
              <a:buFont typeface="Arial"/>
              <a:buChar char="–"/>
              <a:tabLst/>
            </a:pPr>
            <a:r>
              <a:rPr lang="en-US" dirty="0"/>
              <a:t>Fourth level</a:t>
            </a:r>
          </a:p>
          <a:p>
            <a:pPr marL="1146175" lvl="4" indent="-231775" algn="l" defTabSz="342900" rtl="0" eaLnBrk="1" latinLnBrk="0" hangingPunct="1">
              <a:spcBef>
                <a:spcPct val="20000"/>
              </a:spcBef>
              <a:buFont typeface="Arial"/>
              <a:buChar char="»"/>
              <a:tabLst/>
            </a:pPr>
            <a:r>
              <a:rPr lang="en-US" dirty="0"/>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6/28/26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9485" y="78119"/>
            <a:ext cx="8229600" cy="607682"/>
          </a:xfrm>
        </p:spPr>
        <p:txBody>
          <a:bodyPr>
            <a:normAutofit/>
          </a:bodyPr>
          <a:lstStyle>
            <a:lvl1pPr algn="l">
              <a:defRPr sz="2800"/>
            </a:lvl1pPr>
          </a:lstStyle>
          <a:p>
            <a:r>
              <a:rPr lang="en-US" dirty="0"/>
              <a:t>Click to edit Master title style</a:t>
            </a:r>
          </a:p>
        </p:txBody>
      </p:sp>
      <p:sp>
        <p:nvSpPr>
          <p:cNvPr id="3" name="Text Placeholder 2"/>
          <p:cNvSpPr>
            <a:spLocks noGrp="1"/>
          </p:cNvSpPr>
          <p:nvPr>
            <p:ph type="body" idx="1"/>
          </p:nvPr>
        </p:nvSpPr>
        <p:spPr>
          <a:xfrm>
            <a:off x="136201" y="802623"/>
            <a:ext cx="4435799"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136201" y="1282444"/>
            <a:ext cx="4435799" cy="3305054"/>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753514" y="823389"/>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753514" y="1303210"/>
            <a:ext cx="4041775" cy="3284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6/28/26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6/28/26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6/28/26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71538"/>
          </a:xfrm>
        </p:spPr>
        <p:txBody>
          <a:bodyPr anchor="t" anchorCtr="0">
            <a:normAutofit/>
          </a:bodyPr>
          <a:lstStyle>
            <a:lvl1pPr algn="l">
              <a:defRPr sz="2400" b="1"/>
            </a:lvl1pPr>
          </a:lstStyle>
          <a:p>
            <a:r>
              <a:rPr lang="en-US"/>
              <a:t>Click to edit Master title style</a:t>
            </a:r>
          </a:p>
        </p:txBody>
      </p:sp>
      <p:sp>
        <p:nvSpPr>
          <p:cNvPr id="3" name="Content Placeholder 2"/>
          <p:cNvSpPr>
            <a:spLocks noGrp="1"/>
          </p:cNvSpPr>
          <p:nvPr>
            <p:ph idx="1"/>
          </p:nvPr>
        </p:nvSpPr>
        <p:spPr>
          <a:xfrm>
            <a:off x="139485" y="2822226"/>
            <a:ext cx="8756541" cy="1945037"/>
          </a:xfrm>
        </p:spPr>
        <p:txBody>
          <a:bodyPr/>
          <a:lstStyle>
            <a:lvl1pPr>
              <a:defRPr sz="2000"/>
            </a:lvl1pPr>
            <a:lvl2pPr>
              <a:defRPr sz="1800"/>
            </a:lvl2pPr>
            <a:lvl3pPr>
              <a:defRPr sz="1800"/>
            </a:lvl3pPr>
            <a:lvl4pPr>
              <a:defRPr sz="1800"/>
            </a:lvl4pPr>
            <a:lvl5pPr>
              <a:defRPr sz="1800"/>
            </a:lvl5pPr>
            <a:lvl6pPr>
              <a:defRPr sz="1500"/>
            </a:lvl6pPr>
            <a:lvl7pPr>
              <a:defRPr sz="1500"/>
            </a:lvl7pPr>
            <a:lvl8pPr>
              <a:defRPr sz="1500"/>
            </a:lvl8pPr>
            <a:lvl9pPr>
              <a:defRPr sz="15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0" y="960803"/>
            <a:ext cx="354136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6/28/26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6/28/26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6/28/26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6/28/26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7490" y="102393"/>
            <a:ext cx="8934774" cy="582780"/>
          </a:xfrm>
          <a:prstGeom prst="rect">
            <a:avLst/>
          </a:prstGeom>
          <a:solidFill>
            <a:srgbClr val="1A1A2E"/>
          </a:solidFill>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77489" y="781696"/>
            <a:ext cx="8934773" cy="3914289"/>
          </a:xfrm>
          <a:prstGeom prst="rect">
            <a:avLst/>
          </a:prstGeom>
        </p:spPr>
        <p:txBody>
          <a:bodyPr bIns="45720" lIns="91440" rIns="91440" rtlCol="0" tIns="45720" vert="horz">
            <a:normAutofit/>
          </a:bodyPr>
          <a:lstStyle/>
          <a:p>
            <a:pPr lvl="0"/>
            <a:r>
              <a:rPr dirty="0" lang="en-US"/>
              <a:t>Click to edit Master text styles</a:t>
            </a:r>
          </a:p>
          <a:p>
            <a:pPr lvl="1"/>
            <a:r>
              <a:rPr dirty="0" lang="en-US"/>
              <a:t>Second level</a:t>
            </a:r>
          </a:p>
          <a:p>
            <a:pPr lvl="2"/>
            <a:r>
              <a:rPr dirty="0" lang="en-US"/>
              <a:t>Third level</a:t>
            </a:r>
          </a:p>
          <a:p>
            <a:pPr lvl="3"/>
            <a:r>
              <a:rPr dirty="0" lang="en-US"/>
              <a:t>Fourth level</a:t>
            </a:r>
          </a:p>
          <a:p>
            <a:pPr lvl="4"/>
            <a:r>
              <a:rPr dirty="0"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6/28/26</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342900" eaLnBrk="1" hangingPunct="1" latinLnBrk="0" rtl="0">
        <a:spcBef>
          <a:spcPct val="0"/>
        </a:spcBef>
        <a:buNone/>
        <a:defRPr kern="1200" sz="2800">
          <a:solidFill>
            <a:srgbClr val="F4CD54"/>
          </a:solidFill>
          <a:latin typeface="+mj-lt"/>
          <a:ea typeface="+mj-ea"/>
          <a:cs typeface="+mj-cs"/>
        </a:defRPr>
      </a:lvl1pPr>
    </p:titleStyle>
    <p:bodyStyle>
      <a:lvl1pPr algn="l" defTabSz="342900" eaLnBrk="1" hangingPunct="1" indent="-342900" latinLnBrk="0" marL="342900" rtl="0">
        <a:spcBef>
          <a:spcPts val="0"/>
        </a:spcBef>
        <a:buFont typeface="Arial"/>
        <a:buChar char="•"/>
        <a:defRPr kern="1200" sz="2000">
          <a:solidFill>
            <a:schemeClr val="tx1"/>
          </a:solidFill>
          <a:latin typeface="+mn-lt"/>
          <a:ea typeface="+mn-ea"/>
          <a:cs typeface="+mn-cs"/>
        </a:defRPr>
      </a:lvl1pPr>
      <a:lvl2pPr algn="l" defTabSz="342900" eaLnBrk="1" hangingPunct="1" indent="-342900" latinLnBrk="0" marL="685800" rtl="0">
        <a:spcBef>
          <a:spcPts val="0"/>
        </a:spcBef>
        <a:buFont typeface="Arial"/>
        <a:buChar char="–"/>
        <a:defRPr kern="1200" sz="2000">
          <a:solidFill>
            <a:schemeClr val="tx1"/>
          </a:solidFill>
          <a:latin typeface="+mn-lt"/>
          <a:ea typeface="+mn-ea"/>
          <a:cs typeface="+mn-cs"/>
        </a:defRPr>
      </a:lvl2pPr>
      <a:lvl3pPr algn="l" defTabSz="342900" eaLnBrk="1" hangingPunct="1" indent="-342900" latinLnBrk="0" marL="1028700" rtl="0">
        <a:spcBef>
          <a:spcPts val="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ts val="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ts val="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png"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2.png" /></Relationships>
</file>

<file path=ppt/slides/_rels/slide6.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2.png"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3.png" /></Relationships>
</file>

<file path=ppt/slides/_rels/slide11.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4.png" /></Relationships>
</file>

<file path=ppt/slides/_rels/slide14.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5.png"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6.png" /></Relationships>
</file>

<file path=ppt/slides/_rels/slide18.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7.png" /></Relationships>
</file>

<file path=ppt/slides/_rels/slide22.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8.png"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hyperlink" Target="https://posit.co/resources/cheatsheets/" TargetMode="Externa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565688"/>
          </a:xfrm>
        </p:spPr>
        <p:txBody>
          <a:bodyPr/>
          <a:lstStyle/>
          <a:p>
            <a:pPr lvl="0" indent="0" marL="0">
              <a:buNone/>
            </a:pPr>
            <a:r>
              <a:rPr/>
              <a:t>Lecture 02 — Introduction to R and Positron</a:t>
            </a:r>
          </a:p>
        </p:txBody>
      </p:sp>
      <p:sp>
        <p:nvSpPr>
          <p:cNvPr id="3" name="Subtitle 2"/>
          <p:cNvSpPr>
            <a:spLocks noGrp="1"/>
          </p:cNvSpPr>
          <p:nvPr>
            <p:ph idx="1" type="subTitle"/>
          </p:nvPr>
        </p:nvSpPr>
        <p:spPr>
          <a:xfrm>
            <a:off x="255722" y="565689"/>
            <a:ext cx="6400800" cy="1314450"/>
          </a:xfrm>
        </p:spPr>
        <p:txBody>
          <a:bodyPr/>
          <a:lstStyle/>
          <a:p>
            <a:pPr lvl="0" indent="0" marL="0">
              <a:buNone/>
            </a:pPr>
            <a:r>
              <a:rPr/>
              <a:t>R, Positron and Projects</a:t>
            </a:r>
            <a:br/>
            <a:br/>
            <a:r>
              <a:rPr/>
              <a:t>Bill Perry</a:t>
            </a:r>
          </a:p>
        </p:txBody>
      </p:sp>
      <p:sp>
        <p:nvSpPr>
          <p:cNvPr id="4" name="Date Placeholder 3"/>
          <p:cNvSpPr>
            <a:spLocks noGrp="1"/>
          </p:cNvSpPr>
          <p:nvPr>
            <p:ph idx="10" sz="half" type="dt"/>
          </p:nvPr>
        </p:nvSpPr>
        <p:spPr/>
        <p:txBody>
          <a:bodyPr/>
          <a:lstStyle/>
          <a:p>
            <a:pPr lvl="0" indent="0" marL="0">
              <a:buNone/>
            </a:pPr>
            <a:r>
              <a:rPr/>
              <a:t>2026-10-19</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Where we left off (Lecture 01)</a:t>
            </a:r>
          </a:p>
        </p:txBody>
      </p:sp>
      <p:sp>
        <p:nvSpPr>
          <p:cNvPr id="3" name="Content Placeholder 2"/>
          <p:cNvSpPr>
            <a:spLocks noGrp="1"/>
          </p:cNvSpPr>
          <p:nvPr>
            <p:ph idx="1"/>
          </p:nvPr>
        </p:nvSpPr>
        <p:spPr/>
        <p:txBody>
          <a:bodyPr/>
          <a:lstStyle/>
          <a:p>
            <a:pPr lvl="0"/>
            <a:r>
              <a:rPr b="1"/>
              <a:t>Science fundamentals</a:t>
            </a:r>
            <a:r>
              <a:rPr/>
              <a:t> — falsifiable predictions; null vs. alternate hypotheses</a:t>
            </a:r>
          </a:p>
          <a:p>
            <a:pPr lvl="0"/>
            <a:r>
              <a:rPr b="1"/>
              <a:t>Our class project</a:t>
            </a:r>
            <a:r>
              <a:rPr/>
              <a:t> — leaf morphology: </a:t>
            </a:r>
            <a:r>
              <a:rPr i="1"/>
              <a:t>sunny vs. shady</a:t>
            </a:r>
            <a:r>
              <a:rPr/>
              <a:t> sides of trees</a:t>
            </a:r>
          </a:p>
          <a:p>
            <a:pPr lvl="0"/>
            <a:r>
              <a:rPr b="1"/>
              <a:t>Design</a:t>
            </a:r>
            <a:r>
              <a:rPr/>
              <a:t> — randomization, replication (multiple trees), sampling limits</a:t>
            </a:r>
          </a:p>
          <a:p>
            <a:pPr lvl="0"/>
            <a:r>
              <a:rPr b="1"/>
              <a:t>Variables</a:t>
            </a:r>
            <a:r>
              <a:rPr/>
              <a:t> — dependent (leaf mass/size) vs. independent (shade of tree)</a:t>
            </a:r>
          </a:p>
          <a:p>
            <a:pPr lvl="0"/>
            <a:r>
              <a:rPr b="1"/>
              <a:t>Spreadsheet hygiene</a:t>
            </a:r>
            <a:r>
              <a:rPr/>
              <a:t> — metadata, consistent column names, units, clean sheet design</a:t>
            </a:r>
          </a:p>
          <a:p>
            <a:pPr lvl="0"/>
            <a:r>
              <a:rPr b="1"/>
              <a:t>Installed</a:t>
            </a:r>
            <a:r>
              <a:rPr/>
              <a:t> R and Positron before today</a:t>
            </a:r>
          </a:p>
          <a:p>
            <a:pPr lvl="0" indent="0" marL="1270000">
              <a:buNone/>
            </a:pPr>
            <a:r>
              <a:rPr sz="2000" b="1"/>
              <a:t>Note</a:t>
            </a:r>
          </a:p>
          <a:p>
            <a:pPr lvl="0" indent="0" marL="1270000">
              <a:buNone/>
            </a:pPr>
            <a:r>
              <a:rPr sz="2000" b="1"/>
              <a:t>✅ Key idea</a:t>
            </a:r>
          </a:p>
          <a:p>
            <a:pPr lvl="0" indent="0" marL="1270000">
              <a:buNone/>
            </a:pPr>
            <a:r>
              <a:rPr sz="2000"/>
              <a:t>Today we take that tidy spreadsheet and bring it to life in R.</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1A1A2E"/>
          </a:solidFill>
        </p:spPr>
        <p:txBody>
          <a:bodyPr/>
          <a:lstStyle/>
          <a:p>
            <a:pPr lvl="0" indent="0" marL="0">
              <a:buNone/>
            </a:pPr>
            <a:r>
              <a:rPr/>
              <a:t>Goals for today</a:t>
            </a:r>
          </a:p>
        </p:txBody>
      </p:sp>
      <p:sp>
        <p:nvSpPr>
          <p:cNvPr id="3" name="Content Placeholder 2"/>
          <p:cNvSpPr>
            <a:spLocks noGrp="1"/>
          </p:cNvSpPr>
          <p:nvPr>
            <p:ph idx="1" sz="half"/>
          </p:nvPr>
        </p:nvSpPr>
        <p:spPr/>
        <p:txBody>
          <a:bodyPr/>
          <a:lstStyle/>
          <a:p>
            <a:pPr lvl="0"/>
            <a:r>
              <a:rPr/>
              <a:t>Get </a:t>
            </a:r>
            <a:r>
              <a:rPr b="1"/>
              <a:t>R</a:t>
            </a:r>
            <a:r>
              <a:rPr/>
              <a:t> and </a:t>
            </a:r>
            <a:r>
              <a:rPr b="1"/>
              <a:t>Positron</a:t>
            </a:r>
            <a:r>
              <a:rPr/>
              <a:t> oriented — the four panes</a:t>
            </a:r>
          </a:p>
          <a:p>
            <a:pPr lvl="0"/>
            <a:r>
              <a:rPr/>
              <a:t>Organize a project so future-you can find things</a:t>
            </a:r>
          </a:p>
          <a:p>
            <a:pPr lvl="0"/>
            <a:r>
              <a:rPr/>
              <a:t>Learn how R actually works:</a:t>
            </a:r>
          </a:p>
          <a:p>
            <a:pPr lvl="1"/>
            <a:r>
              <a:rPr/>
              <a:t>using it as a </a:t>
            </a:r>
            <a:r>
              <a:rPr b="1"/>
              <a:t>calculator</a:t>
            </a:r>
          </a:p>
          <a:p>
            <a:pPr lvl="1"/>
            <a:r>
              <a:rPr/>
              <a:t>storing things with </a:t>
            </a:r>
            <a:r>
              <a:rPr b="1">
                <a:latin typeface="Courier"/>
              </a:rPr>
              <a:t>&lt;-</a:t>
            </a:r>
            <a:r>
              <a:rPr/>
              <a:t> the assignment operator - alligator eats the minus sign…</a:t>
            </a:r>
          </a:p>
          <a:p>
            <a:pPr lvl="1"/>
            <a:r>
              <a:rPr b="1"/>
              <a:t>values</a:t>
            </a:r>
            <a:r>
              <a:rPr/>
              <a:t>, </a:t>
            </a:r>
            <a:r>
              <a:rPr b="1"/>
              <a:t>vectors</a:t>
            </a:r>
            <a:r>
              <a:rPr/>
              <a:t>, and </a:t>
            </a:r>
            <a:r>
              <a:rPr b="1"/>
              <a:t>data types</a:t>
            </a:r>
          </a:p>
          <a:p>
            <a:pPr lvl="1"/>
            <a:r>
              <a:rPr/>
              <a:t>writing a </a:t>
            </a:r>
            <a:r>
              <a:rPr b="1"/>
              <a:t>script</a:t>
            </a:r>
          </a:p>
          <a:p>
            <a:pPr lvl="0"/>
            <a:r>
              <a:rPr/>
              <a:t>Load our tree data and make a </a:t>
            </a:r>
            <a:r>
              <a:rPr b="1"/>
              <a:t>first plot</a:t>
            </a:r>
          </a:p>
          <a:p>
            <a:pPr lvl="0" indent="0" marL="1270000">
              <a:buNone/>
            </a:pPr>
            <a:r>
              <a:rPr sz="2000" b="1"/>
              <a:t>Tip</a:t>
            </a:r>
          </a:p>
          <a:p>
            <a:pPr lvl="0" indent="0" marL="1270000">
              <a:buNone/>
            </a:pPr>
            <a:r>
              <a:rPr sz="2000" b="1"/>
              <a:t>🖐 Try it yourself</a:t>
            </a:r>
          </a:p>
          <a:p>
            <a:pPr lvl="0" indent="0" marL="1270000">
              <a:buNone/>
            </a:pPr>
            <a:r>
              <a:rPr sz="2000"/>
              <a:t>By the end you will run real code on </a:t>
            </a:r>
            <a:r>
              <a:rPr sz="2000" b="1"/>
              <a:t>our</a:t>
            </a:r>
            <a:r>
              <a:rPr sz="2000"/>
              <a:t> leaf data — not a toy dataset.</a:t>
            </a:r>
          </a:p>
        </p:txBody>
      </p:sp>
      <p:pic>
        <p:nvPicPr>
          <p:cNvPr descr="images/diagram_ggplot_layers.png" id="0" name="Picture 1"/>
          <p:cNvPicPr>
            <a:picLocks noGrp="1" noChangeAspect="1"/>
          </p:cNvPicPr>
          <p:nvPr/>
        </p:nvPicPr>
        <p:blipFill>
          <a:blip r:embed="rId2"/>
          <a:stretch>
            <a:fillRect/>
          </a:stretch>
        </p:blipFill>
        <p:spPr bwMode="auto">
          <a:xfrm>
            <a:off x="4902200" y="660400"/>
            <a:ext cx="3581400" cy="3810000"/>
          </a:xfrm>
          <a:prstGeom prst="rect">
            <a:avLst/>
          </a:prstGeom>
          <a:noFill/>
          <a:ln w="9525">
            <a:noFill/>
            <a:headEnd/>
            <a:tailEnd/>
          </a:ln>
        </p:spPr>
      </p:pic>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Part 1 · Setting up</a:t>
            </a:r>
          </a:p>
        </p:txBody>
      </p:sp>
      <p:sp>
        <p:nvSpPr>
          <p:cNvPr id="3" name="Content Placeholder 2"/>
          <p:cNvSpPr>
            <a:spLocks noGrp="1"/>
          </p:cNvSpPr>
          <p:nvPr>
            <p:ph idx="1"/>
          </p:nvPr>
        </p:nvSpPr>
        <p:spPr/>
        <p:txBody>
          <a:bodyPr/>
          <a:lstStyle/>
          <a:p>
            <a:pPr lvl="0" indent="0" marL="0">
              <a:spcBef>
                <a:spcPts val="3000"/>
              </a:spcBef>
              <a:buNone/>
            </a:pPr>
            <a:r>
              <a:rPr b="1"/>
              <a:t>What is R, really?</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sz="half"/>
          </p:nvPr>
        </p:nvSpPr>
        <p:spPr/>
        <p:txBody>
          <a:bodyPr/>
          <a:lstStyle/>
          <a:p>
            <a:pPr lvl="0"/>
            <a:r>
              <a:rPr b="1"/>
              <a:t>R</a:t>
            </a:r>
            <a:r>
              <a:rPr/>
              <a:t> is the engine — a free language for data and statistics</a:t>
            </a:r>
          </a:p>
          <a:p>
            <a:pPr lvl="0"/>
            <a:r>
              <a:rPr/>
              <a:t>We drive that engine through an </a:t>
            </a:r>
            <a:r>
              <a:rPr b="1"/>
              <a:t>IDE</a:t>
            </a:r>
            <a:r>
              <a:rPr/>
              <a:t> (a code editor)</a:t>
            </a:r>
          </a:p>
          <a:p>
            <a:pPr lvl="0"/>
            <a:r>
              <a:rPr/>
              <a:t>Two good IDEs — you may try both:</a:t>
            </a:r>
          </a:p>
          <a:p>
            <a:pPr lvl="1"/>
            <a:r>
              <a:rPr b="1"/>
              <a:t>Positron</a:t>
            </a:r>
            <a:r>
              <a:rPr/>
              <a:t> — what we use </a:t>
            </a:r>
            <a:r>
              <a:rPr i="1"/>
              <a:t>(recommended)</a:t>
            </a:r>
          </a:p>
          <a:p>
            <a:pPr lvl="1"/>
            <a:r>
              <a:rPr b="1"/>
              <a:t>RStudio</a:t>
            </a:r>
            <a:r>
              <a:rPr/>
              <a:t> — the long-time classic</a:t>
            </a:r>
          </a:p>
          <a:p>
            <a:pPr lvl="0" indent="0" marL="1270000">
              <a:buNone/>
            </a:pPr>
            <a:r>
              <a:rPr sz="2000" b="1"/>
              <a:t>Note</a:t>
            </a:r>
          </a:p>
          <a:p>
            <a:pPr lvl="0" indent="0" marL="1270000">
              <a:buNone/>
            </a:pPr>
            <a:r>
              <a:rPr sz="2000" b="1"/>
              <a:t>📖 New word</a:t>
            </a:r>
          </a:p>
          <a:p>
            <a:pPr lvl="0" indent="0" marL="1270000">
              <a:buNone/>
            </a:pPr>
            <a:r>
              <a:rPr sz="2000" b="1"/>
              <a:t>IDE</a:t>
            </a:r>
            <a:r>
              <a:rPr sz="2000"/>
              <a:t> = </a:t>
            </a:r>
            <a:r>
              <a:rPr sz="2000" i="1"/>
              <a:t>Integrated Development Environment</a:t>
            </a:r>
            <a:r>
              <a:rPr sz="2000"/>
              <a:t>. Think of R as the car engine and the IDE as the seat, wheel, and dashboard.</a:t>
            </a:r>
          </a:p>
        </p:txBody>
      </p:sp>
      <p:pic>
        <p:nvPicPr>
          <p:cNvPr descr="images/paste-1.png" id="0" name="Picture 1"/>
          <p:cNvPicPr>
            <a:picLocks noGrp="1" noChangeAspect="1"/>
          </p:cNvPicPr>
          <p:nvPr/>
        </p:nvPicPr>
        <p:blipFill>
          <a:blip r:embed="rId2"/>
          <a:stretch>
            <a:fillRect/>
          </a:stretch>
        </p:blipFill>
        <p:spPr bwMode="auto">
          <a:xfrm>
            <a:off x="4699000" y="660400"/>
            <a:ext cx="3987800" cy="3810000"/>
          </a:xfrm>
          <a:prstGeom prst="rect">
            <a:avLst/>
          </a:prstGeom>
          <a:noFill/>
          <a:ln w="9525">
            <a:noFill/>
            <a:headEnd/>
            <a:tailEnd/>
          </a:ln>
        </p:spPr>
      </p:pic>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1A1A2E"/>
          </a:solidFill>
        </p:spPr>
        <p:txBody>
          <a:bodyPr/>
          <a:lstStyle/>
          <a:p>
            <a:pPr lvl="0" indent="0" marL="0">
              <a:buNone/>
            </a:pPr>
            <a:r>
              <a:rPr/>
              <a:t>Organize the project </a:t>
            </a:r>
            <a:r>
              <a:rPr i="1"/>
              <a:t>before</a:t>
            </a:r>
            <a:r>
              <a:rPr/>
              <a:t> you code</a:t>
            </a:r>
          </a:p>
        </p:txBody>
      </p:sp>
      <p:sp>
        <p:nvSpPr>
          <p:cNvPr id="3" name="Content Placeholder 2"/>
          <p:cNvSpPr>
            <a:spLocks noGrp="1"/>
          </p:cNvSpPr>
          <p:nvPr>
            <p:ph idx="1" sz="half"/>
          </p:nvPr>
        </p:nvSpPr>
        <p:spPr/>
        <p:txBody>
          <a:bodyPr/>
          <a:lstStyle/>
          <a:p>
            <a:pPr lvl="0" indent="0" marL="0">
              <a:buNone/>
            </a:pPr>
            <a:r>
              <a:rPr/>
              <a:t>Make </a:t>
            </a:r>
            <a:r>
              <a:rPr b="1"/>
              <a:t>one folder per project</a:t>
            </a:r>
            <a:r>
              <a:rPr/>
              <a:t>. Everything for the tree experiment lives together:</a:t>
            </a:r>
          </a:p>
          <a:p>
            <a:pPr lvl="0" indent="0">
              <a:buNone/>
            </a:pPr>
            <a:r>
              <a:rPr>
                <a:latin typeface="Courier"/>
              </a:rPr>
              <a:t>leaf_project/
├── data/          ← your Excel and CSV files
├── scripts/       ← your .R code files
└── figures/       ← plots you save</a:t>
            </a:r>
          </a:p>
          <a:p>
            <a:pPr lvl="0"/>
            <a:r>
              <a:rPr/>
              <a:t>In Positron: </a:t>
            </a:r>
            <a:r>
              <a:rPr b="1"/>
              <a:t>File → Open Folder…</a:t>
            </a:r>
            <a:r>
              <a:rPr/>
              <a:t> and pick this folder</a:t>
            </a:r>
          </a:p>
          <a:p>
            <a:pPr lvl="0"/>
            <a:r>
              <a:rPr/>
              <a:t>Every path is then </a:t>
            </a:r>
            <a:r>
              <a:rPr b="1"/>
              <a:t>relative</a:t>
            </a:r>
            <a:r>
              <a:rPr/>
              <a:t> to the project — no more </a:t>
            </a:r>
            <a:r>
              <a:rPr>
                <a:latin typeface="Courier"/>
              </a:rPr>
              <a:t>C:/Users/.../Desktop/...</a:t>
            </a:r>
            <a:r>
              <a:rPr/>
              <a:t> nightmares</a:t>
            </a:r>
          </a:p>
          <a:p>
            <a:pPr lvl="0" indent="0" marL="1270000">
              <a:buNone/>
            </a:pPr>
            <a:r>
              <a:rPr sz="2000" b="1"/>
              <a:t>Note</a:t>
            </a:r>
          </a:p>
          <a:p>
            <a:pPr lvl="0" indent="0" marL="1270000">
              <a:buNone/>
            </a:pPr>
            <a:r>
              <a:rPr sz="2000" b="1"/>
              <a:t>✅ Key idea</a:t>
            </a:r>
          </a:p>
          <a:p>
            <a:pPr lvl="0" indent="0" marL="1270000">
              <a:buNone/>
            </a:pPr>
            <a:r>
              <a:rPr sz="2000"/>
              <a:t>A tidy folder today saves an hour of “where did I put that file?” next week.</a:t>
            </a:r>
          </a:p>
          <a:p>
            <a:pPr lvl="0" indent="0" marL="1270000">
              <a:buNone/>
            </a:pPr>
            <a:r>
              <a:rPr sz="2000" b="1"/>
              <a:t>Note</a:t>
            </a:r>
          </a:p>
          <a:p>
            <a:pPr lvl="0" indent="0" marL="1270000">
              <a:buNone/>
            </a:pPr>
            <a:r>
              <a:rPr sz="2000" b="1"/>
              <a:t>📚 Reference</a:t>
            </a:r>
          </a:p>
          <a:p>
            <a:pPr lvl="0" indent="0" marL="1270000">
              <a:buNone/>
            </a:pPr>
            <a:r>
              <a:rPr sz="2000"/>
              <a:t>R for Data Science (2e), Ch. 6 — </a:t>
            </a:r>
            <a:r>
              <a:rPr sz="2000" i="1"/>
              <a:t>Workflow: scripts and projects</a:t>
            </a:r>
            <a:r>
              <a:rPr sz="2000"/>
              <a:t>. Covers exactly this: projects, relative paths, and “what is the source of truth.”</a:t>
            </a:r>
          </a:p>
        </p:txBody>
      </p:sp>
      <p:sp>
        <p:nvSpPr>
          <p:cNvPr id="4" name="Content Placeholder 3"/>
          <p:cNvSpPr>
            <a:spLocks noGrp="1"/>
          </p:cNvSpPr>
          <p:nvPr>
            <p:ph idx="2" sz="half"/>
          </p:nvPr>
        </p:nvSpPr>
        <p:spPr/>
        <p:txBody>
          <a:bodyPr/>
          <a:lstStyle/>
          <a:p>
            <a:pPr lvl="0" indent="0" marL="1270000">
              <a:buNone/>
            </a:pPr>
            <a:r>
              <a:rPr sz="2000" b="1"/>
              <a:t>Note</a:t>
            </a:r>
          </a:p>
          <a:p>
            <a:pPr lvl="0" indent="0" marL="1270000">
              <a:buNone/>
            </a:pPr>
            <a:r>
              <a:rPr sz="2000" b="1"/>
              <a:t>📊 Coming from Excel?</a:t>
            </a:r>
          </a:p>
          <a:p>
            <a:pPr lvl="0"/>
            <a:r>
              <a:rPr sz="2000"/>
              <a:t>In Excel you keep one big file and it can be hard to figure out what was done and how</a:t>
            </a:r>
          </a:p>
          <a:p>
            <a:pPr lvl="0"/>
            <a:r>
              <a:rPr sz="2000"/>
              <a:t>In R we keep </a:t>
            </a:r>
            <a:r>
              <a:rPr sz="2000" b="1"/>
              <a:t>raw data untouched</a:t>
            </a:r>
            <a:r>
              <a:rPr sz="2000"/>
              <a:t> and</a:t>
            </a:r>
          </a:p>
          <a:p>
            <a:pPr lvl="1"/>
            <a:r>
              <a:rPr sz="2000"/>
              <a:t>write </a:t>
            </a:r>
            <a:r>
              <a:rPr sz="2000" i="1"/>
              <a:t>new</a:t>
            </a:r>
            <a:r>
              <a:rPr sz="2000"/>
              <a:t> processed files</a:t>
            </a:r>
          </a:p>
          <a:p>
            <a:pPr lvl="2"/>
            <a:r>
              <a:rPr sz="2000"/>
              <a:t>— so you can </a:t>
            </a:r>
            <a:r>
              <a:rPr sz="2000" b="1"/>
              <a:t>always trace your steps</a:t>
            </a:r>
            <a:r>
              <a:rPr sz="2000"/>
              <a:t> and n</a:t>
            </a:r>
            <a:r>
              <a:rPr sz="2000" b="1"/>
              <a:t>ever overwrite your original numbers</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1A1A2E"/>
          </a:solidFill>
        </p:spPr>
        <p:txBody>
          <a:bodyPr/>
          <a:lstStyle/>
          <a:p>
            <a:pPr lvl="0" indent="0" marL="0">
              <a:buNone/>
            </a:pPr>
            <a:r>
              <a:rPr/>
              <a:t>A quick tour of Positron</a:t>
            </a:r>
          </a:p>
        </p:txBody>
      </p:sp>
      <p:sp>
        <p:nvSpPr>
          <p:cNvPr id="3" name="Content Placeholder 2"/>
          <p:cNvSpPr>
            <a:spLocks noGrp="1"/>
          </p:cNvSpPr>
          <p:nvPr>
            <p:ph idx="1" sz="half"/>
          </p:nvPr>
        </p:nvSpPr>
        <p:spPr/>
        <p:txBody>
          <a:bodyPr/>
          <a:lstStyle/>
          <a:p>
            <a:pPr lvl="0" indent="0" marL="0">
              <a:buNone/>
            </a:pPr>
            <a:r>
              <a:rPr/>
              <a:t>Four panes you will use constantly:</a:t>
            </a:r>
          </a:p>
          <a:p>
            <a:pPr lvl="0"/>
            <a:r>
              <a:rPr b="1"/>
              <a:t>Editor</a:t>
            </a:r>
            <a:r>
              <a:rPr/>
              <a:t> (top-left) — your scripts live here when you have a script open</a:t>
            </a:r>
          </a:p>
          <a:p>
            <a:pPr lvl="0"/>
            <a:r>
              <a:rPr b="1"/>
              <a:t>Console / Terminal</a:t>
            </a:r>
            <a:r>
              <a:rPr/>
              <a:t> (bottom) — where code runs</a:t>
            </a:r>
          </a:p>
          <a:p>
            <a:pPr lvl="0"/>
            <a:r>
              <a:rPr b="1"/>
              <a:t>Variables / Session</a:t>
            </a:r>
            <a:r>
              <a:rPr/>
              <a:t> (right) — everything you have stored</a:t>
            </a:r>
          </a:p>
          <a:p>
            <a:pPr lvl="0"/>
            <a:r>
              <a:rPr b="1"/>
              <a:t>Plots</a:t>
            </a:r>
            <a:r>
              <a:rPr/>
              <a:t> (right) — your figures appear here</a:t>
            </a:r>
          </a:p>
          <a:p>
            <a:pPr lvl="0" indent="0" marL="1270000">
              <a:buNone/>
            </a:pPr>
            <a:r>
              <a:rPr sz="2000" b="1"/>
              <a:t>Tip</a:t>
            </a:r>
          </a:p>
          <a:p>
            <a:pPr lvl="0" indent="0" marL="1270000">
              <a:buNone/>
            </a:pPr>
            <a:r>
              <a:rPr sz="2000" b="1"/>
              <a:t>🖐 Try it yourself</a:t>
            </a:r>
          </a:p>
          <a:p>
            <a:pPr lvl="0"/>
            <a:r>
              <a:rPr sz="2000"/>
              <a:t>Find each pane on your screen now.</a:t>
            </a:r>
          </a:p>
          <a:p>
            <a:pPr lvl="0"/>
            <a:r>
              <a:rPr sz="2000"/>
              <a:t>Click the </a:t>
            </a:r>
            <a:r>
              <a:rPr sz="2000" b="1"/>
              <a:t>Console</a:t>
            </a:r>
            <a:r>
              <a:rPr sz="2000"/>
              <a:t> tab — that is where we start next.</a:t>
            </a:r>
          </a:p>
        </p:txBody>
      </p:sp>
      <p:pic>
        <p:nvPicPr>
          <p:cNvPr descr="images/paste-1.png" id="0" name="Picture 1"/>
          <p:cNvPicPr>
            <a:picLocks noGrp="1" noChangeAspect="1"/>
          </p:cNvPicPr>
          <p:nvPr/>
        </p:nvPicPr>
        <p:blipFill>
          <a:blip r:embed="rId2"/>
          <a:stretch>
            <a:fillRect/>
          </a:stretch>
        </p:blipFill>
        <p:spPr bwMode="auto">
          <a:xfrm>
            <a:off x="4699000" y="660400"/>
            <a:ext cx="3987800" cy="3810000"/>
          </a:xfrm>
          <a:prstGeom prst="rect">
            <a:avLst/>
          </a:prstGeom>
          <a:noFill/>
          <a:ln w="9525">
            <a:noFill/>
            <a:headEnd/>
            <a:tailEnd/>
          </a:ln>
        </p:spPr>
      </p:pic>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Part 2 · How R works</a:t>
            </a:r>
          </a:p>
        </p:txBody>
      </p:sp>
      <p:sp>
        <p:nvSpPr>
          <p:cNvPr id="3" name="Content Placeholder 2"/>
          <p:cNvSpPr>
            <a:spLocks noGrp="1"/>
          </p:cNvSpPr>
          <p:nvPr>
            <p:ph idx="1"/>
          </p:nvPr>
        </p:nvSpPr>
        <p:spPr/>
        <p:txBody>
          <a:bodyPr/>
          <a:lstStyle/>
          <a:p>
            <a:pPr lvl="0" indent="0" marL="0">
              <a:spcBef>
                <a:spcPts val="3000"/>
              </a:spcBef>
              <a:buNone/>
            </a:pPr>
            <a:r>
              <a:rPr b="1"/>
              <a:t>R is a calculator</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sz="half"/>
          </p:nvPr>
        </p:nvSpPr>
        <p:spPr/>
        <p:txBody>
          <a:bodyPr/>
          <a:lstStyle/>
          <a:p>
            <a:pPr lvl="0" indent="0" marL="0">
              <a:buNone/>
            </a:pPr>
            <a:r>
              <a:rPr/>
              <a:t>Type math straight into the </a:t>
            </a:r>
            <a:r>
              <a:rPr b="1"/>
              <a:t>console</a:t>
            </a:r>
            <a:r>
              <a:rPr/>
              <a:t> and press Enter:</a:t>
            </a:r>
          </a:p>
          <a:p>
            <a:pPr lvl="0" indent="0">
              <a:buNone/>
            </a:pPr>
            <a:r>
              <a:rPr>
                <a:solidFill>
                  <a:srgbClr val="AD0000"/>
                </a:solidFill>
                <a:latin typeface="Courier"/>
              </a:rPr>
              <a:t>3</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AD0000"/>
                </a:solidFill>
                <a:latin typeface="Courier"/>
              </a:rPr>
              <a:t>5</a:t>
            </a:r>
            <a:br/>
            <a:r>
              <a:rPr>
                <a:solidFill>
                  <a:srgbClr val="AD0000"/>
                </a:solidFill>
                <a:latin typeface="Courier"/>
              </a:rPr>
              <a:t>12</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AD0000"/>
                </a:solidFill>
                <a:latin typeface="Courier"/>
              </a:rPr>
              <a:t>7</a:t>
            </a:r>
            <a:br/>
            <a:r>
              <a:rPr>
                <a:solidFill>
                  <a:srgbClr val="AD0000"/>
                </a:solidFill>
                <a:latin typeface="Courier"/>
              </a:rPr>
              <a:t>2</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AD0000"/>
                </a:solidFill>
                <a:latin typeface="Courier"/>
              </a:rPr>
              <a:t>10</a:t>
            </a:r>
          </a:p>
          <a:p>
            <a:pPr lvl="0" indent="0" marL="0">
              <a:buNone/>
            </a:pPr>
            <a:r>
              <a:rPr/>
              <a:t>R answers immediately. The console is great for quick “what is the answer?” questions.</a:t>
            </a:r>
          </a:p>
          <a:p>
            <a:pPr lvl="0" indent="0" marL="1270000">
              <a:buNone/>
            </a:pPr>
            <a:r>
              <a:rPr sz="2000" b="1"/>
              <a:t>Warning</a:t>
            </a:r>
          </a:p>
          <a:p>
            <a:pPr lvl="0" indent="0" marL="1270000">
              <a:buNone/>
            </a:pPr>
            <a:r>
              <a:rPr sz="2000" b="1"/>
              <a:t>⚠️ Watch out!</a:t>
            </a:r>
          </a:p>
          <a:p>
            <a:pPr lvl="0"/>
            <a:r>
              <a:rPr sz="2000"/>
              <a:t>A </a:t>
            </a:r>
            <a:r>
              <a:rPr sz="2000">
                <a:latin typeface="Courier"/>
              </a:rPr>
              <a:t>+</a:t>
            </a:r>
            <a:r>
              <a:rPr sz="2000"/>
              <a:t> at the start of the console line means R is </a:t>
            </a:r>
            <a:r>
              <a:rPr sz="2000" b="1"/>
              <a:t>still waiting</a:t>
            </a:r>
            <a:r>
              <a:rPr sz="2000"/>
              <a:t> for you to finish a command.</a:t>
            </a:r>
          </a:p>
          <a:p>
            <a:pPr lvl="0"/>
            <a:r>
              <a:rPr sz="2000"/>
              <a:t>Press Esc to start over.</a:t>
            </a:r>
          </a:p>
        </p:txBody>
      </p:sp>
      <p:sp>
        <p:nvSpPr>
          <p:cNvPr id="4" name="Content Placeholder 3"/>
          <p:cNvSpPr>
            <a:spLocks noGrp="1"/>
          </p:cNvSpPr>
          <p:nvPr>
            <p:ph idx="2" sz="half"/>
          </p:nvPr>
        </p:nvSpPr>
        <p:spPr/>
        <p:txBody>
          <a:bodyPr/>
          <a:lstStyle/>
          <a:p>
            <a:pPr lvl="0" indent="0" marL="1270000">
              <a:buNone/>
            </a:pPr>
            <a:r>
              <a:rPr sz="2000" b="1"/>
              <a:t>Note</a:t>
            </a:r>
          </a:p>
          <a:p>
            <a:pPr lvl="0" indent="0" marL="1270000">
              <a:buNone/>
            </a:pPr>
            <a:r>
              <a:rPr sz="2000" b="1"/>
              <a:t>📊 Coming from Excel?</a:t>
            </a:r>
          </a:p>
          <a:p>
            <a:pPr lvl="0"/>
            <a:r>
              <a:rPr sz="2000"/>
              <a:t>This is just like typing </a:t>
            </a:r>
            <a:r>
              <a:rPr sz="2000">
                <a:latin typeface="Courier"/>
              </a:rPr>
              <a:t>=3+5</a:t>
            </a:r>
            <a:r>
              <a:rPr sz="2000"/>
              <a:t> into an Excel cell</a:t>
            </a:r>
          </a:p>
          <a:p>
            <a:pPr lvl="0"/>
            <a:r>
              <a:rPr sz="2000"/>
              <a:t>except there are no cells, just a line you type and run</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1A1A2E"/>
          </a:solidFill>
        </p:spPr>
        <p:txBody>
          <a:bodyPr/>
          <a:lstStyle/>
          <a:p>
            <a:pPr lvl="0" indent="0" marL="0">
              <a:buNone/>
            </a:pPr>
            <a:r>
              <a:rPr/>
              <a:t>Storing values with </a:t>
            </a:r>
            <a:r>
              <a:rPr>
                <a:latin typeface="Courier"/>
              </a:rPr>
              <a:t>&lt;-</a:t>
            </a:r>
            <a:r>
              <a:rPr/>
              <a:t> assignment operator - alligator eats the minus sign</a:t>
            </a:r>
          </a:p>
        </p:txBody>
      </p:sp>
      <p:sp>
        <p:nvSpPr>
          <p:cNvPr id="3" name="Content Placeholder 2"/>
          <p:cNvSpPr>
            <a:spLocks noGrp="1"/>
          </p:cNvSpPr>
          <p:nvPr>
            <p:ph idx="1" sz="half"/>
          </p:nvPr>
        </p:nvSpPr>
        <p:spPr/>
        <p:txBody>
          <a:bodyPr/>
          <a:lstStyle/>
          <a:p>
            <a:pPr lvl="0" indent="0" marL="0">
              <a:buNone/>
            </a:pPr>
            <a:r>
              <a:rPr/>
              <a:t>To keep a value, give it a </a:t>
            </a:r>
            <a:r>
              <a:rPr b="1"/>
              <a:t>name</a:t>
            </a:r>
            <a:r>
              <a:rPr/>
              <a:t> with the assignment operator </a:t>
            </a:r>
            <a:r>
              <a:rPr>
                <a:latin typeface="Courier"/>
              </a:rPr>
              <a:t>&lt;-</a:t>
            </a:r>
            <a:r>
              <a:rPr/>
              <a:t>:</a:t>
            </a:r>
          </a:p>
          <a:p>
            <a:pPr lvl="0" indent="0">
              <a:buNone/>
            </a:pPr>
            <a:r>
              <a:rPr>
                <a:solidFill>
                  <a:srgbClr val="003B4F"/>
                </a:solidFill>
                <a:latin typeface="Courier"/>
              </a:rPr>
              <a:t>x &lt;- </a:t>
            </a:r>
            <a:r>
              <a:rPr>
                <a:solidFill>
                  <a:srgbClr val="AD0000"/>
                </a:solidFill>
                <a:latin typeface="Courier"/>
              </a:rPr>
              <a:t>7</a:t>
            </a:r>
            <a:r>
              <a:rPr>
                <a:solidFill>
                  <a:srgbClr val="003B4F"/>
                </a:solidFill>
                <a:latin typeface="Courier"/>
              </a:rPr>
              <a:t>          </a:t>
            </a:r>
            <a:r>
              <a:rPr>
                <a:solidFill>
                  <a:srgbClr val="5E5E5E"/>
                </a:solidFill>
                <a:latin typeface="Courier"/>
              </a:rPr>
              <a:t># store 7 under the name x</a:t>
            </a:r>
            <a:br/>
            <a:r>
              <a:rPr>
                <a:solidFill>
                  <a:srgbClr val="003B4F"/>
                </a:solidFill>
                <a:latin typeface="Courier"/>
              </a:rPr>
              <a:t>x               </a:t>
            </a:r>
            <a:r>
              <a:rPr>
                <a:solidFill>
                  <a:srgbClr val="5E5E5E"/>
                </a:solidFill>
                <a:latin typeface="Courier"/>
              </a:rPr>
              <a:t># type the name to read it back</a:t>
            </a:r>
            <a:br/>
            <a:r>
              <a:rPr>
                <a:solidFill>
                  <a:srgbClr val="003B4F"/>
                </a:solidFill>
                <a:latin typeface="Courier"/>
              </a:rPr>
              <a:t>x </a:t>
            </a:r>
            <a:r>
              <a:rPr>
                <a:solidFill>
                  <a:srgbClr val="5E5E5E"/>
                </a:solidFill>
                <a:latin typeface="Courier"/>
              </a:rPr>
              <a:t>*</a:t>
            </a:r>
            <a:r>
              <a:rPr>
                <a:solidFill>
                  <a:srgbClr val="003B4F"/>
                </a:solidFill>
                <a:latin typeface="Courier"/>
              </a:rPr>
              <a:t> </a:t>
            </a:r>
            <a:r>
              <a:rPr>
                <a:solidFill>
                  <a:srgbClr val="AD0000"/>
                </a:solidFill>
                <a:latin typeface="Courier"/>
              </a:rPr>
              <a:t>2</a:t>
            </a:r>
            <a:r>
              <a:rPr>
                <a:solidFill>
                  <a:srgbClr val="003B4F"/>
                </a:solidFill>
                <a:latin typeface="Courier"/>
              </a:rPr>
              <a:t>           </a:t>
            </a:r>
            <a:r>
              <a:rPr>
                <a:solidFill>
                  <a:srgbClr val="5E5E5E"/>
                </a:solidFill>
                <a:latin typeface="Courier"/>
              </a:rPr>
              <a:t># use it in math</a:t>
            </a:r>
          </a:p>
          <a:p>
            <a:pPr lvl="0"/>
            <a:r>
              <a:rPr>
                <a:latin typeface="Courier"/>
              </a:rPr>
              <a:t>&lt;-</a:t>
            </a:r>
            <a:r>
              <a:rPr/>
              <a:t> puts the value into your </a:t>
            </a:r>
            <a:r>
              <a:rPr b="1"/>
              <a:t>environment</a:t>
            </a:r>
            <a:r>
              <a:rPr/>
              <a:t> (look in the Variables pane!)</a:t>
            </a:r>
          </a:p>
          <a:p>
            <a:pPr lvl="0"/>
            <a:r>
              <a:rPr/>
              <a:t>Shortcut: Alt + - (Win) or Option + - (Mac) types </a:t>
            </a:r>
            <a:r>
              <a:rPr>
                <a:latin typeface="Courier"/>
              </a:rPr>
              <a:t>&lt;-</a:t>
            </a:r>
            <a:r>
              <a:rPr/>
              <a:t> for you</a:t>
            </a:r>
          </a:p>
          <a:p>
            <a:pPr lvl="0" indent="0" marL="1270000">
              <a:buNone/>
            </a:pPr>
            <a:r>
              <a:rPr sz="2000" b="1"/>
              <a:t>Note</a:t>
            </a:r>
          </a:p>
          <a:p>
            <a:pPr lvl="0" indent="0" marL="1270000">
              <a:buNone/>
            </a:pPr>
            <a:r>
              <a:rPr sz="2000" b="1"/>
              <a:t>📖 New word</a:t>
            </a:r>
          </a:p>
          <a:p>
            <a:pPr lvl="0" indent="0" marL="1270000">
              <a:buNone/>
            </a:pPr>
            <a:r>
              <a:rPr sz="2000" b="1"/>
              <a:t>Assignment operator</a:t>
            </a:r>
            <a:r>
              <a:rPr sz="2000"/>
              <a:t> </a:t>
            </a:r>
            <a:r>
              <a:rPr sz="2000">
                <a:latin typeface="Courier"/>
              </a:rPr>
              <a:t>&lt;-</a:t>
            </a:r>
            <a:r>
              <a:rPr sz="2000"/>
              <a:t> “puts the thing on right and stores it in the name on left.” Do not use </a:t>
            </a:r>
            <a:r>
              <a:rPr sz="2000">
                <a:latin typeface="Courier"/>
              </a:rPr>
              <a:t>=</a:t>
            </a:r>
          </a:p>
        </p:txBody>
      </p:sp>
      <p:pic>
        <p:nvPicPr>
          <p:cNvPr descr="images/diagram_assignment.png" id="0" name="Picture 1"/>
          <p:cNvPicPr>
            <a:picLocks noGrp="1" noChangeAspect="1"/>
          </p:cNvPicPr>
          <p:nvPr/>
        </p:nvPicPr>
        <p:blipFill>
          <a:blip r:embed="rId2"/>
          <a:stretch>
            <a:fillRect/>
          </a:stretch>
        </p:blipFill>
        <p:spPr bwMode="auto">
          <a:xfrm>
            <a:off x="4495800" y="787400"/>
            <a:ext cx="4406900" cy="3556000"/>
          </a:xfrm>
          <a:prstGeom prst="rect">
            <a:avLst/>
          </a:prstGeom>
          <a:noFill/>
          <a:ln w="9525">
            <a:noFill/>
            <a:headEnd/>
            <a:tailEnd/>
          </a:ln>
        </p:spPr>
      </p:pic>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1A1A2E"/>
          </a:solidFill>
        </p:spPr>
        <p:txBody>
          <a:bodyPr/>
          <a:lstStyle/>
          <a:p>
            <a:pPr lvl="0" indent="0" marL="0">
              <a:buNone/>
            </a:pPr>
            <a:r>
              <a:rPr/>
              <a:t>Naming your objects well</a:t>
            </a:r>
          </a:p>
        </p:txBody>
      </p:sp>
      <p:sp>
        <p:nvSpPr>
          <p:cNvPr id="3" name="Content Placeholder 2"/>
          <p:cNvSpPr>
            <a:spLocks noGrp="1"/>
          </p:cNvSpPr>
          <p:nvPr>
            <p:ph idx="1" sz="half"/>
          </p:nvPr>
        </p:nvSpPr>
        <p:spPr/>
        <p:txBody>
          <a:bodyPr/>
          <a:lstStyle/>
          <a:p>
            <a:pPr lvl="0" indent="0" marL="0">
              <a:buNone/>
            </a:pPr>
            <a:r>
              <a:rPr/>
              <a:t>Good names make code readable months later:</a:t>
            </a:r>
          </a:p>
          <a:p>
            <a:pPr lvl="0"/>
            <a:r>
              <a:rPr/>
              <a:t>Be </a:t>
            </a:r>
            <a:r>
              <a:rPr b="1"/>
              <a:t>explicit</a:t>
            </a:r>
            <a:r>
              <a:rPr/>
              <a:t>, not too long: </a:t>
            </a:r>
            <a:r>
              <a:rPr>
                <a:latin typeface="Courier"/>
              </a:rPr>
              <a:t>leaf_mass</a:t>
            </a:r>
            <a:r>
              <a:rPr/>
              <a:t>, not </a:t>
            </a:r>
            <a:r>
              <a:rPr>
                <a:latin typeface="Courier"/>
              </a:rPr>
              <a:t>x2</a:t>
            </a:r>
          </a:p>
          <a:p>
            <a:pPr lvl="0"/>
            <a:r>
              <a:rPr b="1"/>
              <a:t>Cannot start with a number</a:t>
            </a:r>
            <a:r>
              <a:rPr/>
              <a:t> — </a:t>
            </a:r>
            <a:r>
              <a:rPr>
                <a:latin typeface="Courier"/>
              </a:rPr>
              <a:t>x2</a:t>
            </a:r>
            <a:r>
              <a:rPr/>
              <a:t> ✅, </a:t>
            </a:r>
            <a:r>
              <a:rPr>
                <a:latin typeface="Courier"/>
              </a:rPr>
              <a:t>2x</a:t>
            </a:r>
            <a:r>
              <a:rPr/>
              <a:t> ❌</a:t>
            </a:r>
          </a:p>
          <a:p>
            <a:pPr lvl="0"/>
            <a:r>
              <a:rPr/>
              <a:t>R is </a:t>
            </a:r>
            <a:r>
              <a:rPr b="1"/>
              <a:t>case-sensitive</a:t>
            </a:r>
            <a:r>
              <a:rPr/>
              <a:t> — </a:t>
            </a:r>
            <a:r>
              <a:rPr>
                <a:latin typeface="Courier"/>
              </a:rPr>
              <a:t>mass_g</a:t>
            </a:r>
            <a:r>
              <a:rPr/>
              <a:t> ≠ </a:t>
            </a:r>
            <a:r>
              <a:rPr>
                <a:latin typeface="Courier"/>
              </a:rPr>
              <a:t>Mass_g</a:t>
            </a:r>
          </a:p>
          <a:p>
            <a:pPr lvl="0"/>
            <a:r>
              <a:rPr/>
              <a:t>Use </a:t>
            </a:r>
            <a:r>
              <a:rPr b="1">
                <a:latin typeface="Courier"/>
              </a:rPr>
              <a:t>lower_snake_case</a:t>
            </a:r>
            <a:r>
              <a:rPr/>
              <a:t> — words separated by underscores</a:t>
            </a:r>
          </a:p>
          <a:p>
            <a:pPr lvl="0" indent="0">
              <a:buNone/>
            </a:pPr>
            <a:r>
              <a:rPr>
                <a:solidFill>
                  <a:srgbClr val="003B4F"/>
                </a:solidFill>
                <a:latin typeface="Courier"/>
              </a:rPr>
              <a:t>leaf_mass   &lt;- </a:t>
            </a:r>
            <a:r>
              <a:rPr>
                <a:solidFill>
                  <a:srgbClr val="4758AB"/>
                </a:solidFill>
                <a:latin typeface="Courier"/>
              </a:rPr>
              <a:t>c</a:t>
            </a:r>
            <a:r>
              <a:rPr>
                <a:solidFill>
                  <a:srgbClr val="003B4F"/>
                </a:solidFill>
                <a:latin typeface="Courier"/>
              </a:rPr>
              <a:t>(</a:t>
            </a:r>
            <a:r>
              <a:rPr>
                <a:solidFill>
                  <a:srgbClr val="AD0000"/>
                </a:solidFill>
                <a:latin typeface="Courier"/>
              </a:rPr>
              <a:t>4</a:t>
            </a:r>
            <a:r>
              <a:rPr>
                <a:solidFill>
                  <a:srgbClr val="003B4F"/>
                </a:solidFill>
                <a:latin typeface="Courier"/>
              </a:rPr>
              <a:t>, </a:t>
            </a:r>
            <a:r>
              <a:rPr>
                <a:solidFill>
                  <a:srgbClr val="AD0000"/>
                </a:solidFill>
                <a:latin typeface="Courier"/>
              </a:rPr>
              <a:t>3</a:t>
            </a:r>
            <a:r>
              <a:rPr>
                <a:solidFill>
                  <a:srgbClr val="003B4F"/>
                </a:solidFill>
                <a:latin typeface="Courier"/>
              </a:rPr>
              <a:t>, </a:t>
            </a:r>
            <a:r>
              <a:rPr>
                <a:solidFill>
                  <a:srgbClr val="AD0000"/>
                </a:solidFill>
                <a:latin typeface="Courier"/>
              </a:rPr>
              <a:t>5</a:t>
            </a:r>
            <a:r>
              <a:rPr>
                <a:solidFill>
                  <a:srgbClr val="003B4F"/>
                </a:solidFill>
                <a:latin typeface="Courier"/>
              </a:rPr>
              <a:t>, </a:t>
            </a:r>
            <a:r>
              <a:rPr>
                <a:solidFill>
                  <a:srgbClr val="AD0000"/>
                </a:solidFill>
                <a:latin typeface="Courier"/>
              </a:rPr>
              <a:t>7</a:t>
            </a:r>
            <a:r>
              <a:rPr>
                <a:solidFill>
                  <a:srgbClr val="003B4F"/>
                </a:solidFill>
                <a:latin typeface="Courier"/>
              </a:rPr>
              <a:t>)   </a:t>
            </a:r>
            <a:r>
              <a:rPr>
                <a:solidFill>
                  <a:srgbClr val="5E5E5E"/>
                </a:solidFill>
                <a:latin typeface="Courier"/>
              </a:rPr>
              <a:t># good</a:t>
            </a:r>
            <a:br/>
            <a:r>
              <a:rPr>
                <a:solidFill>
                  <a:srgbClr val="003B4F"/>
                </a:solidFill>
                <a:latin typeface="Courier"/>
              </a:rPr>
              <a:t>LeafMass    &lt;- </a:t>
            </a:r>
            <a:r>
              <a:rPr>
                <a:solidFill>
                  <a:srgbClr val="4758AB"/>
                </a:solidFill>
                <a:latin typeface="Courier"/>
              </a:rPr>
              <a:t>c</a:t>
            </a:r>
            <a:r>
              <a:rPr>
                <a:solidFill>
                  <a:srgbClr val="003B4F"/>
                </a:solidFill>
                <a:latin typeface="Courier"/>
              </a:rPr>
              <a:t>(</a:t>
            </a:r>
            <a:r>
              <a:rPr>
                <a:solidFill>
                  <a:srgbClr val="AD0000"/>
                </a:solidFill>
                <a:latin typeface="Courier"/>
              </a:rPr>
              <a:t>4</a:t>
            </a:r>
            <a:r>
              <a:rPr>
                <a:solidFill>
                  <a:srgbClr val="003B4F"/>
                </a:solidFill>
                <a:latin typeface="Courier"/>
              </a:rPr>
              <a:t>, </a:t>
            </a:r>
            <a:r>
              <a:rPr>
                <a:solidFill>
                  <a:srgbClr val="AD0000"/>
                </a:solidFill>
                <a:latin typeface="Courier"/>
              </a:rPr>
              <a:t>3</a:t>
            </a:r>
            <a:r>
              <a:rPr>
                <a:solidFill>
                  <a:srgbClr val="003B4F"/>
                </a:solidFill>
                <a:latin typeface="Courier"/>
              </a:rPr>
              <a:t>, </a:t>
            </a:r>
            <a:r>
              <a:rPr>
                <a:solidFill>
                  <a:srgbClr val="AD0000"/>
                </a:solidFill>
                <a:latin typeface="Courier"/>
              </a:rPr>
              <a:t>5</a:t>
            </a:r>
            <a:r>
              <a:rPr>
                <a:solidFill>
                  <a:srgbClr val="003B4F"/>
                </a:solidFill>
                <a:latin typeface="Courier"/>
              </a:rPr>
              <a:t>, </a:t>
            </a:r>
            <a:r>
              <a:rPr>
                <a:solidFill>
                  <a:srgbClr val="AD0000"/>
                </a:solidFill>
                <a:latin typeface="Courier"/>
              </a:rPr>
              <a:t>7</a:t>
            </a:r>
            <a:r>
              <a:rPr>
                <a:solidFill>
                  <a:srgbClr val="003B4F"/>
                </a:solidFill>
                <a:latin typeface="Courier"/>
              </a:rPr>
              <a:t>)   </a:t>
            </a:r>
            <a:r>
              <a:rPr>
                <a:solidFill>
                  <a:srgbClr val="5E5E5E"/>
                </a:solidFill>
                <a:latin typeface="Courier"/>
              </a:rPr>
              <a:t># works but avoid</a:t>
            </a:r>
            <a:br/>
            <a:r>
              <a:rPr>
                <a:solidFill>
                  <a:srgbClr val="003B4F"/>
                </a:solidFill>
                <a:latin typeface="Courier"/>
              </a:rPr>
              <a:t>leaf.mass   &lt;- </a:t>
            </a:r>
            <a:r>
              <a:rPr>
                <a:solidFill>
                  <a:srgbClr val="4758AB"/>
                </a:solidFill>
                <a:latin typeface="Courier"/>
              </a:rPr>
              <a:t>c</a:t>
            </a:r>
            <a:r>
              <a:rPr>
                <a:solidFill>
                  <a:srgbClr val="003B4F"/>
                </a:solidFill>
                <a:latin typeface="Courier"/>
              </a:rPr>
              <a:t>(</a:t>
            </a:r>
            <a:r>
              <a:rPr>
                <a:solidFill>
                  <a:srgbClr val="AD0000"/>
                </a:solidFill>
                <a:latin typeface="Courier"/>
              </a:rPr>
              <a:t>4</a:t>
            </a:r>
            <a:r>
              <a:rPr>
                <a:solidFill>
                  <a:srgbClr val="003B4F"/>
                </a:solidFill>
                <a:latin typeface="Courier"/>
              </a:rPr>
              <a:t>, </a:t>
            </a:r>
            <a:r>
              <a:rPr>
                <a:solidFill>
                  <a:srgbClr val="AD0000"/>
                </a:solidFill>
                <a:latin typeface="Courier"/>
              </a:rPr>
              <a:t>3</a:t>
            </a:r>
            <a:r>
              <a:rPr>
                <a:solidFill>
                  <a:srgbClr val="003B4F"/>
                </a:solidFill>
                <a:latin typeface="Courier"/>
              </a:rPr>
              <a:t>, </a:t>
            </a:r>
            <a:r>
              <a:rPr>
                <a:solidFill>
                  <a:srgbClr val="AD0000"/>
                </a:solidFill>
                <a:latin typeface="Courier"/>
              </a:rPr>
              <a:t>5</a:t>
            </a:r>
            <a:r>
              <a:rPr>
                <a:solidFill>
                  <a:srgbClr val="003B4F"/>
                </a:solidFill>
                <a:latin typeface="Courier"/>
              </a:rPr>
              <a:t>, </a:t>
            </a:r>
            <a:r>
              <a:rPr>
                <a:solidFill>
                  <a:srgbClr val="AD0000"/>
                </a:solidFill>
                <a:latin typeface="Courier"/>
              </a:rPr>
              <a:t>7</a:t>
            </a:r>
            <a:r>
              <a:rPr>
                <a:solidFill>
                  <a:srgbClr val="003B4F"/>
                </a:solidFill>
                <a:latin typeface="Courier"/>
              </a:rPr>
              <a:t>)   </a:t>
            </a:r>
            <a:r>
              <a:rPr>
                <a:solidFill>
                  <a:srgbClr val="5E5E5E"/>
                </a:solidFill>
                <a:latin typeface="Courier"/>
              </a:rPr>
              <a:t># avoid dots</a:t>
            </a:r>
          </a:p>
          <a:p>
            <a:pPr lvl="0" indent="0" marL="1270000">
              <a:buNone/>
            </a:pPr>
            <a:r>
              <a:rPr sz="2000" b="1"/>
              <a:t>Warning</a:t>
            </a:r>
          </a:p>
          <a:p>
            <a:pPr lvl="0" indent="0" marL="1270000">
              <a:buNone/>
            </a:pPr>
            <a:r>
              <a:rPr sz="2000" b="1"/>
              <a:t>⚠️ Watch out!</a:t>
            </a:r>
          </a:p>
          <a:p>
            <a:pPr lvl="0" indent="0" marL="1270000">
              <a:buNone/>
            </a:pPr>
            <a:r>
              <a:rPr sz="2000">
                <a:latin typeface="Courier"/>
              </a:rPr>
              <a:t>mass_g</a:t>
            </a:r>
            <a:r>
              <a:rPr sz="2000"/>
              <a:t> and </a:t>
            </a:r>
            <a:r>
              <a:rPr sz="2000">
                <a:latin typeface="Courier"/>
              </a:rPr>
              <a:t>mass_G</a:t>
            </a:r>
            <a:r>
              <a:rPr sz="2000"/>
              <a:t> are </a:t>
            </a:r>
            <a:r>
              <a:rPr sz="2000" i="1"/>
              <a:t>different</a:t>
            </a:r>
            <a:r>
              <a:rPr sz="2000"/>
              <a:t> objects. I </a:t>
            </a:r>
            <a:r>
              <a:rPr sz="2000" b="1"/>
              <a:t>URGE</a:t>
            </a:r>
            <a:r>
              <a:rPr sz="2000"/>
              <a:t> you to use lower case and underscores — </a:t>
            </a:r>
            <a:r>
              <a:rPr sz="2000">
                <a:latin typeface="Courier"/>
              </a:rPr>
              <a:t>lower_snake_case</a:t>
            </a:r>
            <a:r>
              <a:rPr sz="2000"/>
              <a:t>, always.</a:t>
            </a:r>
          </a:p>
        </p:txBody>
      </p:sp>
      <p:sp>
        <p:nvSpPr>
          <p:cNvPr id="4" name="Content Placeholder 3"/>
          <p:cNvSpPr>
            <a:spLocks noGrp="1"/>
          </p:cNvSpPr>
          <p:nvPr>
            <p:ph idx="2" sz="half"/>
          </p:nvPr>
        </p:nvSpPr>
        <p:spPr/>
        <p:txBody>
          <a:bodyPr/>
          <a:lstStyle/>
          <a:p>
            <a:pPr lvl="0" indent="0" marL="1270000">
              <a:buNone/>
            </a:pPr>
            <a:r>
              <a:rPr sz="2000" b="1"/>
              <a:t>Note</a:t>
            </a:r>
          </a:p>
          <a:p>
            <a:pPr lvl="0" indent="0" marL="1270000">
              <a:buNone/>
            </a:pPr>
            <a:r>
              <a:rPr sz="2000" b="1"/>
              <a:t>📖 New word</a:t>
            </a:r>
          </a:p>
          <a:p>
            <a:pPr lvl="0" indent="0" marL="1270000">
              <a:buNone/>
            </a:pPr>
            <a:r>
              <a:rPr sz="2000" b="1"/>
              <a:t>Object</a:t>
            </a:r>
            <a:r>
              <a:rPr sz="2000"/>
              <a:t> (R) = </a:t>
            </a:r>
            <a:r>
              <a:rPr sz="2000" b="1"/>
              <a:t>variable</a:t>
            </a:r>
            <a:r>
              <a:rPr sz="2000"/>
              <a:t> (Excel/other languages). Same idea: a named container that holds something.</a:t>
            </a:r>
          </a:p>
          <a:p>
            <a:pPr lvl="0"/>
            <a:r>
              <a:rPr sz="2000"/>
              <a:t>Our naming convention throughout this course:</a:t>
            </a:r>
          </a:p>
          <a:p>
            <a:pPr lvl="1"/>
            <a:r>
              <a:rPr sz="2000"/>
              <a:t>data frames → </a:t>
            </a:r>
            <a:r>
              <a:rPr sz="2000">
                <a:latin typeface="Courier"/>
              </a:rPr>
              <a:t>_df</a:t>
            </a:r>
          </a:p>
          <a:p>
            <a:pPr lvl="1"/>
            <a:r>
              <a:rPr sz="2000"/>
              <a:t>plots → </a:t>
            </a:r>
            <a:r>
              <a:rPr sz="2000">
                <a:latin typeface="Courier"/>
              </a:rPr>
              <a:t>_plot</a:t>
            </a:r>
          </a:p>
          <a:p>
            <a:pPr lvl="1"/>
            <a:r>
              <a:rPr sz="2000"/>
              <a:t>models → </a:t>
            </a:r>
            <a:r>
              <a:rPr sz="2000">
                <a:latin typeface="Courier"/>
              </a:rPr>
              <a:t>_model</a:t>
            </a:r>
          </a:p>
          <a:p>
            <a:pPr lvl="0" indent="0" marL="1270000">
              <a:buNone/>
            </a:pPr>
            <a:r>
              <a:rPr sz="2000" b="1"/>
              <a:t>Note</a:t>
            </a:r>
          </a:p>
          <a:p>
            <a:pPr lvl="0" indent="0" marL="1270000">
              <a:buNone/>
            </a:pPr>
            <a:r>
              <a:rPr sz="2000" b="1"/>
              <a:t>📚 Reference</a:t>
            </a:r>
          </a:p>
          <a:p>
            <a:pPr lvl="0" indent="0" marL="1270000">
              <a:buNone/>
            </a:pPr>
            <a:r>
              <a:rPr sz="2000"/>
              <a:t>R for Data Science (2e), Ch. 2 </a:t>
            </a:r>
            <a:r>
              <a:rPr sz="2000" i="1"/>
              <a:t>Workflow: basics</a:t>
            </a:r>
            <a:r>
              <a:rPr sz="2000"/>
              <a:t> and Ch. 4 </a:t>
            </a:r>
            <a:r>
              <a:rPr sz="2000" i="1"/>
              <a:t>Workflow: code style</a:t>
            </a:r>
            <a:r>
              <a:rPr sz="2000"/>
              <a:t>. Short — read both.</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1A1A2E"/>
          </a:solidFill>
        </p:spPr>
        <p:txBody>
          <a:bodyPr/>
          <a:lstStyle/>
          <a:p>
            <a:pPr lvl="0" indent="0" marL="0">
              <a:buNone/>
            </a:pPr>
            <a:r>
              <a:rPr/>
              <a:t>Leave notes with comments </a:t>
            </a:r>
            <a:r>
              <a:rPr>
                <a:latin typeface="Courier"/>
              </a:rPr>
              <a:t>#</a:t>
            </a:r>
          </a:p>
        </p:txBody>
      </p:sp>
      <p:sp>
        <p:nvSpPr>
          <p:cNvPr id="3" name="Content Placeholder 2"/>
          <p:cNvSpPr>
            <a:spLocks noGrp="1"/>
          </p:cNvSpPr>
          <p:nvPr>
            <p:ph idx="1" sz="half"/>
          </p:nvPr>
        </p:nvSpPr>
        <p:spPr/>
        <p:txBody>
          <a:bodyPr/>
          <a:lstStyle/>
          <a:p>
            <a:pPr lvl="0" indent="0" marL="0">
              <a:buNone/>
            </a:pPr>
            <a:r>
              <a:rPr/>
              <a:t>Anything to the right of </a:t>
            </a:r>
            <a:r>
              <a:rPr>
                <a:latin typeface="Courier"/>
              </a:rPr>
              <a:t>#</a:t>
            </a:r>
            <a:r>
              <a:rPr/>
              <a:t> is </a:t>
            </a:r>
            <a:r>
              <a:rPr b="1"/>
              <a:t>ignored by R</a:t>
            </a:r>
            <a:r>
              <a:rPr/>
              <a:t> — it is a note for humans:</a:t>
            </a:r>
          </a:p>
          <a:p>
            <a:pPr lvl="0" indent="0">
              <a:buNone/>
            </a:pPr>
            <a:r>
              <a:rPr>
                <a:solidFill>
                  <a:srgbClr val="5E5E5E"/>
                </a:solidFill>
                <a:latin typeface="Courier"/>
              </a:rPr>
              <a:t># weights of four leaves, in grams</a:t>
            </a:r>
            <a:br/>
            <a:r>
              <a:rPr>
                <a:solidFill>
                  <a:srgbClr val="003B4F"/>
                </a:solidFill>
                <a:latin typeface="Courier"/>
              </a:rPr>
              <a:t>leaf_mass &lt;- </a:t>
            </a:r>
            <a:r>
              <a:rPr>
                <a:solidFill>
                  <a:srgbClr val="4758AB"/>
                </a:solidFill>
                <a:latin typeface="Courier"/>
              </a:rPr>
              <a:t>c</a:t>
            </a:r>
            <a:r>
              <a:rPr>
                <a:solidFill>
                  <a:srgbClr val="003B4F"/>
                </a:solidFill>
                <a:latin typeface="Courier"/>
              </a:rPr>
              <a:t>(</a:t>
            </a:r>
            <a:r>
              <a:rPr>
                <a:solidFill>
                  <a:srgbClr val="AD0000"/>
                </a:solidFill>
                <a:latin typeface="Courier"/>
              </a:rPr>
              <a:t>4</a:t>
            </a:r>
            <a:r>
              <a:rPr>
                <a:solidFill>
                  <a:srgbClr val="003B4F"/>
                </a:solidFill>
                <a:latin typeface="Courier"/>
              </a:rPr>
              <a:t>, </a:t>
            </a:r>
            <a:r>
              <a:rPr>
                <a:solidFill>
                  <a:srgbClr val="AD0000"/>
                </a:solidFill>
                <a:latin typeface="Courier"/>
              </a:rPr>
              <a:t>3</a:t>
            </a:r>
            <a:r>
              <a:rPr>
                <a:solidFill>
                  <a:srgbClr val="003B4F"/>
                </a:solidFill>
                <a:latin typeface="Courier"/>
              </a:rPr>
              <a:t>, </a:t>
            </a:r>
            <a:r>
              <a:rPr>
                <a:solidFill>
                  <a:srgbClr val="AD0000"/>
                </a:solidFill>
                <a:latin typeface="Courier"/>
              </a:rPr>
              <a:t>5</a:t>
            </a:r>
            <a:r>
              <a:rPr>
                <a:solidFill>
                  <a:srgbClr val="003B4F"/>
                </a:solidFill>
                <a:latin typeface="Courier"/>
              </a:rPr>
              <a:t>, </a:t>
            </a:r>
            <a:r>
              <a:rPr>
                <a:solidFill>
                  <a:srgbClr val="AD0000"/>
                </a:solidFill>
                <a:latin typeface="Courier"/>
              </a:rPr>
              <a:t>7</a:t>
            </a:r>
            <a:r>
              <a:rPr>
                <a:solidFill>
                  <a:srgbClr val="003B4F"/>
                </a:solidFill>
                <a:latin typeface="Courier"/>
              </a:rPr>
              <a:t>)</a:t>
            </a:r>
            <a:br/>
            <a:br/>
            <a:r>
              <a:rPr>
                <a:solidFill>
                  <a:srgbClr val="4758AB"/>
                </a:solidFill>
                <a:latin typeface="Courier"/>
              </a:rPr>
              <a:t>mean</a:t>
            </a:r>
            <a:r>
              <a:rPr>
                <a:solidFill>
                  <a:srgbClr val="003B4F"/>
                </a:solidFill>
                <a:latin typeface="Courier"/>
              </a:rPr>
              <a:t>(leaf_mass)   </a:t>
            </a:r>
            <a:r>
              <a:rPr>
                <a:solidFill>
                  <a:srgbClr val="5E5E5E"/>
                </a:solidFill>
                <a:latin typeface="Courier"/>
              </a:rPr>
              <a:t># average leaf mass</a:t>
            </a:r>
          </a:p>
          <a:p>
            <a:pPr lvl="0"/>
            <a:r>
              <a:rPr/>
              <a:t>Comment generously — your future self will thank you</a:t>
            </a:r>
          </a:p>
          <a:p>
            <a:pPr lvl="0"/>
            <a:r>
              <a:rPr/>
              <a:t>Shortcut to toggle: Ctrl/Cmd + Shift + C - this can be modified</a:t>
            </a:r>
          </a:p>
          <a:p>
            <a:pPr lvl="0" indent="0" marL="1270000">
              <a:buNone/>
            </a:pPr>
            <a:r>
              <a:rPr sz="2000" b="1"/>
              <a:t>Note</a:t>
            </a:r>
          </a:p>
          <a:p>
            <a:pPr lvl="0" indent="0" marL="1270000">
              <a:buNone/>
            </a:pPr>
            <a:r>
              <a:rPr sz="2000" b="1"/>
              <a:t>✅ Key idea</a:t>
            </a:r>
          </a:p>
          <a:p>
            <a:pPr lvl="0" indent="0" marL="1270000">
              <a:buNone/>
            </a:pPr>
            <a:r>
              <a:rPr sz="2000"/>
              <a:t>If a line confused you while writing it, comment </a:t>
            </a:r>
            <a:r>
              <a:rPr sz="2000" i="1"/>
              <a:t>why</a:t>
            </a:r>
            <a:r>
              <a:rPr sz="2000"/>
              <a:t> you did it.</a:t>
            </a:r>
          </a:p>
        </p:txBody>
      </p:sp>
      <p:sp>
        <p:nvSpPr>
          <p:cNvPr id="4" name="Content Placeholder 3"/>
          <p:cNvSpPr>
            <a:spLocks noGrp="1"/>
          </p:cNvSpPr>
          <p:nvPr>
            <p:ph idx="2" sz="half"/>
          </p:nvPr>
        </p:nvSpPr>
        <p:spPr/>
        <p:txBody>
          <a:bodyPr/>
          <a:lstStyle/>
          <a:p>
            <a:pPr lvl="0" indent="0" marL="1270000">
              <a:buNone/>
            </a:pPr>
            <a:r>
              <a:rPr sz="2000" b="1"/>
              <a:t>Note</a:t>
            </a:r>
          </a:p>
          <a:p>
            <a:pPr lvl="0" indent="0" marL="1270000">
              <a:buNone/>
            </a:pPr>
            <a:r>
              <a:rPr sz="2000" b="1"/>
              <a:t>📊 Coming from Excel?</a:t>
            </a:r>
          </a:p>
          <a:p>
            <a:pPr lvl="0" indent="0" marL="1270000">
              <a:buNone/>
            </a:pPr>
            <a:r>
              <a:rPr sz="2000"/>
              <a:t>Comments are like the notes you scribble in a cell — but they never get in the way of the numbers or the code.</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1A1A2E"/>
          </a:solidFill>
        </p:spPr>
        <p:txBody>
          <a:bodyPr/>
          <a:lstStyle/>
          <a:p>
            <a:pPr lvl="0" indent="0" marL="0">
              <a:buNone/>
            </a:pPr>
            <a:r>
              <a:rPr/>
              <a:t>Functions and their arguments</a:t>
            </a:r>
          </a:p>
        </p:txBody>
      </p:sp>
      <p:sp>
        <p:nvSpPr>
          <p:cNvPr id="3" name="Content Placeholder 2"/>
          <p:cNvSpPr>
            <a:spLocks noGrp="1"/>
          </p:cNvSpPr>
          <p:nvPr>
            <p:ph idx="1" sz="half"/>
          </p:nvPr>
        </p:nvSpPr>
        <p:spPr/>
        <p:txBody>
          <a:bodyPr/>
          <a:lstStyle/>
          <a:p>
            <a:pPr lvl="0" indent="0" marL="0">
              <a:buNone/>
            </a:pPr>
            <a:r>
              <a:rPr/>
              <a:t>A </a:t>
            </a:r>
            <a:r>
              <a:rPr b="1"/>
              <a:t>function</a:t>
            </a:r>
            <a:r>
              <a:rPr/>
              <a:t> is a canned script you call by name. You feed it </a:t>
            </a:r>
            <a:r>
              <a:rPr b="1"/>
              <a:t>arguments</a:t>
            </a:r>
            <a:r>
              <a:rPr/>
              <a:t> (inputs); it </a:t>
            </a:r>
            <a:r>
              <a:rPr b="1"/>
              <a:t>returns</a:t>
            </a:r>
            <a:r>
              <a:rPr/>
              <a:t> a result:</a:t>
            </a:r>
          </a:p>
          <a:p>
            <a:pPr lvl="0" indent="0">
              <a:buNone/>
            </a:pPr>
            <a:r>
              <a:rPr>
                <a:solidFill>
                  <a:srgbClr val="4758AB"/>
                </a:solidFill>
                <a:latin typeface="Courier"/>
              </a:rPr>
              <a:t>sqrt</a:t>
            </a:r>
            <a:r>
              <a:rPr>
                <a:solidFill>
                  <a:srgbClr val="003B4F"/>
                </a:solidFill>
                <a:latin typeface="Courier"/>
              </a:rPr>
              <a:t>(</a:t>
            </a:r>
            <a:r>
              <a:rPr>
                <a:solidFill>
                  <a:srgbClr val="AD0000"/>
                </a:solidFill>
                <a:latin typeface="Courier"/>
              </a:rPr>
              <a:t>10</a:t>
            </a:r>
            <a:r>
              <a:rPr>
                <a:solidFill>
                  <a:srgbClr val="003B4F"/>
                </a:solidFill>
                <a:latin typeface="Courier"/>
              </a:rPr>
              <a:t>)                         </a:t>
            </a:r>
            <a:r>
              <a:rPr>
                <a:solidFill>
                  <a:srgbClr val="5E5E5E"/>
                </a:solidFill>
                <a:latin typeface="Courier"/>
              </a:rPr>
              <a:t># one argument</a:t>
            </a:r>
            <a:br/>
            <a:r>
              <a:rPr>
                <a:solidFill>
                  <a:srgbClr val="4758AB"/>
                </a:solidFill>
                <a:latin typeface="Courier"/>
              </a:rPr>
              <a:t>round</a:t>
            </a:r>
            <a:r>
              <a:rPr>
                <a:solidFill>
                  <a:srgbClr val="003B4F"/>
                </a:solidFill>
                <a:latin typeface="Courier"/>
              </a:rPr>
              <a:t>(</a:t>
            </a:r>
            <a:r>
              <a:rPr>
                <a:solidFill>
                  <a:srgbClr val="AD0000"/>
                </a:solidFill>
                <a:latin typeface="Courier"/>
              </a:rPr>
              <a:t>3.14159</a:t>
            </a:r>
            <a:r>
              <a:rPr>
                <a:solidFill>
                  <a:srgbClr val="003B4F"/>
                </a:solidFill>
                <a:latin typeface="Courier"/>
              </a:rPr>
              <a:t>)                   </a:t>
            </a:r>
            <a:r>
              <a:rPr>
                <a:solidFill>
                  <a:srgbClr val="5E5E5E"/>
                </a:solidFill>
                <a:latin typeface="Courier"/>
              </a:rPr>
              <a:t># default: 0 digits → 3</a:t>
            </a:r>
            <a:br/>
            <a:r>
              <a:rPr>
                <a:solidFill>
                  <a:srgbClr val="4758AB"/>
                </a:solidFill>
                <a:latin typeface="Courier"/>
              </a:rPr>
              <a:t>round</a:t>
            </a:r>
            <a:r>
              <a:rPr>
                <a:solidFill>
                  <a:srgbClr val="003B4F"/>
                </a:solidFill>
                <a:latin typeface="Courier"/>
              </a:rPr>
              <a:t>(</a:t>
            </a:r>
            <a:r>
              <a:rPr>
                <a:solidFill>
                  <a:srgbClr val="AD0000"/>
                </a:solidFill>
                <a:latin typeface="Courier"/>
              </a:rPr>
              <a:t>3.14159</a:t>
            </a:r>
            <a:r>
              <a:rPr>
                <a:solidFill>
                  <a:srgbClr val="003B4F"/>
                </a:solidFill>
                <a:latin typeface="Courier"/>
              </a:rPr>
              <a:t>, </a:t>
            </a:r>
            <a:r>
              <a:rPr>
                <a:solidFill>
                  <a:srgbClr val="AD0000"/>
                </a:solidFill>
                <a:latin typeface="Courier"/>
              </a:rPr>
              <a:t>2</a:t>
            </a:r>
            <a:r>
              <a:rPr>
                <a:solidFill>
                  <a:srgbClr val="003B4F"/>
                </a:solidFill>
                <a:latin typeface="Courier"/>
              </a:rPr>
              <a:t>)                </a:t>
            </a:r>
            <a:r>
              <a:rPr>
                <a:solidFill>
                  <a:srgbClr val="5E5E5E"/>
                </a:solidFill>
                <a:latin typeface="Courier"/>
              </a:rPr>
              <a:t># two digits → 3.14</a:t>
            </a:r>
            <a:br/>
            <a:r>
              <a:rPr>
                <a:solidFill>
                  <a:srgbClr val="4758AB"/>
                </a:solidFill>
                <a:latin typeface="Courier"/>
              </a:rPr>
              <a:t>round</a:t>
            </a:r>
            <a:r>
              <a:rPr>
                <a:solidFill>
                  <a:srgbClr val="003B4F"/>
                </a:solidFill>
                <a:latin typeface="Courier"/>
              </a:rPr>
              <a:t>(</a:t>
            </a:r>
            <a:r>
              <a:rPr>
                <a:solidFill>
                  <a:srgbClr val="657422"/>
                </a:solidFill>
                <a:latin typeface="Courier"/>
              </a:rPr>
              <a:t>x =</a:t>
            </a:r>
            <a:r>
              <a:rPr>
                <a:solidFill>
                  <a:srgbClr val="003B4F"/>
                </a:solidFill>
                <a:latin typeface="Courier"/>
              </a:rPr>
              <a:t> </a:t>
            </a:r>
            <a:r>
              <a:rPr>
                <a:solidFill>
                  <a:srgbClr val="AD0000"/>
                </a:solidFill>
                <a:latin typeface="Courier"/>
              </a:rPr>
              <a:t>3.14159</a:t>
            </a:r>
            <a:r>
              <a:rPr>
                <a:solidFill>
                  <a:srgbClr val="003B4F"/>
                </a:solidFill>
                <a:latin typeface="Courier"/>
              </a:rPr>
              <a:t>, </a:t>
            </a:r>
            <a:r>
              <a:rPr>
                <a:solidFill>
                  <a:srgbClr val="657422"/>
                </a:solidFill>
                <a:latin typeface="Courier"/>
              </a:rPr>
              <a:t>digits =</a:t>
            </a:r>
            <a:r>
              <a:rPr>
                <a:solidFill>
                  <a:srgbClr val="003B4F"/>
                </a:solidFill>
                <a:latin typeface="Courier"/>
              </a:rPr>
              <a:t> </a:t>
            </a:r>
            <a:r>
              <a:rPr>
                <a:solidFill>
                  <a:srgbClr val="AD0000"/>
                </a:solidFill>
                <a:latin typeface="Courier"/>
              </a:rPr>
              <a:t>2</a:t>
            </a:r>
            <a:r>
              <a:rPr>
                <a:solidFill>
                  <a:srgbClr val="003B4F"/>
                </a:solidFill>
                <a:latin typeface="Courier"/>
              </a:rPr>
              <a:t>)  </a:t>
            </a:r>
            <a:r>
              <a:rPr>
                <a:solidFill>
                  <a:srgbClr val="5E5E5E"/>
                </a:solidFill>
                <a:latin typeface="Courier"/>
              </a:rPr>
              <a:t># named arguments</a:t>
            </a:r>
          </a:p>
          <a:p>
            <a:pPr lvl="0" indent="0" marL="0">
              <a:buNone/>
            </a:pPr>
            <a:r>
              <a:rPr/>
              <a:t>Stuck on a function?</a:t>
            </a:r>
          </a:p>
          <a:p>
            <a:pPr lvl="0" indent="0">
              <a:buNone/>
            </a:pPr>
            <a:r>
              <a:rPr>
                <a:solidFill>
                  <a:srgbClr val="003B4F"/>
                </a:solidFill>
                <a:latin typeface="Courier"/>
              </a:rPr>
              <a:t>?round        </a:t>
            </a:r>
            <a:r>
              <a:rPr>
                <a:solidFill>
                  <a:srgbClr val="5E5E5E"/>
                </a:solidFill>
                <a:latin typeface="Courier"/>
              </a:rPr>
              <a:t># open the help page</a:t>
            </a:r>
            <a:br/>
            <a:r>
              <a:rPr>
                <a:solidFill>
                  <a:srgbClr val="4758AB"/>
                </a:solidFill>
                <a:latin typeface="Courier"/>
              </a:rPr>
              <a:t>args</a:t>
            </a:r>
            <a:r>
              <a:rPr>
                <a:solidFill>
                  <a:srgbClr val="003B4F"/>
                </a:solidFill>
                <a:latin typeface="Courier"/>
              </a:rPr>
              <a:t>(round)   </a:t>
            </a:r>
            <a:r>
              <a:rPr>
                <a:solidFill>
                  <a:srgbClr val="5E5E5E"/>
                </a:solidFill>
                <a:latin typeface="Courier"/>
              </a:rPr>
              <a:t># what arguments does it take?</a:t>
            </a:r>
          </a:p>
          <a:p>
            <a:pPr lvl="0" indent="0" marL="1270000">
              <a:buNone/>
            </a:pPr>
            <a:r>
              <a:rPr sz="2000" b="1"/>
              <a:t>Note</a:t>
            </a:r>
          </a:p>
          <a:p>
            <a:pPr lvl="0" indent="0" marL="1270000">
              <a:buNone/>
            </a:pPr>
            <a:r>
              <a:rPr sz="2000" b="1"/>
              <a:t>📖 New word</a:t>
            </a:r>
          </a:p>
          <a:p>
            <a:pPr lvl="0" indent="0" marL="1270000">
              <a:buNone/>
            </a:pPr>
            <a:r>
              <a:rPr sz="2000" b="1"/>
              <a:t>Argument</a:t>
            </a:r>
            <a:r>
              <a:rPr sz="2000"/>
              <a:t> = an input you hand to a function inside its </a:t>
            </a:r>
            <a:r>
              <a:rPr sz="2000">
                <a:latin typeface="Courier"/>
              </a:rPr>
              <a:t>( )</a:t>
            </a:r>
            <a:r>
              <a:rPr sz="2000"/>
              <a:t>.</a:t>
            </a:r>
          </a:p>
        </p:txBody>
      </p:sp>
      <p:pic>
        <p:nvPicPr>
          <p:cNvPr descr="images/diagram_function.png" id="0" name="Picture 1"/>
          <p:cNvPicPr>
            <a:picLocks noGrp="1" noChangeAspect="1"/>
          </p:cNvPicPr>
          <p:nvPr/>
        </p:nvPicPr>
        <p:blipFill>
          <a:blip r:embed="rId2"/>
          <a:stretch>
            <a:fillRect/>
          </a:stretch>
        </p:blipFill>
        <p:spPr bwMode="auto">
          <a:xfrm>
            <a:off x="4495800" y="863600"/>
            <a:ext cx="4406900" cy="3390900"/>
          </a:xfrm>
          <a:prstGeom prst="rect">
            <a:avLst/>
          </a:prstGeom>
          <a:noFill/>
          <a:ln w="9525">
            <a:noFill/>
            <a:headEnd/>
            <a:tailEnd/>
          </a:ln>
        </p:spPr>
      </p:pic>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1A1A2E"/>
          </a:solidFill>
        </p:spPr>
        <p:txBody>
          <a:bodyPr/>
          <a:lstStyle/>
          <a:p>
            <a:pPr lvl="0" indent="0" marL="0">
              <a:buNone/>
            </a:pPr>
            <a:r>
              <a:rPr/>
              <a:t>Vectors — a row of values</a:t>
            </a:r>
          </a:p>
        </p:txBody>
      </p:sp>
      <p:sp>
        <p:nvSpPr>
          <p:cNvPr id="3" name="Content Placeholder 2"/>
          <p:cNvSpPr>
            <a:spLocks noGrp="1"/>
          </p:cNvSpPr>
          <p:nvPr>
            <p:ph idx="1" sz="half"/>
          </p:nvPr>
        </p:nvSpPr>
        <p:spPr/>
        <p:txBody>
          <a:bodyPr/>
          <a:lstStyle/>
          <a:p>
            <a:pPr lvl="0" indent="0" marL="0">
              <a:buNone/>
            </a:pPr>
            <a:r>
              <a:rPr/>
              <a:t>A </a:t>
            </a:r>
            <a:r>
              <a:rPr b="1"/>
              <a:t>vector</a:t>
            </a:r>
            <a:r>
              <a:rPr/>
              <a:t> is a series of values built with </a:t>
            </a:r>
            <a:r>
              <a:rPr>
                <a:latin typeface="Courier"/>
              </a:rPr>
              <a:t>c()</a:t>
            </a:r>
            <a:r>
              <a:rPr/>
              <a:t> (“combine”) or concatenated list:</a:t>
            </a:r>
          </a:p>
          <a:p>
            <a:pPr lvl="0" indent="0">
              <a:buNone/>
            </a:pPr>
            <a:r>
              <a:rPr>
                <a:solidFill>
                  <a:srgbClr val="003B4F"/>
                </a:solidFill>
                <a:latin typeface="Courier"/>
              </a:rPr>
              <a:t>mass_g &lt;- </a:t>
            </a:r>
            <a:r>
              <a:rPr>
                <a:solidFill>
                  <a:srgbClr val="4758AB"/>
                </a:solidFill>
                <a:latin typeface="Courier"/>
              </a:rPr>
              <a:t>c</a:t>
            </a:r>
            <a:r>
              <a:rPr>
                <a:solidFill>
                  <a:srgbClr val="003B4F"/>
                </a:solidFill>
                <a:latin typeface="Courier"/>
              </a:rPr>
              <a:t>(</a:t>
            </a:r>
            <a:r>
              <a:rPr>
                <a:solidFill>
                  <a:srgbClr val="AD0000"/>
                </a:solidFill>
                <a:latin typeface="Courier"/>
              </a:rPr>
              <a:t>4</a:t>
            </a:r>
            <a:r>
              <a:rPr>
                <a:solidFill>
                  <a:srgbClr val="003B4F"/>
                </a:solidFill>
                <a:latin typeface="Courier"/>
              </a:rPr>
              <a:t>, </a:t>
            </a:r>
            <a:r>
              <a:rPr>
                <a:solidFill>
                  <a:srgbClr val="AD0000"/>
                </a:solidFill>
                <a:latin typeface="Courier"/>
              </a:rPr>
              <a:t>3</a:t>
            </a:r>
            <a:r>
              <a:rPr>
                <a:solidFill>
                  <a:srgbClr val="003B4F"/>
                </a:solidFill>
                <a:latin typeface="Courier"/>
              </a:rPr>
              <a:t>, </a:t>
            </a:r>
            <a:r>
              <a:rPr>
                <a:solidFill>
                  <a:srgbClr val="AD0000"/>
                </a:solidFill>
                <a:latin typeface="Courier"/>
              </a:rPr>
              <a:t>5</a:t>
            </a:r>
            <a:r>
              <a:rPr>
                <a:solidFill>
                  <a:srgbClr val="003B4F"/>
                </a:solidFill>
                <a:latin typeface="Courier"/>
              </a:rPr>
              <a:t>, </a:t>
            </a:r>
            <a:r>
              <a:rPr>
                <a:solidFill>
                  <a:srgbClr val="AD0000"/>
                </a:solidFill>
                <a:latin typeface="Courier"/>
              </a:rPr>
              <a:t>7</a:t>
            </a:r>
            <a:r>
              <a:rPr>
                <a:solidFill>
                  <a:srgbClr val="003B4F"/>
                </a:solidFill>
                <a:latin typeface="Courier"/>
              </a:rPr>
              <a:t>)          </a:t>
            </a:r>
            <a:r>
              <a:rPr>
                <a:solidFill>
                  <a:srgbClr val="5E5E5E"/>
                </a:solidFill>
                <a:latin typeface="Courier"/>
              </a:rPr>
              <a:t># numbers</a:t>
            </a:r>
            <a:br/>
            <a:r>
              <a:rPr>
                <a:solidFill>
                  <a:srgbClr val="003B4F"/>
                </a:solidFill>
                <a:latin typeface="Courier"/>
              </a:rPr>
              <a:t>shade     &lt;- </a:t>
            </a:r>
            <a:r>
              <a:rPr>
                <a:solidFill>
                  <a:srgbClr val="4758AB"/>
                </a:solidFill>
                <a:latin typeface="Courier"/>
              </a:rPr>
              <a:t>c</a:t>
            </a:r>
            <a:r>
              <a:rPr>
                <a:solidFill>
                  <a:srgbClr val="003B4F"/>
                </a:solidFill>
                <a:latin typeface="Courier"/>
              </a:rPr>
              <a:t>(</a:t>
            </a:r>
            <a:r>
              <a:rPr>
                <a:solidFill>
                  <a:srgbClr val="20794D"/>
                </a:solidFill>
                <a:latin typeface="Courier"/>
              </a:rPr>
              <a:t>"sunny"</a:t>
            </a:r>
            <a:r>
              <a:rPr>
                <a:solidFill>
                  <a:srgbClr val="003B4F"/>
                </a:solidFill>
                <a:latin typeface="Courier"/>
              </a:rPr>
              <a:t>, </a:t>
            </a:r>
            <a:r>
              <a:rPr>
                <a:solidFill>
                  <a:srgbClr val="20794D"/>
                </a:solidFill>
                <a:latin typeface="Courier"/>
              </a:rPr>
              <a:t>"shady"</a:t>
            </a:r>
            <a:r>
              <a:rPr>
                <a:solidFill>
                  <a:srgbClr val="003B4F"/>
                </a:solidFill>
                <a:latin typeface="Courier"/>
              </a:rPr>
              <a:t>)     </a:t>
            </a:r>
            <a:r>
              <a:rPr>
                <a:solidFill>
                  <a:srgbClr val="5E5E5E"/>
                </a:solidFill>
                <a:latin typeface="Courier"/>
              </a:rPr>
              <a:t># text needs quotes</a:t>
            </a:r>
          </a:p>
          <a:p>
            <a:pPr lvl="0" indent="0" marL="0">
              <a:buNone/>
            </a:pPr>
            <a:r>
              <a:rPr/>
              <a:t>Inspect any vector:</a:t>
            </a:r>
          </a:p>
          <a:p>
            <a:pPr lvl="0" indent="0">
              <a:buNone/>
            </a:pPr>
            <a:r>
              <a:rPr>
                <a:solidFill>
                  <a:srgbClr val="4758AB"/>
                </a:solidFill>
                <a:latin typeface="Courier"/>
              </a:rPr>
              <a:t>length</a:t>
            </a:r>
            <a:r>
              <a:rPr>
                <a:solidFill>
                  <a:srgbClr val="003B4F"/>
                </a:solidFill>
                <a:latin typeface="Courier"/>
              </a:rPr>
              <a:t>(mass_g)   </a:t>
            </a:r>
            <a:r>
              <a:rPr>
                <a:solidFill>
                  <a:srgbClr val="5E5E5E"/>
                </a:solidFill>
                <a:latin typeface="Courier"/>
              </a:rPr>
              <a:t># how many values?</a:t>
            </a:r>
            <a:br/>
            <a:r>
              <a:rPr>
                <a:solidFill>
                  <a:srgbClr val="4758AB"/>
                </a:solidFill>
                <a:latin typeface="Courier"/>
              </a:rPr>
              <a:t>class</a:t>
            </a:r>
            <a:r>
              <a:rPr>
                <a:solidFill>
                  <a:srgbClr val="003B4F"/>
                </a:solidFill>
                <a:latin typeface="Courier"/>
              </a:rPr>
              <a:t>(mass_g)    </a:t>
            </a:r>
            <a:r>
              <a:rPr>
                <a:solidFill>
                  <a:srgbClr val="5E5E5E"/>
                </a:solidFill>
                <a:latin typeface="Courier"/>
              </a:rPr>
              <a:t># what type?</a:t>
            </a:r>
            <a:br/>
            <a:r>
              <a:rPr>
                <a:solidFill>
                  <a:srgbClr val="4758AB"/>
                </a:solidFill>
                <a:latin typeface="Courier"/>
              </a:rPr>
              <a:t>str</a:t>
            </a:r>
            <a:r>
              <a:rPr>
                <a:solidFill>
                  <a:srgbClr val="003B4F"/>
                </a:solidFill>
                <a:latin typeface="Courier"/>
              </a:rPr>
              <a:t>(mass_g)      </a:t>
            </a:r>
            <a:r>
              <a:rPr>
                <a:solidFill>
                  <a:srgbClr val="5E5E5E"/>
                </a:solidFill>
                <a:latin typeface="Courier"/>
              </a:rPr>
              <a:t># quick structure overview</a:t>
            </a:r>
          </a:p>
          <a:p>
            <a:pPr lvl="0" indent="0" marL="1270000">
              <a:buNone/>
            </a:pPr>
            <a:r>
              <a:rPr sz="2000" b="1"/>
              <a:t>Warning</a:t>
            </a:r>
          </a:p>
          <a:p>
            <a:pPr lvl="0" indent="0" marL="1270000">
              <a:buNone/>
            </a:pPr>
            <a:r>
              <a:rPr sz="2000" b="1"/>
              <a:t>⚠️ Watch out!</a:t>
            </a:r>
          </a:p>
          <a:p>
            <a:pPr lvl="0" indent="0" marL="1270000">
              <a:buNone/>
            </a:pPr>
            <a:r>
              <a:rPr sz="2000"/>
              <a:t>Quotes matter: </a:t>
            </a:r>
            <a:r>
              <a:rPr sz="2000">
                <a:latin typeface="Courier"/>
              </a:rPr>
              <a:t>"sunny"</a:t>
            </a:r>
            <a:r>
              <a:rPr sz="2000"/>
              <a:t> is text. Without quotes, R hunts for an </a:t>
            </a:r>
            <a:r>
              <a:rPr sz="2000" b="1"/>
              <a:t>object</a:t>
            </a:r>
            <a:r>
              <a:rPr sz="2000"/>
              <a:t> named </a:t>
            </a:r>
            <a:r>
              <a:rPr sz="2000">
                <a:latin typeface="Courier"/>
              </a:rPr>
              <a:t>sunny</a:t>
            </a:r>
            <a:r>
              <a:rPr sz="2000"/>
              <a:t> and errors when it cannot find one.</a:t>
            </a:r>
          </a:p>
        </p:txBody>
      </p:sp>
      <p:sp>
        <p:nvSpPr>
          <p:cNvPr id="4" name="Content Placeholder 3"/>
          <p:cNvSpPr>
            <a:spLocks noGrp="1"/>
          </p:cNvSpPr>
          <p:nvPr>
            <p:ph idx="2" sz="half"/>
          </p:nvPr>
        </p:nvSpPr>
        <p:spPr/>
        <p:txBody>
          <a:bodyPr/>
          <a:lstStyle/>
          <a:p>
            <a:pPr lvl="0" indent="0" marL="1270000">
              <a:buNone/>
            </a:pPr>
            <a:r>
              <a:rPr sz="2000" b="1"/>
              <a:t>Note</a:t>
            </a:r>
          </a:p>
          <a:p>
            <a:pPr lvl="0" indent="0" marL="1270000">
              <a:buNone/>
            </a:pPr>
            <a:r>
              <a:rPr sz="2000" b="1"/>
              <a:t>✅ Key idea</a:t>
            </a:r>
          </a:p>
          <a:p>
            <a:pPr lvl="0" indent="0" marL="1270000">
              <a:buNone/>
            </a:pPr>
            <a:r>
              <a:rPr sz="2000"/>
              <a:t>A vector is the workhorse of R. A spreadsheet </a:t>
            </a:r>
            <a:r>
              <a:rPr sz="2000" b="1"/>
              <a:t>column</a:t>
            </a:r>
            <a:r>
              <a:rPr sz="2000"/>
              <a:t> is really just a vector.</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1A1A2E"/>
          </a:solidFill>
        </p:spPr>
        <p:txBody>
          <a:bodyPr/>
          <a:lstStyle/>
          <a:p>
            <a:pPr lvl="0" indent="0" marL="0">
              <a:buNone/>
            </a:pPr>
            <a:r>
              <a:rPr/>
              <a:t>Data types live inside vectors</a:t>
            </a:r>
          </a:p>
        </p:txBody>
      </p:sp>
      <p:sp>
        <p:nvSpPr>
          <p:cNvPr id="3" name="Content Placeholder 2"/>
          <p:cNvSpPr>
            <a:spLocks noGrp="1"/>
          </p:cNvSpPr>
          <p:nvPr>
            <p:ph idx="1" sz="half"/>
          </p:nvPr>
        </p:nvSpPr>
        <p:spPr/>
        <p:txBody>
          <a:bodyPr/>
          <a:lstStyle/>
          <a:p>
            <a:pPr lvl="0" indent="0" marL="0">
              <a:buNone/>
            </a:pPr>
            <a:r>
              <a:rPr/>
              <a:t>Every vector holds </a:t>
            </a:r>
            <a:r>
              <a:rPr b="1"/>
              <a:t>one type</a:t>
            </a:r>
            <a:r>
              <a:rPr/>
              <a:t>:</a:t>
            </a:r>
          </a:p>
          <a:p>
            <a:pPr lvl="0"/>
            <a:r>
              <a:rPr>
                <a:latin typeface="Courier"/>
              </a:rPr>
              <a:t>numeric</a:t>
            </a:r>
            <a:r>
              <a:rPr/>
              <a:t> — </a:t>
            </a:r>
            <a:r>
              <a:rPr>
                <a:latin typeface="Courier"/>
              </a:rPr>
              <a:t>4</a:t>
            </a:r>
            <a:r>
              <a:rPr/>
              <a:t>, </a:t>
            </a:r>
            <a:r>
              <a:rPr>
                <a:latin typeface="Courier"/>
              </a:rPr>
              <a:t>3.5</a:t>
            </a:r>
          </a:p>
          <a:p>
            <a:pPr lvl="0"/>
            <a:r>
              <a:rPr>
                <a:latin typeface="Courier"/>
              </a:rPr>
              <a:t>character</a:t>
            </a:r>
            <a:r>
              <a:rPr/>
              <a:t> — </a:t>
            </a:r>
            <a:r>
              <a:rPr>
                <a:latin typeface="Courier"/>
              </a:rPr>
              <a:t>"sunny"</a:t>
            </a:r>
          </a:p>
          <a:p>
            <a:pPr lvl="0"/>
            <a:r>
              <a:rPr>
                <a:latin typeface="Courier"/>
              </a:rPr>
              <a:t>logical</a:t>
            </a:r>
            <a:r>
              <a:rPr/>
              <a:t> — </a:t>
            </a:r>
            <a:r>
              <a:rPr>
                <a:latin typeface="Courier"/>
              </a:rPr>
              <a:t>TRUE</a:t>
            </a:r>
            <a:r>
              <a:rPr/>
              <a:t> / </a:t>
            </a:r>
            <a:r>
              <a:rPr>
                <a:latin typeface="Courier"/>
              </a:rPr>
              <a:t>FALSE</a:t>
            </a:r>
          </a:p>
          <a:p>
            <a:pPr lvl="0" indent="0" marL="0">
              <a:buNone/>
            </a:pPr>
            <a:r>
              <a:rPr/>
              <a:t>Mix types and R quietly </a:t>
            </a:r>
            <a:r>
              <a:rPr b="1"/>
              <a:t>coerces</a:t>
            </a:r>
            <a:r>
              <a:rPr/>
              <a:t> them all to one:</a:t>
            </a:r>
          </a:p>
          <a:p>
            <a:pPr lvl="0" indent="0">
              <a:buNone/>
            </a:pPr>
            <a:r>
              <a:rPr>
                <a:solidFill>
                  <a:srgbClr val="4758AB"/>
                </a:solidFill>
                <a:latin typeface="Courier"/>
              </a:rPr>
              <a:t>c</a:t>
            </a:r>
            <a:r>
              <a:rPr>
                <a:solidFill>
                  <a:srgbClr val="003B4F"/>
                </a:solidFill>
                <a:latin typeface="Courier"/>
              </a:rPr>
              <a:t>(</a:t>
            </a:r>
            <a:r>
              <a:rPr>
                <a:solidFill>
                  <a:srgbClr val="AD0000"/>
                </a:solidFill>
                <a:latin typeface="Courier"/>
              </a:rPr>
              <a:t>1</a:t>
            </a:r>
            <a:r>
              <a:rPr>
                <a:solidFill>
                  <a:srgbClr val="003B4F"/>
                </a:solidFill>
                <a:latin typeface="Courier"/>
              </a:rPr>
              <a:t>, </a:t>
            </a:r>
            <a:r>
              <a:rPr>
                <a:solidFill>
                  <a:srgbClr val="AD0000"/>
                </a:solidFill>
                <a:latin typeface="Courier"/>
              </a:rPr>
              <a:t>2</a:t>
            </a:r>
            <a:r>
              <a:rPr>
                <a:solidFill>
                  <a:srgbClr val="003B4F"/>
                </a:solidFill>
                <a:latin typeface="Courier"/>
              </a:rPr>
              <a:t>, </a:t>
            </a:r>
            <a:r>
              <a:rPr>
                <a:solidFill>
                  <a:srgbClr val="AD0000"/>
                </a:solidFill>
                <a:latin typeface="Courier"/>
              </a:rPr>
              <a:t>3</a:t>
            </a:r>
            <a:r>
              <a:rPr>
                <a:solidFill>
                  <a:srgbClr val="003B4F"/>
                </a:solidFill>
                <a:latin typeface="Courier"/>
              </a:rPr>
              <a:t>, </a:t>
            </a:r>
            <a:r>
              <a:rPr>
                <a:solidFill>
                  <a:srgbClr val="20794D"/>
                </a:solidFill>
                <a:latin typeface="Courier"/>
              </a:rPr>
              <a:t>"a"</a:t>
            </a:r>
            <a:r>
              <a:rPr>
                <a:solidFill>
                  <a:srgbClr val="003B4F"/>
                </a:solidFill>
                <a:latin typeface="Courier"/>
              </a:rPr>
              <a:t>)     </a:t>
            </a:r>
            <a:r>
              <a:rPr>
                <a:solidFill>
                  <a:srgbClr val="5E5E5E"/>
                </a:solidFill>
                <a:latin typeface="Courier"/>
              </a:rPr>
              <a:t># all become character</a:t>
            </a:r>
            <a:br/>
            <a:r>
              <a:rPr>
                <a:solidFill>
                  <a:srgbClr val="4758AB"/>
                </a:solidFill>
                <a:latin typeface="Courier"/>
              </a:rPr>
              <a:t>c</a:t>
            </a:r>
            <a:r>
              <a:rPr>
                <a:solidFill>
                  <a:srgbClr val="003B4F"/>
                </a:solidFill>
                <a:latin typeface="Courier"/>
              </a:rPr>
              <a:t>(</a:t>
            </a:r>
            <a:r>
              <a:rPr>
                <a:solidFill>
                  <a:srgbClr val="AD0000"/>
                </a:solidFill>
                <a:latin typeface="Courier"/>
              </a:rPr>
              <a:t>1</a:t>
            </a:r>
            <a:r>
              <a:rPr>
                <a:solidFill>
                  <a:srgbClr val="003B4F"/>
                </a:solidFill>
                <a:latin typeface="Courier"/>
              </a:rPr>
              <a:t>, </a:t>
            </a:r>
            <a:r>
              <a:rPr>
                <a:solidFill>
                  <a:srgbClr val="AD0000"/>
                </a:solidFill>
                <a:latin typeface="Courier"/>
              </a:rPr>
              <a:t>2</a:t>
            </a:r>
            <a:r>
              <a:rPr>
                <a:solidFill>
                  <a:srgbClr val="003B4F"/>
                </a:solidFill>
                <a:latin typeface="Courier"/>
              </a:rPr>
              <a:t>, </a:t>
            </a:r>
            <a:r>
              <a:rPr>
                <a:solidFill>
                  <a:srgbClr val="AD0000"/>
                </a:solidFill>
                <a:latin typeface="Courier"/>
              </a:rPr>
              <a:t>3</a:t>
            </a:r>
            <a:r>
              <a:rPr>
                <a:solidFill>
                  <a:srgbClr val="003B4F"/>
                </a:solidFill>
                <a:latin typeface="Courier"/>
              </a:rPr>
              <a:t>, </a:t>
            </a:r>
            <a:r>
              <a:rPr>
                <a:solidFill>
                  <a:srgbClr val="8F5902"/>
                </a:solidFill>
                <a:latin typeface="Courier"/>
              </a:rPr>
              <a:t>TRUE</a:t>
            </a:r>
            <a:r>
              <a:rPr>
                <a:solidFill>
                  <a:srgbClr val="003B4F"/>
                </a:solidFill>
                <a:latin typeface="Courier"/>
              </a:rPr>
              <a:t>)    </a:t>
            </a:r>
            <a:r>
              <a:rPr>
                <a:solidFill>
                  <a:srgbClr val="5E5E5E"/>
                </a:solidFill>
                <a:latin typeface="Courier"/>
              </a:rPr>
              <a:t># TRUE becomes 1</a:t>
            </a:r>
            <a:br/>
            <a:r>
              <a:rPr>
                <a:solidFill>
                  <a:srgbClr val="4758AB"/>
                </a:solidFill>
                <a:latin typeface="Courier"/>
              </a:rPr>
              <a:t>class</a:t>
            </a:r>
            <a:r>
              <a:rPr>
                <a:solidFill>
                  <a:srgbClr val="003B4F"/>
                </a:solidFill>
                <a:latin typeface="Courier"/>
              </a:rPr>
              <a:t>(</a:t>
            </a:r>
            <a:r>
              <a:rPr>
                <a:solidFill>
                  <a:srgbClr val="4758AB"/>
                </a:solidFill>
                <a:latin typeface="Courier"/>
              </a:rPr>
              <a:t>c</a:t>
            </a:r>
            <a:r>
              <a:rPr>
                <a:solidFill>
                  <a:srgbClr val="003B4F"/>
                </a:solidFill>
                <a:latin typeface="Courier"/>
              </a:rPr>
              <a:t>(</a:t>
            </a:r>
            <a:r>
              <a:rPr>
                <a:solidFill>
                  <a:srgbClr val="AD0000"/>
                </a:solidFill>
                <a:latin typeface="Courier"/>
              </a:rPr>
              <a:t>1</a:t>
            </a:r>
            <a:r>
              <a:rPr>
                <a:solidFill>
                  <a:srgbClr val="003B4F"/>
                </a:solidFill>
                <a:latin typeface="Courier"/>
              </a:rPr>
              <a:t>, </a:t>
            </a:r>
            <a:r>
              <a:rPr>
                <a:solidFill>
                  <a:srgbClr val="AD0000"/>
                </a:solidFill>
                <a:latin typeface="Courier"/>
              </a:rPr>
              <a:t>2</a:t>
            </a:r>
            <a:r>
              <a:rPr>
                <a:solidFill>
                  <a:srgbClr val="003B4F"/>
                </a:solidFill>
                <a:latin typeface="Courier"/>
              </a:rPr>
              <a:t>, </a:t>
            </a:r>
            <a:r>
              <a:rPr>
                <a:solidFill>
                  <a:srgbClr val="AD0000"/>
                </a:solidFill>
                <a:latin typeface="Courier"/>
              </a:rPr>
              <a:t>3</a:t>
            </a:r>
            <a:r>
              <a:rPr>
                <a:solidFill>
                  <a:srgbClr val="003B4F"/>
                </a:solidFill>
                <a:latin typeface="Courier"/>
              </a:rPr>
              <a:t>, </a:t>
            </a:r>
            <a:r>
              <a:rPr>
                <a:solidFill>
                  <a:srgbClr val="20794D"/>
                </a:solidFill>
                <a:latin typeface="Courier"/>
              </a:rPr>
              <a:t>"a"</a:t>
            </a:r>
            <a:r>
              <a:rPr>
                <a:solidFill>
                  <a:srgbClr val="003B4F"/>
                </a:solidFill>
                <a:latin typeface="Courier"/>
              </a:rPr>
              <a:t>))</a:t>
            </a:r>
          </a:p>
          <a:p>
            <a:pPr lvl="0" indent="0" marL="1270000">
              <a:buNone/>
            </a:pPr>
            <a:r>
              <a:rPr sz="2000" b="1"/>
              <a:t>Note</a:t>
            </a:r>
          </a:p>
          <a:p>
            <a:pPr lvl="0" indent="0" marL="1270000">
              <a:buNone/>
            </a:pPr>
            <a:r>
              <a:rPr sz="2000" b="1"/>
              <a:t>📖 New word</a:t>
            </a:r>
          </a:p>
          <a:p>
            <a:pPr lvl="0" indent="0" marL="1270000">
              <a:buNone/>
            </a:pPr>
            <a:r>
              <a:rPr sz="2000" b="1"/>
              <a:t>Coercion</a:t>
            </a:r>
            <a:r>
              <a:rPr sz="2000"/>
              <a:t> = R automatically converting everything in a vector to a single shared type.</a:t>
            </a:r>
          </a:p>
        </p:txBody>
      </p:sp>
      <p:pic>
        <p:nvPicPr>
          <p:cNvPr descr="images/diagram_datatypes.png" id="0" name="Picture 1"/>
          <p:cNvPicPr>
            <a:picLocks noGrp="1" noChangeAspect="1"/>
          </p:cNvPicPr>
          <p:nvPr/>
        </p:nvPicPr>
        <p:blipFill>
          <a:blip r:embed="rId2"/>
          <a:stretch>
            <a:fillRect/>
          </a:stretch>
        </p:blipFill>
        <p:spPr bwMode="auto">
          <a:xfrm>
            <a:off x="4495800" y="787400"/>
            <a:ext cx="4406900" cy="3556000"/>
          </a:xfrm>
          <a:prstGeom prst="rect">
            <a:avLst/>
          </a:prstGeom>
          <a:noFill/>
          <a:ln w="9525">
            <a:noFill/>
            <a:headEnd/>
            <a:tailEnd/>
          </a:ln>
        </p:spPr>
      </p:pic>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Part 3 · From console to script</a:t>
            </a:r>
          </a:p>
        </p:txBody>
      </p:sp>
      <p:sp>
        <p:nvSpPr>
          <p:cNvPr id="3" name="Content Placeholder 2"/>
          <p:cNvSpPr>
            <a:spLocks noGrp="1"/>
          </p:cNvSpPr>
          <p:nvPr>
            <p:ph idx="1"/>
          </p:nvPr>
        </p:nvSpPr>
        <p:spPr/>
        <p:txBody>
          <a:bodyPr/>
          <a:lstStyle/>
          <a:p>
            <a:pPr lvl="0" indent="0" marL="0">
              <a:spcBef>
                <a:spcPts val="3000"/>
              </a:spcBef>
              <a:buNone/>
            </a:pPr>
            <a:r>
              <a:rPr b="1"/>
              <a:t>Do not retype — use a script</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sz="half"/>
          </p:nvPr>
        </p:nvSpPr>
        <p:spPr/>
        <p:txBody>
          <a:bodyPr/>
          <a:lstStyle/>
          <a:p>
            <a:pPr lvl="0" indent="0" marL="0">
              <a:buNone/>
            </a:pPr>
            <a:r>
              <a:rPr b="1"/>
              <a:t>The console forgets and you would have to retype all of your code over and over….</a:t>
            </a:r>
          </a:p>
          <a:p>
            <a:pPr lvl="0" indent="0" marL="0">
              <a:buNone/>
            </a:pPr>
            <a:r>
              <a:rPr/>
              <a:t>A </a:t>
            </a:r>
            <a:r>
              <a:rPr b="1"/>
              <a:t>script</a:t>
            </a:r>
            <a:r>
              <a:rPr/>
              <a:t> (</a:t>
            </a:r>
            <a:r>
              <a:rPr>
                <a:latin typeface="Courier"/>
              </a:rPr>
              <a:t>.R</a:t>
            </a:r>
            <a:r>
              <a:rPr/>
              <a:t> file) remembers and re-runs code</a:t>
            </a:r>
          </a:p>
          <a:p>
            <a:pPr lvl="0"/>
            <a:r>
              <a:rPr b="1"/>
              <a:t>File → New File → R File</a:t>
            </a:r>
            <a:r>
              <a:rPr/>
              <a:t> opens a blank script</a:t>
            </a:r>
          </a:p>
          <a:p>
            <a:pPr lvl="0"/>
            <a:r>
              <a:rPr/>
              <a:t>Type your commands, one per line</a:t>
            </a:r>
          </a:p>
          <a:p>
            <a:pPr lvl="0"/>
            <a:r>
              <a:rPr/>
              <a:t>Put the cursor on a line and press Ctrl/Cmd + Enter to run it</a:t>
            </a:r>
          </a:p>
          <a:p>
            <a:pPr lvl="0"/>
            <a:r>
              <a:rPr b="1"/>
              <a:t>Save</a:t>
            </a:r>
            <a:r>
              <a:rPr/>
              <a:t> with Ctrl/Cmd + S — reopen later and re-run everything</a:t>
            </a:r>
          </a:p>
          <a:p>
            <a:pPr lvl="0" indent="0">
              <a:buNone/>
            </a:pPr>
            <a:r>
              <a:rPr>
                <a:solidFill>
                  <a:srgbClr val="003B4F"/>
                </a:solidFill>
                <a:latin typeface="Courier"/>
              </a:rPr>
              <a:t>x    &lt;- </a:t>
            </a:r>
            <a:r>
              <a:rPr>
                <a:solidFill>
                  <a:srgbClr val="AD0000"/>
                </a:solidFill>
                <a:latin typeface="Courier"/>
              </a:rPr>
              <a:t>7</a:t>
            </a:r>
            <a:br/>
            <a:r>
              <a:rPr>
                <a:solidFill>
                  <a:srgbClr val="003B4F"/>
                </a:solidFill>
                <a:latin typeface="Courier"/>
              </a:rPr>
              <a:t>y    &lt;- </a:t>
            </a:r>
            <a:r>
              <a:rPr>
                <a:solidFill>
                  <a:srgbClr val="AD0000"/>
                </a:solidFill>
                <a:latin typeface="Courier"/>
              </a:rPr>
              <a:t>5</a:t>
            </a:r>
            <a:br/>
            <a:r>
              <a:rPr>
                <a:solidFill>
                  <a:srgbClr val="003B4F"/>
                </a:solidFill>
                <a:latin typeface="Courier"/>
              </a:rPr>
              <a:t>x </a:t>
            </a:r>
            <a:r>
              <a:rPr>
                <a:solidFill>
                  <a:srgbClr val="5E5E5E"/>
                </a:solidFill>
                <a:latin typeface="Courier"/>
              </a:rPr>
              <a:t>+</a:t>
            </a:r>
            <a:r>
              <a:rPr>
                <a:solidFill>
                  <a:srgbClr val="003B4F"/>
                </a:solidFill>
                <a:latin typeface="Courier"/>
              </a:rPr>
              <a:t> y</a:t>
            </a:r>
          </a:p>
          <a:p>
            <a:pPr lvl="0" indent="0" marL="1270000">
              <a:buNone/>
            </a:pPr>
            <a:r>
              <a:rPr sz="2000" b="1"/>
              <a:t>Note</a:t>
            </a:r>
          </a:p>
          <a:p>
            <a:pPr lvl="0" indent="0" marL="1270000">
              <a:buNone/>
            </a:pPr>
            <a:r>
              <a:rPr sz="2000" b="1"/>
              <a:t>✅ Key idea</a:t>
            </a:r>
          </a:p>
          <a:p>
            <a:pPr lvl="0"/>
            <a:r>
              <a:rPr sz="2000"/>
              <a:t>Console = scratch paper.</a:t>
            </a:r>
          </a:p>
          <a:p>
            <a:pPr lvl="0"/>
            <a:r>
              <a:rPr sz="2000"/>
              <a:t>Script = the lab notebook you keep.</a:t>
            </a:r>
          </a:p>
        </p:txBody>
      </p:sp>
      <p:pic>
        <p:nvPicPr>
          <p:cNvPr descr="images/paste-2.png" id="0" name="Picture 1"/>
          <p:cNvPicPr>
            <a:picLocks noGrp="1" noChangeAspect="1"/>
          </p:cNvPicPr>
          <p:nvPr/>
        </p:nvPicPr>
        <p:blipFill>
          <a:blip r:embed="rId2"/>
          <a:stretch>
            <a:fillRect/>
          </a:stretch>
        </p:blipFill>
        <p:spPr bwMode="auto">
          <a:xfrm>
            <a:off x="4495800" y="838200"/>
            <a:ext cx="4406900" cy="3441700"/>
          </a:xfrm>
          <a:prstGeom prst="rect">
            <a:avLst/>
          </a:prstGeom>
          <a:noFill/>
          <a:ln w="9525">
            <a:noFill/>
            <a:headEnd/>
            <a:tailEnd/>
          </a:ln>
        </p:spPr>
      </p:pic>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1A1A2E"/>
          </a:solidFill>
        </p:spPr>
        <p:txBody>
          <a:bodyPr/>
          <a:lstStyle/>
          <a:p>
            <a:pPr lvl="0" indent="0" marL="0">
              <a:buNone/>
            </a:pPr>
            <a:r>
              <a:rPr/>
              <a:t>Packages — extending what R can do</a:t>
            </a:r>
          </a:p>
        </p:txBody>
      </p:sp>
      <p:sp>
        <p:nvSpPr>
          <p:cNvPr id="3" name="Content Placeholder 2"/>
          <p:cNvSpPr>
            <a:spLocks noGrp="1"/>
          </p:cNvSpPr>
          <p:nvPr>
            <p:ph idx="1" sz="half"/>
          </p:nvPr>
        </p:nvSpPr>
        <p:spPr/>
        <p:txBody>
          <a:bodyPr/>
          <a:lstStyle/>
          <a:p>
            <a:pPr lvl="0" indent="0" marL="0">
              <a:buNone/>
            </a:pPr>
            <a:r>
              <a:rPr/>
              <a:t>Like apps for your phone, </a:t>
            </a:r>
            <a:r>
              <a:rPr b="1"/>
              <a:t>packages</a:t>
            </a:r>
            <a:r>
              <a:rPr/>
              <a:t> add new abilities to R.</a:t>
            </a:r>
          </a:p>
          <a:p>
            <a:pPr lvl="0" indent="0" marL="0">
              <a:buNone/>
            </a:pPr>
            <a:r>
              <a:rPr b="1"/>
              <a:t>Install once</a:t>
            </a:r>
            <a:r>
              <a:rPr/>
              <a:t> — downloads to your computer (do this in the Console, not in your script):</a:t>
            </a:r>
          </a:p>
          <a:p>
            <a:pPr lvl="0" indent="0">
              <a:buNone/>
            </a:pPr>
            <a:r>
              <a:rPr>
                <a:solidFill>
                  <a:srgbClr val="4758AB"/>
                </a:solidFill>
                <a:latin typeface="Courier"/>
              </a:rPr>
              <a:t>install.packages</a:t>
            </a:r>
            <a:r>
              <a:rPr>
                <a:solidFill>
                  <a:srgbClr val="003B4F"/>
                </a:solidFill>
                <a:latin typeface="Courier"/>
              </a:rPr>
              <a:t>(</a:t>
            </a:r>
            <a:r>
              <a:rPr>
                <a:solidFill>
                  <a:srgbClr val="20794D"/>
                </a:solidFill>
                <a:latin typeface="Courier"/>
              </a:rPr>
              <a:t>"tidyverse"</a:t>
            </a:r>
            <a:r>
              <a:rPr>
                <a:solidFill>
                  <a:srgbClr val="003B4F"/>
                </a:solidFill>
                <a:latin typeface="Courier"/>
              </a:rPr>
              <a:t>)</a:t>
            </a:r>
            <a:br/>
            <a:r>
              <a:rPr>
                <a:solidFill>
                  <a:srgbClr val="4758AB"/>
                </a:solidFill>
                <a:latin typeface="Courier"/>
              </a:rPr>
              <a:t>install.packages</a:t>
            </a:r>
            <a:r>
              <a:rPr>
                <a:solidFill>
                  <a:srgbClr val="003B4F"/>
                </a:solidFill>
                <a:latin typeface="Courier"/>
              </a:rPr>
              <a:t>(</a:t>
            </a:r>
            <a:r>
              <a:rPr>
                <a:solidFill>
                  <a:srgbClr val="20794D"/>
                </a:solidFill>
                <a:latin typeface="Courier"/>
              </a:rPr>
              <a:t>"readxl"</a:t>
            </a:r>
            <a:r>
              <a:rPr>
                <a:solidFill>
                  <a:srgbClr val="003B4F"/>
                </a:solidFill>
                <a:latin typeface="Courier"/>
              </a:rPr>
              <a:t>)</a:t>
            </a:r>
            <a:br/>
            <a:r>
              <a:rPr>
                <a:solidFill>
                  <a:srgbClr val="4758AB"/>
                </a:solidFill>
                <a:latin typeface="Courier"/>
              </a:rPr>
              <a:t>install.packages</a:t>
            </a:r>
            <a:r>
              <a:rPr>
                <a:solidFill>
                  <a:srgbClr val="003B4F"/>
                </a:solidFill>
                <a:latin typeface="Courier"/>
              </a:rPr>
              <a:t>(</a:t>
            </a:r>
            <a:r>
              <a:rPr>
                <a:solidFill>
                  <a:srgbClr val="20794D"/>
                </a:solidFill>
                <a:latin typeface="Courier"/>
              </a:rPr>
              <a:t>"janitor"</a:t>
            </a:r>
            <a:r>
              <a:rPr>
                <a:solidFill>
                  <a:srgbClr val="003B4F"/>
                </a:solidFill>
                <a:latin typeface="Courier"/>
              </a:rPr>
              <a:t>)</a:t>
            </a:r>
          </a:p>
          <a:p>
            <a:pPr lvl="0" indent="0" marL="0">
              <a:buNone/>
            </a:pPr>
            <a:r>
              <a:rPr b="1"/>
              <a:t>Load every session</a:t>
            </a:r>
            <a:r>
              <a:rPr/>
              <a:t> — activates it for today (put this at the top of every script):</a:t>
            </a:r>
          </a:p>
          <a:p>
            <a:pPr lvl="0" indent="0">
              <a:buNone/>
            </a:pPr>
            <a:r>
              <a:rPr>
                <a:solidFill>
                  <a:srgbClr val="4758AB"/>
                </a:solidFill>
                <a:latin typeface="Courier"/>
              </a:rPr>
              <a:t>library</a:t>
            </a:r>
            <a:r>
              <a:rPr>
                <a:solidFill>
                  <a:srgbClr val="003B4F"/>
                </a:solidFill>
                <a:latin typeface="Courier"/>
              </a:rPr>
              <a:t>(tidyverse)   </a:t>
            </a:r>
            <a:r>
              <a:rPr>
                <a:solidFill>
                  <a:srgbClr val="5E5E5E"/>
                </a:solidFill>
                <a:latin typeface="Courier"/>
              </a:rPr>
              <a:t># data wrangling + plotting</a:t>
            </a:r>
            <a:br/>
            <a:r>
              <a:rPr>
                <a:solidFill>
                  <a:srgbClr val="4758AB"/>
                </a:solidFill>
                <a:latin typeface="Courier"/>
              </a:rPr>
              <a:t>library</a:t>
            </a:r>
            <a:r>
              <a:rPr>
                <a:solidFill>
                  <a:srgbClr val="003B4F"/>
                </a:solidFill>
                <a:latin typeface="Courier"/>
              </a:rPr>
              <a:t>(readxl)      </a:t>
            </a:r>
            <a:r>
              <a:rPr>
                <a:solidFill>
                  <a:srgbClr val="5E5E5E"/>
                </a:solidFill>
                <a:latin typeface="Courier"/>
              </a:rPr>
              <a:t># read Excel files</a:t>
            </a:r>
            <a:br/>
            <a:r>
              <a:rPr>
                <a:solidFill>
                  <a:srgbClr val="4758AB"/>
                </a:solidFill>
                <a:latin typeface="Courier"/>
              </a:rPr>
              <a:t>library</a:t>
            </a:r>
            <a:r>
              <a:rPr>
                <a:solidFill>
                  <a:srgbClr val="003B4F"/>
                </a:solidFill>
                <a:latin typeface="Courier"/>
              </a:rPr>
              <a:t>(janitor)      </a:t>
            </a:r>
            <a:r>
              <a:rPr>
                <a:solidFill>
                  <a:srgbClr val="5E5E5E"/>
                </a:solidFill>
                <a:latin typeface="Courier"/>
              </a:rPr>
              <a:t># cleans up messy column names</a:t>
            </a:r>
          </a:p>
          <a:p>
            <a:pPr lvl="0" indent="0" marL="1270000">
              <a:buNone/>
            </a:pPr>
            <a:r>
              <a:rPr sz="2000" b="1"/>
              <a:t>Warning</a:t>
            </a:r>
          </a:p>
          <a:p>
            <a:pPr lvl="0" indent="0" marL="1270000">
              <a:buNone/>
            </a:pPr>
            <a:r>
              <a:rPr sz="2000" b="1"/>
              <a:t>⚠️ Watch out!</a:t>
            </a:r>
          </a:p>
          <a:p>
            <a:pPr lvl="0" indent="0" marL="1270000">
              <a:buNone/>
            </a:pPr>
            <a:r>
              <a:rPr sz="2000"/>
              <a:t>If R says </a:t>
            </a:r>
            <a:r>
              <a:rPr sz="2000" i="1"/>
              <a:t>“could not find function </a:t>
            </a:r>
            <a:r>
              <a:rPr sz="2000" i="1">
                <a:latin typeface="Courier"/>
              </a:rPr>
              <a:t>read_excel</a:t>
            </a:r>
            <a:r>
              <a:rPr sz="2000" i="1"/>
              <a:t>”</a:t>
            </a:r>
            <a:r>
              <a:rPr sz="2000"/>
              <a:t>, you forgot the </a:t>
            </a:r>
            <a:r>
              <a:rPr sz="2000">
                <a:latin typeface="Courier"/>
              </a:rPr>
              <a:t>library(readxl)</a:t>
            </a:r>
            <a:r>
              <a:rPr sz="2000"/>
              <a:t> line.</a:t>
            </a:r>
          </a:p>
        </p:txBody>
      </p:sp>
      <p:sp>
        <p:nvSpPr>
          <p:cNvPr id="4" name="Content Placeholder 3"/>
          <p:cNvSpPr>
            <a:spLocks noGrp="1"/>
          </p:cNvSpPr>
          <p:nvPr>
            <p:ph idx="2" sz="half"/>
          </p:nvPr>
        </p:nvSpPr>
        <p:spPr/>
        <p:txBody>
          <a:bodyPr/>
          <a:lstStyle/>
          <a:p>
            <a:pPr lvl="0" indent="0" marL="1270000">
              <a:buNone/>
            </a:pPr>
            <a:r>
              <a:rPr sz="2000" b="1"/>
              <a:t>Note</a:t>
            </a:r>
          </a:p>
          <a:p>
            <a:pPr lvl="0" indent="0" marL="1270000">
              <a:buNone/>
            </a:pPr>
            <a:r>
              <a:rPr sz="2000" b="1"/>
              <a:t>📖 New words</a:t>
            </a:r>
          </a:p>
          <a:p>
            <a:pPr lvl="0"/>
            <a:r>
              <a:rPr sz="2000" b="1"/>
              <a:t>Package</a:t>
            </a:r>
            <a:r>
              <a:rPr sz="2000"/>
              <a:t> = the installed toolbox (install once).</a:t>
            </a:r>
          </a:p>
          <a:p>
            <a:pPr lvl="0"/>
            <a:r>
              <a:rPr sz="2000" b="1"/>
              <a:t>Library</a:t>
            </a:r>
            <a:r>
              <a:rPr sz="2000"/>
              <a:t> = loading that toolbox into today’s session (every session).</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Part 4 · Loading our data</a:t>
            </a:r>
          </a:p>
        </p:txBody>
      </p:sp>
      <p:sp>
        <p:nvSpPr>
          <p:cNvPr id="3" name="Content Placeholder 2"/>
          <p:cNvSpPr>
            <a:spLocks noGrp="1"/>
          </p:cNvSpPr>
          <p:nvPr>
            <p:ph idx="1"/>
          </p:nvPr>
        </p:nvSpPr>
        <p:spPr/>
        <p:txBody>
          <a:bodyPr/>
          <a:lstStyle/>
          <a:p>
            <a:pPr lvl="0" indent="0" marL="0">
              <a:spcBef>
                <a:spcPts val="3000"/>
              </a:spcBef>
              <a:buNone/>
            </a:pPr>
            <a:r>
              <a:rPr b="1"/>
              <a:t>Two functions for two file types</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sz="half"/>
          </p:nvPr>
        </p:nvSpPr>
        <p:spPr/>
        <p:txBody>
          <a:bodyPr/>
          <a:lstStyle/>
          <a:p>
            <a:pPr lvl="0" indent="0" marL="0">
              <a:buNone/>
            </a:pPr>
            <a:r>
              <a:rPr/>
              <a:t>Put your files in the project’s </a:t>
            </a:r>
            <a:r>
              <a:rPr>
                <a:latin typeface="Courier"/>
              </a:rPr>
              <a:t>data/</a:t>
            </a:r>
            <a:r>
              <a:rPr/>
              <a:t> folder, then:</a:t>
            </a:r>
          </a:p>
          <a:p>
            <a:pPr lvl="0" indent="0">
              <a:buNone/>
            </a:pPr>
            <a:r>
              <a:rPr>
                <a:solidFill>
                  <a:srgbClr val="4758AB"/>
                </a:solidFill>
                <a:latin typeface="Courier"/>
              </a:rPr>
              <a:t>library</a:t>
            </a:r>
            <a:r>
              <a:rPr>
                <a:solidFill>
                  <a:srgbClr val="003B4F"/>
                </a:solidFill>
                <a:latin typeface="Courier"/>
              </a:rPr>
              <a:t>(tidyverse)</a:t>
            </a:r>
            <a:br/>
            <a:r>
              <a:rPr>
                <a:solidFill>
                  <a:srgbClr val="4758AB"/>
                </a:solidFill>
                <a:latin typeface="Courier"/>
              </a:rPr>
              <a:t>library</a:t>
            </a:r>
            <a:r>
              <a:rPr>
                <a:solidFill>
                  <a:srgbClr val="003B4F"/>
                </a:solidFill>
                <a:latin typeface="Courier"/>
              </a:rPr>
              <a:t>(readxl)</a:t>
            </a:r>
            <a:br/>
            <a:r>
              <a:rPr>
                <a:solidFill>
                  <a:srgbClr val="4758AB"/>
                </a:solidFill>
                <a:latin typeface="Courier"/>
              </a:rPr>
              <a:t>library</a:t>
            </a:r>
            <a:r>
              <a:rPr>
                <a:solidFill>
                  <a:srgbClr val="003B4F"/>
                </a:solidFill>
                <a:latin typeface="Courier"/>
              </a:rPr>
              <a:t>(janitor)</a:t>
            </a:r>
            <a:br/>
            <a:br/>
            <a:r>
              <a:rPr>
                <a:solidFill>
                  <a:srgbClr val="5E5E5E"/>
                </a:solidFill>
                <a:latin typeface="Courier"/>
              </a:rPr>
              <a:t># Excel files (.xlsx)</a:t>
            </a:r>
            <a:br/>
            <a:r>
              <a:rPr>
                <a:solidFill>
                  <a:srgbClr val="003B4F"/>
                </a:solidFill>
                <a:latin typeface="Courier"/>
              </a:rPr>
              <a:t>tree_df &lt;-</a:t>
            </a:r>
            <a:br/>
            <a:r>
              <a:rPr>
                <a:solidFill>
                  <a:srgbClr val="003B4F"/>
                </a:solidFill>
                <a:latin typeface="Courier"/>
              </a:rPr>
              <a:t>  </a:t>
            </a:r>
            <a:r>
              <a:rPr>
                <a:solidFill>
                  <a:srgbClr val="4758AB"/>
                </a:solidFill>
                <a:latin typeface="Courier"/>
              </a:rPr>
              <a:t>read_excel</a:t>
            </a:r>
            <a:r>
              <a:rPr>
                <a:solidFill>
                  <a:srgbClr val="003B4F"/>
                </a:solidFill>
                <a:latin typeface="Courier"/>
              </a:rPr>
              <a:t>(</a:t>
            </a:r>
            <a:r>
              <a:rPr>
                <a:solidFill>
                  <a:srgbClr val="20794D"/>
                </a:solidFill>
                <a:latin typeface="Courier"/>
              </a:rPr>
              <a:t>"data/2026_09_03_data_sci_leaf_area.xlsx"</a:t>
            </a:r>
            <a:r>
              <a:rPr>
                <a:solidFill>
                  <a:srgbClr val="003B4F"/>
                </a:solidFill>
                <a:latin typeface="Courier"/>
              </a:rPr>
              <a:t>) </a:t>
            </a:r>
            <a:r>
              <a:rPr>
                <a:solidFill>
                  <a:srgbClr val="5E5E5E"/>
                </a:solidFill>
                <a:latin typeface="Courier"/>
              </a:rPr>
              <a:t>%&gt;%</a:t>
            </a:r>
            <a:br/>
            <a:r>
              <a:rPr>
                <a:solidFill>
                  <a:srgbClr val="003B4F"/>
                </a:solidFill>
                <a:latin typeface="Courier"/>
              </a:rPr>
              <a:t>  </a:t>
            </a:r>
            <a:r>
              <a:rPr>
                <a:solidFill>
                  <a:srgbClr val="4758AB"/>
                </a:solidFill>
                <a:latin typeface="Courier"/>
              </a:rPr>
              <a:t>clean_names</a:t>
            </a:r>
            <a:r>
              <a:rPr>
                <a:solidFill>
                  <a:srgbClr val="003B4F"/>
                </a:solidFill>
                <a:latin typeface="Courier"/>
              </a:rPr>
              <a:t>()</a:t>
            </a:r>
            <a:br/>
            <a:br/>
            <a:r>
              <a:rPr>
                <a:solidFill>
                  <a:srgbClr val="5E5E5E"/>
                </a:solidFill>
                <a:latin typeface="Courier"/>
              </a:rPr>
              <a:t># CSV files (.csv) — used by NOAA, iNaturalist, many databases</a:t>
            </a:r>
            <a:br/>
            <a:r>
              <a:rPr>
                <a:solidFill>
                  <a:srgbClr val="003B4F"/>
                </a:solidFill>
                <a:latin typeface="Courier"/>
              </a:rPr>
              <a:t>noaa_df &lt;- </a:t>
            </a:r>
            <a:r>
              <a:rPr>
                <a:solidFill>
                  <a:srgbClr val="4758AB"/>
                </a:solidFill>
                <a:latin typeface="Courier"/>
              </a:rPr>
              <a:t>read_csv</a:t>
            </a:r>
            <a:r>
              <a:rPr>
                <a:solidFill>
                  <a:srgbClr val="003B4F"/>
                </a:solidFill>
                <a:latin typeface="Courier"/>
              </a:rPr>
              <a:t>(</a:t>
            </a:r>
            <a:r>
              <a:rPr>
                <a:solidFill>
                  <a:srgbClr val="20794D"/>
                </a:solidFill>
                <a:latin typeface="Courier"/>
              </a:rPr>
              <a:t>"data/noaa_global_yearly_temps.csv"</a:t>
            </a:r>
            <a:r>
              <a:rPr>
                <a:solidFill>
                  <a:srgbClr val="003B4F"/>
                </a:solidFill>
                <a:latin typeface="Courier"/>
              </a:rPr>
              <a:t>) </a:t>
            </a:r>
            <a:r>
              <a:rPr>
                <a:solidFill>
                  <a:srgbClr val="5E5E5E"/>
                </a:solidFill>
                <a:latin typeface="Courier"/>
              </a:rPr>
              <a:t>%&gt;%</a:t>
            </a:r>
            <a:br/>
            <a:r>
              <a:rPr>
                <a:solidFill>
                  <a:srgbClr val="003B4F"/>
                </a:solidFill>
                <a:latin typeface="Courier"/>
              </a:rPr>
              <a:t>  </a:t>
            </a:r>
            <a:r>
              <a:rPr>
                <a:solidFill>
                  <a:srgbClr val="4758AB"/>
                </a:solidFill>
                <a:latin typeface="Courier"/>
              </a:rPr>
              <a:t>clean_names</a:t>
            </a:r>
            <a:r>
              <a:rPr>
                <a:solidFill>
                  <a:srgbClr val="003B4F"/>
                </a:solidFill>
                <a:latin typeface="Courier"/>
              </a:rPr>
              <a:t>()</a:t>
            </a:r>
          </a:p>
          <a:p>
            <a:pPr lvl="0" indent="0" marL="1270000">
              <a:buNone/>
            </a:pPr>
            <a:r>
              <a:rPr sz="2000" b="1"/>
              <a:t>Note</a:t>
            </a:r>
          </a:p>
          <a:p>
            <a:pPr lvl="0" indent="0" marL="1270000">
              <a:buNone/>
            </a:pPr>
            <a:r>
              <a:rPr sz="2000" b="1"/>
              <a:t>✅ Key idea</a:t>
            </a:r>
          </a:p>
          <a:p>
            <a:pPr lvl="0"/>
            <a:r>
              <a:rPr sz="2000">
                <a:latin typeface="Courier"/>
              </a:rPr>
              <a:t>read.csv()</a:t>
            </a:r>
            <a:r>
              <a:rPr sz="2000"/>
              <a:t> - comes with base r and can have issues</a:t>
            </a:r>
          </a:p>
          <a:p>
            <a:pPr lvl="0"/>
            <a:r>
              <a:rPr sz="2000">
                <a:latin typeface="Courier"/>
              </a:rPr>
              <a:t>read_excel()</a:t>
            </a:r>
            <a:r>
              <a:rPr sz="2000"/>
              <a:t> - needs </a:t>
            </a:r>
            <a:r>
              <a:rPr sz="2000">
                <a:latin typeface="Courier"/>
              </a:rPr>
              <a:t>library(readxl)</a:t>
            </a:r>
            <a:r>
              <a:rPr sz="2000"/>
              <a:t>.</a:t>
            </a:r>
          </a:p>
          <a:p>
            <a:pPr lvl="0"/>
            <a:r>
              <a:rPr sz="2000">
                <a:latin typeface="Courier"/>
              </a:rPr>
              <a:t>read_csv()</a:t>
            </a:r>
            <a:r>
              <a:rPr sz="2000"/>
              <a:t> - needs </a:t>
            </a:r>
            <a:r>
              <a:rPr sz="2000">
                <a:latin typeface="Courier"/>
              </a:rPr>
              <a:t>library(tidyverse)</a:t>
            </a:r>
          </a:p>
          <a:p>
            <a:pPr lvl="0"/>
            <a:r>
              <a:rPr sz="2000">
                <a:latin typeface="Courier"/>
              </a:rPr>
              <a:t>clean_names()</a:t>
            </a:r>
            <a:r>
              <a:rPr sz="2000"/>
              <a:t> - needs </a:t>
            </a:r>
            <a:r>
              <a:rPr sz="2000">
                <a:latin typeface="Courier"/>
              </a:rPr>
              <a:t>library(janitor)</a:t>
            </a:r>
            <a:r>
              <a:rPr sz="2000"/>
              <a:t>; turns messy Excel headers like </a:t>
            </a:r>
            <a:r>
              <a:rPr sz="2000">
                <a:latin typeface="Courier"/>
              </a:rPr>
              <a:t>"Leaf Mass (g)"</a:t>
            </a:r>
            <a:r>
              <a:rPr sz="2000"/>
              <a:t> into tidy names like </a:t>
            </a:r>
            <a:r>
              <a:rPr sz="2000">
                <a:latin typeface="Courier"/>
              </a:rPr>
              <a:t>leaf_mass_g</a:t>
            </a:r>
            <a:r>
              <a:rPr sz="2000"/>
              <a:t> automatically</a:t>
            </a:r>
          </a:p>
        </p:txBody>
      </p:sp>
      <p:sp>
        <p:nvSpPr>
          <p:cNvPr id="4" name="Content Placeholder 3"/>
          <p:cNvSpPr>
            <a:spLocks noGrp="1"/>
          </p:cNvSpPr>
          <p:nvPr>
            <p:ph idx="2" sz="half"/>
          </p:nvPr>
        </p:nvSpPr>
        <p:spPr/>
        <p:txBody>
          <a:bodyPr/>
          <a:lstStyle/>
          <a:p>
            <a:pPr lvl="0" indent="0" marL="1270000">
              <a:buNone/>
            </a:pPr>
            <a:r>
              <a:rPr sz="2000" b="1"/>
              <a:t>Note</a:t>
            </a:r>
          </a:p>
          <a:p>
            <a:pPr lvl="0" indent="0" marL="1270000">
              <a:buNone/>
            </a:pPr>
            <a:r>
              <a:rPr sz="2000" b="1"/>
              <a:t>📊 Coming from Excel?</a:t>
            </a:r>
          </a:p>
          <a:p>
            <a:pPr lvl="0" indent="0" marL="1270000">
              <a:buNone/>
            </a:pPr>
            <a:r>
              <a:rPr sz="2000">
                <a:latin typeface="Courier"/>
              </a:rPr>
              <a:t>read_excel()</a:t>
            </a:r>
            <a:r>
              <a:rPr sz="2000"/>
              <a:t> and </a:t>
            </a:r>
            <a:r>
              <a:rPr sz="2000">
                <a:latin typeface="Courier"/>
              </a:rPr>
              <a:t>read_csv()</a:t>
            </a:r>
            <a:r>
              <a:rPr sz="2000"/>
              <a:t> are the bridge from your file into R. Your file’s first row becomes the </a:t>
            </a:r>
            <a:r>
              <a:rPr sz="2000" b="1"/>
              <a:t>column names</a:t>
            </a:r>
            <a:r>
              <a:rPr sz="2000"/>
              <a:t> in R.</a:t>
            </a:r>
          </a:p>
          <a:p>
            <a:pPr lvl="0" indent="0" marL="1270000">
              <a:buNone/>
            </a:pPr>
            <a:r>
              <a:rPr sz="2000" b="1"/>
              <a:t>Note</a:t>
            </a:r>
          </a:p>
          <a:p>
            <a:pPr lvl="0" indent="0" marL="1270000">
              <a:buNone/>
            </a:pPr>
            <a:r>
              <a:rPr sz="2000" b="1"/>
              <a:t>📚 Reference</a:t>
            </a:r>
          </a:p>
          <a:p>
            <a:pPr lvl="0" indent="0" marL="1270000">
              <a:buNone/>
            </a:pPr>
            <a:r>
              <a:rPr sz="2000"/>
              <a:t>R for Data Science (2e), Ch. 7 — </a:t>
            </a:r>
            <a:r>
              <a:rPr sz="2000" i="1"/>
              <a:t>Data import</a:t>
            </a:r>
            <a:r>
              <a:rPr sz="2000"/>
              <a:t>. Covers </a:t>
            </a:r>
            <a:r>
              <a:rPr sz="2000">
                <a:latin typeface="Courier"/>
              </a:rPr>
              <a:t>read_csv()</a:t>
            </a:r>
            <a:r>
              <a:rPr sz="2000"/>
              <a:t> in depth, including column types and messy real-world files.</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1A1A2E"/>
          </a:solidFill>
        </p:spPr>
        <p:txBody>
          <a:bodyPr/>
          <a:lstStyle/>
          <a:p>
            <a:pPr lvl="0" indent="0" marL="0">
              <a:buNone/>
            </a:pPr>
            <a:r>
              <a:rPr/>
              <a:t>Meet the data frame</a:t>
            </a:r>
          </a:p>
        </p:txBody>
      </p:sp>
      <p:sp>
        <p:nvSpPr>
          <p:cNvPr id="3" name="Content Placeholder 2"/>
          <p:cNvSpPr>
            <a:spLocks noGrp="1"/>
          </p:cNvSpPr>
          <p:nvPr>
            <p:ph idx="1" sz="half"/>
          </p:nvPr>
        </p:nvSpPr>
        <p:spPr/>
        <p:txBody>
          <a:bodyPr/>
          <a:lstStyle/>
          <a:p>
            <a:pPr lvl="0" indent="0" marL="0">
              <a:buNone/>
            </a:pPr>
            <a:r>
              <a:rPr/>
              <a:t>A </a:t>
            </a:r>
            <a:r>
              <a:rPr b="1"/>
              <a:t>data frame</a:t>
            </a:r>
            <a:r>
              <a:rPr/>
              <a:t> is a table: each </a:t>
            </a:r>
            <a:r>
              <a:rPr b="1"/>
              <a:t>column is a vector</a:t>
            </a:r>
            <a:r>
              <a:rPr/>
              <a:t> of one type, and the rows line up.</a:t>
            </a:r>
          </a:p>
          <a:p>
            <a:pPr lvl="0" indent="0" marL="0">
              <a:buNone/>
            </a:pPr>
            <a:r>
              <a:rPr/>
              <a:t>Our </a:t>
            </a:r>
            <a:r>
              <a:rPr>
                <a:latin typeface="Courier"/>
              </a:rPr>
              <a:t>tree_df</a:t>
            </a:r>
            <a:r>
              <a:rPr/>
              <a:t> has eight columns:</a:t>
            </a:r>
          </a:p>
          <a:p>
            <a:pPr lvl="0"/>
            <a:r>
              <a:rPr>
                <a:latin typeface="Courier"/>
              </a:rPr>
              <a:t>twig_id</a:t>
            </a:r>
            <a:r>
              <a:rPr/>
              <a:t>, </a:t>
            </a:r>
            <a:r>
              <a:rPr>
                <a:latin typeface="Courier"/>
              </a:rPr>
              <a:t>leaf_id</a:t>
            </a:r>
            <a:r>
              <a:rPr/>
              <a:t>, </a:t>
            </a:r>
            <a:r>
              <a:rPr>
                <a:latin typeface="Courier"/>
              </a:rPr>
              <a:t>teams</a:t>
            </a:r>
            <a:r>
              <a:rPr/>
              <a:t> — sample identifiers </a:t>
            </a:r>
            <a:r>
              <a:rPr i="1"/>
              <a:t>(character)</a:t>
            </a:r>
          </a:p>
          <a:p>
            <a:pPr lvl="0"/>
            <a:r>
              <a:rPr>
                <a:latin typeface="Courier"/>
              </a:rPr>
              <a:t>shade</a:t>
            </a:r>
            <a:r>
              <a:rPr/>
              <a:t> — </a:t>
            </a:r>
            <a:r>
              <a:rPr>
                <a:latin typeface="Courier"/>
              </a:rPr>
              <a:t>"sunny"</a:t>
            </a:r>
            <a:r>
              <a:rPr/>
              <a:t> / </a:t>
            </a:r>
            <a:r>
              <a:rPr>
                <a:latin typeface="Courier"/>
              </a:rPr>
              <a:t>"shady"</a:t>
            </a:r>
            <a:r>
              <a:rPr/>
              <a:t> </a:t>
            </a:r>
            <a:r>
              <a:rPr i="1"/>
              <a:t>(character)</a:t>
            </a:r>
          </a:p>
          <a:p>
            <a:pPr lvl="0"/>
            <a:r>
              <a:rPr>
                <a:latin typeface="Courier"/>
              </a:rPr>
              <a:t>mass_g</a:t>
            </a:r>
            <a:r>
              <a:rPr/>
              <a:t>, </a:t>
            </a:r>
            <a:r>
              <a:rPr>
                <a:latin typeface="Courier"/>
              </a:rPr>
              <a:t>petiole_mm</a:t>
            </a:r>
            <a:r>
              <a:rPr/>
              <a:t>, </a:t>
            </a:r>
            <a:r>
              <a:rPr>
                <a:latin typeface="Courier"/>
              </a:rPr>
              <a:t>thickness_mm</a:t>
            </a:r>
            <a:r>
              <a:rPr/>
              <a:t>, </a:t>
            </a:r>
            <a:r>
              <a:rPr>
                <a:latin typeface="Courier"/>
              </a:rPr>
              <a:t>paper_mass_g</a:t>
            </a:r>
            <a:r>
              <a:rPr/>
              <a:t> </a:t>
            </a:r>
            <a:r>
              <a:rPr i="1"/>
              <a:t>(numeric)</a:t>
            </a:r>
          </a:p>
          <a:p>
            <a:pPr lvl="0" indent="0" marL="0">
              <a:buNone/>
            </a:pPr>
            <a:r>
              <a:rPr/>
              <a:t>Pull a single column with </a:t>
            </a:r>
            <a:r>
              <a:rPr>
                <a:latin typeface="Courier"/>
              </a:rPr>
              <a:t>$</a:t>
            </a:r>
            <a:r>
              <a:rPr/>
              <a:t>:</a:t>
            </a:r>
          </a:p>
          <a:p>
            <a:pPr lvl="0" indent="0">
              <a:buNone/>
            </a:pPr>
            <a:r>
              <a:rPr>
                <a:solidFill>
                  <a:srgbClr val="003B4F"/>
                </a:solidFill>
                <a:latin typeface="Courier"/>
              </a:rPr>
              <a:t>tree_df</a:t>
            </a:r>
            <a:r>
              <a:rPr>
                <a:solidFill>
                  <a:srgbClr val="5E5E5E"/>
                </a:solidFill>
                <a:latin typeface="Courier"/>
              </a:rPr>
              <a:t>$</a:t>
            </a:r>
            <a:r>
              <a:rPr>
                <a:solidFill>
                  <a:srgbClr val="003B4F"/>
                </a:solidFill>
                <a:latin typeface="Courier"/>
              </a:rPr>
              <a:t>mass_g     </a:t>
            </a:r>
            <a:r>
              <a:rPr>
                <a:solidFill>
                  <a:srgbClr val="5E5E5E"/>
                </a:solidFill>
                <a:latin typeface="Courier"/>
              </a:rPr>
              <a:t># just the leaf masses, as a vector</a:t>
            </a:r>
          </a:p>
          <a:p>
            <a:pPr lvl="0" indent="0" marL="1270000">
              <a:buNone/>
            </a:pPr>
            <a:r>
              <a:rPr sz="2000" b="1"/>
              <a:t>Note</a:t>
            </a:r>
          </a:p>
          <a:p>
            <a:pPr lvl="0" indent="0" marL="1270000">
              <a:buNone/>
            </a:pPr>
            <a:r>
              <a:rPr sz="2000" b="1"/>
              <a:t>📖 New word</a:t>
            </a:r>
          </a:p>
          <a:p>
            <a:pPr lvl="0" indent="0" marL="1270000">
              <a:buNone/>
            </a:pPr>
            <a:r>
              <a:rPr sz="2000" b="1"/>
              <a:t>Data frame</a:t>
            </a:r>
            <a:r>
              <a:rPr sz="2000"/>
              <a:t> = R’s word for a spreadsheet-style table.</a:t>
            </a:r>
          </a:p>
        </p:txBody>
      </p:sp>
      <p:pic>
        <p:nvPicPr>
          <p:cNvPr descr="images/diagram_dataframe.png" id="0" name="Picture 1"/>
          <p:cNvPicPr>
            <a:picLocks noGrp="1" noChangeAspect="1"/>
          </p:cNvPicPr>
          <p:nvPr/>
        </p:nvPicPr>
        <p:blipFill>
          <a:blip r:embed="rId2"/>
          <a:stretch>
            <a:fillRect/>
          </a:stretch>
        </p:blipFill>
        <p:spPr bwMode="auto">
          <a:xfrm>
            <a:off x="4495800" y="787400"/>
            <a:ext cx="4406900" cy="3556000"/>
          </a:xfrm>
          <a:prstGeom prst="rect">
            <a:avLst/>
          </a:prstGeom>
          <a:noFill/>
          <a:ln w="9525">
            <a:noFill/>
            <a:headEnd/>
            <a:tailEnd/>
          </a:ln>
        </p:spPr>
      </p:pic>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1A1A2E"/>
          </a:solidFill>
        </p:spPr>
        <p:txBody>
          <a:bodyPr/>
          <a:lstStyle/>
          <a:p>
            <a:pPr lvl="0" indent="0" marL="0">
              <a:buNone/>
            </a:pPr>
            <a:r>
              <a:rPr/>
              <a:t>Look at your data before trusting it</a:t>
            </a:r>
          </a:p>
        </p:txBody>
      </p:sp>
      <p:sp>
        <p:nvSpPr>
          <p:cNvPr id="3" name="Content Placeholder 2"/>
          <p:cNvSpPr>
            <a:spLocks noGrp="1"/>
          </p:cNvSpPr>
          <p:nvPr>
            <p:ph idx="1" sz="half"/>
          </p:nvPr>
        </p:nvSpPr>
        <p:spPr/>
        <p:txBody>
          <a:bodyPr/>
          <a:lstStyle/>
          <a:p>
            <a:pPr lvl="0" indent="0" marL="0">
              <a:buNone/>
            </a:pPr>
            <a:r>
              <a:rPr/>
              <a:t>Always eyeball a new data frame:</a:t>
            </a:r>
          </a:p>
          <a:p>
            <a:pPr lvl="0" indent="0">
              <a:buNone/>
            </a:pPr>
            <a:r>
              <a:rPr>
                <a:solidFill>
                  <a:srgbClr val="4758AB"/>
                </a:solidFill>
                <a:latin typeface="Courier"/>
              </a:rPr>
              <a:t>head</a:t>
            </a:r>
            <a:r>
              <a:rPr>
                <a:solidFill>
                  <a:srgbClr val="003B4F"/>
                </a:solidFill>
                <a:latin typeface="Courier"/>
              </a:rPr>
              <a:t>(tree_df)      </a:t>
            </a:r>
            <a:r>
              <a:rPr>
                <a:solidFill>
                  <a:srgbClr val="5E5E5E"/>
                </a:solidFill>
                <a:latin typeface="Courier"/>
              </a:rPr>
              <a:t># first 6 rows</a:t>
            </a:r>
            <a:br/>
            <a:r>
              <a:rPr>
                <a:solidFill>
                  <a:srgbClr val="4758AB"/>
                </a:solidFill>
                <a:latin typeface="Courier"/>
              </a:rPr>
              <a:t>tail</a:t>
            </a:r>
            <a:r>
              <a:rPr>
                <a:solidFill>
                  <a:srgbClr val="003B4F"/>
                </a:solidFill>
                <a:latin typeface="Courier"/>
              </a:rPr>
              <a:t>(tree_df)      </a:t>
            </a:r>
            <a:r>
              <a:rPr>
                <a:solidFill>
                  <a:srgbClr val="5E5E5E"/>
                </a:solidFill>
                <a:latin typeface="Courier"/>
              </a:rPr>
              <a:t># last 6 rows</a:t>
            </a:r>
            <a:br/>
            <a:r>
              <a:rPr>
                <a:solidFill>
                  <a:srgbClr val="4758AB"/>
                </a:solidFill>
                <a:latin typeface="Courier"/>
              </a:rPr>
              <a:t>dim</a:t>
            </a:r>
            <a:r>
              <a:rPr>
                <a:solidFill>
                  <a:srgbClr val="003B4F"/>
                </a:solidFill>
                <a:latin typeface="Courier"/>
              </a:rPr>
              <a:t>(tree_df)       </a:t>
            </a:r>
            <a:r>
              <a:rPr>
                <a:solidFill>
                  <a:srgbClr val="5E5E5E"/>
                </a:solidFill>
                <a:latin typeface="Courier"/>
              </a:rPr>
              <a:t># rows, columns  → 41  8</a:t>
            </a:r>
            <a:br/>
            <a:r>
              <a:rPr>
                <a:solidFill>
                  <a:srgbClr val="4758AB"/>
                </a:solidFill>
                <a:latin typeface="Courier"/>
              </a:rPr>
              <a:t>names</a:t>
            </a:r>
            <a:r>
              <a:rPr>
                <a:solidFill>
                  <a:srgbClr val="003B4F"/>
                </a:solidFill>
                <a:latin typeface="Courier"/>
              </a:rPr>
              <a:t>(tree_df)     </a:t>
            </a:r>
            <a:r>
              <a:rPr>
                <a:solidFill>
                  <a:srgbClr val="5E5E5E"/>
                </a:solidFill>
                <a:latin typeface="Courier"/>
              </a:rPr>
              <a:t># column names</a:t>
            </a:r>
            <a:br/>
            <a:br/>
            <a:r>
              <a:rPr>
                <a:solidFill>
                  <a:srgbClr val="5E5E5E"/>
                </a:solidFill>
                <a:latin typeface="Courier"/>
              </a:rPr>
              <a:t># Tidyverse-style structure check (prefer this over str):</a:t>
            </a:r>
            <a:br/>
            <a:r>
              <a:rPr>
                <a:solidFill>
                  <a:srgbClr val="4758AB"/>
                </a:solidFill>
                <a:latin typeface="Courier"/>
              </a:rPr>
              <a:t>glimpse</a:t>
            </a:r>
            <a:r>
              <a:rPr>
                <a:solidFill>
                  <a:srgbClr val="003B4F"/>
                </a:solidFill>
                <a:latin typeface="Courier"/>
              </a:rPr>
              <a:t>(tree_df)   </a:t>
            </a:r>
            <a:r>
              <a:rPr>
                <a:solidFill>
                  <a:srgbClr val="5E5E5E"/>
                </a:solidFill>
                <a:latin typeface="Courier"/>
              </a:rPr>
              <a:t># one line per column:</a:t>
            </a:r>
            <a:br/>
            <a:r>
              <a:rPr>
                <a:solidFill>
                  <a:srgbClr val="003B4F"/>
                </a:solidFill>
                <a:latin typeface="Courier"/>
              </a:rPr>
              <a:t>                   </a:t>
            </a:r>
            <a:r>
              <a:rPr>
                <a:solidFill>
                  <a:srgbClr val="5E5E5E"/>
                </a:solidFill>
                <a:latin typeface="Courier"/>
              </a:rPr>
              <a:t># name, type, first values</a:t>
            </a:r>
            <a:br/>
            <a:br/>
            <a:r>
              <a:rPr>
                <a:solidFill>
                  <a:srgbClr val="5E5E5E"/>
                </a:solidFill>
                <a:latin typeface="Courier"/>
              </a:rPr>
              <a:t># Base R equivalent:</a:t>
            </a:r>
            <a:br/>
            <a:r>
              <a:rPr>
                <a:solidFill>
                  <a:srgbClr val="4758AB"/>
                </a:solidFill>
                <a:latin typeface="Courier"/>
              </a:rPr>
              <a:t>str</a:t>
            </a:r>
            <a:r>
              <a:rPr>
                <a:solidFill>
                  <a:srgbClr val="003B4F"/>
                </a:solidFill>
                <a:latin typeface="Courier"/>
              </a:rPr>
              <a:t>(tree_df)       </a:t>
            </a:r>
            <a:r>
              <a:rPr>
                <a:solidFill>
                  <a:srgbClr val="5E5E5E"/>
                </a:solidFill>
                <a:latin typeface="Courier"/>
              </a:rPr>
              <a:t># same information, different layout</a:t>
            </a:r>
          </a:p>
          <a:p>
            <a:pPr lvl="0" indent="0" marL="1270000">
              <a:buNone/>
            </a:pPr>
            <a:r>
              <a:rPr sz="2000" b="1"/>
              <a:t>Tip</a:t>
            </a:r>
          </a:p>
          <a:p>
            <a:pPr lvl="0" indent="0" marL="1270000">
              <a:buNone/>
            </a:pPr>
            <a:r>
              <a:rPr sz="2000" b="1"/>
              <a:t>🖐 Try it yourself</a:t>
            </a:r>
          </a:p>
          <a:p>
            <a:pPr lvl="0" indent="0" marL="1270000">
              <a:buNone/>
            </a:pPr>
            <a:r>
              <a:rPr sz="2000"/>
              <a:t>Run </a:t>
            </a:r>
            <a:r>
              <a:rPr sz="2000">
                <a:latin typeface="Courier"/>
              </a:rPr>
              <a:t>glimpse(tree_df)</a:t>
            </a:r>
            <a:r>
              <a:rPr sz="2000"/>
              <a:t>. How many rows? What type is </a:t>
            </a:r>
            <a:r>
              <a:rPr sz="2000">
                <a:latin typeface="Courier"/>
              </a:rPr>
              <a:t>shade</a:t>
            </a:r>
            <a:r>
              <a:rPr sz="2000"/>
              <a:t>?</a:t>
            </a:r>
          </a:p>
        </p:txBody>
      </p:sp>
      <p:sp>
        <p:nvSpPr>
          <p:cNvPr id="4" name="Content Placeholder 3"/>
          <p:cNvSpPr>
            <a:spLocks noGrp="1"/>
          </p:cNvSpPr>
          <p:nvPr>
            <p:ph idx="2" sz="half"/>
          </p:nvPr>
        </p:nvSpPr>
        <p:spPr/>
        <p:txBody>
          <a:bodyPr/>
          <a:lstStyle/>
          <a:p>
            <a:pPr lvl="0" indent="0" marL="1270000">
              <a:buNone/>
            </a:pPr>
            <a:r>
              <a:rPr sz="2000" b="1"/>
              <a:t>Note</a:t>
            </a:r>
          </a:p>
          <a:p>
            <a:pPr lvl="0" indent="0" marL="1270000">
              <a:buNone/>
            </a:pPr>
            <a:r>
              <a:rPr sz="2000" b="1"/>
              <a:t>✅ Key idea</a:t>
            </a:r>
          </a:p>
          <a:p>
            <a:pPr lvl="0" indent="0" marL="1270000">
              <a:buNone/>
            </a:pPr>
            <a:r>
              <a:rPr sz="2000"/>
              <a:t>Check </a:t>
            </a:r>
            <a:r>
              <a:rPr sz="2000">
                <a:latin typeface="Courier"/>
              </a:rPr>
              <a:t>dim()</a:t>
            </a:r>
            <a:r>
              <a:rPr sz="2000"/>
              <a:t> and </a:t>
            </a:r>
            <a:r>
              <a:rPr sz="2000">
                <a:latin typeface="Courier"/>
              </a:rPr>
              <a:t>glimpse()</a:t>
            </a:r>
            <a:r>
              <a:rPr sz="2000"/>
              <a:t> every single time you load data. Typos and wrong column types hide here.</a:t>
            </a:r>
          </a:p>
          <a:p>
            <a:pPr lvl="0" indent="0" marL="1270000">
              <a:buNone/>
            </a:pPr>
            <a:r>
              <a:rPr sz="2000" b="1"/>
              <a:t>Warning</a:t>
            </a:r>
          </a:p>
          <a:p>
            <a:pPr lvl="0" indent="0" marL="1270000">
              <a:buNone/>
            </a:pPr>
            <a:r>
              <a:rPr sz="2000" b="1"/>
              <a:t>⚠️ Watch out!</a:t>
            </a:r>
          </a:p>
          <a:p>
            <a:pPr lvl="0" indent="0" marL="1270000">
              <a:buNone/>
            </a:pPr>
            <a:r>
              <a:rPr sz="2000"/>
              <a:t>If a number column shows as </a:t>
            </a:r>
            <a:r>
              <a:rPr sz="2000">
                <a:latin typeface="Courier"/>
              </a:rPr>
              <a:t>&lt;chr&gt;</a:t>
            </a:r>
            <a:r>
              <a:rPr sz="2000"/>
              <a:t>, a stray letter or comma snuck into your spreadsheet.</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1A1A2E"/>
          </a:solidFill>
        </p:spPr>
        <p:txBody>
          <a:bodyPr/>
          <a:lstStyle/>
          <a:p>
            <a:pPr lvl="0" indent="0" marL="0">
              <a:buNone/>
            </a:pPr>
            <a:r>
              <a:rPr/>
              <a:t>The pipe </a:t>
            </a:r>
            <a:r>
              <a:rPr>
                <a:latin typeface="Courier"/>
              </a:rPr>
              <a:t>%&gt;%</a:t>
            </a:r>
            <a:r>
              <a:rPr/>
              <a:t> — read it as “then”</a:t>
            </a:r>
          </a:p>
        </p:txBody>
      </p:sp>
      <p:sp>
        <p:nvSpPr>
          <p:cNvPr id="3" name="Content Placeholder 2"/>
          <p:cNvSpPr>
            <a:spLocks noGrp="1"/>
          </p:cNvSpPr>
          <p:nvPr>
            <p:ph idx="1" sz="half"/>
          </p:nvPr>
        </p:nvSpPr>
        <p:spPr/>
        <p:txBody>
          <a:bodyPr/>
          <a:lstStyle/>
          <a:p>
            <a:pPr lvl="0" indent="0" marL="0">
              <a:buNone/>
            </a:pPr>
            <a:r>
              <a:rPr/>
              <a:t>The </a:t>
            </a:r>
            <a:r>
              <a:rPr b="1"/>
              <a:t>pipe</a:t>
            </a:r>
            <a:r>
              <a:rPr/>
              <a:t> sends a result straight into the next function. Read </a:t>
            </a:r>
            <a:r>
              <a:rPr>
                <a:latin typeface="Courier"/>
              </a:rPr>
              <a:t>%&gt;%</a:t>
            </a:r>
            <a:r>
              <a:rPr/>
              <a:t> as the word </a:t>
            </a:r>
            <a:r>
              <a:rPr b="1"/>
              <a:t>“then”</a:t>
            </a:r>
            <a:r>
              <a:rPr/>
              <a:t>:</a:t>
            </a:r>
          </a:p>
          <a:p>
            <a:pPr lvl="0" indent="0">
              <a:buNone/>
            </a:pPr>
            <a:r>
              <a:rPr>
                <a:solidFill>
                  <a:srgbClr val="5E5E5E"/>
                </a:solidFill>
                <a:latin typeface="Courier"/>
              </a:rPr>
              <a:t># Start with simple examples:</a:t>
            </a:r>
            <a:br/>
            <a:r>
              <a:rPr>
                <a:solidFill>
                  <a:srgbClr val="003B4F"/>
                </a:solidFill>
                <a:latin typeface="Courier"/>
              </a:rPr>
              <a:t>tree_df </a:t>
            </a:r>
            <a:r>
              <a:rPr>
                <a:solidFill>
                  <a:srgbClr val="5E5E5E"/>
                </a:solidFill>
                <a:latin typeface="Courier"/>
              </a:rPr>
              <a:t>%&gt;%</a:t>
            </a:r>
            <a:r>
              <a:rPr>
                <a:solidFill>
                  <a:srgbClr val="003B4F"/>
                </a:solidFill>
                <a:latin typeface="Courier"/>
              </a:rPr>
              <a:t> </a:t>
            </a:r>
            <a:r>
              <a:rPr>
                <a:solidFill>
                  <a:srgbClr val="4758AB"/>
                </a:solidFill>
                <a:latin typeface="Courier"/>
              </a:rPr>
              <a:t>nrow</a:t>
            </a:r>
            <a:r>
              <a:rPr>
                <a:solidFill>
                  <a:srgbClr val="003B4F"/>
                </a:solidFill>
                <a:latin typeface="Courier"/>
              </a:rPr>
              <a:t>()     </a:t>
            </a:r>
            <a:r>
              <a:rPr>
                <a:solidFill>
                  <a:srgbClr val="5E5E5E"/>
                </a:solidFill>
                <a:latin typeface="Courier"/>
              </a:rPr>
              <a:t># take tree_df, THEN count rows</a:t>
            </a:r>
            <a:br/>
            <a:r>
              <a:rPr>
                <a:solidFill>
                  <a:srgbClr val="003B4F"/>
                </a:solidFill>
                <a:latin typeface="Courier"/>
              </a:rPr>
              <a:t>tree_df </a:t>
            </a:r>
            <a:r>
              <a:rPr>
                <a:solidFill>
                  <a:srgbClr val="5E5E5E"/>
                </a:solidFill>
                <a:latin typeface="Courier"/>
              </a:rPr>
              <a:t>%&gt;%</a:t>
            </a:r>
            <a:r>
              <a:rPr>
                <a:solidFill>
                  <a:srgbClr val="003B4F"/>
                </a:solidFill>
                <a:latin typeface="Courier"/>
              </a:rPr>
              <a:t> </a:t>
            </a:r>
            <a:r>
              <a:rPr>
                <a:solidFill>
                  <a:srgbClr val="4758AB"/>
                </a:solidFill>
                <a:latin typeface="Courier"/>
              </a:rPr>
              <a:t>names</a:t>
            </a:r>
            <a:r>
              <a:rPr>
                <a:solidFill>
                  <a:srgbClr val="003B4F"/>
                </a:solidFill>
                <a:latin typeface="Courier"/>
              </a:rPr>
              <a:t>()    </a:t>
            </a:r>
            <a:r>
              <a:rPr>
                <a:solidFill>
                  <a:srgbClr val="5E5E5E"/>
                </a:solidFill>
                <a:latin typeface="Courier"/>
              </a:rPr>
              <a:t># take tree_df, THEN list columns</a:t>
            </a:r>
            <a:br/>
            <a:r>
              <a:rPr>
                <a:solidFill>
                  <a:srgbClr val="003B4F"/>
                </a:solidFill>
                <a:latin typeface="Courier"/>
              </a:rPr>
              <a:t>tree_df </a:t>
            </a:r>
            <a:r>
              <a:rPr>
                <a:solidFill>
                  <a:srgbClr val="5E5E5E"/>
                </a:solidFill>
                <a:latin typeface="Courier"/>
              </a:rPr>
              <a:t>%&gt;%</a:t>
            </a:r>
            <a:r>
              <a:rPr>
                <a:solidFill>
                  <a:srgbClr val="003B4F"/>
                </a:solidFill>
                <a:latin typeface="Courier"/>
              </a:rPr>
              <a:t> </a:t>
            </a:r>
            <a:r>
              <a:rPr>
                <a:solidFill>
                  <a:srgbClr val="4758AB"/>
                </a:solidFill>
                <a:latin typeface="Courier"/>
              </a:rPr>
              <a:t>head</a:t>
            </a:r>
            <a:r>
              <a:rPr>
                <a:solidFill>
                  <a:srgbClr val="003B4F"/>
                </a:solidFill>
                <a:latin typeface="Courier"/>
              </a:rPr>
              <a:t>(</a:t>
            </a:r>
            <a:r>
              <a:rPr>
                <a:solidFill>
                  <a:srgbClr val="AD0000"/>
                </a:solidFill>
                <a:latin typeface="Courier"/>
              </a:rPr>
              <a:t>3</a:t>
            </a:r>
            <a:r>
              <a:rPr>
                <a:solidFill>
                  <a:srgbClr val="003B4F"/>
                </a:solidFill>
                <a:latin typeface="Courier"/>
              </a:rPr>
              <a:t>)    </a:t>
            </a:r>
            <a:r>
              <a:rPr>
                <a:solidFill>
                  <a:srgbClr val="5E5E5E"/>
                </a:solidFill>
                <a:latin typeface="Courier"/>
              </a:rPr>
              <a:t># take tree_df, THEN show 3 rows</a:t>
            </a:r>
          </a:p>
          <a:p>
            <a:pPr lvl="0" indent="0" marL="1270000">
              <a:buNone/>
            </a:pPr>
            <a:r>
              <a:rPr sz="2000" b="1"/>
              <a:t>Note</a:t>
            </a:r>
          </a:p>
          <a:p>
            <a:pPr lvl="0" indent="0" marL="1270000">
              <a:buNone/>
            </a:pPr>
            <a:r>
              <a:rPr sz="2000" b="1"/>
              <a:t>📖 New word</a:t>
            </a:r>
          </a:p>
          <a:p>
            <a:pPr lvl="0" indent="0" marL="1270000">
              <a:buNone/>
            </a:pPr>
            <a:r>
              <a:rPr sz="2000" b="1"/>
              <a:t>Pipe</a:t>
            </a:r>
            <a:r>
              <a:rPr sz="2000"/>
              <a:t> </a:t>
            </a:r>
            <a:r>
              <a:rPr sz="2000">
                <a:latin typeface="Courier"/>
              </a:rPr>
              <a:t>%&gt;%</a:t>
            </a:r>
            <a:r>
              <a:rPr sz="2000"/>
              <a:t> = “take what is on the left and feed it to the function on the right.” In Lecture 03 we chain more steps together.</a:t>
            </a:r>
          </a:p>
        </p:txBody>
      </p:sp>
      <p:pic>
        <p:nvPicPr>
          <p:cNvPr descr="images/diagram_pipe.png" id="0" name="Picture 1"/>
          <p:cNvPicPr>
            <a:picLocks noGrp="1" noChangeAspect="1"/>
          </p:cNvPicPr>
          <p:nvPr/>
        </p:nvPicPr>
        <p:blipFill>
          <a:blip r:embed="rId2"/>
          <a:stretch>
            <a:fillRect/>
          </a:stretch>
        </p:blipFill>
        <p:spPr bwMode="auto">
          <a:xfrm>
            <a:off x="4495800" y="787400"/>
            <a:ext cx="4406900" cy="3556000"/>
          </a:xfrm>
          <a:prstGeom prst="rect">
            <a:avLst/>
          </a:prstGeom>
          <a:noFill/>
          <a:ln w="9525">
            <a:noFill/>
            <a:headEnd/>
            <a:tailEnd/>
          </a:ln>
        </p:spPr>
      </p:pic>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Part 5 · Your first plot</a:t>
            </a:r>
          </a:p>
        </p:txBody>
      </p:sp>
      <p:sp>
        <p:nvSpPr>
          <p:cNvPr id="3" name="Content Placeholder 2"/>
          <p:cNvSpPr>
            <a:spLocks noGrp="1"/>
          </p:cNvSpPr>
          <p:nvPr>
            <p:ph idx="1"/>
          </p:nvPr>
        </p:nvSpPr>
        <p:spPr/>
        <p:txBody>
          <a:bodyPr/>
          <a:lstStyle/>
          <a:p>
            <a:pPr lvl="0" indent="0" marL="0">
              <a:spcBef>
                <a:spcPts val="3000"/>
              </a:spcBef>
              <a:buNone/>
            </a:pPr>
            <a:r>
              <a:rPr b="1"/>
              <a:t>ggplot: build a picture in layers</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Plots are built from three core pieces, joined with </a:t>
            </a:r>
            <a:r>
              <a:rPr>
                <a:latin typeface="Courier"/>
              </a:rPr>
              <a:t>+</a:t>
            </a:r>
            <a:r>
              <a:rPr/>
              <a:t>:</a:t>
            </a:r>
          </a:p>
          <a:p>
            <a:pPr lvl="0" indent="0">
              <a:buNone/>
            </a:pPr>
            <a:r>
              <a:rPr>
                <a:solidFill>
                  <a:srgbClr val="4758AB"/>
                </a:solidFill>
                <a:latin typeface="Courier"/>
              </a:rPr>
              <a:t>ggplot</a:t>
            </a:r>
            <a:r>
              <a:rPr>
                <a:solidFill>
                  <a:srgbClr val="003B4F"/>
                </a:solidFill>
                <a:latin typeface="Courier"/>
              </a:rPr>
              <a:t>(tree_df, </a:t>
            </a:r>
            <a:r>
              <a:rPr>
                <a:solidFill>
                  <a:srgbClr val="4758AB"/>
                </a:solidFill>
                <a:latin typeface="Courier"/>
              </a:rPr>
              <a:t>aes</a:t>
            </a:r>
            <a:r>
              <a:rPr>
                <a:solidFill>
                  <a:srgbClr val="003B4F"/>
                </a:solidFill>
                <a:latin typeface="Courier"/>
              </a:rPr>
              <a:t>(</a:t>
            </a:r>
            <a:r>
              <a:rPr>
                <a:solidFill>
                  <a:srgbClr val="657422"/>
                </a:solidFill>
                <a:latin typeface="Courier"/>
              </a:rPr>
              <a:t>x =</a:t>
            </a:r>
            <a:r>
              <a:rPr>
                <a:solidFill>
                  <a:srgbClr val="003B4F"/>
                </a:solidFill>
                <a:latin typeface="Courier"/>
              </a:rPr>
              <a:t> shade, </a:t>
            </a:r>
            <a:r>
              <a:rPr>
                <a:solidFill>
                  <a:srgbClr val="657422"/>
                </a:solidFill>
                <a:latin typeface="Courier"/>
              </a:rPr>
              <a:t>y =</a:t>
            </a:r>
            <a:r>
              <a:rPr>
                <a:solidFill>
                  <a:srgbClr val="003B4F"/>
                </a:solidFill>
                <a:latin typeface="Courier"/>
              </a:rPr>
              <a:t> mass_g))</a:t>
            </a:r>
          </a:p>
          <a:p>
            <a:pPr lvl="0" indent="-342900" marL="342900">
              <a:buAutoNum type="arabicPeriod"/>
            </a:pPr>
            <a:r>
              <a:rPr b="1"/>
              <a:t>data</a:t>
            </a:r>
            <a:r>
              <a:rPr/>
              <a:t> — which data frame (</a:t>
            </a:r>
            <a:r>
              <a:rPr>
                <a:latin typeface="Courier"/>
              </a:rPr>
              <a:t>tree_df</a:t>
            </a:r>
            <a:r>
              <a:rPr/>
              <a:t>)</a:t>
            </a:r>
          </a:p>
          <a:p>
            <a:pPr lvl="0" indent="-342900" marL="342900">
              <a:buAutoNum type="arabicPeriod"/>
            </a:pPr>
            <a:r>
              <a:rPr b="1"/>
              <a:t>aes</a:t>
            </a:r>
            <a:r>
              <a:rPr/>
              <a:t> — which columns map to x and y</a:t>
            </a:r>
          </a:p>
          <a:p>
            <a:pPr lvl="0" indent="-342900" marL="342900">
              <a:buAutoNum type="arabicPeriod"/>
            </a:pPr>
            <a:r>
              <a:rPr b="1"/>
              <a:t>geom</a:t>
            </a:r>
            <a:r>
              <a:rPr/>
              <a:t> — how to draw it (add with </a:t>
            </a:r>
            <a:r>
              <a:rPr>
                <a:latin typeface="Courier"/>
              </a:rPr>
              <a:t>+</a:t>
            </a:r>
            <a:r>
              <a:rPr/>
              <a:t>)</a:t>
            </a:r>
          </a:p>
          <a:p>
            <a:pPr lvl="0" indent="0">
              <a:buNone/>
            </a:pPr>
            <a:r>
              <a:rPr>
                <a:solidFill>
                  <a:srgbClr val="4758AB"/>
                </a:solidFill>
                <a:latin typeface="Courier"/>
              </a:rPr>
              <a:t>ggplot</a:t>
            </a:r>
            <a:r>
              <a:rPr>
                <a:solidFill>
                  <a:srgbClr val="003B4F"/>
                </a:solidFill>
                <a:latin typeface="Courier"/>
              </a:rPr>
              <a:t>(tree_df, </a:t>
            </a:r>
            <a:r>
              <a:rPr>
                <a:solidFill>
                  <a:srgbClr val="4758AB"/>
                </a:solidFill>
                <a:latin typeface="Courier"/>
              </a:rPr>
              <a:t>aes</a:t>
            </a:r>
            <a:r>
              <a:rPr>
                <a:solidFill>
                  <a:srgbClr val="003B4F"/>
                </a:solidFill>
                <a:latin typeface="Courier"/>
              </a:rPr>
              <a:t>(</a:t>
            </a:r>
            <a:r>
              <a:rPr>
                <a:solidFill>
                  <a:srgbClr val="657422"/>
                </a:solidFill>
                <a:latin typeface="Courier"/>
              </a:rPr>
              <a:t>x =</a:t>
            </a:r>
            <a:r>
              <a:rPr>
                <a:solidFill>
                  <a:srgbClr val="003B4F"/>
                </a:solidFill>
                <a:latin typeface="Courier"/>
              </a:rPr>
              <a:t> shade, </a:t>
            </a:r>
            <a:r>
              <a:rPr>
                <a:solidFill>
                  <a:srgbClr val="657422"/>
                </a:solidFill>
                <a:latin typeface="Courier"/>
              </a:rPr>
              <a:t>y =</a:t>
            </a:r>
            <a:r>
              <a:rPr>
                <a:solidFill>
                  <a:srgbClr val="003B4F"/>
                </a:solidFill>
                <a:latin typeface="Courier"/>
              </a:rPr>
              <a:t> mass_g)) </a:t>
            </a:r>
            <a:r>
              <a:rPr>
                <a:solidFill>
                  <a:srgbClr val="5E5E5E"/>
                </a:solidFill>
                <a:latin typeface="Courier"/>
              </a:rPr>
              <a:t>+</a:t>
            </a:r>
            <a:br/>
            <a:r>
              <a:rPr>
                <a:solidFill>
                  <a:srgbClr val="003B4F"/>
                </a:solidFill>
                <a:latin typeface="Courier"/>
              </a:rPr>
              <a:t>  </a:t>
            </a:r>
            <a:r>
              <a:rPr>
                <a:solidFill>
                  <a:srgbClr val="4758AB"/>
                </a:solidFill>
                <a:latin typeface="Courier"/>
              </a:rPr>
              <a:t>geom_point</a:t>
            </a:r>
            <a:r>
              <a:rPr>
                <a:solidFill>
                  <a:srgbClr val="003B4F"/>
                </a:solidFill>
                <a:latin typeface="Courier"/>
              </a:rPr>
              <a:t>()</a:t>
            </a:r>
          </a:p>
          <a:p>
            <a:pPr lvl="0" indent="0" marL="1270000">
              <a:buNone/>
            </a:pPr>
            <a:r>
              <a:rPr sz="2000" b="1"/>
              <a:t>Warning</a:t>
            </a:r>
          </a:p>
          <a:p>
            <a:pPr lvl="0" indent="0" marL="1270000">
              <a:buNone/>
            </a:pPr>
            <a:r>
              <a:rPr sz="2000" b="1"/>
              <a:t>⚠️ Watch out!</a:t>
            </a:r>
          </a:p>
          <a:p>
            <a:pPr lvl="0"/>
            <a:r>
              <a:rPr sz="2000"/>
              <a:t>The </a:t>
            </a:r>
            <a:r>
              <a:rPr sz="2000">
                <a:latin typeface="Courier"/>
              </a:rPr>
              <a:t>+</a:t>
            </a:r>
            <a:r>
              <a:rPr sz="2000"/>
              <a:t> must sit at the </a:t>
            </a:r>
            <a:r>
              <a:rPr sz="2000" b="1"/>
              <a:t>end</a:t>
            </a:r>
            <a:r>
              <a:rPr sz="2000"/>
              <a:t> of a line, never the start.</a:t>
            </a:r>
          </a:p>
          <a:p>
            <a:pPr lvl="0"/>
            <a:r>
              <a:rPr sz="2000">
                <a:latin typeface="Courier"/>
              </a:rPr>
              <a:t>+</a:t>
            </a:r>
            <a:r>
              <a:rPr sz="2000"/>
              <a:t> at the start = error</a:t>
            </a:r>
          </a:p>
          <a:p>
            <a:pPr lvl="0"/>
            <a:r>
              <a:rPr sz="2000"/>
              <a:t>AND YES — it’s confusing to use </a:t>
            </a:r>
            <a:r>
              <a:rPr sz="2000">
                <a:latin typeface="Courier"/>
              </a:rPr>
              <a:t>%&gt;%</a:t>
            </a:r>
            <a:r>
              <a:rPr sz="2000"/>
              <a:t> for code and </a:t>
            </a:r>
            <a:r>
              <a:rPr sz="2000">
                <a:latin typeface="Courier"/>
              </a:rPr>
              <a:t>+</a:t>
            </a:r>
            <a:r>
              <a:rPr sz="2000"/>
              <a:t> for plots, but that’s just how it is.</a:t>
            </a:r>
          </a:p>
          <a:p>
            <a:pPr lvl="0" indent="0" marL="1270000">
              <a:buNone/>
            </a:pPr>
            <a:r>
              <a:rPr sz="2000" b="1"/>
              <a:t>Note</a:t>
            </a:r>
          </a:p>
          <a:p>
            <a:pPr lvl="0" indent="0" marL="1270000">
              <a:buNone/>
            </a:pPr>
            <a:r>
              <a:rPr sz="2000" b="1"/>
              <a:t>📚 Reference</a:t>
            </a:r>
          </a:p>
          <a:p>
            <a:pPr lvl="0" indent="0" marL="1270000">
              <a:buNone/>
            </a:pPr>
            <a:r>
              <a:rPr sz="2000"/>
              <a:t>R for Data Science (2e), Ch. 1 — </a:t>
            </a:r>
            <a:r>
              <a:rPr sz="2000" i="1"/>
              <a:t>Data Visualization</a:t>
            </a:r>
            <a:r>
              <a:rPr sz="2000"/>
              <a:t>, and Whitlock &amp; Schluter, Ch. 2 — </a:t>
            </a:r>
            <a:r>
              <a:rPr sz="2000" i="1"/>
              <a:t>Displaying Data</a:t>
            </a:r>
            <a:r>
              <a:rPr sz="2000"/>
              <a:t>, on why we choose one graph type over another for a given kind of data.</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1A1A2E"/>
          </a:solidFill>
        </p:spPr>
        <p:txBody>
          <a:bodyPr/>
          <a:lstStyle/>
          <a:p>
            <a:pPr lvl="0" indent="0" marL="0">
              <a:buNone/>
            </a:pPr>
            <a:r>
              <a:rPr/>
              <a:t>Improve it one layer at a time</a:t>
            </a:r>
          </a:p>
        </p:txBody>
      </p:sp>
      <p:sp>
        <p:nvSpPr>
          <p:cNvPr id="3" name="Content Placeholder 2"/>
          <p:cNvSpPr>
            <a:spLocks noGrp="1"/>
          </p:cNvSpPr>
          <p:nvPr>
            <p:ph idx="1" sz="half"/>
          </p:nvPr>
        </p:nvSpPr>
        <p:spPr/>
        <p:txBody>
          <a:bodyPr/>
          <a:lstStyle/>
          <a:p>
            <a:pPr lvl="0" indent="0" marL="0">
              <a:buNone/>
            </a:pPr>
            <a:r>
              <a:rPr/>
              <a:t>Since </a:t>
            </a:r>
            <a:r>
              <a:rPr>
                <a:latin typeface="Courier"/>
              </a:rPr>
              <a:t>shade</a:t>
            </a:r>
            <a:r>
              <a:rPr/>
              <a:t> is a category, a </a:t>
            </a:r>
            <a:r>
              <a:rPr b="1"/>
              <a:t>boxplot</a:t>
            </a:r>
            <a:r>
              <a:rPr/>
              <a:t> with the raw points on top tells the story well:</a:t>
            </a:r>
          </a:p>
          <a:p>
            <a:pPr lvl="0" indent="0">
              <a:buNone/>
            </a:pPr>
            <a:r>
              <a:rPr>
                <a:solidFill>
                  <a:srgbClr val="4758AB"/>
                </a:solidFill>
                <a:latin typeface="Courier"/>
              </a:rPr>
              <a:t>ggplot</a:t>
            </a:r>
            <a:r>
              <a:rPr>
                <a:solidFill>
                  <a:srgbClr val="003B4F"/>
                </a:solidFill>
                <a:latin typeface="Courier"/>
              </a:rPr>
              <a:t>(tree_df, </a:t>
            </a:r>
            <a:r>
              <a:rPr>
                <a:solidFill>
                  <a:srgbClr val="4758AB"/>
                </a:solidFill>
                <a:latin typeface="Courier"/>
              </a:rPr>
              <a:t>aes</a:t>
            </a:r>
            <a:r>
              <a:rPr>
                <a:solidFill>
                  <a:srgbClr val="003B4F"/>
                </a:solidFill>
                <a:latin typeface="Courier"/>
              </a:rPr>
              <a:t>(</a:t>
            </a:r>
            <a:r>
              <a:rPr>
                <a:solidFill>
                  <a:srgbClr val="657422"/>
                </a:solidFill>
                <a:latin typeface="Courier"/>
              </a:rPr>
              <a:t>x =</a:t>
            </a:r>
            <a:r>
              <a:rPr>
                <a:solidFill>
                  <a:srgbClr val="003B4F"/>
                </a:solidFill>
                <a:latin typeface="Courier"/>
              </a:rPr>
              <a:t> shade, </a:t>
            </a:r>
            <a:r>
              <a:rPr>
                <a:solidFill>
                  <a:srgbClr val="657422"/>
                </a:solidFill>
                <a:latin typeface="Courier"/>
              </a:rPr>
              <a:t>y =</a:t>
            </a:r>
            <a:r>
              <a:rPr>
                <a:solidFill>
                  <a:srgbClr val="003B4F"/>
                </a:solidFill>
                <a:latin typeface="Courier"/>
              </a:rPr>
              <a:t> mass_g)) </a:t>
            </a:r>
            <a:r>
              <a:rPr>
                <a:solidFill>
                  <a:srgbClr val="5E5E5E"/>
                </a:solidFill>
                <a:latin typeface="Courier"/>
              </a:rPr>
              <a:t>+</a:t>
            </a:r>
            <a:br/>
            <a:r>
              <a:rPr>
                <a:solidFill>
                  <a:srgbClr val="003B4F"/>
                </a:solidFill>
                <a:latin typeface="Courier"/>
              </a:rPr>
              <a:t>  </a:t>
            </a:r>
            <a:r>
              <a:rPr>
                <a:solidFill>
                  <a:srgbClr val="4758AB"/>
                </a:solidFill>
                <a:latin typeface="Courier"/>
              </a:rPr>
              <a:t>geom_boxplot</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geom_jitter</a:t>
            </a:r>
            <a:r>
              <a:rPr>
                <a:solidFill>
                  <a:srgbClr val="003B4F"/>
                </a:solidFill>
                <a:latin typeface="Courier"/>
              </a:rPr>
              <a:t>(</a:t>
            </a:r>
            <a:r>
              <a:rPr>
                <a:solidFill>
                  <a:srgbClr val="657422"/>
                </a:solidFill>
                <a:latin typeface="Courier"/>
              </a:rPr>
              <a:t>width =</a:t>
            </a:r>
            <a:r>
              <a:rPr>
                <a:solidFill>
                  <a:srgbClr val="003B4F"/>
                </a:solidFill>
                <a:latin typeface="Courier"/>
              </a:rPr>
              <a:t> </a:t>
            </a:r>
            <a:r>
              <a:rPr>
                <a:solidFill>
                  <a:srgbClr val="AD0000"/>
                </a:solidFill>
                <a:latin typeface="Courier"/>
              </a:rPr>
              <a:t>0.15</a:t>
            </a:r>
            <a:r>
              <a:rPr>
                <a:solidFill>
                  <a:srgbClr val="003B4F"/>
                </a:solidFill>
                <a:latin typeface="Courier"/>
              </a:rPr>
              <a:t>, </a:t>
            </a:r>
            <a:r>
              <a:rPr>
                <a:solidFill>
                  <a:srgbClr val="657422"/>
                </a:solidFill>
                <a:latin typeface="Courier"/>
              </a:rPr>
              <a:t>alpha =</a:t>
            </a:r>
            <a:r>
              <a:rPr>
                <a:solidFill>
                  <a:srgbClr val="003B4F"/>
                </a:solidFill>
                <a:latin typeface="Courier"/>
              </a:rPr>
              <a:t> </a:t>
            </a:r>
            <a:r>
              <a:rPr>
                <a:solidFill>
                  <a:srgbClr val="AD0000"/>
                </a:solidFill>
                <a:latin typeface="Courier"/>
              </a:rPr>
              <a:t>0.6</a:t>
            </a:r>
            <a:r>
              <a:rPr>
                <a:solidFill>
                  <a:srgbClr val="003B4F"/>
                </a:solidFill>
                <a:latin typeface="Courier"/>
              </a:rPr>
              <a:t>, </a:t>
            </a:r>
            <a:r>
              <a:rPr>
                <a:solidFill>
                  <a:srgbClr val="657422"/>
                </a:solidFill>
                <a:latin typeface="Courier"/>
              </a:rPr>
              <a:t>color =</a:t>
            </a:r>
            <a:r>
              <a:rPr>
                <a:solidFill>
                  <a:srgbClr val="003B4F"/>
                </a:solidFill>
                <a:latin typeface="Courier"/>
              </a:rPr>
              <a:t> </a:t>
            </a:r>
            <a:r>
              <a:rPr>
                <a:solidFill>
                  <a:srgbClr val="20794D"/>
                </a:solidFill>
                <a:latin typeface="Courier"/>
              </a:rPr>
              <a:t>"tomato"</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labs</a:t>
            </a:r>
            <a:r>
              <a:rPr>
                <a:solidFill>
                  <a:srgbClr val="003B4F"/>
                </a:solidFill>
                <a:latin typeface="Courier"/>
              </a:rPr>
              <a:t>(</a:t>
            </a:r>
            <a:r>
              <a:rPr>
                <a:solidFill>
                  <a:srgbClr val="657422"/>
                </a:solidFill>
                <a:latin typeface="Courier"/>
              </a:rPr>
              <a:t>x =</a:t>
            </a:r>
            <a:r>
              <a:rPr>
                <a:solidFill>
                  <a:srgbClr val="003B4F"/>
                </a:solidFill>
                <a:latin typeface="Courier"/>
              </a:rPr>
              <a:t> </a:t>
            </a:r>
            <a:r>
              <a:rPr>
                <a:solidFill>
                  <a:srgbClr val="20794D"/>
                </a:solidFill>
                <a:latin typeface="Courier"/>
              </a:rPr>
              <a:t>"Side of tree"</a:t>
            </a:r>
            <a:r>
              <a:rPr>
                <a:solidFill>
                  <a:srgbClr val="003B4F"/>
                </a:solidFill>
                <a:latin typeface="Courier"/>
              </a:rPr>
              <a:t>,</a:t>
            </a:r>
            <a:br/>
            <a:r>
              <a:rPr>
                <a:solidFill>
                  <a:srgbClr val="003B4F"/>
                </a:solidFill>
                <a:latin typeface="Courier"/>
              </a:rPr>
              <a:t>       </a:t>
            </a:r>
            <a:r>
              <a:rPr>
                <a:solidFill>
                  <a:srgbClr val="657422"/>
                </a:solidFill>
                <a:latin typeface="Courier"/>
              </a:rPr>
              <a:t>y =</a:t>
            </a:r>
            <a:r>
              <a:rPr>
                <a:solidFill>
                  <a:srgbClr val="003B4F"/>
                </a:solidFill>
                <a:latin typeface="Courier"/>
              </a:rPr>
              <a:t> </a:t>
            </a:r>
            <a:r>
              <a:rPr>
                <a:solidFill>
                  <a:srgbClr val="20794D"/>
                </a:solidFill>
                <a:latin typeface="Courier"/>
              </a:rPr>
              <a:t>"Leaf mass (g)"</a:t>
            </a:r>
            <a:r>
              <a:rPr>
                <a:solidFill>
                  <a:srgbClr val="003B4F"/>
                </a:solidFill>
                <a:latin typeface="Courier"/>
              </a:rPr>
              <a:t>,</a:t>
            </a:r>
            <a:br/>
            <a:r>
              <a:rPr>
                <a:solidFill>
                  <a:srgbClr val="003B4F"/>
                </a:solidFill>
                <a:latin typeface="Courier"/>
              </a:rPr>
              <a:t>       </a:t>
            </a:r>
            <a:r>
              <a:rPr>
                <a:solidFill>
                  <a:srgbClr val="657422"/>
                </a:solidFill>
                <a:latin typeface="Courier"/>
              </a:rPr>
              <a:t>title =</a:t>
            </a:r>
            <a:r>
              <a:rPr>
                <a:solidFill>
                  <a:srgbClr val="003B4F"/>
                </a:solidFill>
                <a:latin typeface="Courier"/>
              </a:rPr>
              <a:t> </a:t>
            </a:r>
            <a:r>
              <a:rPr>
                <a:solidFill>
                  <a:srgbClr val="20794D"/>
                </a:solidFill>
                <a:latin typeface="Courier"/>
              </a:rPr>
              <a:t>"Sunny vs. shady leaves"</a:t>
            </a:r>
            <a:r>
              <a:rPr>
                <a:solidFill>
                  <a:srgbClr val="003B4F"/>
                </a:solidFill>
                <a:latin typeface="Courier"/>
              </a:rPr>
              <a:t>)</a:t>
            </a:r>
          </a:p>
          <a:p>
            <a:pPr lvl="0" indent="0" marL="1270000">
              <a:buNone/>
            </a:pPr>
            <a:r>
              <a:rPr sz="2000" b="1"/>
              <a:t>Tip</a:t>
            </a:r>
          </a:p>
          <a:p>
            <a:pPr lvl="0" indent="0" marL="1270000">
              <a:buNone/>
            </a:pPr>
            <a:r>
              <a:rPr sz="2000" b="1"/>
              <a:t>🖐 Try it yourself</a:t>
            </a:r>
          </a:p>
          <a:p>
            <a:pPr lvl="0" indent="0" marL="1270000">
              <a:buNone/>
            </a:pPr>
            <a:r>
              <a:rPr sz="2000"/>
              <a:t>Swap </a:t>
            </a:r>
            <a:r>
              <a:rPr sz="2000">
                <a:latin typeface="Courier"/>
              </a:rPr>
              <a:t>mass_g</a:t>
            </a:r>
            <a:r>
              <a:rPr sz="2000"/>
              <a:t> for </a:t>
            </a:r>
            <a:r>
              <a:rPr sz="2000">
                <a:latin typeface="Courier"/>
              </a:rPr>
              <a:t>thickness_mm</a:t>
            </a:r>
            <a:r>
              <a:rPr sz="2000"/>
              <a:t>. What changes? Try </a:t>
            </a:r>
            <a:r>
              <a:rPr sz="2000">
                <a:latin typeface="Courier"/>
              </a:rPr>
              <a:t>geom_violin()</a:t>
            </a:r>
            <a:r>
              <a:rPr sz="2000"/>
              <a:t> instead of </a:t>
            </a:r>
            <a:r>
              <a:rPr sz="2000">
                <a:latin typeface="Courier"/>
              </a:rPr>
              <a:t>geom_boxplot()</a:t>
            </a:r>
            <a:r>
              <a:rPr sz="2000"/>
              <a:t>.</a:t>
            </a:r>
          </a:p>
        </p:txBody>
      </p:sp>
      <p:sp>
        <p:nvSpPr>
          <p:cNvPr id="4" name="Content Placeholder 3"/>
          <p:cNvSpPr>
            <a:spLocks noGrp="1"/>
          </p:cNvSpPr>
          <p:nvPr>
            <p:ph idx="2" sz="half"/>
          </p:nvPr>
        </p:nvSpPr>
        <p:spPr/>
        <p:txBody>
          <a:bodyPr/>
          <a:lstStyle/>
          <a:p>
            <a:pPr lvl="0" indent="0" marL="0">
              <a:buNone/>
            </a:pPr>
            <a:r>
              <a:rPr b="1"/>
              <a:t>Before you run it:</a:t>
            </a:r>
            <a:r>
              <a:rPr/>
              <a:t> sketch what you expect this plot to look like — boxes, dots, axes — then compare it to what R draws.</a:t>
            </a:r>
          </a:p>
          <a:p>
            <a:pPr lvl="0" indent="0" marL="0">
              <a:buNone/>
            </a:pPr>
            <a:r>
              <a:rPr>
                <a:latin typeface="Courier"/>
              </a:rPr>
              <a:t>geom_jitter()</a:t>
            </a:r>
            <a:r>
              <a:rPr/>
              <a:t> is just </a:t>
            </a:r>
            <a:r>
              <a:rPr>
                <a:latin typeface="Courier"/>
              </a:rPr>
              <a:t>geom_point()</a:t>
            </a:r>
            <a:r>
              <a:rPr/>
              <a:t> with a small sideways nudge (</a:t>
            </a:r>
            <a:r>
              <a:rPr>
                <a:latin typeface="Courier"/>
              </a:rPr>
              <a:t>width = 0.15</a:t>
            </a:r>
            <a:r>
              <a:rPr/>
              <a:t>) so overlapping leaves don’t hide behind each other.</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1A1A2E"/>
          </a:solidFill>
        </p:spPr>
        <p:txBody>
          <a:bodyPr/>
          <a:lstStyle/>
          <a:p>
            <a:pPr lvl="0" indent="0" marL="0">
              <a:buNone/>
            </a:pPr>
            <a:r>
              <a:rPr/>
              <a:t>Save your plot and your script</a:t>
            </a:r>
          </a:p>
        </p:txBody>
      </p:sp>
      <p:sp>
        <p:nvSpPr>
          <p:cNvPr id="3" name="Content Placeholder 2"/>
          <p:cNvSpPr>
            <a:spLocks noGrp="1"/>
          </p:cNvSpPr>
          <p:nvPr>
            <p:ph idx="1" sz="half"/>
          </p:nvPr>
        </p:nvSpPr>
        <p:spPr/>
        <p:txBody>
          <a:bodyPr/>
          <a:lstStyle/>
          <a:p>
            <a:pPr lvl="0" indent="0" marL="0">
              <a:buNone/>
            </a:pPr>
            <a:r>
              <a:rPr/>
              <a:t>Store the plot in an object, then save it as a PNG:</a:t>
            </a:r>
          </a:p>
          <a:p>
            <a:pPr lvl="0" indent="0">
              <a:buNone/>
            </a:pPr>
            <a:r>
              <a:rPr>
                <a:solidFill>
                  <a:srgbClr val="003B4F"/>
                </a:solidFill>
                <a:latin typeface="Courier"/>
              </a:rPr>
              <a:t>leaf_plot &lt;- </a:t>
            </a:r>
            <a:r>
              <a:rPr>
                <a:solidFill>
                  <a:srgbClr val="4758AB"/>
                </a:solidFill>
                <a:latin typeface="Courier"/>
              </a:rPr>
              <a:t>ggplot</a:t>
            </a:r>
            <a:r>
              <a:rPr>
                <a:solidFill>
                  <a:srgbClr val="003B4F"/>
                </a:solidFill>
                <a:latin typeface="Courier"/>
              </a:rPr>
              <a:t>(tree_df, </a:t>
            </a:r>
            <a:r>
              <a:rPr>
                <a:solidFill>
                  <a:srgbClr val="4758AB"/>
                </a:solidFill>
                <a:latin typeface="Courier"/>
              </a:rPr>
              <a:t>aes</a:t>
            </a:r>
            <a:r>
              <a:rPr>
                <a:solidFill>
                  <a:srgbClr val="003B4F"/>
                </a:solidFill>
                <a:latin typeface="Courier"/>
              </a:rPr>
              <a:t>(</a:t>
            </a:r>
            <a:r>
              <a:rPr>
                <a:solidFill>
                  <a:srgbClr val="657422"/>
                </a:solidFill>
                <a:latin typeface="Courier"/>
              </a:rPr>
              <a:t>x =</a:t>
            </a:r>
            <a:r>
              <a:rPr>
                <a:solidFill>
                  <a:srgbClr val="003B4F"/>
                </a:solidFill>
                <a:latin typeface="Courier"/>
              </a:rPr>
              <a:t> shade, </a:t>
            </a:r>
            <a:r>
              <a:rPr>
                <a:solidFill>
                  <a:srgbClr val="657422"/>
                </a:solidFill>
                <a:latin typeface="Courier"/>
              </a:rPr>
              <a:t>y =</a:t>
            </a:r>
            <a:r>
              <a:rPr>
                <a:solidFill>
                  <a:srgbClr val="003B4F"/>
                </a:solidFill>
                <a:latin typeface="Courier"/>
              </a:rPr>
              <a:t> mass_g)) </a:t>
            </a:r>
            <a:r>
              <a:rPr>
                <a:solidFill>
                  <a:srgbClr val="5E5E5E"/>
                </a:solidFill>
                <a:latin typeface="Courier"/>
              </a:rPr>
              <a:t>+</a:t>
            </a:r>
            <a:br/>
            <a:r>
              <a:rPr>
                <a:solidFill>
                  <a:srgbClr val="003B4F"/>
                </a:solidFill>
                <a:latin typeface="Courier"/>
              </a:rPr>
              <a:t>  </a:t>
            </a:r>
            <a:r>
              <a:rPr>
                <a:solidFill>
                  <a:srgbClr val="4758AB"/>
                </a:solidFill>
                <a:latin typeface="Courier"/>
              </a:rPr>
              <a:t>geom_boxplot</a:t>
            </a:r>
            <a:r>
              <a:rPr>
                <a:solidFill>
                  <a:srgbClr val="003B4F"/>
                </a:solidFill>
                <a:latin typeface="Courier"/>
              </a:rPr>
              <a:t>()</a:t>
            </a:r>
            <a:br/>
            <a:br/>
            <a:r>
              <a:rPr>
                <a:solidFill>
                  <a:srgbClr val="5E5E5E"/>
                </a:solidFill>
                <a:latin typeface="Courier"/>
              </a:rPr>
              <a:t># Save to the figures/ folder — always use PNG, dpi = 300</a:t>
            </a:r>
            <a:br/>
            <a:r>
              <a:rPr>
                <a:solidFill>
                  <a:srgbClr val="4758AB"/>
                </a:solidFill>
                <a:latin typeface="Courier"/>
              </a:rPr>
              <a:t>ggsave</a:t>
            </a:r>
            <a:r>
              <a:rPr>
                <a:solidFill>
                  <a:srgbClr val="003B4F"/>
                </a:solidFill>
                <a:latin typeface="Courier"/>
              </a:rPr>
              <a:t>(</a:t>
            </a:r>
            <a:r>
              <a:rPr>
                <a:solidFill>
                  <a:srgbClr val="20794D"/>
                </a:solidFill>
                <a:latin typeface="Courier"/>
              </a:rPr>
              <a:t>"figures/leaf_mass.png"</a:t>
            </a:r>
            <a:r>
              <a:rPr>
                <a:solidFill>
                  <a:srgbClr val="003B4F"/>
                </a:solidFill>
                <a:latin typeface="Courier"/>
              </a:rPr>
              <a:t>,</a:t>
            </a:r>
            <a:br/>
            <a:r>
              <a:rPr>
                <a:solidFill>
                  <a:srgbClr val="003B4F"/>
                </a:solidFill>
                <a:latin typeface="Courier"/>
              </a:rPr>
              <a:t>       </a:t>
            </a:r>
            <a:r>
              <a:rPr>
                <a:solidFill>
                  <a:srgbClr val="657422"/>
                </a:solidFill>
                <a:latin typeface="Courier"/>
              </a:rPr>
              <a:t>plot   =</a:t>
            </a:r>
            <a:r>
              <a:rPr>
                <a:solidFill>
                  <a:srgbClr val="003B4F"/>
                </a:solidFill>
                <a:latin typeface="Courier"/>
              </a:rPr>
              <a:t> leaf_plot,</a:t>
            </a:r>
            <a:br/>
            <a:r>
              <a:rPr>
                <a:solidFill>
                  <a:srgbClr val="003B4F"/>
                </a:solidFill>
                <a:latin typeface="Courier"/>
              </a:rPr>
              <a:t>       </a:t>
            </a:r>
            <a:r>
              <a:rPr>
                <a:solidFill>
                  <a:srgbClr val="657422"/>
                </a:solidFill>
                <a:latin typeface="Courier"/>
              </a:rPr>
              <a:t>width  =</a:t>
            </a:r>
            <a:r>
              <a:rPr>
                <a:solidFill>
                  <a:srgbClr val="003B4F"/>
                </a:solidFill>
                <a:latin typeface="Courier"/>
              </a:rPr>
              <a:t> </a:t>
            </a:r>
            <a:r>
              <a:rPr>
                <a:solidFill>
                  <a:srgbClr val="AD0000"/>
                </a:solidFill>
                <a:latin typeface="Courier"/>
              </a:rPr>
              <a:t>6</a:t>
            </a:r>
            <a:r>
              <a:rPr>
                <a:solidFill>
                  <a:srgbClr val="003B4F"/>
                </a:solidFill>
                <a:latin typeface="Courier"/>
              </a:rPr>
              <a:t>,</a:t>
            </a:r>
            <a:br/>
            <a:r>
              <a:rPr>
                <a:solidFill>
                  <a:srgbClr val="003B4F"/>
                </a:solidFill>
                <a:latin typeface="Courier"/>
              </a:rPr>
              <a:t>       </a:t>
            </a:r>
            <a:r>
              <a:rPr>
                <a:solidFill>
                  <a:srgbClr val="657422"/>
                </a:solidFill>
                <a:latin typeface="Courier"/>
              </a:rPr>
              <a:t>height =</a:t>
            </a:r>
            <a:r>
              <a:rPr>
                <a:solidFill>
                  <a:srgbClr val="003B4F"/>
                </a:solidFill>
                <a:latin typeface="Courier"/>
              </a:rPr>
              <a:t> </a:t>
            </a:r>
            <a:r>
              <a:rPr>
                <a:solidFill>
                  <a:srgbClr val="AD0000"/>
                </a:solidFill>
                <a:latin typeface="Courier"/>
              </a:rPr>
              <a:t>6</a:t>
            </a:r>
            <a:r>
              <a:rPr>
                <a:solidFill>
                  <a:srgbClr val="003B4F"/>
                </a:solidFill>
                <a:latin typeface="Courier"/>
              </a:rPr>
              <a:t>,</a:t>
            </a:r>
            <a:br/>
            <a:r>
              <a:rPr>
                <a:solidFill>
                  <a:srgbClr val="003B4F"/>
                </a:solidFill>
                <a:latin typeface="Courier"/>
              </a:rPr>
              <a:t>       </a:t>
            </a:r>
            <a:r>
              <a:rPr>
                <a:solidFill>
                  <a:srgbClr val="657422"/>
                </a:solidFill>
                <a:latin typeface="Courier"/>
              </a:rPr>
              <a:t>units  =</a:t>
            </a:r>
            <a:r>
              <a:rPr>
                <a:solidFill>
                  <a:srgbClr val="003B4F"/>
                </a:solidFill>
                <a:latin typeface="Courier"/>
              </a:rPr>
              <a:t> </a:t>
            </a:r>
            <a:r>
              <a:rPr>
                <a:solidFill>
                  <a:srgbClr val="20794D"/>
                </a:solidFill>
                <a:latin typeface="Courier"/>
              </a:rPr>
              <a:t>"in"</a:t>
            </a:r>
            <a:r>
              <a:rPr>
                <a:solidFill>
                  <a:srgbClr val="003B4F"/>
                </a:solidFill>
                <a:latin typeface="Courier"/>
              </a:rPr>
              <a:t>,</a:t>
            </a:r>
            <a:br/>
            <a:r>
              <a:rPr>
                <a:solidFill>
                  <a:srgbClr val="003B4F"/>
                </a:solidFill>
                <a:latin typeface="Courier"/>
              </a:rPr>
              <a:t>       </a:t>
            </a:r>
            <a:r>
              <a:rPr>
                <a:solidFill>
                  <a:srgbClr val="657422"/>
                </a:solidFill>
                <a:latin typeface="Courier"/>
              </a:rPr>
              <a:t>dpi    =</a:t>
            </a:r>
            <a:r>
              <a:rPr>
                <a:solidFill>
                  <a:srgbClr val="003B4F"/>
                </a:solidFill>
                <a:latin typeface="Courier"/>
              </a:rPr>
              <a:t> </a:t>
            </a:r>
            <a:r>
              <a:rPr>
                <a:solidFill>
                  <a:srgbClr val="AD0000"/>
                </a:solidFill>
                <a:latin typeface="Courier"/>
              </a:rPr>
              <a:t>300</a:t>
            </a:r>
            <a:r>
              <a:rPr>
                <a:solidFill>
                  <a:srgbClr val="003B4F"/>
                </a:solidFill>
                <a:latin typeface="Courier"/>
              </a:rPr>
              <a:t>)</a:t>
            </a:r>
          </a:p>
          <a:p>
            <a:pPr lvl="0"/>
            <a:r>
              <a:rPr b="1"/>
              <a:t>📖 File format tip</a:t>
            </a:r>
          </a:p>
          <a:p>
            <a:pPr lvl="0"/>
            <a:r>
              <a:rPr/>
              <a:t>Save figures as </a:t>
            </a:r>
            <a:r>
              <a:rPr b="1"/>
              <a:t>PNG</a:t>
            </a:r>
            <a:r>
              <a:rPr/>
              <a:t> (</a:t>
            </a:r>
            <a:r>
              <a:rPr>
                <a:latin typeface="Courier"/>
              </a:rPr>
              <a:t>.png</a:t>
            </a:r>
            <a:r>
              <a:rPr/>
              <a:t>) for reports and Canvas submissions.</a:t>
            </a:r>
          </a:p>
          <a:p>
            <a:pPr lvl="0"/>
            <a:r>
              <a:rPr>
                <a:latin typeface="Courier"/>
              </a:rPr>
              <a:t>dpi = 300</a:t>
            </a:r>
            <a:r>
              <a:rPr/>
              <a:t> means 300 dots per inch — high enough for print and posters.</a:t>
            </a:r>
          </a:p>
          <a:p>
            <a:pPr lvl="0" indent="0" marL="1270000">
              <a:buNone/>
            </a:pPr>
            <a:r>
              <a:rPr sz="2000" b="1"/>
              <a:t>Warning</a:t>
            </a:r>
          </a:p>
          <a:p>
            <a:pPr lvl="0" indent="0" marL="1270000">
              <a:buNone/>
            </a:pPr>
            <a:r>
              <a:rPr sz="2000" b="1"/>
              <a:t>⚠️ Watch out!</a:t>
            </a:r>
          </a:p>
          <a:p>
            <a:pPr lvl="0" indent="0" marL="1270000">
              <a:buNone/>
            </a:pPr>
            <a:r>
              <a:rPr sz="2000">
                <a:latin typeface="Courier"/>
              </a:rPr>
              <a:t>ggsave()</a:t>
            </a:r>
            <a:r>
              <a:rPr sz="2000"/>
              <a:t> wants the </a:t>
            </a:r>
            <a:r>
              <a:rPr sz="2000" b="1"/>
              <a:t>filename first</a:t>
            </a:r>
            <a:r>
              <a:rPr sz="2000"/>
              <a:t>, then </a:t>
            </a:r>
            <a:r>
              <a:rPr sz="2000">
                <a:latin typeface="Courier"/>
              </a:rPr>
              <a:t>plot =</a:t>
            </a:r>
            <a:r>
              <a:rPr sz="2000"/>
              <a:t>. Also: </a:t>
            </a:r>
            <a:r>
              <a:rPr sz="2000">
                <a:latin typeface="Courier"/>
              </a:rPr>
              <a:t>dpi = 300</a:t>
            </a:r>
            <a:r>
              <a:rPr sz="2000"/>
              <a:t> is publication quality — always use it.</a:t>
            </a:r>
          </a:p>
        </p:txBody>
      </p:sp>
      <p:sp>
        <p:nvSpPr>
          <p:cNvPr id="4" name="Content Placeholder 3"/>
          <p:cNvSpPr>
            <a:spLocks noGrp="1"/>
          </p:cNvSpPr>
          <p:nvPr>
            <p:ph idx="2" sz="half"/>
          </p:nvPr>
        </p:nvSpPr>
        <p:spPr/>
        <p:txBody>
          <a:bodyPr/>
          <a:lstStyle/>
          <a:p>
            <a:pPr lvl="0" indent="0" marL="1270000">
              <a:buNone/>
            </a:pPr>
            <a:r>
              <a:rPr sz="2000" b="1"/>
              <a:t>Note</a:t>
            </a:r>
          </a:p>
          <a:p>
            <a:pPr lvl="0" indent="0" marL="1270000">
              <a:buNone/>
            </a:pP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1A1A2E"/>
          </a:solidFill>
        </p:spPr>
        <p:txBody>
          <a:bodyPr/>
          <a:lstStyle/>
          <a:p>
            <a:pPr lvl="0" indent="0" marL="0">
              <a:buNone/>
            </a:pPr>
            <a:r>
              <a:rPr/>
              <a:t>Wrap-up · What you can now do</a:t>
            </a:r>
          </a:p>
        </p:txBody>
      </p:sp>
      <p:sp>
        <p:nvSpPr>
          <p:cNvPr id="3" name="Content Placeholder 2"/>
          <p:cNvSpPr>
            <a:spLocks noGrp="1"/>
          </p:cNvSpPr>
          <p:nvPr>
            <p:ph idx="1" sz="half"/>
          </p:nvPr>
        </p:nvSpPr>
        <p:spPr/>
        <p:txBody>
          <a:bodyPr/>
          <a:lstStyle/>
          <a:p>
            <a:pPr lvl="0"/>
            <a:r>
              <a:rPr/>
              <a:t>Set up R + Positron and organize a project folder</a:t>
            </a:r>
          </a:p>
          <a:p>
            <a:pPr lvl="0"/>
            <a:r>
              <a:rPr/>
              <a:t>Use R as a calculator and </a:t>
            </a:r>
            <a:r>
              <a:rPr b="1"/>
              <a:t>store values</a:t>
            </a:r>
            <a:r>
              <a:rPr/>
              <a:t> with </a:t>
            </a:r>
            <a:r>
              <a:rPr>
                <a:latin typeface="Courier"/>
              </a:rPr>
              <a:t>&lt;-</a:t>
            </a:r>
          </a:p>
          <a:p>
            <a:pPr lvl="0"/>
            <a:r>
              <a:rPr/>
              <a:t>Write and run a </a:t>
            </a:r>
            <a:r>
              <a:rPr b="1"/>
              <a:t>script</a:t>
            </a:r>
            <a:r>
              <a:rPr/>
              <a:t>, with </a:t>
            </a:r>
            <a:r>
              <a:rPr>
                <a:latin typeface="Courier"/>
              </a:rPr>
              <a:t>#</a:t>
            </a:r>
            <a:r>
              <a:rPr/>
              <a:t> comments</a:t>
            </a:r>
          </a:p>
          <a:p>
            <a:pPr lvl="0"/>
            <a:r>
              <a:rPr/>
              <a:t>Call </a:t>
            </a:r>
            <a:r>
              <a:rPr b="1"/>
              <a:t>functions</a:t>
            </a:r>
            <a:r>
              <a:rPr/>
              <a:t> and read their help with </a:t>
            </a:r>
            <a:r>
              <a:rPr>
                <a:latin typeface="Courier"/>
              </a:rPr>
              <a:t>?</a:t>
            </a:r>
          </a:p>
          <a:p>
            <a:pPr lvl="0"/>
            <a:r>
              <a:rPr/>
              <a:t>Build </a:t>
            </a:r>
            <a:r>
              <a:rPr b="1"/>
              <a:t>vectors</a:t>
            </a:r>
            <a:r>
              <a:rPr/>
              <a:t>, know their types</a:t>
            </a:r>
          </a:p>
          <a:p>
            <a:pPr lvl="0"/>
            <a:r>
              <a:rPr/>
              <a:t>Load Excel and CSV data with </a:t>
            </a:r>
            <a:r>
              <a:rPr>
                <a:latin typeface="Courier"/>
              </a:rPr>
              <a:t>read_excel()</a:t>
            </a:r>
            <a:r>
              <a:rPr/>
              <a:t> and </a:t>
            </a:r>
            <a:r>
              <a:rPr>
                <a:latin typeface="Courier"/>
              </a:rPr>
              <a:t>read_csv()</a:t>
            </a:r>
          </a:p>
          <a:p>
            <a:pPr lvl="0"/>
            <a:r>
              <a:rPr/>
              <a:t>Inspect a data frame with </a:t>
            </a:r>
            <a:r>
              <a:rPr>
                <a:latin typeface="Courier"/>
              </a:rPr>
              <a:t>glimpse()</a:t>
            </a:r>
            <a:r>
              <a:rPr/>
              <a:t>, </a:t>
            </a:r>
            <a:r>
              <a:rPr>
                <a:latin typeface="Courier"/>
              </a:rPr>
              <a:t>head()</a:t>
            </a:r>
            <a:r>
              <a:rPr/>
              <a:t>, </a:t>
            </a:r>
            <a:r>
              <a:rPr>
                <a:latin typeface="Courier"/>
              </a:rPr>
              <a:t>dim()</a:t>
            </a:r>
          </a:p>
          <a:p>
            <a:pPr lvl="0"/>
            <a:r>
              <a:rPr/>
              <a:t>Use the </a:t>
            </a:r>
            <a:r>
              <a:rPr b="1"/>
              <a:t>pipe</a:t>
            </a:r>
            <a:r>
              <a:rPr/>
              <a:t> </a:t>
            </a:r>
            <a:r>
              <a:rPr>
                <a:latin typeface="Courier"/>
              </a:rPr>
              <a:t>%&gt;%</a:t>
            </a:r>
            <a:r>
              <a:rPr/>
              <a:t> to chain steps</a:t>
            </a:r>
          </a:p>
          <a:p>
            <a:pPr lvl="0"/>
            <a:r>
              <a:rPr/>
              <a:t>Make and </a:t>
            </a:r>
            <a:r>
              <a:rPr b="1"/>
              <a:t>save</a:t>
            </a:r>
            <a:r>
              <a:rPr/>
              <a:t> a first </a:t>
            </a:r>
            <a:r>
              <a:rPr>
                <a:latin typeface="Courier"/>
              </a:rPr>
              <a:t>ggplot</a:t>
            </a:r>
            <a:r>
              <a:rPr/>
              <a:t> as a PNG</a:t>
            </a:r>
          </a:p>
          <a:p>
            <a:pPr lvl="0" indent="0" marL="1270000">
              <a:buNone/>
            </a:pPr>
            <a:r>
              <a:rPr sz="2000" b="1"/>
              <a:t>Tip</a:t>
            </a:r>
          </a:p>
          <a:p>
            <a:pPr lvl="0" indent="0" marL="1270000">
              <a:buNone/>
            </a:pPr>
            <a:r>
              <a:rPr sz="2000" b="1"/>
              <a:t>🖐 Before next class</a:t>
            </a:r>
          </a:p>
          <a:p>
            <a:pPr lvl="0" indent="0" marL="1270000">
              <a:buNone/>
            </a:pPr>
            <a:r>
              <a:rPr sz="2000"/>
              <a:t>Load </a:t>
            </a:r>
            <a:r>
              <a:rPr sz="2000">
                <a:latin typeface="Courier"/>
              </a:rPr>
              <a:t>tree_df</a:t>
            </a:r>
            <a:r>
              <a:rPr sz="2000"/>
              <a:t>, run </a:t>
            </a:r>
            <a:r>
              <a:rPr sz="2000">
                <a:latin typeface="Courier"/>
              </a:rPr>
              <a:t>glimpse()</a:t>
            </a:r>
            <a:r>
              <a:rPr sz="2000"/>
              <a:t>, and make one plot of </a:t>
            </a:r>
            <a:r>
              <a:rPr sz="2000">
                <a:latin typeface="Courier"/>
              </a:rPr>
              <a:t>petiole_mm</a:t>
            </a:r>
            <a:r>
              <a:rPr sz="2000"/>
              <a:t> by </a:t>
            </a:r>
            <a:r>
              <a:rPr sz="2000">
                <a:latin typeface="Courier"/>
              </a:rPr>
              <a:t>shade</a:t>
            </a:r>
            <a:r>
              <a:rPr sz="2000"/>
              <a:t>. Save it to </a:t>
            </a:r>
            <a:r>
              <a:rPr sz="2000">
                <a:latin typeface="Courier"/>
              </a:rPr>
              <a:t>figures/</a:t>
            </a:r>
            <a:r>
              <a:rPr sz="2000"/>
              <a:t>.</a:t>
            </a:r>
          </a:p>
        </p:txBody>
      </p:sp>
      <p:sp>
        <p:nvSpPr>
          <p:cNvPr id="4" name="Content Placeholder 3"/>
          <p:cNvSpPr>
            <a:spLocks noGrp="1"/>
          </p:cNvSpPr>
          <p:nvPr>
            <p:ph idx="2" sz="half"/>
          </p:nvPr>
        </p:nvSpPr>
        <p:spPr/>
        <p:txBody>
          <a:bodyPr/>
          <a:lstStyle/>
          <a:p>
            <a:pPr lvl="0" indent="0" marL="1270000">
              <a:buNone/>
            </a:pPr>
            <a:r>
              <a:rPr sz="2000" b="1"/>
              <a:t>Note</a:t>
            </a:r>
          </a:p>
          <a:p>
            <a:pPr lvl="0" indent="0" marL="1270000">
              <a:buNone/>
            </a:pPr>
            <a:r>
              <a:rPr sz="2000" b="1"/>
              <a:t>✅ Key idea</a:t>
            </a:r>
          </a:p>
          <a:p>
            <a:pPr lvl="0" indent="0" marL="1270000">
              <a:buNone/>
            </a:pPr>
            <a:r>
              <a:rPr sz="2000"/>
              <a:t>You went from a blank console to a saved figure of </a:t>
            </a:r>
            <a:r>
              <a:rPr sz="2000" b="1"/>
              <a:t>our</a:t>
            </a:r>
            <a:r>
              <a:rPr sz="2000"/>
              <a:t> data. That is the whole workflow in miniature.</a:t>
            </a:r>
          </a:p>
          <a:p>
            <a:pPr lvl="0" indent="0" marL="0">
              <a:buNone/>
            </a:pPr>
            <a:r>
              <a:rPr b="1"/>
              <a:t>Up next — Lecture 03 &amp; 04 (Week 2):</a:t>
            </a:r>
          </a:p>
          <a:p>
            <a:pPr lvl="0"/>
            <a:r>
              <a:rPr/>
              <a:t>Two lectures on </a:t>
            </a:r>
            <a:r>
              <a:rPr>
                <a:latin typeface="Courier"/>
              </a:rPr>
              <a:t>ggplot2</a:t>
            </a:r>
            <a:r>
              <a:rPr/>
              <a:t> in depth — </a:t>
            </a:r>
            <a:r>
              <a:rPr>
                <a:latin typeface="Courier"/>
              </a:rPr>
              <a:t>stat_summary()</a:t>
            </a:r>
            <a:r>
              <a:rPr/>
              <a:t>, </a:t>
            </a:r>
            <a:r>
              <a:rPr>
                <a:latin typeface="Courier"/>
              </a:rPr>
              <a:t>facet_wrap()</a:t>
            </a:r>
            <a:r>
              <a:rPr/>
              <a:t>/</a:t>
            </a:r>
            <a:r>
              <a:rPr>
                <a:latin typeface="Courier"/>
              </a:rPr>
              <a:t>facet_grid()</a:t>
            </a:r>
            <a:r>
              <a:rPr/>
              <a:t>, </a:t>
            </a:r>
            <a:r>
              <a:rPr>
                <a:latin typeface="Courier"/>
              </a:rPr>
              <a:t>scale_color_manual()</a:t>
            </a:r>
            <a:r>
              <a:rPr/>
              <a:t>, </a:t>
            </a:r>
            <a:r>
              <a:rPr>
                <a:latin typeface="Courier"/>
              </a:rPr>
              <a:t>coord_cartesian()</a:t>
            </a:r>
            <a:r>
              <a:rPr/>
              <a:t>, and themes</a:t>
            </a:r>
          </a:p>
          <a:p>
            <a:pPr lvl="0"/>
            <a:r>
              <a:rPr/>
              <a:t>We will keep using our own leaf data the whole time</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 ACTIVITY 2 starts now</a:t>
            </a:r>
          </a:p>
        </p:txBody>
      </p:sp>
      <p:sp>
        <p:nvSpPr>
          <p:cNvPr id="3" name="Content Placeholder 2"/>
          <p:cNvSpPr>
            <a:spLocks noGrp="1"/>
          </p:cNvSpPr>
          <p:nvPr>
            <p:ph idx="1"/>
          </p:nvPr>
        </p:nvSpPr>
        <p:spPr/>
        <p:txBody>
          <a:bodyPr/>
          <a:lstStyle/>
          <a:p>
            <a:pPr lvl="0" indent="0" marL="0">
              <a:buNone/>
            </a:pPr>
            <a:r>
              <a:rPr b="1"/>
              <a:t>🛑 Go to Activity 2 — “Introduction to R and Positron”</a:t>
            </a:r>
          </a:p>
          <a:p>
            <a:pPr lvl="0" indent="0" marL="0">
              <a:buNone/>
            </a:pPr>
            <a:r>
              <a:rPr/>
              <a:t>Open the </a:t>
            </a:r>
            <a:r>
              <a:rPr b="1"/>
              <a:t>Activity 2</a:t>
            </a:r>
            <a:r>
              <a:rPr/>
              <a:t> worksheet and work through it at your own pace, typing every code chunk into your own script in Positron. It repeats everything on these slides, in the same order, with blanks for you to fill in. Raise your hand if you get stuck — that is expected and normal.</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Suggested reading before Lecture 03</a:t>
            </a:r>
          </a:p>
        </p:txBody>
      </p:sp>
      <p:sp>
        <p:nvSpPr>
          <p:cNvPr id="3" name="Content Placeholder 2"/>
          <p:cNvSpPr>
            <a:spLocks noGrp="1"/>
          </p:cNvSpPr>
          <p:nvPr>
            <p:ph idx="1"/>
          </p:nvPr>
        </p:nvSpPr>
        <p:spPr/>
        <p:txBody>
          <a:bodyPr/>
          <a:lstStyle/>
          <a:p>
            <a:pPr lvl="0"/>
            <a:r>
              <a:rPr b="1"/>
              <a:t>R for Data Science (2e)</a:t>
            </a:r>
            <a:r>
              <a:rPr/>
              <a:t>, Ch. 1 — </a:t>
            </a:r>
            <a:r>
              <a:rPr i="1"/>
              <a:t>Data Visualization</a:t>
            </a:r>
            <a:r>
              <a:rPr/>
              <a:t> (read fully this time — you skimmed it before Lecture 02)</a:t>
            </a:r>
          </a:p>
          <a:p>
            <a:pPr lvl="0"/>
            <a:r>
              <a:rPr b="1"/>
              <a:t>R for Data Science (2e)</a:t>
            </a:r>
            <a:r>
              <a:rPr/>
              <a:t>, Ch. 6 — </a:t>
            </a:r>
            <a:r>
              <a:rPr i="1"/>
              <a:t>Workflow: scripts and projects</a:t>
            </a:r>
            <a:r>
              <a:rPr/>
              <a:t>, if you have not read it yet</a:t>
            </a:r>
          </a:p>
          <a:p>
            <a:pPr lvl="0"/>
            <a:r>
              <a:rPr b="1"/>
              <a:t>Whitlock &amp; Schluter</a:t>
            </a:r>
            <a:r>
              <a:rPr/>
              <a:t>, Ch. 2 — </a:t>
            </a:r>
            <a:r>
              <a:rPr i="1"/>
              <a:t>Displaying Data</a:t>
            </a:r>
          </a:p>
          <a:p>
            <a:pPr lvl="0" indent="0" marL="1270000">
              <a:buNone/>
            </a:pPr>
            <a:r>
              <a:rPr sz="2000" b="1"/>
              <a:t>Note</a:t>
            </a:r>
          </a:p>
          <a:p>
            <a:pPr lvl="0" indent="0" marL="1270000">
              <a:buNone/>
            </a:pPr>
            <a:r>
              <a:rPr sz="2000"/>
              <a:t>Both books are in the course </a:t>
            </a:r>
            <a:r>
              <a:rPr sz="2000">
                <a:latin typeface="Courier"/>
              </a:rPr>
              <a:t>readings/</a:t>
            </a:r>
            <a:r>
              <a:rPr sz="2000"/>
              <a:t> folder.</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1A1A2E"/>
          </a:solidFill>
        </p:spPr>
        <p:txBody>
          <a:bodyPr/>
          <a:lstStyle/>
          <a:p>
            <a:pPr lvl="0" indent="0" marL="0">
              <a:buNone/>
            </a:pPr>
            <a:r>
              <a:rPr/>
              <a:t>Getting unstuck</a:t>
            </a:r>
          </a:p>
        </p:txBody>
      </p:sp>
      <p:sp>
        <p:nvSpPr>
          <p:cNvPr id="3" name="Content Placeholder 2"/>
          <p:cNvSpPr>
            <a:spLocks noGrp="1"/>
          </p:cNvSpPr>
          <p:nvPr>
            <p:ph idx="1" sz="half"/>
          </p:nvPr>
        </p:nvSpPr>
        <p:spPr/>
        <p:txBody>
          <a:bodyPr/>
          <a:lstStyle/>
          <a:p>
            <a:pPr lvl="0" indent="0" marL="0">
              <a:buNone/>
            </a:pPr>
            <a:r>
              <a:rPr/>
              <a:t>When code breaks (it will — that is normal):</a:t>
            </a:r>
          </a:p>
          <a:p>
            <a:pPr lvl="0"/>
            <a:r>
              <a:rPr>
                <a:latin typeface="Courier"/>
              </a:rPr>
              <a:t>?function_name</a:t>
            </a:r>
            <a:r>
              <a:rPr/>
              <a:t> — the built-in help page</a:t>
            </a:r>
          </a:p>
          <a:p>
            <a:pPr lvl="0"/>
            <a:r>
              <a:rPr/>
              <a:t>Read the </a:t>
            </a:r>
            <a:r>
              <a:rPr b="1"/>
              <a:t>error message</a:t>
            </a:r>
            <a:r>
              <a:rPr/>
              <a:t> out loud; it usually names the line</a:t>
            </a:r>
          </a:p>
          <a:p>
            <a:pPr lvl="0"/>
            <a:r>
              <a:rPr/>
              <a:t>Check: did you load </a:t>
            </a:r>
            <a:r>
              <a:rPr>
                <a:latin typeface="Courier"/>
              </a:rPr>
              <a:t>library(tidyverse)</a:t>
            </a:r>
            <a:r>
              <a:rPr/>
              <a:t> and </a:t>
            </a:r>
            <a:r>
              <a:rPr>
                <a:latin typeface="Courier"/>
              </a:rPr>
              <a:t>library(readxl)</a:t>
            </a:r>
            <a:r>
              <a:rPr/>
              <a:t>?</a:t>
            </a:r>
          </a:p>
          <a:p>
            <a:pPr lvl="0"/>
            <a:r>
              <a:rPr/>
              <a:t>Check: spelling? A missing </a:t>
            </a:r>
            <a:r>
              <a:rPr>
                <a:latin typeface="Courier"/>
              </a:rPr>
              <a:t>)</a:t>
            </a:r>
            <a:r>
              <a:rPr/>
              <a:t> or </a:t>
            </a:r>
            <a:r>
              <a:rPr>
                <a:latin typeface="Courier"/>
              </a:rPr>
              <a:t>+</a:t>
            </a:r>
            <a:r>
              <a:rPr/>
              <a:t>?</a:t>
            </a:r>
          </a:p>
          <a:p>
            <a:pPr lvl="0"/>
            <a:r>
              <a:rPr/>
              <a:t>The </a:t>
            </a:r>
            <a:r>
              <a:rPr b="1"/>
              <a:t>posit/tidyverse cheatsheets</a:t>
            </a:r>
            <a:r>
              <a:rPr/>
              <a:t> are excellent: </a:t>
            </a:r>
            <a:r>
              <a:rPr>
                <a:hlinkClick r:id="rId2"/>
              </a:rPr>
              <a:t>posit.co/resources/cheatsheets</a:t>
            </a:r>
          </a:p>
          <a:p>
            <a:pPr lvl="0"/>
            <a:r>
              <a:rPr/>
              <a:t>Bring the exact error (copy-paste it) to class or office hours</a:t>
            </a:r>
          </a:p>
          <a:p>
            <a:pPr lvl="0" indent="0" marL="1270000">
              <a:buNone/>
            </a:pPr>
            <a:r>
              <a:rPr sz="2000" b="1"/>
              <a:t>Note</a:t>
            </a:r>
          </a:p>
          <a:p>
            <a:pPr lvl="0" indent="0" marL="1270000">
              <a:buNone/>
            </a:pPr>
            <a:r>
              <a:rPr sz="2000" b="1"/>
              <a:t>✅ Key idea</a:t>
            </a:r>
          </a:p>
          <a:p>
            <a:pPr lvl="0" indent="0" marL="1270000">
              <a:buNone/>
            </a:pPr>
            <a:r>
              <a:rPr sz="2000"/>
              <a:t>Every coder googles error messages daily. Getting stuck is not failing — it is the job. Your job is to learn, and learning means breaking things and figuring out why.</a:t>
            </a:r>
          </a:p>
        </p:txBody>
      </p:sp>
      <p:sp>
        <p:nvSpPr>
          <p:cNvPr id="4" name="Content Placeholder 3"/>
          <p:cNvSpPr>
            <a:spLocks noGrp="1"/>
          </p:cNvSpPr>
          <p:nvPr>
            <p:ph idx="2" sz="half"/>
          </p:nvPr>
        </p:nvSpPr>
        <p:spPr/>
        <p:txBody>
          <a:bodyPr/>
          <a:lstStyle/>
          <a:p>
            <a:pPr lvl="0" indent="0" marL="1270000">
              <a:buNone/>
            </a:pPr>
            <a:r>
              <a:rPr sz="2000" b="1"/>
              <a:t>Note</a:t>
            </a:r>
          </a:p>
          <a:p>
            <a:pPr lvl="0" indent="0" marL="1270000">
              <a:buNone/>
            </a:pPr>
            <a:r>
              <a:rPr sz="2000" b="1"/>
              <a:t>📊 Coming from Excel?</a:t>
            </a:r>
          </a:p>
          <a:p>
            <a:pPr lvl="0" indent="0" marL="1270000">
              <a:buNone/>
            </a:pPr>
            <a:r>
              <a:rPr sz="2000"/>
              <a:t>In Excel you fix errors by clicking around. In R you fix them by </a:t>
            </a:r>
            <a:r>
              <a:rPr sz="2000" b="1"/>
              <a:t>reading the message</a:t>
            </a:r>
            <a:r>
              <a:rPr sz="2000"/>
              <a:t> and editing one line. Slower at first, far more powerful soon.</a:t>
            </a:r>
          </a:p>
        </p:txBody>
      </p:sp>
    </p:spTree>
  </p:cSld>
</p:sld>
</file>

<file path=ppt/theme/theme1.xml><?xml version="1.0" encoding="utf-8"?>
<a:theme xmlns:a="http://schemas.openxmlformats.org/drawingml/2006/main" name="UMD Biostatistics">
  <a:themeElements>
    <a:clrScheme name="UMD">
      <a:dk1>
        <a:sysClr val="windowText" lastClr="000000"/>
      </a:dk1>
      <a:lt1>
        <a:sysClr val="window" lastClr="FFFFFF"/>
      </a:lt1>
      <a:dk2>
        <a:srgbClr val="4A4A4A"/>
      </a:dk2>
      <a:lt2>
        <a:srgbClr val="F0F4F8"/>
      </a:lt2>
      <a:accent1>
        <a:srgbClr val="F4CD54"/>
      </a:accent1>
      <a:accent2>
        <a:srgbClr val="002147"/>
      </a:accent2>
      <a:accent3>
        <a:srgbClr val="0072B2"/>
      </a:accent3>
      <a:accent4>
        <a:srgbClr val="009E73"/>
      </a:accent4>
      <a:accent5>
        <a:srgbClr val="E69F00"/>
      </a:accent5>
      <a:accent6>
        <a:srgbClr val="56B4E9"/>
      </a:accent6>
      <a:hlink>
        <a:srgbClr val="0563C1"/>
      </a:hlink>
      <a:folHlink>
        <a:srgbClr val="1A1A2E"/>
      </a:folHlink>
    </a:clrScheme>
    <a:fontScheme name="UMD">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UMD">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TotalTime>
  <Words>46</Words>
  <Application>Microsoft Macintosh PowerPoint</Application>
  <PresentationFormat>On-screen Show (16:9)</PresentationFormat>
  <Paragraphs>14</Paragraphs>
  <Slides>4</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Calibri</vt:lpstr>
      <vt:lpstr>Cambria</vt:lpstr>
      <vt:lpstr>UMD Biostatistics</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02 — Introduction to R and Positron</dc:title>
  <dc:creator>Bill Perry</dc:creator>
  <cp:keywords/>
  <dc:description>How we make projects that are repeatable and organize the chaos into structure and how to use R and Positron.</dc:description>
  <dcterms:created xsi:type="dcterms:W3CDTF">2026-10-19T16:10:38Z</dcterms:created>
  <dcterms:modified xsi:type="dcterms:W3CDTF">2026-10-19T16:10:38Z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date">
    <vt:lpwstr>2026-10-19</vt:lpwstr>
  </property>
  <property fmtid="{D5CDD505-2E9C-101B-9397-08002B2CF9AE}" pid="6" name="execute">
    <vt:lpwstr/>
  </property>
  <property fmtid="{D5CDD505-2E9C-101B-9397-08002B2CF9AE}" pid="7" name="header-includes">
    <vt:lpwstr/>
  </property>
  <property fmtid="{D5CDD505-2E9C-101B-9397-08002B2CF9AE}" pid="8" name="include-after">
    <vt:lpwstr/>
  </property>
  <property fmtid="{D5CDD505-2E9C-101B-9397-08002B2CF9AE}" pid="9" name="include-before">
    <vt:lpwstr/>
  </property>
  <property fmtid="{D5CDD505-2E9C-101B-9397-08002B2CF9AE}" pid="10" name="labels">
    <vt:lpwstr/>
  </property>
  <property fmtid="{D5CDD505-2E9C-101B-9397-08002B2CF9AE}" pid="11" name="order">
    <vt:lpwstr>2</vt:lpwstr>
  </property>
  <property fmtid="{D5CDD505-2E9C-101B-9397-08002B2CF9AE}" pid="12" name="resources">
    <vt:lpwstr/>
  </property>
  <property fmtid="{D5CDD505-2E9C-101B-9397-08002B2CF9AE}" pid="13" name="subtitle">
    <vt:lpwstr>R, Positron and Projects</vt:lpwstr>
  </property>
  <property fmtid="{D5CDD505-2E9C-101B-9397-08002B2CF9AE}" pid="14" name="toc-title">
    <vt:lpwstr>Table of contents</vt:lpwstr>
  </property>
  <property fmtid="{D5CDD505-2E9C-101B-9397-08002B2CF9AE}" pid="15" name="type">
    <vt:lpwstr>lecture</vt:lpwstr>
  </property>
  <property fmtid="{D5CDD505-2E9C-101B-9397-08002B2CF9AE}" pid="16" name="week">
    <vt:lpwstr>1</vt:lpwstr>
  </property>
</Properties>
</file>