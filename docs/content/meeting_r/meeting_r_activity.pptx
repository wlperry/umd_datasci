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4" Type="http://schemas.openxmlformats.org/officeDocument/2006/relationships/viewProps" Target="viewProps.xml" /><Relationship Id="rId3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6" Type="http://schemas.openxmlformats.org/officeDocument/2006/relationships/tableStyles" Target="tableStyles.xml" /><Relationship Id="rId3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hyperlink" Target="https://cran.r-project.org/" TargetMode="External" /><Relationship Id="rId3" Type="http://schemas.openxmlformats.org/officeDocument/2006/relationships/hyperlink" Target="https://positron.posit.co/download.html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posit.co/resources/cheatsheets/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Meeting R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From the console to your first plot with the tree leaf data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2026-07-05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Meeting 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Recap from Activity 1</a:t>
            </a:r>
          </a:p>
          <a:p>
            <a:pPr lvl="0"/>
            <a:r>
              <a:rPr/>
              <a:t>Collected leaf samples from </a:t>
            </a:r>
            <a:r>
              <a:rPr b="1"/>
              <a:t>sunny and shady sides</a:t>
            </a:r>
            <a:r>
              <a:rPr/>
              <a:t> of trees</a:t>
            </a:r>
          </a:p>
          <a:p>
            <a:pPr lvl="0"/>
            <a:r>
              <a:rPr/>
              <a:t>Identified the independent variable (side of tree) and dependent variables (leaf mass, dimensions)</a:t>
            </a:r>
          </a:p>
          <a:p>
            <a:pPr lvl="0"/>
            <a:r>
              <a:rPr/>
              <a:t>Measured and recorded leaf weight, width, and height in a spreadsheet</a:t>
            </a:r>
          </a:p>
          <a:p>
            <a:pPr lvl="0"/>
            <a:r>
              <a:rPr/>
              <a:t>Agreed on column names, units, and metadata conventions</a:t>
            </a:r>
          </a:p>
          <a:p>
            <a:pPr lvl="0"/>
            <a:r>
              <a:rPr b="1"/>
              <a:t>Finding:</a:t>
            </a:r>
            <a:r>
              <a:rPr/>
              <a:t> shady leaves appeared larger — today we start exploring this in R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Today’s Objectives</a:t>
            </a:r>
          </a:p>
          <a:p>
            <a:pPr lvl="0" indent="-342900" marL="342900">
              <a:buAutoNum type="arabicPeriod"/>
            </a:pPr>
            <a:r>
              <a:rPr/>
              <a:t>Get R and Positron installed and oriented</a:t>
            </a:r>
          </a:p>
          <a:p>
            <a:pPr lvl="0" indent="-342900" marL="342900">
              <a:buAutoNum type="arabicPeriod"/>
            </a:pPr>
            <a:r>
              <a:rPr/>
              <a:t>Organize a project folder the right way — </a:t>
            </a:r>
            <a:r>
              <a:rPr>
                <a:latin typeface="Courier"/>
              </a:rPr>
              <a:t>data/</a:t>
            </a:r>
            <a:r>
              <a:rPr/>
              <a:t>, </a:t>
            </a:r>
            <a:r>
              <a:rPr>
                <a:latin typeface="Courier"/>
              </a:rPr>
              <a:t>scripts/</a:t>
            </a:r>
            <a:r>
              <a:rPr/>
              <a:t>, </a:t>
            </a:r>
            <a:r>
              <a:rPr>
                <a:latin typeface="Courier"/>
              </a:rPr>
              <a:t>figures/</a:t>
            </a:r>
          </a:p>
          <a:p>
            <a:pPr lvl="0" indent="-342900" marL="342900">
              <a:buAutoNum type="arabicPeriod"/>
            </a:pPr>
            <a:r>
              <a:rPr/>
              <a:t>Use R as a calculator and store values with </a:t>
            </a:r>
            <a:r>
              <a:rPr>
                <a:latin typeface="Courier"/>
              </a:rPr>
              <a:t>&lt;-</a:t>
            </a:r>
          </a:p>
          <a:p>
            <a:pPr lvl="0" indent="-342900" marL="342900">
              <a:buAutoNum type="arabicPeriod"/>
            </a:pPr>
            <a:r>
              <a:rPr/>
              <a:t>Write and run a script with </a:t>
            </a:r>
            <a:r>
              <a:rPr>
                <a:latin typeface="Courier"/>
              </a:rPr>
              <a:t>#</a:t>
            </a:r>
            <a:r>
              <a:rPr/>
              <a:t> comments</a:t>
            </a:r>
          </a:p>
          <a:p>
            <a:pPr lvl="0" indent="-342900" marL="342900">
              <a:buAutoNum type="arabicPeriod"/>
            </a:pPr>
            <a:r>
              <a:rPr/>
              <a:t>Call functions, build vectors, understand data types</a:t>
            </a:r>
          </a:p>
          <a:p>
            <a:pPr lvl="0" indent="-342900" marL="342900">
              <a:buAutoNum type="arabicPeriod"/>
            </a:pPr>
            <a:r>
              <a:rPr/>
              <a:t>Load our leaf data from Excel with </a:t>
            </a:r>
            <a:r>
              <a:rPr>
                <a:latin typeface="Courier"/>
              </a:rPr>
              <a:t>read_excel()</a:t>
            </a:r>
            <a:r>
              <a:rPr/>
              <a:t> and from CSV with </a:t>
            </a:r>
            <a:r>
              <a:rPr>
                <a:latin typeface="Courier"/>
              </a:rPr>
              <a:t>read_csv()</a:t>
            </a:r>
          </a:p>
          <a:p>
            <a:pPr lvl="0" indent="-342900" marL="342900">
              <a:buAutoNum type="arabicPeriod"/>
            </a:pPr>
            <a:r>
              <a:rPr/>
              <a:t>Inspect a data frame with </a:t>
            </a:r>
            <a:r>
              <a:rPr>
                <a:latin typeface="Courier"/>
              </a:rPr>
              <a:t>head()</a:t>
            </a:r>
            <a:r>
              <a:rPr/>
              <a:t>, </a:t>
            </a:r>
            <a:r>
              <a:rPr>
                <a:latin typeface="Courier"/>
              </a:rPr>
              <a:t>glimpse()</a:t>
            </a:r>
            <a:r>
              <a:rPr/>
              <a:t>, and </a:t>
            </a:r>
            <a:r>
              <a:rPr>
                <a:latin typeface="Courier"/>
              </a:rPr>
              <a:t>dim()</a:t>
            </a:r>
          </a:p>
          <a:p>
            <a:pPr lvl="0" indent="-342900" marL="342900">
              <a:buAutoNum type="arabicPeriod"/>
            </a:pPr>
            <a:r>
              <a:rPr/>
              <a:t>Use the pipe </a:t>
            </a:r>
            <a:r>
              <a:rPr>
                <a:latin typeface="Courier"/>
              </a:rPr>
              <a:t>%&gt;%</a:t>
            </a:r>
            <a:r>
              <a:rPr/>
              <a:t> to chain steps</a:t>
            </a:r>
          </a:p>
          <a:p>
            <a:pPr lvl="0" indent="-342900" marL="342900">
              <a:buAutoNum type="arabicPeriod"/>
            </a:pPr>
            <a:r>
              <a:rPr/>
              <a:t>Make and save a first </a:t>
            </a:r>
            <a:r>
              <a:rPr>
                <a:latin typeface="Courier"/>
              </a:rPr>
              <a:t>ggplot</a:t>
            </a:r>
            <a:r>
              <a:rPr/>
              <a:t> figure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sz="2000" b="1"/>
              <a:t>How to use this worksheet</a:t>
            </a:r>
          </a:p>
          <a:p>
            <a:pPr lvl="0" indent="0" marL="1270000">
              <a:buNone/>
            </a:pPr>
            <a:r>
              <a:rPr sz="2000"/>
              <a:t>Work through each section at your own pace. Type the code into your script file in Positron and run it line by line. Code blocks marked </a:t>
            </a:r>
            <a:r>
              <a:rPr sz="2000" b="1"/>
              <a:t>▶ Run this</a:t>
            </a:r>
            <a:r>
              <a:rPr sz="2000"/>
              <a:t> are the ones you should execute. Blocks marked </a:t>
            </a:r>
            <a:r>
              <a:rPr sz="2000" b="1"/>
              <a:t>✏️ Your turn</a:t>
            </a:r>
            <a:r>
              <a:rPr sz="2000"/>
              <a:t> ask you to write or modify something. The </a:t>
            </a:r>
            <a:r>
              <a:rPr sz="2000" b="1"/>
              <a:t>Going further</a:t>
            </a:r>
            <a:r>
              <a:rPr sz="2000"/>
              <a:t> section is optional — work through it if you finish early.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 · Set up R and Positron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Download and install — in this order</a:t>
            </a:r>
          </a:p>
          <a:p>
            <a:pPr lvl="0" indent="-342900" marL="342900">
              <a:buAutoNum type="arabicPeriod"/>
            </a:pPr>
            <a:r>
              <a:rPr b="1"/>
              <a:t>R</a:t>
            </a:r>
            <a:r>
              <a:rPr/>
              <a:t> (the engine) — </a:t>
            </a:r>
            <a:r>
              <a:rPr>
                <a:hlinkClick r:id="rId2"/>
              </a:rPr>
              <a:t>https://cran.r-project.org/</a:t>
            </a:r>
          </a:p>
          <a:p>
            <a:pPr lvl="1"/>
            <a:r>
              <a:rPr/>
              <a:t>Choose your operating system, run the installer, accept all defaults</a:t>
            </a:r>
          </a:p>
          <a:p>
            <a:pPr lvl="0" indent="-342900" marL="342900">
              <a:buAutoNum type="arabicPeriod"/>
            </a:pPr>
            <a:r>
              <a:rPr b="1"/>
              <a:t>Positron</a:t>
            </a:r>
            <a:r>
              <a:rPr/>
              <a:t> (the editor) — </a:t>
            </a:r>
            <a:r>
              <a:rPr>
                <a:hlinkClick r:id="rId3"/>
              </a:rPr>
              <a:t>https://positron.posit.co/download.html</a:t>
            </a:r>
          </a:p>
          <a:p>
            <a:pPr lvl="1"/>
            <a:r>
              <a:rPr/>
              <a:t>Install </a:t>
            </a:r>
            <a:r>
              <a:rPr b="1"/>
              <a:t>after</a:t>
            </a:r>
            <a:r>
              <a:rPr/>
              <a:t> R — Positron needs to find R already on your machine</a:t>
            </a:r>
          </a:p>
          <a:p>
            <a:pPr lvl="1"/>
            <a:r>
              <a:rPr/>
              <a:t>Open Positron and verify it finds R (check the bottom status bar)</a:t>
            </a:r>
          </a:p>
          <a:p>
            <a:pPr lvl="0" indent="0" marL="1270000">
              <a:buNone/>
            </a:pPr>
            <a:r>
              <a:rPr sz="2000"/>
              <a:t>⚠️ </a:t>
            </a:r>
            <a:r>
              <a:rPr sz="2000" b="1"/>
              <a:t>Watch out!</a:t>
            </a:r>
            <a:r>
              <a:rPr sz="2000"/>
              <a:t> Install R </a:t>
            </a:r>
            <a:r>
              <a:rPr sz="2000" i="1"/>
              <a:t>first</a:t>
            </a:r>
            <a:r>
              <a:rPr sz="2000"/>
              <a:t>, then Positron. If you installed them in the wrong order, reinstall R and then restart Positron.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Orient yourself in Positron</a:t>
            </a:r>
          </a:p>
          <a:p>
            <a:pPr lvl="0" indent="0" marL="0">
              <a:buNone/>
            </a:pPr>
            <a:r>
              <a:rPr/>
              <a:t>Four panes you will use constantly: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2819400"/>
          <a:ext cx="8750300" cy="19431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59100"/>
                <a:gridCol w="1536700"/>
                <a:gridCol w="42545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Pane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Where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 it does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Editor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Top-left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Your scripts live here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Console / Terminal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Bottom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Where code runs and results appear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Variables / Session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Right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Every object you have stored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Plots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Right (tab)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Your figures appear here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Click the </a:t>
            </a:r>
            <a:r>
              <a:rPr b="1"/>
              <a:t>Console</a:t>
            </a:r>
            <a:r>
              <a:rPr/>
              <a:t> tab. Type </a:t>
            </a:r>
            <a:r>
              <a:rPr>
                <a:latin typeface="Courier"/>
              </a:rPr>
              <a:t>1 + 1</a:t>
            </a:r>
            <a:r>
              <a:rPr/>
              <a:t> and press Enter. What did R return?</a:t>
            </a:r>
          </a:p>
          <a:p>
            <a:pPr lvl="0" indent="0">
              <a:buNone/>
            </a:pPr>
            <a:r>
              <a:rPr>
                <a:latin typeface="Courier"/>
              </a:rPr>
              <a:t>Your answer: 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2 · Build your project folder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Why a project folder?</a:t>
            </a:r>
          </a:p>
          <a:p>
            <a:pPr lvl="0" indent="0" marL="0">
              <a:buNone/>
            </a:pPr>
            <a:r>
              <a:rPr/>
              <a:t>In R we keep everything for one project together in one folder. Every file path is then </a:t>
            </a:r>
            <a:r>
              <a:rPr i="1"/>
              <a:t>relative</a:t>
            </a:r>
            <a:r>
              <a:rPr/>
              <a:t> to that folder — no more </a:t>
            </a:r>
            <a:r>
              <a:rPr>
                <a:latin typeface="Courier"/>
              </a:rPr>
              <a:t>C:/Users/myname/Desktop/random_stuff/final_FINAL2.xlsx</a:t>
            </a:r>
            <a:r>
              <a:rPr/>
              <a:t> nightmares.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Create the folder structure</a:t>
            </a:r>
          </a:p>
          <a:p>
            <a:pPr lvl="0" indent="0" marL="0">
              <a:buNone/>
            </a:pPr>
            <a:r>
              <a:rPr/>
              <a:t>On your computer, make a new folder called </a:t>
            </a:r>
            <a:r>
              <a:rPr>
                <a:latin typeface="Courier"/>
              </a:rPr>
              <a:t>tree_project</a:t>
            </a:r>
            <a:r>
              <a:rPr/>
              <a:t>. Inside it, create these three sub-folders:</a:t>
            </a:r>
          </a:p>
          <a:p>
            <a:pPr lvl="0" indent="0">
              <a:buNone/>
            </a:pPr>
            <a:r>
              <a:rPr>
                <a:latin typeface="Courier"/>
              </a:rPr>
              <a:t>tree_project/
├── data/        ← your Excel and CSV files go here
├── scripts/     ← your .R code goes here
└── figures/     ← plots you save go here</a:t>
            </a:r>
          </a:p>
          <a:p>
            <a:pPr lvl="0" indent="0" marL="1270000">
              <a:buNone/>
            </a:pPr>
            <a:r>
              <a:rPr sz="2000"/>
              <a:t>💡 </a:t>
            </a:r>
            <a:r>
              <a:rPr sz="2000" b="1"/>
              <a:t>Coming from Excel?</a:t>
            </a:r>
            <a:r>
              <a:rPr sz="2000"/>
              <a:t> In Excel you tend to keep one giant workbook. In R we keep raw data untouched and write </a:t>
            </a:r>
            <a:r>
              <a:rPr sz="2000" i="1"/>
              <a:t>new</a:t>
            </a:r>
            <a:r>
              <a:rPr sz="2000"/>
              <a:t> processed files — so you can always trace your steps and never overwrite your original numbers.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Open the folder as your workspace in Positron</a:t>
            </a:r>
          </a:p>
          <a:p>
            <a:pPr lvl="0" indent="0" marL="0">
              <a:buNone/>
            </a:pPr>
            <a:r>
              <a:rPr/>
              <a:t>In Positron: </a:t>
            </a:r>
            <a:r>
              <a:rPr b="1"/>
              <a:t>File → Open Folder…</a:t>
            </a:r>
            <a:r>
              <a:rPr/>
              <a:t> and pick your </a:t>
            </a:r>
            <a:r>
              <a:rPr>
                <a:latin typeface="Courier"/>
              </a:rPr>
              <a:t>tree_project</a:t>
            </a:r>
            <a:r>
              <a:rPr/>
              <a:t> folder.</a:t>
            </a:r>
          </a:p>
          <a:p>
            <a:pPr lvl="0" indent="0" marL="0">
              <a:buNone/>
            </a:pPr>
            <a:r>
              <a:rPr/>
              <a:t>You should see </a:t>
            </a:r>
            <a:r>
              <a:rPr>
                <a:latin typeface="Courier"/>
              </a:rPr>
              <a:t>tree_project</a:t>
            </a:r>
            <a:r>
              <a:rPr/>
              <a:t> appear in the Explorer panel on the left.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What is the full path to your </a:t>
            </a:r>
            <a:r>
              <a:rPr>
                <a:latin typeface="Courier"/>
              </a:rPr>
              <a:t>tree_project</a:t>
            </a:r>
            <a:r>
              <a:rPr/>
              <a:t> folder on your computer?</a:t>
            </a:r>
          </a:p>
          <a:p>
            <a:pPr lvl="0" indent="0">
              <a:buNone/>
            </a:pPr>
            <a:r>
              <a:rPr>
                <a:latin typeface="Courier"/>
              </a:rPr>
              <a:t>Your answer: 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Copy the data file</a:t>
            </a:r>
          </a:p>
          <a:p>
            <a:pPr lvl="0" indent="0" marL="0">
              <a:buNone/>
            </a:pPr>
            <a:r>
              <a:rPr/>
              <a:t>Copy </a:t>
            </a:r>
            <a:r>
              <a:rPr>
                <a:latin typeface="Courier"/>
              </a:rPr>
              <a:t>2026_06_25_tree_experiment_raw_data.xlsx</a:t>
            </a:r>
            <a:r>
              <a:rPr/>
              <a:t> into </a:t>
            </a:r>
            <a:r>
              <a:rPr>
                <a:latin typeface="Courier"/>
              </a:rPr>
              <a:t>tree_project/data/</a:t>
            </a:r>
            <a:r>
              <a:rPr/>
              <a:t>.</a:t>
            </a:r>
          </a:p>
          <a:p>
            <a:pPr lvl="0" indent="0" marL="1270000">
              <a:buNone/>
            </a:pPr>
            <a:r>
              <a:rPr sz="2000"/>
              <a:t>⚠️ </a:t>
            </a:r>
            <a:r>
              <a:rPr sz="2000" b="1"/>
              <a:t>Important:</a:t>
            </a:r>
            <a:r>
              <a:rPr sz="2000"/>
              <a:t> Leave this copy alone — it is your raw data. We will read it but never overwrite it.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Create your first script</a:t>
            </a:r>
          </a:p>
          <a:p>
            <a:pPr lvl="0"/>
            <a:r>
              <a:rPr/>
              <a:t>In Positron:</a:t>
            </a:r>
          </a:p>
          <a:p>
            <a:pPr lvl="1"/>
            <a:r>
              <a:rPr b="1"/>
              <a:t>File → New File → R File</a:t>
            </a:r>
            <a:r>
              <a:rPr/>
              <a:t>.</a:t>
            </a:r>
          </a:p>
          <a:p>
            <a:pPr lvl="1"/>
            <a:r>
              <a:rPr/>
              <a:t>Save it immediately with </a:t>
            </a:r>
            <a:r>
              <a:rPr b="1"/>
              <a:t>Ctrl/Cmd + S</a:t>
            </a:r>
            <a:r>
              <a:rPr/>
              <a:t>, name it </a:t>
            </a:r>
            <a:r>
              <a:rPr>
                <a:latin typeface="Courier"/>
              </a:rPr>
              <a:t>02_tree_analysis.R</a:t>
            </a:r>
            <a:r>
              <a:rPr/>
              <a:t>,</a:t>
            </a:r>
          </a:p>
          <a:p>
            <a:pPr lvl="1"/>
            <a:r>
              <a:rPr/>
              <a:t>and save it inside </a:t>
            </a:r>
            <a:r>
              <a:rPr>
                <a:latin typeface="Courier"/>
              </a:rPr>
              <a:t>tree_project/scripts/</a:t>
            </a:r>
            <a:r>
              <a:rPr/>
              <a:t>.</a:t>
            </a:r>
          </a:p>
          <a:p>
            <a:pPr lvl="0" indent="0" marL="1270000">
              <a:buNone/>
            </a:pPr>
            <a:r>
              <a:rPr sz="2000"/>
              <a:t>💡 </a:t>
            </a:r>
            <a:r>
              <a:rPr sz="2000" b="1"/>
              <a:t>Key idea:</a:t>
            </a:r>
            <a:r>
              <a:rPr sz="2000"/>
              <a:t> Console = scratch paper. Script = the lab notebook you keep.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What is your script named?</a:t>
            </a:r>
          </a:p>
          <a:p>
            <a:pPr lvl="0" indent="0">
              <a:buNone/>
            </a:pPr>
            <a:r>
              <a:rPr>
                <a:latin typeface="Courier"/>
              </a:rPr>
              <a:t>Your answer: 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3 · How R 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 as a calculator</a:t>
            </a:r>
          </a:p>
          <a:p>
            <a:pPr lvl="0" indent="0" marL="0">
              <a:buNone/>
            </a:pPr>
            <a:r>
              <a:rPr/>
              <a:t>Type each line below into your </a:t>
            </a:r>
            <a:r>
              <a:rPr b="1"/>
              <a:t>Console</a:t>
            </a:r>
            <a:r>
              <a:rPr/>
              <a:t> (not the script yet) and press Enter after each one.</a:t>
            </a:r>
          </a:p>
          <a:p>
            <a:pPr lvl="0" indent="0" marL="0">
              <a:buNone/>
            </a:pPr>
            <a:r>
              <a:rPr b="1"/>
              <a:t>▶ Run this in the Console:</a:t>
            </a:r>
          </a:p>
          <a:p>
            <a:pPr lvl="0" indent="0">
              <a:buNone/>
            </a:pP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br/>
            <a:r>
              <a:rPr>
                <a:solidFill>
                  <a:srgbClr val="AD0000"/>
                </a:solidFill>
                <a:latin typeface="Courier"/>
              </a:rPr>
              <a:t>12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7</a:t>
            </a:r>
            <a:br/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^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144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1270000">
              <a:buNone/>
            </a:pPr>
            <a:r>
              <a:rPr sz="2000"/>
              <a:t>⚠️ </a:t>
            </a:r>
            <a:r>
              <a:rPr sz="2000" b="1"/>
              <a:t>Watch out!</a:t>
            </a:r>
            <a:r>
              <a:rPr sz="2000"/>
              <a:t> If you see a </a:t>
            </a:r>
            <a:r>
              <a:rPr sz="2000">
                <a:latin typeface="Courier"/>
              </a:rPr>
              <a:t>+</a:t>
            </a:r>
            <a:r>
              <a:rPr sz="2000"/>
              <a:t> at the </a:t>
            </a:r>
            <a:r>
              <a:rPr sz="2000" i="1"/>
              <a:t>start</a:t>
            </a:r>
            <a:r>
              <a:rPr sz="2000"/>
              <a:t> of a console line instead of the </a:t>
            </a:r>
            <a:r>
              <a:rPr sz="2000">
                <a:latin typeface="Courier"/>
              </a:rPr>
              <a:t>&gt;</a:t>
            </a:r>
            <a:r>
              <a:rPr sz="2000"/>
              <a:t> prompt, R is waiting for you to finish a command. Press </a:t>
            </a:r>
            <a:r>
              <a:rPr sz="2000" b="1"/>
              <a:t>Esc</a:t>
            </a:r>
            <a:r>
              <a:rPr sz="2000"/>
              <a:t> to cancel and start over.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What does </a:t>
            </a:r>
            <a:r>
              <a:rPr>
                <a:latin typeface="Courier"/>
              </a:rPr>
              <a:t>2 ^ 10</a:t>
            </a:r>
            <a:r>
              <a:rPr/>
              <a:t> return? What does the </a:t>
            </a:r>
            <a:r>
              <a:rPr>
                <a:latin typeface="Courier"/>
              </a:rPr>
              <a:t>^</a:t>
            </a:r>
            <a:r>
              <a:rPr/>
              <a:t> operator do?</a:t>
            </a:r>
          </a:p>
          <a:p>
            <a:pPr lvl="0" indent="0">
              <a:buNone/>
            </a:pPr>
            <a:r>
              <a:rPr>
                <a:latin typeface="Courier"/>
              </a:rPr>
              <a:t>Your answer: 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Storing values with </a:t>
            </a:r>
            <a:r>
              <a:rPr b="1">
                <a:latin typeface="Courier"/>
              </a:rPr>
              <a:t>&lt;-</a:t>
            </a:r>
          </a:p>
          <a:p>
            <a:pPr lvl="0" indent="0" marL="0">
              <a:buNone/>
            </a:pPr>
            <a:r>
              <a:rPr/>
              <a:t>To keep a value, give it a </a:t>
            </a:r>
            <a:r>
              <a:rPr b="1"/>
              <a:t>name</a:t>
            </a:r>
            <a:r>
              <a:rPr/>
              <a:t> using the assignment operator </a:t>
            </a:r>
            <a:r>
              <a:rPr>
                <a:latin typeface="Courier"/>
              </a:rPr>
              <a:t>&lt;-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Shortcut: </a:t>
            </a:r>
            <a:r>
              <a:rPr b="1"/>
              <a:t>Alt + −</a:t>
            </a:r>
            <a:r>
              <a:rPr/>
              <a:t> (Windows) or </a:t>
            </a:r>
            <a:r>
              <a:rPr b="1"/>
              <a:t>Option + −</a:t>
            </a:r>
            <a:r>
              <a:rPr/>
              <a:t> (Mac) types </a:t>
            </a:r>
            <a:r>
              <a:rPr>
                <a:latin typeface="Courier"/>
              </a:rPr>
              <a:t>&lt;-</a:t>
            </a:r>
            <a:r>
              <a:rPr/>
              <a:t> for you.</a:t>
            </a:r>
          </a:p>
          <a:p>
            <a:pPr lvl="0" indent="0" marL="0">
              <a:buNone/>
            </a:pPr>
            <a:r>
              <a:rPr b="1"/>
              <a:t>▶ Run this in the Console: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x &lt;- </a:t>
            </a:r>
            <a:r>
              <a:rPr>
                <a:solidFill>
                  <a:srgbClr val="AD0000"/>
                </a:solidFill>
                <a:latin typeface="Courier"/>
              </a:rPr>
              <a:t>7</a:t>
            </a:r>
            <a:r>
              <a:rPr>
                <a:solidFill>
                  <a:srgbClr val="003B4F"/>
                </a:solidFill>
                <a:latin typeface="Courier"/>
              </a:rPr>
              <a:t>          </a:t>
            </a:r>
            <a:r>
              <a:rPr>
                <a:solidFill>
                  <a:srgbClr val="5E5E5E"/>
                </a:solidFill>
                <a:latin typeface="Courier"/>
              </a:rPr>
              <a:t># store 7 under the name x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               </a:t>
            </a:r>
            <a:r>
              <a:rPr>
                <a:solidFill>
                  <a:srgbClr val="5E5E5E"/>
                </a:solidFill>
                <a:latin typeface="Courier"/>
              </a:rPr>
              <a:t># type the name to see it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5E5E5E"/>
                </a:solidFill>
                <a:latin typeface="Courier"/>
              </a:rPr>
              <a:t># use it in math</a:t>
            </a:r>
          </a:p>
          <a:p>
            <a:pPr lvl="0" indent="0" marL="0">
              <a:buNone/>
            </a:pPr>
            <a:r>
              <a:rPr/>
              <a:t>Look at the </a:t>
            </a:r>
            <a:r>
              <a:rPr b="1"/>
              <a:t>Variables</a:t>
            </a:r>
            <a:r>
              <a:rPr/>
              <a:t> pane on the right — </a:t>
            </a:r>
            <a:r>
              <a:rPr>
                <a:latin typeface="Courier"/>
              </a:rPr>
              <a:t>x</a:t>
            </a:r>
            <a:r>
              <a:rPr/>
              <a:t> should appear there.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Store the number </a:t>
            </a:r>
            <a:r>
              <a:rPr>
                <a:latin typeface="Courier"/>
              </a:rPr>
              <a:t>42</a:t>
            </a:r>
            <a:r>
              <a:rPr/>
              <a:t> under the name </a:t>
            </a:r>
            <a:r>
              <a:rPr>
                <a:latin typeface="Courier"/>
              </a:rPr>
              <a:t>my_number</a:t>
            </a:r>
            <a:r>
              <a:rPr/>
              <a:t>, then multiply </a:t>
            </a:r>
            <a:r>
              <a:rPr>
                <a:latin typeface="Courier"/>
              </a:rPr>
              <a:t>my_number</a:t>
            </a:r>
            <a:r>
              <a:rPr/>
              <a:t> by </a:t>
            </a:r>
            <a:r>
              <a:rPr>
                <a:latin typeface="Courier"/>
              </a:rPr>
              <a:t>x</a:t>
            </a:r>
            <a:r>
              <a:rPr/>
              <a:t>. What is the result?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Write your code here:</a:t>
            </a:r>
          </a:p>
          <a:p>
            <a:pPr lvl="0" indent="0">
              <a:buNone/>
            </a:pPr>
            <a:r>
              <a:rPr>
                <a:latin typeface="Courier"/>
              </a:rPr>
              <a:t>Your answer: 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Naming things well</a:t>
            </a:r>
          </a:p>
          <a:p>
            <a:pPr lvl="0" indent="0" marL="0">
              <a:buNone/>
            </a:pPr>
            <a:r>
              <a:rPr/>
              <a:t>Good names make code readable months later:</a:t>
            </a:r>
          </a:p>
          <a:p>
            <a:pPr lvl="0"/>
            <a:r>
              <a:rPr/>
              <a:t>Be explicit but not too long: </a:t>
            </a:r>
            <a:r>
              <a:rPr>
                <a:latin typeface="Courier"/>
              </a:rPr>
              <a:t>leaf_mass</a:t>
            </a:r>
            <a:r>
              <a:rPr/>
              <a:t> not </a:t>
            </a:r>
            <a:r>
              <a:rPr>
                <a:latin typeface="Courier"/>
              </a:rPr>
              <a:t>x2</a:t>
            </a:r>
          </a:p>
          <a:p>
            <a:pPr lvl="0"/>
            <a:r>
              <a:rPr/>
              <a:t>Cannot start with a number — </a:t>
            </a:r>
            <a:r>
              <a:rPr>
                <a:latin typeface="Courier"/>
              </a:rPr>
              <a:t>x2</a:t>
            </a:r>
            <a:r>
              <a:rPr/>
              <a:t> ✅, </a:t>
            </a:r>
            <a:r>
              <a:rPr>
                <a:latin typeface="Courier"/>
              </a:rPr>
              <a:t>2x</a:t>
            </a:r>
            <a:r>
              <a:rPr/>
              <a:t> ❌</a:t>
            </a:r>
          </a:p>
          <a:p>
            <a:pPr lvl="0"/>
            <a:r>
              <a:rPr/>
              <a:t>R is </a:t>
            </a:r>
            <a:r>
              <a:rPr b="1"/>
              <a:t>case-sensitive</a:t>
            </a:r>
            <a:r>
              <a:rPr/>
              <a:t> — </a:t>
            </a:r>
            <a:r>
              <a:rPr>
                <a:latin typeface="Courier"/>
              </a:rPr>
              <a:t>weight_g</a:t>
            </a:r>
            <a:r>
              <a:rPr/>
              <a:t> ≠ </a:t>
            </a:r>
            <a:r>
              <a:rPr>
                <a:latin typeface="Courier"/>
              </a:rPr>
              <a:t>Weight_g</a:t>
            </a:r>
          </a:p>
          <a:p>
            <a:pPr lvl="0"/>
            <a:r>
              <a:rPr/>
              <a:t>Use </a:t>
            </a:r>
            <a:r>
              <a:rPr b="1">
                <a:latin typeface="Courier"/>
              </a:rPr>
              <a:t>lower_snake_case</a:t>
            </a:r>
            <a:r>
              <a:rPr/>
              <a:t> — words separated by underscores, all lowercase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Which of these names are valid in R? Write Y or N next to each.</a:t>
            </a:r>
          </a:p>
          <a:p>
            <a:pPr lvl="0" indent="0">
              <a:buNone/>
            </a:pPr>
            <a:r>
              <a:rPr>
                <a:latin typeface="Courier"/>
              </a:rPr>
              <a:t>leaf_mass       — 
3rd_leaf        — 
Width_cm        — 
my.leaf.data    — 
side            — 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Comments with </a:t>
            </a:r>
            <a:r>
              <a:rPr b="1">
                <a:latin typeface="Courier"/>
              </a:rPr>
              <a:t>#</a:t>
            </a:r>
          </a:p>
          <a:p>
            <a:pPr lvl="0" indent="0" marL="0">
              <a:buNone/>
            </a:pPr>
            <a:r>
              <a:rPr/>
              <a:t>Anything to the right of </a:t>
            </a:r>
            <a:r>
              <a:rPr>
                <a:latin typeface="Courier"/>
              </a:rPr>
              <a:t>#</a:t>
            </a:r>
            <a:r>
              <a:rPr/>
              <a:t> is </a:t>
            </a:r>
            <a:r>
              <a:rPr b="1"/>
              <a:t>ignored by R</a:t>
            </a:r>
            <a:r>
              <a:rPr/>
              <a:t> — it is a note for humans. Shortcut to toggle: </a:t>
            </a:r>
            <a:r>
              <a:rPr b="1"/>
              <a:t>Ctrl/Cmd + Shift + C</a:t>
            </a:r>
            <a:r>
              <a:rPr/>
              <a:t>.</a:t>
            </a:r>
          </a:p>
          <a:p>
            <a:pPr lvl="0" indent="0" marL="0">
              <a:buNone/>
            </a:pPr>
            <a:r>
              <a:rPr b="1"/>
              <a:t>▶ Run this in your Script: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weights of four leaves, in grams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leaf_mass &lt;-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7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(leaf_mass)   </a:t>
            </a:r>
            <a:r>
              <a:rPr>
                <a:solidFill>
                  <a:srgbClr val="5E5E5E"/>
                </a:solidFill>
                <a:latin typeface="Courier"/>
              </a:rPr>
              <a:t># average leaf mass</a:t>
            </a:r>
          </a:p>
          <a:p>
            <a:pPr lvl="0" indent="0" marL="1270000">
              <a:buNone/>
            </a:pPr>
            <a:r>
              <a:rPr sz="2000"/>
              <a:t>💡 </a:t>
            </a:r>
            <a:r>
              <a:rPr sz="2000" b="1"/>
              <a:t>Key idea:</a:t>
            </a:r>
            <a:r>
              <a:rPr sz="2000"/>
              <a:t> If a line confused you while writing it, write a comment explaining </a:t>
            </a:r>
            <a:r>
              <a:rPr sz="2000" i="1"/>
              <a:t>why</a:t>
            </a:r>
            <a:r>
              <a:rPr sz="2000"/>
              <a:t> you did it.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Functions and arguments</a:t>
            </a:r>
          </a:p>
          <a:p>
            <a:pPr lvl="0" indent="0" marL="0">
              <a:buNone/>
            </a:pPr>
            <a:r>
              <a:rPr/>
              <a:t>A </a:t>
            </a:r>
            <a:r>
              <a:rPr b="1"/>
              <a:t>function</a:t>
            </a:r>
            <a:r>
              <a:rPr/>
              <a:t> is a mini-program you call by name. You feed it </a:t>
            </a:r>
            <a:r>
              <a:rPr b="1"/>
              <a:t>arguments</a:t>
            </a:r>
            <a:r>
              <a:rPr/>
              <a:t> (inputs) inside </a:t>
            </a:r>
            <a:r>
              <a:rPr>
                <a:latin typeface="Courier"/>
              </a:rPr>
              <a:t>( )</a:t>
            </a:r>
            <a:r>
              <a:rPr/>
              <a:t>.</a:t>
            </a:r>
          </a:p>
          <a:p>
            <a:pPr lvl="0" indent="0" marL="0">
              <a:buNone/>
            </a:pPr>
            <a:r>
              <a:rPr b="1"/>
              <a:t>▶ Run this in the Console: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)                         </a:t>
            </a:r>
            <a:r>
              <a:rPr>
                <a:solidFill>
                  <a:srgbClr val="5E5E5E"/>
                </a:solidFill>
                <a:latin typeface="Courier"/>
              </a:rPr>
              <a:t># one argument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3.14159</a:t>
            </a:r>
            <a:r>
              <a:rPr>
                <a:solidFill>
                  <a:srgbClr val="003B4F"/>
                </a:solidFill>
                <a:latin typeface="Courier"/>
              </a:rPr>
              <a:t>)                   </a:t>
            </a:r>
            <a:r>
              <a:rPr>
                <a:solidFill>
                  <a:srgbClr val="5E5E5E"/>
                </a:solidFill>
                <a:latin typeface="Courier"/>
              </a:rPr>
              <a:t># default: 0 decimal places → 3</a:t>
            </a:r>
            <a:br/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3.14159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               </a:t>
            </a:r>
            <a:r>
              <a:rPr>
                <a:solidFill>
                  <a:srgbClr val="5E5E5E"/>
                </a:solidFill>
                <a:latin typeface="Courier"/>
              </a:rPr>
              <a:t># two decimal places → 3.14</a:t>
            </a:r>
            <a:br/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3.14159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digits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 </a:t>
            </a:r>
            <a:r>
              <a:rPr>
                <a:solidFill>
                  <a:srgbClr val="5E5E5E"/>
                </a:solidFill>
                <a:latin typeface="Courier"/>
              </a:rPr>
              <a:t># same, with named arguments</a:t>
            </a:r>
          </a:p>
          <a:p>
            <a:pPr lvl="0" indent="0" marL="0">
              <a:buNone/>
            </a:pPr>
            <a:r>
              <a:rPr/>
              <a:t>To get help on any function: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?round          </a:t>
            </a:r>
            <a:r>
              <a:rPr>
                <a:solidFill>
                  <a:srgbClr val="5E5E5E"/>
                </a:solidFill>
                <a:latin typeface="Courier"/>
              </a:rPr>
              <a:t># open the help page</a:t>
            </a:r>
            <a:br/>
            <a:r>
              <a:rPr>
                <a:solidFill>
                  <a:srgbClr val="4758AB"/>
                </a:solidFill>
                <a:latin typeface="Courier"/>
              </a:rPr>
              <a:t>args</a:t>
            </a:r>
            <a:r>
              <a:rPr>
                <a:solidFill>
                  <a:srgbClr val="003B4F"/>
                </a:solidFill>
                <a:latin typeface="Courier"/>
              </a:rPr>
              <a:t>(round)     </a:t>
            </a:r>
            <a:r>
              <a:rPr>
                <a:solidFill>
                  <a:srgbClr val="5E5E5E"/>
                </a:solidFill>
                <a:latin typeface="Courier"/>
              </a:rPr>
              <a:t># list what arguments it takes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Use </a:t>
            </a:r>
            <a:r>
              <a:rPr>
                <a:latin typeface="Courier"/>
              </a:rPr>
              <a:t>round()</a:t>
            </a:r>
            <a:r>
              <a:rPr/>
              <a:t> to round </a:t>
            </a:r>
            <a:r>
              <a:rPr>
                <a:latin typeface="Courier"/>
              </a:rPr>
              <a:t>pi</a:t>
            </a:r>
            <a:r>
              <a:rPr/>
              <a:t> (R knows </a:t>
            </a:r>
            <a:r>
              <a:rPr>
                <a:latin typeface="Courier"/>
              </a:rPr>
              <a:t>pi</a:t>
            </a:r>
            <a:r>
              <a:rPr/>
              <a:t> by name — just type it) to 4 decimal places.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Write your code here:</a:t>
            </a:r>
          </a:p>
          <a:p>
            <a:pPr lvl="0" indent="0">
              <a:buNone/>
            </a:pPr>
            <a:r>
              <a:rPr>
                <a:latin typeface="Courier"/>
              </a:rPr>
              <a:t>Your answer: 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Vectors — a row of values</a:t>
            </a:r>
          </a:p>
          <a:p>
            <a:pPr lvl="0" indent="0" marL="0">
              <a:buNone/>
            </a:pPr>
            <a:r>
              <a:rPr/>
              <a:t>A </a:t>
            </a:r>
            <a:r>
              <a:rPr b="1"/>
              <a:t>vector</a:t>
            </a:r>
            <a:r>
              <a:rPr/>
              <a:t> is a series of values built with </a:t>
            </a:r>
            <a:r>
              <a:rPr>
                <a:latin typeface="Courier"/>
              </a:rPr>
              <a:t>c()</a:t>
            </a:r>
            <a:r>
              <a:rPr/>
              <a:t> — the </a:t>
            </a:r>
            <a:r>
              <a:rPr i="1"/>
              <a:t>combine</a:t>
            </a:r>
            <a:r>
              <a:rPr/>
              <a:t> function. A spreadsheet column is really just a vector.</a:t>
            </a:r>
          </a:p>
          <a:p>
            <a:pPr lvl="0" indent="0" marL="0">
              <a:buNone/>
            </a:pPr>
            <a:r>
              <a:rPr b="1"/>
              <a:t>▶ Run this in your Script: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weight_g &lt;-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7</a:t>
            </a:r>
            <a:r>
              <a:rPr>
                <a:solidFill>
                  <a:srgbClr val="003B4F"/>
                </a:solidFill>
                <a:latin typeface="Courier"/>
              </a:rPr>
              <a:t>)          </a:t>
            </a:r>
            <a:r>
              <a:rPr>
                <a:solidFill>
                  <a:srgbClr val="5E5E5E"/>
                </a:solidFill>
                <a:latin typeface="Courier"/>
              </a:rPr>
              <a:t># numeric vector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side     &lt;-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)    </a:t>
            </a:r>
            <a:r>
              <a:rPr>
                <a:solidFill>
                  <a:srgbClr val="5E5E5E"/>
                </a:solidFill>
                <a:latin typeface="Courier"/>
              </a:rPr>
              <a:t># character vector — needs quotes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length</a:t>
            </a:r>
            <a:r>
              <a:rPr>
                <a:solidFill>
                  <a:srgbClr val="003B4F"/>
                </a:solidFill>
                <a:latin typeface="Courier"/>
              </a:rPr>
              <a:t>(weight_g)    </a:t>
            </a:r>
            <a:r>
              <a:rPr>
                <a:solidFill>
                  <a:srgbClr val="5E5E5E"/>
                </a:solidFill>
                <a:latin typeface="Courier"/>
              </a:rPr>
              <a:t># how many values?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class</a:t>
            </a:r>
            <a:r>
              <a:rPr>
                <a:solidFill>
                  <a:srgbClr val="003B4F"/>
                </a:solidFill>
                <a:latin typeface="Courier"/>
              </a:rPr>
              <a:t>(weight_g)     </a:t>
            </a:r>
            <a:r>
              <a:rPr>
                <a:solidFill>
                  <a:srgbClr val="5E5E5E"/>
                </a:solidFill>
                <a:latin typeface="Courier"/>
              </a:rPr>
              <a:t># what type is it?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str</a:t>
            </a:r>
            <a:r>
              <a:rPr>
                <a:solidFill>
                  <a:srgbClr val="003B4F"/>
                </a:solidFill>
                <a:latin typeface="Courier"/>
              </a:rPr>
              <a:t>(weight_g)       </a:t>
            </a:r>
            <a:r>
              <a:rPr>
                <a:solidFill>
                  <a:srgbClr val="5E5E5E"/>
                </a:solidFill>
                <a:latin typeface="Courier"/>
              </a:rPr>
              <a:t># structure overview</a:t>
            </a:r>
          </a:p>
          <a:p>
            <a:pPr lvl="0" indent="0" marL="1270000">
              <a:buNone/>
            </a:pPr>
            <a:r>
              <a:rPr sz="2000"/>
              <a:t>⚠️ </a:t>
            </a:r>
            <a:r>
              <a:rPr sz="2000" b="1"/>
              <a:t>Watch out!</a:t>
            </a:r>
            <a:r>
              <a:rPr sz="2000"/>
              <a:t> Quotes matter: </a:t>
            </a:r>
            <a:r>
              <a:rPr sz="2000">
                <a:latin typeface="Courier"/>
              </a:rPr>
              <a:t>"sunny"</a:t>
            </a:r>
            <a:r>
              <a:rPr sz="2000"/>
              <a:t> is text. Without quotes, R searches for an </a:t>
            </a:r>
            <a:r>
              <a:rPr sz="2000" i="1"/>
              <a:t>object</a:t>
            </a:r>
            <a:r>
              <a:rPr sz="2000"/>
              <a:t> named </a:t>
            </a:r>
            <a:r>
              <a:rPr sz="2000">
                <a:latin typeface="Courier"/>
              </a:rPr>
              <a:t>sunny</a:t>
            </a:r>
            <a:r>
              <a:rPr sz="2000"/>
              <a:t> and throws an error when it cannot find one.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Make a character vector called </a:t>
            </a:r>
            <a:r>
              <a:rPr>
                <a:latin typeface="Courier"/>
              </a:rPr>
              <a:t>my_colors</a:t>
            </a:r>
            <a:r>
              <a:rPr/>
              <a:t> with three color names of your choice. Check its </a:t>
            </a:r>
            <a:r>
              <a:rPr>
                <a:latin typeface="Courier"/>
              </a:rPr>
              <a:t>length()</a:t>
            </a:r>
            <a:r>
              <a:rPr/>
              <a:t> and </a:t>
            </a:r>
            <a:r>
              <a:rPr>
                <a:latin typeface="Courier"/>
              </a:rPr>
              <a:t>class()</a:t>
            </a:r>
            <a:r>
              <a:rPr/>
              <a:t>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Write your code here: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Data types inside vectors</a:t>
            </a:r>
          </a:p>
          <a:p>
            <a:pPr lvl="0" indent="0" marL="0">
              <a:buNone/>
            </a:pPr>
            <a:r>
              <a:rPr/>
              <a:t>Every vector holds </a:t>
            </a:r>
            <a:r>
              <a:rPr b="1"/>
              <a:t>one type</a:t>
            </a:r>
            <a:r>
              <a:rPr/>
              <a:t>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2819400"/>
          <a:ext cx="8750300" cy="19431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08300"/>
                <a:gridCol w="2908300"/>
                <a:gridCol w="29083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Example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Notes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numeric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4</a:t>
                      </a:r>
                      <a:r>
                        <a:rPr/>
                        <a:t>, </a:t>
                      </a:r>
                      <a:r>
                        <a:rPr>
                          <a:latin typeface="Courier"/>
                        </a:rPr>
                        <a:t>3.5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All numbers by default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character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"sunny"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Any text, always quoted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logical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TRUE</a:t>
                      </a:r>
                      <a:r>
                        <a:rPr/>
                        <a:t> / </a:t>
                      </a:r>
                      <a:r>
                        <a:rPr>
                          <a:latin typeface="Courier"/>
                        </a:rPr>
                        <a:t>FALSE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Must be all-caps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Mix types and R silently converts everything to the most flexible type — numbers become text, TRUE becomes 1. This can cause surprising bugs.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4 · Packages and libraries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is a package?</a:t>
            </a:r>
          </a:p>
          <a:p>
            <a:pPr lvl="0" indent="0" marL="0">
              <a:buNone/>
            </a:pPr>
            <a:r>
              <a:rPr/>
              <a:t>Base R is powerful but lean. </a:t>
            </a:r>
            <a:r>
              <a:rPr b="1"/>
              <a:t>Packages</a:t>
            </a:r>
            <a:r>
              <a:rPr/>
              <a:t> add new functions — like apps for your phone.</a:t>
            </a:r>
          </a:p>
          <a:p>
            <a:pPr lvl="0" indent="0" marL="0">
              <a:buNone/>
            </a:pPr>
            <a:r>
              <a:rPr b="1"/>
              <a:t>Install once</a:t>
            </a:r>
            <a:r>
              <a:rPr/>
              <a:t> — run this in the Console (not in your script):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install.packages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"tidyverse"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install.packages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"readxl"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 b="1"/>
              <a:t>Load every session</a:t>
            </a:r>
            <a:r>
              <a:rPr/>
              <a:t> — put this at the </a:t>
            </a:r>
            <a:r>
              <a:rPr b="1"/>
              <a:t>top of every script you write</a:t>
            </a:r>
            <a:r>
              <a:rPr/>
              <a:t>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   </a:t>
            </a:r>
            <a:r>
              <a:rPr>
                <a:solidFill>
                  <a:srgbClr val="5E5E5E"/>
                </a:solidFill>
                <a:latin typeface="Courier"/>
              </a:rPr>
              <a:t># data wrangling + ggplot2 for plotting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(readxl)      </a:t>
            </a:r>
            <a:r>
              <a:rPr>
                <a:solidFill>
                  <a:srgbClr val="5E5E5E"/>
                </a:solidFill>
                <a:latin typeface="Courier"/>
              </a:rPr>
              <a:t># reading Excel files</a:t>
            </a:r>
          </a:p>
          <a:p>
            <a:pPr lvl="0" indent="0" marL="1270000">
              <a:buNone/>
            </a:pPr>
            <a:r>
              <a:rPr sz="2000"/>
              <a:t>⚠️ </a:t>
            </a:r>
            <a:r>
              <a:rPr sz="2000" b="1"/>
              <a:t>Watch out!</a:t>
            </a:r>
            <a:r>
              <a:rPr sz="2000"/>
              <a:t> If R says </a:t>
            </a:r>
            <a:r>
              <a:rPr sz="2000" i="1"/>
              <a:t>“could not find function </a:t>
            </a:r>
            <a:r>
              <a:rPr sz="2000" i="1">
                <a:latin typeface="Courier"/>
              </a:rPr>
              <a:t>read_excel</a:t>
            </a:r>
            <a:r>
              <a:rPr sz="2000" i="1"/>
              <a:t>”</a:t>
            </a:r>
            <a:r>
              <a:rPr sz="2000"/>
              <a:t>, you forgot </a:t>
            </a:r>
            <a:r>
              <a:rPr sz="2000">
                <a:latin typeface="Courier"/>
              </a:rPr>
              <a:t>library(readxl)</a:t>
            </a:r>
            <a:r>
              <a:rPr sz="2000"/>
              <a:t>. You must reload libraries every time you restart R.</a:t>
            </a:r>
          </a:p>
          <a:p>
            <a:pPr lvl="0" indent="0" marL="0">
              <a:buNone/>
            </a:pPr>
            <a:r>
              <a:rPr b="1"/>
              <a:t>▶ Run this at the very top of your Script: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── Packages ────────────────────────────────────────────────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(readxl)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What message does R print after </a:t>
            </a:r>
            <a:r>
              <a:rPr>
                <a:latin typeface="Courier"/>
              </a:rPr>
              <a:t>library(tidyverse)</a:t>
            </a:r>
            <a:r>
              <a:rPr/>
              <a:t>? Write the first line here:</a:t>
            </a:r>
          </a:p>
          <a:p>
            <a:pPr lvl="0" indent="0">
              <a:buNone/>
            </a:pPr>
            <a:r>
              <a:rPr>
                <a:latin typeface="Courier"/>
              </a:rPr>
              <a:t>Your answer: 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5 · Load the tree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Two functions — two file types</a:t>
            </a:r>
          </a:p>
          <a:p>
            <a:pPr lvl="0" indent="0" marL="0">
              <a:buNone/>
            </a:pPr>
            <a:r>
              <a:rPr b="1"/>
              <a:t>▶ Run this in your Script: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── Load data ────────────────────────────────────────────────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Excel files (.xlsx) — needs library(readxl)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&lt;- </a:t>
            </a:r>
            <a:r>
              <a:rPr>
                <a:solidFill>
                  <a:srgbClr val="4758AB"/>
                </a:solidFill>
                <a:latin typeface="Courier"/>
              </a:rPr>
              <a:t>read_excel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"data/2026_06_25_tree_experiment_raw_data.xlsx"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tree_df    </a:t>
            </a:r>
            <a:r>
              <a:rPr>
                <a:solidFill>
                  <a:srgbClr val="5E5E5E"/>
                </a:solidFill>
                <a:latin typeface="Courier"/>
              </a:rPr>
              <a:t># print to the console</a:t>
            </a:r>
          </a:p>
          <a:p>
            <a:pPr lvl="0" indent="0" marL="1270000">
              <a:buNone/>
            </a:pPr>
            <a:r>
              <a:rPr sz="2000"/>
              <a:t>💡 </a:t>
            </a:r>
            <a:r>
              <a:rPr sz="2000" b="1"/>
              <a:t>Coming from Excel?</a:t>
            </a:r>
            <a:r>
              <a:rPr sz="2000"/>
              <a:t> </a:t>
            </a:r>
            <a:r>
              <a:rPr sz="2000">
                <a:latin typeface="Courier"/>
              </a:rPr>
              <a:t>read_excel()</a:t>
            </a:r>
            <a:r>
              <a:rPr sz="2000"/>
              <a:t> is the bridge from your spreadsheet into R. Your sheet’s first row becomes the </a:t>
            </a:r>
            <a:r>
              <a:rPr sz="2000" b="1"/>
              <a:t>column names</a:t>
            </a:r>
            <a:r>
              <a:rPr sz="2000"/>
              <a:t> in R.</a:t>
            </a:r>
          </a:p>
          <a:p>
            <a:pPr lvl="0" indent="0" marL="0">
              <a:buNone/>
            </a:pPr>
            <a:r>
              <a:rPr/>
              <a:t>The path </a:t>
            </a:r>
            <a:r>
              <a:rPr>
                <a:latin typeface="Courier"/>
              </a:rPr>
              <a:t>"data/..."</a:t>
            </a:r>
            <a:r>
              <a:rPr/>
              <a:t> is </a:t>
            </a:r>
            <a:r>
              <a:rPr i="1"/>
              <a:t>relative</a:t>
            </a:r>
            <a:r>
              <a:rPr/>
              <a:t> to your project folder. It works on anyone’s computer — not just yours.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Also: read CSV files with </a:t>
            </a:r>
            <a:r>
              <a:rPr b="1">
                <a:latin typeface="Courier"/>
              </a:rPr>
              <a:t>read_csv()</a:t>
            </a:r>
          </a:p>
          <a:p>
            <a:pPr lvl="0" indent="0" marL="0">
              <a:buNone/>
            </a:pPr>
            <a:r>
              <a:rPr/>
              <a:t>Many public datasets (NOAA climate data, iNaturalist, eBird) come as </a:t>
            </a:r>
            <a:r>
              <a:rPr>
                <a:latin typeface="Courier"/>
              </a:rPr>
              <a:t>.csv</a:t>
            </a:r>
            <a:r>
              <a:rPr/>
              <a:t> files. The tidyverse provides </a:t>
            </a:r>
            <a:r>
              <a:rPr>
                <a:latin typeface="Courier"/>
              </a:rPr>
              <a:t>read_csv()</a:t>
            </a:r>
            <a:r>
              <a:rPr/>
              <a:t> for these: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CSV files (.csv) — comes with tidyverse, no extra install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noaa_df &lt;- read_csv("data/noaa_global_yearly_temps.csv")</a:t>
            </a:r>
          </a:p>
          <a:p>
            <a:pPr lvl="0" indent="0" marL="1270000">
              <a:buNone/>
            </a:pPr>
            <a:r>
              <a:rPr sz="2000"/>
              <a:t>💡 </a:t>
            </a:r>
            <a:r>
              <a:rPr sz="2000" b="1"/>
              <a:t>Key difference:</a:t>
            </a:r>
            <a:r>
              <a:rPr sz="2000"/>
              <a:t> </a:t>
            </a:r>
            <a:r>
              <a:rPr sz="2000">
                <a:latin typeface="Courier"/>
              </a:rPr>
              <a:t>read_excel()</a:t>
            </a:r>
            <a:r>
              <a:rPr sz="2000"/>
              <a:t> needs </a:t>
            </a:r>
            <a:r>
              <a:rPr sz="2000">
                <a:latin typeface="Courier"/>
              </a:rPr>
              <a:t>library(readxl)</a:t>
            </a:r>
            <a:r>
              <a:rPr sz="2000"/>
              <a:t>. </a:t>
            </a:r>
            <a:r>
              <a:rPr sz="2000">
                <a:latin typeface="Courier"/>
              </a:rPr>
              <a:t>read_csv()</a:t>
            </a:r>
            <a:r>
              <a:rPr sz="2000"/>
              <a:t> comes with </a:t>
            </a:r>
            <a:r>
              <a:rPr sz="2000">
                <a:latin typeface="Courier"/>
              </a:rPr>
              <a:t>library(tidyverse)</a:t>
            </a:r>
            <a:r>
              <a:rPr sz="2000"/>
              <a:t> — no extra install needed.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Meet the data frame</a:t>
            </a:r>
          </a:p>
          <a:p>
            <a:pPr lvl="0" indent="0" marL="0">
              <a:buNone/>
            </a:pPr>
            <a:r>
              <a:rPr/>
              <a:t>A </a:t>
            </a:r>
            <a:r>
              <a:rPr b="1"/>
              <a:t>data frame</a:t>
            </a:r>
            <a:r>
              <a:rPr/>
              <a:t> is R’s word for a spreadsheet-style table. Each column is a vector of one type; the rows line up.</a:t>
            </a:r>
          </a:p>
          <a:p>
            <a:pPr lvl="0" indent="0" marL="0">
              <a:buNone/>
            </a:pPr>
            <a:r>
              <a:rPr/>
              <a:t>Our </a:t>
            </a:r>
            <a:r>
              <a:rPr>
                <a:latin typeface="Courier"/>
              </a:rPr>
              <a:t>tree_df</a:t>
            </a:r>
            <a:r>
              <a:rPr/>
              <a:t> has five columns: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2819400"/>
          <a:ext cx="8750300" cy="19431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08300"/>
                <a:gridCol w="2908300"/>
                <a:gridCol w="29083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 it holds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index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numeric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leaf number (1–20)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side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character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"sunny"</a:t>
                      </a:r>
                      <a:r>
                        <a:rPr/>
                        <a:t> or </a:t>
                      </a:r>
                      <a:r>
                        <a:rPr>
                          <a:latin typeface="Courier"/>
                        </a:rPr>
                        <a:t>"shady"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weight_g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numeric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leaf weight in grams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width_cm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numeric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leaf width in centimetres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height_cm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numeric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leaf height in centimetres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Pull a single column with </a:t>
            </a:r>
            <a:r>
              <a:rPr>
                <a:latin typeface="Courier"/>
              </a:rPr>
              <a:t>$</a:t>
            </a:r>
            <a:r>
              <a:rPr/>
              <a:t>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tree_df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weight_g     </a:t>
            </a:r>
            <a:r>
              <a:rPr>
                <a:solidFill>
                  <a:srgbClr val="5E5E5E"/>
                </a:solidFill>
                <a:latin typeface="Courier"/>
              </a:rPr>
              <a:t># just the weight column, as a vector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6 · Inspect a new dataset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Always eyeball a new dataset before doing any analysis.</a:t>
            </a:r>
          </a:p>
          <a:p>
            <a:pPr lvl="0" indent="0" marL="0">
              <a:buNone/>
            </a:pPr>
            <a:r>
              <a:rPr b="1"/>
              <a:t>▶ Run each of these in your Script: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(tree_df)       </a:t>
            </a:r>
            <a:r>
              <a:rPr>
                <a:solidFill>
                  <a:srgbClr val="5E5E5E"/>
                </a:solidFill>
                <a:latin typeface="Courier"/>
              </a:rPr>
              <a:t># first 6 rows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glimpse() is the tidyverse way — one line per column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glimpse</a:t>
            </a:r>
            <a:r>
              <a:rPr>
                <a:solidFill>
                  <a:srgbClr val="003B4F"/>
                </a:solidFill>
                <a:latin typeface="Courier"/>
              </a:rPr>
              <a:t>(tree_df)    </a:t>
            </a:r>
            <a:r>
              <a:rPr>
                <a:solidFill>
                  <a:srgbClr val="5E5E5E"/>
                </a:solidFill>
                <a:latin typeface="Courier"/>
              </a:rPr>
              <a:t># column names, types, first values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Base R equivalents (give similar info)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dim</a:t>
            </a:r>
            <a:r>
              <a:rPr>
                <a:solidFill>
                  <a:srgbClr val="003B4F"/>
                </a:solidFill>
                <a:latin typeface="Courier"/>
              </a:rPr>
              <a:t>(tree_df)        </a:t>
            </a:r>
            <a:r>
              <a:rPr>
                <a:solidFill>
                  <a:srgbClr val="5E5E5E"/>
                </a:solidFill>
                <a:latin typeface="Courier"/>
              </a:rPr>
              <a:t># (rows, columns)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names</a:t>
            </a:r>
            <a:r>
              <a:rPr>
                <a:solidFill>
                  <a:srgbClr val="003B4F"/>
                </a:solidFill>
                <a:latin typeface="Courier"/>
              </a:rPr>
              <a:t>(tree_df)      </a:t>
            </a:r>
            <a:r>
              <a:rPr>
                <a:solidFill>
                  <a:srgbClr val="5E5E5E"/>
                </a:solidFill>
                <a:latin typeface="Courier"/>
              </a:rPr>
              <a:t># column names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str</a:t>
            </a:r>
            <a:r>
              <a:rPr>
                <a:solidFill>
                  <a:srgbClr val="003B4F"/>
                </a:solidFill>
                <a:latin typeface="Courier"/>
              </a:rPr>
              <a:t>(tree_df)        </a:t>
            </a:r>
            <a:r>
              <a:rPr>
                <a:solidFill>
                  <a:srgbClr val="5E5E5E"/>
                </a:solidFill>
                <a:latin typeface="Courier"/>
              </a:rPr>
              <a:t># type of every column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(tree_df)    </a:t>
            </a:r>
            <a:r>
              <a:rPr>
                <a:solidFill>
                  <a:srgbClr val="5E5E5E"/>
                </a:solidFill>
                <a:latin typeface="Courier"/>
              </a:rPr>
              <a:t># min / mean / max per column</a:t>
            </a:r>
          </a:p>
          <a:p>
            <a:pPr lvl="0" indent="0" marL="1270000">
              <a:buNone/>
            </a:pPr>
            <a:r>
              <a:rPr sz="2000"/>
              <a:t>💡 </a:t>
            </a:r>
            <a:r>
              <a:rPr sz="2000" b="1"/>
              <a:t>Prefer </a:t>
            </a:r>
            <a:r>
              <a:rPr sz="2000" b="1">
                <a:latin typeface="Courier"/>
              </a:rPr>
              <a:t>glimpse()</a:t>
            </a:r>
            <a:r>
              <a:rPr sz="2000" b="1"/>
              <a:t> over </a:t>
            </a:r>
            <a:r>
              <a:rPr sz="2000" b="1">
                <a:latin typeface="Courier"/>
              </a:rPr>
              <a:t>str()</a:t>
            </a:r>
            <a:r>
              <a:rPr sz="2000"/>
              <a:t> — it is the tidyverse-friendly version and is easier to read.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Answer these questions from the output above.</a:t>
            </a:r>
          </a:p>
          <a:p>
            <a:pPr lvl="0" indent="0">
              <a:buNone/>
            </a:pPr>
            <a:r>
              <a:rPr>
                <a:latin typeface="Courier"/>
              </a:rPr>
              <a:t>How many rows does tree_df have?          
How many columns?                         
What type does R report for `side`?       
What is the mean weight_g?                
What is the maximum height_cm?            </a:t>
            </a:r>
          </a:p>
          <a:p>
            <a:pPr lvl="0" indent="0" marL="1270000">
              <a:buNone/>
            </a:pPr>
            <a:r>
              <a:rPr sz="2000"/>
              <a:t>⚠️ </a:t>
            </a:r>
            <a:r>
              <a:rPr sz="2000" b="1"/>
              <a:t>Watch out!</a:t>
            </a:r>
            <a:r>
              <a:rPr sz="2000"/>
              <a:t> If a number column shows as </a:t>
            </a:r>
            <a:r>
              <a:rPr sz="2000">
                <a:latin typeface="Courier"/>
              </a:rPr>
              <a:t>&lt;chr&gt;</a:t>
            </a:r>
            <a:r>
              <a:rPr sz="2000"/>
              <a:t> in </a:t>
            </a:r>
            <a:r>
              <a:rPr sz="2000">
                <a:latin typeface="Courier"/>
              </a:rPr>
              <a:t>glimpse()</a:t>
            </a:r>
            <a:r>
              <a:rPr sz="2000"/>
              <a:t>, a stray letter or comma snuck into your spreadsheet. Check your raw data file.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7 · The pipe </a:t>
            </a:r>
            <a:r>
              <a:rPr>
                <a:latin typeface="Courier"/>
              </a:rPr>
              <a:t>%&gt;%</a:t>
            </a:r>
            <a:r>
              <a:rPr/>
              <a:t> — read it as “then”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pipe sends a result straight into the next function. Read </a:t>
            </a:r>
            <a:r>
              <a:rPr>
                <a:latin typeface="Courier"/>
              </a:rPr>
              <a:t>%&gt;%</a:t>
            </a:r>
            <a:r>
              <a:rPr/>
              <a:t> as the word </a:t>
            </a:r>
            <a:r>
              <a:rPr b="1"/>
              <a:t>“then”</a:t>
            </a:r>
            <a:r>
              <a:rPr/>
              <a:t>.</a:t>
            </a:r>
          </a:p>
          <a:p>
            <a:pPr lvl="0" indent="0" marL="0">
              <a:buNone/>
            </a:pPr>
            <a:r>
              <a:rPr b="1"/>
              <a:t>▶ Run this in your Script: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Simple examples — read each %&gt;% as "then"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nrow</a:t>
            </a:r>
            <a:r>
              <a:rPr>
                <a:solidFill>
                  <a:srgbClr val="003B4F"/>
                </a:solidFill>
                <a:latin typeface="Courier"/>
              </a:rPr>
              <a:t>()          </a:t>
            </a:r>
            <a:r>
              <a:rPr>
                <a:solidFill>
                  <a:srgbClr val="5E5E5E"/>
                </a:solidFill>
                <a:latin typeface="Courier"/>
              </a:rPr>
              <a:t># take tree_df, THEN count rows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names</a:t>
            </a:r>
            <a:r>
              <a:rPr>
                <a:solidFill>
                  <a:srgbClr val="003B4F"/>
                </a:solidFill>
                <a:latin typeface="Courier"/>
              </a:rPr>
              <a:t>()         </a:t>
            </a:r>
            <a:r>
              <a:rPr>
                <a:solidFill>
                  <a:srgbClr val="5E5E5E"/>
                </a:solidFill>
                <a:latin typeface="Courier"/>
              </a:rPr>
              <a:t># take tree_df, THEN list column names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()       </a:t>
            </a:r>
            <a:r>
              <a:rPr>
                <a:solidFill>
                  <a:srgbClr val="5E5E5E"/>
                </a:solidFill>
                <a:latin typeface="Courier"/>
              </a:rPr>
              <a:t># take tree_df, THEN summarize everything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Chain multiple steps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                   </a:t>
            </a:r>
            <a:r>
              <a:rPr>
                <a:solidFill>
                  <a:srgbClr val="5E5E5E"/>
                </a:solidFill>
                <a:latin typeface="Courier"/>
              </a:rPr>
              <a:t># take tree_df, THEN show first 3 rows</a:t>
            </a:r>
          </a:p>
          <a:p>
            <a:pPr lvl="0" indent="0" marL="1270000">
              <a:buNone/>
            </a:pPr>
            <a:r>
              <a:rPr sz="2000"/>
              <a:t>💡 </a:t>
            </a:r>
            <a:r>
              <a:rPr sz="2000" b="1"/>
              <a:t>Two pipes — same idea:</a:t>
            </a:r>
            <a:r>
              <a:rPr sz="2000"/>
              <a:t> </a:t>
            </a:r>
            <a:r>
              <a:rPr sz="2000">
                <a:latin typeface="Courier"/>
              </a:rPr>
              <a:t>%&gt;%</a:t>
            </a:r>
            <a:r>
              <a:rPr sz="2000"/>
              <a:t> — from tidyverse (we use this one throughout the course) The native pipe (a vertical bar then greater-than sign) — built into R 4.1+; you will see it in code online They behave identically for everything in this course.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Using the pipe, write code to show only the last 3 rows of </a:t>
            </a:r>
            <a:r>
              <a:rPr>
                <a:latin typeface="Courier"/>
              </a:rPr>
              <a:t>tree_df</a:t>
            </a:r>
            <a:r>
              <a:rPr/>
              <a:t>. Hint: look at </a:t>
            </a:r>
            <a:r>
              <a:rPr>
                <a:latin typeface="Courier"/>
              </a:rPr>
              <a:t>tail()</a:t>
            </a:r>
            <a:r>
              <a:rPr/>
              <a:t>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Write your code here:</a:t>
            </a:r>
          </a:p>
          <a:p>
            <a:pPr lvl="0" indent="0" marL="0">
              <a:buNone/>
            </a:pPr>
            <a:r>
              <a:rPr/>
              <a:t>In Lecture 03 we will use </a:t>
            </a:r>
            <a:r>
              <a:rPr>
                <a:latin typeface="Courier"/>
              </a:rPr>
              <a:t>%&gt;%</a:t>
            </a:r>
            <a:r>
              <a:rPr/>
              <a:t> with </a:t>
            </a:r>
            <a:r>
              <a:rPr>
                <a:latin typeface="Courier"/>
              </a:rPr>
              <a:t>group_by()</a:t>
            </a:r>
            <a:r>
              <a:rPr/>
              <a:t> and </a:t>
            </a:r>
            <a:r>
              <a:rPr>
                <a:latin typeface="Courier"/>
              </a:rPr>
              <a:t>summarize()</a:t>
            </a:r>
            <a:r>
              <a:rPr/>
              <a:t> to compute statistics by group — this is where the pipe really pays off.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8 · Your first plot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ggplot builds pictures in layers</a:t>
            </a:r>
          </a:p>
          <a:p>
            <a:pPr lvl="0" indent="0" marL="0">
              <a:buNone/>
            </a:pPr>
            <a:r>
              <a:rPr/>
              <a:t>Every ggplot is built in three pieces, joined with </a:t>
            </a:r>
            <a:r>
              <a:rPr>
                <a:latin typeface="Courier"/>
              </a:rPr>
              <a:t>+</a:t>
            </a:r>
            <a:r>
              <a:rPr/>
              <a:t>:</a:t>
            </a:r>
          </a:p>
          <a:p>
            <a:pPr lvl="0" indent="-342900" marL="342900">
              <a:buAutoNum type="arabicPeriod"/>
            </a:pPr>
            <a:r>
              <a:rPr>
                <a:latin typeface="Courier"/>
              </a:rPr>
              <a:t>ggplot(data, aes(...))</a:t>
            </a:r>
            <a:r>
              <a:rPr/>
              <a:t> — which data frame, which columns map to x and y</a:t>
            </a:r>
          </a:p>
          <a:p>
            <a:pPr lvl="0" indent="-342900" marL="342900">
              <a:buAutoNum type="arabicPeriod"/>
            </a:pPr>
            <a:r>
              <a:rPr>
                <a:latin typeface="Courier"/>
              </a:rPr>
              <a:t>geom_*()</a:t>
            </a:r>
            <a:r>
              <a:rPr/>
              <a:t> — the shape to draw (points, boxes, bars, …)</a:t>
            </a:r>
          </a:p>
          <a:p>
            <a:pPr lvl="0" indent="-342900" marL="342900">
              <a:buAutoNum type="arabicPeriod"/>
            </a:pPr>
            <a:r>
              <a:rPr>
                <a:latin typeface="Courier"/>
              </a:rPr>
              <a:t>labs()</a:t>
            </a:r>
            <a:r>
              <a:rPr/>
              <a:t> — axis labels and title</a:t>
            </a:r>
          </a:p>
          <a:p>
            <a:pPr lvl="0" indent="0" marL="0">
              <a:buNone/>
            </a:pPr>
            <a:r>
              <a:rPr b="1"/>
              <a:t>▶ Run this in your Script — the simplest possible plot: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(tree_df,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weight_g))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 marL="1270000">
              <a:buNone/>
            </a:pPr>
            <a:r>
              <a:rPr sz="2000"/>
              <a:t>⚠️ </a:t>
            </a:r>
            <a:r>
              <a:rPr sz="2000" b="1"/>
              <a:t>Watch out!</a:t>
            </a:r>
            <a:r>
              <a:rPr sz="2000"/>
              <a:t> The </a:t>
            </a:r>
            <a:r>
              <a:rPr sz="2000">
                <a:latin typeface="Courier"/>
              </a:rPr>
              <a:t>+</a:t>
            </a:r>
            <a:r>
              <a:rPr sz="2000"/>
              <a:t> must sit at the </a:t>
            </a:r>
            <a:r>
              <a:rPr sz="2000" b="1"/>
              <a:t>end</a:t>
            </a:r>
            <a:r>
              <a:rPr sz="2000"/>
              <a:t> of a line, never the start. A </a:t>
            </a:r>
            <a:r>
              <a:rPr sz="2000">
                <a:latin typeface="Courier"/>
              </a:rPr>
              <a:t>+</a:t>
            </a:r>
            <a:r>
              <a:rPr sz="2000"/>
              <a:t> at the start causes an error.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Improve it one layer at a time</a:t>
            </a:r>
          </a:p>
          <a:p>
            <a:pPr lvl="0" indent="0" marL="0">
              <a:buNone/>
            </a:pPr>
            <a:r>
              <a:rPr b="1"/>
              <a:t>▶ Run this in your Script: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(tree_df,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weight_g))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"tomato"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weight (g)"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 vs. shady leaves"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Make the same plot but for </a:t>
            </a:r>
            <a:r>
              <a:rPr>
                <a:latin typeface="Courier"/>
              </a:rPr>
              <a:t>height_cm</a:t>
            </a:r>
            <a:r>
              <a:rPr/>
              <a:t> instead of </a:t>
            </a:r>
            <a:r>
              <a:rPr>
                <a:latin typeface="Courier"/>
              </a:rPr>
              <a:t>weight_g</a:t>
            </a:r>
            <a:r>
              <a:rPr/>
              <a:t>. Copy the code above and change the relevant parts.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Write your modified code here:</a:t>
            </a:r>
          </a:p>
          <a:p>
            <a:pPr lvl="0" indent="0" marL="0">
              <a:buNone/>
            </a:pPr>
            <a:r>
              <a:rPr/>
              <a:t>What pattern do you see — do sunny or shady leaves tend to be taller?</a:t>
            </a:r>
          </a:p>
          <a:p>
            <a:pPr lvl="0" indent="0">
              <a:buNone/>
            </a:pPr>
            <a:r>
              <a:rPr>
                <a:latin typeface="Courier"/>
              </a:rPr>
              <a:t>Your answer: 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Save your plot as a PNG</a:t>
            </a:r>
          </a:p>
          <a:p>
            <a:pPr lvl="0" indent="0" marL="0">
              <a:buNone/>
            </a:pPr>
            <a:r>
              <a:rPr/>
              <a:t>Store the plot in an object, then save it to your </a:t>
            </a:r>
            <a:r>
              <a:rPr>
                <a:latin typeface="Courier"/>
              </a:rPr>
              <a:t>figures/</a:t>
            </a:r>
            <a:r>
              <a:rPr/>
              <a:t> folder.</a:t>
            </a:r>
          </a:p>
          <a:p>
            <a:pPr lvl="0" indent="0" marL="0">
              <a:buNone/>
            </a:pPr>
            <a:r>
              <a:rPr b="1"/>
              <a:t>▶ Run this in your Script: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Save the weight plot — always use PNG, always use dpi = 300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weight_plot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(tree_df,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weight_g))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"tomato"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weight (g)"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 vs. shady leaves"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ggsave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"figures/leaf_weight.png"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plot   =</a:t>
            </a:r>
            <a:r>
              <a:rPr>
                <a:solidFill>
                  <a:srgbClr val="003B4F"/>
                </a:solidFill>
                <a:latin typeface="Courier"/>
              </a:rPr>
              <a:t> weight_plot,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width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6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height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6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units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dpi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300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/>
              <a:t>Check your </a:t>
            </a:r>
            <a:r>
              <a:rPr>
                <a:latin typeface="Courier"/>
              </a:rPr>
              <a:t>figures/</a:t>
            </a:r>
            <a:r>
              <a:rPr/>
              <a:t> folder — the PNG should be there.</a:t>
            </a:r>
          </a:p>
          <a:p>
            <a:pPr lvl="0" indent="0" marL="1270000">
              <a:buNone/>
            </a:pPr>
            <a:r>
              <a:rPr sz="2000"/>
              <a:t>⚠️ </a:t>
            </a:r>
            <a:r>
              <a:rPr sz="2000" b="1"/>
              <a:t>Watch out!</a:t>
            </a:r>
            <a:r>
              <a:rPr sz="2000"/>
              <a:t> </a:t>
            </a:r>
            <a:r>
              <a:rPr sz="2000">
                <a:latin typeface="Courier"/>
              </a:rPr>
              <a:t>ggsave()</a:t>
            </a:r>
            <a:r>
              <a:rPr sz="2000"/>
              <a:t> wants the </a:t>
            </a:r>
            <a:r>
              <a:rPr sz="2000" b="1"/>
              <a:t>filename first</a:t>
            </a:r>
            <a:r>
              <a:rPr sz="2000"/>
              <a:t>, then </a:t>
            </a:r>
            <a:r>
              <a:rPr sz="2000">
                <a:latin typeface="Courier"/>
              </a:rPr>
              <a:t>plot =</a:t>
            </a:r>
            <a:r>
              <a:rPr sz="2000"/>
              <a:t>. Mixing that order is the classic first-save mistake.</a:t>
            </a:r>
          </a:p>
          <a:p>
            <a:pPr lvl="0" indent="0" marL="1270000">
              <a:buNone/>
            </a:pPr>
            <a:r>
              <a:rPr sz="2000"/>
              <a:t>💡 </a:t>
            </a:r>
            <a:r>
              <a:rPr sz="2000" b="1"/>
              <a:t>Always use </a:t>
            </a:r>
            <a:r>
              <a:rPr sz="2000" b="1">
                <a:latin typeface="Courier"/>
              </a:rPr>
              <a:t>dpi = 300</a:t>
            </a:r>
            <a:r>
              <a:rPr sz="2000"/>
              <a:t> — that is publication quality (300 dots per inch). The default (72 dpi) looks blurry in reports and on posters.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9 · Review and checkpoint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At this point you can:</a:t>
            </a:r>
          </a:p>
          <a:p>
            <a:pPr lvl="0"/>
            <a:r>
              <a:rPr/>
              <a:t>☐ Set up R and Positron and orient yourself in the four panes</a:t>
            </a:r>
          </a:p>
          <a:p>
            <a:pPr lvl="0"/>
            <a:r>
              <a:rPr/>
              <a:t>☐ Build a project folder with </a:t>
            </a:r>
            <a:r>
              <a:rPr>
                <a:latin typeface="Courier"/>
              </a:rPr>
              <a:t>data/</a:t>
            </a:r>
            <a:r>
              <a:rPr/>
              <a:t>, </a:t>
            </a:r>
            <a:r>
              <a:rPr>
                <a:latin typeface="Courier"/>
              </a:rPr>
              <a:t>scripts/</a:t>
            </a:r>
            <a:r>
              <a:rPr/>
              <a:t>, </a:t>
            </a:r>
            <a:r>
              <a:rPr>
                <a:latin typeface="Courier"/>
              </a:rPr>
              <a:t>figures/</a:t>
            </a:r>
          </a:p>
          <a:p>
            <a:pPr lvl="0"/>
            <a:r>
              <a:rPr/>
              <a:t>☐ Use R as a calculator and store values with </a:t>
            </a:r>
            <a:r>
              <a:rPr>
                <a:latin typeface="Courier"/>
              </a:rPr>
              <a:t>&lt;-</a:t>
            </a:r>
          </a:p>
          <a:p>
            <a:pPr lvl="0"/>
            <a:r>
              <a:rPr/>
              <a:t>☐ Write a script with </a:t>
            </a:r>
            <a:r>
              <a:rPr>
                <a:latin typeface="Courier"/>
              </a:rPr>
              <a:t>#</a:t>
            </a:r>
            <a:r>
              <a:rPr/>
              <a:t> comments, save it, and re-run it</a:t>
            </a:r>
          </a:p>
          <a:p>
            <a:pPr lvl="0"/>
            <a:r>
              <a:rPr/>
              <a:t>☐ Call functions with arguments and use </a:t>
            </a:r>
            <a:r>
              <a:rPr>
                <a:latin typeface="Courier"/>
              </a:rPr>
              <a:t>?</a:t>
            </a:r>
            <a:r>
              <a:rPr/>
              <a:t> for help</a:t>
            </a:r>
          </a:p>
          <a:p>
            <a:pPr lvl="0"/>
            <a:r>
              <a:rPr/>
              <a:t>☐ Build numeric and character vectors with </a:t>
            </a:r>
            <a:r>
              <a:rPr>
                <a:latin typeface="Courier"/>
              </a:rPr>
              <a:t>c()</a:t>
            </a:r>
          </a:p>
          <a:p>
            <a:pPr lvl="0"/>
            <a:r>
              <a:rPr/>
              <a:t>☐ Install and load packages with </a:t>
            </a:r>
            <a:r>
              <a:rPr>
                <a:latin typeface="Courier"/>
              </a:rPr>
              <a:t>install.packages()</a:t>
            </a:r>
            <a:r>
              <a:rPr/>
              <a:t> and </a:t>
            </a:r>
            <a:r>
              <a:rPr>
                <a:latin typeface="Courier"/>
              </a:rPr>
              <a:t>library()</a:t>
            </a:r>
          </a:p>
          <a:p>
            <a:pPr lvl="0"/>
            <a:r>
              <a:rPr/>
              <a:t>☐ Load an Excel file with </a:t>
            </a:r>
            <a:r>
              <a:rPr>
                <a:latin typeface="Courier"/>
              </a:rPr>
              <a:t>read_excel()</a:t>
            </a:r>
            <a:r>
              <a:rPr/>
              <a:t> and understand how </a:t>
            </a:r>
            <a:r>
              <a:rPr>
                <a:latin typeface="Courier"/>
              </a:rPr>
              <a:t>read_csv()</a:t>
            </a:r>
            <a:r>
              <a:rPr/>
              <a:t> differs</a:t>
            </a:r>
          </a:p>
          <a:p>
            <a:pPr lvl="0"/>
            <a:r>
              <a:rPr/>
              <a:t>☐ Inspect a data frame with </a:t>
            </a:r>
            <a:r>
              <a:rPr>
                <a:latin typeface="Courier"/>
              </a:rPr>
              <a:t>glimpse()</a:t>
            </a:r>
            <a:r>
              <a:rPr/>
              <a:t>, </a:t>
            </a:r>
            <a:r>
              <a:rPr>
                <a:latin typeface="Courier"/>
              </a:rPr>
              <a:t>head()</a:t>
            </a:r>
            <a:r>
              <a:rPr/>
              <a:t>, </a:t>
            </a:r>
            <a:r>
              <a:rPr>
                <a:latin typeface="Courier"/>
              </a:rPr>
              <a:t>dim()</a:t>
            </a:r>
          </a:p>
          <a:p>
            <a:pPr lvl="0"/>
            <a:r>
              <a:rPr/>
              <a:t>☐ Use the pipe </a:t>
            </a:r>
            <a:r>
              <a:rPr>
                <a:latin typeface="Courier"/>
              </a:rPr>
              <a:t>%&gt;%</a:t>
            </a:r>
            <a:r>
              <a:rPr/>
              <a:t> to chain steps together</a:t>
            </a:r>
          </a:p>
          <a:p>
            <a:pPr lvl="0"/>
            <a:r>
              <a:rPr/>
              <a:t>☐ Build a </a:t>
            </a:r>
            <a:r>
              <a:rPr>
                <a:latin typeface="Courier"/>
              </a:rPr>
              <a:t>ggplot</a:t>
            </a:r>
            <a:r>
              <a:rPr/>
              <a:t> boxplot and save it as a PNG with </a:t>
            </a:r>
            <a:r>
              <a:rPr>
                <a:latin typeface="Courier"/>
              </a:rPr>
              <a:t>dpi = 300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 — before you move on:</a:t>
            </a:r>
            <a:r>
              <a:rPr/>
              <a:t> Run the full script from top to bottom by pressing </a:t>
            </a:r>
            <a:r>
              <a:rPr b="1"/>
              <a:t>Ctrl/Cmd + Shift + Enter</a:t>
            </a:r>
            <a:r>
              <a:rPr/>
              <a:t> (runs the whole file). Does it complete without errors?</a:t>
            </a:r>
          </a:p>
          <a:p>
            <a:pPr lvl="0" indent="0">
              <a:buNone/>
            </a:pPr>
            <a:r>
              <a:rPr>
                <a:latin typeface="Courier"/>
              </a:rPr>
              <a:t>Did it run cleanly? Y / N
If not, what error did you see?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10 · Going further — more plotting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/>
              <a:t>This section is optional — work through it if you finish early or want to explore. There are no wrong answers here; the goal is to see what ggplot can do.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Scatter plots — two numeric variables</a:t>
            </a:r>
          </a:p>
          <a:p>
            <a:pPr lvl="0" indent="0" marL="0">
              <a:buNone/>
            </a:pPr>
            <a:r>
              <a:rPr b="1"/>
              <a:t>▶ Try this: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(tree_df,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width_cm,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height_cm,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width (cm)"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height (cm)"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dimensions by side of tree"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Does width predict height? Do the two groups cluster separately or overlap?</a:t>
            </a:r>
          </a:p>
          <a:p>
            <a:pPr lvl="0" indent="0">
              <a:buNone/>
            </a:pPr>
            <a:r>
              <a:rPr>
                <a:latin typeface="Courier"/>
              </a:rPr>
              <a:t>Your observation: 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Add a trend line</a:t>
            </a:r>
          </a:p>
          <a:p>
            <a:pPr lvl="0" indent="0" marL="0">
              <a:buNone/>
            </a:pPr>
            <a:r>
              <a:rPr b="1"/>
              <a:t>▶ Try this: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(tree_df,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width_cm,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height_cm,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geom_smooth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"lm"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width (cm)"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height (cm)"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dimensions with regression lines"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Do the slopes look similar or different for sunny vs. shady leaves? What might that mean biologically?</a:t>
            </a:r>
          </a:p>
          <a:p>
            <a:pPr lvl="0" indent="0">
              <a:buNone/>
            </a:pPr>
            <a:r>
              <a:rPr>
                <a:latin typeface="Courier"/>
              </a:rPr>
              <a:t>Your observation: 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Violin plots</a:t>
            </a:r>
          </a:p>
          <a:p>
            <a:pPr lvl="0" indent="0" marL="0">
              <a:buNone/>
            </a:pPr>
            <a:r>
              <a:rPr b="1"/>
              <a:t>▶ Try this: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(tree_df,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weight_g,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geom_violin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weight (g)"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"Violin plot of leaf weight"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What does the width of the violin show you that a boxplot does not?</a:t>
            </a:r>
          </a:p>
          <a:p>
            <a:pPr lvl="0" indent="0">
              <a:buNone/>
            </a:pPr>
            <a:r>
              <a:rPr>
                <a:latin typeface="Courier"/>
              </a:rPr>
              <a:t>Your observation: 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Facets — small multiples</a:t>
            </a:r>
          </a:p>
          <a:p>
            <a:pPr lvl="0" indent="0" marL="0">
              <a:buNone/>
            </a:pPr>
            <a:r>
              <a:rPr/>
              <a:t>Facets split one plot into panels, one per group.</a:t>
            </a:r>
          </a:p>
          <a:p>
            <a:pPr lvl="0" indent="0" marL="0">
              <a:buNone/>
            </a:pPr>
            <a:r>
              <a:rPr b="1"/>
              <a:t>▶ Try this: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(tree_df,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weight_g))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geom_histogram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binwidth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"steelblue"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"white"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facet_wrap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side, </a:t>
            </a:r>
            <a:r>
              <a:rPr>
                <a:solidFill>
                  <a:srgbClr val="657422"/>
                </a:solidFill>
                <a:latin typeface="Courier"/>
              </a:rPr>
              <a:t>ncol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weight (g)"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"Count"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"Distribution of leaf weight by side"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Do the histograms look roughly symmetric, or skewed? Are the shapes similar between sunny and shady?</a:t>
            </a:r>
          </a:p>
          <a:p>
            <a:pPr lvl="0" indent="0">
              <a:buNone/>
            </a:pPr>
            <a:r>
              <a:rPr>
                <a:latin typeface="Courier"/>
              </a:rPr>
              <a:t>Your observation: 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Themes — change the look</a:t>
            </a:r>
          </a:p>
          <a:p>
            <a:pPr lvl="0" indent="0" marL="0">
              <a:buNone/>
            </a:pPr>
            <a:r>
              <a:rPr/>
              <a:t>ggplot comes with built-in themes. Try swapping by adding one to any plot above: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theme_bw</a:t>
            </a:r>
            <a:r>
              <a:rPr>
                <a:solidFill>
                  <a:srgbClr val="003B4F"/>
                </a:solidFill>
                <a:latin typeface="Courier"/>
              </a:rPr>
              <a:t>()          </a:t>
            </a:r>
            <a:r>
              <a:rPr>
                <a:solidFill>
                  <a:srgbClr val="5E5E5E"/>
                </a:solidFill>
                <a:latin typeface="Courier"/>
              </a:rPr>
              <a:t># clean, white background</a:t>
            </a:r>
            <a:br/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    </a:t>
            </a:r>
            <a:r>
              <a:rPr>
                <a:solidFill>
                  <a:srgbClr val="5E5E5E"/>
                </a:solidFill>
                <a:latin typeface="Courier"/>
              </a:rPr>
              <a:t># very minimal, no border</a:t>
            </a:r>
            <a:br/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theme_classic</a:t>
            </a:r>
            <a:r>
              <a:rPr>
                <a:solidFill>
                  <a:srgbClr val="003B4F"/>
                </a:solidFill>
                <a:latin typeface="Courier"/>
              </a:rPr>
              <a:t>()     </a:t>
            </a:r>
            <a:r>
              <a:rPr>
                <a:solidFill>
                  <a:srgbClr val="5E5E5E"/>
                </a:solidFill>
                <a:latin typeface="Courier"/>
              </a:rPr>
              <a:t># classic axis lines, no grid</a:t>
            </a:r>
            <a:br/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theme_dark</a:t>
            </a:r>
            <a:r>
              <a:rPr>
                <a:solidFill>
                  <a:srgbClr val="003B4F"/>
                </a:solidFill>
                <a:latin typeface="Courier"/>
              </a:rPr>
              <a:t>()        </a:t>
            </a:r>
            <a:r>
              <a:rPr>
                <a:solidFill>
                  <a:srgbClr val="5E5E5E"/>
                </a:solidFill>
                <a:latin typeface="Courier"/>
              </a:rPr>
              <a:t># dark background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Which theme do you prefer for this kind of biological comparison data? Why?</a:t>
            </a:r>
          </a:p>
          <a:p>
            <a:pPr lvl="0" indent="0">
              <a:buNone/>
            </a:pPr>
            <a:r>
              <a:rPr>
                <a:latin typeface="Courier"/>
              </a:rPr>
              <a:t>Your answer: 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Save a scatter plot as PNG</a:t>
            </a:r>
          </a:p>
          <a:p>
            <a:pPr lvl="0" indent="0" marL="0">
              <a:buNone/>
            </a:pPr>
            <a:r>
              <a:rPr b="1"/>
              <a:t>▶ Try this: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scatter_plot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(tree_df,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width_cm,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height_cm,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geom_smooth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"lm"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width (cm)"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height (cm)"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theme_bw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ggsave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"figures/leaf_dimensions_scatter.png"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plot   =</a:t>
            </a:r>
            <a:r>
              <a:rPr>
                <a:solidFill>
                  <a:srgbClr val="003B4F"/>
                </a:solidFill>
                <a:latin typeface="Courier"/>
              </a:rPr>
              <a:t> scatter_plot,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width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7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height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units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dpi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300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Why do we save as </a:t>
            </a:r>
            <a:r>
              <a:rPr>
                <a:latin typeface="Courier"/>
              </a:rPr>
              <a:t>.png</a:t>
            </a:r>
            <a:r>
              <a:rPr/>
              <a:t> rather than </a:t>
            </a:r>
            <a:r>
              <a:rPr>
                <a:latin typeface="Courier"/>
              </a:rPr>
              <a:t>.pdf</a:t>
            </a:r>
            <a:r>
              <a:rPr/>
              <a:t> for most class submissions?</a:t>
            </a:r>
          </a:p>
          <a:p>
            <a:pPr lvl="0" indent="0">
              <a:buNone/>
            </a:pPr>
            <a:r>
              <a:rPr>
                <a:latin typeface="Courier"/>
              </a:rPr>
              <a:t>Your answer: 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What your finished project folder looks like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After working through this worksheet your </a:t>
            </a:r>
            <a:r>
              <a:rPr>
                <a:latin typeface="Courier"/>
              </a:rPr>
              <a:t>tree_project/</a:t>
            </a:r>
            <a:r>
              <a:rPr/>
              <a:t> folder should contain:</a:t>
            </a:r>
          </a:p>
          <a:p>
            <a:pPr lvl="0" indent="0">
              <a:buNone/>
            </a:pPr>
            <a:r>
              <a:rPr>
                <a:latin typeface="Courier"/>
              </a:rPr>
              <a:t>tree_project/
├── data/
│   └── 2026_06_25_tree_experiment_raw_data.xlsx   &lt;- never touch this
├── scripts/
│   └── 02_tree_analysis.R                          &lt;- your complete script
└── figures/
    ├── leaf_weight.png                             &lt;- Part 8
    └── leaf_dimensions_scatter.png                 &lt;- Going further</a:t>
            </a:r>
          </a:p>
          <a:p>
            <a:pPr lvl="0" indent="0" marL="0">
              <a:buNone/>
            </a:pPr>
            <a:r>
              <a:rPr/>
              <a:t>This is the project structure we will use </a:t>
            </a:r>
            <a:r>
              <a:rPr b="1"/>
              <a:t>for every analysis</a:t>
            </a:r>
            <a:r>
              <a:rPr/>
              <a:t> in this course: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2819400"/>
          <a:ext cx="8750300" cy="19431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08300"/>
                <a:gridCol w="2908300"/>
                <a:gridCol w="29083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Folder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Contents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Rule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data/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All data files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Read only — never overwrite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scripts/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.R</a:t>
                      </a:r>
                      <a:r>
                        <a:rPr/>
                        <a:t> code files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One script per topic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figures/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Saved plots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Always PNG, always </a:t>
                      </a:r>
                      <a:r>
                        <a:rPr>
                          <a:latin typeface="Courier"/>
                        </a:rPr>
                        <a:t>dpi = 300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Getting unstuck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code breaks — and it will, that is normal — try these in order:</a:t>
            </a:r>
          </a:p>
          <a:p>
            <a:pPr lvl="0" indent="-342900" marL="342900">
              <a:buAutoNum type="arabicPeriod"/>
            </a:pPr>
            <a:r>
              <a:rPr b="1"/>
              <a:t>Read the error message out loud.</a:t>
            </a:r>
            <a:r>
              <a:rPr/>
              <a:t> R usually names the line and the problem.</a:t>
            </a:r>
          </a:p>
          <a:p>
            <a:pPr lvl="0" indent="-342900" marL="342900">
              <a:buAutoNum type="arabicPeriod"/>
            </a:pPr>
            <a:r>
              <a:rPr b="1"/>
              <a:t>Check the usual suspects:</a:t>
            </a:r>
            <a:r>
              <a:rPr/>
              <a:t> Did you load </a:t>
            </a:r>
            <a:r>
              <a:rPr>
                <a:latin typeface="Courier"/>
              </a:rPr>
              <a:t>library(tidyverse)</a:t>
            </a:r>
            <a:r>
              <a:rPr/>
              <a:t> and </a:t>
            </a:r>
            <a:r>
              <a:rPr>
                <a:latin typeface="Courier"/>
              </a:rPr>
              <a:t>library(readxl)</a:t>
            </a:r>
            <a:r>
              <a:rPr/>
              <a:t>? Spelling? Missing </a:t>
            </a:r>
            <a:r>
              <a:rPr>
                <a:latin typeface="Courier"/>
              </a:rPr>
              <a:t>)</a:t>
            </a:r>
            <a:r>
              <a:rPr/>
              <a:t> or </a:t>
            </a:r>
            <a:r>
              <a:rPr>
                <a:latin typeface="Courier"/>
              </a:rPr>
              <a:t>+</a:t>
            </a:r>
            <a:r>
              <a:rPr/>
              <a:t> at the </a:t>
            </a:r>
            <a:r>
              <a:rPr i="1"/>
              <a:t>start</a:t>
            </a:r>
            <a:r>
              <a:rPr/>
              <a:t> of a line?</a:t>
            </a:r>
          </a:p>
          <a:p>
            <a:pPr lvl="0" indent="-342900" marL="342900">
              <a:buAutoNum type="arabicPeriod"/>
            </a:pPr>
            <a:r>
              <a:rPr b="1">
                <a:latin typeface="Courier"/>
              </a:rPr>
              <a:t>?function_name</a:t>
            </a:r>
            <a:r>
              <a:rPr/>
              <a:t> opens the built-in help page.</a:t>
            </a:r>
          </a:p>
          <a:p>
            <a:pPr lvl="0" indent="-342900" marL="342900">
              <a:buAutoNum type="arabicPeriod"/>
            </a:pPr>
            <a:r>
              <a:rPr b="1"/>
              <a:t>Tidyverse cheat sheets</a:t>
            </a:r>
            <a:r>
              <a:rPr/>
              <a:t> — </a:t>
            </a:r>
            <a:r>
              <a:rPr>
                <a:hlinkClick r:id="rId2"/>
              </a:rPr>
              <a:t>https://posit.co/resources/cheatsheets/</a:t>
            </a:r>
          </a:p>
          <a:p>
            <a:pPr lvl="0" indent="-342900" marL="342900">
              <a:buAutoNum type="arabicPeriod"/>
            </a:pPr>
            <a:r>
              <a:rPr b="1"/>
              <a:t>Bring the exact error</a:t>
            </a:r>
            <a:r>
              <a:rPr/>
              <a:t> (copy-paste it) to class or office hours.</a:t>
            </a:r>
          </a:p>
          <a:p>
            <a:pPr lvl="0" indent="0" marL="1270000">
              <a:buNone/>
            </a:pPr>
            <a:r>
              <a:rPr sz="2000"/>
              <a:t>💡 </a:t>
            </a:r>
            <a:r>
              <a:rPr sz="2000" b="1"/>
              <a:t>Key idea:</a:t>
            </a:r>
            <a:r>
              <a:rPr sz="2000"/>
              <a:t> Every working data scientist googles error messages daily. Getting stuck is not failing — it is the job.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Meeting R</dc:title>
  <dc:creator>Bill Perry</dc:creator>
  <cp:keywords/>
  <dc:description>Install R and Positron, organize a project folder, and take your first steps with vectors, functions, and loading the leaf data into R.</dc:description>
  <dcterms:created xsi:type="dcterms:W3CDTF">2026-07-05T19:53:25Z</dcterms:created>
  <dcterms:modified xsi:type="dcterms:W3CDTF">2026-07-05T19:53:25Z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date">
    <vt:lpwstr>2026-07-05</vt:lpwstr>
  </property>
  <property fmtid="{D5CDD505-2E9C-101B-9397-08002B2CF9AE}" pid="7" name="engines">
    <vt:lpwstr/>
  </property>
  <property fmtid="{D5CDD505-2E9C-101B-9397-08002B2CF9AE}" pid="8" name="execute">
    <vt:lpwstr/>
  </property>
  <property fmtid="{D5CDD505-2E9C-101B-9397-08002B2CF9AE}" pid="9" name="header-includes">
    <vt:lpwstr/>
  </property>
  <property fmtid="{D5CDD505-2E9C-101B-9397-08002B2CF9AE}" pid="10" name="include-after">
    <vt:lpwstr/>
  </property>
  <property fmtid="{D5CDD505-2E9C-101B-9397-08002B2CF9AE}" pid="11" name="include-before">
    <vt:lpwstr/>
  </property>
  <property fmtid="{D5CDD505-2E9C-101B-9397-08002B2CF9AE}" pid="12" name="labels">
    <vt:lpwstr/>
  </property>
  <property fmtid="{D5CDD505-2E9C-101B-9397-08002B2CF9AE}" pid="13" name="order">
    <vt:lpwstr>2</vt:lpwstr>
  </property>
  <property fmtid="{D5CDD505-2E9C-101B-9397-08002B2CF9AE}" pid="14" name="resources">
    <vt:lpwstr/>
  </property>
  <property fmtid="{D5CDD505-2E9C-101B-9397-08002B2CF9AE}" pid="15" name="subtitle">
    <vt:lpwstr>From the console to your first plot with the tree leaf data</vt:lpwstr>
  </property>
  <property fmtid="{D5CDD505-2E9C-101B-9397-08002B2CF9AE}" pid="16" name="toc-title">
    <vt:lpwstr>Table of contents</vt:lpwstr>
  </property>
  <property fmtid="{D5CDD505-2E9C-101B-9397-08002B2CF9AE}" pid="17" name="type">
    <vt:lpwstr>activity</vt:lpwstr>
  </property>
  <property fmtid="{D5CDD505-2E9C-101B-9397-08002B2CF9AE}" pid="18" name="week">
    <vt:lpwstr>1</vt:lpwstr>
  </property>
</Properties>
</file>