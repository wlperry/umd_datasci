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cran.r-project.org/" TargetMode="External" /><Relationship Id="rId3" Type="http://schemas.openxmlformats.org/officeDocument/2006/relationships/hyperlink" Target="https://positron.posit.co/download.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From the console to your first plot with the tree leaf data</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Meeting R</a:t>
            </a:r>
          </a:p>
        </p:txBody>
      </p:sp>
      <p:sp>
        <p:nvSpPr>
          <p:cNvPr id="3" name="Content Placeholder 2"/>
          <p:cNvSpPr>
            <a:spLocks noGrp="1"/>
          </p:cNvSpPr>
          <p:nvPr>
            <p:ph idx="1"/>
          </p:nvPr>
        </p:nvSpPr>
        <p:spPr/>
        <p:txBody>
          <a:bodyPr/>
          <a:lstStyle/>
          <a:p>
            <a:pPr lvl="0" indent="0" marL="0">
              <a:spcBef>
                <a:spcPts val="3000"/>
              </a:spcBef>
              <a:buNone/>
            </a:pPr>
            <a:r>
              <a:rPr b="1"/>
              <a:t>Recap from Activity 1</a:t>
            </a:r>
          </a:p>
          <a:p>
            <a:pPr lvl="0"/>
            <a:r>
              <a:rPr/>
              <a:t>Collected leaf samples from </a:t>
            </a:r>
            <a:r>
              <a:rPr b="1"/>
              <a:t>sunny and shady sides</a:t>
            </a:r>
            <a:r>
              <a:rPr/>
              <a:t> of trees</a:t>
            </a:r>
          </a:p>
          <a:p>
            <a:pPr lvl="0"/>
            <a:r>
              <a:rPr/>
              <a:t>Identified the independent variable (side of tree) and dependent variables (leaf mass, dimensions)</a:t>
            </a:r>
          </a:p>
          <a:p>
            <a:pPr lvl="0"/>
            <a:r>
              <a:rPr/>
              <a:t>Measured and recorded leaf weight, width, and height in a spreadsheet</a:t>
            </a:r>
          </a:p>
          <a:p>
            <a:pPr lvl="0"/>
            <a:r>
              <a:rPr/>
              <a:t>Agreed on column names, units, and metadata conventions</a:t>
            </a:r>
          </a:p>
          <a:p>
            <a:pPr lvl="0"/>
            <a:r>
              <a:rPr b="1"/>
              <a:t>Finding:</a:t>
            </a:r>
            <a:r>
              <a:rPr/>
              <a:t> shady leaves appeared larger — today we start exploring this in R</a:t>
            </a:r>
          </a:p>
          <a:p>
            <a:pPr lvl="0" indent="0" marL="0">
              <a:spcBef>
                <a:spcPts val="3000"/>
              </a:spcBef>
              <a:buNone/>
            </a:pPr>
            <a:r>
              <a:rPr b="1"/>
              <a:t>Today’s Objectives</a:t>
            </a:r>
          </a:p>
          <a:p>
            <a:pPr lvl="0" indent="-342900" marL="342900">
              <a:buAutoNum type="arabicPeriod"/>
            </a:pPr>
            <a:r>
              <a:rPr/>
              <a:t>Get R and Positron installed and oriented</a:t>
            </a:r>
          </a:p>
          <a:p>
            <a:pPr lvl="0" indent="-342900" marL="342900">
              <a:buAutoNum type="arabicPeriod"/>
            </a:pPr>
            <a:r>
              <a:rPr/>
              <a:t>Organize a project folder the right way — </a:t>
            </a:r>
            <a:r>
              <a:rPr>
                <a:latin typeface="Courier"/>
              </a:rPr>
              <a:t>data/</a:t>
            </a:r>
            <a:r>
              <a:rPr/>
              <a:t>, </a:t>
            </a:r>
            <a:r>
              <a:rPr>
                <a:latin typeface="Courier"/>
              </a:rPr>
              <a:t>scripts/</a:t>
            </a:r>
            <a:r>
              <a:rPr/>
              <a:t>, </a:t>
            </a:r>
            <a:r>
              <a:rPr>
                <a:latin typeface="Courier"/>
              </a:rPr>
              <a:t>figures/</a:t>
            </a:r>
          </a:p>
          <a:p>
            <a:pPr lvl="0" indent="-342900" marL="342900">
              <a:buAutoNum type="arabicPeriod"/>
            </a:pPr>
            <a:r>
              <a:rPr/>
              <a:t>Use R as a calculator and store values with </a:t>
            </a:r>
            <a:r>
              <a:rPr>
                <a:latin typeface="Courier"/>
              </a:rPr>
              <a:t>&lt;-</a:t>
            </a:r>
          </a:p>
          <a:p>
            <a:pPr lvl="0" indent="-342900" marL="342900">
              <a:buAutoNum type="arabicPeriod"/>
            </a:pPr>
            <a:r>
              <a:rPr/>
              <a:t>Write and run a script with </a:t>
            </a:r>
            <a:r>
              <a:rPr>
                <a:latin typeface="Courier"/>
              </a:rPr>
              <a:t>#</a:t>
            </a:r>
            <a:r>
              <a:rPr/>
              <a:t> comments</a:t>
            </a:r>
          </a:p>
          <a:p>
            <a:pPr lvl="0" indent="-342900" marL="342900">
              <a:buAutoNum type="arabicPeriod"/>
            </a:pPr>
            <a:r>
              <a:rPr/>
              <a:t>Call functions, build vectors, understand data types</a:t>
            </a:r>
          </a:p>
          <a:p>
            <a:pPr lvl="0" indent="-342900" marL="342900">
              <a:buAutoNum type="arabicPeriod"/>
            </a:pPr>
            <a:r>
              <a:rPr/>
              <a:t>Load our leaf data from Excel with </a:t>
            </a:r>
            <a:r>
              <a:rPr>
                <a:latin typeface="Courier"/>
              </a:rPr>
              <a:t>read_excel()</a:t>
            </a:r>
            <a:r>
              <a:rPr/>
              <a:t> and from CSV with </a:t>
            </a:r>
            <a:r>
              <a:rPr>
                <a:latin typeface="Courier"/>
              </a:rPr>
              <a:t>read_csv()</a:t>
            </a:r>
          </a:p>
          <a:p>
            <a:pPr lvl="0" indent="-342900" marL="342900">
              <a:buAutoNum type="arabicPeriod"/>
            </a:pPr>
            <a:r>
              <a:rPr/>
              <a:t>Inspect a data frame with </a:t>
            </a:r>
            <a:r>
              <a:rPr>
                <a:latin typeface="Courier"/>
              </a:rPr>
              <a:t>head()</a:t>
            </a:r>
            <a:r>
              <a:rPr/>
              <a:t>, </a:t>
            </a:r>
            <a:r>
              <a:rPr>
                <a:latin typeface="Courier"/>
              </a:rPr>
              <a:t>glimpse()</a:t>
            </a:r>
            <a:r>
              <a:rPr/>
              <a:t>, and </a:t>
            </a:r>
            <a:r>
              <a:rPr>
                <a:latin typeface="Courier"/>
              </a:rPr>
              <a:t>dim()</a:t>
            </a:r>
          </a:p>
          <a:p>
            <a:pPr lvl="0" indent="-342900" marL="342900">
              <a:buAutoNum type="arabicPeriod"/>
            </a:pPr>
            <a:r>
              <a:rPr/>
              <a:t>Use the pipe </a:t>
            </a:r>
            <a:r>
              <a:rPr>
                <a:latin typeface="Courier"/>
              </a:rPr>
              <a:t>%&gt;%</a:t>
            </a:r>
            <a:r>
              <a:rPr/>
              <a:t> to chain steps</a:t>
            </a:r>
          </a:p>
          <a:p>
            <a:pPr lvl="0" indent="-342900" marL="342900">
              <a:buAutoNum type="arabicPeriod"/>
            </a:pPr>
            <a:r>
              <a:rPr/>
              <a:t>Make and save a first </a:t>
            </a:r>
            <a:r>
              <a:rPr>
                <a:latin typeface="Courier"/>
              </a:rPr>
              <a:t>ggplot</a:t>
            </a:r>
            <a:r>
              <a:rPr/>
              <a:t> figure</a:t>
            </a:r>
          </a:p>
          <a:p>
            <a:pPr lvl="0" indent="0" marL="0">
              <a:spcBef>
                <a:spcPts val="3000"/>
              </a:spcBef>
              <a:buNone/>
            </a:pPr>
            <a:r>
              <a:rPr sz="2000" b="1"/>
              <a:t>How to use this worksheet</a:t>
            </a:r>
          </a:p>
          <a:p>
            <a:pPr lvl="0" indent="0" marL="1270000">
              <a:buNone/>
            </a:pPr>
            <a:r>
              <a:rPr sz="2000"/>
              <a:t>Work through each section at your own pace. Type the code into your script file in Positron and run it line by line. Code blocks marked </a:t>
            </a:r>
            <a:r>
              <a:rPr sz="2000" b="1"/>
              <a:t>▶ Run this</a:t>
            </a:r>
            <a:r>
              <a:rPr sz="2000"/>
              <a:t> are the ones you should execute. Blocks marked </a:t>
            </a:r>
            <a:r>
              <a:rPr sz="2000" b="1"/>
              <a:t>✏️ Your turn</a:t>
            </a:r>
            <a:r>
              <a:rPr sz="2000"/>
              <a:t> ask you to write or modify something. The </a:t>
            </a:r>
            <a:r>
              <a:rPr sz="2000" b="1"/>
              <a:t>Going further</a:t>
            </a:r>
            <a:r>
              <a:rPr sz="2000"/>
              <a:t> section is optional — work through it if you finish early.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 Set up R and Positron</a:t>
            </a:r>
          </a:p>
        </p:txBody>
      </p:sp>
      <p:sp>
        <p:nvSpPr>
          <p:cNvPr id="4" name="Text Placeholder 3"/>
          <p:cNvSpPr>
            <a:spLocks noGrp="1"/>
          </p:cNvSpPr>
          <p:nvPr>
            <p:ph idx="2" sz="half" type="body"/>
          </p:nvPr>
        </p:nvSpPr>
        <p:spPr/>
        <p:txBody>
          <a:bodyPr/>
          <a:lstStyle/>
          <a:p>
            <a:pPr lvl="0" indent="0" marL="0">
              <a:spcBef>
                <a:spcPts val="3000"/>
              </a:spcBef>
              <a:buNone/>
            </a:pPr>
            <a:r>
              <a:rPr b="1"/>
              <a:t>Download and install — in this order</a:t>
            </a:r>
          </a:p>
          <a:p>
            <a:pPr lvl="0" indent="-342900" marL="342900">
              <a:buAutoNum type="arabicPeriod"/>
            </a:pPr>
            <a:r>
              <a:rPr b="1"/>
              <a:t>R</a:t>
            </a:r>
            <a:r>
              <a:rPr/>
              <a:t> (the engine) — </a:t>
            </a:r>
            <a:r>
              <a:rPr>
                <a:hlinkClick r:id="rId2"/>
              </a:rPr>
              <a:t>https://cran.r-project.org/</a:t>
            </a:r>
          </a:p>
          <a:p>
            <a:pPr lvl="1"/>
            <a:r>
              <a:rPr/>
              <a:t>Choose your operating system, run the installer, accept all defaults</a:t>
            </a:r>
          </a:p>
          <a:p>
            <a:pPr lvl="0" indent="-342900" marL="342900">
              <a:buAutoNum type="arabicPeriod"/>
            </a:pPr>
            <a:r>
              <a:rPr b="1"/>
              <a:t>Positron</a:t>
            </a:r>
            <a:r>
              <a:rPr/>
              <a:t> (the editor) — </a:t>
            </a:r>
            <a:r>
              <a:rPr>
                <a:hlinkClick r:id="rId3"/>
              </a:rPr>
              <a:t>https://positron.posit.co/download.html</a:t>
            </a:r>
          </a:p>
          <a:p>
            <a:pPr lvl="1"/>
            <a:r>
              <a:rPr/>
              <a:t>Install </a:t>
            </a:r>
            <a:r>
              <a:rPr b="1"/>
              <a:t>after</a:t>
            </a:r>
            <a:r>
              <a:rPr/>
              <a:t> R — Positron needs to find R already on your machine</a:t>
            </a:r>
          </a:p>
          <a:p>
            <a:pPr lvl="1"/>
            <a:r>
              <a:rPr/>
              <a:t>Open Positron and verify it finds R (check the bottom status bar)</a:t>
            </a:r>
          </a:p>
          <a:p>
            <a:pPr lvl="0" indent="0" marL="1270000">
              <a:buNone/>
            </a:pPr>
            <a:r>
              <a:rPr sz="2000"/>
              <a:t>⚠️ </a:t>
            </a:r>
            <a:r>
              <a:rPr sz="2000" b="1"/>
              <a:t>Watch out!</a:t>
            </a:r>
            <a:r>
              <a:rPr sz="2000"/>
              <a:t> Install R </a:t>
            </a:r>
            <a:r>
              <a:rPr sz="2000" i="1"/>
              <a:t>first</a:t>
            </a:r>
            <a:r>
              <a:rPr sz="2000"/>
              <a:t>, then Positron. If you installed them in the wrong order, reinstall R and then restart Positron.</a:t>
            </a:r>
          </a:p>
          <a:p>
            <a:pPr lvl="0" indent="0" marL="0">
              <a:spcBef>
                <a:spcPts val="3000"/>
              </a:spcBef>
              <a:buNone/>
            </a:pPr>
            <a:r>
              <a:rPr b="1"/>
              <a:t>Orient yourself in Positron</a:t>
            </a:r>
          </a:p>
          <a:p>
            <a:pPr lvl="0" indent="0" marL="0">
              <a:buNone/>
            </a:pPr>
            <a:r>
              <a:rPr/>
              <a:t>Four panes you will use constantly:</a:t>
            </a:r>
          </a:p>
        </p:txBody>
      </p:sp>
      <p:graphicFrame>
        <p:nvGraphicFramePr>
          <p:cNvPr id="6" name="Content Placeholder 5"/>
          <p:cNvGraphicFramePr>
            <a:graphicFrameLocks noGrp="1"/>
          </p:cNvGraphicFramePr>
          <p:nvPr>
            <p:ph idx="1"/>
          </p:nvPr>
        </p:nvGraphicFramePr>
        <p:xfrm>
          <a:off x="127000" y="2819400"/>
          <a:ext cx="8750300" cy="1943100"/>
        </p:xfrm>
        <a:graphic>
          <a:graphicData uri="http://schemas.openxmlformats.org/drawingml/2006/table">
            <a:tbl>
              <a:tblPr firstRow="1" bandRow="1">
                <a:tableStyleId>{5C22544A-7EE6-4342-B048-85BDC9FD1C3A}</a:tableStyleId>
              </a:tblPr>
              <a:tblGrid>
                <a:gridCol w="2959100"/>
                <a:gridCol w="1536700"/>
                <a:gridCol w="42545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 / Terminal</a:t>
                      </a:r>
                    </a:p>
                  </a:txBody>
                </a:tc>
                <a:tc>
                  <a:txBody>
                    <a:bodyPr/>
                    <a:lstStyle/>
                    <a:p>
                      <a:pPr lvl="0" indent="0" marL="0">
                        <a:buNone/>
                      </a:pPr>
                      <a:r>
                        <a:rPr/>
                        <a:t>Bottom</a:t>
                      </a:r>
                    </a:p>
                  </a:txBody>
                </a:tc>
                <a:tc>
                  <a:txBody>
                    <a:bodyPr/>
                    <a:lstStyle/>
                    <a:p>
                      <a:pPr lvl="0" indent="0" marL="0">
                        <a:buNone/>
                      </a:pPr>
                      <a:r>
                        <a:rPr/>
                        <a:t>Where code runs and results appear</a:t>
                      </a:r>
                    </a:p>
                  </a:txBody>
                </a:tc>
              </a:tr>
              <a:tr h="0">
                <a:tc>
                  <a:txBody>
                    <a:bodyPr/>
                    <a:lstStyle/>
                    <a:p>
                      <a:pPr lvl="0" indent="0" marL="0">
                        <a:buNone/>
                      </a:pPr>
                      <a:r>
                        <a:rPr b="1"/>
                        <a:t>Variables / Session</a:t>
                      </a:r>
                    </a:p>
                  </a:txBody>
                </a:tc>
                <a:tc>
                  <a:txBody>
                    <a:bodyPr/>
                    <a:lstStyle/>
                    <a:p>
                      <a:pPr lvl="0" indent="0" marL="0">
                        <a:buNone/>
                      </a:pPr>
                      <a:r>
                        <a:rPr/>
                        <a:t>Right</a:t>
                      </a:r>
                    </a:p>
                  </a:txBody>
                </a:tc>
                <a:tc>
                  <a:txBody>
                    <a:bodyPr/>
                    <a:lstStyle/>
                    <a:p>
                      <a:pPr lvl="0" indent="0" marL="0">
                        <a:buNone/>
                      </a:pPr>
                      <a:r>
                        <a:rPr/>
                        <a:t>Every object you have stored</a:t>
                      </a:r>
                    </a:p>
                  </a:txBody>
                </a:tc>
              </a:tr>
              <a:tr h="0">
                <a:tc>
                  <a:txBody>
                    <a:bodyPr/>
                    <a:lstStyle/>
                    <a:p>
                      <a:pPr lvl="0" indent="0" marL="0">
                        <a:buNone/>
                      </a:pPr>
                      <a:r>
                        <a:rPr b="1"/>
                        <a:t>Plots</a:t>
                      </a:r>
                    </a:p>
                  </a:txBody>
                </a:tc>
                <a:tc>
                  <a:txBody>
                    <a:bodyPr/>
                    <a:lstStyle/>
                    <a:p>
                      <a:pPr lvl="0" indent="0" marL="0">
                        <a:buNone/>
                      </a:pPr>
                      <a:r>
                        <a:rPr/>
                        <a:t>Right (tab)</a:t>
                      </a:r>
                    </a:p>
                  </a:txBody>
                </a:tc>
                <a:tc>
                  <a:txBody>
                    <a:bodyPr/>
                    <a:lstStyle/>
                    <a:p>
                      <a:pPr lvl="0" indent="0" marL="0">
                        <a:buNone/>
                      </a:pPr>
                      <a:r>
                        <a:rPr/>
                        <a:t>Your figures appear here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Your turn:</a:t>
            </a:r>
            <a:r>
              <a:rPr/>
              <a:t> Click the </a:t>
            </a:r>
            <a:r>
              <a:rPr b="1"/>
              <a:t>Console</a:t>
            </a:r>
            <a:r>
              <a:rPr/>
              <a:t> tab. Type </a:t>
            </a:r>
            <a:r>
              <a:rPr>
                <a:latin typeface="Courier"/>
              </a:rPr>
              <a:t>1 + 1</a:t>
            </a:r>
            <a:r>
              <a:rPr/>
              <a:t> and press Enter. What did R return?</a:t>
            </a:r>
          </a:p>
          <a:p>
            <a:pPr lvl="0" indent="0">
              <a:buNone/>
            </a:pPr>
            <a:r>
              <a:rPr>
                <a:latin typeface="Courier"/>
              </a:rPr>
              <a:t>Your answer: </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Build your project folder</a:t>
            </a:r>
          </a:p>
        </p:txBody>
      </p:sp>
      <p:sp>
        <p:nvSpPr>
          <p:cNvPr id="3" name="Content Placeholder 2"/>
          <p:cNvSpPr>
            <a:spLocks noGrp="1"/>
          </p:cNvSpPr>
          <p:nvPr>
            <p:ph idx="1"/>
          </p:nvPr>
        </p:nvSpPr>
        <p:spPr/>
        <p:txBody>
          <a:bodyPr/>
          <a:lstStyle/>
          <a:p>
            <a:pPr lvl="0" indent="0" marL="0">
              <a:spcBef>
                <a:spcPts val="3000"/>
              </a:spcBef>
              <a:buNone/>
            </a:pPr>
            <a:r>
              <a:rPr b="1"/>
              <a:t>Why a project folder?</a:t>
            </a:r>
          </a:p>
          <a:p>
            <a:pPr lvl="0" indent="0" marL="0">
              <a:buNone/>
            </a:pPr>
            <a:r>
              <a:rPr/>
              <a:t>In R we keep everything for one project together in one folder. Every file path is then </a:t>
            </a:r>
            <a:r>
              <a:rPr i="1"/>
              <a:t>relative</a:t>
            </a:r>
            <a:r>
              <a:rPr/>
              <a:t> to that folder — no more </a:t>
            </a:r>
            <a:r>
              <a:rPr>
                <a:latin typeface="Courier"/>
              </a:rPr>
              <a:t>C:/Users/myname/Desktop/random_stuff/final_FINAL2.xlsx</a:t>
            </a:r>
            <a:r>
              <a:rPr/>
              <a:t> nightmares.</a:t>
            </a:r>
          </a:p>
          <a:p>
            <a:pPr lvl="0" indent="0" marL="0">
              <a:spcBef>
                <a:spcPts val="3000"/>
              </a:spcBef>
              <a:buNone/>
            </a:pPr>
            <a:r>
              <a:rPr b="1"/>
              <a:t>Create the folder structure</a:t>
            </a:r>
          </a:p>
          <a:p>
            <a:pPr lvl="0" indent="0" marL="0">
              <a:buNone/>
            </a:pPr>
            <a:r>
              <a:rPr/>
              <a:t>On your computer, make a new folder called </a:t>
            </a:r>
            <a:r>
              <a:rPr>
                <a:latin typeface="Courier"/>
              </a:rPr>
              <a:t>tree_project</a:t>
            </a:r>
            <a:r>
              <a:rPr/>
              <a:t>. Inside it, create these three sub-folders:</a:t>
            </a:r>
          </a:p>
          <a:p>
            <a:pPr lvl="0" indent="0">
              <a:buNone/>
            </a:pPr>
            <a:r>
              <a:rPr>
                <a:latin typeface="Courier"/>
              </a:rPr>
              <a:t>tree_project/
├── data/        ← your Excel and CSV files go here
├── scripts/     ← your .R code goes here
└── figures/     ← plots you save go here</a:t>
            </a:r>
          </a:p>
          <a:p>
            <a:pPr lvl="0" indent="0" marL="1270000">
              <a:buNone/>
            </a:pPr>
            <a:r>
              <a:rPr sz="2000"/>
              <a:t>💡 </a:t>
            </a:r>
            <a:r>
              <a:rPr sz="2000" b="1"/>
              <a:t>Coming from Excel?</a:t>
            </a:r>
            <a:r>
              <a:rPr sz="2000"/>
              <a:t> In Excel you tend to keep one giant workbook. In R we keep raw data untouched and write </a:t>
            </a:r>
            <a:r>
              <a:rPr sz="2000" i="1"/>
              <a:t>new</a:t>
            </a:r>
            <a:r>
              <a:rPr sz="2000"/>
              <a:t> processed files — so you can always trace your steps and never overwrite your original numbers.</a:t>
            </a:r>
          </a:p>
          <a:p>
            <a:pPr lvl="0" indent="0" marL="0">
              <a:spcBef>
                <a:spcPts val="3000"/>
              </a:spcBef>
              <a:buNone/>
            </a:pPr>
            <a:r>
              <a:rPr b="1"/>
              <a:t>Open the folder as your workspace in Positron</a:t>
            </a:r>
          </a:p>
          <a:p>
            <a:pPr lvl="0" indent="0" marL="0">
              <a:buNone/>
            </a:pPr>
            <a:r>
              <a:rPr/>
              <a:t>In Positron: </a:t>
            </a:r>
            <a:r>
              <a:rPr b="1"/>
              <a:t>File → Open Folder…</a:t>
            </a:r>
            <a:r>
              <a:rPr/>
              <a:t> and pick your </a:t>
            </a:r>
            <a:r>
              <a:rPr>
                <a:latin typeface="Courier"/>
              </a:rPr>
              <a:t>tree_project</a:t>
            </a:r>
            <a:r>
              <a:rPr/>
              <a:t> folder.</a:t>
            </a:r>
          </a:p>
          <a:p>
            <a:pPr lvl="0" indent="0" marL="0">
              <a:buNone/>
            </a:pPr>
            <a:r>
              <a:rPr/>
              <a:t>You should see </a:t>
            </a:r>
            <a:r>
              <a:rPr>
                <a:latin typeface="Courier"/>
              </a:rPr>
              <a:t>tree_project</a:t>
            </a:r>
            <a:r>
              <a:rPr/>
              <a:t> appear in the Explorer panel on the left.</a:t>
            </a:r>
          </a:p>
          <a:p>
            <a:pPr lvl="0" indent="0" marL="0">
              <a:buNone/>
            </a:pPr>
            <a:r>
              <a:rPr/>
              <a:t>✏️ </a:t>
            </a:r>
            <a:r>
              <a:rPr b="1"/>
              <a:t>Your turn:</a:t>
            </a:r>
            <a:r>
              <a:rPr/>
              <a:t> What is the full path to your </a:t>
            </a:r>
            <a:r>
              <a:rPr>
                <a:latin typeface="Courier"/>
              </a:rPr>
              <a:t>tree_project</a:t>
            </a:r>
            <a:r>
              <a:rPr/>
              <a:t> folder on your computer?</a:t>
            </a:r>
          </a:p>
          <a:p>
            <a:pPr lvl="0" indent="0">
              <a:buNone/>
            </a:pPr>
            <a:r>
              <a:rPr>
                <a:latin typeface="Courier"/>
              </a:rPr>
              <a:t>Your answer: </a:t>
            </a:r>
          </a:p>
          <a:p>
            <a:pPr lvl="0" indent="0" marL="0">
              <a:spcBef>
                <a:spcPts val="3000"/>
              </a:spcBef>
              <a:buNone/>
            </a:pPr>
            <a:r>
              <a:rPr b="1"/>
              <a:t>Copy the data file</a:t>
            </a:r>
          </a:p>
          <a:p>
            <a:pPr lvl="0" indent="0" marL="0">
              <a:buNone/>
            </a:pPr>
            <a:r>
              <a:rPr/>
              <a:t>Copy </a:t>
            </a:r>
            <a:r>
              <a:rPr>
                <a:latin typeface="Courier"/>
              </a:rPr>
              <a:t>2026_06_25_tree_experiment_raw_data.xlsx</a:t>
            </a:r>
            <a:r>
              <a:rPr/>
              <a:t> into </a:t>
            </a:r>
            <a:r>
              <a:rPr>
                <a:latin typeface="Courier"/>
              </a:rPr>
              <a:t>tree_project/data/</a:t>
            </a:r>
            <a:r>
              <a:rPr/>
              <a:t>.</a:t>
            </a:r>
          </a:p>
          <a:p>
            <a:pPr lvl="0" indent="0" marL="1270000">
              <a:buNone/>
            </a:pPr>
            <a:r>
              <a:rPr sz="2000"/>
              <a:t>⚠️ </a:t>
            </a:r>
            <a:r>
              <a:rPr sz="2000" b="1"/>
              <a:t>Important:</a:t>
            </a:r>
            <a:r>
              <a:rPr sz="2000"/>
              <a:t> Leave this copy alone — it is your raw data. We will read it but never overwrite it.</a:t>
            </a:r>
          </a:p>
          <a:p>
            <a:pPr lvl="0" indent="0" marL="0">
              <a:spcBef>
                <a:spcPts val="3000"/>
              </a:spcBef>
              <a:buNone/>
            </a:pPr>
            <a:r>
              <a:rPr b="1"/>
              <a:t>Create your first script</a:t>
            </a:r>
          </a:p>
          <a:p>
            <a:pPr lvl="0"/>
            <a:r>
              <a:rPr/>
              <a:t>In Positron:</a:t>
            </a:r>
          </a:p>
          <a:p>
            <a:pPr lvl="1"/>
            <a:r>
              <a:rPr b="1"/>
              <a:t>File → New File → R File</a:t>
            </a:r>
            <a:r>
              <a:rPr/>
              <a:t>.</a:t>
            </a:r>
          </a:p>
          <a:p>
            <a:pPr lvl="1"/>
            <a:r>
              <a:rPr/>
              <a:t>Save it immediately with </a:t>
            </a:r>
            <a:r>
              <a:rPr b="1"/>
              <a:t>Ctrl/Cmd + S</a:t>
            </a:r>
            <a:r>
              <a:rPr/>
              <a:t>, name it </a:t>
            </a:r>
            <a:r>
              <a:rPr>
                <a:latin typeface="Courier"/>
              </a:rPr>
              <a:t>02_tree_analysis.R</a:t>
            </a:r>
            <a:r>
              <a:rPr/>
              <a:t>,</a:t>
            </a:r>
          </a:p>
          <a:p>
            <a:pPr lvl="1"/>
            <a:r>
              <a:rPr/>
              <a:t>and save it inside </a:t>
            </a:r>
            <a:r>
              <a:rPr>
                <a:latin typeface="Courier"/>
              </a:rPr>
              <a:t>tree_project/scripts/</a:t>
            </a:r>
            <a:r>
              <a:rPr/>
              <a:t>.</a:t>
            </a:r>
          </a:p>
          <a:p>
            <a:pPr lvl="0" indent="0" marL="1270000">
              <a:buNone/>
            </a:pPr>
            <a:r>
              <a:rPr sz="2000"/>
              <a:t>💡 </a:t>
            </a:r>
            <a:r>
              <a:rPr sz="2000" b="1"/>
              <a:t>Key idea:</a:t>
            </a:r>
            <a:r>
              <a:rPr sz="2000"/>
              <a:t> Console = scratch paper. Script = the lab notebook you keep.</a:t>
            </a:r>
          </a:p>
          <a:p>
            <a:pPr lvl="0" indent="0" marL="0">
              <a:buNone/>
            </a:pPr>
            <a:r>
              <a:rPr/>
              <a:t>✏️ </a:t>
            </a:r>
            <a:r>
              <a:rPr b="1"/>
              <a:t>Your turn:</a:t>
            </a:r>
            <a:r>
              <a:rPr/>
              <a:t> What is your script named?</a:t>
            </a:r>
          </a:p>
          <a:p>
            <a:pPr lvl="0" indent="0">
              <a:buNone/>
            </a:pPr>
            <a:r>
              <a:rPr>
                <a:latin typeface="Courier"/>
              </a:rPr>
              <a:t>Your answer: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How R works</a:t>
            </a:r>
          </a:p>
        </p:txBody>
      </p:sp>
      <p:sp>
        <p:nvSpPr>
          <p:cNvPr id="3" name="Content Placeholder 2"/>
          <p:cNvSpPr>
            <a:spLocks noGrp="1"/>
          </p:cNvSpPr>
          <p:nvPr>
            <p:ph idx="1"/>
          </p:nvPr>
        </p:nvSpPr>
        <p:spPr/>
        <p:txBody>
          <a:bodyPr/>
          <a:lstStyle/>
          <a:p>
            <a:pPr lvl="0" indent="0" marL="0">
              <a:spcBef>
                <a:spcPts val="3000"/>
              </a:spcBef>
              <a:buNone/>
            </a:pPr>
            <a:r>
              <a:rPr b="1"/>
              <a:t>R as a calculator</a:t>
            </a:r>
          </a:p>
          <a:p>
            <a:pPr lvl="0" indent="0" marL="0">
              <a:buNone/>
            </a:pPr>
            <a:r>
              <a:rPr/>
              <a:t>Type each line below into your </a:t>
            </a:r>
            <a:r>
              <a:rPr b="1"/>
              <a:t>Console</a:t>
            </a:r>
            <a:r>
              <a:rPr/>
              <a:t> (not the script yet) and press Enter after each one.</a:t>
            </a:r>
          </a:p>
          <a:p>
            <a:pPr lvl="0" indent="0" marL="0">
              <a:buNone/>
            </a:pPr>
            <a:r>
              <a:rPr b="1"/>
              <a:t>▶ Run this in the Console:</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br/>
            <a:r>
              <a:rPr>
                <a:solidFill>
                  <a:srgbClr val="4758AB"/>
                </a:solidFill>
                <a:latin typeface="Courier"/>
              </a:rPr>
              <a:t>sqrt</a:t>
            </a:r>
            <a:r>
              <a:rPr>
                <a:solidFill>
                  <a:srgbClr val="003B4F"/>
                </a:solidFill>
                <a:latin typeface="Courier"/>
              </a:rPr>
              <a:t>(</a:t>
            </a:r>
            <a:r>
              <a:rPr>
                <a:solidFill>
                  <a:srgbClr val="AD0000"/>
                </a:solidFill>
                <a:latin typeface="Courier"/>
              </a:rPr>
              <a:t>144</a:t>
            </a:r>
            <a:r>
              <a:rPr>
                <a:solidFill>
                  <a:srgbClr val="003B4F"/>
                </a:solidFill>
                <a:latin typeface="Courier"/>
              </a:rPr>
              <a:t>)</a:t>
            </a:r>
          </a:p>
          <a:p>
            <a:pPr lvl="0" indent="0" marL="1270000">
              <a:buNone/>
            </a:pPr>
            <a:r>
              <a:rPr sz="2000"/>
              <a:t>⚠️ </a:t>
            </a:r>
            <a:r>
              <a:rPr sz="2000" b="1"/>
              <a:t>Watch out!</a:t>
            </a:r>
            <a:r>
              <a:rPr sz="2000"/>
              <a:t> If you see a </a:t>
            </a:r>
            <a:r>
              <a:rPr sz="2000">
                <a:latin typeface="Courier"/>
              </a:rPr>
              <a:t>+</a:t>
            </a:r>
            <a:r>
              <a:rPr sz="2000"/>
              <a:t> at the </a:t>
            </a:r>
            <a:r>
              <a:rPr sz="2000" i="1"/>
              <a:t>start</a:t>
            </a:r>
            <a:r>
              <a:rPr sz="2000"/>
              <a:t> of a console line instead of the </a:t>
            </a:r>
            <a:r>
              <a:rPr sz="2000">
                <a:latin typeface="Courier"/>
              </a:rPr>
              <a:t>&gt;</a:t>
            </a:r>
            <a:r>
              <a:rPr sz="2000"/>
              <a:t> prompt, R is waiting for you to finish a command. Press </a:t>
            </a:r>
            <a:r>
              <a:rPr sz="2000" b="1"/>
              <a:t>Esc</a:t>
            </a:r>
            <a:r>
              <a:rPr sz="2000"/>
              <a:t> to cancel and start over.</a:t>
            </a:r>
          </a:p>
          <a:p>
            <a:pPr lvl="0" indent="0" marL="0">
              <a:buNone/>
            </a:pPr>
            <a:r>
              <a:rPr/>
              <a:t>✏️ </a:t>
            </a:r>
            <a:r>
              <a:rPr b="1"/>
              <a:t>Your turn:</a:t>
            </a:r>
            <a:r>
              <a:rPr/>
              <a:t> What does </a:t>
            </a:r>
            <a:r>
              <a:rPr>
                <a:latin typeface="Courier"/>
              </a:rPr>
              <a:t>2 ^ 10</a:t>
            </a:r>
            <a:r>
              <a:rPr/>
              <a:t> return? What does the </a:t>
            </a:r>
            <a:r>
              <a:rPr>
                <a:latin typeface="Courier"/>
              </a:rPr>
              <a:t>^</a:t>
            </a:r>
            <a:r>
              <a:rPr/>
              <a:t> operator do?</a:t>
            </a:r>
          </a:p>
          <a:p>
            <a:pPr lvl="0" indent="0">
              <a:buNone/>
            </a:pPr>
            <a:r>
              <a:rPr>
                <a:latin typeface="Courier"/>
              </a:rPr>
              <a:t>Your answer: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Storing values with </a:t>
            </a:r>
            <a:r>
              <a:rPr b="1">
                <a:latin typeface="Courier"/>
              </a:rPr>
              <a:t>&lt;-</a:t>
            </a:r>
          </a:p>
          <a:p>
            <a:pPr lvl="0" indent="0" marL="0">
              <a:buNone/>
            </a:pPr>
            <a:r>
              <a:rPr/>
              <a:t>To keep a value, give it a </a:t>
            </a:r>
            <a:r>
              <a:rPr b="1"/>
              <a:t>name</a:t>
            </a:r>
            <a:r>
              <a:rPr/>
              <a:t> using the assignment operator </a:t>
            </a:r>
            <a:r>
              <a:rPr>
                <a:latin typeface="Courier"/>
              </a:rPr>
              <a:t>&lt;-</a:t>
            </a:r>
            <a:r>
              <a:rPr/>
              <a:t>.</a:t>
            </a:r>
          </a:p>
          <a:p>
            <a:pPr lvl="0" indent="0" marL="0">
              <a:buNone/>
            </a:pPr>
            <a:r>
              <a:rPr/>
              <a:t>Shortcut: </a:t>
            </a:r>
            <a:r>
              <a:rPr b="1"/>
              <a:t>Alt + −</a:t>
            </a:r>
            <a:r>
              <a:rPr/>
              <a:t> (Windows) or </a:t>
            </a:r>
            <a:r>
              <a:rPr b="1"/>
              <a:t>Option + −</a:t>
            </a:r>
            <a:r>
              <a:rPr/>
              <a:t> (Mac) types </a:t>
            </a:r>
            <a:r>
              <a:rPr>
                <a:latin typeface="Courier"/>
              </a:rPr>
              <a:t>&lt;-</a:t>
            </a:r>
            <a:r>
              <a:rPr/>
              <a:t> for you.</a:t>
            </a:r>
          </a:p>
          <a:p>
            <a:pPr lvl="0" indent="0" marL="0">
              <a:buNone/>
            </a:pPr>
            <a:r>
              <a:rPr b="1"/>
              <a:t>▶ Run this in the Console:</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see it</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0">
              <a:buNone/>
            </a:pPr>
            <a:r>
              <a:rPr/>
              <a:t>Look at the </a:t>
            </a:r>
            <a:r>
              <a:rPr b="1"/>
              <a:t>Variables</a:t>
            </a:r>
            <a:r>
              <a:rPr/>
              <a:t> pane on the right — </a:t>
            </a:r>
            <a:r>
              <a:rPr>
                <a:latin typeface="Courier"/>
              </a:rPr>
              <a:t>x</a:t>
            </a:r>
            <a:r>
              <a:rPr/>
              <a:t> should appear there.</a:t>
            </a:r>
          </a:p>
          <a:p>
            <a:pPr lvl="0" indent="0" marL="0">
              <a:buNone/>
            </a:pPr>
            <a:r>
              <a:rPr/>
              <a:t>✏️ </a:t>
            </a:r>
            <a:r>
              <a:rPr b="1"/>
              <a:t>Your turn:</a:t>
            </a:r>
            <a:r>
              <a:rPr/>
              <a:t> Store the number </a:t>
            </a:r>
            <a:r>
              <a:rPr>
                <a:latin typeface="Courier"/>
              </a:rPr>
              <a:t>42</a:t>
            </a:r>
            <a:r>
              <a:rPr/>
              <a:t> under the name </a:t>
            </a:r>
            <a:r>
              <a:rPr>
                <a:latin typeface="Courier"/>
              </a:rPr>
              <a:t>my_number</a:t>
            </a:r>
            <a:r>
              <a:rPr/>
              <a:t>, then multiply </a:t>
            </a:r>
            <a:r>
              <a:rPr>
                <a:latin typeface="Courier"/>
              </a:rPr>
              <a:t>my_number</a:t>
            </a:r>
            <a:r>
              <a:rPr/>
              <a:t> by </a:t>
            </a:r>
            <a:r>
              <a:rPr>
                <a:latin typeface="Courier"/>
              </a:rPr>
              <a:t>x</a:t>
            </a:r>
            <a:r>
              <a:rPr/>
              <a:t>. What is the result?</a:t>
            </a:r>
          </a:p>
          <a:p>
            <a:pPr lvl="0" indent="0">
              <a:buNone/>
            </a:pPr>
            <a:r>
              <a:rPr>
                <a:solidFill>
                  <a:srgbClr val="5E5E5E"/>
                </a:solidFill>
                <a:latin typeface="Courier"/>
              </a:rPr>
              <a:t># Write your code here:</a:t>
            </a:r>
          </a:p>
          <a:p>
            <a:pPr lvl="0" indent="0">
              <a:buNone/>
            </a:pPr>
            <a:r>
              <a:rPr>
                <a:latin typeface="Courier"/>
              </a:rPr>
              <a:t>Your answer: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Naming things well</a:t>
            </a:r>
          </a:p>
          <a:p>
            <a:pPr lvl="0" indent="0" marL="0">
              <a:buNone/>
            </a:pPr>
            <a:r>
              <a:rPr/>
              <a:t>Good names make code readable months later:</a:t>
            </a:r>
          </a:p>
          <a:p>
            <a:pPr lvl="0"/>
            <a:r>
              <a:rPr/>
              <a:t>Be explicit but not too long: </a:t>
            </a:r>
            <a:r>
              <a:rPr>
                <a:latin typeface="Courier"/>
              </a:rPr>
              <a:t>leaf_mass</a:t>
            </a:r>
            <a:r>
              <a:rPr/>
              <a:t> not </a:t>
            </a:r>
            <a:r>
              <a:rPr>
                <a:latin typeface="Courier"/>
              </a:rPr>
              <a:t>x2</a:t>
            </a:r>
          </a:p>
          <a:p>
            <a:pPr lvl="0"/>
            <a:r>
              <a:rPr/>
              <a:t>Cannot start with a number — </a:t>
            </a:r>
            <a:r>
              <a:rPr>
                <a:latin typeface="Courier"/>
              </a:rPr>
              <a:t>x2</a:t>
            </a:r>
            <a:r>
              <a:rPr/>
              <a:t> ✅, </a:t>
            </a:r>
            <a:r>
              <a:rPr>
                <a:latin typeface="Courier"/>
              </a:rPr>
              <a:t>2x</a:t>
            </a:r>
            <a:r>
              <a:rPr/>
              <a:t> ❌</a:t>
            </a:r>
          </a:p>
          <a:p>
            <a:pPr lvl="0"/>
            <a:r>
              <a:rPr/>
              <a:t>R is </a:t>
            </a:r>
            <a:r>
              <a:rPr b="1"/>
              <a:t>case-sensitive</a:t>
            </a:r>
            <a:r>
              <a:rPr/>
              <a:t> — </a:t>
            </a:r>
            <a:r>
              <a:rPr>
                <a:latin typeface="Courier"/>
              </a:rPr>
              <a:t>weight_g</a:t>
            </a:r>
            <a:r>
              <a:rPr/>
              <a:t> ≠ </a:t>
            </a:r>
            <a:r>
              <a:rPr>
                <a:latin typeface="Courier"/>
              </a:rPr>
              <a:t>Weight_g</a:t>
            </a:r>
          </a:p>
          <a:p>
            <a:pPr lvl="0"/>
            <a:r>
              <a:rPr/>
              <a:t>Use </a:t>
            </a:r>
            <a:r>
              <a:rPr b="1">
                <a:latin typeface="Courier"/>
              </a:rPr>
              <a:t>lower_snake_case</a:t>
            </a:r>
            <a:r>
              <a:rPr/>
              <a:t> — words separated by underscores, all lowercase</a:t>
            </a:r>
          </a:p>
          <a:p>
            <a:pPr lvl="0" indent="0" marL="0">
              <a:buNone/>
            </a:pPr>
            <a:r>
              <a:rPr/>
              <a:t>✏️ </a:t>
            </a:r>
            <a:r>
              <a:rPr b="1"/>
              <a:t>Your turn:</a:t>
            </a:r>
            <a:r>
              <a:rPr/>
              <a:t> Which of these names are valid in R? Write Y or N next to each.</a:t>
            </a:r>
          </a:p>
          <a:p>
            <a:pPr lvl="0" indent="0">
              <a:buNone/>
            </a:pPr>
            <a:r>
              <a:rPr>
                <a:latin typeface="Courier"/>
              </a:rPr>
              <a:t>leaf_mass       — 
3rd_leaf        — 
Width_cm        — 
my.leaf.data    — 
side            —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Comments with </a:t>
            </a:r>
            <a:r>
              <a:rPr b="1">
                <a:latin typeface="Courier"/>
              </a:rPr>
              <a:t>#</a:t>
            </a:r>
          </a:p>
          <a:p>
            <a:pPr lvl="0" indent="0" marL="0">
              <a:buNone/>
            </a:pPr>
            <a:r>
              <a:rPr/>
              <a:t>Anything to the right of </a:t>
            </a:r>
            <a:r>
              <a:rPr>
                <a:latin typeface="Courier"/>
              </a:rPr>
              <a:t>#</a:t>
            </a:r>
            <a:r>
              <a:rPr/>
              <a:t> is </a:t>
            </a:r>
            <a:r>
              <a:rPr b="1"/>
              <a:t>ignored by R</a:t>
            </a:r>
            <a:r>
              <a:rPr/>
              <a:t> — it is a note for humans. Shortcut to toggle: </a:t>
            </a:r>
            <a:r>
              <a:rPr b="1"/>
              <a:t>Ctrl/Cmd + Shift + C</a:t>
            </a:r>
            <a:r>
              <a:rPr/>
              <a:t>.</a:t>
            </a:r>
          </a:p>
          <a:p>
            <a:pPr lvl="0" indent="0" marL="0">
              <a:buNone/>
            </a:pPr>
            <a:r>
              <a:rPr b="1"/>
              <a:t>▶ Run this in your Script:</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indent="0" marL="1270000">
              <a:buNone/>
            </a:pPr>
            <a:r>
              <a:rPr sz="2000"/>
              <a:t>💡 </a:t>
            </a:r>
            <a:r>
              <a:rPr sz="2000" b="1"/>
              <a:t>Key idea:</a:t>
            </a:r>
            <a:r>
              <a:rPr sz="2000"/>
              <a:t> If a line confused you while writing it, write a comment explaining </a:t>
            </a:r>
            <a:r>
              <a:rPr sz="2000" i="1"/>
              <a:t>why</a:t>
            </a:r>
            <a:r>
              <a:rPr sz="2000"/>
              <a:t> you did it.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Functions and arguments</a:t>
            </a:r>
          </a:p>
          <a:p>
            <a:pPr lvl="0" indent="0" marL="0">
              <a:buNone/>
            </a:pPr>
            <a:r>
              <a:rPr/>
              <a:t>A </a:t>
            </a:r>
            <a:r>
              <a:rPr b="1"/>
              <a:t>function</a:t>
            </a:r>
            <a:r>
              <a:rPr/>
              <a:t> is a mini-program you call by name. You feed it </a:t>
            </a:r>
            <a:r>
              <a:rPr b="1"/>
              <a:t>arguments</a:t>
            </a:r>
            <a:r>
              <a:rPr/>
              <a:t> (inputs) inside </a:t>
            </a:r>
            <a:r>
              <a:rPr>
                <a:latin typeface="Courier"/>
              </a:rPr>
              <a:t>( )</a:t>
            </a:r>
            <a:r>
              <a:rPr/>
              <a:t>.</a:t>
            </a:r>
          </a:p>
          <a:p>
            <a:pPr lvl="0" indent="0" marL="0">
              <a:buNone/>
            </a:pPr>
            <a:r>
              <a:rPr b="1"/>
              <a:t>▶ Run this in the Console:</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decimal places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decimal places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same, with named arguments</a:t>
            </a:r>
          </a:p>
          <a:p>
            <a:pPr lvl="0" indent="0" marL="0">
              <a:buNone/>
            </a:pPr>
            <a:r>
              <a:rPr/>
              <a:t>To get help on any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list what arguments it takes</a:t>
            </a:r>
          </a:p>
          <a:p>
            <a:pPr lvl="0" indent="0" marL="0">
              <a:buNone/>
            </a:pPr>
            <a:r>
              <a:rPr/>
              <a:t>✏️ </a:t>
            </a:r>
            <a:r>
              <a:rPr b="1"/>
              <a:t>Your turn:</a:t>
            </a:r>
            <a:r>
              <a:rPr/>
              <a:t> Use </a:t>
            </a:r>
            <a:r>
              <a:rPr>
                <a:latin typeface="Courier"/>
              </a:rPr>
              <a:t>round()</a:t>
            </a:r>
            <a:r>
              <a:rPr/>
              <a:t> to round </a:t>
            </a:r>
            <a:r>
              <a:rPr>
                <a:latin typeface="Courier"/>
              </a:rPr>
              <a:t>pi</a:t>
            </a:r>
            <a:r>
              <a:rPr/>
              <a:t> (R knows </a:t>
            </a:r>
            <a:r>
              <a:rPr>
                <a:latin typeface="Courier"/>
              </a:rPr>
              <a:t>pi</a:t>
            </a:r>
            <a:r>
              <a:rPr/>
              <a:t> by name — just type it) to 4 decimal places.</a:t>
            </a:r>
          </a:p>
          <a:p>
            <a:pPr lvl="0" indent="0">
              <a:buNone/>
            </a:pPr>
            <a:r>
              <a:rPr>
                <a:solidFill>
                  <a:srgbClr val="5E5E5E"/>
                </a:solidFill>
                <a:latin typeface="Courier"/>
              </a:rPr>
              <a:t># Write your code here:</a:t>
            </a:r>
          </a:p>
          <a:p>
            <a:pPr lvl="0" indent="0">
              <a:buNone/>
            </a:pPr>
            <a:r>
              <a:rPr>
                <a:latin typeface="Courier"/>
              </a:rPr>
              <a:t>Your answer: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 — a row of values</a:t>
            </a:r>
          </a:p>
          <a:p>
            <a:pPr lvl="0" indent="0" marL="0">
              <a:buNone/>
            </a:pPr>
            <a:r>
              <a:rPr/>
              <a:t>A </a:t>
            </a:r>
            <a:r>
              <a:rPr b="1"/>
              <a:t>vector</a:t>
            </a:r>
            <a:r>
              <a:rPr/>
              <a:t> is a series of values built with </a:t>
            </a:r>
            <a:r>
              <a:rPr>
                <a:latin typeface="Courier"/>
              </a:rPr>
              <a:t>c()</a:t>
            </a:r>
            <a:r>
              <a:rPr/>
              <a:t> — the </a:t>
            </a:r>
            <a:r>
              <a:rPr i="1"/>
              <a:t>combine</a:t>
            </a:r>
            <a:r>
              <a:rPr/>
              <a:t> function. A spreadsheet column is really just a vector.</a:t>
            </a:r>
          </a:p>
          <a:p>
            <a:pPr lvl="0" indent="0" marL="0">
              <a:buNone/>
            </a:pPr>
            <a:r>
              <a:rPr b="1"/>
              <a:t>▶ Run this in your Script:</a:t>
            </a:r>
          </a:p>
          <a:p>
            <a:pPr lvl="0" indent="0">
              <a:buNone/>
            </a:pPr>
            <a:r>
              <a:rPr>
                <a:solidFill>
                  <a:srgbClr val="003B4F"/>
                </a:solidFill>
                <a:latin typeface="Courier"/>
              </a:rPr>
              <a:t>weight_g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numeric vector</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character vector — needs quotes</a:t>
            </a:r>
            <a:br/>
            <a:br/>
            <a:r>
              <a:rPr>
                <a:solidFill>
                  <a:srgbClr val="4758AB"/>
                </a:solidFill>
                <a:latin typeface="Courier"/>
              </a:rPr>
              <a:t>length</a:t>
            </a:r>
            <a:r>
              <a:rPr>
                <a:solidFill>
                  <a:srgbClr val="003B4F"/>
                </a:solidFill>
                <a:latin typeface="Courier"/>
              </a:rPr>
              <a:t>(weight_g)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(weight_g)     </a:t>
            </a:r>
            <a:r>
              <a:rPr>
                <a:solidFill>
                  <a:srgbClr val="5E5E5E"/>
                </a:solidFill>
                <a:latin typeface="Courier"/>
              </a:rPr>
              <a:t># what type is it?</a:t>
            </a:r>
            <a:br/>
            <a:r>
              <a:rPr>
                <a:solidFill>
                  <a:srgbClr val="4758AB"/>
                </a:solidFill>
                <a:latin typeface="Courier"/>
              </a:rPr>
              <a:t>str</a:t>
            </a:r>
            <a:r>
              <a:rPr>
                <a:solidFill>
                  <a:srgbClr val="003B4F"/>
                </a:solidFill>
                <a:latin typeface="Courier"/>
              </a:rPr>
              <a:t>(weight_g)       </a:t>
            </a:r>
            <a:r>
              <a:rPr>
                <a:solidFill>
                  <a:srgbClr val="5E5E5E"/>
                </a:solidFill>
                <a:latin typeface="Courier"/>
              </a:rPr>
              <a:t># structure overview</a:t>
            </a:r>
          </a:p>
          <a:p>
            <a:pPr lvl="0" indent="0" marL="1270000">
              <a:buNone/>
            </a:pPr>
            <a:r>
              <a:rPr sz="2000"/>
              <a:t>⚠️ </a:t>
            </a:r>
            <a:r>
              <a:rPr sz="2000" b="1"/>
              <a:t>Watch out!</a:t>
            </a:r>
            <a:r>
              <a:rPr sz="2000"/>
              <a:t> Quotes matter: </a:t>
            </a:r>
            <a:r>
              <a:rPr sz="2000">
                <a:latin typeface="Courier"/>
              </a:rPr>
              <a:t>"sunny"</a:t>
            </a:r>
            <a:r>
              <a:rPr sz="2000"/>
              <a:t> is text. Without quotes, R searches for an </a:t>
            </a:r>
            <a:r>
              <a:rPr sz="2000" i="1"/>
              <a:t>object</a:t>
            </a:r>
            <a:r>
              <a:rPr sz="2000"/>
              <a:t> named </a:t>
            </a:r>
            <a:r>
              <a:rPr sz="2000">
                <a:latin typeface="Courier"/>
              </a:rPr>
              <a:t>sunny</a:t>
            </a:r>
            <a:r>
              <a:rPr sz="2000"/>
              <a:t> and throws an error when it cannot find one.</a:t>
            </a:r>
          </a:p>
          <a:p>
            <a:pPr lvl="0" indent="0" marL="0">
              <a:buNone/>
            </a:pPr>
            <a:r>
              <a:rPr/>
              <a:t>✏️ </a:t>
            </a:r>
            <a:r>
              <a:rPr b="1"/>
              <a:t>Your turn:</a:t>
            </a:r>
            <a:r>
              <a:rPr/>
              <a:t> Make a character vector called </a:t>
            </a:r>
            <a:r>
              <a:rPr>
                <a:latin typeface="Courier"/>
              </a:rPr>
              <a:t>my_colors</a:t>
            </a:r>
            <a:r>
              <a:rPr/>
              <a:t> with three color names of your choice. Check its </a:t>
            </a:r>
            <a:r>
              <a:rPr>
                <a:latin typeface="Courier"/>
              </a:rPr>
              <a:t>length()</a:t>
            </a:r>
            <a:r>
              <a:rPr/>
              <a:t> and </a:t>
            </a:r>
            <a:r>
              <a:rPr>
                <a:latin typeface="Courier"/>
              </a:rPr>
              <a:t>class()</a:t>
            </a:r>
            <a:r>
              <a:rPr/>
              <a:t>.</a:t>
            </a:r>
          </a:p>
          <a:p>
            <a:pPr lvl="0" indent="0">
              <a:buNone/>
            </a:pPr>
            <a:r>
              <a:rPr>
                <a:solidFill>
                  <a:srgbClr val="5E5E5E"/>
                </a:solidFill>
                <a:latin typeface="Courier"/>
              </a:rPr>
              <a:t># Write your code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types inside vectors</a:t>
            </a:r>
          </a:p>
          <a:p>
            <a:pPr lvl="0" indent="0" marL="0">
              <a:buNone/>
            </a:pPr>
            <a:r>
              <a:rPr/>
              <a:t>Every vector holds </a:t>
            </a:r>
            <a:r>
              <a:rPr b="1"/>
              <a:t>one type</a:t>
            </a:r>
            <a:r>
              <a:rPr/>
              <a:t>:</a:t>
            </a:r>
          </a:p>
        </p:txBody>
      </p:sp>
      <p:graphicFrame>
        <p:nvGraphicFramePr>
          <p:cNvPr id="6" name="Content Placeholder 5"/>
          <p:cNvGraphicFramePr>
            <a:graphicFrameLocks noGrp="1"/>
          </p:cNvGraphicFramePr>
          <p:nvPr>
            <p:ph idx="1"/>
          </p:nvPr>
        </p:nvGraphicFramePr>
        <p:xfrm>
          <a:off x="127000" y="2819400"/>
          <a:ext cx="8750300" cy="1943100"/>
        </p:xfrm>
        <a:graphic>
          <a:graphicData uri="http://schemas.openxmlformats.org/drawingml/2006/table">
            <a:tbl>
              <a:tblPr firstRow="1" bandRow="1">
                <a:tableStyleId>{5C22544A-7EE6-4342-B048-85BDC9FD1C3A}</a:tableStyleId>
              </a:tblPr>
              <a:tblGrid>
                <a:gridCol w="2908300"/>
                <a:gridCol w="2908300"/>
                <a:gridCol w="2908300"/>
              </a:tblGrid>
              <a:tr h="0">
                <a:tc>
                  <a:txBody>
                    <a:bodyPr/>
                    <a:lstStyle/>
                    <a:p>
                      <a:pPr lvl="0" indent="0" marL="0">
                        <a:buNone/>
                      </a:pPr>
                      <a:r>
                        <a:rPr/>
                        <a:t>Type</a:t>
                      </a:r>
                    </a:p>
                  </a:txBody>
                  <a:tcPr/>
                </a:tc>
                <a:tc>
                  <a:txBody>
                    <a:bodyPr/>
                    <a:lstStyle/>
                    <a:p>
                      <a:pPr lvl="0" indent="0" marL="0">
                        <a:buNone/>
                      </a:pPr>
                      <a:r>
                        <a:rPr/>
                        <a:t>Example</a:t>
                      </a:r>
                    </a:p>
                  </a:txBody>
                  <a:tcPr/>
                </a:tc>
                <a:tc>
                  <a:txBody>
                    <a:bodyPr/>
                    <a:lstStyle/>
                    <a:p>
                      <a:pPr lvl="0" indent="0" marL="0">
                        <a:buNone/>
                      </a:pPr>
                      <a:r>
                        <a:rPr/>
                        <a:t>Notes</a:t>
                      </a:r>
                    </a:p>
                  </a:txBody>
                  <a:tcPr/>
                </a:tc>
              </a:tr>
              <a:tr h="0">
                <a:tc>
                  <a:txBody>
                    <a:bodyPr/>
                    <a:lstStyle/>
                    <a:p>
                      <a:pPr lvl="0" indent="0" marL="0">
                        <a:buNone/>
                      </a:pPr>
                      <a:r>
                        <a:rPr>
                          <a:latin typeface="Courier"/>
                        </a:rPr>
                        <a:t>numeric</a:t>
                      </a:r>
                    </a:p>
                  </a:txBody>
                </a:tc>
                <a:tc>
                  <a:txBody>
                    <a:bodyPr/>
                    <a:lstStyle/>
                    <a:p>
                      <a:pPr lvl="0" indent="0" marL="0">
                        <a:buNone/>
                      </a:pPr>
                      <a:r>
                        <a:rPr>
                          <a:latin typeface="Courier"/>
                        </a:rPr>
                        <a:t>4</a:t>
                      </a:r>
                      <a:r>
                        <a:rPr/>
                        <a:t>, </a:t>
                      </a:r>
                      <a:r>
                        <a:rPr>
                          <a:latin typeface="Courier"/>
                        </a:rPr>
                        <a:t>3.5</a:t>
                      </a:r>
                    </a:p>
                  </a:txBody>
                </a:tc>
                <a:tc>
                  <a:txBody>
                    <a:bodyPr/>
                    <a:lstStyle/>
                    <a:p>
                      <a:pPr lvl="0" indent="0" marL="0">
                        <a:buNone/>
                      </a:pPr>
                      <a:r>
                        <a:rPr/>
                        <a:t>All numbers by default</a:t>
                      </a:r>
                    </a:p>
                  </a:txBody>
                </a:tc>
              </a:tr>
              <a:tr h="0">
                <a:tc>
                  <a:txBody>
                    <a:bodyPr/>
                    <a:lstStyle/>
                    <a:p>
                      <a:pPr lvl="0" indent="0" marL="0">
                        <a:buNone/>
                      </a:pPr>
                      <a:r>
                        <a:rPr>
                          <a:latin typeface="Courier"/>
                        </a:rPr>
                        <a:t>character</a:t>
                      </a:r>
                    </a:p>
                  </a:txBody>
                </a:tc>
                <a:tc>
                  <a:txBody>
                    <a:bodyPr/>
                    <a:lstStyle/>
                    <a:p>
                      <a:pPr lvl="0" indent="0" marL="0">
                        <a:buNone/>
                      </a:pPr>
                      <a:r>
                        <a:rPr>
                          <a:latin typeface="Courier"/>
                        </a:rPr>
                        <a:t>"sunny"</a:t>
                      </a:r>
                    </a:p>
                  </a:txBody>
                </a:tc>
                <a:tc>
                  <a:txBody>
                    <a:bodyPr/>
                    <a:lstStyle/>
                    <a:p>
                      <a:pPr lvl="0" indent="0" marL="0">
                        <a:buNone/>
                      </a:pPr>
                      <a:r>
                        <a:rPr/>
                        <a:t>Any text, always quoted</a:t>
                      </a:r>
                    </a:p>
                  </a:txBody>
                </a:tc>
              </a:tr>
              <a:tr h="0">
                <a:tc>
                  <a:txBody>
                    <a:bodyPr/>
                    <a:lstStyle/>
                    <a:p>
                      <a:pPr lvl="0" indent="0" marL="0">
                        <a:buNone/>
                      </a:pPr>
                      <a:r>
                        <a:rPr>
                          <a:latin typeface="Courier"/>
                        </a:rPr>
                        <a:t>logical</a:t>
                      </a:r>
                    </a:p>
                  </a:txBody>
                </a:tc>
                <a:tc>
                  <a:txBody>
                    <a:bodyPr/>
                    <a:lstStyle/>
                    <a:p>
                      <a:pPr lvl="0" indent="0" marL="0">
                        <a:buNone/>
                      </a:pPr>
                      <a:r>
                        <a:rPr>
                          <a:latin typeface="Courier"/>
                        </a:rPr>
                        <a:t>TRUE</a:t>
                      </a:r>
                      <a:r>
                        <a:rPr/>
                        <a:t> / </a:t>
                      </a:r>
                      <a:r>
                        <a:rPr>
                          <a:latin typeface="Courier"/>
                        </a:rPr>
                        <a:t>FALSE</a:t>
                      </a:r>
                    </a:p>
                  </a:txBody>
                </a:tc>
                <a:tc>
                  <a:txBody>
                    <a:bodyPr/>
                    <a:lstStyle/>
                    <a:p>
                      <a:pPr lvl="0" indent="0" marL="0">
                        <a:buNone/>
                      </a:pPr>
                      <a:r>
                        <a:rPr/>
                        <a:t>Must be all-caps</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Mix types and R silently converts everything to the most flexible type — numbers become text, TRUE becomes 1. This can cause surprising bugs.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Packages and libraries</a:t>
            </a:r>
          </a:p>
        </p:txBody>
      </p:sp>
      <p:sp>
        <p:nvSpPr>
          <p:cNvPr id="3" name="Content Placeholder 2"/>
          <p:cNvSpPr>
            <a:spLocks noGrp="1"/>
          </p:cNvSpPr>
          <p:nvPr>
            <p:ph idx="1"/>
          </p:nvPr>
        </p:nvSpPr>
        <p:spPr/>
        <p:txBody>
          <a:bodyPr/>
          <a:lstStyle/>
          <a:p>
            <a:pPr lvl="0" indent="0" marL="0">
              <a:spcBef>
                <a:spcPts val="3000"/>
              </a:spcBef>
              <a:buNone/>
            </a:pPr>
            <a:r>
              <a:rPr b="1"/>
              <a:t>What is a package?</a:t>
            </a:r>
          </a:p>
          <a:p>
            <a:pPr lvl="0" indent="0" marL="0">
              <a:buNone/>
            </a:pPr>
            <a:r>
              <a:rPr/>
              <a:t>Base R is powerful but lean. </a:t>
            </a:r>
            <a:r>
              <a:rPr b="1"/>
              <a:t>Packages</a:t>
            </a:r>
            <a:r>
              <a:rPr/>
              <a:t> add new functions — like apps for your phone.</a:t>
            </a:r>
          </a:p>
          <a:p>
            <a:pPr lvl="0" indent="0" marL="0">
              <a:buNone/>
            </a:pPr>
            <a:r>
              <a:rPr b="1"/>
              <a:t>Install once</a:t>
            </a:r>
            <a:r>
              <a:rPr/>
              <a:t> — run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put this at the </a:t>
            </a:r>
            <a:r>
              <a:rPr b="1"/>
              <a:t>top of every script you write</a:t>
            </a:r>
            <a:r>
              <a:rPr/>
              <a: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ggplot2 for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reading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a:t>⚠️ </a:t>
            </a:r>
            <a:r>
              <a:rPr sz="2000" b="1"/>
              <a:t>Watch out!</a:t>
            </a:r>
            <a:r>
              <a:rPr sz="2000"/>
              <a:t> If R says </a:t>
            </a:r>
            <a:r>
              <a:rPr sz="2000" i="1"/>
              <a:t>“could not find function </a:t>
            </a:r>
            <a:r>
              <a:rPr sz="2000" i="1">
                <a:latin typeface="Courier"/>
              </a:rPr>
              <a:t>read_excel</a:t>
            </a:r>
            <a:r>
              <a:rPr sz="2000" i="1"/>
              <a:t>”</a:t>
            </a:r>
            <a:r>
              <a:rPr sz="2000"/>
              <a:t>, you forgot </a:t>
            </a:r>
            <a:r>
              <a:rPr sz="2000">
                <a:latin typeface="Courier"/>
              </a:rPr>
              <a:t>library(readxl)</a:t>
            </a:r>
            <a:r>
              <a:rPr sz="2000"/>
              <a:t>. You must reload libraries every time you restart R.</a:t>
            </a:r>
          </a:p>
          <a:p>
            <a:pPr lvl="0" indent="0" marL="0">
              <a:buNone/>
            </a:pPr>
            <a:r>
              <a:rPr b="1"/>
              <a:t>▶ Run this at the very top of your Script:</a:t>
            </a:r>
          </a:p>
          <a:p>
            <a:pPr lvl="0" indent="0">
              <a:buNone/>
            </a:pPr>
            <a:r>
              <a:rPr>
                <a:solidFill>
                  <a:srgbClr val="5E5E5E"/>
                </a:solidFill>
                <a:latin typeface="Courier"/>
              </a:rPr>
              <a:t># ── Packages ────────────────────────────────────────────────</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p>
          <a:p>
            <a:pPr lvl="0" indent="0" marL="0">
              <a:buNone/>
            </a:pPr>
            <a:r>
              <a:rPr/>
              <a:t>✏️ </a:t>
            </a:r>
            <a:r>
              <a:rPr b="1"/>
              <a:t>Your turn:</a:t>
            </a:r>
            <a:r>
              <a:rPr/>
              <a:t> What message does R print after </a:t>
            </a:r>
            <a:r>
              <a:rPr>
                <a:latin typeface="Courier"/>
              </a:rPr>
              <a:t>library(tidyverse)</a:t>
            </a:r>
            <a:r>
              <a:rPr/>
              <a:t>? Write the first line here:</a:t>
            </a:r>
          </a:p>
          <a:p>
            <a:pPr lvl="0" indent="0">
              <a:buNone/>
            </a:pPr>
            <a:r>
              <a:rPr>
                <a:latin typeface="Courier"/>
              </a:rPr>
              <a:t>Your answer: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Load the tree data</a:t>
            </a:r>
          </a:p>
        </p:txBody>
      </p:sp>
      <p:sp>
        <p:nvSpPr>
          <p:cNvPr id="3" name="Content Placeholder 2"/>
          <p:cNvSpPr>
            <a:spLocks noGrp="1"/>
          </p:cNvSpPr>
          <p:nvPr>
            <p:ph idx="1"/>
          </p:nvPr>
        </p:nvSpPr>
        <p:spPr/>
        <p:txBody>
          <a:bodyPr/>
          <a:lstStyle/>
          <a:p>
            <a:pPr lvl="0" indent="0" marL="0">
              <a:spcBef>
                <a:spcPts val="3000"/>
              </a:spcBef>
              <a:buNone/>
            </a:pPr>
            <a:r>
              <a:rPr b="1"/>
              <a:t>Two functions — two file types</a:t>
            </a:r>
          </a:p>
          <a:p>
            <a:pPr lvl="0" indent="0" marL="0">
              <a:buNone/>
            </a:pPr>
            <a:r>
              <a:rPr b="1"/>
              <a:t>▶ Run this in your Script:</a:t>
            </a:r>
          </a:p>
          <a:p>
            <a:pPr lvl="0" indent="0">
              <a:buNone/>
            </a:pPr>
            <a:r>
              <a:rPr>
                <a:solidFill>
                  <a:srgbClr val="5E5E5E"/>
                </a:solidFill>
                <a:latin typeface="Courier"/>
              </a:rPr>
              <a:t># ── Load data ────────────────────────────────────────────────</a:t>
            </a:r>
            <a:br/>
            <a:br/>
            <a:r>
              <a:rPr>
                <a:solidFill>
                  <a:srgbClr val="5E5E5E"/>
                </a:solidFill>
                <a:latin typeface="Courier"/>
              </a:rPr>
              <a:t># Excel files (.xlsx) — needs library(readxl)</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003B4F"/>
                </a:solidFill>
                <a:latin typeface="Courier"/>
              </a:rPr>
              <a:t>tree_df    </a:t>
            </a:r>
            <a:r>
              <a:rPr>
                <a:solidFill>
                  <a:srgbClr val="5E5E5E"/>
                </a:solidFill>
                <a:latin typeface="Courier"/>
              </a:rPr>
              <a:t># print to the console</a:t>
            </a:r>
          </a:p>
          <a:p>
            <a:pPr lvl="0" indent="0" marL="1270000">
              <a:buNone/>
            </a:pPr>
            <a:r>
              <a:rPr sz="2000"/>
              <a:t>💡 </a:t>
            </a:r>
            <a:r>
              <a:rPr sz="2000" b="1"/>
              <a:t>Coming from Excel?</a:t>
            </a:r>
            <a:r>
              <a:rPr sz="2000"/>
              <a:t> </a:t>
            </a:r>
            <a:r>
              <a:rPr sz="2000">
                <a:latin typeface="Courier"/>
              </a:rPr>
              <a:t>read_excel()</a:t>
            </a:r>
            <a:r>
              <a:rPr sz="2000"/>
              <a:t> is the bridge from your spreadsheet into R. Your sheet’s first row becomes the </a:t>
            </a:r>
            <a:r>
              <a:rPr sz="2000" b="1"/>
              <a:t>column names</a:t>
            </a:r>
            <a:r>
              <a:rPr sz="2000"/>
              <a:t> in R. </a:t>
            </a:r>
            <a:r>
              <a:rPr sz="2000">
                <a:latin typeface="Courier"/>
              </a:rPr>
              <a:t>clean_names()</a:t>
            </a:r>
            <a:r>
              <a:rPr sz="2000"/>
              <a:t> (from </a:t>
            </a:r>
            <a:r>
              <a:rPr sz="2000">
                <a:latin typeface="Courier"/>
              </a:rPr>
              <a:t>janitor</a:t>
            </a:r>
            <a:r>
              <a:rPr sz="2000"/>
              <a:t>) then tidies up messy headers like </a:t>
            </a:r>
            <a:r>
              <a:rPr sz="2000">
                <a:latin typeface="Courier"/>
              </a:rPr>
              <a:t>"Leaf Weight (g)"</a:t>
            </a:r>
            <a:r>
              <a:rPr sz="2000"/>
              <a:t> into </a:t>
            </a:r>
            <a:r>
              <a:rPr sz="2000">
                <a:latin typeface="Courier"/>
              </a:rPr>
              <a:t>leaf_weight_g</a:t>
            </a:r>
            <a:r>
              <a:rPr sz="2000"/>
              <a:t> automatically.</a:t>
            </a:r>
          </a:p>
          <a:p>
            <a:pPr lvl="0" indent="0" marL="0">
              <a:buNone/>
            </a:pPr>
            <a:r>
              <a:rPr/>
              <a:t>The path </a:t>
            </a:r>
            <a:r>
              <a:rPr>
                <a:latin typeface="Courier"/>
              </a:rPr>
              <a:t>"data/..."</a:t>
            </a:r>
            <a:r>
              <a:rPr/>
              <a:t> is </a:t>
            </a:r>
            <a:r>
              <a:rPr i="1"/>
              <a:t>relative</a:t>
            </a:r>
            <a:r>
              <a:rPr/>
              <a:t> to your project folder. It works on anyone’s computer — not just yours.</a:t>
            </a:r>
          </a:p>
          <a:p>
            <a:pPr lvl="0" indent="0" marL="0">
              <a:spcBef>
                <a:spcPts val="3000"/>
              </a:spcBef>
              <a:buNone/>
            </a:pPr>
            <a:r>
              <a:rPr b="1"/>
              <a:t>Also: read CSV files with </a:t>
            </a:r>
            <a:r>
              <a:rPr b="1">
                <a:latin typeface="Courier"/>
              </a:rPr>
              <a:t>read_csv()</a:t>
            </a:r>
          </a:p>
          <a:p>
            <a:pPr lvl="0" indent="0" marL="0">
              <a:buNone/>
            </a:pPr>
            <a:r>
              <a:rPr/>
              <a:t>Many public datasets (NOAA climate data, iNaturalist, eBird) come as </a:t>
            </a:r>
            <a:r>
              <a:rPr>
                <a:latin typeface="Courier"/>
              </a:rPr>
              <a:t>.csv</a:t>
            </a:r>
            <a:r>
              <a:rPr/>
              <a:t> files. The tidyverse provides </a:t>
            </a:r>
            <a:r>
              <a:rPr>
                <a:latin typeface="Courier"/>
              </a:rPr>
              <a:t>read_csv()</a:t>
            </a:r>
            <a:r>
              <a:rPr/>
              <a:t> for these:</a:t>
            </a:r>
          </a:p>
          <a:p>
            <a:pPr lvl="0" indent="0">
              <a:buNone/>
            </a:pPr>
            <a:r>
              <a:rPr>
                <a:solidFill>
                  <a:srgbClr val="5E5E5E"/>
                </a:solidFill>
                <a:latin typeface="Courier"/>
              </a:rPr>
              <a:t># CSV files (.csv) — comes with tidyverse, no extra install</a:t>
            </a:r>
            <a:br/>
            <a:r>
              <a:rPr>
                <a:solidFill>
                  <a:srgbClr val="5E5E5E"/>
                </a:solidFill>
                <a:latin typeface="Courier"/>
              </a:rPr>
              <a:t># noaa_df &lt;- read_csv("data/noaa_global_yearly_temps.csv")</a:t>
            </a:r>
          </a:p>
          <a:p>
            <a:pPr lvl="0" indent="0" marL="1270000">
              <a:buNone/>
            </a:pPr>
            <a:r>
              <a:rPr sz="2000"/>
              <a:t>💡 </a:t>
            </a:r>
            <a:r>
              <a:rPr sz="2000" b="1"/>
              <a:t>Key difference:</a:t>
            </a:r>
            <a:r>
              <a:rPr sz="2000"/>
              <a:t> </a:t>
            </a:r>
            <a:r>
              <a:rPr sz="2000">
                <a:latin typeface="Courier"/>
              </a:rPr>
              <a:t>read_excel()</a:t>
            </a:r>
            <a:r>
              <a:rPr sz="2000"/>
              <a:t> needs </a:t>
            </a:r>
            <a:r>
              <a:rPr sz="2000">
                <a:latin typeface="Courier"/>
              </a:rPr>
              <a:t>library(readxl)</a:t>
            </a:r>
            <a:r>
              <a:rPr sz="2000"/>
              <a:t>. </a:t>
            </a:r>
            <a:r>
              <a:rPr sz="2000">
                <a:latin typeface="Courier"/>
              </a:rPr>
              <a:t>read_csv()</a:t>
            </a:r>
            <a:r>
              <a:rPr sz="2000"/>
              <a:t> comes with </a:t>
            </a:r>
            <a:r>
              <a:rPr sz="2000">
                <a:latin typeface="Courier"/>
              </a:rPr>
              <a:t>library(tidyverse)</a:t>
            </a:r>
            <a:r>
              <a:rPr sz="2000"/>
              <a:t> — no extra install needed.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Meet the data frame</a:t>
            </a:r>
          </a:p>
          <a:p>
            <a:pPr lvl="0" indent="0" marL="0">
              <a:buNone/>
            </a:pPr>
            <a:r>
              <a:rPr/>
              <a:t>A </a:t>
            </a:r>
            <a:r>
              <a:rPr b="1"/>
              <a:t>data frame</a:t>
            </a:r>
            <a:r>
              <a:rPr/>
              <a:t> is R’s word for a spreadsheet-style table. Each column is a vector of one type; the rows line up.</a:t>
            </a:r>
          </a:p>
          <a:p>
            <a:pPr lvl="0" indent="0" marL="0">
              <a:buNone/>
            </a:pPr>
            <a:r>
              <a:rPr/>
              <a:t>Our </a:t>
            </a:r>
            <a:r>
              <a:rPr>
                <a:latin typeface="Courier"/>
              </a:rPr>
              <a:t>tree_df</a:t>
            </a:r>
            <a:r>
              <a:rPr/>
              <a:t> has five columns:</a:t>
            </a:r>
          </a:p>
        </p:txBody>
      </p:sp>
      <p:graphicFrame>
        <p:nvGraphicFramePr>
          <p:cNvPr id="6" name="Content Placeholder 5"/>
          <p:cNvGraphicFramePr>
            <a:graphicFrameLocks noGrp="1"/>
          </p:cNvGraphicFramePr>
          <p:nvPr>
            <p:ph idx="1"/>
          </p:nvPr>
        </p:nvGraphicFramePr>
        <p:xfrm>
          <a:off x="127000" y="2819400"/>
          <a:ext cx="8750300" cy="1943100"/>
        </p:xfrm>
        <a:graphic>
          <a:graphicData uri="http://schemas.openxmlformats.org/drawingml/2006/table">
            <a:tbl>
              <a:tblPr firstRow="1" bandRow="1">
                <a:tableStyleId>{5C22544A-7EE6-4342-B048-85BDC9FD1C3A}</a:tableStyleId>
              </a:tblPr>
              <a:tblGrid>
                <a:gridCol w="2908300"/>
                <a:gridCol w="2908300"/>
                <a:gridCol w="2908300"/>
              </a:tblGrid>
              <a:tr h="0">
                <a:tc>
                  <a:txBody>
                    <a:bodyPr/>
                    <a:lstStyle/>
                    <a:p>
                      <a:pPr lvl="0" indent="0" marL="0">
                        <a:buNone/>
                      </a:pPr>
                      <a:r>
                        <a:rPr/>
                        <a:t>Column</a:t>
                      </a:r>
                    </a:p>
                  </a:txBody>
                  <a:tcPr/>
                </a:tc>
                <a:tc>
                  <a:txBody>
                    <a:bodyPr/>
                    <a:lstStyle/>
                    <a:p>
                      <a:pPr lvl="0" indent="0" marL="0">
                        <a:buNone/>
                      </a:pPr>
                      <a:r>
                        <a:rPr/>
                        <a:t>Type</a:t>
                      </a:r>
                    </a:p>
                  </a:txBody>
                  <a:tcPr/>
                </a:tc>
                <a:tc>
                  <a:txBody>
                    <a:bodyPr/>
                    <a:lstStyle/>
                    <a:p>
                      <a:pPr lvl="0" indent="0" marL="0">
                        <a:buNone/>
                      </a:pPr>
                      <a:r>
                        <a:rPr/>
                        <a:t>What it holds</a:t>
                      </a:r>
                    </a:p>
                  </a:txBody>
                  <a:tcPr/>
                </a:tc>
              </a:tr>
              <a:tr h="0">
                <a:tc>
                  <a:txBody>
                    <a:bodyPr/>
                    <a:lstStyle/>
                    <a:p>
                      <a:pPr lvl="0" indent="0" marL="0">
                        <a:buNone/>
                      </a:pPr>
                      <a:r>
                        <a:rPr>
                          <a:latin typeface="Courier"/>
                        </a:rPr>
                        <a:t>index</a:t>
                      </a:r>
                    </a:p>
                  </a:txBody>
                </a:tc>
                <a:tc>
                  <a:txBody>
                    <a:bodyPr/>
                    <a:lstStyle/>
                    <a:p>
                      <a:pPr lvl="0" indent="0" marL="0">
                        <a:buNone/>
                      </a:pPr>
                      <a:r>
                        <a:rPr/>
                        <a:t>numeric</a:t>
                      </a:r>
                    </a:p>
                  </a:txBody>
                </a:tc>
                <a:tc>
                  <a:txBody>
                    <a:bodyPr/>
                    <a:lstStyle/>
                    <a:p>
                      <a:pPr lvl="0" indent="0" marL="0">
                        <a:buNone/>
                      </a:pPr>
                      <a:r>
                        <a:rPr/>
                        <a:t>leaf number (1–20)</a:t>
                      </a:r>
                    </a:p>
                  </a:txBody>
                </a:tc>
              </a:tr>
              <a:tr h="0">
                <a:tc>
                  <a:txBody>
                    <a:bodyPr/>
                    <a:lstStyle/>
                    <a:p>
                      <a:pPr lvl="0" indent="0" marL="0">
                        <a:buNone/>
                      </a:pPr>
                      <a:r>
                        <a:rPr>
                          <a:latin typeface="Courier"/>
                        </a:rPr>
                        <a:t>side</a:t>
                      </a:r>
                    </a:p>
                  </a:txBody>
                </a:tc>
                <a:tc>
                  <a:txBody>
                    <a:bodyPr/>
                    <a:lstStyle/>
                    <a:p>
                      <a:pPr lvl="0" indent="0" marL="0">
                        <a:buNone/>
                      </a:pPr>
                      <a:r>
                        <a:rPr/>
                        <a:t>character</a:t>
                      </a:r>
                    </a:p>
                  </a:txBody>
                </a:tc>
                <a:tc>
                  <a:txBody>
                    <a:bodyPr/>
                    <a:lstStyle/>
                    <a:p>
                      <a:pPr lvl="0" indent="0" marL="0">
                        <a:buNone/>
                      </a:pPr>
                      <a:r>
                        <a:rPr>
                          <a:latin typeface="Courier"/>
                        </a:rPr>
                        <a:t>"sunny"</a:t>
                      </a:r>
                      <a:r>
                        <a:rPr/>
                        <a:t> or </a:t>
                      </a:r>
                      <a:r>
                        <a:rPr>
                          <a:latin typeface="Courier"/>
                        </a:rPr>
                        <a:t>"shady"</a:t>
                      </a:r>
                    </a:p>
                  </a:txBody>
                </a:tc>
              </a:tr>
              <a:tr h="0">
                <a:tc>
                  <a:txBody>
                    <a:bodyPr/>
                    <a:lstStyle/>
                    <a:p>
                      <a:pPr lvl="0" indent="0" marL="0">
                        <a:buNone/>
                      </a:pPr>
                      <a:r>
                        <a:rPr>
                          <a:latin typeface="Courier"/>
                        </a:rPr>
                        <a:t>weight_g</a:t>
                      </a:r>
                    </a:p>
                  </a:txBody>
                </a:tc>
                <a:tc>
                  <a:txBody>
                    <a:bodyPr/>
                    <a:lstStyle/>
                    <a:p>
                      <a:pPr lvl="0" indent="0" marL="0">
                        <a:buNone/>
                      </a:pPr>
                      <a:r>
                        <a:rPr/>
                        <a:t>numeric</a:t>
                      </a:r>
                    </a:p>
                  </a:txBody>
                </a:tc>
                <a:tc>
                  <a:txBody>
                    <a:bodyPr/>
                    <a:lstStyle/>
                    <a:p>
                      <a:pPr lvl="0" indent="0" marL="0">
                        <a:buNone/>
                      </a:pPr>
                      <a:r>
                        <a:rPr/>
                        <a:t>leaf weight in grams</a:t>
                      </a:r>
                    </a:p>
                  </a:txBody>
                </a:tc>
              </a:tr>
              <a:tr h="0">
                <a:tc>
                  <a:txBody>
                    <a:bodyPr/>
                    <a:lstStyle/>
                    <a:p>
                      <a:pPr lvl="0" indent="0" marL="0">
                        <a:buNone/>
                      </a:pPr>
                      <a:r>
                        <a:rPr>
                          <a:latin typeface="Courier"/>
                        </a:rPr>
                        <a:t>width_cm</a:t>
                      </a:r>
                    </a:p>
                  </a:txBody>
                </a:tc>
                <a:tc>
                  <a:txBody>
                    <a:bodyPr/>
                    <a:lstStyle/>
                    <a:p>
                      <a:pPr lvl="0" indent="0" marL="0">
                        <a:buNone/>
                      </a:pPr>
                      <a:r>
                        <a:rPr/>
                        <a:t>numeric</a:t>
                      </a:r>
                    </a:p>
                  </a:txBody>
                </a:tc>
                <a:tc>
                  <a:txBody>
                    <a:bodyPr/>
                    <a:lstStyle/>
                    <a:p>
                      <a:pPr lvl="0" indent="0" marL="0">
                        <a:buNone/>
                      </a:pPr>
                      <a:r>
                        <a:rPr/>
                        <a:t>leaf width in centimetres</a:t>
                      </a:r>
                    </a:p>
                  </a:txBody>
                </a:tc>
              </a:tr>
              <a:tr h="0">
                <a:tc>
                  <a:txBody>
                    <a:bodyPr/>
                    <a:lstStyle/>
                    <a:p>
                      <a:pPr lvl="0" indent="0" marL="0">
                        <a:buNone/>
                      </a:pPr>
                      <a:r>
                        <a:rPr>
                          <a:latin typeface="Courier"/>
                        </a:rPr>
                        <a:t>height_cm</a:t>
                      </a:r>
                    </a:p>
                  </a:txBody>
                </a:tc>
                <a:tc>
                  <a:txBody>
                    <a:bodyPr/>
                    <a:lstStyle/>
                    <a:p>
                      <a:pPr lvl="0" indent="0" marL="0">
                        <a:buNone/>
                      </a:pPr>
                      <a:r>
                        <a:rPr/>
                        <a:t>numeric</a:t>
                      </a:r>
                    </a:p>
                  </a:txBody>
                </a:tc>
                <a:tc>
                  <a:txBody>
                    <a:bodyPr/>
                    <a:lstStyle/>
                    <a:p>
                      <a:pPr lvl="0" indent="0" marL="0">
                        <a:buNone/>
                      </a:pPr>
                      <a:r>
                        <a:rPr/>
                        <a:t>leaf height in centimetres</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weight_g     </a:t>
            </a:r>
            <a:r>
              <a:rPr>
                <a:solidFill>
                  <a:srgbClr val="5E5E5E"/>
                </a:solidFill>
                <a:latin typeface="Courier"/>
              </a:rPr>
              <a:t># just the weight column, as a vector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Inspect a new dataset</a:t>
            </a:r>
          </a:p>
        </p:txBody>
      </p:sp>
      <p:sp>
        <p:nvSpPr>
          <p:cNvPr id="3" name="Content Placeholder 2"/>
          <p:cNvSpPr>
            <a:spLocks noGrp="1"/>
          </p:cNvSpPr>
          <p:nvPr>
            <p:ph idx="1"/>
          </p:nvPr>
        </p:nvSpPr>
        <p:spPr/>
        <p:txBody>
          <a:bodyPr/>
          <a:lstStyle/>
          <a:p>
            <a:pPr lvl="0" indent="0" marL="0">
              <a:buNone/>
            </a:pPr>
            <a:r>
              <a:rPr b="1"/>
              <a:t>Always eyeball a new dataset before doing any analysis.</a:t>
            </a:r>
          </a:p>
          <a:p>
            <a:pPr lvl="0" indent="0" marL="0">
              <a:buNone/>
            </a:pPr>
            <a:r>
              <a:rPr b="1"/>
              <a:t>▶ Run each of these in your Script:</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br/>
            <a:r>
              <a:rPr>
                <a:solidFill>
                  <a:srgbClr val="5E5E5E"/>
                </a:solidFill>
                <a:latin typeface="Courier"/>
              </a:rPr>
              <a:t># glimpse() is the tidyverse way — one line per column</a:t>
            </a:r>
            <a:br/>
            <a:r>
              <a:rPr>
                <a:solidFill>
                  <a:srgbClr val="4758AB"/>
                </a:solidFill>
                <a:latin typeface="Courier"/>
              </a:rPr>
              <a:t>glimpse</a:t>
            </a:r>
            <a:r>
              <a:rPr>
                <a:solidFill>
                  <a:srgbClr val="003B4F"/>
                </a:solidFill>
                <a:latin typeface="Courier"/>
              </a:rPr>
              <a:t>(tree_df)    </a:t>
            </a:r>
            <a:r>
              <a:rPr>
                <a:solidFill>
                  <a:srgbClr val="5E5E5E"/>
                </a:solidFill>
                <a:latin typeface="Courier"/>
              </a:rPr>
              <a:t># column names, types, first values</a:t>
            </a:r>
            <a:br/>
            <a:br/>
            <a:r>
              <a:rPr>
                <a:solidFill>
                  <a:srgbClr val="5E5E5E"/>
                </a:solidFill>
                <a:latin typeface="Courier"/>
              </a:rPr>
              <a:t># Base R equivalents (give similar info)</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r>
              <a:rPr>
                <a:solidFill>
                  <a:srgbClr val="4758AB"/>
                </a:solidFill>
                <a:latin typeface="Courier"/>
              </a:rPr>
              <a:t>str</a:t>
            </a:r>
            <a:r>
              <a:rPr>
                <a:solidFill>
                  <a:srgbClr val="003B4F"/>
                </a:solidFill>
                <a:latin typeface="Courier"/>
              </a:rPr>
              <a:t>(tree_df)        </a:t>
            </a:r>
            <a:r>
              <a:rPr>
                <a:solidFill>
                  <a:srgbClr val="5E5E5E"/>
                </a:solidFill>
                <a:latin typeface="Courier"/>
              </a:rPr>
              <a:t># type of every column</a:t>
            </a:r>
            <a:br/>
            <a:r>
              <a:rPr>
                <a:solidFill>
                  <a:srgbClr val="4758AB"/>
                </a:solidFill>
                <a:latin typeface="Courier"/>
              </a:rPr>
              <a:t>summary</a:t>
            </a:r>
            <a:r>
              <a:rPr>
                <a:solidFill>
                  <a:srgbClr val="003B4F"/>
                </a:solidFill>
                <a:latin typeface="Courier"/>
              </a:rPr>
              <a:t>(tree_df)    </a:t>
            </a:r>
            <a:r>
              <a:rPr>
                <a:solidFill>
                  <a:srgbClr val="5E5E5E"/>
                </a:solidFill>
                <a:latin typeface="Courier"/>
              </a:rPr>
              <a:t># min / mean / max per column</a:t>
            </a:r>
          </a:p>
          <a:p>
            <a:pPr lvl="0" indent="0" marL="1270000">
              <a:buNone/>
            </a:pPr>
            <a:r>
              <a:rPr sz="2000"/>
              <a:t>💡 </a:t>
            </a:r>
            <a:r>
              <a:rPr sz="2000" b="1"/>
              <a:t>Prefer </a:t>
            </a:r>
            <a:r>
              <a:rPr sz="2000" b="1">
                <a:latin typeface="Courier"/>
              </a:rPr>
              <a:t>glimpse()</a:t>
            </a:r>
            <a:r>
              <a:rPr sz="2000" b="1"/>
              <a:t> over </a:t>
            </a:r>
            <a:r>
              <a:rPr sz="2000" b="1">
                <a:latin typeface="Courier"/>
              </a:rPr>
              <a:t>str()</a:t>
            </a:r>
            <a:r>
              <a:rPr sz="2000"/>
              <a:t> — it is the tidyverse-friendly version and is easier to read.</a:t>
            </a:r>
          </a:p>
          <a:p>
            <a:pPr lvl="0" indent="0" marL="0">
              <a:buNone/>
            </a:pPr>
            <a:r>
              <a:rPr/>
              <a:t>✏️ </a:t>
            </a:r>
            <a:r>
              <a:rPr b="1"/>
              <a:t>Your turn:</a:t>
            </a:r>
            <a:r>
              <a:rPr/>
              <a:t> Answer these questions from the output above.</a:t>
            </a:r>
          </a:p>
          <a:p>
            <a:pPr lvl="0" indent="0">
              <a:buNone/>
            </a:pPr>
            <a:r>
              <a:rPr>
                <a:latin typeface="Courier"/>
              </a:rPr>
              <a:t>How many rows does tree_df have?          
How many columns?                         
What type does R report for `side`?       
What is the mean weight_g?                
What is the maximum height_cm?            </a:t>
            </a:r>
          </a:p>
          <a:p>
            <a:pPr lvl="0" indent="0" marL="1270000">
              <a:buNone/>
            </a:pPr>
            <a:r>
              <a:rPr sz="2000"/>
              <a:t>⚠️ </a:t>
            </a:r>
            <a:r>
              <a:rPr sz="2000" b="1"/>
              <a:t>Watch out!</a:t>
            </a:r>
            <a:r>
              <a:rPr sz="2000"/>
              <a:t> If a number column shows as </a:t>
            </a:r>
            <a:r>
              <a:rPr sz="2000">
                <a:latin typeface="Courier"/>
              </a:rPr>
              <a:t>&lt;chr&gt;</a:t>
            </a:r>
            <a:r>
              <a:rPr sz="2000"/>
              <a:t> in </a:t>
            </a:r>
            <a:r>
              <a:rPr sz="2000">
                <a:latin typeface="Courier"/>
              </a:rPr>
              <a:t>glimpse()</a:t>
            </a:r>
            <a:r>
              <a:rPr sz="2000"/>
              <a:t>, a stray letter or comma snuck into your spreadsheet. Check your raw data file.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pipe </a:t>
            </a:r>
            <a:r>
              <a:rPr>
                <a:latin typeface="Courier"/>
              </a:rPr>
              <a:t>%&gt;%</a:t>
            </a:r>
            <a:r>
              <a:rPr/>
              <a:t> — read it as “then”</a:t>
            </a:r>
          </a:p>
        </p:txBody>
      </p:sp>
      <p:sp>
        <p:nvSpPr>
          <p:cNvPr id="3" name="Content Placeholder 2"/>
          <p:cNvSpPr>
            <a:spLocks noGrp="1"/>
          </p:cNvSpPr>
          <p:nvPr>
            <p:ph idx="1"/>
          </p:nvPr>
        </p:nvSpPr>
        <p:spPr/>
        <p:txBody>
          <a:bodyPr/>
          <a:lstStyle/>
          <a:p>
            <a:pPr lvl="0" indent="0" marL="0">
              <a:buNone/>
            </a:pPr>
            <a:r>
              <a:rPr/>
              <a:t>The pipe sends a result straight into the next function. Read </a:t>
            </a:r>
            <a:r>
              <a:rPr>
                <a:latin typeface="Courier"/>
              </a:rPr>
              <a:t>%&gt;%</a:t>
            </a:r>
            <a:r>
              <a:rPr/>
              <a:t> as the word </a:t>
            </a:r>
            <a:r>
              <a:rPr b="1"/>
              <a:t>“then”</a:t>
            </a:r>
            <a:r>
              <a:rPr/>
              <a:t>.</a:t>
            </a:r>
          </a:p>
          <a:p>
            <a:pPr lvl="0" indent="0" marL="0">
              <a:buNone/>
            </a:pPr>
            <a:r>
              <a:rPr b="1"/>
              <a:t>▶ Run this in your Script:</a:t>
            </a:r>
          </a:p>
          <a:p>
            <a:pPr lvl="0" indent="0">
              <a:buNone/>
            </a:pPr>
            <a:r>
              <a:rPr>
                <a:solidFill>
                  <a:srgbClr val="5E5E5E"/>
                </a:solidFill>
                <a:latin typeface="Courier"/>
              </a:rPr>
              <a:t># Simple examples — read each %&gt;% as "then"</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 everything</a:t>
            </a:r>
            <a:br/>
            <a:br/>
            <a:r>
              <a:rPr>
                <a:solidFill>
                  <a:srgbClr val="5E5E5E"/>
                </a:solidFill>
                <a:latin typeface="Courier"/>
              </a:rPr>
              <a:t># Chain multiple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1270000">
              <a:buNone/>
            </a:pPr>
            <a:r>
              <a:rPr sz="2000"/>
              <a:t>💡 </a:t>
            </a:r>
            <a:r>
              <a:rPr sz="2000" b="1"/>
              <a:t>Two pipes — same idea:</a:t>
            </a:r>
            <a:r>
              <a:rPr sz="2000"/>
              <a:t> </a:t>
            </a:r>
            <a:r>
              <a:rPr sz="2000">
                <a:latin typeface="Courier"/>
              </a:rPr>
              <a:t>%&gt;%</a:t>
            </a:r>
            <a:r>
              <a:rPr sz="2000"/>
              <a:t> — from tidyverse (we use this one throughout the course) The native pipe (a vertical bar then greater-than sign) — built into R 4.1+; you will see it in code online They behave identically for everything in this course.</a:t>
            </a:r>
          </a:p>
          <a:p>
            <a:pPr lvl="0" indent="0" marL="0">
              <a:buNone/>
            </a:pPr>
            <a:r>
              <a:rPr/>
              <a:t>✏️ </a:t>
            </a:r>
            <a:r>
              <a:rPr b="1"/>
              <a:t>Your turn:</a:t>
            </a:r>
            <a:r>
              <a:rPr/>
              <a:t> Using the pipe, write code to show only the last 3 rows of </a:t>
            </a:r>
            <a:r>
              <a:rPr>
                <a:latin typeface="Courier"/>
              </a:rPr>
              <a:t>tree_df</a:t>
            </a:r>
            <a:r>
              <a:rPr/>
              <a:t>. Hint: look at </a:t>
            </a:r>
            <a:r>
              <a:rPr>
                <a:latin typeface="Courier"/>
              </a:rPr>
              <a:t>tail()</a:t>
            </a:r>
            <a:r>
              <a:rPr/>
              <a:t>.</a:t>
            </a:r>
          </a:p>
          <a:p>
            <a:pPr lvl="0" indent="0">
              <a:buNone/>
            </a:pPr>
            <a:r>
              <a:rPr>
                <a:solidFill>
                  <a:srgbClr val="5E5E5E"/>
                </a:solidFill>
                <a:latin typeface="Courier"/>
              </a:rPr>
              <a:t># Write your code here:</a:t>
            </a:r>
          </a:p>
          <a:p>
            <a:pPr lvl="0" indent="0" marL="0">
              <a:buNone/>
            </a:pPr>
            <a:r>
              <a:rPr/>
              <a:t>In Lecture 03 we will use </a:t>
            </a:r>
            <a:r>
              <a:rPr>
                <a:latin typeface="Courier"/>
              </a:rPr>
              <a:t>%&gt;%</a:t>
            </a:r>
            <a:r>
              <a:rPr/>
              <a:t> with </a:t>
            </a:r>
            <a:r>
              <a:rPr>
                <a:latin typeface="Courier"/>
              </a:rPr>
              <a:t>group_by()</a:t>
            </a:r>
            <a:r>
              <a:rPr/>
              <a:t> and </a:t>
            </a:r>
            <a:r>
              <a:rPr>
                <a:latin typeface="Courier"/>
              </a:rPr>
              <a:t>summarize()</a:t>
            </a:r>
            <a:r>
              <a:rPr/>
              <a:t> to compute statistics by group — this is where the pipe really pays off.</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Your first plot</a:t>
            </a:r>
          </a:p>
        </p:txBody>
      </p:sp>
      <p:sp>
        <p:nvSpPr>
          <p:cNvPr id="3" name="Content Placeholder 2"/>
          <p:cNvSpPr>
            <a:spLocks noGrp="1"/>
          </p:cNvSpPr>
          <p:nvPr>
            <p:ph idx="1"/>
          </p:nvPr>
        </p:nvSpPr>
        <p:spPr/>
        <p:txBody>
          <a:bodyPr/>
          <a:lstStyle/>
          <a:p>
            <a:pPr lvl="0" indent="0" marL="0">
              <a:spcBef>
                <a:spcPts val="3000"/>
              </a:spcBef>
              <a:buNone/>
            </a:pPr>
            <a:r>
              <a:rPr b="1"/>
              <a:t>ggplot builds pictures in layers</a:t>
            </a:r>
          </a:p>
          <a:p>
            <a:pPr lvl="0" indent="0" marL="0">
              <a:buNone/>
            </a:pPr>
            <a:r>
              <a:rPr/>
              <a:t>Every ggplot is built in three pieces, joined with </a:t>
            </a:r>
            <a:r>
              <a:rPr>
                <a:latin typeface="Courier"/>
              </a:rPr>
              <a:t>+</a:t>
            </a:r>
            <a:r>
              <a:rPr/>
              <a:t>:</a:t>
            </a:r>
          </a:p>
          <a:p>
            <a:pPr lvl="0" indent="-342900" marL="342900">
              <a:buAutoNum type="arabicPeriod"/>
            </a:pPr>
            <a:r>
              <a:rPr>
                <a:latin typeface="Courier"/>
              </a:rPr>
              <a:t>ggplot(data, aes(...))</a:t>
            </a:r>
            <a:r>
              <a:rPr/>
              <a:t> — which data frame, which columns map to x and y</a:t>
            </a:r>
          </a:p>
          <a:p>
            <a:pPr lvl="0" indent="-342900" marL="342900">
              <a:buAutoNum type="arabicPeriod"/>
            </a:pPr>
            <a:r>
              <a:rPr>
                <a:latin typeface="Courier"/>
              </a:rPr>
              <a:t>geom_*()</a:t>
            </a:r>
            <a:r>
              <a:rPr/>
              <a:t> — the shape to draw (points, boxes, bars, …)</a:t>
            </a:r>
          </a:p>
          <a:p>
            <a:pPr lvl="0" indent="-342900" marL="342900">
              <a:buAutoNum type="arabicPeriod"/>
            </a:pPr>
            <a:r>
              <a:rPr>
                <a:latin typeface="Courier"/>
              </a:rPr>
              <a:t>labs()</a:t>
            </a:r>
            <a:r>
              <a:rPr/>
              <a:t> — axis labels and title</a:t>
            </a:r>
          </a:p>
          <a:p>
            <a:pPr lvl="0" indent="0" marL="0">
              <a:buNone/>
            </a:pPr>
            <a:r>
              <a:rPr b="1"/>
              <a:t>▶ Run this in your Script — the simplest possible plot: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a:t>⚠️ </a:t>
            </a:r>
            <a:r>
              <a:rPr sz="2000" b="1"/>
              <a:t>Watch out!</a:t>
            </a:r>
            <a:r>
              <a:rPr sz="2000"/>
              <a:t> The </a:t>
            </a:r>
            <a:r>
              <a:rPr sz="2000">
                <a:latin typeface="Courier"/>
              </a:rPr>
              <a:t>+</a:t>
            </a:r>
            <a:r>
              <a:rPr sz="2000"/>
              <a:t> must sit at the </a:t>
            </a:r>
            <a:r>
              <a:rPr sz="2000" b="1"/>
              <a:t>end</a:t>
            </a:r>
            <a:r>
              <a:rPr sz="2000"/>
              <a:t> of a line, never the start. A </a:t>
            </a:r>
            <a:r>
              <a:rPr sz="2000">
                <a:latin typeface="Courier"/>
              </a:rPr>
              <a:t>+</a:t>
            </a:r>
            <a:r>
              <a:rPr sz="2000"/>
              <a:t> at the start causes an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Improve it one layer at a time</a:t>
            </a:r>
          </a:p>
          <a:p>
            <a:pPr lvl="0" indent="0" marL="0">
              <a:buNone/>
            </a:pPr>
            <a:r>
              <a:rPr b="1"/>
              <a:t>▶ Run this in your Script: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0">
              <a:buNone/>
            </a:pPr>
            <a:r>
              <a:rPr/>
              <a:t>✏️ </a:t>
            </a:r>
            <a:r>
              <a:rPr b="1"/>
              <a:t>Your turn:</a:t>
            </a:r>
            <a:r>
              <a:rPr/>
              <a:t> Make the same plot but for </a:t>
            </a:r>
            <a:r>
              <a:rPr>
                <a:latin typeface="Courier"/>
              </a:rPr>
              <a:t>height_cm</a:t>
            </a:r>
            <a:r>
              <a:rPr/>
              <a:t> instead of </a:t>
            </a:r>
            <a:r>
              <a:rPr>
                <a:latin typeface="Courier"/>
              </a:rPr>
              <a:t>weight_g</a:t>
            </a:r>
            <a:r>
              <a:rPr/>
              <a:t>. Copy the code above and change the relevant parts.</a:t>
            </a:r>
          </a:p>
          <a:p>
            <a:pPr lvl="0" indent="0">
              <a:buNone/>
            </a:pPr>
            <a:r>
              <a:rPr>
                <a:solidFill>
                  <a:srgbClr val="5E5E5E"/>
                </a:solidFill>
                <a:latin typeface="Courier"/>
              </a:rPr>
              <a:t># Write your modified code here:</a:t>
            </a:r>
          </a:p>
          <a:p>
            <a:pPr lvl="0" indent="0" marL="0">
              <a:buNone/>
            </a:pPr>
            <a:r>
              <a:rPr/>
              <a:t>What pattern do you see — do sunny or shady leaves tend to be taller?</a:t>
            </a:r>
          </a:p>
          <a:p>
            <a:pPr lvl="0" indent="0">
              <a:buNone/>
            </a:pPr>
            <a:r>
              <a:rPr>
                <a:latin typeface="Courier"/>
              </a:rPr>
              <a:t>Your answer: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Save your plot as a PNG</a:t>
            </a:r>
          </a:p>
          <a:p>
            <a:pPr lvl="0" indent="0" marL="0">
              <a:buNone/>
            </a:pPr>
            <a:r>
              <a:rPr/>
              <a:t>Store the plot in an object, then save it to your </a:t>
            </a:r>
            <a:r>
              <a:rPr>
                <a:latin typeface="Courier"/>
              </a:rPr>
              <a:t>figures/</a:t>
            </a:r>
            <a:r>
              <a:rPr/>
              <a:t> folder.</a:t>
            </a:r>
          </a:p>
          <a:p>
            <a:pPr lvl="0" indent="0" marL="0">
              <a:buNone/>
            </a:pPr>
            <a:r>
              <a:rPr b="1"/>
              <a:t>▶ Run this in your Script:</a:t>
            </a:r>
          </a:p>
          <a:p>
            <a:pPr lvl="0" indent="0">
              <a:buNone/>
            </a:pPr>
            <a:r>
              <a:rPr>
                <a:solidFill>
                  <a:srgbClr val="5E5E5E"/>
                </a:solidFill>
                <a:latin typeface="Courier"/>
              </a:rPr>
              <a:t># Save the weight plot — always use PNG, always use dpi = 300</a:t>
            </a:r>
            <a:br/>
            <a:r>
              <a:rPr>
                <a:solidFill>
                  <a:srgbClr val="003B4F"/>
                </a:solidFill>
                <a:latin typeface="Courier"/>
              </a:rPr>
              <a:t>weight_plot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"figures/leaf_weight.png"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weight_plot,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0">
              <a:buNone/>
            </a:pPr>
            <a:r>
              <a:rPr/>
              <a:t>Check your </a:t>
            </a:r>
            <a:r>
              <a:rPr>
                <a:latin typeface="Courier"/>
              </a:rPr>
              <a:t>figures/</a:t>
            </a:r>
            <a:r>
              <a:rPr/>
              <a:t> folder — the PNG should be there.</a:t>
            </a:r>
          </a:p>
          <a:p>
            <a:pPr lvl="0" indent="0" marL="1270000">
              <a:buNone/>
            </a:pPr>
            <a:r>
              <a:rPr sz="2000"/>
              <a:t>⚠️ </a:t>
            </a:r>
            <a:r>
              <a:rPr sz="2000" b="1"/>
              <a:t>Watch out!</a:t>
            </a:r>
            <a:r>
              <a:rPr sz="2000"/>
              <a:t> </a:t>
            </a:r>
            <a:r>
              <a:rPr sz="2000">
                <a:latin typeface="Courier"/>
              </a:rPr>
              <a:t>ggsave()</a:t>
            </a:r>
            <a:r>
              <a:rPr sz="2000"/>
              <a:t> wants the </a:t>
            </a:r>
            <a:r>
              <a:rPr sz="2000" b="1"/>
              <a:t>filename first</a:t>
            </a:r>
            <a:r>
              <a:rPr sz="2000"/>
              <a:t>, then </a:t>
            </a:r>
            <a:r>
              <a:rPr sz="2000">
                <a:latin typeface="Courier"/>
              </a:rPr>
              <a:t>plot =</a:t>
            </a:r>
            <a:r>
              <a:rPr sz="2000"/>
              <a:t>. Mixing that order is the classic first-save mistake.</a:t>
            </a:r>
          </a:p>
          <a:p>
            <a:pPr lvl="0" indent="0" marL="1270000">
              <a:buNone/>
            </a:pPr>
            <a:r>
              <a:rPr sz="2000"/>
              <a:t>💡 </a:t>
            </a:r>
            <a:r>
              <a:rPr sz="2000" b="1"/>
              <a:t>Always use </a:t>
            </a:r>
            <a:r>
              <a:rPr sz="2000" b="1">
                <a:latin typeface="Courier"/>
              </a:rPr>
              <a:t>dpi = 300</a:t>
            </a:r>
            <a:r>
              <a:rPr sz="2000"/>
              <a:t> — that is publication quality (300 dots per inch). The default (72 dpi) looks blurry in reports and on posters.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Set up R and Positron and orient yourself in the four panes</a:t>
            </a:r>
          </a:p>
          <a:p>
            <a:pPr lvl="0"/>
            <a:r>
              <a:rPr/>
              <a:t>☐ Build a project folder with </a:t>
            </a:r>
            <a:r>
              <a:rPr>
                <a:latin typeface="Courier"/>
              </a:rPr>
              <a:t>data/</a:t>
            </a:r>
            <a:r>
              <a:rPr/>
              <a:t>, </a:t>
            </a:r>
            <a:r>
              <a:rPr>
                <a:latin typeface="Courier"/>
              </a:rPr>
              <a:t>scripts/</a:t>
            </a:r>
            <a:r>
              <a:rPr/>
              <a:t>, </a:t>
            </a:r>
            <a:r>
              <a:rPr>
                <a:latin typeface="Courier"/>
              </a:rPr>
              <a:t>figures/</a:t>
            </a:r>
          </a:p>
          <a:p>
            <a:pPr lvl="0"/>
            <a:r>
              <a:rPr/>
              <a:t>☐ Use R as a calculator and store values with </a:t>
            </a:r>
            <a:r>
              <a:rPr>
                <a:latin typeface="Courier"/>
              </a:rPr>
              <a:t>&lt;-</a:t>
            </a:r>
          </a:p>
          <a:p>
            <a:pPr lvl="0"/>
            <a:r>
              <a:rPr/>
              <a:t>☐ Write a script with </a:t>
            </a:r>
            <a:r>
              <a:rPr>
                <a:latin typeface="Courier"/>
              </a:rPr>
              <a:t>#</a:t>
            </a:r>
            <a:r>
              <a:rPr/>
              <a:t> comments, save it, and re-run it</a:t>
            </a:r>
          </a:p>
          <a:p>
            <a:pPr lvl="0"/>
            <a:r>
              <a:rPr/>
              <a:t>☐ Call functions with arguments and use </a:t>
            </a:r>
            <a:r>
              <a:rPr>
                <a:latin typeface="Courier"/>
              </a:rPr>
              <a:t>?</a:t>
            </a:r>
            <a:r>
              <a:rPr/>
              <a:t> for help</a:t>
            </a:r>
          </a:p>
          <a:p>
            <a:pPr lvl="0"/>
            <a:r>
              <a:rPr/>
              <a:t>☐ Build numeric and character vectors with </a:t>
            </a:r>
            <a:r>
              <a:rPr>
                <a:latin typeface="Courier"/>
              </a:rPr>
              <a:t>c()</a:t>
            </a:r>
          </a:p>
          <a:p>
            <a:pPr lvl="0"/>
            <a:r>
              <a:rPr/>
              <a:t>☐ Install and load packages with </a:t>
            </a:r>
            <a:r>
              <a:rPr>
                <a:latin typeface="Courier"/>
              </a:rPr>
              <a:t>install.packages()</a:t>
            </a:r>
            <a:r>
              <a:rPr/>
              <a:t> and </a:t>
            </a:r>
            <a:r>
              <a:rPr>
                <a:latin typeface="Courier"/>
              </a:rPr>
              <a:t>library()</a:t>
            </a:r>
          </a:p>
          <a:p>
            <a:pPr lvl="0"/>
            <a:r>
              <a:rPr/>
              <a:t>☐ Load an Excel file with </a:t>
            </a:r>
            <a:r>
              <a:rPr>
                <a:latin typeface="Courier"/>
              </a:rPr>
              <a:t>read_excel()</a:t>
            </a:r>
            <a:r>
              <a:rPr/>
              <a:t> and understand how </a:t>
            </a:r>
            <a:r>
              <a:rPr>
                <a:latin typeface="Courier"/>
              </a:rPr>
              <a:t>read_csv()</a:t>
            </a:r>
            <a:r>
              <a:rPr/>
              <a:t> differs</a:t>
            </a:r>
          </a:p>
          <a:p>
            <a:pPr lvl="0"/>
            <a:r>
              <a:rPr/>
              <a:t>☐ Inspect a data frame with </a:t>
            </a:r>
            <a:r>
              <a:rPr>
                <a:latin typeface="Courier"/>
              </a:rPr>
              <a:t>glimpse()</a:t>
            </a:r>
            <a:r>
              <a:rPr/>
              <a:t>, </a:t>
            </a:r>
            <a:r>
              <a:rPr>
                <a:latin typeface="Courier"/>
              </a:rPr>
              <a:t>head()</a:t>
            </a:r>
            <a:r>
              <a:rPr/>
              <a:t>, </a:t>
            </a:r>
            <a:r>
              <a:rPr>
                <a:latin typeface="Courier"/>
              </a:rPr>
              <a:t>dim()</a:t>
            </a:r>
          </a:p>
          <a:p>
            <a:pPr lvl="0"/>
            <a:r>
              <a:rPr/>
              <a:t>☐ Use the pipe </a:t>
            </a:r>
            <a:r>
              <a:rPr>
                <a:latin typeface="Courier"/>
              </a:rPr>
              <a:t>%&gt;%</a:t>
            </a:r>
            <a:r>
              <a:rPr/>
              <a:t> to chain steps together</a:t>
            </a:r>
          </a:p>
          <a:p>
            <a:pPr lvl="0"/>
            <a:r>
              <a:rPr/>
              <a:t>☐ Build a </a:t>
            </a:r>
            <a:r>
              <a:rPr>
                <a:latin typeface="Courier"/>
              </a:rPr>
              <a:t>ggplot</a:t>
            </a:r>
            <a:r>
              <a:rPr/>
              <a:t> boxplot and save it as a PNG with </a:t>
            </a:r>
            <a:r>
              <a:rPr>
                <a:latin typeface="Courier"/>
              </a:rPr>
              <a:t>dpi = 300</a:t>
            </a:r>
          </a:p>
          <a:p>
            <a:pPr lvl="0" indent="0" marL="0">
              <a:buNone/>
            </a:pPr>
            <a:r>
              <a:rPr/>
              <a:t>✏️ </a:t>
            </a:r>
            <a:r>
              <a:rPr b="1"/>
              <a:t>Your turn — before you move on:</a:t>
            </a:r>
            <a:r>
              <a:rPr/>
              <a:t> Run the full script from top to bottom by pressing </a:t>
            </a:r>
            <a:r>
              <a:rPr b="1"/>
              <a:t>Ctrl/Cmd + Shift + Enter</a:t>
            </a:r>
            <a:r>
              <a:rPr/>
              <a:t> (runs the whole file). Does it complete without errors?</a:t>
            </a:r>
          </a:p>
          <a:p>
            <a:pPr lvl="0" indent="0">
              <a:buNone/>
            </a:pPr>
            <a:r>
              <a:rPr>
                <a:latin typeface="Courier"/>
              </a:rPr>
              <a:t>Did it run cleanly? Y / N
If not, what error did you see?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Going further — more plotting</a:t>
            </a:r>
          </a:p>
        </p:txBody>
      </p:sp>
      <p:sp>
        <p:nvSpPr>
          <p:cNvPr id="3" name="Content Placeholder 2"/>
          <p:cNvSpPr>
            <a:spLocks noGrp="1"/>
          </p:cNvSpPr>
          <p:nvPr>
            <p:ph idx="1"/>
          </p:nvPr>
        </p:nvSpPr>
        <p:spPr/>
        <p:txBody>
          <a:bodyPr/>
          <a:lstStyle/>
          <a:p>
            <a:pPr lvl="0" indent="0" marL="1270000">
              <a:buNone/>
            </a:pPr>
            <a:r>
              <a:rPr sz="2000"/>
              <a:t>This section is optional — work through it if you finish early or want to explore. There are no wrong answers here; the goal is to see what ggplot can do.</a:t>
            </a:r>
          </a:p>
          <a:p>
            <a:pPr lvl="0" indent="0" marL="0">
              <a:spcBef>
                <a:spcPts val="3000"/>
              </a:spcBef>
              <a:buNone/>
            </a:pPr>
            <a:r>
              <a:rPr b="1"/>
              <a:t>Scatter plots — two numeric variables</a:t>
            </a:r>
          </a:p>
          <a:p>
            <a:pPr lvl="0" indent="0" marL="0">
              <a:buNone/>
            </a:pPr>
            <a:r>
              <a:rPr b="1"/>
              <a:t>▶ Try this:</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width_cm, </a:t>
            </a:r>
            <a:r>
              <a:rPr>
                <a:solidFill>
                  <a:srgbClr val="657422"/>
                </a:solidFill>
                <a:latin typeface="Courier"/>
              </a:rPr>
              <a:t>y =</a:t>
            </a:r>
            <a:r>
              <a:rPr>
                <a:solidFill>
                  <a:srgbClr val="003B4F"/>
                </a:solidFill>
                <a:latin typeface="Courier"/>
              </a:rPr>
              <a:t> height_cm, </a:t>
            </a:r>
            <a:r>
              <a:rPr>
                <a:solidFill>
                  <a:srgbClr val="657422"/>
                </a:solidFill>
                <a:latin typeface="Courier"/>
              </a:rPr>
              <a:t>color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"Leaf width (cm)"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height (cm)"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"Leaf dimensions by side of tree"</a:t>
            </a:r>
            <a:r>
              <a:rPr>
                <a:solidFill>
                  <a:srgbClr val="003B4F"/>
                </a:solidFill>
                <a:latin typeface="Courier"/>
              </a:rPr>
              <a:t>)</a:t>
            </a:r>
          </a:p>
          <a:p>
            <a:pPr lvl="0" indent="0" marL="0">
              <a:buNone/>
            </a:pPr>
            <a:r>
              <a:rPr/>
              <a:t>✏️ </a:t>
            </a:r>
            <a:r>
              <a:rPr b="1"/>
              <a:t>Your turn:</a:t>
            </a:r>
            <a:r>
              <a:rPr/>
              <a:t> Does width predict height? Do the two groups cluster separately or overlap?</a:t>
            </a:r>
          </a:p>
          <a:p>
            <a:pPr lvl="0" indent="0">
              <a:buNone/>
            </a:pPr>
            <a:r>
              <a:rPr>
                <a:latin typeface="Courier"/>
              </a:rPr>
              <a:t>Your observation: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 a trend line</a:t>
            </a:r>
          </a:p>
          <a:p>
            <a:pPr lvl="0" indent="0" marL="0">
              <a:buNone/>
            </a:pPr>
            <a:r>
              <a:rPr b="1"/>
              <a:t>▶ Try this:</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width_cm, </a:t>
            </a:r>
            <a:r>
              <a:rPr>
                <a:solidFill>
                  <a:srgbClr val="657422"/>
                </a:solidFill>
                <a:latin typeface="Courier"/>
              </a:rPr>
              <a:t>y =</a:t>
            </a:r>
            <a:r>
              <a:rPr>
                <a:solidFill>
                  <a:srgbClr val="003B4F"/>
                </a:solidFill>
                <a:latin typeface="Courier"/>
              </a:rPr>
              <a:t> height_cm, </a:t>
            </a:r>
            <a:r>
              <a:rPr>
                <a:solidFill>
                  <a:srgbClr val="657422"/>
                </a:solidFill>
                <a:latin typeface="Courier"/>
              </a:rPr>
              <a:t>color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"Leaf width (cm)"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height (cm)"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"Leaf dimensions with regression lines"</a:t>
            </a:r>
            <a:r>
              <a:rPr>
                <a:solidFill>
                  <a:srgbClr val="003B4F"/>
                </a:solidFill>
                <a:latin typeface="Courier"/>
              </a:rPr>
              <a:t>)</a:t>
            </a:r>
          </a:p>
          <a:p>
            <a:pPr lvl="0" indent="0" marL="0">
              <a:buNone/>
            </a:pPr>
            <a:r>
              <a:rPr/>
              <a:t>✏️ </a:t>
            </a:r>
            <a:r>
              <a:rPr b="1"/>
              <a:t>Your turn:</a:t>
            </a:r>
            <a:r>
              <a:rPr/>
              <a:t> Do the slopes look similar or different for sunny vs. shady leaves? What might that mean biologically?</a:t>
            </a:r>
          </a:p>
          <a:p>
            <a:pPr lvl="0" indent="0">
              <a:buNone/>
            </a:pPr>
            <a:r>
              <a:rPr>
                <a:latin typeface="Courier"/>
              </a:rPr>
              <a:t>Your observation: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Violin plots</a:t>
            </a:r>
          </a:p>
          <a:p>
            <a:pPr lvl="0" indent="0" marL="0">
              <a:buNone/>
            </a:pPr>
            <a:r>
              <a:rPr b="1"/>
              <a:t>▶ Try this:</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geom_violin</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"Violin plot of leaf weight"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p>
          <a:p>
            <a:pPr lvl="0" indent="0" marL="0">
              <a:buNone/>
            </a:pPr>
            <a:r>
              <a:rPr/>
              <a:t>✏️ </a:t>
            </a:r>
            <a:r>
              <a:rPr b="1"/>
              <a:t>Your turn:</a:t>
            </a:r>
            <a:r>
              <a:rPr/>
              <a:t> What does the width of the violin show you that a boxplot does not?</a:t>
            </a:r>
          </a:p>
          <a:p>
            <a:pPr lvl="0" indent="0">
              <a:buNone/>
            </a:pPr>
            <a:r>
              <a:rPr>
                <a:latin typeface="Courier"/>
              </a:rPr>
              <a:t>Your observation: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Facets — small multiples</a:t>
            </a:r>
          </a:p>
          <a:p>
            <a:pPr lvl="0" indent="0" marL="0">
              <a:buNone/>
            </a:pPr>
            <a:r>
              <a:rPr/>
              <a:t>Facets split one plot into panels, one per group.</a:t>
            </a:r>
          </a:p>
          <a:p>
            <a:pPr lvl="0" indent="0" marL="0">
              <a:buNone/>
            </a:pPr>
            <a:r>
              <a:rPr b="1"/>
              <a:t>▶ Try this:</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"white"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side, </a:t>
            </a:r>
            <a:r>
              <a:rPr>
                <a:solidFill>
                  <a:srgbClr val="657422"/>
                </a:solidFill>
                <a:latin typeface="Courier"/>
              </a:rPr>
              <a:t>ncol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"Distribution of leaf weight by side"</a:t>
            </a:r>
            <a:r>
              <a:rPr>
                <a:solidFill>
                  <a:srgbClr val="003B4F"/>
                </a:solidFill>
                <a:latin typeface="Courier"/>
              </a:rPr>
              <a:t>)</a:t>
            </a:r>
          </a:p>
          <a:p>
            <a:pPr lvl="0" indent="0" marL="0">
              <a:buNone/>
            </a:pPr>
            <a:r>
              <a:rPr/>
              <a:t>✏️ </a:t>
            </a:r>
            <a:r>
              <a:rPr b="1"/>
              <a:t>Your turn:</a:t>
            </a:r>
            <a:r>
              <a:rPr/>
              <a:t> Do the histograms look roughly symmetric, or skewed? Are the shapes similar between sunny and shady?</a:t>
            </a:r>
          </a:p>
          <a:p>
            <a:pPr lvl="0" indent="0">
              <a:buNone/>
            </a:pPr>
            <a:r>
              <a:rPr>
                <a:latin typeface="Courier"/>
              </a:rPr>
              <a:t>Your observation: </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Themes — change the look</a:t>
            </a:r>
          </a:p>
          <a:p>
            <a:pPr lvl="0" indent="0" marL="0">
              <a:buNone/>
            </a:pPr>
            <a:r>
              <a:rPr/>
              <a:t>ggplot comes with built-in themes. Try swapping by adding one to any plot above:</a:t>
            </a:r>
          </a:p>
          <a:p>
            <a:pPr lvl="0" indent="0">
              <a:buNone/>
            </a:pPr>
            <a:r>
              <a:rPr>
                <a:solidFill>
                  <a:srgbClr val="5E5E5E"/>
                </a:solidFill>
                <a:latin typeface="Courier"/>
              </a:rPr>
              <a:t>+</a:t>
            </a: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 clean, white background</a:t>
            </a:r>
            <a:br/>
            <a:r>
              <a:rPr>
                <a:solidFill>
                  <a:srgbClr val="5E5E5E"/>
                </a:solidFill>
                <a:latin typeface="Courier"/>
              </a:rPr>
              <a:t>+</a:t>
            </a: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 very minimal, no border</a:t>
            </a:r>
            <a:br/>
            <a:r>
              <a:rPr>
                <a:solidFill>
                  <a:srgbClr val="5E5E5E"/>
                </a:solidFill>
                <a:latin typeface="Courier"/>
              </a:rPr>
              <a:t>+</a:t>
            </a:r>
            <a:r>
              <a:rPr>
                <a:solidFill>
                  <a:srgbClr val="003B4F"/>
                </a:solidFill>
                <a:latin typeface="Courier"/>
              </a:rPr>
              <a:t> </a:t>
            </a:r>
            <a:r>
              <a:rPr>
                <a:solidFill>
                  <a:srgbClr val="4758AB"/>
                </a:solidFill>
                <a:latin typeface="Courier"/>
              </a:rPr>
              <a:t>theme_classic</a:t>
            </a:r>
            <a:r>
              <a:rPr>
                <a:solidFill>
                  <a:srgbClr val="003B4F"/>
                </a:solidFill>
                <a:latin typeface="Courier"/>
              </a:rPr>
              <a:t>()     </a:t>
            </a:r>
            <a:r>
              <a:rPr>
                <a:solidFill>
                  <a:srgbClr val="5E5E5E"/>
                </a:solidFill>
                <a:latin typeface="Courier"/>
              </a:rPr>
              <a:t># classic axis lines, no grid</a:t>
            </a:r>
            <a:br/>
            <a:r>
              <a:rPr>
                <a:solidFill>
                  <a:srgbClr val="5E5E5E"/>
                </a:solidFill>
                <a:latin typeface="Courier"/>
              </a:rPr>
              <a:t>+</a:t>
            </a:r>
            <a:r>
              <a:rPr>
                <a:solidFill>
                  <a:srgbClr val="003B4F"/>
                </a:solidFill>
                <a:latin typeface="Courier"/>
              </a:rPr>
              <a:t> </a:t>
            </a:r>
            <a:r>
              <a:rPr>
                <a:solidFill>
                  <a:srgbClr val="4758AB"/>
                </a:solidFill>
                <a:latin typeface="Courier"/>
              </a:rPr>
              <a:t>theme_dark</a:t>
            </a:r>
            <a:r>
              <a:rPr>
                <a:solidFill>
                  <a:srgbClr val="003B4F"/>
                </a:solidFill>
                <a:latin typeface="Courier"/>
              </a:rPr>
              <a:t>()        </a:t>
            </a:r>
            <a:r>
              <a:rPr>
                <a:solidFill>
                  <a:srgbClr val="5E5E5E"/>
                </a:solidFill>
                <a:latin typeface="Courier"/>
              </a:rPr>
              <a:t># dark background</a:t>
            </a:r>
          </a:p>
          <a:p>
            <a:pPr lvl="0" indent="0" marL="0">
              <a:buNone/>
            </a:pPr>
            <a:r>
              <a:rPr/>
              <a:t>✏️ </a:t>
            </a:r>
            <a:r>
              <a:rPr b="1"/>
              <a:t>Your turn:</a:t>
            </a:r>
            <a:r>
              <a:rPr/>
              <a:t> Which theme do you prefer for this kind of biological comparison data? Why?</a:t>
            </a:r>
          </a:p>
          <a:p>
            <a:pPr lvl="0" indent="0">
              <a:buNone/>
            </a:pPr>
            <a:r>
              <a:rPr>
                <a:latin typeface="Courier"/>
              </a:rPr>
              <a:t>Your answer: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Save a scatter plot as PNG</a:t>
            </a:r>
          </a:p>
          <a:p>
            <a:pPr lvl="0" indent="0" marL="0">
              <a:buNone/>
            </a:pPr>
            <a:r>
              <a:rPr b="1"/>
              <a:t>▶ Try this:</a:t>
            </a:r>
          </a:p>
          <a:p>
            <a:pPr lvl="0" indent="0">
              <a:buNone/>
            </a:pPr>
            <a:r>
              <a:rPr>
                <a:solidFill>
                  <a:srgbClr val="003B4F"/>
                </a:solidFill>
                <a:latin typeface="Courier"/>
              </a:rPr>
              <a:t>scatter_plot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width_cm, </a:t>
            </a:r>
            <a:r>
              <a:rPr>
                <a:solidFill>
                  <a:srgbClr val="657422"/>
                </a:solidFill>
                <a:latin typeface="Courier"/>
              </a:rPr>
              <a:t>y =</a:t>
            </a:r>
            <a:r>
              <a:rPr>
                <a:solidFill>
                  <a:srgbClr val="003B4F"/>
                </a:solidFill>
                <a:latin typeface="Courier"/>
              </a:rPr>
              <a:t> height_cm, </a:t>
            </a:r>
            <a:r>
              <a:rPr>
                <a:solidFill>
                  <a:srgbClr val="657422"/>
                </a:solidFill>
                <a:latin typeface="Courier"/>
              </a:rPr>
              <a:t>color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"Leaf width (cm)"</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height (cm)"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"Side"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"figures/leaf_dimensions_scatter.png"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scatter_plot,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0">
              <a:buNone/>
            </a:pPr>
            <a:r>
              <a:rPr/>
              <a:t>✏️ </a:t>
            </a:r>
            <a:r>
              <a:rPr b="1"/>
              <a:t>Your turn:</a:t>
            </a:r>
            <a:r>
              <a:rPr/>
              <a:t> Why do we save as </a:t>
            </a:r>
            <a:r>
              <a:rPr>
                <a:latin typeface="Courier"/>
              </a:rPr>
              <a:t>.png</a:t>
            </a:r>
            <a:r>
              <a:rPr/>
              <a:t> rather than </a:t>
            </a:r>
            <a:r>
              <a:rPr>
                <a:latin typeface="Courier"/>
              </a:rPr>
              <a:t>.pdf</a:t>
            </a:r>
            <a:r>
              <a:rPr/>
              <a:t> for most class submissions?</a:t>
            </a:r>
          </a:p>
          <a:p>
            <a:pPr lvl="0" indent="0">
              <a:buNone/>
            </a:pPr>
            <a:r>
              <a:rPr>
                <a:latin typeface="Courier"/>
              </a:rPr>
              <a:t>Your answer: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What your finished project folder looks like</a:t>
            </a:r>
          </a:p>
        </p:txBody>
      </p:sp>
      <p:sp>
        <p:nvSpPr>
          <p:cNvPr id="4" name="Text Placeholder 3"/>
          <p:cNvSpPr>
            <a:spLocks noGrp="1"/>
          </p:cNvSpPr>
          <p:nvPr>
            <p:ph idx="2" sz="half" type="body"/>
          </p:nvPr>
        </p:nvSpPr>
        <p:spPr/>
        <p:txBody>
          <a:bodyPr/>
          <a:lstStyle/>
          <a:p>
            <a:pPr lvl="0" indent="0" marL="0">
              <a:buNone/>
            </a:pPr>
            <a:r>
              <a:rPr/>
              <a:t>After working through this worksheet your </a:t>
            </a:r>
            <a:r>
              <a:rPr>
                <a:latin typeface="Courier"/>
              </a:rPr>
              <a:t>tree_project/</a:t>
            </a:r>
            <a:r>
              <a:rPr/>
              <a:t> folder should contain:</a:t>
            </a:r>
          </a:p>
          <a:p>
            <a:pPr lvl="0" indent="0">
              <a:buNone/>
            </a:pPr>
            <a:r>
              <a:rPr>
                <a:latin typeface="Courier"/>
              </a:rPr>
              <a:t>tree_project/
├── data/
│   └── 2026_06_25_tree_experiment_raw_data.xlsx   &lt;- never touch this
├── scripts/
│   └── 02_tree_analysis.R                          &lt;- your complete script
└── figures/
    ├── leaf_weight.png                             &lt;- Part 8
    └── leaf_dimensions_scatter.png                 &lt;- Going further</a:t>
            </a:r>
          </a:p>
          <a:p>
            <a:pPr lvl="0" indent="0" marL="0">
              <a:buNone/>
            </a:pPr>
            <a:r>
              <a:rPr/>
              <a:t>This is the project structure we will use </a:t>
            </a:r>
            <a:r>
              <a:rPr b="1"/>
              <a:t>for every analysis</a:t>
            </a:r>
            <a:r>
              <a:rPr/>
              <a:t> in this course:</a:t>
            </a:r>
          </a:p>
        </p:txBody>
      </p:sp>
      <p:graphicFrame>
        <p:nvGraphicFramePr>
          <p:cNvPr id="6" name="Content Placeholder 5"/>
          <p:cNvGraphicFramePr>
            <a:graphicFrameLocks noGrp="1"/>
          </p:cNvGraphicFramePr>
          <p:nvPr>
            <p:ph idx="1"/>
          </p:nvPr>
        </p:nvGraphicFramePr>
        <p:xfrm>
          <a:off x="127000" y="2819400"/>
          <a:ext cx="8750300" cy="1943100"/>
        </p:xfrm>
        <a:graphic>
          <a:graphicData uri="http://schemas.openxmlformats.org/drawingml/2006/table">
            <a:tbl>
              <a:tblPr firstRow="1" bandRow="1">
                <a:tableStyleId>{5C22544A-7EE6-4342-B048-85BDC9FD1C3A}</a:tableStyleId>
              </a:tblPr>
              <a:tblGrid>
                <a:gridCol w="2908300"/>
                <a:gridCol w="2908300"/>
                <a:gridCol w="2908300"/>
              </a:tblGrid>
              <a:tr h="0">
                <a:tc>
                  <a:txBody>
                    <a:bodyPr/>
                    <a:lstStyle/>
                    <a:p>
                      <a:pPr lvl="0" indent="0" marL="0">
                        <a:buNone/>
                      </a:pPr>
                      <a:r>
                        <a:rPr/>
                        <a:t>Folder</a:t>
                      </a:r>
                    </a:p>
                  </a:txBody>
                  <a:tcPr/>
                </a:tc>
                <a:tc>
                  <a:txBody>
                    <a:bodyPr/>
                    <a:lstStyle/>
                    <a:p>
                      <a:pPr lvl="0" indent="0" marL="0">
                        <a:buNone/>
                      </a:pPr>
                      <a:r>
                        <a:rPr/>
                        <a:t>Contents</a:t>
                      </a:r>
                    </a:p>
                  </a:txBody>
                  <a:tcPr/>
                </a:tc>
                <a:tc>
                  <a:txBody>
                    <a:bodyPr/>
                    <a:lstStyle/>
                    <a:p>
                      <a:pPr lvl="0" indent="0" marL="0">
                        <a:buNone/>
                      </a:pPr>
                      <a:r>
                        <a:rPr/>
                        <a:t>Rule</a:t>
                      </a:r>
                    </a:p>
                  </a:txBody>
                  <a:tcPr/>
                </a:tc>
              </a:tr>
              <a:tr h="0">
                <a:tc>
                  <a:txBody>
                    <a:bodyPr/>
                    <a:lstStyle/>
                    <a:p>
                      <a:pPr lvl="0" indent="0" marL="0">
                        <a:buNone/>
                      </a:pPr>
                      <a:r>
                        <a:rPr>
                          <a:latin typeface="Courier"/>
                        </a:rPr>
                        <a:t>data/</a:t>
                      </a:r>
                    </a:p>
                  </a:txBody>
                </a:tc>
                <a:tc>
                  <a:txBody>
                    <a:bodyPr/>
                    <a:lstStyle/>
                    <a:p>
                      <a:pPr lvl="0" indent="0" marL="0">
                        <a:buNone/>
                      </a:pPr>
                      <a:r>
                        <a:rPr/>
                        <a:t>All data files</a:t>
                      </a:r>
                    </a:p>
                  </a:txBody>
                </a:tc>
                <a:tc>
                  <a:txBody>
                    <a:bodyPr/>
                    <a:lstStyle/>
                    <a:p>
                      <a:pPr lvl="0" indent="0" marL="0">
                        <a:buNone/>
                      </a:pPr>
                      <a:r>
                        <a:rPr/>
                        <a:t>Read only — never overwrite</a:t>
                      </a:r>
                    </a:p>
                  </a:txBody>
                </a:tc>
              </a:tr>
              <a:tr h="0">
                <a:tc>
                  <a:txBody>
                    <a:bodyPr/>
                    <a:lstStyle/>
                    <a:p>
                      <a:pPr lvl="0" indent="0" marL="0">
                        <a:buNone/>
                      </a:pPr>
                      <a:r>
                        <a:rPr>
                          <a:latin typeface="Courier"/>
                        </a:rPr>
                        <a:t>scripts/</a:t>
                      </a:r>
                    </a:p>
                  </a:txBody>
                </a:tc>
                <a:tc>
                  <a:txBody>
                    <a:bodyPr/>
                    <a:lstStyle/>
                    <a:p>
                      <a:pPr lvl="0" indent="0" marL="0">
                        <a:buNone/>
                      </a:pPr>
                      <a:r>
                        <a:rPr>
                          <a:latin typeface="Courier"/>
                        </a:rPr>
                        <a:t>.R</a:t>
                      </a:r>
                      <a:r>
                        <a:rPr/>
                        <a:t> code files</a:t>
                      </a:r>
                    </a:p>
                  </a:txBody>
                </a:tc>
                <a:tc>
                  <a:txBody>
                    <a:bodyPr/>
                    <a:lstStyle/>
                    <a:p>
                      <a:pPr lvl="0" indent="0" marL="0">
                        <a:buNone/>
                      </a:pPr>
                      <a:r>
                        <a:rPr/>
                        <a:t>One script per topic</a:t>
                      </a:r>
                    </a:p>
                  </a:txBody>
                </a:tc>
              </a:tr>
              <a:tr h="0">
                <a:tc>
                  <a:txBody>
                    <a:bodyPr/>
                    <a:lstStyle/>
                    <a:p>
                      <a:pPr lvl="0" indent="0" marL="0">
                        <a:buNone/>
                      </a:pPr>
                      <a:r>
                        <a:rPr>
                          <a:latin typeface="Courier"/>
                        </a:rPr>
                        <a:t>figures/</a:t>
                      </a:r>
                    </a:p>
                  </a:txBody>
                </a:tc>
                <a:tc>
                  <a:txBody>
                    <a:bodyPr/>
                    <a:lstStyle/>
                    <a:p>
                      <a:pPr lvl="0" indent="0" marL="0">
                        <a:buNone/>
                      </a:pPr>
                      <a:r>
                        <a:rPr/>
                        <a:t>Saved plots</a:t>
                      </a:r>
                    </a:p>
                  </a:txBody>
                </a:tc>
                <a:tc>
                  <a:txBody>
                    <a:bodyPr/>
                    <a:lstStyle/>
                    <a:p>
                      <a:pPr lvl="0" indent="0" marL="0">
                        <a:buNone/>
                      </a:pPr>
                      <a:r>
                        <a:rPr/>
                        <a:t>Always PNG, always </a:t>
                      </a:r>
                      <a:r>
                        <a:rPr>
                          <a:latin typeface="Courier"/>
                        </a:rPr>
                        <a:t>dpi = 300</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Extension — out of class (~30–40 min)</a:t>
            </a:r>
          </a:p>
        </p:txBody>
      </p:sp>
      <p:sp>
        <p:nvSpPr>
          <p:cNvPr id="3" name="Content Placeholder 2"/>
          <p:cNvSpPr>
            <a:spLocks noGrp="1"/>
          </p:cNvSpPr>
          <p:nvPr>
            <p:ph idx="1"/>
          </p:nvPr>
        </p:nvSpPr>
        <p:spPr/>
        <p:txBody>
          <a:bodyPr/>
          <a:lstStyle/>
          <a:p>
            <a:pPr lvl="0" indent="0" marL="0">
              <a:buNone/>
            </a:pPr>
            <a:r>
              <a:rPr i="1"/>
              <a:t>Turn this in with your worksheet. In class we split leaves at an arbitrary weight. Now you split them at a number </a:t>
            </a:r>
            <a:r>
              <a:rPr b="1" i="1"/>
              <a:t>you compute</a:t>
            </a:r>
            <a:r>
              <a:rPr i="1"/>
              <a:t>, and reason about why that changes the picture.</a:t>
            </a:r>
          </a:p>
          <a:p>
            <a:pPr lvl="0" indent="0" marL="1270000">
              <a:buNone/>
            </a:pPr>
            <a:r>
              <a:rPr sz="2000" b="1"/>
              <a:t>Important</a:t>
            </a:r>
          </a:p>
          <a:p>
            <a:pPr lvl="0" indent="0" marL="1270000">
              <a:buNone/>
            </a:pPr>
            <a:r>
              <a:rPr sz="2000" b="1"/>
              <a:t>E2 and E3 must be handwritten</a:t>
            </a:r>
            <a:r>
              <a:rPr sz="2000"/>
              <a:t> on paper, photographed, and embedded (</a:t>
            </a:r>
            <a:r>
              <a:rPr sz="2000">
                <a:latin typeface="Courier"/>
              </a:rPr>
              <a:t>![caption](my_photo.jpg)</a:t>
            </a:r>
            <a:r>
              <a:rPr sz="2000"/>
              <a:t>). Typed answers to E2/E3 get </a:t>
            </a:r>
            <a:r>
              <a:rPr sz="2000" b="1"/>
              <a:t>at most half credit, even if correct</a:t>
            </a:r>
            <a:r>
              <a:rPr sz="2000"/>
              <a:t> — I want your own sketch and your own reasoning about </a:t>
            </a:r>
            <a:r>
              <a:rPr sz="2000" i="1"/>
              <a:t>your own</a:t>
            </a:r>
            <a:r>
              <a:rPr sz="2000"/>
              <a:t> number.</a:t>
            </a:r>
          </a:p>
          <a:p>
            <a:pPr lvl="0" indent="0" marL="0">
              <a:spcBef>
                <a:spcPts val="3000"/>
              </a:spcBef>
              <a:buNone/>
            </a:pPr>
            <a:r>
              <a:rPr b="1"/>
              <a:t>E1 · Your own size cutoff (3 pts)</a:t>
            </a:r>
          </a:p>
          <a:p>
            <a:pPr lvl="0" indent="0">
              <a:buNone/>
            </a:pPr>
            <a:r>
              <a:rPr>
                <a:solidFill>
                  <a:srgbClr val="5E5E5E"/>
                </a:solidFill>
                <a:latin typeface="Courier"/>
              </a:rPr>
              <a:t># 1. Compute the real mean leaf weight (don't eyeball it)</a:t>
            </a:r>
            <a:br/>
            <a:r>
              <a:rPr>
                <a:solidFill>
                  <a:srgbClr val="003B4F"/>
                </a:solidFill>
                <a:latin typeface="Courier"/>
              </a:rPr>
              <a:t>cutoff &lt;- </a:t>
            </a:r>
            <a:r>
              <a:rPr>
                <a:solidFill>
                  <a:srgbClr val="4758AB"/>
                </a:solidFill>
                <a:latin typeface="Courier"/>
              </a:rPr>
              <a:t>mean</a:t>
            </a:r>
            <a:r>
              <a:rPr>
                <a:solidFill>
                  <a:srgbClr val="003B4F"/>
                </a:solidFill>
                <a:latin typeface="Courier"/>
              </a:rPr>
              <a:t>(tree_df</a:t>
            </a:r>
            <a:r>
              <a:rPr>
                <a:solidFill>
                  <a:srgbClr val="5E5E5E"/>
                </a:solidFill>
                <a:latin typeface="Courier"/>
              </a:rPr>
              <a:t>$</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cutoff</a:t>
            </a:r>
            <a:br/>
            <a:br/>
            <a:r>
              <a:rPr>
                <a:solidFill>
                  <a:srgbClr val="5E5E5E"/>
                </a:solidFill>
                <a:latin typeface="Courier"/>
              </a:rPr>
              <a:t># 2. Use YOUR cutoff to make a size class, then facet the boxplot</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size_class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cutoff, </a:t>
            </a:r>
            <a:r>
              <a:rPr>
                <a:solidFill>
                  <a:srgbClr val="20794D"/>
                </a:solidFill>
                <a:latin typeface="Courier"/>
              </a:rPr>
              <a:t>"large"</a:t>
            </a:r>
            <a:r>
              <a:rPr>
                <a:solidFill>
                  <a:srgbClr val="003B4F"/>
                </a:solidFill>
                <a:latin typeface="Courier"/>
              </a:rPr>
              <a:t>, </a:t>
            </a:r>
            <a:r>
              <a:rPr>
                <a:solidFill>
                  <a:srgbClr val="20794D"/>
                </a:solidFill>
                <a:latin typeface="Courier"/>
              </a:rPr>
              <a:t>"small"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 size_class)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Save the figure to </a:t>
            </a:r>
            <a:r>
              <a:rPr>
                <a:latin typeface="Courier"/>
              </a:rPr>
              <a:t>figures/</a:t>
            </a:r>
            <a:r>
              <a:rPr/>
              <a:t> at </a:t>
            </a:r>
            <a:r>
              <a:rPr>
                <a:latin typeface="Courier"/>
              </a:rPr>
              <a:t>dpi = 300</a:t>
            </a:r>
            <a:r>
              <a:rPr/>
              <a:t>. Record your exact </a:t>
            </a:r>
            <a:r>
              <a:rPr>
                <a:latin typeface="Courier"/>
              </a:rPr>
              <a:t>cutoff</a:t>
            </a:r>
            <a:r>
              <a:rPr/>
              <a:t>.</a:t>
            </a:r>
          </a:p>
          <a:p>
            <a:pPr lvl="0" indent="0" marL="0">
              <a:spcBef>
                <a:spcPts val="3000"/>
              </a:spcBef>
              <a:buNone/>
            </a:pPr>
            <a:r>
              <a:rPr b="1"/>
              <a:t>E2 · Predict, then check — ✍️ by hand (2 pts)</a:t>
            </a:r>
          </a:p>
          <a:p>
            <a:pPr lvl="0" indent="0" marL="0">
              <a:buNone/>
            </a:pPr>
            <a:r>
              <a:rPr b="1"/>
              <a:t>Before running E1:</a:t>
            </a:r>
            <a:r>
              <a:rPr/>
              <a:t> sketch the faceted plot using your mean as the cutoff. Will the “large” and “small” panels hold roughly equal numbers of points, or not? Guess and say why. Then run it and write whether you were right, and why cutting at the mean behaves differently from cutting at a round number like 5.</a:t>
            </a:r>
          </a:p>
          <a:p>
            <a:pPr lvl="0" indent="0" marL="0">
              <a:spcBef>
                <a:spcPts val="3000"/>
              </a:spcBef>
              <a:buNone/>
            </a:pPr>
            <a:r>
              <a:rPr b="1"/>
              <a:t>E3 · Interpret — ✍️ by hand, in your own words (2 pts)</a:t>
            </a:r>
          </a:p>
          <a:p>
            <a:pPr lvl="0" indent="-342900" marL="342900">
              <a:buAutoNum type="arabicPeriod"/>
            </a:pPr>
            <a:r>
              <a:rPr/>
              <a:t>State the exact mean </a:t>
            </a:r>
            <a:r>
              <a:rPr>
                <a:latin typeface="Courier"/>
              </a:rPr>
              <a:t>weight_g</a:t>
            </a:r>
            <a:r>
              <a:rPr/>
              <a:t> you computed.</a:t>
            </a:r>
          </a:p>
          <a:p>
            <a:pPr lvl="0" indent="-342900" marL="342900">
              <a:buAutoNum type="arabicPeriod"/>
            </a:pPr>
            <a:r>
              <a:rPr/>
              <a:t>From your plots: does one side of the tree seem to have heavier leaves? Explain as if to a friend who’s never seen a boxplot — describe the shapes, not the stats vocabulary.</a:t>
            </a:r>
          </a:p>
          <a:p>
            <a:pPr lvl="0" indent="-342900" marL="342900">
              <a:buAutoNum type="arabicPeriod"/>
            </a:pPr>
            <a:r>
              <a:rPr/>
              <a:t>What would you want to test </a:t>
            </a:r>
            <a:r>
              <a:rPr i="1"/>
              <a:t>formally</a:t>
            </a:r>
            <a:r>
              <a:rPr/>
              <a:t> next, and why isn’t eyeballing the boxplot enough on its own?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 — try these in order:</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load </a:t>
            </a:r>
            <a:r>
              <a:rPr>
                <a:latin typeface="Courier"/>
              </a:rPr>
              <a:t>library(tidyverse)</a:t>
            </a:r>
            <a:r>
              <a:rPr/>
              <a:t> and </a:t>
            </a:r>
            <a:r>
              <a:rPr>
                <a:latin typeface="Courier"/>
              </a:rPr>
              <a:t>library(readxl)</a:t>
            </a:r>
            <a:r>
              <a:rPr/>
              <a:t>? Spelling? Missing </a:t>
            </a:r>
            <a:r>
              <a:rPr>
                <a:latin typeface="Courier"/>
              </a:rPr>
              <a:t>)</a:t>
            </a:r>
            <a:r>
              <a:rPr/>
              <a:t> or </a:t>
            </a:r>
            <a:r>
              <a:rPr>
                <a:latin typeface="Courier"/>
              </a:rPr>
              <a:t>+</a:t>
            </a:r>
            <a:r>
              <a:rPr/>
              <a:t> at the </a:t>
            </a:r>
            <a:r>
              <a:rPr i="1"/>
              <a:t>start</a:t>
            </a:r>
            <a:r>
              <a:rPr/>
              <a:t> of a line?</a:t>
            </a:r>
          </a:p>
          <a:p>
            <a:pPr lvl="0" indent="-342900" marL="342900">
              <a:buAutoNum type="arabicPeriod"/>
            </a:pPr>
            <a:r>
              <a:rPr b="1">
                <a:latin typeface="Courier"/>
              </a:rPr>
              <a:t>?function_name</a:t>
            </a:r>
            <a:r>
              <a:rPr/>
              <a:t> opens the built-in help page.</a:t>
            </a:r>
          </a:p>
          <a:p>
            <a:pPr lvl="0" indent="-342900" marL="342900">
              <a:buAutoNum type="arabicPeriod"/>
            </a:pPr>
            <a:r>
              <a:rPr b="1"/>
              <a:t>Tidyverse cheat sheets</a:t>
            </a:r>
            <a:r>
              <a:rPr/>
              <a:t> — </a:t>
            </a:r>
            <a:r>
              <a:rPr>
                <a:hlinkClick r:id="rId2"/>
              </a:rPr>
              <a:t>https://posit.co/resources/cheatsheets/</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data scientist googles error messages daily. Getting stuck is not failing — it is the job.</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 Introduction to R and Positron</dc:title>
  <dc:creator>Bill Perry</dc:creator>
  <cp:keywords/>
  <dc:description>Install R and Positron, organize a project folder, and take your first steps with vectors, functions, and loading the leaf data into R.</dc:description>
  <dcterms:created xsi:type="dcterms:W3CDTF">2026-08-27T20:05:57Z</dcterms:created>
  <dcterms:modified xsi:type="dcterms:W3CDTF">2026-08-27T20:05:57Z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2026-08-27</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2</vt:lpwstr>
  </property>
  <property fmtid="{D5CDD505-2E9C-101B-9397-08002B2CF9AE}" pid="13" name="resources">
    <vt:lpwstr/>
  </property>
  <property fmtid="{D5CDD505-2E9C-101B-9397-08002B2CF9AE}" pid="14" name="subtitle">
    <vt:lpwstr>From the console to your first plot with the tree leaf data</vt:lpwstr>
  </property>
  <property fmtid="{D5CDD505-2E9C-101B-9397-08002B2CF9AE}" pid="15" name="toc-title">
    <vt:lpwstr>Table of contents</vt:lpwstr>
  </property>
  <property fmtid="{D5CDD505-2E9C-101B-9397-08002B2CF9AE}" pid="16" name="type">
    <vt:lpwstr>activity</vt:lpwstr>
  </property>
  <property fmtid="{D5CDD505-2E9C-101B-9397-08002B2CF9AE}" pid="17" name="week">
    <vt:lpwstr>1</vt:lpwstr>
  </property>
</Properties>
</file>