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7" Type="http://schemas.openxmlformats.org/officeDocument/2006/relationships/viewProps" Target="viewProps.xml" /><Relationship Id="rId1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9" Type="http://schemas.openxmlformats.org/officeDocument/2006/relationships/tableStyles" Target="tableStyles.xml" /><Relationship Id="rId1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osit.co/resources/cheatsheets/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Worksheet — One-Way ANOVA II: Running, Reporting &amp; Extension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Reading the F table, finding which species differ, and writing it up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2026-08-27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One-Way ANOVA II — Which Species Differ, and How Do We Report 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Recap from the ANOVA I worksheet</a:t>
            </a:r>
          </a:p>
          <a:p>
            <a:pPr lvl="0"/>
            <a:r>
              <a:rPr/>
              <a:t>Fit </a:t>
            </a:r>
            <a:r>
              <a:rPr>
                <a:latin typeface="Courier"/>
              </a:rPr>
              <a:t>mass_model &lt;- lm(body_mass_g ~ species, data = penguins_df)</a:t>
            </a:r>
          </a:p>
          <a:p>
            <a:pPr lvl="0"/>
            <a:r>
              <a:rPr/>
              <a:t>Checked normality of the residuals (</a:t>
            </a:r>
            <a:r>
              <a:rPr>
                <a:latin typeface="Courier"/>
              </a:rPr>
              <a:t>plot(model)</a:t>
            </a:r>
            <a:r>
              <a:rPr/>
              <a:t>, Shapiro-Wilk)</a:t>
            </a:r>
          </a:p>
          <a:p>
            <a:pPr lvl="0"/>
            <a:r>
              <a:rPr/>
              <a:t>Checked equal variance (</a:t>
            </a:r>
            <a:r>
              <a:rPr>
                <a:latin typeface="Courier"/>
              </a:rPr>
              <a:t>leveneTest()</a:t>
            </a:r>
            <a:r>
              <a:rPr/>
              <a:t>)</a:t>
            </a:r>
          </a:p>
          <a:p>
            <a:pPr lvl="0"/>
            <a:r>
              <a:rPr/>
              <a:t>Decision: assumptions look fine — proceed with classic ANOVA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Today’s Objectives</a:t>
            </a:r>
          </a:p>
          <a:p>
            <a:pPr lvl="0" indent="-342900" marL="342900">
              <a:buAutoNum type="arabicPeriod"/>
            </a:pPr>
            <a:r>
              <a:rPr/>
              <a:t>Read the F table from </a:t>
            </a:r>
            <a:r>
              <a:rPr>
                <a:latin typeface="Courier"/>
              </a:rPr>
              <a:t>aov()</a:t>
            </a:r>
            <a:r>
              <a:rPr/>
              <a:t> and </a:t>
            </a:r>
            <a:r>
              <a:rPr>
                <a:latin typeface="Courier"/>
              </a:rPr>
              <a:t>car::Anova()</a:t>
            </a:r>
          </a:p>
          <a:p>
            <a:pPr lvl="0" indent="-342900" marL="342900">
              <a:buAutoNum type="arabicPeriod"/>
            </a:pPr>
            <a:r>
              <a:rPr/>
              <a:t>Use </a:t>
            </a:r>
            <a:r>
              <a:rPr>
                <a:latin typeface="Courier"/>
              </a:rPr>
              <a:t>emmeans</a:t>
            </a:r>
            <a:r>
              <a:rPr/>
              <a:t> to find </a:t>
            </a:r>
            <a:r>
              <a:rPr b="1"/>
              <a:t>which</a:t>
            </a:r>
            <a:r>
              <a:rPr/>
              <a:t> species differ</a:t>
            </a:r>
          </a:p>
          <a:p>
            <a:pPr lvl="0" indent="-342900" marL="342900">
              <a:buAutoNum type="arabicPeriod"/>
            </a:pPr>
            <a:r>
              <a:rPr/>
              <a:t>Read a compact letter display</a:t>
            </a:r>
          </a:p>
          <a:p>
            <a:pPr lvl="0" indent="-342900" marL="342900">
              <a:buAutoNum type="arabicPeriod"/>
            </a:pPr>
            <a:r>
              <a:rPr/>
              <a:t>Plot the estimated means ± CI</a:t>
            </a:r>
          </a:p>
          <a:p>
            <a:pPr lvl="0" indent="-342900" marL="342900">
              <a:buAutoNum type="arabicPeriod"/>
            </a:pPr>
            <a:r>
              <a:rPr/>
              <a:t>Write a complete results sentence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sz="2000" b="1"/>
              <a:t>How to use this worksheet</a:t>
            </a:r>
          </a:p>
          <a:p>
            <a:pPr lvl="0"/>
            <a:r>
              <a:rPr sz="2000"/>
              <a:t>Work through the parts in order. Type the code into a new R script in Positron and run it line by line.</a:t>
            </a:r>
          </a:p>
          <a:p>
            <a:pPr lvl="0"/>
            <a:r>
              <a:rPr sz="2000"/>
              <a:t>Blocks marked </a:t>
            </a:r>
            <a:r>
              <a:rPr sz="2000" b="1"/>
              <a:t>▶ Run this</a:t>
            </a:r>
            <a:r>
              <a:rPr sz="2000"/>
              <a:t> should be executed as written.</a:t>
            </a:r>
          </a:p>
          <a:p>
            <a:pPr lvl="0"/>
            <a:r>
              <a:rPr sz="2000"/>
              <a:t>Blocks marked </a:t>
            </a:r>
            <a:r>
              <a:rPr sz="2000" b="1"/>
              <a:t>✏️ Your turn</a:t>
            </a:r>
            <a:r>
              <a:rPr sz="2000"/>
              <a:t> ask you to write, modify, or interpret.</a:t>
            </a:r>
          </a:p>
          <a:p>
            <a:pPr lvl="0"/>
            <a:r>
              <a:rPr sz="2000"/>
              <a:t>The </a:t>
            </a:r>
            <a:r>
              <a:rPr sz="2000" b="1"/>
              <a:t>Extension</a:t>
            </a:r>
            <a:r>
              <a:rPr sz="2000"/>
              <a:t> at the end is done out of class (~30–40 min) and turned in with the worksheet.</a:t>
            </a:r>
          </a:p>
          <a:p>
            <a:pPr lvl="0" indent="0" marL="1270000">
              <a:buNone/>
            </a:pPr>
            <a:r>
              <a:rPr sz="2000" b="1"/>
              <a:t>🔮 Predict before you run — and type, don’t paste</a:t>
            </a:r>
          </a:p>
          <a:p>
            <a:pPr lvl="0" indent="0" marL="1270000">
              <a:buNone/>
            </a:pPr>
            <a:r>
              <a:rPr sz="2000"/>
              <a:t>Before each </a:t>
            </a:r>
            <a:r>
              <a:rPr sz="2000" b="1"/>
              <a:t>▶ Run this</a:t>
            </a:r>
            <a:r>
              <a:rPr sz="2000"/>
              <a:t> block, cover the output and </a:t>
            </a:r>
            <a:r>
              <a:rPr sz="2000" i="1"/>
              <a:t>predict</a:t>
            </a:r>
            <a:r>
              <a:rPr sz="2000"/>
              <a:t> what R will print — the F, the </a:t>
            </a:r>
            <a:r>
              <a:rPr sz="2000" i="1"/>
              <a:t>p</a:t>
            </a:r>
            <a:r>
              <a:rPr sz="2000"/>
              <a:t>-value, which species differ. Then type the code yourself.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1 — Run the ANOVA </a:t>
            </a:r>
            <a:r>
              <a:rPr sz="2000" b="1" i="1"/>
              <a:t>(after lecture Chunk 1)</a:t>
            </a:r>
          </a:p>
          <a:p>
            <a:pPr lvl="0" indent="0" marL="1270000">
              <a:buNone/>
            </a:pPr>
            <a:r>
              <a:rPr sz="2000"/>
              <a:t>Parts 7–8: read the F table two ways.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Setup · Reload libraries and refit the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 at the top of your script: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packages at the top — always 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(tidyverse)      </a:t>
            </a:r>
            <a:r>
              <a:rPr>
                <a:solidFill>
                  <a:srgbClr val="5E5E5E"/>
                </a:solidFill>
                <a:latin typeface="Courier"/>
              </a:rPr>
              <a:t># wrangling + ggplot2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(palmerpenguins) </a:t>
            </a:r>
            <a:r>
              <a:rPr>
                <a:solidFill>
                  <a:srgbClr val="5E5E5E"/>
                </a:solidFill>
                <a:latin typeface="Courier"/>
              </a:rPr>
              <a:t># the penguins data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(car)            </a:t>
            </a:r>
            <a:r>
              <a:rPr>
                <a:solidFill>
                  <a:srgbClr val="5E5E5E"/>
                </a:solidFill>
                <a:latin typeface="Courier"/>
              </a:rPr>
              <a:t># Anova()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library</a:t>
            </a:r>
            <a:r>
              <a:rPr>
                <a:solidFill>
                  <a:srgbClr val="003B4F"/>
                </a:solidFill>
                <a:latin typeface="Courier"/>
              </a:rPr>
              <a:t>(emmeans)        </a:t>
            </a:r>
            <a:r>
              <a:rPr>
                <a:solidFill>
                  <a:srgbClr val="5E5E5E"/>
                </a:solidFill>
                <a:latin typeface="Courier"/>
              </a:rPr>
              <a:t># post-hoc pairwise tests</a:t>
            </a:r>
          </a:p>
          <a:p>
            <a:pPr lvl="0" indent="0" marL="0">
              <a:buNone/>
            </a:pPr>
            <a:r>
              <a:rPr b="1"/>
              <a:t>▶ Run this</a:t>
            </a:r>
            <a:r>
              <a:rPr/>
              <a:t> (same model as the end of the ANOVA I worksheet):</a:t>
            </a:r>
          </a:p>
          <a:p>
            <a:pPr lvl="0" indent="0">
              <a:buNone/>
            </a:pPr>
            <a:r>
              <a:rPr>
                <a:solidFill>
                  <a:srgbClr val="003B4F"/>
                </a:solidFill>
                <a:latin typeface="Courier"/>
              </a:rPr>
              <a:t>penguins_df &lt;- 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(body_mass_g, species)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7 · Run the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The boxplot looked very separated. Predict the </a:t>
            </a:r>
            <a:r>
              <a:rPr sz="2000" i="1"/>
              <a:t>p</a:t>
            </a:r>
            <a:r>
              <a:rPr sz="2000"/>
              <a:t>-value — near 0.5, near 0.05, or far below 0.001?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Classic ANOVA table ------------------------------------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mass_aov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(mass_aov)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Read the F table.</a:t>
            </a:r>
          </a:p>
          <a:p>
            <a:pPr lvl="0" indent="0">
              <a:buNone/>
            </a:pPr>
            <a:r>
              <a:rPr>
                <a:latin typeface="Courier"/>
              </a:rPr>
              <a:t>Df (between, within) =        ,
F value =
p-value =
Reject H₀ at α = 0.05?  Y / 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8 · The same table with </a:t>
            </a:r>
            <a:r>
              <a:rPr>
                <a:latin typeface="Courier"/>
              </a:rPr>
              <a:t>car::Anova()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Type II sums of squares (the habit to build) 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(mass_model,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1270000">
              <a:buNone/>
            </a:pPr>
            <a:r>
              <a:rPr sz="2000"/>
              <a:t>⚠️ </a:t>
            </a:r>
            <a:r>
              <a:rPr sz="2000" b="1"/>
              <a:t>Watch out!</a:t>
            </a:r>
            <a:r>
              <a:rPr sz="2000"/>
              <a:t> Lowercase </a:t>
            </a:r>
            <a:r>
              <a:rPr sz="2000">
                <a:latin typeface="Courier"/>
              </a:rPr>
              <a:t>anova()</a:t>
            </a:r>
            <a:r>
              <a:rPr sz="2000"/>
              <a:t> (base R) and capital </a:t>
            </a:r>
            <a:r>
              <a:rPr sz="2000">
                <a:latin typeface="Courier"/>
              </a:rPr>
              <a:t>Anova()</a:t>
            </a:r>
            <a:r>
              <a:rPr sz="2000"/>
              <a:t> (car) are different functions. If R says </a:t>
            </a:r>
            <a:r>
              <a:rPr sz="2000">
                <a:latin typeface="Courier"/>
              </a:rPr>
              <a:t>could not find function "Anova"</a:t>
            </a:r>
            <a:r>
              <a:rPr sz="2000"/>
              <a:t>, you forgot </a:t>
            </a:r>
            <a:r>
              <a:rPr sz="2000">
                <a:latin typeface="Courier"/>
              </a:rPr>
              <a:t>library(car)</a:t>
            </a:r>
            <a:r>
              <a:rPr sz="2000"/>
              <a:t>.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Does </a:t>
            </a:r>
            <a:r>
              <a:rPr>
                <a:latin typeface="Courier"/>
              </a:rPr>
              <a:t>Anova()</a:t>
            </a:r>
            <a:r>
              <a:rPr/>
              <a:t> give the same F and p as </a:t>
            </a:r>
            <a:r>
              <a:rPr>
                <a:latin typeface="Courier"/>
              </a:rPr>
              <a:t>summary(mass_aov)</a:t>
            </a:r>
            <a:r>
              <a:rPr/>
              <a:t>? (For one predictor it should.)</a:t>
            </a:r>
          </a:p>
          <a:p>
            <a:pPr lvl="0" indent="0">
              <a:buNone/>
            </a:pPr>
            <a:r>
              <a:rPr>
                <a:latin typeface="Courier"/>
              </a:rPr>
              <a:t>Match?  Y / N
Why do we prefer Anova(type = "II") as a habit? (hint: unbalanced / two-way later)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sz="2000" b="1"/>
              <a:t>🧩 Chunk 2 — Which groups differ? </a:t>
            </a:r>
            <a:r>
              <a:rPr sz="2000" b="1" i="1"/>
              <a:t>(after lecture Chunk 2)</a:t>
            </a:r>
          </a:p>
          <a:p>
            <a:pPr lvl="0" indent="0" marL="1270000">
              <a:buNone/>
            </a:pPr>
            <a:r>
              <a:rPr sz="2000"/>
              <a:t>Parts 9–11: post-hoc comparisons, letters, plot, and the write-up.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9 · Post-hoc — which species differ?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/>
              <a:t>🔮 </a:t>
            </a:r>
            <a:r>
              <a:rPr sz="2000" b="1"/>
              <a:t>Predict first:</a:t>
            </a:r>
            <a:r>
              <a:rPr sz="2000"/>
              <a:t> Will </a:t>
            </a:r>
            <a:r>
              <a:rPr sz="2000" b="1"/>
              <a:t>all three</a:t>
            </a:r>
            <a:r>
              <a:rPr sz="2000"/>
              <a:t> species differ from each other, or will two be statistically tied? Commit before you run it.</a:t>
            </a:r>
          </a:p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Estimated marginal means + Tukey-adjusted pairs 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mass_emm &lt;- </a:t>
            </a:r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(mass_model, pairwise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mass_emm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contrasts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Record each pairwise comparison.</a:t>
            </a:r>
          </a:p>
          <a:p>
            <a:pPr lvl="0" indent="0">
              <a:buNone/>
            </a:pPr>
            <a:r>
              <a:rPr>
                <a:latin typeface="Courier"/>
              </a:rPr>
              <a:t>Adelie  vs Chinstrap:  p =        different?  Y / N
Adelie  vs Gentoo:     p =        different?  Y / N
Chinstrap vs Gentoo:   p =        different?  Y / N</a:t>
            </a:r>
          </a:p>
          <a:p>
            <a:pPr lvl="0" indent="0" marL="0">
              <a:buNone/>
            </a:pPr>
            <a:r>
              <a:rPr b="1"/>
              <a:t>▶ Run this (compact letter display):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Groups sharing a letter are NOT different 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multcomp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cld</a:t>
            </a:r>
            <a:r>
              <a:rPr>
                <a:solidFill>
                  <a:srgbClr val="003B4F"/>
                </a:solidFill>
                <a:latin typeface="Courier"/>
              </a:rPr>
              <a:t>(mass_emm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emmeans, </a:t>
            </a:r>
            <a:r>
              <a:rPr>
                <a:solidFill>
                  <a:srgbClr val="657422"/>
                </a:solidFill>
                <a:latin typeface="Courier"/>
              </a:rPr>
              <a:t>Letters =</a:t>
            </a:r>
            <a:r>
              <a:rPr>
                <a:solidFill>
                  <a:srgbClr val="003B4F"/>
                </a:solidFill>
                <a:latin typeface="Courier"/>
              </a:rPr>
              <a:t> letters)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the letter for each species. Do any share a letter?</a:t>
            </a:r>
          </a:p>
          <a:p>
            <a:pPr lvl="0" indent="0">
              <a:buNone/>
            </a:pPr>
            <a:r>
              <a:rPr>
                <a:latin typeface="Courier"/>
              </a:rPr>
              <a:t>Adelie:      Chinstrap:      Gentoo:
Any species share a letter (i.e. not different)?  Y / N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10 · Plot the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▶ Run this: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Estimated means with 95% CI ---------------------------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mass_emm_plot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(mass_emm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emmeans)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ggplot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emmean, </a:t>
            </a:r>
            <a:r>
              <a:rPr>
                <a:solidFill>
                  <a:srgbClr val="657422"/>
                </a:solidFill>
                <a:latin typeface="Courier"/>
              </a:rPr>
              <a:t>color =</a:t>
            </a:r>
            <a:r>
              <a:rPr>
                <a:solidFill>
                  <a:srgbClr val="003B4F"/>
                </a:solidFill>
                <a:latin typeface="Courier"/>
              </a:rPr>
              <a:t> species))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geom_point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size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geom_errorbar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ymin =</a:t>
            </a:r>
            <a:r>
              <a:rPr>
                <a:solidFill>
                  <a:srgbClr val="003B4F"/>
                </a:solidFill>
                <a:latin typeface="Courier"/>
              </a:rPr>
              <a:t> lower.CL, </a:t>
            </a:r>
            <a:r>
              <a:rPr>
                <a:solidFill>
                  <a:srgbClr val="657422"/>
                </a:solidFill>
                <a:latin typeface="Courier"/>
              </a:rPr>
              <a:t>ymax =</a:t>
            </a:r>
            <a:r>
              <a:rPr>
                <a:solidFill>
                  <a:srgbClr val="003B4F"/>
                </a:solidFill>
                <a:latin typeface="Courier"/>
              </a:rPr>
              <a:t> upper.CL),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0.15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linewidth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0.9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labs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x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"Species"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y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"Estimated mean mass (g)"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theme_minimal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+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theme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legend.position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"none"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mass_emm_plot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Save it to the figures folder -------------------------</a:t>
            </a:r>
            <a:br/>
            <a:r>
              <a:rPr>
                <a:solidFill>
                  <a:srgbClr val="4758AB"/>
                </a:solidFill>
                <a:latin typeface="Courier"/>
              </a:rPr>
              <a:t>ggsave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"figures/penguin_mass_emmeans.png"</a:t>
            </a:r>
            <a:r>
              <a:rPr>
                <a:solidFill>
                  <a:srgbClr val="003B4F"/>
                </a:solidFill>
                <a:latin typeface="Courier"/>
              </a:rPr>
              <a:t>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plot =</a:t>
            </a:r>
            <a:r>
              <a:rPr>
                <a:solidFill>
                  <a:srgbClr val="003B4F"/>
                </a:solidFill>
                <a:latin typeface="Courier"/>
              </a:rPr>
              <a:t> mass_emm_plot,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</a:t>
            </a:r>
            <a:r>
              <a:rPr>
                <a:solidFill>
                  <a:srgbClr val="657422"/>
                </a:solidFill>
                <a:latin typeface="Courier"/>
              </a:rPr>
              <a:t>width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5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units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"in"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dpi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AD0000"/>
                </a:solidFill>
                <a:latin typeface="Courier"/>
              </a:rPr>
              <a:t>300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Do any of the confidence intervals overlap? What does that suggest?</a:t>
            </a:r>
          </a:p>
          <a:p>
            <a:pPr lvl="0" indent="0">
              <a:buNone/>
            </a:pPr>
            <a:r>
              <a:rPr>
                <a:latin typeface="Courier"/>
              </a:rPr>
              <a:t>Your answer: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11 · Write a results sentence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turn:</a:t>
            </a:r>
            <a:r>
              <a:rPr/>
              <a:t> Write a complete results sentence. Include the test, F, both df, the </a:t>
            </a:r>
            <a:r>
              <a:rPr i="1"/>
              <a:t>p</a:t>
            </a:r>
            <a:r>
              <a:rPr/>
              <a:t>-value, the post-hoc outcome, and the direction (which is heaviest).</a:t>
            </a:r>
          </a:p>
          <a:p>
            <a:pPr lvl="0" indent="0">
              <a:buNone/>
            </a:pPr>
            <a:r>
              <a:rPr>
                <a:latin typeface="Courier"/>
              </a:rPr>
              <a:t>Template:
"Body mass differed significantly among the three penguin species
(one-way ANOVA: F(__, __) = ____, p ____). Tukey-adjusted comparisons
showed that ____________________, with __________ heaviest."
Your sentence: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Part 12 · Review and checkpoint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this point you should be able to:</a:t>
            </a:r>
          </a:p>
          <a:p>
            <a:pPr lvl="0"/>
            <a:r>
              <a:rPr/>
              <a:t>☐ Read the F table from </a:t>
            </a:r>
            <a:r>
              <a:rPr>
                <a:latin typeface="Courier"/>
              </a:rPr>
              <a:t>aov()</a:t>
            </a:r>
            <a:r>
              <a:rPr/>
              <a:t> and </a:t>
            </a:r>
            <a:r>
              <a:rPr>
                <a:latin typeface="Courier"/>
              </a:rPr>
              <a:t>car::Anova(type = "II")</a:t>
            </a:r>
          </a:p>
          <a:p>
            <a:pPr lvl="0"/>
            <a:r>
              <a:rPr/>
              <a:t>☐ Run </a:t>
            </a:r>
            <a:r>
              <a:rPr>
                <a:latin typeface="Courier"/>
              </a:rPr>
              <a:t>emmeans(model, pairwise ~ group)</a:t>
            </a:r>
            <a:r>
              <a:rPr/>
              <a:t> and read the pairwise p-values</a:t>
            </a:r>
          </a:p>
          <a:p>
            <a:pPr lvl="0"/>
            <a:r>
              <a:rPr/>
              <a:t>☐ Interpret a compact letter display</a:t>
            </a:r>
          </a:p>
          <a:p>
            <a:pPr lvl="0"/>
            <a:r>
              <a:rPr/>
              <a:t>☐ Write a complete ANOVA results sentence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Your turn — before you move on:</a:t>
            </a:r>
            <a:r>
              <a:rPr/>
              <a:t> Run your whole script top to bottom with </a:t>
            </a:r>
            <a:r>
              <a:rPr b="1"/>
              <a:t>Ctrl/Cmd + Shift + Enter</a:t>
            </a:r>
            <a:r>
              <a:rPr/>
              <a:t>. Does it run cleanly?</a:t>
            </a:r>
          </a:p>
          <a:p>
            <a:pPr lvl="0" indent="0">
              <a:buNone/>
            </a:pPr>
            <a:r>
              <a:rPr>
                <a:latin typeface="Courier"/>
              </a:rPr>
              <a:t>Ran cleanly?  Y / N
If not, what error appeared: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Extension — out of class (~30–40 min)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Turn this in with your worksheet. It runs the </a:t>
            </a:r>
            <a:r>
              <a:rPr b="1" i="1"/>
              <a:t>exact</a:t>
            </a:r>
            <a:r>
              <a:rPr i="1"/>
              <a:t> analysis you just did — but on </a:t>
            </a:r>
            <a:r>
              <a:rPr b="1" i="1"/>
              <a:t>one half</a:t>
            </a:r>
            <a:r>
              <a:rPr i="1"/>
              <a:t> of the data that only you chose, so your F, </a:t>
            </a:r>
            <a:r>
              <a:rPr/>
              <a:t>p</a:t>
            </a:r>
            <a:r>
              <a:rPr i="1"/>
              <a:t>, and letters will be your own.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The prediction and explanation in </a:t>
            </a:r>
            <a:r>
              <a:rPr sz="2000" b="1"/>
              <a:t>E2 and E3 must be handwritten</a:t>
            </a:r>
            <a:r>
              <a:rPr sz="2000"/>
              <a:t> on paper, photographed, and embedded in your submission (</a:t>
            </a:r>
            <a:r>
              <a:rPr sz="2000">
                <a:latin typeface="Courier"/>
              </a:rPr>
              <a:t>![caption](my_photo.jpg)</a:t>
            </a:r>
            <a:r>
              <a:rPr sz="2000"/>
              <a:t>). Typed answers to E2/E3 receive </a:t>
            </a:r>
            <a:r>
              <a:rPr sz="2000" b="1"/>
              <a:t>at most half credit, even if correct</a:t>
            </a:r>
            <a:r>
              <a:rPr sz="2000"/>
              <a:t> — I want to see your own reasoning develop on the page.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E1 · Refit on one sex only (3 pts)</a:t>
            </a:r>
          </a:p>
          <a:p>
            <a:pPr lvl="0" indent="0" marL="0">
              <a:buNone/>
            </a:pPr>
            <a:r>
              <a:rPr/>
              <a:t>Everyone above ran the identical analysis on the full dataset, so everyone’s numbers match. Not anymore. </a:t>
            </a:r>
            <a:r>
              <a:rPr b="1"/>
              <a:t>Pick one sex — </a:t>
            </a:r>
            <a:r>
              <a:rPr b="1">
                <a:latin typeface="Courier"/>
              </a:rPr>
              <a:t>"male"</a:t>
            </a:r>
            <a:r>
              <a:rPr b="1"/>
              <a:t> or </a:t>
            </a:r>
            <a:r>
              <a:rPr b="1">
                <a:latin typeface="Courier"/>
              </a:rPr>
              <a:t>"female"</a:t>
            </a:r>
            <a:r>
              <a:rPr/>
              <a:t> — and re-run the whole ANOVA on only that half. Write down which you picked </a:t>
            </a:r>
            <a:r>
              <a:rPr i="1"/>
              <a:t>before</a:t>
            </a:r>
            <a:r>
              <a:rPr/>
              <a:t> you start.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Replace ___ with "male" or "female"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penguins_sex &lt;- penguins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drop_na</a:t>
            </a:r>
            <a:r>
              <a:rPr>
                <a:solidFill>
                  <a:srgbClr val="003B4F"/>
                </a:solidFill>
                <a:latin typeface="Courier"/>
              </a:rPr>
              <a:t>(body_mass_g, species, sex)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(sex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"___"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sex_model &lt;- </a:t>
            </a:r>
            <a:r>
              <a:rPr>
                <a:solidFill>
                  <a:srgbClr val="4758AB"/>
                </a:solidFill>
                <a:latin typeface="Courier"/>
              </a:rPr>
              <a:t>lm</a:t>
            </a:r>
            <a:r>
              <a:rPr>
                <a:solidFill>
                  <a:srgbClr val="003B4F"/>
                </a:solidFill>
                <a:latin typeface="Courier"/>
              </a:rPr>
              <a:t>(body_mass_g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penguins_sex)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Anova</a:t>
            </a:r>
            <a:r>
              <a:rPr>
                <a:solidFill>
                  <a:srgbClr val="003B4F"/>
                </a:solidFill>
                <a:latin typeface="Courier"/>
              </a:rPr>
              <a:t>(sex_model, </a:t>
            </a:r>
            <a:r>
              <a:rPr>
                <a:solidFill>
                  <a:srgbClr val="657422"/>
                </a:solidFill>
                <a:latin typeface="Courier"/>
              </a:rPr>
              <a:t>type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"II"</a:t>
            </a:r>
            <a:r>
              <a:rPr>
                <a:solidFill>
                  <a:srgbClr val="003B4F"/>
                </a:solidFill>
                <a:latin typeface="Courier"/>
              </a:rPr>
              <a:t>)                     </a:t>
            </a:r>
            <a:r>
              <a:rPr>
                <a:solidFill>
                  <a:srgbClr val="5E5E5E"/>
                </a:solidFill>
                <a:latin typeface="Courier"/>
              </a:rPr>
              <a:t># new F, df, p</a:t>
            </a:r>
            <a:br/>
            <a:r>
              <a:rPr>
                <a:solidFill>
                  <a:srgbClr val="4758AB"/>
                </a:solidFill>
                <a:latin typeface="Courier"/>
              </a:rPr>
              <a:t>emmeans</a:t>
            </a:r>
            <a:r>
              <a:rPr>
                <a:solidFill>
                  <a:srgbClr val="003B4F"/>
                </a:solidFill>
                <a:latin typeface="Courier"/>
              </a:rPr>
              <a:t>(sex_model, pairwise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species)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contrasts  </a:t>
            </a:r>
            <a:r>
              <a:rPr>
                <a:solidFill>
                  <a:srgbClr val="5E5E5E"/>
                </a:solidFill>
                <a:latin typeface="Courier"/>
              </a:rPr>
              <a:t># which pairs differ now</a:t>
            </a:r>
          </a:p>
          <a:p>
            <a:pPr lvl="0" indent="0" marL="0">
              <a:buNone/>
            </a:pPr>
            <a:r>
              <a:rPr/>
              <a:t>✏️ </a:t>
            </a:r>
            <a:r>
              <a:rPr b="1"/>
              <a:t>Record:</a:t>
            </a:r>
          </a:p>
          <a:p>
            <a:pPr lvl="0" indent="0">
              <a:buNone/>
            </a:pPr>
            <a:r>
              <a:rPr>
                <a:latin typeface="Courier"/>
              </a:rPr>
              <a:t>Sex chosen:
n (nrow(penguins_sex)):
F(__, __) =            p =
Pairs that differ now (Adelie–Chinstrap / Adelie–Gentoo / Chinstrap–Gentoo):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E2 · Predict, then check — ✍️ by hand (3 pts)</a:t>
            </a:r>
          </a:p>
          <a:p>
            <a:pPr lvl="0" indent="0" marL="0">
              <a:buNone/>
            </a:pPr>
            <a:r>
              <a:rPr b="1"/>
              <a:t>Before running E1</a:t>
            </a:r>
            <a:r>
              <a:rPr/>
              <a:t>, on paper, write:</a:t>
            </a:r>
          </a:p>
          <a:p>
            <a:pPr lvl="0" indent="-342900" marL="342900">
              <a:buAutoNum type="arabicPeriod"/>
            </a:pPr>
            <a:r>
              <a:rPr/>
              <a:t>Will restricting to one sex change </a:t>
            </a:r>
            <a:r>
              <a:rPr b="1"/>
              <a:t>which</a:t>
            </a:r>
            <a:r>
              <a:rPr/>
              <a:t> species pairs differ, compared with your full-data result in Part 9?</a:t>
            </a:r>
          </a:p>
          <a:p>
            <a:pPr lvl="0" indent="-342900" marL="342900">
              <a:buAutoNum type="arabicPeriod"/>
            </a:pPr>
            <a:r>
              <a:rPr/>
              <a:t>Will the F-statistic get </a:t>
            </a:r>
            <a:r>
              <a:rPr b="1"/>
              <a:t>bigger or smaller</a:t>
            </a:r>
            <a:r>
              <a:rPr/>
              <a:t>, and why? Think about what happens to (a) sample size and (b) within-group spread when you drop half the penguins.</a:t>
            </a:r>
          </a:p>
          <a:p>
            <a:pPr lvl="0" indent="0" marL="0">
              <a:buNone/>
            </a:pPr>
            <a:r>
              <a:rPr/>
              <a:t>Then run E1 and, still by hand, write your </a:t>
            </a:r>
            <a:r>
              <a:rPr b="1"/>
              <a:t>actual</a:t>
            </a:r>
            <a:r>
              <a:rPr/>
              <a:t> F and </a:t>
            </a:r>
            <a:r>
              <a:rPr i="1"/>
              <a:t>p</a:t>
            </a:r>
            <a:r>
              <a:rPr/>
              <a:t> and whether your prediction held.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E3 · Explain it — ✍️ by hand, with YOUR numbers (3 pts)</a:t>
            </a:r>
          </a:p>
          <a:p>
            <a:pPr lvl="0" indent="0" marL="0">
              <a:buNone/>
            </a:pPr>
            <a:r>
              <a:rPr/>
              <a:t>Using your real output from E1 (not the class example):</a:t>
            </a:r>
          </a:p>
          <a:p>
            <a:pPr lvl="0" indent="-342900" marL="342900">
              <a:buAutoNum type="arabicPeriod"/>
            </a:pPr>
            <a:r>
              <a:rPr/>
              <a:t>State H₀ and Hₐ for your one-sex test.</a:t>
            </a:r>
          </a:p>
          <a:p>
            <a:pPr lvl="0" indent="-342900" marL="342900">
              <a:buAutoNum type="arabicPeriod"/>
            </a:pPr>
            <a:r>
              <a:rPr/>
              <a:t>In plain language, say which species differ and which don’t — and why a significant overall F </a:t>
            </a:r>
            <a:r>
              <a:rPr i="1"/>
              <a:t>by itself</a:t>
            </a:r>
            <a:r>
              <a:rPr/>
              <a:t> would not have told you that.</a:t>
            </a:r>
          </a:p>
          <a:p>
            <a:pPr lvl="0" indent="-342900" marL="342900">
              <a:buAutoNum type="arabicPeriod"/>
            </a:pPr>
            <a:r>
              <a:rPr/>
              <a:t>Compare your E1 F and </a:t>
            </a:r>
            <a:r>
              <a:rPr i="1"/>
              <a:t>p</a:t>
            </a:r>
            <a:r>
              <a:rPr/>
              <a:t> to the full-data F and </a:t>
            </a:r>
            <a:r>
              <a:rPr i="1"/>
              <a:t>p</a:t>
            </a:r>
            <a:r>
              <a:rPr/>
              <a:t> from Part 7. Explain why they differ (or are surprisingly similar) even though you cut </a:t>
            </a:r>
            <a:r>
              <a:rPr i="1"/>
              <a:t>n</a:t>
            </a:r>
            <a:r>
              <a:rPr/>
              <a:t> roughly in half.</a:t>
            </a:r>
          </a:p>
          <a:p>
            <a:pPr lvl="0" indent="0" marL="1270000">
              <a:buNone/>
            </a:pPr>
            <a:r>
              <a:rPr sz="2000"/>
              <a:t>Optional, no points: rerun E1 for </a:t>
            </a:r>
            <a:r>
              <a:rPr sz="2000">
                <a:latin typeface="Courier"/>
              </a:rPr>
              <a:t>flipper_length_mm</a:t>
            </a:r>
            <a:r>
              <a:rPr sz="2000"/>
              <a:t> instead of </a:t>
            </a:r>
            <a:r>
              <a:rPr sz="2000">
                <a:latin typeface="Courier"/>
              </a:rPr>
              <a:t>body_mass_g</a:t>
            </a:r>
            <a:r>
              <a:rPr sz="2000"/>
              <a:t> and see whether the species separate the same way.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Getting unstuck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could not find function "Anova"</a:t>
            </a:r>
            <a:r>
              <a:rPr/>
              <a:t> → </a:t>
            </a:r>
            <a:r>
              <a:rPr>
                <a:latin typeface="Courier"/>
              </a:rPr>
              <a:t>library(car)</a:t>
            </a:r>
            <a:r>
              <a:rPr/>
              <a:t>, and mind the capital </a:t>
            </a:r>
            <a:r>
              <a:rPr b="1"/>
              <a:t>A</a:t>
            </a:r>
            <a:r>
              <a:rPr/>
              <a:t> (base </a:t>
            </a:r>
            <a:r>
              <a:rPr>
                <a:latin typeface="Courier"/>
              </a:rPr>
              <a:t>anova()</a:t>
            </a:r>
            <a:r>
              <a:rPr/>
              <a:t> is different).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could not find function "emmeans"</a:t>
            </a:r>
            <a:r>
              <a:rPr/>
              <a:t> → </a:t>
            </a:r>
            <a:r>
              <a:rPr>
                <a:latin typeface="Courier"/>
              </a:rPr>
              <a:t>library(emmeans)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>
                <a:latin typeface="Courier"/>
              </a:rPr>
              <a:t>cld</a:t>
            </a:r>
            <a:r>
              <a:rPr b="1"/>
              <a:t> not found</a:t>
            </a:r>
            <a:r>
              <a:rPr/>
              <a:t> → </a:t>
            </a:r>
            <a:r>
              <a:rPr>
                <a:latin typeface="Courier"/>
              </a:rPr>
              <a:t>install.packages("multcomp")</a:t>
            </a:r>
            <a:r>
              <a:rPr/>
              <a:t>, then </a:t>
            </a:r>
            <a:r>
              <a:rPr>
                <a:latin typeface="Courier"/>
              </a:rPr>
              <a:t>multcomp::cld(...)</a:t>
            </a:r>
            <a:r>
              <a:rPr/>
              <a:t>.</a:t>
            </a:r>
          </a:p>
          <a:p>
            <a:pPr lvl="0" indent="-342900" marL="342900">
              <a:buAutoNum type="arabicPeriod"/>
            </a:pPr>
            <a:r>
              <a:rPr b="1"/>
              <a:t>Cheat sheets</a:t>
            </a:r>
            <a:r>
              <a:rPr/>
              <a:t> — </a:t>
            </a:r>
            <a:r>
              <a:rPr>
                <a:hlinkClick r:id="rId2"/>
              </a:rPr>
              <a:t>https://posit.co/resources/cheatsheets/</a:t>
            </a:r>
          </a:p>
          <a:p>
            <a:pPr lvl="0" indent="0" marL="1270000">
              <a:buNone/>
            </a:pPr>
            <a:r>
              <a:rPr sz="2000"/>
              <a:t>💡 </a:t>
            </a:r>
            <a:r>
              <a:rPr sz="2000" b="1"/>
              <a:t>Key idea:</a:t>
            </a:r>
            <a:r>
              <a:rPr sz="2000"/>
              <a:t> Nothing about </a:t>
            </a:r>
            <a:r>
              <a:rPr sz="2000">
                <a:latin typeface="Courier"/>
              </a:rPr>
              <a:t>aov()</a:t>
            </a:r>
            <a:r>
              <a:rPr sz="2000"/>
              <a:t>, </a:t>
            </a:r>
            <a:r>
              <a:rPr sz="2000">
                <a:latin typeface="Courier"/>
              </a:rPr>
              <a:t>Anova()</a:t>
            </a:r>
            <a:r>
              <a:rPr sz="2000"/>
              <a:t>, or </a:t>
            </a:r>
            <a:r>
              <a:rPr sz="2000">
                <a:latin typeface="Courier"/>
              </a:rPr>
              <a:t>emmeans()</a:t>
            </a:r>
            <a:r>
              <a:rPr sz="2000"/>
              <a:t> here was specific to penguins or to having exactly three species — swap in four treatments or five sites and the same three function calls, in the same order, give you the same kind of answer.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End of the ANOVA II worksheet. Next: kicking off the final project.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Worksheet — One-Way ANOVA II: Running, Reporting &amp; Extension</dc:title>
  <dc:creator>Bill Perry</dc:creator>
  <cp:keywords/>
  <dc:description>Hands-on companion to One-Way ANOVA II. Students run the ANOVA with aov() and car::Anova(), use emmeans to find which penguin species differ, and write a complete results sentence.</dc:description>
  <dcterms:created xsi:type="dcterms:W3CDTF">2026-08-27T20:06:08Z</dcterms:created>
  <dcterms:modified xsi:type="dcterms:W3CDTF">2026-08-27T20:06:08Z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ategories">
    <vt:lpwstr/>
  </property>
  <property fmtid="{D5CDD505-2E9C-101B-9397-08002B2CF9AE}" pid="6" name="date">
    <vt:lpwstr>2026-08-27</vt:lpwstr>
  </property>
  <property fmtid="{D5CDD505-2E9C-101B-9397-08002B2CF9AE}" pid="7" name="execute">
    <vt:lpwstr/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order">
    <vt:lpwstr>16</vt:lpwstr>
  </property>
  <property fmtid="{D5CDD505-2E9C-101B-9397-08002B2CF9AE}" pid="13" name="resources">
    <vt:lpwstr/>
  </property>
  <property fmtid="{D5CDD505-2E9C-101B-9397-08002B2CF9AE}" pid="14" name="subtitle">
    <vt:lpwstr>Reading the F table, finding which species differ, and writing it up</vt:lpwstr>
  </property>
  <property fmtid="{D5CDD505-2E9C-101B-9397-08002B2CF9AE}" pid="15" name="toc-title">
    <vt:lpwstr>Table of contents</vt:lpwstr>
  </property>
  <property fmtid="{D5CDD505-2E9C-101B-9397-08002B2CF9AE}" pid="16" name="type">
    <vt:lpwstr>activity</vt:lpwstr>
  </property>
  <property fmtid="{D5CDD505-2E9C-101B-9397-08002B2CF9AE}" pid="17" name="week">
    <vt:lpwstr>8</vt:lpwstr>
  </property>
</Properties>
</file>