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osit.co/resources/cheatsheets/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 14 — One-Way ANOVA II: Running &amp; Reporting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F table, finding which species differ, and writing it up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2026-08-27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One-Way ANOVA II — Which Species Differ, and How Do We Report It?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 from Worksheet 13</a:t>
            </a:r>
          </a:p>
          <a:p>
            <a:pPr lvl="0"/>
            <a:r>
              <a:rPr/>
              <a:t>Fit </a:t>
            </a:r>
            <a:r>
              <a:rPr>
                <a:latin typeface="Courier"/>
              </a:rPr>
              <a:t>mass_model &lt;- lm(body_mass_g ~ species, data = penguins_df)</a:t>
            </a:r>
          </a:p>
          <a:p>
            <a:pPr lvl="0"/>
            <a:r>
              <a:rPr/>
              <a:t>Checked normality of the residuals (</a:t>
            </a:r>
            <a:r>
              <a:rPr>
                <a:latin typeface="Courier"/>
              </a:rPr>
              <a:t>plot(model)</a:t>
            </a:r>
            <a:r>
              <a:rPr/>
              <a:t>, Shapiro-Wilk)</a:t>
            </a:r>
          </a:p>
          <a:p>
            <a:pPr lvl="0"/>
            <a:r>
              <a:rPr/>
              <a:t>Checked equal variance (</a:t>
            </a:r>
            <a:r>
              <a:rPr>
                <a:latin typeface="Courier"/>
              </a:rPr>
              <a:t>leveneTest()</a:t>
            </a:r>
            <a:r>
              <a:rPr/>
              <a:t>)</a:t>
            </a:r>
          </a:p>
          <a:p>
            <a:pPr lvl="0"/>
            <a:r>
              <a:rPr/>
              <a:t>Decision: assumptions look fine — proceed with classic ANOVA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Objectives</a:t>
            </a:r>
          </a:p>
          <a:p>
            <a:pPr lvl="0" indent="-342900" marL="342900">
              <a:buAutoNum type="arabicPeriod"/>
            </a:pPr>
            <a:r>
              <a:rPr/>
              <a:t>Read the F table from </a:t>
            </a:r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>
                <a:latin typeface="Courier"/>
              </a:rPr>
              <a:t>car::Anova()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>
                <a:latin typeface="Courier"/>
              </a:rPr>
              <a:t>emmeans</a:t>
            </a:r>
            <a:r>
              <a:rPr/>
              <a:t> to find </a:t>
            </a:r>
            <a:r>
              <a:rPr b="1"/>
              <a:t>which</a:t>
            </a:r>
            <a:r>
              <a:rPr/>
              <a:t> species differ</a:t>
            </a:r>
          </a:p>
          <a:p>
            <a:pPr lvl="0" indent="-342900" marL="342900">
              <a:buAutoNum type="arabicPeriod"/>
            </a:pPr>
            <a:r>
              <a:rPr/>
              <a:t>Read a compact letter display</a:t>
            </a:r>
          </a:p>
          <a:p>
            <a:pPr lvl="0" indent="-342900" marL="342900">
              <a:buAutoNum type="arabicPeriod"/>
            </a:pPr>
            <a:r>
              <a:rPr/>
              <a:t>Plot the estimated means ± CI</a:t>
            </a:r>
          </a:p>
          <a:p>
            <a:pPr lvl="0" indent="-342900" marL="342900">
              <a:buAutoNum type="arabicPeriod"/>
            </a:pPr>
            <a:r>
              <a:rPr/>
              <a:t>Write a complete results sentence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/>
            <a:r>
              <a:rPr sz="2000"/>
              <a:t>Work through the parts in order. Type the code into a new R script in Positron and run it line by line.</a:t>
            </a:r>
          </a:p>
          <a:p>
            <a:pPr lvl="0"/>
            <a:r>
              <a:rPr sz="2000"/>
              <a:t>Blocks marked </a:t>
            </a:r>
            <a:r>
              <a:rPr sz="2000" b="1"/>
              <a:t>▶ Run this</a:t>
            </a:r>
            <a:r>
              <a:rPr sz="2000"/>
              <a:t> should be executed as written.</a:t>
            </a:r>
          </a:p>
          <a:p>
            <a:pPr lvl="0"/>
            <a:r>
              <a:rPr sz="2000"/>
              <a:t>Blocks marked </a:t>
            </a:r>
            <a:r>
              <a:rPr sz="2000" b="1"/>
              <a:t>✏️ Your turn</a:t>
            </a:r>
            <a:r>
              <a:rPr sz="2000"/>
              <a:t> ask you to write, modify, or interpret.</a:t>
            </a:r>
          </a:p>
          <a:p>
            <a:pPr lvl="0"/>
            <a:r>
              <a:rPr sz="2000"/>
              <a:t>The </a:t>
            </a:r>
            <a:r>
              <a:rPr sz="2000" b="1"/>
              <a:t>Going further</a:t>
            </a:r>
            <a:r>
              <a:rPr sz="2000"/>
              <a:t> section is optional.</a:t>
            </a:r>
          </a:p>
          <a:p>
            <a:pPr lvl="0" indent="0" marL="1270000">
              <a:buNone/>
            </a:pPr>
            <a:r>
              <a:rPr sz="2000" b="1"/>
              <a:t>🔮 Predict before you run — and type, don’t paste</a:t>
            </a:r>
          </a:p>
          <a:p>
            <a:pPr lvl="0" indent="0" marL="1270000">
              <a:buNone/>
            </a:pPr>
            <a:r>
              <a:rPr sz="2000"/>
              <a:t>Before each </a:t>
            </a:r>
            <a:r>
              <a:rPr sz="2000" b="1"/>
              <a:t>▶ Run this</a:t>
            </a:r>
            <a:r>
              <a:rPr sz="2000"/>
              <a:t> block, cover the output and </a:t>
            </a:r>
            <a:r>
              <a:rPr sz="2000" i="1"/>
              <a:t>predict</a:t>
            </a:r>
            <a:r>
              <a:rPr sz="2000"/>
              <a:t> what R will print — the F, the </a:t>
            </a:r>
            <a:r>
              <a:rPr sz="2000" i="1"/>
              <a:t>p</a:t>
            </a:r>
            <a:r>
              <a:rPr sz="2000"/>
              <a:t>-value, which species differ. Then type the code yourself.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🧩 Chunk 1 — Run the ANOVA </a:t>
            </a:r>
            <a:r>
              <a:rPr sz="2000" b="1" i="1"/>
              <a:t>(after lecture Chunk 1)</a:t>
            </a:r>
          </a:p>
          <a:p>
            <a:pPr lvl="0" indent="0" marL="1270000">
              <a:buNone/>
            </a:pPr>
            <a:r>
              <a:rPr sz="2000"/>
              <a:t>Parts 7–8: read the F table two ways.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Setup · Reload libraries and refit the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at the top of your script: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  </a:t>
            </a:r>
            <a:r>
              <a:rPr>
                <a:solidFill>
                  <a:srgbClr val="5E5E5E"/>
                </a:solidFill>
                <a:latin typeface="Courier"/>
              </a:rPr>
              <a:t>#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(palmerpenguins) </a:t>
            </a:r>
            <a:r>
              <a:rPr>
                <a:solidFill>
                  <a:srgbClr val="5E5E5E"/>
                </a:solidFill>
                <a:latin typeface="Courier"/>
              </a:rPr>
              <a:t># the penguins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  </a:t>
            </a:r>
            <a:r>
              <a:rPr>
                <a:solidFill>
                  <a:srgbClr val="5E5E5E"/>
                </a:solidFill>
                <a:latin typeface="Courier"/>
              </a:rPr>
              <a:t># Anova()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        </a:t>
            </a:r>
            <a:r>
              <a:rPr>
                <a:solidFill>
                  <a:srgbClr val="5E5E5E"/>
                </a:solidFill>
                <a:latin typeface="Courier"/>
              </a:rPr>
              <a:t># post-hoc pairwise tests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(same model as the end of Worksheet 13):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penguins_df &lt;- 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(body_mass_g, 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Run the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The boxplot looked very separated. Predict the </a:t>
            </a:r>
            <a:r>
              <a:rPr sz="2000" i="1"/>
              <a:t>p</a:t>
            </a:r>
            <a:r>
              <a:rPr sz="2000"/>
              <a:t>-value — near 0.5, near 0.05, or far below 0.001?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Classic ANOVA table 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(mass_aov)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Read the F table.</a:t>
            </a:r>
          </a:p>
          <a:p>
            <a:pPr lvl="0" indent="0">
              <a:buNone/>
            </a:pPr>
            <a:r>
              <a:rPr>
                <a:latin typeface="Courier"/>
              </a:rPr>
              <a:t>Df (between, within) =        ,
F value =
p-value =
Reject H₀ at α = 0.05?  Y / 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The same table with </a:t>
            </a:r>
            <a:r>
              <a:rPr>
                <a:latin typeface="Courier"/>
              </a:rPr>
              <a:t>car::Anova()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Type II sums of squares (the habit to build)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Lowercase </a:t>
            </a:r>
            <a:r>
              <a:rPr sz="2000">
                <a:latin typeface="Courier"/>
              </a:rPr>
              <a:t>anova()</a:t>
            </a:r>
            <a:r>
              <a:rPr sz="2000"/>
              <a:t> (base R) and capital </a:t>
            </a:r>
            <a:r>
              <a:rPr sz="2000">
                <a:latin typeface="Courier"/>
              </a:rPr>
              <a:t>Anova()</a:t>
            </a:r>
            <a:r>
              <a:rPr sz="2000"/>
              <a:t> (car) are different functions. If R says </a:t>
            </a:r>
            <a:r>
              <a:rPr sz="2000">
                <a:latin typeface="Courier"/>
              </a:rPr>
              <a:t>could not find function "Anova"</a:t>
            </a:r>
            <a:r>
              <a:rPr sz="2000"/>
              <a:t>, you forgot </a:t>
            </a:r>
            <a:r>
              <a:rPr sz="2000">
                <a:latin typeface="Courier"/>
              </a:rPr>
              <a:t>library(car)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Does </a:t>
            </a:r>
            <a:r>
              <a:rPr>
                <a:latin typeface="Courier"/>
              </a:rPr>
              <a:t>Anova()</a:t>
            </a:r>
            <a:r>
              <a:rPr/>
              <a:t> give the same F and p as </a:t>
            </a:r>
            <a:r>
              <a:rPr>
                <a:latin typeface="Courier"/>
              </a:rPr>
              <a:t>summary(mass_aov)</a:t>
            </a:r>
            <a:r>
              <a:rPr/>
              <a:t>? (For one predictor it should.)</a:t>
            </a:r>
          </a:p>
          <a:p>
            <a:pPr lvl="0" indent="0">
              <a:buNone/>
            </a:pPr>
            <a:r>
              <a:rPr>
                <a:latin typeface="Courier"/>
              </a:rPr>
              <a:t>Match?  Y / N
Why do we prefer Anova(type = "II") as a habit? (hint: unbalanced / two-way later)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🧩 Chunk 2 — Which groups differ? </a:t>
            </a:r>
            <a:r>
              <a:rPr sz="2000" b="1" i="1"/>
              <a:t>(after lecture Chunk 2)</a:t>
            </a:r>
          </a:p>
          <a:p>
            <a:pPr lvl="0" indent="0" marL="1270000">
              <a:buNone/>
            </a:pPr>
            <a:r>
              <a:rPr sz="2000"/>
              <a:t>Parts 9–11: post-hoc comparisons, letters, plot, and the write-up.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Post-hoc — which species differ?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Will </a:t>
            </a:r>
            <a:r>
              <a:rPr sz="2000" b="1"/>
              <a:t>all three</a:t>
            </a:r>
            <a:r>
              <a:rPr sz="2000"/>
              <a:t> species differ from each other, or will two be statistically tied? Commit before you run it.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Estimated marginal means + Tukey-adjusted pairs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(mass_model, pairwise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mass_emm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contrasts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Record each pairwise comparison.</a:t>
            </a:r>
          </a:p>
          <a:p>
            <a:pPr lvl="0" indent="0">
              <a:buNone/>
            </a:pPr>
            <a:r>
              <a:rPr>
                <a:latin typeface="Courier"/>
              </a:rPr>
              <a:t>Adelie  vs Chinstrap:  p =        different?  Y / N
Adelie  vs Gentoo:     p =        different?  Y / N
Chinstrap vs Gentoo:   p =        different?  Y / N</a:t>
            </a:r>
          </a:p>
          <a:p>
            <a:pPr lvl="0" indent="0" marL="0">
              <a:buNone/>
            </a:pPr>
            <a:r>
              <a:rPr b="1"/>
              <a:t>▶ Run this (compact letter display):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Groups sharing a letter are NOT different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multcomp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cld</a:t>
            </a:r>
            <a:r>
              <a:rPr>
                <a:solidFill>
                  <a:srgbClr val="003B4F"/>
                </a:solidFill>
                <a:latin typeface="Courier"/>
              </a:rPr>
              <a:t>(mass_emm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emmeans, </a:t>
            </a:r>
            <a:r>
              <a:rPr>
                <a:solidFill>
                  <a:srgbClr val="657422"/>
                </a:solidFill>
                <a:latin typeface="Courier"/>
              </a:rPr>
              <a:t>Letters =</a:t>
            </a:r>
            <a:r>
              <a:rPr>
                <a:solidFill>
                  <a:srgbClr val="003B4F"/>
                </a:solidFill>
                <a:latin typeface="Courier"/>
              </a:rPr>
              <a:t> letters)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Write the letter for each species. Do any share a letter?</a:t>
            </a:r>
          </a:p>
          <a:p>
            <a:pPr lvl="0" indent="0">
              <a:buNone/>
            </a:pPr>
            <a:r>
              <a:rPr>
                <a:latin typeface="Courier"/>
              </a:rPr>
              <a:t>Adelie:      Chinstrap:      Gentoo:
Any species share a letter (i.e. not different)?  Y / 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10 · Plot the result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Estimated means with 95% CI 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mass_emm_plot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(mass_emm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emmeans)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emmean,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lower.CL,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upper.CL),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"Estimated mean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mass_emm_plot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Save it to the figures folder 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"figures/penguin_mass_emmeans.png"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mass_emm_plot,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 any of the confidence intervals overlap? What does that suggest?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11 · Write a results sentence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Write a complete results sentence. Include the test, F, both df, the </a:t>
            </a:r>
            <a:r>
              <a:rPr i="1"/>
              <a:t>p</a:t>
            </a:r>
            <a:r>
              <a:rPr/>
              <a:t>-value, the post-hoc outcome, and the direction (which is heaviest).</a:t>
            </a:r>
          </a:p>
          <a:p>
            <a:pPr lvl="0" indent="0">
              <a:buNone/>
            </a:pPr>
            <a:r>
              <a:rPr>
                <a:latin typeface="Courier"/>
              </a:rPr>
              <a:t>Template:
"Body mass differed significantly among the three penguin species
(one-way ANOVA: F(__, __) = ____, p ____). Tukey-adjusted comparisons
showed that ____________________, with __________ heaviest."
Your sentence: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12 · 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should be able to:</a:t>
            </a:r>
          </a:p>
          <a:p>
            <a:pPr lvl="0"/>
            <a:r>
              <a:rPr/>
              <a:t>☐ Read the F table from </a:t>
            </a:r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>
                <a:latin typeface="Courier"/>
              </a:rPr>
              <a:t>car::Anova(type = "II")</a:t>
            </a:r>
          </a:p>
          <a:p>
            <a:pPr lvl="0"/>
            <a:r>
              <a:rPr/>
              <a:t>☐ Run </a:t>
            </a:r>
            <a:r>
              <a:rPr>
                <a:latin typeface="Courier"/>
              </a:rPr>
              <a:t>emmeans(model, pairwise ~ group)</a:t>
            </a:r>
            <a:r>
              <a:rPr/>
              <a:t> and read the pairwise p-values</a:t>
            </a:r>
          </a:p>
          <a:p>
            <a:pPr lvl="0"/>
            <a:r>
              <a:rPr/>
              <a:t>☐ Interpret a compact letter display</a:t>
            </a:r>
          </a:p>
          <a:p>
            <a:pPr lvl="0"/>
            <a:r>
              <a:rPr/>
              <a:t>☐ Write a complete ANOVA results sentence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 — before you move on:</a:t>
            </a:r>
            <a:r>
              <a:rPr/>
              <a:t> Run your whole script top to bottom with </a:t>
            </a:r>
            <a:r>
              <a:rPr b="1"/>
              <a:t>Ctrl/Cmd + Shift + Enter</a:t>
            </a:r>
            <a:r>
              <a:rPr/>
              <a:t>. Does it run cleanly?</a:t>
            </a:r>
          </a:p>
          <a:p>
            <a:pPr lvl="0" indent="0">
              <a:buNone/>
            </a:pPr>
            <a:r>
              <a:rPr>
                <a:latin typeface="Courier"/>
              </a:rPr>
              <a:t>Ran cleanly?  Y / N
If not, what error appeared: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13 · Going further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Optional — do this if you finish early or want to push deeper.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Try a different response variable</a:t>
            </a:r>
          </a:p>
          <a:p>
            <a:pPr lvl="0" indent="0" marL="0">
              <a:buNone/>
            </a:pPr>
            <a:r>
              <a:rPr b="1"/>
              <a:t>▶ Try this:</a:t>
            </a:r>
            <a:r>
              <a:rPr/>
              <a:t> repeat the whole workflow for </a:t>
            </a:r>
            <a:r>
              <a:rPr>
                <a:latin typeface="Courier"/>
              </a:rPr>
              <a:t>flipper_length_mm</a:t>
            </a:r>
            <a:r>
              <a:rPr/>
              <a:t> instead of body mass.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One-way ANOVA on flipper length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flipper_df &lt;- 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(flipper_length_mm, species)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flipper_model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(flipper_length_mm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flipper_df)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(flipper_model,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(flipper_model, pairwise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contrasts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 the species differ in flipper length the same way they differ in mass?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Compare across islands</a:t>
            </a:r>
          </a:p>
          <a:p>
            <a:pPr lvl="0" indent="0" marL="0">
              <a:buNone/>
            </a:pPr>
            <a:r>
              <a:rPr b="1"/>
              <a:t>▶ Try this:</a:t>
            </a:r>
            <a:r>
              <a:rPr/>
              <a:t> use </a:t>
            </a:r>
            <a:r>
              <a:rPr>
                <a:latin typeface="Courier"/>
              </a:rPr>
              <a:t>island</a:t>
            </a:r>
            <a:r>
              <a:rPr/>
              <a:t> as the grouping variable instead of </a:t>
            </a:r>
            <a:r>
              <a:rPr>
                <a:latin typeface="Courier"/>
              </a:rPr>
              <a:t>species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island_df &lt;- 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(body_mass_g, island)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island_model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island,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island_df)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(island_model,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Why might comparing by island be misleading here? (Hint: which species live on which islands?)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>
                <a:latin typeface="Courier"/>
              </a:rPr>
              <a:t>could not find function "Anova"</a:t>
            </a:r>
            <a:r>
              <a:rPr/>
              <a:t> → </a:t>
            </a:r>
            <a:r>
              <a:rPr>
                <a:latin typeface="Courier"/>
              </a:rPr>
              <a:t>library(car)</a:t>
            </a:r>
            <a:r>
              <a:rPr/>
              <a:t>, and mind the capital </a:t>
            </a:r>
            <a:r>
              <a:rPr b="1"/>
              <a:t>A</a:t>
            </a:r>
            <a:r>
              <a:rPr/>
              <a:t> (base </a:t>
            </a:r>
            <a:r>
              <a:rPr>
                <a:latin typeface="Courier"/>
              </a:rPr>
              <a:t>anova()</a:t>
            </a:r>
            <a:r>
              <a:rPr/>
              <a:t> is different).</a:t>
            </a:r>
          </a:p>
          <a:p>
            <a:pPr lvl="0" indent="-342900" marL="342900">
              <a:buAutoNum type="arabicPeriod"/>
            </a:pPr>
            <a:r>
              <a:rPr b="1">
                <a:latin typeface="Courier"/>
              </a:rPr>
              <a:t>could not find function "emmeans"</a:t>
            </a:r>
            <a:r>
              <a:rPr/>
              <a:t> → </a:t>
            </a:r>
            <a:r>
              <a:rPr>
                <a:latin typeface="Courier"/>
              </a:rPr>
              <a:t>library(emmeans)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>
                <a:latin typeface="Courier"/>
              </a:rPr>
              <a:t>cld</a:t>
            </a:r>
            <a:r>
              <a:rPr b="1"/>
              <a:t> not found</a:t>
            </a:r>
            <a:r>
              <a:rPr/>
              <a:t> → </a:t>
            </a:r>
            <a:r>
              <a:rPr>
                <a:latin typeface="Courier"/>
              </a:rPr>
              <a:t>install.packages("multcomp")</a:t>
            </a:r>
            <a:r>
              <a:rPr/>
              <a:t>, then </a:t>
            </a:r>
            <a:r>
              <a:rPr>
                <a:latin typeface="Courier"/>
              </a:rPr>
              <a:t>multcomp::cld(...)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Cheat sheets</a:t>
            </a:r>
            <a:r>
              <a:rPr/>
              <a:t> — </a:t>
            </a:r>
            <a:r>
              <a:rPr>
                <a:hlinkClick r:id="rId2"/>
              </a:rPr>
              <a:t>https://posit.co/resources/cheatsheets/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Nothing about </a:t>
            </a:r>
            <a:r>
              <a:rPr sz="2000">
                <a:latin typeface="Courier"/>
              </a:rPr>
              <a:t>aov()</a:t>
            </a:r>
            <a:r>
              <a:rPr sz="2000"/>
              <a:t>, </a:t>
            </a:r>
            <a:r>
              <a:rPr sz="2000">
                <a:latin typeface="Courier"/>
              </a:rPr>
              <a:t>Anova()</a:t>
            </a:r>
            <a:r>
              <a:rPr sz="2000"/>
              <a:t>, or </a:t>
            </a:r>
            <a:r>
              <a:rPr sz="2000">
                <a:latin typeface="Courier"/>
              </a:rPr>
              <a:t>emmeans()</a:t>
            </a:r>
            <a:r>
              <a:rPr sz="2000"/>
              <a:t> here was specific to penguins or to having exactly three species — swap in four treatments or five sites and the same three function calls, in the same order, give you the same kind of answer.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End of Worksheet 14. Next: Worksheet 15 — kicking off the final project.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Worksheet 14 — One-Way ANOVA II: Running &amp; Reporting</dc:title>
  <dc:creator>Bill Perry</dc:creator>
  <cp:keywords/>
  <dc:description>Hands-on companion to One-Way ANOVA II. Students run the ANOVA with aov() and car::Anova(), use emmeans to find which penguin species differ, and write a complete results sentence.</dc:description>
  <dcterms:created xsi:type="dcterms:W3CDTF">2026-08-27T17:12:21Z</dcterms:created>
  <dcterms:modified xsi:type="dcterms:W3CDTF">2026-08-27T17:12:21Z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2026-08-27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14</vt:lpwstr>
  </property>
  <property fmtid="{D5CDD505-2E9C-101B-9397-08002B2CF9AE}" pid="13" name="resources">
    <vt:lpwstr/>
  </property>
  <property fmtid="{D5CDD505-2E9C-101B-9397-08002B2CF9AE}" pid="14" name="subtitle">
    <vt:lpwstr>Reading the F table, finding which species differ, and writing it up</vt:lpwstr>
  </property>
  <property fmtid="{D5CDD505-2E9C-101B-9397-08002B2CF9AE}" pid="15" name="toc-title">
    <vt:lpwstr>Table of contents</vt:lpwstr>
  </property>
  <property fmtid="{D5CDD505-2E9C-101B-9397-08002B2CF9AE}" pid="16" name="type">
    <vt:lpwstr>activity</vt:lpwstr>
  </property>
  <property fmtid="{D5CDD505-2E9C-101B-9397-08002B2CF9AE}" pid="17" name="week">
    <vt:lpwstr>7</vt:lpwstr>
  </property>
</Properties>
</file>