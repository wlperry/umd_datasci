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cran.r-project.org/package=emmeans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cran.r-project.org/package=emmean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20 — One-Way ANOVA II: Assumptions, then Follow-Up Tests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Earning the p-value, and finding out which species actually differ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— Lecture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Plotted body mass by species; Gentoo high, Adelie and Chinstrap nearly level</a:t>
            </a:r>
          </a:p>
          <a:p>
            <a:pPr lvl="0"/>
            <a:r>
              <a:rPr>
                <a:latin typeface="Courier"/>
              </a:rPr>
              <a:t>mass_model &lt;- lm(body_mass_g ~ species, data = penguins_df)</a:t>
            </a:r>
          </a:p>
          <a:p>
            <a:pPr lvl="0"/>
            <a:r>
              <a:rPr>
                <a:latin typeface="Courier"/>
              </a:rPr>
              <a:t>Anova(mass_model)</a:t>
            </a:r>
            <a:r>
              <a:rPr/>
              <a:t> → </a:t>
            </a:r>
            <a:r>
              <a:rPr b="1"/>
              <a:t>F(2, 339) = 343.6, </a:t>
            </a:r>
            <a:r>
              <a:rPr b="1" i="1"/>
              <a:t>p</a:t>
            </a:r>
            <a:r>
              <a:rPr b="1"/>
              <a:t> &lt; 0.001</a:t>
            </a:r>
          </a:p>
          <a:p>
            <a:pPr lvl="0"/>
            <a:r>
              <a:rPr/>
              <a:t>Reported: </a:t>
            </a:r>
            <a:r>
              <a:rPr i="1"/>
              <a:t>“Body mass differed significantly among the three species.”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We skipped a step on purpose.</a:t>
            </a:r>
          </a:p>
          <a:p>
            <a:pPr lvl="0" indent="0" marL="1270000">
              <a:buNone/>
            </a:pPr>
            <a:r>
              <a:rPr sz="2000"/>
              <a:t>We read that </a:t>
            </a:r>
            <a:r>
              <a:rPr sz="2000" i="1"/>
              <a:t>p</a:t>
            </a:r>
            <a:r>
              <a:rPr sz="2000"/>
              <a:t>-value without checking whether the model was allowed to give it to us, and we never found out </a:t>
            </a:r>
            <a:r>
              <a:rPr sz="2000" b="1"/>
              <a:t>which</a:t>
            </a:r>
            <a:r>
              <a:rPr sz="2000"/>
              <a:t> species differ. Those are today’s two sets.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Set 2 — the assumptions</a:t>
            </a:r>
          </a:p>
          <a:p>
            <a:pPr lvl="0"/>
            <a:r>
              <a:rPr/>
              <a:t>Normality of the </a:t>
            </a:r>
            <a:r>
              <a:rPr b="1"/>
              <a:t>residuals</a:t>
            </a:r>
            <a:r>
              <a:rPr/>
              <a:t> — </a:t>
            </a:r>
            <a:r>
              <a:rPr>
                <a:latin typeface="Courier"/>
              </a:rPr>
              <a:t>plot(model)</a:t>
            </a:r>
            <a:r>
              <a:rPr/>
              <a:t>, QQ, Shapiro-Wilk</a:t>
            </a:r>
          </a:p>
          <a:p>
            <a:pPr lvl="0"/>
            <a:r>
              <a:rPr b="1"/>
              <a:t>Equal variance</a:t>
            </a:r>
            <a:r>
              <a:rPr/>
              <a:t> — Levene’s test</a:t>
            </a:r>
          </a:p>
          <a:p>
            <a:pPr lvl="0"/>
            <a:r>
              <a:rPr/>
              <a:t>What to do when one fails → </a:t>
            </a:r>
            <a:r>
              <a:rPr b="1"/>
              <a:t>Welch’s ANOVA</a:t>
            </a:r>
          </a:p>
          <a:p>
            <a:pPr lvl="0" indent="0" marL="0">
              <a:buNone/>
            </a:pPr>
            <a:r>
              <a:rPr b="1"/>
              <a:t>Set 3 — the follow-up tests</a:t>
            </a:r>
          </a:p>
          <a:p>
            <a:pPr lvl="0"/>
            <a:r>
              <a:rPr i="1"/>
              <a:t>Which</a:t>
            </a:r>
            <a:r>
              <a:rPr/>
              <a:t> groups differ — </a:t>
            </a:r>
            <a:r>
              <a:rPr>
                <a:latin typeface="Courier"/>
              </a:rPr>
              <a:t>emmeans</a:t>
            </a:r>
            <a:r>
              <a:rPr/>
              <a:t> pairwise, Tukey-adjusted</a:t>
            </a:r>
          </a:p>
          <a:p>
            <a:pPr lvl="0"/>
            <a:r>
              <a:rPr/>
              <a:t>Read a </a:t>
            </a:r>
            <a:r>
              <a:rPr b="1"/>
              <a:t>compact letter display</a:t>
            </a:r>
          </a:p>
          <a:p>
            <a:pPr lvl="0"/>
            <a:r>
              <a:rPr/>
              <a:t>Plot the estimated means ± CI</a:t>
            </a:r>
          </a:p>
          <a:p>
            <a:pPr lvl="0"/>
            <a:r>
              <a:rPr/>
              <a:t>Write the finished results sentence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car</a:t>
            </a:r>
            <a:r>
              <a:rPr/>
              <a:t> — </a:t>
            </a:r>
            <a:r>
              <a:rPr>
                <a:latin typeface="Courier"/>
              </a:rPr>
              <a:t>leveneTest()</a:t>
            </a:r>
            <a:r>
              <a:rPr/>
              <a:t>, </a:t>
            </a:r>
            <a:r>
              <a:rPr>
                <a:latin typeface="Courier"/>
              </a:rPr>
              <a:t>Anova()</a:t>
            </a:r>
          </a:p>
          <a:p>
            <a:pPr lvl="0"/>
            <a:r>
              <a:rPr>
                <a:latin typeface="Courier"/>
              </a:rPr>
              <a:t>emmeans</a:t>
            </a:r>
            <a:r>
              <a:rPr/>
              <a:t>, </a:t>
            </a:r>
            <a:r>
              <a:rPr>
                <a:latin typeface="Courier"/>
              </a:rPr>
              <a:t>multcomp</a:t>
            </a:r>
            <a:r>
              <a:rPr/>
              <a:t> — pairwise tests, letters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W&amp;S </a:t>
            </a:r>
            <a:r>
              <a:rPr b="1"/>
              <a:t>Ch. 15 — ANOVA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emmeans vignettes</a:t>
            </a:r>
          </a:p>
          <a:p>
            <a:pPr lvl="0" indent="0" marL="0">
              <a:buNone/>
            </a:pPr>
            <a:r>
              <a:rPr b="1"/>
              <a:t>Naming:</a:t>
            </a:r>
            <a:r>
              <a:rPr/>
              <a:t> models → </a:t>
            </a:r>
            <a:r>
              <a:rPr>
                <a:latin typeface="Courier"/>
              </a:rPr>
              <a:t>_model</a:t>
            </a:r>
            <a:r>
              <a:rPr/>
              <a:t>, plots → </a:t>
            </a:r>
            <a:r>
              <a:rPr>
                <a:latin typeface="Courier"/>
              </a:rPr>
              <a:t>_plot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Set Up Again — Same Four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— always 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   </a:t>
            </a:r>
            <a:r>
              <a:rPr>
                <a:solidFill>
                  <a:srgbClr val="5E5E5E"/>
                </a:solidFill>
                <a:latin typeface="Courier"/>
              </a:rPr>
              <a:t># wrangling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(palmerpenguins) </a:t>
            </a:r>
            <a:r>
              <a:rPr>
                <a:solidFill>
                  <a:srgbClr val="5E5E5E"/>
                </a:solidFill>
                <a:latin typeface="Courier"/>
              </a:rPr>
              <a:t># the penguins data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(car)            </a:t>
            </a:r>
            <a:r>
              <a:rPr>
                <a:solidFill>
                  <a:srgbClr val="5E5E5E"/>
                </a:solidFill>
                <a:latin typeface="Courier"/>
              </a:rPr>
              <a:t># leveneTest(), Anova()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(emmeans)        </a:t>
            </a:r>
            <a:r>
              <a:rPr>
                <a:solidFill>
                  <a:srgbClr val="5E5E5E"/>
                </a:solidFill>
                <a:latin typeface="Courier"/>
              </a:rPr>
              <a:t># pairwise follow-up tests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same data and model as Lecture 19 ---------------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&lt;- penguins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drop_na</a:t>
            </a:r>
            <a:r>
              <a:rPr>
                <a:solidFill>
                  <a:srgbClr val="003B4F"/>
                </a:solidFill>
                <a:latin typeface="Courier"/>
              </a:rPr>
              <a:t>(body_mass_g, species)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mass_model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(body_mass_g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penguins_df)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script starts from the raw data. Nothing today depends on objects left over in last lecture’s session.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library(palmerpenguins)</a:t>
            </a:r>
            <a:r>
              <a:rPr sz="2000"/>
              <a:t> again — base R has its own </a:t>
            </a:r>
            <a:r>
              <a:rPr sz="2000">
                <a:latin typeface="Courier"/>
              </a:rPr>
              <a:t>penguins</a:t>
            </a:r>
            <a:r>
              <a:rPr sz="2000"/>
              <a:t> with </a:t>
            </a:r>
            <a:r>
              <a:rPr sz="2000">
                <a:latin typeface="Courier"/>
              </a:rPr>
              <a:t>body_mass</a:t>
            </a:r>
            <a:r>
              <a:rPr sz="2000"/>
              <a:t> instead of </a:t>
            </a:r>
            <a:r>
              <a:rPr sz="2000">
                <a:latin typeface="Courier"/>
              </a:rPr>
              <a:t>body_mass_g</a:t>
            </a:r>
            <a:r>
              <a:rPr sz="2000"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Set 2 · The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a one-way ANOVA assumes:</a:t>
            </a:r>
          </a:p>
          <a:p>
            <a:pPr lvl="0" indent="-342900" marL="342900">
              <a:buAutoNum type="arabicPeriod"/>
            </a:pPr>
            <a:r>
              <a:rPr b="1"/>
              <a:t>Independent</a:t>
            </a:r>
            <a:r>
              <a:rPr/>
              <a:t> observations — a design question, not a test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residuals</a:t>
            </a:r>
            <a:r>
              <a:rPr/>
              <a:t> are normally distributed</a:t>
            </a:r>
          </a:p>
          <a:p>
            <a:pPr lvl="0" indent="-342900" marL="342900">
              <a:buAutoNum type="arabicPeriod"/>
            </a:pPr>
            <a:r>
              <a:rPr/>
              <a:t>The groups have </a:t>
            </a:r>
            <a:r>
              <a:rPr b="1"/>
              <a:t>equal variance</a:t>
            </a:r>
            <a:r>
              <a:rPr/>
              <a:t> (homoscedasticity)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Assumption 1 is about how the data were collected — no R function can rescue it. 2 and 3 we can look at directly, and that is what the next few slides do.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Normality Is About the </a:t>
            </a:r>
            <a:r>
              <a:rPr i="1"/>
              <a:t>Residuals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</a:t>
                </a:r>
                <a:r>
                  <a:rPr b="1"/>
                  <a:t>residual</a:t>
                </a:r>
                <a:r>
                  <a:rPr/>
                  <a:t> is one bird’s miss: its mass minus its species’ mean.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residual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group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ANOVA does </a:t>
                </a:r>
                <a:r>
                  <a:rPr b="1"/>
                  <a:t>not</a:t>
                </a:r>
                <a:r>
                  <a:rPr/>
                  <a:t> require the raw masses to be normal — pooled across three species with different means they are not even supposed to be. It requires the </a:t>
                </a:r>
                <a:r>
                  <a:rPr b="1"/>
                  <a:t>misses</a:t>
                </a:r>
                <a:r>
                  <a:rPr/>
                  <a:t> to be normal.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What the residuals look like 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(mass_model),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1          2          3          4 
  49.33775   99.33775 -450.66225 -250.66225 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Shapiro on the raw </a:t>
            </a:r>
            <a:r>
              <a:rPr sz="2000">
                <a:latin typeface="Courier"/>
              </a:rPr>
              <a:t>body_mass_g</a:t>
            </a:r>
            <a:r>
              <a:rPr sz="2000"/>
              <a:t> is a different, wrong test. Always </a:t>
            </a:r>
            <a:r>
              <a:rPr sz="2000">
                <a:latin typeface="Courier"/>
              </a:rPr>
              <a:t>residuals(model)</a:t>
            </a:r>
            <a:r>
              <a:rPr sz="2000"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Assumption 2 — </a:t>
            </a:r>
            <a:r>
              <a:rPr>
                <a:latin typeface="Courier"/>
              </a:rPr>
              <a:t>plot(model)</a:t>
            </a:r>
            <a:r>
              <a:rPr/>
              <a:t>, the Same Four Panels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mfrow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(mass_model)</a:t>
            </a:r>
          </a:p>
        </p:txBody>
      </p:sp>
      <p:pic>
        <p:nvPicPr>
          <p:cNvPr descr="one_way_anova_2_lecture_files/figure-pptx/diagnostic-plots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49400"/>
            <a:ext cx="44323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mfrow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with ~340 penguins, will the Q-Q panel track the line?</a:t>
            </a:r>
          </a:p>
          <a:p>
            <a:pPr lvl="0"/>
            <a:r>
              <a:rPr b="1"/>
              <a:t>Three vertical stripes</a:t>
            </a:r>
            <a:r>
              <a:rPr/>
              <a:t> in panels 1 and 3 — a categorical X has only three fitted values. Normal, not a problem</a:t>
            </a:r>
          </a:p>
          <a:p>
            <a:pPr lvl="0"/>
            <a:r>
              <a:rPr b="1"/>
              <a:t>Panel 2 (Normal Q-Q)</a:t>
            </a:r>
            <a:r>
              <a:rPr/>
              <a:t> is the normality check</a:t>
            </a:r>
          </a:p>
          <a:p>
            <a:pPr lvl="0"/>
            <a:r>
              <a:rPr/>
              <a:t>Panels 1 &amp; 3 show whether the </a:t>
            </a:r>
            <a:r>
              <a:rPr b="1"/>
              <a:t>stripe heights</a:t>
            </a:r>
            <a:r>
              <a:rPr/>
              <a:t> match — assumption 3 by eye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Normality — Shapiro-Wilk as the 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Shapiro-Wilk on the RESIDUALS 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(mass_model))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residuals(mass_model)
W = 0.99166, p-value = 0.05118</a:t>
            </a:r>
          </a:p>
          <a:p>
            <a:pPr lvl="0" indent="0" marL="0">
              <a:buNone/>
            </a:pPr>
            <a:r>
              <a:rPr b="1"/>
              <a:t>W = 0.992, </a:t>
            </a:r>
            <a:r>
              <a:rPr b="1" i="1"/>
              <a:t>p</a:t>
            </a:r>
            <a:r>
              <a:rPr b="1"/>
              <a:t> = 0.051</a:t>
            </a:r>
            <a:r>
              <a:rPr/>
              <a:t> — just above 0.05.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H₀:</a:t>
            </a:r>
            <a:r>
              <a:rPr/>
              <a:t> the residuals are normal</a:t>
            </a:r>
          </a:p>
          <a:p>
            <a:pPr lvl="0"/>
            <a:r>
              <a:rPr i="1"/>
              <a:t>p</a:t>
            </a:r>
            <a:r>
              <a:rPr/>
              <a:t> &gt; 0.05 → no evidence against normality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Large-sample caution</a:t>
            </a:r>
          </a:p>
          <a:p>
            <a:pPr lvl="0" indent="0" marL="1270000">
              <a:buNone/>
            </a:pPr>
            <a:r>
              <a:rPr sz="2000"/>
              <a:t>With ~340 birds Shapiro-Wilk flags </a:t>
            </a:r>
            <a:r>
              <a:rPr sz="2000" i="1"/>
              <a:t>tiny</a:t>
            </a:r>
            <a:r>
              <a:rPr sz="2000"/>
              <a:t> departures. A </a:t>
            </a:r>
            <a:r>
              <a:rPr sz="2000" i="1"/>
              <a:t>p</a:t>
            </a:r>
            <a:r>
              <a:rPr sz="2000"/>
              <a:t> of 0.051 is not “barely passed” — it is “the test is so sensitive at this n that it is nearly flagging a QQ plot that looks fine.” Trust the </a:t>
            </a:r>
            <a:r>
              <a:rPr sz="2000" b="1"/>
              <a:t>plot</a:t>
            </a:r>
            <a:r>
              <a:rPr sz="2000"/>
              <a:t>, use the test as a second opinion.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Assumption 3 — Equal Variance by Eye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spread of each group 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(species)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mean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(body_mass_g),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sd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(body_mass_g))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4
  species       n  mean    sd
  &lt;fct&gt;     &lt;int&gt; &lt;dbl&gt; &lt;dbl&gt;
1 Adelie      151 3701.  459.
2 Chinstrap    68 3733.  384.
3 Gentoo      123 5076.  504.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Adelie </a:t>
            </a:r>
            <a:r>
              <a:rPr b="1"/>
              <a:t>459</a:t>
            </a:r>
            <a:r>
              <a:rPr/>
              <a:t>, Chinstrap </a:t>
            </a:r>
            <a:r>
              <a:rPr b="1"/>
              <a:t>384</a:t>
            </a:r>
            <a:r>
              <a:rPr/>
              <a:t>, Gentoo </a:t>
            </a:r>
            <a:r>
              <a:rPr b="1"/>
              <a:t>504</a:t>
            </a:r>
          </a:p>
          <a:p>
            <a:pPr lvl="0"/>
            <a:r>
              <a:rPr/>
              <a:t>The biggest sd is about </a:t>
            </a:r>
            <a:r>
              <a:rPr b="1"/>
              <a:t>1.3×</a:t>
            </a:r>
            <a:r>
              <a:rPr/>
              <a:t> the smallest</a:t>
            </a:r>
          </a:p>
          <a:p>
            <a:pPr lvl="0"/>
            <a:r>
              <a:rPr/>
              <a:t>Combined with </a:t>
            </a:r>
            <a:r>
              <a:rPr b="1"/>
              <a:t>unbalanced</a:t>
            </a:r>
            <a:r>
              <a:rPr/>
              <a:t> n (151 / 68 / 123), that is the situation where unequal variance actually matters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Rule of thumb: equal n makes ANOVA forgiving about unequal variance. Unequal n does not.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Equal Variance — Levene’s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given those sds, will Levene’s test call the variances </a:t>
            </a:r>
            <a:r>
              <a:rPr sz="2000" b="1"/>
              <a:t>equal</a:t>
            </a:r>
            <a:r>
              <a:rPr sz="2000"/>
              <a:t> (</a:t>
            </a:r>
            <a:r>
              <a:rPr sz="2000" i="1"/>
              <a:t>p</a:t>
            </a:r>
            <a:r>
              <a:rPr sz="2000"/>
              <a:t> &gt; 0.05) or </a:t>
            </a:r>
            <a:r>
              <a:rPr sz="2000" b="1"/>
              <a:t>unequal</a:t>
            </a:r>
            <a:r>
              <a:rPr sz="2000"/>
              <a:t>?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H0: all groups have equal variance 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leveneTest</a:t>
            </a:r>
            <a:r>
              <a:rPr>
                <a:solidFill>
                  <a:srgbClr val="003B4F"/>
                </a:solidFill>
                <a:latin typeface="Courier"/>
              </a:rPr>
              <a:t>(body_mass_g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penguins_df)</a:t>
            </a:r>
          </a:p>
          <a:p>
            <a:pPr lvl="0" indent="0">
              <a:buNone/>
            </a:pPr>
            <a:r>
              <a:rPr>
                <a:latin typeface="Courier"/>
              </a:rPr>
              <a:t>Levene's Test for Homogeneity of Variance (center = median)
       Df F value   Pr(&gt;F)   
group   2  5.1203 0.006445 **
      339                    
---
Signif. codes:  0 '***' 0.001 '**' 0.01 '*' 0.05 '.' 0.1 ' '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 = 5.12, </a:t>
            </a:r>
            <a:r>
              <a:rPr b="1" i="1"/>
              <a:t>p</a:t>
            </a:r>
            <a:r>
              <a:rPr b="1"/>
              <a:t> = 0.0064</a:t>
            </a:r>
          </a:p>
          <a:p>
            <a:pPr lvl="0" indent="0" marL="0">
              <a:buNone/>
            </a:pPr>
            <a:r>
              <a:rPr i="1"/>
              <a:t>p</a:t>
            </a:r>
            <a:r>
              <a:rPr/>
              <a:t> &lt; 0.05 → </a:t>
            </a:r>
            <a:r>
              <a:rPr b="1"/>
              <a:t>reject H₀</a:t>
            </a:r>
            <a:r>
              <a:rPr/>
              <a:t> → the variances are </a:t>
            </a:r>
            <a:r>
              <a:rPr b="1"/>
              <a:t>not</a:t>
            </a:r>
            <a:r>
              <a:rPr/>
              <a:t> equal.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So the classic ANOVA we ran last lecture has a </a:t>
            </a:r>
            <a:r>
              <a:rPr sz="2000" b="1"/>
              <a:t>violated assumption</a:t>
            </a:r>
            <a:r>
              <a:rPr sz="2000"/>
              <a:t>. This is not a mistake in the slides — it is what this data set does. Real data does this constantly.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When Equal Variance Fails — Welch’s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Does not assume equal variances 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oneway.test</a:t>
            </a:r>
            <a:r>
              <a:rPr>
                <a:solidFill>
                  <a:srgbClr val="003B4F"/>
                </a:solidFill>
                <a:latin typeface="Courier"/>
              </a:rPr>
              <a:t>(body_mass_g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penguins_df,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
    One-way analysis of means (not assuming equal variances)
data:  body_mass_g and species
F = 317.57, num df = 2.00, denom df = 189.48, p-value &lt;
2.2e-16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F = 317.6</a:t>
            </a:r>
            <a:r>
              <a:rPr/>
              <a:t>, num df 2, </a:t>
            </a:r>
            <a:r>
              <a:rPr b="1"/>
              <a:t>denom df 189.5</a:t>
            </a:r>
            <a:r>
              <a:rPr/>
              <a:t>, </a:t>
            </a:r>
            <a:r>
              <a:rPr i="1"/>
              <a:t>p</a:t>
            </a:r>
            <a:r>
              <a:rPr/>
              <a:t> &lt; 0.001</a:t>
            </a:r>
          </a:p>
          <a:p>
            <a:pPr lvl="0"/>
            <a:r>
              <a:rPr/>
              <a:t>Fractional denominator df is Welch’s signature — it is the same correction as Welch’s </a:t>
            </a:r>
            <a:r>
              <a:rPr i="1"/>
              <a:t>t</a:t>
            </a:r>
            <a:r>
              <a:rPr/>
              <a:t>-test, which is R’s default </a:t>
            </a:r>
            <a:r>
              <a:rPr>
                <a:latin typeface="Courier"/>
              </a:rPr>
              <a:t>t.test()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The decision</a:t>
            </a:r>
          </a:p>
          <a:p>
            <a:pPr lvl="0" indent="0" marL="1270000">
              <a:buNone/>
            </a:pPr>
            <a:r>
              <a:rPr sz="2000"/>
              <a:t>Levene says unequal → </a:t>
            </a:r>
            <a:r>
              <a:rPr sz="2000" b="1"/>
              <a:t>report the Welch F</a:t>
            </a:r>
            <a:r>
              <a:rPr sz="2000"/>
              <a:t>. The conclusion does not change (both </a:t>
            </a:r>
            <a:r>
              <a:rPr sz="2000" i="1"/>
              <a:t>p</a:t>
            </a:r>
            <a:r>
              <a:rPr sz="2000"/>
              <a:t> are far below 0.001) but the </a:t>
            </a:r>
            <a:r>
              <a:rPr sz="2000" i="1"/>
              <a:t>honest</a:t>
            </a:r>
            <a:r>
              <a:rPr sz="2000"/>
              <a:t> test is the Welch one.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Decision Table You Can Keep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09600"/>
          <a:ext cx="9080500" cy="391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993900"/>
                <a:gridCol w="2717800"/>
                <a:gridCol w="2717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Result 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to run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QQ + Shapiro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p</a:t>
                      </a:r>
                      <a:r>
                        <a:rPr/>
                        <a:t> = 0.051, plot fine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residuals ~normal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fine either way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p</a:t>
                      </a:r>
                      <a:r>
                        <a:rPr/>
                        <a:t> = 0.0064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variances </a:t>
                      </a:r>
                      <a:r>
                        <a:rPr b="1"/>
                        <a:t>unequal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oneway.test(var.equal = FALSE)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Both fail badly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normality </a:t>
                      </a:r>
                      <a:r>
                        <a:rPr b="1"/>
                        <a:t>and</a:t>
                      </a:r>
                      <a:r>
                        <a:rPr/>
                        <a:t> variance gone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Kruskal-Wallis (rank-based)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For reference only — you do not run this today.</a:t>
            </a:r>
            <a:r>
              <a:rPr sz="2000"/>
              <a:t> The rank-based backup is </a:t>
            </a:r>
            <a:r>
              <a:rPr sz="2000">
                <a:latin typeface="Courier"/>
              </a:rPr>
              <a:t>kruskal.test(body_mass_g ~ species, data = penguins_df)</a:t>
            </a:r>
            <a:r>
              <a:rPr sz="2000"/>
              <a:t> → χ² = 217.6, df = 2, </a:t>
            </a:r>
            <a:r>
              <a:rPr sz="2000" i="1"/>
              <a:t>p</a:t>
            </a:r>
            <a:r>
              <a:rPr sz="2000"/>
              <a:t> &lt; 0.001. Same answer again. When three different tests agree, you can stop worrying about which one you picked.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</a:t>
            </a:r>
            <a:r>
              <a:rPr i="1"/>
              <a:t>Would</a:t>
            </a:r>
            <a:r>
              <a:rPr/>
              <a:t> Change the Answer?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Here all three tests say </a:t>
            </a:r>
            <a:r>
              <a:rPr i="1"/>
              <a:t>p</a:t>
            </a:r>
            <a:r>
              <a:rPr/>
              <a:t> &lt; 0.001, so the violated assumption cost us nothing.</a:t>
            </a:r>
          </a:p>
          <a:p>
            <a:pPr lvl="0" indent="0" marL="0">
              <a:buNone/>
            </a:pPr>
            <a:r>
              <a:rPr/>
              <a:t>That is </a:t>
            </a:r>
            <a:r>
              <a:rPr b="1"/>
              <a:t>not</a:t>
            </a:r>
            <a:r>
              <a:rPr/>
              <a:t> a reason to skip the check. Unequal variance with unequal n can push a </a:t>
            </a:r>
            <a:r>
              <a:rPr i="1"/>
              <a:t>p</a:t>
            </a:r>
            <a:r>
              <a:rPr/>
              <a:t>-value across 0.05 in either direction — you only know which case you are in </a:t>
            </a:r>
            <a:r>
              <a:rPr b="1"/>
              <a:t>after</a:t>
            </a:r>
            <a:r>
              <a:rPr/>
              <a:t> you look.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rule for this course</a:t>
            </a:r>
          </a:p>
          <a:p>
            <a:pPr lvl="0" indent="0" marL="1270000">
              <a:buNone/>
            </a:pPr>
            <a:r>
              <a:rPr sz="2000"/>
              <a:t>Check → decide → test → report </a:t>
            </a:r>
            <a:r>
              <a:rPr sz="2000" i="1"/>
              <a:t>the test you decided on</a:t>
            </a:r>
            <a:r>
              <a:rPr sz="2000"/>
              <a:t>. Not “run everything and report the smallest </a:t>
            </a:r>
            <a:r>
              <a:rPr sz="2000" i="1"/>
              <a:t>p</a:t>
            </a:r>
            <a:r>
              <a:rPr sz="2000"/>
              <a:t>.”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🧩 Set 3 · Follow-Up Tests — </a:t>
            </a:r>
            <a:r>
              <a:rPr i="1"/>
              <a:t>Which</a:t>
            </a:r>
            <a:r>
              <a:rPr/>
              <a:t> Groups Differ?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F-test said “at least one species differs.” Look back at the boxplot:</a:t>
            </a:r>
          </a:p>
          <a:p>
            <a:pPr lvl="0"/>
            <a:r>
              <a:rPr b="1"/>
              <a:t>Gentoo</a:t>
            </a:r>
            <a:r>
              <a:rPr/>
              <a:t> is obviously above the others</a:t>
            </a:r>
          </a:p>
          <a:p>
            <a:pPr lvl="0"/>
            <a:r>
              <a:rPr b="1"/>
              <a:t>Adelie and Chinstrap</a:t>
            </a:r>
            <a:r>
              <a:rPr/>
              <a:t> sit almost on top of each other</a:t>
            </a:r>
          </a:p>
          <a:p>
            <a:pPr lvl="0" indent="0" marL="0">
              <a:buNone/>
            </a:pPr>
            <a:r>
              <a:rPr/>
              <a:t>A single </a:t>
            </a:r>
            <a:r>
              <a:rPr i="1"/>
              <a:t>p</a:t>
            </a:r>
            <a:r>
              <a:rPr/>
              <a:t> &lt; 0.001 is perfectly consistent with </a:t>
            </a:r>
            <a:r>
              <a:rPr i="1"/>
              <a:t>Gentoo differs, the other two do not.</a:t>
            </a:r>
            <a:r>
              <a:rPr/>
              <a:t> The F-test cannot tell those stories apart.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significant F licenses you to go looking. It does </a:t>
            </a:r>
            <a:r>
              <a:rPr sz="2000" b="1"/>
              <a:t>not</a:t>
            </a:r>
            <a:r>
              <a:rPr sz="2000"/>
              <a:t> tell you what you will find.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Not Just Run the Three t-Tests Now?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Because that is the problem we opened Lecture 19 with — three tests at α = 0.05 gives ~14% chance of a false positive.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b="1"/>
              <a:t>post-hoc</a:t>
            </a:r>
            <a:r>
              <a:rPr/>
              <a:t> (after-the-fact) test does the three comparisons </a:t>
            </a:r>
            <a:r>
              <a:rPr b="1"/>
              <a:t>and</a:t>
            </a:r>
            <a:r>
              <a:rPr/>
              <a:t> adjusts the </a:t>
            </a:r>
            <a:r>
              <a:rPr i="1"/>
              <a:t>p</a:t>
            </a:r>
            <a:r>
              <a:rPr/>
              <a:t>-values so the family-wise error rate stays at 0.05.</a:t>
            </a:r>
          </a:p>
          <a:p>
            <a:pPr lvl="0" indent="0" marL="0">
              <a:buNone/>
            </a:pPr>
            <a:r>
              <a:rPr/>
              <a:t>The standard adjustment for all-pairs comparisons is </a:t>
            </a:r>
            <a:r>
              <a:rPr b="1"/>
              <a:t>Tukey’s HSD</a:t>
            </a:r>
            <a:r>
              <a:rPr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“Tukey-adjusted” means the </a:t>
            </a:r>
            <a:r>
              <a:rPr sz="2000" i="1"/>
              <a:t>p</a:t>
            </a:r>
            <a:r>
              <a:rPr sz="2000"/>
              <a:t>-values printed have </a:t>
            </a:r>
            <a:r>
              <a:rPr sz="2000" b="1"/>
              <a:t>already</a:t>
            </a:r>
            <a:r>
              <a:rPr sz="2000"/>
              <a:t> been corrected. You compare them with 0.05 directly — you do </a:t>
            </a:r>
            <a:r>
              <a:rPr sz="2000" b="1"/>
              <a:t>not</a:t>
            </a:r>
            <a:r>
              <a:rPr sz="2000"/>
              <a:t> divide anything.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Pairwise Comparisons with </a:t>
            </a:r>
            <a:r>
              <a:rPr>
                <a:latin typeface="Courier"/>
              </a:rPr>
              <a:t>emmeans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will </a:t>
            </a:r>
            <a:r>
              <a:rPr sz="2000" b="1"/>
              <a:t>all three</a:t>
            </a:r>
            <a:r>
              <a:rPr sz="2000"/>
              <a:t> species differ from each other, or will two be statistically tied?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Estimated means + every pairwise comparison 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mass_emm &lt;- </a:t>
            </a:r>
            <a:r>
              <a:rPr>
                <a:solidFill>
                  <a:srgbClr val="4758AB"/>
                </a:solidFill>
                <a:latin typeface="Courier"/>
              </a:rPr>
              <a:t>emmeans</a:t>
            </a:r>
            <a:r>
              <a:rPr>
                <a:solidFill>
                  <a:srgbClr val="003B4F"/>
                </a:solidFill>
                <a:latin typeface="Courier"/>
              </a:rPr>
              <a:t>(mass_model, pairwise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mass_emm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contrasts</a:t>
            </a:r>
          </a:p>
          <a:p>
            <a:pPr lvl="0" indent="0">
              <a:buNone/>
            </a:pPr>
            <a:r>
              <a:rPr>
                <a:latin typeface="Courier"/>
              </a:rPr>
              <a:t> contrast           estimate   SE  df t.ratio p.value
 Adelie - Chinstrap    -32.4 67.5 339  -0.480  0.8807
 Adelie - Gentoo     -1375.4 56.1 339 -24.495 &lt;0.0001
 Chinstrap - Gentoo  -1342.9 69.9 339 -19.224 &lt;0.0001
P value adjustment: tukey method for comparing a family of 3 estimates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answer:</a:t>
            </a:r>
          </a:p>
          <a:p>
            <a:pPr lvl="0"/>
            <a:r>
              <a:rPr/>
              <a:t>Adelie – Chinstrap: 32 g, </a:t>
            </a:r>
            <a:r>
              <a:rPr i="1"/>
              <a:t>p</a:t>
            </a:r>
            <a:r>
              <a:rPr/>
              <a:t> = </a:t>
            </a:r>
            <a:r>
              <a:rPr b="1"/>
              <a:t>0.88</a:t>
            </a:r>
            <a:r>
              <a:rPr/>
              <a:t> → </a:t>
            </a:r>
            <a:r>
              <a:rPr b="1"/>
              <a:t>not</a:t>
            </a:r>
            <a:r>
              <a:rPr/>
              <a:t> different</a:t>
            </a:r>
          </a:p>
          <a:p>
            <a:pPr lvl="0"/>
            <a:r>
              <a:rPr/>
              <a:t>Adelie – Gentoo: −1375 g, </a:t>
            </a:r>
            <a:r>
              <a:rPr i="1"/>
              <a:t>p</a:t>
            </a:r>
            <a:r>
              <a:rPr/>
              <a:t> &lt; 0.0001</a:t>
            </a:r>
          </a:p>
          <a:p>
            <a:pPr lvl="0"/>
            <a:r>
              <a:rPr/>
              <a:t>Chinstrap – Gentoo: −1343 g, </a:t>
            </a:r>
            <a:r>
              <a:rPr i="1"/>
              <a:t>p</a:t>
            </a:r>
            <a:r>
              <a:rPr/>
              <a:t> &lt; 0.0001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Two of the three species are </a:t>
            </a:r>
            <a:r>
              <a:rPr sz="2000" b="1"/>
              <a:t>statistically indistinguishable</a:t>
            </a:r>
            <a:r>
              <a:rPr sz="2000"/>
              <a:t> in mass. “Significant ANOVA” never meant “everything differs.”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</a:t>
            </a:r>
            <a:r>
              <a:rPr>
                <a:latin typeface="Courier"/>
              </a:rPr>
              <a:t>emmeans</a:t>
            </a:r>
            <a:r>
              <a:rPr/>
              <a:t> Gives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group means, with CIs 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mass_emm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emmeans</a:t>
            </a:r>
          </a:p>
          <a:p>
            <a:pPr lvl="0" indent="0">
              <a:buNone/>
            </a:pPr>
            <a:r>
              <a:rPr>
                <a:latin typeface="Courier"/>
              </a:rPr>
              <a:t> species   emmean   SE  df lower.CL upper.CL
 Adelie      3701 37.6 339     3627     3775
 Chinstrap   3733 56.1 339     3623     3843
 Gentoo      5076 41.7 339     4994     5158
Confidence level used: 0.95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emmean</a:t>
            </a:r>
            <a:r>
              <a:rPr/>
              <a:t> — the model’s estimate of each group mean</a:t>
            </a:r>
          </a:p>
          <a:p>
            <a:pPr lvl="0"/>
            <a:r>
              <a:rPr>
                <a:latin typeface="Courier"/>
              </a:rPr>
              <a:t>SE</a:t>
            </a:r>
            <a:r>
              <a:rPr/>
              <a:t>, </a:t>
            </a:r>
            <a:r>
              <a:rPr>
                <a:latin typeface="Courier"/>
              </a:rPr>
              <a:t>df</a:t>
            </a:r>
            <a:r>
              <a:rPr/>
              <a:t>, and a 95% </a:t>
            </a:r>
            <a:r>
              <a:rPr b="1"/>
              <a:t>confidence interval</a:t>
            </a:r>
          </a:p>
          <a:p>
            <a:pPr lvl="0"/>
            <a:r>
              <a:rPr>
                <a:latin typeface="Courier"/>
              </a:rPr>
              <a:t>emmeans(model, pairwise ~ species)</a:t>
            </a:r>
            <a:r>
              <a:rPr/>
              <a:t> returns a </a:t>
            </a:r>
            <a:r>
              <a:rPr b="1"/>
              <a:t>list</a:t>
            </a:r>
            <a:r>
              <a:rPr/>
              <a:t> of two things: </a:t>
            </a:r>
            <a:r>
              <a:rPr>
                <a:latin typeface="Courier"/>
              </a:rPr>
              <a:t>$emmeans</a:t>
            </a:r>
            <a:r>
              <a:rPr/>
              <a:t> (the means) and </a:t>
            </a:r>
            <a:r>
              <a:rPr>
                <a:latin typeface="Courier"/>
              </a:rPr>
              <a:t>$contrasts</a:t>
            </a:r>
            <a:r>
              <a:rPr/>
              <a:t> (the comparisons)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emmeans(model, ~ species)</a:t>
            </a:r>
            <a:r>
              <a:rPr sz="2000"/>
              <a:t> with no </a:t>
            </a:r>
            <a:r>
              <a:rPr sz="2000">
                <a:latin typeface="Courier"/>
              </a:rPr>
              <a:t>pairwise</a:t>
            </a:r>
            <a:r>
              <a:rPr sz="2000"/>
              <a:t> gives just the means.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Compact Letter Display — Who Shares a Letter?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Groups sharing a letter are NOT different 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multcomp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cld</a:t>
            </a:r>
            <a:r>
              <a:rPr>
                <a:solidFill>
                  <a:srgbClr val="003B4F"/>
                </a:solidFill>
                <a:latin typeface="Courier"/>
              </a:rPr>
              <a:t>(mass_emm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emmeans, </a:t>
            </a:r>
            <a:r>
              <a:rPr>
                <a:solidFill>
                  <a:srgbClr val="657422"/>
                </a:solidFill>
                <a:latin typeface="Courier"/>
              </a:rPr>
              <a:t>Letters =</a:t>
            </a:r>
            <a:r>
              <a:rPr>
                <a:solidFill>
                  <a:srgbClr val="003B4F"/>
                </a:solidFill>
                <a:latin typeface="Courier"/>
              </a:rPr>
              <a:t> letters)</a:t>
            </a:r>
          </a:p>
          <a:p>
            <a:pPr lvl="0" indent="0">
              <a:buNone/>
            </a:pPr>
            <a:r>
              <a:rPr>
                <a:latin typeface="Courier"/>
              </a:rPr>
              <a:t> species   emmean   SE  df lower.CL upper.CL .group
 Adelie      3701 37.6 339     3627     3775  a    
 Chinstrap   3733 56.1 339     3623     3843  a    
 Gentoo      5076 41.7 339     4994     5158   b   
Confidence level used: 0.95 
P value adjustment: tukey method for comparing a family of 3 estimates 
significance level used: alpha = 0.05 
NOTE: If two or more means share the same grouping symbol,
      then we cannot show them to be different.
      But we also did not show them to be the same.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to read letters:</a:t>
            </a:r>
          </a:p>
          <a:p>
            <a:pPr lvl="0"/>
            <a:r>
              <a:rPr/>
              <a:t>Same letter → </a:t>
            </a:r>
            <a:r>
              <a:rPr b="1"/>
              <a:t>not</a:t>
            </a:r>
            <a:r>
              <a:rPr/>
              <a:t> significantly different</a:t>
            </a:r>
          </a:p>
          <a:p>
            <a:pPr lvl="0"/>
            <a:r>
              <a:rPr/>
              <a:t>Different letters → significantly different</a:t>
            </a:r>
          </a:p>
          <a:p>
            <a:pPr lvl="0" indent="0" marL="0">
              <a:buNone/>
            </a:pPr>
            <a:r>
              <a:rPr/>
              <a:t>Adelie </a:t>
            </a:r>
            <a:r>
              <a:rPr b="1"/>
              <a:t>a</a:t>
            </a:r>
            <a:r>
              <a:rPr/>
              <a:t>, Chinstrap </a:t>
            </a:r>
            <a:r>
              <a:rPr b="1"/>
              <a:t>a</a:t>
            </a:r>
            <a:r>
              <a:rPr/>
              <a:t>, Gentoo </a:t>
            </a:r>
            <a:r>
              <a:rPr b="1"/>
              <a:t>b</a:t>
            </a:r>
            <a:r>
              <a:rPr/>
              <a:t> — the pairwise table in one glance. This is the notation you see over the bars in published figures.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Install once: </a:t>
            </a:r>
            <a:r>
              <a:rPr sz="2000">
                <a:latin typeface="Courier"/>
              </a:rPr>
              <a:t>install.packages("multcomp")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Backup That Matches Welch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Tukey through </a:t>
            </a:r>
            <a:r>
              <a:rPr>
                <a:latin typeface="Courier"/>
              </a:rPr>
              <a:t>emmeans</a:t>
            </a:r>
            <a:r>
              <a:rPr/>
              <a:t> uses the model’s </a:t>
            </a:r>
            <a:r>
              <a:rPr b="1"/>
              <a:t>pooled</a:t>
            </a:r>
            <a:r>
              <a:rPr/>
              <a:t> error — the thing Levene told us to be careful about. The matching unequal-variance version: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Non-pooled SD, Holm-adjusted 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pairwise.t.test</a:t>
            </a:r>
            <a:r>
              <a:rPr>
                <a:solidFill>
                  <a:srgbClr val="003B4F"/>
                </a:solidFill>
                <a:latin typeface="Courier"/>
              </a:rPr>
              <a:t>(penguins_df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body_mass_g,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penguins_df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species,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</a:t>
            </a:r>
            <a:r>
              <a:rPr>
                <a:solidFill>
                  <a:srgbClr val="657422"/>
                </a:solidFill>
                <a:latin typeface="Courier"/>
              </a:rPr>
              <a:t>pool.sd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
    Pairwise comparisons using t tests with non-pooled SD 
data:  penguins_df$body_mass_g and penguins_df$species 
          Adelie Chinstrap
Chinstrap 0.59   -        
Gentoo    &lt;2e-16 &lt;2e-16   
P value adjustment method: holm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Adelie vs Chinstrap: </a:t>
            </a:r>
            <a:r>
              <a:rPr i="1"/>
              <a:t>p</a:t>
            </a:r>
            <a:r>
              <a:rPr/>
              <a:t> = </a:t>
            </a:r>
            <a:r>
              <a:rPr b="1"/>
              <a:t>0.59</a:t>
            </a:r>
            <a:r>
              <a:rPr/>
              <a:t> → still not different</a:t>
            </a:r>
          </a:p>
          <a:p>
            <a:pPr lvl="0"/>
            <a:r>
              <a:rPr/>
              <a:t>Everything else: </a:t>
            </a:r>
            <a:r>
              <a:rPr i="1"/>
              <a:t>p</a:t>
            </a:r>
            <a:r>
              <a:rPr/>
              <a:t> &lt; 2e-16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Same story.</a:t>
            </a:r>
            <a:r>
              <a:rPr sz="2000"/>
              <a:t> The letters stand. When the robust version agrees with the standard one, report the standard one and say you checked.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 the Result — Means ± CI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mass_emm_plot &lt;- </a:t>
            </a:r>
            <a:r>
              <a:rPr>
                <a:solidFill>
                  <a:srgbClr val="4758AB"/>
                </a:solidFill>
                <a:latin typeface="Courier"/>
              </a:rPr>
              <a:t>as.data.frame</a:t>
            </a:r>
            <a:r>
              <a:rPr>
                <a:solidFill>
                  <a:srgbClr val="003B4F"/>
                </a:solidFill>
                <a:latin typeface="Courier"/>
              </a:rPr>
              <a:t>(mass_emm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emmeans)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emmean,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geom_errorbar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ymin =</a:t>
            </a:r>
            <a:r>
              <a:rPr>
                <a:solidFill>
                  <a:srgbClr val="003B4F"/>
                </a:solidFill>
                <a:latin typeface="Courier"/>
              </a:rPr>
              <a:t> lower.CL, </a:t>
            </a:r>
            <a:r>
              <a:rPr>
                <a:solidFill>
                  <a:srgbClr val="657422"/>
                </a:solidFill>
                <a:latin typeface="Courier"/>
              </a:rPr>
              <a:t>ymax =</a:t>
            </a:r>
            <a:r>
              <a:rPr>
                <a:solidFill>
                  <a:srgbClr val="003B4F"/>
                </a:solidFill>
                <a:latin typeface="Courier"/>
              </a:rPr>
              <a:t> upper.CL),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"Estimated mean mass (g)"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mass_emm_plot</a:t>
            </a:r>
          </a:p>
        </p:txBody>
      </p:sp>
      <p:pic>
        <p:nvPicPr>
          <p:cNvPr descr="one_way_anova_2_lecture_files/figure-pptx/emmeans-plot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006600"/>
            <a:ext cx="4432300" cy="184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Adelie and Chinstrap intervals </a:t>
            </a:r>
            <a:r>
              <a:rPr b="1"/>
              <a:t>overlap</a:t>
            </a:r>
            <a:r>
              <a:rPr/>
              <a:t> — consistent with </a:t>
            </a:r>
            <a:r>
              <a:rPr i="1"/>
              <a:t>p</a:t>
            </a:r>
            <a:r>
              <a:rPr/>
              <a:t> = 0.88</a:t>
            </a:r>
          </a:p>
          <a:p>
            <a:pPr lvl="0"/>
            <a:r>
              <a:rPr/>
              <a:t>Gentoo’s interval is nowhere near the other two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Overlapping CIs are a </a:t>
            </a:r>
            <a:r>
              <a:rPr sz="2000" b="1"/>
              <a:t>hint</a:t>
            </a:r>
            <a:r>
              <a:rPr sz="2000"/>
              <a:t>, not a test. The </a:t>
            </a:r>
            <a:r>
              <a:rPr sz="2000" i="1"/>
              <a:t>p</a:t>
            </a:r>
            <a:r>
              <a:rPr sz="2000"/>
              <a:t>-value is the test; the plot is how your reader sees it.</a:t>
            </a:r>
          </a:p>
          <a:p>
            <a:pPr lvl="0" indent="0" marL="0">
              <a:buNone/>
            </a:pPr>
            <a:r>
              <a:rPr/>
              <a:t>This is the ANOVA cousin of the mean ± SE plot from the summary-stats lecture.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Report the Whole 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“Body mass differed among the three penguin species. Variances were unequal (Levene’s test: F(2, 339) = 5.12, p = 0.006), so we report Welch’s ANOVA: F(2, 189.5) = 317.6, p &lt; 0.001. Tukey-adjusted pairwise comparisons showed that Gentoo penguins (5076 ± 42 g) were heavier than both Adelie (3701 ± 38 g, p &lt; 0.001) and Chinstrap (3733 ± 56 g, p &lt; 0.001), while Adelie and Chinstrap did not differ (p = 0.88).”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Every piece earns its place:</a:t>
            </a:r>
          </a:p>
          <a:p>
            <a:pPr lvl="0"/>
            <a:r>
              <a:rPr/>
              <a:t>the assumption you checked, and what you did about it</a:t>
            </a:r>
          </a:p>
          <a:p>
            <a:pPr lvl="0"/>
            <a:r>
              <a:rPr/>
              <a:t>the test, </a:t>
            </a:r>
            <a:r>
              <a:rPr b="1"/>
              <a:t>F</a:t>
            </a:r>
            <a:r>
              <a:rPr/>
              <a:t>, </a:t>
            </a:r>
            <a:r>
              <a:rPr b="1"/>
              <a:t>both df</a:t>
            </a:r>
            <a:r>
              <a:rPr/>
              <a:t>, </a:t>
            </a:r>
            <a:r>
              <a:rPr b="1" i="1"/>
              <a:t>p</a:t>
            </a:r>
          </a:p>
          <a:p>
            <a:pPr lvl="0"/>
            <a:r>
              <a:rPr/>
              <a:t>the follow-up, named as adjusted</a:t>
            </a:r>
          </a:p>
          <a:p>
            <a:pPr lvl="0"/>
            <a:r>
              <a:rPr/>
              <a:t>the </a:t>
            </a:r>
            <a:r>
              <a:rPr b="1"/>
              <a:t>means ± SE</a:t>
            </a:r>
            <a:r>
              <a:rPr/>
              <a:t>, so a reader can see the size of the effect</a:t>
            </a:r>
          </a:p>
          <a:p>
            <a:pPr lvl="0"/>
            <a:r>
              <a:rPr/>
              <a:t>the pair that did </a:t>
            </a:r>
            <a:r>
              <a:rPr b="1"/>
              <a:t>not</a:t>
            </a:r>
            <a:r>
              <a:rPr/>
              <a:t> differ — reporting that is not a failure, it is the finding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Now Go Run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</a:t>
            </a:r>
            <a:r>
              <a:rPr>
                <a:latin typeface="Courier"/>
              </a:rPr>
              <a:t>scripts/20_anova_2_skeleton.R</a:t>
            </a:r>
            <a:r>
              <a:rPr/>
              <a:t>. Part A is pre-filled — run it chunk by chunk and answer the </a:t>
            </a:r>
            <a:r>
              <a:rPr b="1"/>
              <a:t>QA</a:t>
            </a:r>
            <a:r>
              <a:rPr/>
              <a:t> boxes. Part B is the homework: Sets 2 and 3 again on a </a:t>
            </a:r>
            <a:r>
              <a:rPr b="1"/>
              <a:t>different measurement</a:t>
            </a:r>
            <a:r>
              <a:rPr/>
              <a:t> — </a:t>
            </a:r>
            <a:r>
              <a:rPr>
                <a:latin typeface="Courier"/>
              </a:rPr>
              <a:t>flipper_length_mm</a:t>
            </a:r>
            <a:r>
              <a:rPr/>
              <a:t>, </a:t>
            </a:r>
            <a:r>
              <a:rPr>
                <a:latin typeface="Courier"/>
              </a:rPr>
              <a:t>bill_length_mm</a:t>
            </a:r>
            <a:r>
              <a:rPr/>
              <a:t> or </a:t>
            </a:r>
            <a:r>
              <a:rPr>
                <a:latin typeface="Courier"/>
              </a:rPr>
              <a:t>bill_depth_mm</a:t>
            </a:r>
            <a:r>
              <a:rPr/>
              <a:t> — and you write that code yourself.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Your Part B numbers will not match your neighbour’s. One of the three columns passes Levene’s test cleanly, one gives </a:t>
            </a:r>
            <a:r>
              <a:rPr sz="2000" b="1"/>
              <a:t>three different letters</a:t>
            </a:r>
            <a:r>
              <a:rPr sz="2000"/>
              <a:t>, and one puts </a:t>
            </a:r>
            <a:r>
              <a:rPr sz="2000" b="1"/>
              <a:t>Gentoo at the bottom</a:t>
            </a:r>
            <a:r>
              <a:rPr sz="2000"/>
              <a:t>. Do not assume it will look like body mass.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Normality is about the </a:t>
            </a:r>
            <a:r>
              <a:rPr b="1"/>
              <a:t>residuals</a:t>
            </a:r>
            <a:r>
              <a:rPr/>
              <a:t>, not the raw data</a:t>
            </a:r>
          </a:p>
          <a:p>
            <a:pPr lvl="0"/>
            <a:r>
              <a:rPr/>
              <a:t>Unequal variance + unequal n is the case that actually matters → </a:t>
            </a:r>
            <a:r>
              <a:rPr b="1"/>
              <a:t>Welch’s ANOVA</a:t>
            </a:r>
          </a:p>
          <a:p>
            <a:pPr lvl="0"/>
            <a:r>
              <a:rPr/>
              <a:t>A significant F licenses a </a:t>
            </a:r>
            <a:r>
              <a:rPr b="1"/>
              <a:t>follow-up</a:t>
            </a:r>
            <a:r>
              <a:rPr/>
              <a:t>; it does not name the groups</a:t>
            </a:r>
          </a:p>
          <a:p>
            <a:pPr lvl="0"/>
            <a:r>
              <a:rPr b="1"/>
              <a:t>Tukey adjustment</a:t>
            </a:r>
            <a:r>
              <a:rPr/>
              <a:t> keeps family-wise error at 0.05</a:t>
            </a:r>
          </a:p>
          <a:p>
            <a:pPr lvl="0"/>
            <a:r>
              <a:rPr/>
              <a:t>A shared letter means </a:t>
            </a:r>
            <a:r>
              <a:rPr i="1"/>
              <a:t>not shown to be different</a:t>
            </a:r>
            <a:r>
              <a:rPr/>
              <a:t> — not </a:t>
            </a:r>
            <a:r>
              <a:rPr i="1"/>
              <a:t>proven the same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plot(model)</a:t>
            </a:r>
            <a:r>
              <a:rPr/>
              <a:t>, </a:t>
            </a:r>
            <a:r>
              <a:rPr>
                <a:latin typeface="Courier"/>
              </a:rPr>
              <a:t>shapiro.test(residuals(model))</a:t>
            </a:r>
          </a:p>
          <a:p>
            <a:pPr lvl="0"/>
            <a:r>
              <a:rPr>
                <a:latin typeface="Courier"/>
              </a:rPr>
              <a:t>leveneTest()</a:t>
            </a:r>
            <a:r>
              <a:rPr/>
              <a:t>, </a:t>
            </a:r>
            <a:r>
              <a:rPr>
                <a:latin typeface="Courier"/>
              </a:rPr>
              <a:t>oneway.test(var.equal = FALSE)</a:t>
            </a:r>
          </a:p>
          <a:p>
            <a:pPr lvl="0"/>
            <a:r>
              <a:rPr>
                <a:latin typeface="Courier"/>
              </a:rPr>
              <a:t>kruskal.test()</a:t>
            </a:r>
            <a:r>
              <a:rPr/>
              <a:t> — know it exists; we do not run it today</a:t>
            </a:r>
          </a:p>
          <a:p>
            <a:pPr lvl="0"/>
            <a:r>
              <a:rPr>
                <a:latin typeface="Courier"/>
              </a:rPr>
              <a:t>emmeans(model, pairwise ~ group)</a:t>
            </a:r>
            <a:r>
              <a:rPr/>
              <a:t>, </a:t>
            </a:r>
            <a:r>
              <a:rPr>
                <a:latin typeface="Courier"/>
              </a:rPr>
              <a:t>multcomp::cld()</a:t>
            </a:r>
          </a:p>
          <a:p>
            <a:pPr lvl="0"/>
            <a:r>
              <a:rPr>
                <a:latin typeface="Courier"/>
              </a:rPr>
              <a:t>pairwise.t.test(pool.sd = FALSE)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W&amp;S Ch. 15 — ANOVA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emmeans vignettes</a:t>
            </a:r>
          </a:p>
          <a:p>
            <a:pPr lvl="0" indent="0" marL="0">
              <a:buNone/>
            </a:pPr>
            <a:r>
              <a:rPr b="1"/>
              <a:t>Up next — Lecture 21:</a:t>
            </a:r>
          </a:p>
          <a:p>
            <a:pPr lvl="0"/>
            <a:r>
              <a:rPr/>
              <a:t>The </a:t>
            </a:r>
            <a:r>
              <a:rPr b="1"/>
              <a:t>final project</a:t>
            </a:r>
          </a:p>
          <a:p>
            <a:pPr lvl="0"/>
            <a:r>
              <a:rPr/>
              <a:t>You now have the full toolkit: wrangle → plot → check → test → follow up → report. The project is you doing that on data you chose.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20 — One-Way ANOVA II: Assumptions, then Follow-Up Tests</dc:title>
  <dc:creator>Bill Perry</dc:creator>
  <cp:keywords/>
  <dc:description>Set 2 — checking the one-way ANOVA’s assumptions on the penguin model with plot(model), a residual QQ plot, Shapiro-Wilk and Levene’s test, and what to do when equal variance fails (Welch’s ANOVA). Set 3 — the follow-up tests: emmeans pairwise comparisons, Tukey adjustment, a compact letter display, a means plot, and the finished results sentence.</dc:description>
  <dcterms:created xsi:type="dcterms:W3CDTF">2026-10-19T16:10:51Z</dcterms:created>
  <dcterms:modified xsi:type="dcterms:W3CDTF">2026-10-19T16:10:51Z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2026-10-19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20</vt:lpwstr>
  </property>
  <property fmtid="{D5CDD505-2E9C-101B-9397-08002B2CF9AE}" pid="13" name="resources">
    <vt:lpwstr/>
  </property>
  <property fmtid="{D5CDD505-2E9C-101B-9397-08002B2CF9AE}" pid="14" name="subtitle">
    <vt:lpwstr>Earning the p-value, and finding out which species actually differ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10</vt:lpwstr>
  </property>
</Properties>
</file>