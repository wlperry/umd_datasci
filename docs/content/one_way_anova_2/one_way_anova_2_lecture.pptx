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— One-Way ANOVA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F table, finding which groups differ,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13 — One-Way ANOVA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mass_model &lt;- lm(body_mass_g ~ species, data = penguins_df)</a:t>
            </a:r>
            <a:r>
              <a:rPr/>
              <a:t> — fit</a:t>
            </a:r>
          </a:p>
          <a:p>
            <a:pPr lvl="0"/>
            <a:r>
              <a:rPr b="1"/>
              <a:t>Normality checked</a:t>
            </a:r>
            <a:r>
              <a:rPr/>
              <a:t> — Q-Q panel + Shapiro-Wilk on the residuals</a:t>
            </a:r>
          </a:p>
          <a:p>
            <a:pPr lvl="0"/>
            <a:r>
              <a:rPr b="1"/>
              <a:t>Equal variance checked</a:t>
            </a:r>
            <a:r>
              <a:rPr/>
              <a:t> — Levene’s test</a:t>
            </a:r>
          </a:p>
          <a:p>
            <a:pPr lvl="0"/>
            <a:r>
              <a:rPr b="1"/>
              <a:t>Decision:</a:t>
            </a:r>
            <a:r>
              <a:rPr/>
              <a:t> assumptions look fine, proceed with classic ANOVA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model is fit and its assumptions are checked. Today we actually read the F table, find </a:t>
            </a:r>
            <a:r>
              <a:rPr sz="2000" b="1"/>
              <a:t>which</a:t>
            </a:r>
            <a:r>
              <a:rPr sz="2000"/>
              <a:t> species differ, and turn the result into a sentence a reader can trust.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Run the ANOVA two ways: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 b="1">
                <a:latin typeface="Courier"/>
              </a:rPr>
              <a:t>car::Anova()</a:t>
            </a:r>
          </a:p>
          <a:p>
            <a:pPr lvl="0"/>
            <a:r>
              <a:rPr/>
              <a:t>Understand why </a:t>
            </a:r>
            <a:r>
              <a:rPr b="1"/>
              <a:t>Type II</a:t>
            </a:r>
            <a:r>
              <a:rPr/>
              <a:t> sums of squares matter for unbalanced data</a:t>
            </a:r>
          </a:p>
          <a:p>
            <a:pPr lvl="0"/>
            <a:r>
              <a:rPr/>
              <a:t>Find </a:t>
            </a:r>
            <a:r>
              <a:rPr b="1"/>
              <a:t>which</a:t>
            </a:r>
            <a:r>
              <a:rPr/>
              <a:t> groups differ with </a:t>
            </a:r>
            <a:r>
              <a:rPr b="1">
                <a:latin typeface="Courier"/>
              </a:rPr>
              <a:t>emmeans</a:t>
            </a:r>
            <a:r>
              <a:rPr/>
              <a:t> post-hoc tests</a:t>
            </a:r>
          </a:p>
          <a:p>
            <a:pPr lvl="0"/>
            <a:r>
              <a:rPr/>
              <a:t>Read a compact letter display (CLD)</a:t>
            </a:r>
          </a:p>
          <a:p>
            <a:pPr lvl="0"/>
            <a:r>
              <a:rPr/>
              <a:t>Plot the estimated means ± CI</a:t>
            </a:r>
          </a:p>
          <a:p>
            <a:pPr lvl="0"/>
            <a:r>
              <a:rPr/>
              <a:t>Write a complete, reportable results sentence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</a:t>
            </a:r>
            <a:r>
              <a:rPr>
                <a:latin typeface="Courier"/>
              </a:rPr>
              <a:t>Anova()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, </a:t>
            </a:r>
            <a:r>
              <a:rPr>
                <a:latin typeface="Courier"/>
              </a:rPr>
              <a:t>multcomp</a:t>
            </a:r>
            <a:r>
              <a:rPr/>
              <a:t> — post-hoc, CLD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Predicting the </a:t>
            </a:r>
            <a:r>
              <a:rPr sz="2000" i="1"/>
              <a:t>p</a:t>
            </a:r>
            <a:r>
              <a:rPr sz="2000"/>
              <a:t>-value before you see it forces you to reason from the boxplot’s separation, not just read a number off a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Letters in a compact letter display only mean something if you’ve watched them get built from the pairwise table above them.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the ANOVA &amp; Read the 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ANOVA table two ways — base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 — and why the difference matters for unbalanced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7–8</a:t>
            </a:r>
            <a:r>
              <a:rPr sz="2000"/>
              <a:t> (run both, read F / df / p).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 the ANOVA —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boxplot from Lecture 13 looked very separated. Predict the </a:t>
            </a:r>
            <a:r>
              <a:rPr sz="2000" i="1"/>
              <a:t>p</a:t>
            </a:r>
            <a:r>
              <a:rPr sz="2000"/>
              <a:t>-value — closer to 0.5, 0.05, or far below 0.001?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model fit at the end of Lecture 13 --------------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Classic ANOVA table (Type I sums of squares)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(mass_aov)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   Sum Sq  Mean Sq F value Pr(&gt;F)    
species       2 146864214 73432107   343.6 &lt;2e-16 ***
Residuals   339  72443483   213698                   
---
Signif. codes:  0 '***' 0.001 '**' 0.01 '*' 0.05 '.' 0.1 ' '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groups − 1, and residual 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between ÷ within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Pr(&gt;F)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i="1"/>
                        <a:t>p</a:t>
                      </a:r>
                      <a:r>
                        <a:rPr/>
                        <a:t>-value for H₀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</a:t>
            </a:r>
            <a:r>
              <a:rPr/>
              <a:t> &lt; 0.05 → </a:t>
            </a:r>
            <a:r>
              <a:rPr b="1"/>
              <a:t>reject H₀</a:t>
            </a:r>
            <a:r>
              <a:rPr/>
              <a:t> → at least one species differs. But </a:t>
            </a:r>
            <a:r>
              <a:rPr b="1"/>
              <a:t>which</a:t>
            </a:r>
            <a:r>
              <a:rPr/>
              <a:t>? Chunk 2.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unbalanced</a:t>
            </a:r>
            <a:r>
              <a:rPr/>
              <a:t> data we prefer </a:t>
            </a:r>
            <a:r>
              <a:rPr>
                <a:latin typeface="Courier"/>
              </a:rPr>
              <a:t>car::Anova()</a:t>
            </a:r>
            <a:r>
              <a:rPr/>
              <a:t>. I’ll reach for it but type lowercase, and forget the package: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base R — Type I, one model at a time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capital A — but car isn't loaded!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Anova(mass_model) :
  could not find function "Anova"</a:t>
            </a:r>
          </a:p>
          <a:p>
            <a:pPr lvl="0" indent="0" marL="0">
              <a:buNone/>
            </a:pPr>
            <a:r>
              <a:rPr/>
              <a:t>The fix — load </a:t>
            </a:r>
            <a:r>
              <a:rPr>
                <a:latin typeface="Courier"/>
              </a:rPr>
              <a:t>car</a:t>
            </a:r>
            <a:r>
              <a:rPr/>
              <a:t>, and mind the capital </a:t>
            </a:r>
            <a:r>
              <a:rPr b="1"/>
              <a:t>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and </a:t>
            </a:r>
            <a:r>
              <a:rPr sz="2000">
                <a:latin typeface="Courier"/>
              </a:rPr>
              <a:t>Anova()</a:t>
            </a:r>
            <a:r>
              <a:rPr sz="2000"/>
              <a:t> are two entirely different functions that happen to differ by one capital letter — R will not guess which one you meant. Watching the exact error message land here means you’ll recognize it instantly instead of re-checking your spelling three times when it happens mid-assignment.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car::Anova()</a:t>
            </a:r>
            <a:r>
              <a:rPr/>
              <a:t> — Type II for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Type II sums of squares — the right call here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Type II?</a:t>
            </a:r>
          </a:p>
          <a:p>
            <a:pPr lvl="0"/>
            <a:r>
              <a:rPr/>
              <a:t>Our groups have </a:t>
            </a:r>
            <a:r>
              <a:rPr b="1"/>
              <a:t>different n</a:t>
            </a:r>
            <a:r>
              <a:rPr/>
              <a:t> (unbalanced)</a:t>
            </a:r>
          </a:p>
          <a:p>
            <a:pPr lvl="0"/>
            <a:r>
              <a:rPr/>
              <a:t>With one predictor the F is the same, but Type II is the </a:t>
            </a:r>
            <a:r>
              <a:rPr b="1"/>
              <a:t>habit</a:t>
            </a:r>
            <a:r>
              <a:rPr/>
              <a:t> you want before you meet two-way ANOVA, where the type genuinely changes the answer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= Type I (order-dependent). </a:t>
            </a:r>
            <a:r>
              <a:rPr sz="2000">
                <a:latin typeface="Courier"/>
              </a:rPr>
              <a:t>Anova(type = "II")</a:t>
            </a:r>
            <a:r>
              <a:rPr sz="2000"/>
              <a:t> = order-independent.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  <a:r>
              <a:rPr/>
              <a:t>, then </a:t>
            </a:r>
            <a:r>
              <a:rPr>
                <a:latin typeface="Courier"/>
              </a:rPr>
              <a:t>car::Anova(type = "II")</a:t>
            </a:r>
            <a:r>
              <a:rPr/>
              <a:t>. Predict the F and </a:t>
            </a:r>
            <a:r>
              <a:rPr i="1"/>
              <a:t>p</a:t>
            </a:r>
            <a:r>
              <a:rPr/>
              <a:t> before you read them, and confirm both tables agree.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Which Groups Differ? Post-Hoc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ANOVA says “some differ” — </a:t>
            </a:r>
            <a:r>
              <a:rPr>
                <a:latin typeface="Courier"/>
              </a:rPr>
              <a:t>emmeans</a:t>
            </a:r>
            <a:r>
              <a:rPr/>
              <a:t> says </a:t>
            </a:r>
            <a:r>
              <a:rPr i="1"/>
              <a:t>which</a:t>
            </a:r>
            <a:r>
              <a:rPr/>
              <a:t>, with the comparisons properly adjusted.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9–11</a:t>
            </a:r>
            <a:r>
              <a:rPr sz="2000"/>
              <a:t> (pairwise tests, letters, plot, report).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— Pairwise Comparisons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From the boxplot, predict — will </a:t>
            </a:r>
            <a:r>
              <a:rPr sz="2000" b="1"/>
              <a:t>all three</a:t>
            </a:r>
            <a:r>
              <a:rPr sz="2000"/>
              <a:t> species differ from each other, or will two be statistically tied?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Estimated marginal means + Tukey-adjusted pairs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(mass_model, pairwise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estimate   SE  df t.ratio p.value
 Adelie - Chinstrap    -32.4 67.5 339  -0.480  0.8807
 Adelie - Gentoo     -1375.4 56.1 339 -24.495 &lt;0.0001
 Chinstrap - Gentoo  -1342.9 69.9 339 -19.224 &lt;0.0001
P value adjustment: tukey method for comparing a family of 3 estimates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it:</a:t>
            </a:r>
          </a:p>
          <a:p>
            <a:pPr lvl="0"/>
            <a:r>
              <a:rPr>
                <a:latin typeface="Courier"/>
              </a:rPr>
              <a:t>emmeans(..., pairwise ~ species)</a:t>
            </a:r>
            <a:r>
              <a:rPr/>
              <a:t> gives each group’s mean </a:t>
            </a:r>
            <a:r>
              <a:rPr b="1"/>
              <a:t>and</a:t>
            </a:r>
            <a:r>
              <a:rPr/>
              <a:t> every pairwise comparison</a:t>
            </a:r>
          </a:p>
          <a:p>
            <a:pPr lvl="0"/>
            <a:r>
              <a:rPr/>
              <a:t>The </a:t>
            </a:r>
            <a:r>
              <a:rPr i="1"/>
              <a:t>p</a:t>
            </a:r>
            <a:r>
              <a:rPr/>
              <a:t>-values are </a:t>
            </a:r>
            <a:r>
              <a:rPr b="1"/>
              <a:t>Tukey-adjusted</a:t>
            </a:r>
            <a:r>
              <a:rPr/>
              <a:t> — they already correct for multiple comparisons, so the family-wise error stays at 0.05</a:t>
            </a:r>
          </a:p>
          <a:p>
            <a:pPr lvl="0" indent="0" marL="0">
              <a:buNone/>
            </a:pPr>
            <a:r>
              <a:rPr/>
              <a:t>📖 W&amp;S §15.4 — planned vs. unplanned comparisons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Compact Letter Display — Who Shares a Letter?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Groups that SHARE a letter are NOT different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</a:p>
          <a:p>
            <a:pPr lvl="0" indent="0">
              <a:buNone/>
            </a:pPr>
            <a:r>
              <a:rPr>
                <a:latin typeface="Courier"/>
              </a:rPr>
              <a:t> species   emmean   SE  df lower.CL upper.CL .group
 Adelie      3701 37.6 339     3627     3775  a    
 Chinstrap   3733 56.1 339     3623     3843  a    
 Gentoo      5076 41.7 339     4994     5158   b   
Confidence level used: 0.95 
P value adjustment: tukey method for comparing a family of 3 estimates 
significance level used: alpha = 0.05 
NOTE: If two or more means share the same grouping symbol,
      then we cannot show them to be different.
      But we also did not show them to be the same.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letters:</a:t>
            </a:r>
          </a:p>
          <a:p>
            <a:pPr lvl="0"/>
            <a:r>
              <a:rPr/>
              <a:t>Same letter → </a:t>
            </a:r>
            <a:r>
              <a:rPr b="1"/>
              <a:t>not</a:t>
            </a:r>
            <a:r>
              <a:rPr/>
              <a:t> significantly different</a:t>
            </a:r>
          </a:p>
          <a:p>
            <a:pPr lvl="0"/>
            <a:r>
              <a:rPr/>
              <a:t>Different letters → significantly different</a:t>
            </a:r>
          </a:p>
          <a:p>
            <a:pPr lvl="0" indent="0" marL="0">
              <a:buNone/>
            </a:pPr>
            <a:r>
              <a:rPr/>
              <a:t>This is the compact summary you see in published figures — one letter above each bar.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install.packages("multcomp")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Result — Means ± CI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mass_emm_plot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lower.CL,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upper.CL),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mean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mass_emm_plot</a:t>
            </a:r>
          </a:p>
        </p:txBody>
      </p:sp>
      <p:pic>
        <p:nvPicPr>
          <p:cNvPr descr="one_way_anova_2_lecture_files/figure-pptx/emmeans-plot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Estimated marginal means</a:t>
            </a:r>
            <a:r>
              <a:rPr/>
              <a:t> with 95% confidence intervals.</a:t>
            </a:r>
          </a:p>
          <a:p>
            <a:pPr lvl="0"/>
            <a:r>
              <a:rPr/>
              <a:t>Non-overlapping intervals hint at real differences</a:t>
            </a:r>
          </a:p>
          <a:p>
            <a:pPr lvl="0"/>
            <a:r>
              <a:rPr/>
              <a:t>Pair this plot with the letters for a publication-ready figure</a:t>
            </a:r>
          </a:p>
          <a:p>
            <a:pPr lvl="0" indent="0" marL="0">
              <a:buNone/>
            </a:pPr>
            <a:r>
              <a:rPr/>
              <a:t>The emmeans plot is the ANOVA cousin of Lecture 03’s mean ± SE plot.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an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F table values for reporting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  <a:p>
            <a:pPr lvl="0" indent="0" marL="1270000">
              <a:buNone/>
            </a:pPr>
            <a:r>
              <a:rPr sz="2000" i="1"/>
              <a:t>“Body mass differed significantly among the three penguin species (one-way ANOVA: F(2, 339) = 343.6, p &lt; 0.001). Tukey-adjusted comparisons showed all three species differed, with Gentoo heaviest and Adelie lightest.”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(one-way ANOVA)</a:t>
            </a:r>
          </a:p>
          <a:p>
            <a:pPr lvl="0"/>
            <a:r>
              <a:rPr b="1"/>
              <a:t>F</a:t>
            </a:r>
            <a:r>
              <a:rPr/>
              <a:t>, both </a:t>
            </a:r>
            <a:r>
              <a:rPr b="1"/>
              <a:t>df</a:t>
            </a:r>
            <a:r>
              <a:rPr/>
              <a:t>, and the </a:t>
            </a:r>
            <a:r>
              <a:rPr b="1"/>
              <a:t>p-value</a:t>
            </a:r>
          </a:p>
          <a:p>
            <a:pPr lvl="0"/>
            <a:r>
              <a:rPr/>
              <a:t>The post-hoc result (which groups differ)</a:t>
            </a:r>
          </a:p>
          <a:p>
            <a:pPr lvl="0"/>
            <a:r>
              <a:rPr/>
              <a:t>Group means ± SE or CI</a:t>
            </a:r>
          </a:p>
          <a:p>
            <a:pPr lvl="0" indent="0" marL="0">
              <a:buNone/>
            </a:pPr>
            <a:r>
              <a:rPr b="1"/>
              <a:t>Never</a:t>
            </a:r>
            <a:r>
              <a:rPr/>
              <a:t> write “p = 0.000” — use “p &lt; 0.001”.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9–11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emmeans pairwise test, get the letters, plot the means ± CI, and write your results sentence. Predict which species differ before you run the comparisons.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ANOVA rejects H₀ for the </a:t>
            </a:r>
            <a:r>
              <a:rPr i="1"/>
              <a:t>group</a:t>
            </a:r>
            <a:r>
              <a:rPr/>
              <a:t>, but </a:t>
            </a:r>
            <a:r>
              <a:rPr b="1"/>
              <a:t>post-hoc</a:t>
            </a:r>
            <a:r>
              <a:rPr/>
              <a:t> finds </a:t>
            </a:r>
            <a:r>
              <a:rPr i="1"/>
              <a:t>which</a:t>
            </a:r>
            <a:r>
              <a:rPr/>
              <a:t> pairs differ</a:t>
            </a:r>
          </a:p>
          <a:p>
            <a:pPr lvl="0"/>
            <a:r>
              <a:rPr b="1"/>
              <a:t>Tukey adjustment</a:t>
            </a:r>
            <a:r>
              <a:rPr/>
              <a:t> keeps the family-wise error at 0.05</a:t>
            </a:r>
          </a:p>
          <a:p>
            <a:pPr lvl="0"/>
            <a:r>
              <a:rPr/>
              <a:t>A compact letter display turns a pairwise table into one glance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>
                <a:latin typeface="Courier"/>
              </a:rPr>
              <a:t>car::Anova(model, type = "II")</a:t>
            </a:r>
          </a:p>
          <a:p>
            <a:pPr lvl="0"/>
            <a:r>
              <a:rPr>
                <a:latin typeface="Courier"/>
              </a:rPr>
              <a:t>emmeans(model, pairwise ~ group)</a:t>
            </a:r>
            <a:r>
              <a:rPr/>
              <a:t> + </a:t>
            </a:r>
            <a:r>
              <a:rPr>
                <a:latin typeface="Courier"/>
              </a:rPr>
              <a:t>multcomp::cld()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Up next — Lecture 15:</a:t>
            </a:r>
          </a:p>
          <a:p>
            <a:pPr lvl="0"/>
            <a:r>
              <a:rPr/>
              <a:t>Kicking off the </a:t>
            </a:r>
            <a:r>
              <a:rPr b="1"/>
              <a:t>final project</a:t>
            </a:r>
          </a:p>
          <a:p>
            <a:pPr lvl="0"/>
            <a:r>
              <a:rPr/>
              <a:t>Applying this whole toolkit — wrangling, plotting, and a test — to a dataset you choose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— One-Way ANOVA II: Running &amp; Reporting the Test</dc:title>
  <dc:creator>Bill Perry</dc:creator>
  <cp:keywords/>
  <dc:description>Running the one-way ANOVA with aov() and car::Anova(), finding WHICH penguin species differ with emmeans post-hoc tests, and writing a complete results sentence.</dc:description>
  <dcterms:created xsi:type="dcterms:W3CDTF">2026-09-04T20:06:41Z</dcterms:created>
  <dcterms:modified xsi:type="dcterms:W3CDTF">2026-09-04T20:06:41Z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Reading the F table, finding which groups differ,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