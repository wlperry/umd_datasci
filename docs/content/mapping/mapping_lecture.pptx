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.geocompx.org/" TargetMode="External" /><Relationship Id="rId3" Type="http://schemas.openxmlformats.org/officeDocument/2006/relationships/hyperlink" Target="https://r.geocompx.org/" TargetMode="External" /><Relationship Id="rId4" Type="http://schemas.openxmlformats.org/officeDocument/2006/relationships/hyperlink" Target="https://r.geocompx.org/" TargetMode="External" /><Relationship Id="rId5" Type="http://schemas.openxmlformats.org/officeDocument/2006/relationships/hyperlink" Target="https://r-spatial.github.io/sf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-spatial.github.io/sf/" TargetMode="External" /><Relationship Id="rId3" Type="http://schemas.openxmlformats.org/officeDocument/2006/relationships/hyperlink" Target="https://r.geocompx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Mapping: Where Is Bigfoot?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Spatial data, sf, and geom_sf with real Bigfoot sighting reports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Factors &amp; Joins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Factors</a:t>
            </a:r>
            <a:r>
              <a:rPr/>
              <a:t> — reordered and relabeled categories for readable plots</a:t>
            </a:r>
          </a:p>
          <a:p>
            <a:pPr lvl="0"/>
            <a:r>
              <a:rPr b="1"/>
              <a:t>Joins</a:t>
            </a:r>
            <a:r>
              <a:rPr/>
              <a:t> — combined a measurements table with a second table by a shared key</a:t>
            </a:r>
          </a:p>
          <a:p>
            <a:pPr lvl="0"/>
            <a:r>
              <a:rPr/>
              <a:t>Both skills come back </a:t>
            </a:r>
            <a:r>
              <a:rPr b="1"/>
              <a:t>today</a:t>
            </a:r>
            <a:r>
              <a:rPr/>
              <a:t>: we’ll join sighting counts onto a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wrangle, summarize, model, and join — today those skills point at a map instead of a table. Our dataset: </a:t>
            </a:r>
            <a:r>
              <a:rPr sz="2000" b="1"/>
              <a:t>~4,600 real Bigfoot sightings</a:t>
            </a:r>
            <a:r>
              <a:rPr sz="2000"/>
              <a:t> across the US, each with a latitude and longitude, ready to become points and then a choropleth. 🦶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spatial data</a:t>
            </a:r>
            <a:r>
              <a:rPr/>
              <a:t> — points, polygons, and coordinate systems</a:t>
            </a:r>
          </a:p>
          <a:p>
            <a:pPr lvl="0"/>
            <a:r>
              <a:rPr/>
              <a:t>Meet </a:t>
            </a:r>
            <a:r>
              <a:rPr b="1">
                <a:latin typeface="Courier"/>
              </a:rPr>
              <a:t>sf</a:t>
            </a:r>
            <a:r>
              <a:rPr/>
              <a:t> — a data frame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/>
              <a:t>Turn latitude/longitude into a map with </a:t>
            </a:r>
            <a:r>
              <a:rPr b="1">
                <a:latin typeface="Courier"/>
              </a:rPr>
              <a:t>geom_sf()</a:t>
            </a:r>
          </a:p>
          <a:p>
            <a:pPr lvl="0"/>
            <a:r>
              <a:rPr/>
              <a:t>Draw sighting </a:t>
            </a:r>
            <a:r>
              <a:rPr b="1"/>
              <a:t>points</a:t>
            </a:r>
            <a:r>
              <a:rPr/>
              <a:t> on a map of US states</a:t>
            </a:r>
          </a:p>
          <a:p>
            <a:pPr lvl="0"/>
            <a:r>
              <a:rPr/>
              <a:t>Build a </a:t>
            </a:r>
            <a:r>
              <a:rPr b="1"/>
              <a:t>choropleth</a:t>
            </a:r>
            <a:r>
              <a:rPr/>
              <a:t> — sightings per state — by </a:t>
            </a:r>
            <a:r>
              <a:rPr b="1"/>
              <a:t>joining</a:t>
            </a:r>
            <a:r>
              <a:rPr/>
              <a:t> counts to the map</a:t>
            </a:r>
          </a:p>
          <a:p>
            <a:pPr lvl="0"/>
            <a:r>
              <a:rPr/>
              <a:t>Reproject to a proper US look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sf</a:t>
            </a:r>
            <a:r>
              <a:rPr/>
              <a:t>, </a:t>
            </a:r>
            <a:r>
              <a:rPr>
                <a:latin typeface="Courier"/>
              </a:rPr>
              <a:t>maps</a:t>
            </a:r>
          </a:p>
          <a:p>
            <a:pPr lvl="0" indent="0" marL="0">
              <a:buNone/>
            </a:pPr>
            <a:r>
              <a:rPr b="1"/>
              <a:t>Data:</a:t>
            </a:r>
          </a:p>
          <a:p>
            <a:pPr lvl="0"/>
            <a:r>
              <a:rPr>
                <a:latin typeface="Courier"/>
              </a:rPr>
              <a:t>bfro_reports_geocoded.csv</a:t>
            </a:r>
            <a:r>
              <a:rPr/>
              <a:t> from Kaggle — save it to your </a:t>
            </a:r>
            <a:r>
              <a:rPr>
                <a:latin typeface="Courier"/>
              </a:rPr>
              <a:t>data/</a:t>
            </a:r>
            <a:r>
              <a:rPr/>
              <a:t> folder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+ </a:t>
            </a:r>
            <a:r>
              <a:rPr>
                <a:hlinkClick r:id="rId3"/>
                <a:latin typeface="Courier"/>
              </a:rPr>
              <a:t>sf</a:t>
            </a:r>
            <a:r>
              <a:rPr>
                <a:hlinkClick r:id="rId4"/>
              </a:rPr>
              <a:t> docs</a:t>
            </a:r>
            <a:r>
              <a:rPr/>
              <a:t> (Geocomputation with R)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sf package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points on a map. </a:t>
            </a:r>
            <a:r>
              <a:rPr sz="2000" b="1"/>
              <a:t>Day 2:</a:t>
            </a:r>
            <a:r>
              <a:rPr sz="2000"/>
              <a:t> choropleth + polish.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map,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draws, say where the points or the dark states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Naming the state you expect to be darkest </a:t>
            </a:r>
            <a:r>
              <a:rPr sz="2000" i="1"/>
              <a:t>before</a:t>
            </a:r>
            <a:r>
              <a:rPr sz="2000"/>
              <a:t> it renders is what makes you look at the result instead of admiring it.</a:t>
            </a:r>
          </a:p>
          <a:p>
            <a:pPr lvl="0"/>
            <a:r>
              <a:rPr sz="2000">
                <a:latin typeface="Courier"/>
              </a:rPr>
              <a:t>st_as_sf(coords = ..., crs = ...)</a:t>
            </a:r>
            <a:r>
              <a:rPr sz="2000"/>
              <a:t> and </a:t>
            </a:r>
            <a:r>
              <a:rPr sz="2000">
                <a:latin typeface="Courier"/>
              </a:rPr>
              <a:t>geom_sf()</a:t>
            </a:r>
            <a:r>
              <a:rPr sz="2000"/>
              <a:t> have a specific argument order — typing them is what makes it stick.</a:t>
            </a:r>
          </a:p>
          <a:p>
            <a:pPr lvl="0"/>
            <a:r>
              <a:rPr sz="2000"/>
              <a:t>Spatial objects, basemaps, joins and projections each get their own chunk, so a CRS mismatch doesn’t get confused with a join-key mismatch.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Spatial Data &amp; the sf Object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what spatial data is, coordinate systems, and turning latitude/longitude into an </a:t>
            </a:r>
            <a:r>
              <a:rPr>
                <a:latin typeface="Courier"/>
              </a:rPr>
              <a:t>sf</a:t>
            </a:r>
            <a:r>
              <a:rPr/>
              <a:t> object.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sightings, make them spatial).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Spatial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shapes cover almost everything:</a:t>
            </a:r>
          </a:p>
          <a:p>
            <a:pPr lvl="0"/>
            <a:r>
              <a:rPr b="1"/>
              <a:t>Points</a:t>
            </a:r>
            <a:r>
              <a:rPr/>
              <a:t> — a single location: one Bigfoot sighting = (longitude, latitude)</a:t>
            </a:r>
          </a:p>
          <a:p>
            <a:pPr lvl="0"/>
            <a:r>
              <a:rPr b="1"/>
              <a:t>Polygons</a:t>
            </a:r>
            <a:r>
              <a:rPr/>
              <a:t> — an area: the outline of a state or country</a:t>
            </a:r>
          </a:p>
          <a:p>
            <a:pPr lvl="0" indent="0" marL="0">
              <a:buNone/>
            </a:pPr>
            <a:r>
              <a:rPr/>
              <a:t>Both need a </a:t>
            </a:r>
            <a:r>
              <a:rPr b="1"/>
              <a:t>coordinate reference system (CRS)</a:t>
            </a:r>
            <a:r>
              <a:rPr/>
              <a:t> — the rulebook that says what the numbers mean.</a:t>
            </a:r>
          </a:p>
          <a:p>
            <a:pPr lvl="0"/>
            <a:r>
              <a:rPr b="1"/>
              <a:t>EPSG:4326</a:t>
            </a:r>
            <a:r>
              <a:rPr/>
              <a:t> (WGS84) — plain longitude/latitude, what GPS and our CSV use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CRS</a:t>
            </a:r>
            <a:r>
              <a:rPr sz="2000"/>
              <a:t> = Coordinate Reference System. Two maps won’t line up unless they share one. Lat/long is </a:t>
            </a:r>
            <a:r>
              <a:rPr sz="2000">
                <a:latin typeface="Courier"/>
              </a:rPr>
              <a:t>crs = 4326</a:t>
            </a:r>
            <a:r>
              <a:rPr sz="2000"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sf</a:t>
            </a:r>
            <a:r>
              <a:rPr/>
              <a:t> Package — a Data Frame with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+ the sighting data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(sf)       </a:t>
            </a:r>
            <a:r>
              <a:rPr>
                <a:solidFill>
                  <a:srgbClr val="5E5E5E"/>
                </a:solidFill>
                <a:latin typeface="Courier"/>
              </a:rPr>
              <a:t># simple features = spatial data frames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(maps)     </a:t>
            </a:r>
            <a:r>
              <a:rPr>
                <a:solidFill>
                  <a:srgbClr val="5E5E5E"/>
                </a:solidFill>
                <a:latin typeface="Courier"/>
              </a:rPr>
              <a:t># ready-made state/country outlines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Swap this path for your download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"data/bfro_reports_geocoded.csv"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(title, state, latitude, longitude, classification)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title                   state latitude longitude classification
  &lt;chr&gt;                   &lt;chr&gt;    &lt;dbl&gt;     &lt;dbl&gt; &lt;chr&gt;         
1 &lt;NA&gt;                    Alab…     NA        NA   Class B       
2 &lt;NA&gt;                    Alas…     NA        NA   Class A       
3 Report 6496: Bicycling… Rhod…     41.4     -71.5 Class A       
4 &lt;NA&gt;                    Penn…     NA        NA   Class B       
5 &lt;NA&gt;                    Oreg…     NA        NA   Class B       
6 Report 9765: Motorist … Okla…     35.3     -99.2 Class A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sf</a:t>
            </a:r>
            <a:r>
              <a:rPr/>
              <a:t> = “</a:t>
            </a:r>
            <a:r>
              <a:rPr b="1"/>
              <a:t>s</a:t>
            </a:r>
            <a:r>
              <a:rPr/>
              <a:t>imple </a:t>
            </a:r>
            <a:r>
              <a:rPr b="1"/>
              <a:t>f</a:t>
            </a:r>
            <a:r>
              <a:rPr/>
              <a:t>eatures” — the standard for spatial data in R</a:t>
            </a:r>
          </a:p>
          <a:p>
            <a:pPr lvl="0"/>
            <a:r>
              <a:rPr/>
              <a:t>An </a:t>
            </a:r>
            <a:r>
              <a:rPr>
                <a:latin typeface="Courier"/>
              </a:rPr>
              <a:t>sf</a:t>
            </a:r>
            <a:r>
              <a:rPr/>
              <a:t> object is a normal tibble </a:t>
            </a:r>
            <a:r>
              <a:rPr b="1"/>
              <a:t>plus a </a:t>
            </a:r>
            <a:r>
              <a:rPr b="1">
                <a:latin typeface="Courier"/>
              </a:rPr>
              <a:t>geometry</a:t>
            </a:r>
            <a:r>
              <a:rPr b="1"/>
              <a:t> column</a:t>
            </a:r>
          </a:p>
          <a:p>
            <a:pPr lvl="0"/>
            <a:r>
              <a:rPr/>
              <a:t>Everything you know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group_by()</a:t>
            </a:r>
            <a:r>
              <a:rPr/>
              <a:t> — still works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Coordinates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missing coords + keep the lower 48 ------------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(longitude))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(longitude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, longitude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66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latitude 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AD0000"/>
                </a:solidFill>
                <a:latin typeface="Courier"/>
              </a:rPr>
              <a:t>24</a:t>
            </a:r>
            <a:r>
              <a:rPr>
                <a:solidFill>
                  <a:srgbClr val="003B4F"/>
                </a:solidFill>
                <a:latin typeface="Courier"/>
              </a:rPr>
              <a:t>, latitude 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(bigfoot_df)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4031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Real coordinate data </a:t>
            </a:r>
            <a:r>
              <a:rPr b="1"/>
              <a:t>always</a:t>
            </a:r>
            <a:r>
              <a:rPr/>
              <a:t> has some missing values</a:t>
            </a:r>
          </a:p>
          <a:p>
            <a:pPr lvl="0"/>
            <a:r>
              <a:rPr/>
              <a:t>We also trim to the continental US so the map isn’t dominated by a few far-flung points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The next step (</a:t>
            </a:r>
            <a:r>
              <a:rPr sz="2000">
                <a:latin typeface="Courier"/>
              </a:rPr>
              <a:t>st_as_sf</a:t>
            </a:r>
            <a:r>
              <a:rPr sz="2000"/>
              <a:t>) </a:t>
            </a:r>
            <a:r>
              <a:rPr sz="2000" b="1"/>
              <a:t>errors</a:t>
            </a:r>
            <a:r>
              <a:rPr sz="2000"/>
              <a:t> if any latitude/longitude is </a:t>
            </a:r>
            <a:r>
              <a:rPr sz="2000">
                <a:latin typeface="Courier"/>
              </a:rPr>
              <a:t>NA</a:t>
            </a:r>
            <a:r>
              <a:rPr sz="2000"/>
              <a:t> — clean first, always.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Make It Spatial — </a:t>
            </a:r>
            <a:r>
              <a:rPr>
                <a:latin typeface="Courier"/>
              </a:rPr>
              <a:t>st_as_sf()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~4,600 rows of lat/long, plotted with </a:t>
            </a:r>
            <a:r>
              <a:rPr sz="2000" b="1"/>
              <a:t>no basemap</a:t>
            </a:r>
            <a:r>
              <a:rPr sz="2000"/>
              <a:t>. What shape will the cloud of points make?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geometry column from lon/lat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coords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"longitude"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"latitude"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Just the points — the USA appears on its own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(bigfoot_sf)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make-sf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930400"/>
            <a:ext cx="4432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coords = c("longitude", "latitude")</a:t>
            </a:r>
            <a:r>
              <a:rPr/>
              <a:t> — </a:t>
            </a:r>
            <a:r>
              <a:rPr b="1"/>
              <a:t>x first, then y</a:t>
            </a:r>
          </a:p>
          <a:p>
            <a:pPr lvl="0"/>
            <a:r>
              <a:rPr>
                <a:latin typeface="Courier"/>
              </a:rPr>
              <a:t>crs = 4326</a:t>
            </a:r>
            <a:r>
              <a:rPr/>
              <a:t> — tells sf these are lon/lat degrees</a:t>
            </a:r>
          </a:p>
          <a:p>
            <a:pPr lvl="0"/>
            <a:r>
              <a:rPr/>
              <a:t>The points alone trace the outline of the country — that’s the “aha” of spatial data</a:t>
            </a:r>
          </a:p>
          <a:p>
            <a:pPr lvl="0" indent="0" marL="0">
              <a:buNone/>
            </a:pPr>
            <a:r>
              <a:rPr/>
              <a:t>📖 sf: </a:t>
            </a:r>
            <a:r>
              <a:rPr>
                <a:latin typeface="Courier"/>
              </a:rPr>
              <a:t>st_as_sf()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sightings, clean the coordinates, make an </a:t>
            </a:r>
            <a:r>
              <a:rPr>
                <a:latin typeface="Courier"/>
              </a:rPr>
              <a:t>sf</a:t>
            </a:r>
            <a:r>
              <a:rPr/>
              <a:t> object, and plot the bare points. Predict the shape before you run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Points on a Real Map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adding a basemap of US states and layering the sightings on top, colored by class.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(draw the states + points).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 a Basemap — US States as </a:t>
            </a:r>
            <a:r>
              <a:rPr>
                <a:latin typeface="Courier"/>
              </a:rPr>
              <a:t>sf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the built-in state outlines into sf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states_sf &lt;-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maps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st_set_crs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Simple feature collection with 3 features and 1 field
Geometry type: MULTIPOLYGON
Dimension:     XY
Bounding box:  xmin: -114.8093 ymin: 30.24071 xmax: -84.90089 ymax: 37.00161
Geodetic CRS:  WGS 84
               ID                           geom
alabama   alabama MULTIPOLYGON (((-87.46201 3...
arizona   arizona MULTIPOLYGON (((-114.6374 3...
arkansas arkansas MULTIPOLYGON (((-94.05103 3...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maps::map("state", fill = TRUE)</a:t>
            </a:r>
            <a:r>
              <a:rPr/>
              <a:t> — polygon outlines of the lower 48, no download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 converts them to spatial features</a:t>
            </a:r>
          </a:p>
          <a:p>
            <a:pPr lvl="0"/>
            <a:r>
              <a:rPr>
                <a:latin typeface="Courier"/>
              </a:rPr>
              <a:t>st_set_crs(4326)</a:t>
            </a:r>
            <a:r>
              <a:rPr/>
              <a:t> — same lat/long system as our points, so they line 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ID</a:t>
            </a:r>
            <a:r>
              <a:rPr sz="2000"/>
              <a:t> column holds the state name (lowercase) — we’ll use it to join later.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Layer the Sightings on the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Densest cluster — Pacific Northwest, Southeast, or Plains? Commit before it draws.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Basemap first, then points on top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"grey75"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bigfoot_sf,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classification),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Across the Lower 48"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"Report class"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points-map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930400"/>
            <a:ext cx="4432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Order matters:</a:t>
            </a:r>
            <a:r>
              <a:rPr/>
              <a:t> draw states first, points second (on top)</a:t>
            </a:r>
          </a:p>
          <a:p>
            <a:pPr lvl="0"/>
            <a:r>
              <a:rPr>
                <a:latin typeface="Courier"/>
              </a:rPr>
              <a:t>aes(color = classification)</a:t>
            </a:r>
            <a:r>
              <a:rPr/>
              <a:t> — colors Class A / B / C reports</a:t>
            </a:r>
          </a:p>
          <a:p>
            <a:pPr lvl="0"/>
            <a:r>
              <a:rPr>
                <a:latin typeface="Courier"/>
              </a:rPr>
              <a:t>theme_void()</a:t>
            </a:r>
            <a:r>
              <a:rPr/>
              <a:t> — drop the axes and grid for a clean map</a:t>
            </a:r>
          </a:p>
          <a:p>
            <a:pPr lvl="0" indent="0" marL="0">
              <a:buNone/>
            </a:pPr>
            <a:r>
              <a:rPr/>
              <a:t>Notice the clusters — the Pacific Northwest lights up. 👀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points, polygons, and CRS</a:t>
            </a:r>
          </a:p>
          <a:p>
            <a:pPr lvl="0"/>
            <a:r>
              <a:rPr/>
              <a:t>Turn lat/long into an </a:t>
            </a:r>
            <a:r>
              <a:rPr>
                <a:latin typeface="Courier"/>
              </a:rPr>
              <a:t>sf</a:t>
            </a:r>
            <a:r>
              <a:rPr/>
              <a:t> object with </a:t>
            </a:r>
            <a:r>
              <a:rPr>
                <a:latin typeface="Courier"/>
              </a:rPr>
              <a:t>st_as_sf()</a:t>
            </a:r>
          </a:p>
          <a:p>
            <a:pPr lvl="0"/>
            <a:r>
              <a:rPr/>
              <a:t>Draw a basemap of states and layer points with </a:t>
            </a:r>
            <a:r>
              <a:rPr>
                <a:latin typeface="Courier"/>
              </a:rPr>
              <a:t>geom_sf()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choropleth:</a:t>
            </a:r>
          </a:p>
          <a:p>
            <a:pPr lvl="0"/>
            <a:r>
              <a:rPr/>
              <a:t>Count sightings per state</a:t>
            </a:r>
          </a:p>
          <a:p>
            <a:pPr lvl="0"/>
            <a:r>
              <a:rPr b="1"/>
              <a:t>Join</a:t>
            </a:r>
            <a:r>
              <a:rPr/>
              <a:t> those counts onto the map</a:t>
            </a:r>
          </a:p>
          <a:p>
            <a:pPr lvl="0"/>
            <a:r>
              <a:rPr/>
              <a:t>Shade each state, then reproject for a proper US look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Choropleth by State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counting sightings per state and </a:t>
            </a:r>
            <a:r>
              <a:rPr b="1"/>
              <a:t>joining</a:t>
            </a:r>
            <a:r>
              <a:rPr/>
              <a:t> them to the map to shade each state.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(count, join, shade).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Count Sightings per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Which state do you think has the most Bigfoot reports? Write your guess before you run </a:t>
            </a:r>
            <a:r>
              <a:rPr sz="2000">
                <a:latin typeface="Courier"/>
              </a:rPr>
              <a:t>count()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Sightings per state — lowercase to match the map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sightings_by_state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(state))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(sightings))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(sightings_by_state)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state      sightings
  &lt;chr&gt;          &lt;int&gt;
1 washington       538
2 ohio             283
3 florida          281
4 california       277
5 texas            218
6 illinois         210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count(state)</a:t>
            </a:r>
            <a:r>
              <a:rPr/>
              <a:t> — one row per state with its total</a:t>
            </a:r>
          </a:p>
          <a:p>
            <a:pPr lvl="0"/>
            <a:r>
              <a:rPr>
                <a:latin typeface="Courier"/>
              </a:rPr>
              <a:t>str_to_lower(state)</a:t>
            </a:r>
            <a:r>
              <a:rPr/>
              <a:t> — the map’s state names are </a:t>
            </a:r>
            <a:r>
              <a:rPr b="1"/>
              <a:t>lowercase</a:t>
            </a:r>
            <a:r>
              <a:rPr/>
              <a:t>, so we match them now</a:t>
            </a:r>
          </a:p>
          <a:p>
            <a:pPr lvl="0"/>
            <a:r>
              <a:rPr/>
              <a:t>This is a plain summary table — next we glue it to the geometry</a:t>
            </a:r>
          </a:p>
          <a:p>
            <a:pPr lvl="0" indent="0" marL="0">
              <a:buNone/>
            </a:pPr>
            <a:r>
              <a:rPr/>
              <a:t>📖 R4DS §16 — factors/strings for tidy keys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blank map)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</a:t>
            </a:r>
            <a:r>
              <a:rPr b="1"/>
              <a:t>skip</a:t>
            </a:r>
            <a:r>
              <a:rPr/>
              <a:t> the lowercase step, the join keys don’t match — </a:t>
            </a:r>
            <a:r>
              <a:rPr>
                <a:latin typeface="Courier"/>
              </a:rPr>
              <a:t>"Washington"</a:t>
            </a:r>
            <a:r>
              <a:rPr/>
              <a:t> ≠ </a:t>
            </a:r>
            <a:r>
              <a:rPr>
                <a:latin typeface="Courier"/>
              </a:rPr>
              <a:t>"washington"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"Washington" vs "washington"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(bigfoot_df, state),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Every state gets </a:t>
            </a:r>
            <a:r>
              <a:rPr>
                <a:latin typeface="Courier"/>
              </a:rPr>
              <a:t>NA</a:t>
            </a:r>
            <a:r>
              <a:rPr/>
              <a:t> sightings → the whole map renders </a:t>
            </a:r>
            <a:r>
              <a:rPr b="1"/>
              <a:t>grey</a:t>
            </a:r>
            <a:r>
              <a:rPr/>
              <a:t>. No error, just a blank choropleth.</a:t>
            </a:r>
          </a:p>
          <a:p>
            <a:pPr lvl="0" indent="0" marL="0">
              <a:buNone/>
            </a:pPr>
            <a:r>
              <a:rPr/>
              <a:t>The fix — make both keys the </a:t>
            </a:r>
            <a:r>
              <a:rPr b="1"/>
              <a:t>same case</a:t>
            </a:r>
            <a:r>
              <a:rPr/>
              <a:t> before joining (</a:t>
            </a:r>
            <a:r>
              <a:rPr>
                <a:latin typeface="Courier"/>
              </a:rPr>
              <a:t>str_to_lower()</a:t>
            </a:r>
            <a:r>
              <a:rPr/>
              <a:t>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blank choropleth?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left_join()</a:t>
            </a:r>
            <a:r>
              <a:rPr sz="2000"/>
              <a:t> doesn’t know that </a:t>
            </a:r>
            <a:r>
              <a:rPr sz="2000">
                <a:latin typeface="Courier"/>
              </a:rPr>
              <a:t>"Washington"</a:t>
            </a:r>
            <a:r>
              <a:rPr sz="2000"/>
              <a:t> and </a:t>
            </a:r>
            <a:r>
              <a:rPr sz="2000">
                <a:latin typeface="Courier"/>
              </a:rPr>
              <a:t>"washington"</a:t>
            </a:r>
            <a:r>
              <a:rPr sz="2000"/>
              <a:t> mean the same state — as far as R is concerned they’re two unrelated strings, so every row fails to match and </a:t>
            </a:r>
            <a:r>
              <a:rPr sz="2000">
                <a:latin typeface="Courier"/>
              </a:rPr>
              <a:t>sightings</a:t>
            </a:r>
            <a:r>
              <a:rPr sz="2000"/>
              <a:t> comes back </a:t>
            </a:r>
            <a:r>
              <a:rPr sz="2000">
                <a:latin typeface="Courier"/>
              </a:rPr>
              <a:t>NA</a:t>
            </a:r>
            <a:r>
              <a:rPr sz="2000"/>
              <a:t> everywhere. </a:t>
            </a:r>
            <a:r>
              <a:rPr sz="2000">
                <a:latin typeface="Courier"/>
              </a:rPr>
              <a:t>scale_fill_viridis_c()</a:t>
            </a:r>
            <a:r>
              <a:rPr sz="2000"/>
              <a:t> then has nothing to shade with, and you get a map that ran without a single error yet shows you nothing. Grey-everywhere is the signature of a key-mismatch, not a code bug.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Join Counts onto the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Join sightings to the state polygons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states_map &lt;- 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drop ":north" etc.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(ID, </a:t>
            </a:r>
            <a:r>
              <a:rPr>
                <a:solidFill>
                  <a:srgbClr val="20794D"/>
                </a:solidFill>
                <a:latin typeface="Courier"/>
              </a:rPr>
              <a:t>":.*"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(sightings_by_state,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choropleth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930400"/>
            <a:ext cx="4432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left_join()</a:t>
            </a:r>
            <a:r>
              <a:rPr/>
              <a:t> keeps </a:t>
            </a:r>
            <a:r>
              <a:rPr b="1"/>
              <a:t>every state</a:t>
            </a:r>
            <a:r>
              <a:rPr/>
              <a:t>, filling in its count</a:t>
            </a:r>
          </a:p>
          <a:p>
            <a:pPr lvl="0"/>
            <a:r>
              <a:rPr>
                <a:latin typeface="Courier"/>
              </a:rPr>
              <a:t>str_remove(ID, ":.*")</a:t>
            </a:r>
            <a:r>
              <a:rPr/>
              <a:t> merges split polygons (e.g. </a:t>
            </a:r>
            <a:r>
              <a:rPr>
                <a:latin typeface="Courier"/>
              </a:rPr>
              <a:t>michigan:north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geom_sf(aes(fill = sightings))</a:t>
            </a:r>
            <a:r>
              <a:rPr/>
              <a:t> shades each state</a:t>
            </a:r>
          </a:p>
          <a:p>
            <a:pPr lvl="0"/>
            <a:r>
              <a:rPr>
                <a:latin typeface="Courier"/>
              </a:rPr>
              <a:t>scale_fill_viridis_c()</a:t>
            </a:r>
            <a:r>
              <a:rPr/>
              <a:t> — a colorblind-safe gradient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b="1"/>
              <a:t>choropleth</a:t>
            </a:r>
            <a:r>
              <a:rPr/>
              <a:t> — the map </a:t>
            </a:r>
            <a:r>
              <a:rPr i="1"/>
              <a:t>is</a:t>
            </a:r>
            <a:r>
              <a:rPr/>
              <a:t> the bar chart.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 sightings per state, join them to the map, and shade the choropleth. Predict the top state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Polish &amp; Explore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proper US projection, and a fun exploration — sightings by season.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(reproject, then explore).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Reproject for a Proper US Look — </a:t>
            </a:r>
            <a:r>
              <a:rPr>
                <a:latin typeface="Courier"/>
              </a:rPr>
              <a:t>coord_sf()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Albers Equal-Area (EPSG:5070) — the "textbook" US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 (Albers projection)"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alber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Lat/long (</a:t>
            </a:r>
            <a:r>
              <a:rPr>
                <a:latin typeface="Courier"/>
              </a:rPr>
              <a:t>4326</a:t>
            </a:r>
            <a:r>
              <a:rPr/>
              <a:t>) stretches the US; </a:t>
            </a:r>
            <a:r>
              <a:rPr b="1"/>
              <a:t>Albers (</a:t>
            </a:r>
            <a:r>
              <a:rPr b="1">
                <a:latin typeface="Courier"/>
              </a:rPr>
              <a:t>5070</a:t>
            </a:r>
            <a:r>
              <a:rPr b="1"/>
              <a:t>)</a:t>
            </a:r>
            <a:r>
              <a:rPr/>
              <a:t> is the shape you expect</a:t>
            </a:r>
          </a:p>
          <a:p>
            <a:pPr lvl="0"/>
            <a:r>
              <a:rPr>
                <a:latin typeface="Courier"/>
              </a:rPr>
              <a:t>coord_sf(crs = 5070)</a:t>
            </a:r>
            <a:r>
              <a:rPr/>
              <a:t> reprojects </a:t>
            </a:r>
            <a:r>
              <a:rPr b="1"/>
              <a:t>just for display</a:t>
            </a:r>
            <a:r>
              <a:rPr/>
              <a:t> — your data is unchanged</a:t>
            </a:r>
          </a:p>
          <a:p>
            <a:pPr lvl="0"/>
            <a:r>
              <a:rPr/>
              <a:t>One line, and the map suddenly looks professional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Different jobs use different CRSs — equal-area for choropleths, web maps use </a:t>
            </a:r>
            <a:r>
              <a:rPr sz="2000">
                <a:latin typeface="Courier"/>
              </a:rPr>
              <a:t>3857</a:t>
            </a:r>
            <a:r>
              <a:rPr sz="2000"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— Sightings by Season 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which season do you think the most sightings are reported? (Think about who is outdoors, and when.)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 the point map by season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"Spring"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season)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season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930400"/>
            <a:ext cx="4432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 season)</a:t>
            </a:r>
            <a:r>
              <a:rPr/>
              <a:t> — one small map per season, same skill as any facet</a:t>
            </a:r>
          </a:p>
          <a:p>
            <a:pPr lvl="0"/>
            <a:r>
              <a:rPr/>
              <a:t>Summer dominates — more people outdoors = more reports (a sampling story!)</a:t>
            </a:r>
          </a:p>
          <a:p>
            <a:pPr lvl="0"/>
            <a:r>
              <a:rPr/>
              <a:t>This is how you’d explore </a:t>
            </a:r>
            <a:r>
              <a:rPr b="1"/>
              <a:t>any</a:t>
            </a:r>
            <a:r>
              <a:rPr/>
              <a:t> point dataset: filter, color, facet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Spatial data = </a:t>
            </a:r>
            <a:r>
              <a:rPr b="1"/>
              <a:t>points/polygons + a CRS</a:t>
            </a:r>
          </a:p>
          <a:p>
            <a:pPr lvl="0"/>
            <a:r>
              <a:rPr>
                <a:latin typeface="Courier"/>
              </a:rPr>
              <a:t>sf</a:t>
            </a:r>
            <a:r>
              <a:rPr/>
              <a:t> objects are tibbles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st_as_sf(coords = c("lon","lat"), crs = 4326)</a:t>
            </a:r>
            <a:r>
              <a:rPr/>
              <a:t> makes points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 draws layers; </a:t>
            </a:r>
            <a:r>
              <a:rPr b="1"/>
              <a:t>order matters</a:t>
            </a:r>
            <a:r>
              <a:rPr/>
              <a:t> (basemap first)</a:t>
            </a:r>
          </a:p>
          <a:p>
            <a:pPr lvl="0"/>
            <a:r>
              <a:rPr/>
              <a:t>A </a:t>
            </a:r>
            <a:r>
              <a:rPr b="1"/>
              <a:t>choropleth</a:t>
            </a:r>
            <a:r>
              <a:rPr/>
              <a:t> = counts </a:t>
            </a:r>
            <a:r>
              <a:rPr b="1"/>
              <a:t>joined</a:t>
            </a:r>
            <a:r>
              <a:rPr/>
              <a:t> to polygons, shaded by value</a:t>
            </a:r>
          </a:p>
          <a:p>
            <a:pPr lvl="0"/>
            <a:r>
              <a:rPr>
                <a:latin typeface="Courier"/>
              </a:rPr>
              <a:t>coord_sf(crs = ...)</a:t>
            </a:r>
            <a:r>
              <a:rPr/>
              <a:t> reprojects for display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, </a:t>
            </a:r>
            <a:r>
              <a:rPr>
                <a:latin typeface="Courier"/>
              </a:rPr>
              <a:t>st_set_crs()</a:t>
            </a:r>
            <a:r>
              <a:rPr/>
              <a:t>, </a:t>
            </a:r>
            <a:r>
              <a:rPr>
                <a:latin typeface="Courier"/>
              </a:rPr>
              <a:t>maps::map()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, </a:t>
            </a:r>
            <a:r>
              <a:rPr>
                <a:latin typeface="Courier"/>
              </a:rPr>
              <a:t>scale_fill_viridis_c()</a:t>
            </a:r>
            <a:r>
              <a:rPr/>
              <a:t>, </a:t>
            </a:r>
            <a:r>
              <a:rPr>
                <a:latin typeface="Courier"/>
              </a:rPr>
              <a:t>coord_sf()</a:t>
            </a:r>
          </a:p>
          <a:p>
            <a:pPr lvl="0"/>
            <a:r>
              <a:rPr>
                <a:latin typeface="Courier"/>
              </a:rPr>
              <a:t>count()</a:t>
            </a:r>
            <a:r>
              <a:rPr/>
              <a:t> + </a:t>
            </a:r>
            <a:r>
              <a:rPr>
                <a:latin typeface="Courier"/>
              </a:rPr>
              <a:t>left_join()</a:t>
            </a:r>
            <a:r>
              <a:rPr/>
              <a:t> + </a:t>
            </a:r>
            <a:r>
              <a:rPr>
                <a:latin typeface="Courier"/>
              </a:rPr>
              <a:t>str_to_lower()</a:t>
            </a:r>
            <a:r>
              <a:rPr/>
              <a:t> for the choropleth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🌐 </a:t>
            </a:r>
            <a:r>
              <a:rPr>
                <a:hlinkClick r:id="rId2"/>
              </a:rPr>
              <a:t>sf package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Geocomputation with R</a:t>
            </a:r>
          </a:p>
          <a:p>
            <a:pPr lvl="0" indent="0" marL="0">
              <a:buNone/>
            </a:pPr>
            <a:r>
              <a:rPr b="1"/>
              <a:t>Extension (out of class):</a:t>
            </a:r>
          </a:p>
          <a:p>
            <a:pPr lvl="0"/>
            <a:r>
              <a:rPr/>
              <a:t>Download </a:t>
            </a:r>
            <a:r>
              <a:rPr b="1"/>
              <a:t>your own</a:t>
            </a:r>
            <a:r>
              <a:rPr/>
              <a:t> species from </a:t>
            </a:r>
            <a:r>
              <a:rPr b="1"/>
              <a:t>GBIF</a:t>
            </a:r>
            <a:r>
              <a:rPr/>
              <a:t> with the </a:t>
            </a:r>
            <a:r>
              <a:rPr>
                <a:latin typeface="Courier"/>
              </a:rPr>
              <a:t>rgbif</a:t>
            </a:r>
            <a:r>
              <a:rPr/>
              <a:t> package and map where it lives — see the activity.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Mapping: Where Is Bigfoot?</dc:title>
  <dc:creator>Bill Perry</dc:creator>
  <cp:keywords/>
  <dc:description>A 2-day intro to maps in R. Spatial data and coordinate systems, the sf package, turning latitude/longitude into a map with geom_sf(), drawing points on US states, and building a per-state choropleth by joining counts to the map — all with ~4,600 real Bigfoot sighting reports.</dc:description>
  <dcterms:created xsi:type="dcterms:W3CDTF">2026-10-08T13:39:49Z</dcterms:created>
  <dcterms:modified xsi:type="dcterms:W3CDTF">2026-10-08T13:39:49Z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23</vt:lpwstr>
  </property>
  <property fmtid="{D5CDD505-2E9C-101B-9397-08002B2CF9AE}" pid="13" name="resources">
    <vt:lpwstr/>
  </property>
  <property fmtid="{D5CDD505-2E9C-101B-9397-08002B2CF9AE}" pid="14" name="subtitle">
    <vt:lpwstr>Spatial data, sf, and geom_sf with real Bigfoot sighting reports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12</vt:lpwstr>
  </property>
</Properties>
</file>