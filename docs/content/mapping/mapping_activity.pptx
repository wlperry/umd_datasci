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kaggle.com/datasets/thedevastator/unlocking-mysteries-of-bigfoot-through-sightings"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spatial.github.io/sf/"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Worksheet — Mapping Bigfoot Sightings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Turn latitude/longitude into maps with sf and geom_sf, then build a per-state choropleth</a:t>
            </a:r>
            <a:br/>
            <a:br/>
            <a:r>
              <a:rPr/>
              <a:t>Bill Perry</a:t>
            </a:r>
          </a:p>
        </p:txBody>
      </p:sp>
      <p:sp>
        <p:nvSpPr>
          <p:cNvPr id="4" name="Date Placeholder 3"/>
          <p:cNvSpPr>
            <a:spLocks noGrp="1"/>
          </p:cNvSpPr>
          <p:nvPr>
            <p:ph idx="10" sz="half" type="dt"/>
          </p:nvPr>
        </p:nvSpPr>
        <p:spPr/>
        <p:txBody>
          <a:bodyPr/>
          <a:lstStyle/>
          <a:p>
            <a:pPr lvl="0" indent="0" marL="0">
              <a:buNone/>
            </a:pPr>
            <a:r>
              <a:rPr/>
              <a:t>2026-08-27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Mapping Bigfoot 🦶</a:t>
            </a:r>
          </a:p>
        </p:txBody>
      </p:sp>
      <p:sp>
        <p:nvSpPr>
          <p:cNvPr id="3" name="Content Placeholder 2"/>
          <p:cNvSpPr>
            <a:spLocks noGrp="1"/>
          </p:cNvSpPr>
          <p:nvPr>
            <p:ph idx="1"/>
          </p:nvPr>
        </p:nvSpPr>
        <p:spPr/>
        <p:txBody>
          <a:bodyPr/>
          <a:lstStyle/>
          <a:p>
            <a:pPr lvl="0" indent="0" marL="0">
              <a:spcBef>
                <a:spcPts val="3000"/>
              </a:spcBef>
              <a:buNone/>
            </a:pPr>
            <a:r>
              <a:rPr b="1"/>
              <a:t>Before you start — get the data</a:t>
            </a:r>
          </a:p>
          <a:p>
            <a:pPr lvl="0" indent="0" marL="0">
              <a:buNone/>
            </a:pPr>
            <a:r>
              <a:rPr/>
              <a:t>Download </a:t>
            </a:r>
            <a:r>
              <a:rPr b="1">
                <a:latin typeface="Courier"/>
              </a:rPr>
              <a:t>bfro_reports_geocoded.csv</a:t>
            </a:r>
            <a:r>
              <a:rPr/>
              <a:t> from Kaggle (</a:t>
            </a:r>
            <a:r>
              <a:rPr>
                <a:hlinkClick r:id="rId2"/>
              </a:rPr>
              <a:t>https://www.kaggle.com/datasets/thedevastator/unlocking-mysteries-of-bigfoot-through-sightings</a:t>
            </a:r>
            <a:r>
              <a:rPr/>
              <a:t>) and save it into your project’s </a:t>
            </a:r>
            <a:r>
              <a:rPr>
                <a:latin typeface="Courier"/>
              </a:rPr>
              <a:t>data/</a:t>
            </a:r>
            <a:r>
              <a:rPr/>
              <a:t> folder. It has ~4,600 sightings with </a:t>
            </a:r>
            <a:r>
              <a:rPr>
                <a:latin typeface="Courier"/>
              </a:rPr>
              <a:t>latitude</a:t>
            </a:r>
            <a:r>
              <a:rPr/>
              <a:t>, </a:t>
            </a:r>
            <a:r>
              <a:rPr>
                <a:latin typeface="Courier"/>
              </a:rPr>
              <a:t>longitude</a:t>
            </a:r>
            <a:r>
              <a:rPr/>
              <a:t>, </a:t>
            </a:r>
            <a:r>
              <a:rPr>
                <a:latin typeface="Courier"/>
              </a:rPr>
              <a:t>state</a:t>
            </a:r>
            <a:r>
              <a:rPr/>
              <a:t>, </a:t>
            </a:r>
            <a:r>
              <a:rPr>
                <a:latin typeface="Courier"/>
              </a:rPr>
              <a:t>season</a:t>
            </a:r>
            <a:r>
              <a:rPr/>
              <a:t>, and </a:t>
            </a:r>
            <a:r>
              <a:rPr>
                <a:latin typeface="Courier"/>
              </a:rPr>
              <a:t>classification</a:t>
            </a:r>
            <a:r>
              <a:rPr/>
              <a:t>.</a:t>
            </a:r>
          </a:p>
          <a:p>
            <a:pPr lvl="0" indent="0" marL="0">
              <a:spcBef>
                <a:spcPts val="3000"/>
              </a:spcBef>
              <a:buNone/>
            </a:pPr>
            <a:r>
              <a:rPr b="1"/>
              <a:t>Today’s Objectives (a 2-day worksheet)</a:t>
            </a:r>
          </a:p>
          <a:p>
            <a:pPr lvl="0" indent="-342900" marL="342900">
              <a:buAutoNum type="arabicPeriod"/>
            </a:pPr>
            <a:r>
              <a:rPr/>
              <a:t>Make latitude/longitude into a spatial </a:t>
            </a:r>
            <a:r>
              <a:rPr>
                <a:latin typeface="Courier"/>
              </a:rPr>
              <a:t>sf</a:t>
            </a:r>
            <a:r>
              <a:rPr/>
              <a:t> object</a:t>
            </a:r>
          </a:p>
          <a:p>
            <a:pPr lvl="0" indent="-342900" marL="342900">
              <a:buAutoNum type="arabicPeriod"/>
            </a:pPr>
            <a:r>
              <a:rPr/>
              <a:t>Draw sighting points on a map of US states</a:t>
            </a:r>
          </a:p>
          <a:p>
            <a:pPr lvl="0" indent="-342900" marL="342900">
              <a:buAutoNum type="arabicPeriod"/>
            </a:pPr>
            <a:r>
              <a:rPr/>
              <a:t>Count sightings per state and </a:t>
            </a:r>
            <a:r>
              <a:rPr b="1"/>
              <a:t>join</a:t>
            </a:r>
            <a:r>
              <a:rPr/>
              <a:t> them to the map</a:t>
            </a:r>
          </a:p>
          <a:p>
            <a:pPr lvl="0" indent="-342900" marL="342900">
              <a:buAutoNum type="arabicPeriod"/>
            </a:pPr>
            <a:r>
              <a:rPr/>
              <a:t>Shade a choropleth and reproject it for a proper US look</a:t>
            </a:r>
          </a:p>
          <a:p>
            <a:pPr lvl="0" indent="0" marL="0">
              <a:spcBef>
                <a:spcPts val="3000"/>
              </a:spcBef>
              <a:buNone/>
            </a:pPr>
            <a:r>
              <a:rPr sz="2000" b="1"/>
              <a:t>How to use this worksheet</a:t>
            </a:r>
          </a:p>
          <a:p>
            <a:pPr lvl="0"/>
            <a:r>
              <a:rPr sz="2000"/>
              <a:t>Work through the parts in order. Type the code into a new R script and run it line by line.</a:t>
            </a:r>
          </a:p>
          <a:p>
            <a:pPr lvl="0"/>
            <a:r>
              <a:rPr sz="2000"/>
              <a:t>Blocks marked </a:t>
            </a:r>
            <a:r>
              <a:rPr sz="2000" b="1"/>
              <a:t>▶ Run this</a:t>
            </a:r>
            <a:r>
              <a:rPr sz="2000"/>
              <a:t> should be executed as written.</a:t>
            </a:r>
          </a:p>
          <a:p>
            <a:pPr lvl="0"/>
            <a:r>
              <a:rPr sz="2000"/>
              <a:t>Blocks marked </a:t>
            </a:r>
            <a:r>
              <a:rPr sz="2000" b="1"/>
              <a:t>✏️ Your turn</a:t>
            </a:r>
            <a:r>
              <a:rPr sz="2000"/>
              <a:t> ask you to write, modify, or interpret.</a:t>
            </a:r>
          </a:p>
          <a:p>
            <a:pPr lvl="0"/>
            <a:r>
              <a:rPr sz="2000" b="1"/>
              <a:t>Day 1 = Parts 1–6. Day 2 = Parts 7–12.</a:t>
            </a:r>
          </a:p>
          <a:p>
            <a:pPr lvl="0" indent="0" marL="1270000">
              <a:buNone/>
            </a:pPr>
            <a:r>
              <a:rPr sz="2000" b="1"/>
              <a:t>🔮 Predict before you run — and type, don’t paste</a:t>
            </a:r>
          </a:p>
          <a:p>
            <a:pPr lvl="0" indent="0" marL="1270000">
              <a:buNone/>
            </a:pPr>
            <a:r>
              <a:rPr sz="2000"/>
              <a:t>Before each map draws, name the region or state you expect to stand out. Then type the code yourself — </a:t>
            </a:r>
            <a:r>
              <a:rPr sz="2000">
                <a:latin typeface="Courier"/>
              </a:rPr>
              <a:t>st_as_sf()</a:t>
            </a:r>
            <a:r>
              <a:rPr sz="2000"/>
              <a:t>, </a:t>
            </a:r>
            <a:r>
              <a:rPr sz="2000">
                <a:latin typeface="Courier"/>
              </a:rPr>
              <a:t>geom_sf()</a:t>
            </a:r>
            <a:r>
              <a:rPr sz="2000"/>
              <a:t>, and </a:t>
            </a:r>
            <a:r>
              <a:rPr sz="2000">
                <a:latin typeface="Courier"/>
              </a:rPr>
              <a:t>coord_sf()</a:t>
            </a:r>
            <a:r>
              <a:rPr sz="2000"/>
              <a:t> all take arguments in a specific order (</a:t>
            </a:r>
            <a:r>
              <a:rPr sz="2000">
                <a:latin typeface="Courier"/>
              </a:rPr>
              <a:t>coords = c("longitude", "latitude")</a:t>
            </a:r>
            <a:r>
              <a:rPr sz="2000"/>
              <a:t>, </a:t>
            </a:r>
            <a:r>
              <a:rPr sz="2000">
                <a:latin typeface="Courier"/>
              </a:rPr>
              <a:t>crs = 4326</a:t>
            </a:r>
            <a:r>
              <a:rPr sz="2000"/>
              <a:t>), and typing them is what keeps that order from slipping the next time you write it from scratch.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1 — Make it spatial </a:t>
            </a:r>
            <a:r>
              <a:rPr sz="2000" b="1" i="1"/>
              <a:t>(Day 1, after lecture Chunk 1)</a:t>
            </a:r>
          </a:p>
          <a:p>
            <a:pPr lvl="0" indent="0" marL="1270000">
              <a:buNone/>
            </a:pPr>
            <a:r>
              <a:rPr sz="2000"/>
              <a:t>Parts 1–3: load the sightings, clean coordinates, and build an </a:t>
            </a:r>
            <a:r>
              <a:rPr sz="2000">
                <a:latin typeface="Courier"/>
              </a:rPr>
              <a:t>sf</a:t>
            </a:r>
            <a:r>
              <a:rPr sz="2000"/>
              <a:t> object.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Load libraries and data</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(sf)     </a:t>
            </a:r>
            <a:r>
              <a:rPr>
                <a:solidFill>
                  <a:srgbClr val="5E5E5E"/>
                </a:solidFill>
                <a:latin typeface="Courier"/>
              </a:rPr>
              <a:t># spatial data frames</a:t>
            </a:r>
            <a:br/>
            <a:r>
              <a:rPr>
                <a:solidFill>
                  <a:srgbClr val="4758AB"/>
                </a:solidFill>
                <a:latin typeface="Courier"/>
              </a:rPr>
              <a:t>library</a:t>
            </a:r>
            <a:r>
              <a:rPr>
                <a:solidFill>
                  <a:srgbClr val="003B4F"/>
                </a:solidFill>
                <a:latin typeface="Courier"/>
              </a:rPr>
              <a:t>(maps)   </a:t>
            </a:r>
            <a:r>
              <a:rPr>
                <a:solidFill>
                  <a:srgbClr val="5E5E5E"/>
                </a:solidFill>
                <a:latin typeface="Courier"/>
              </a:rPr>
              <a:t># ready-made state outlines</a:t>
            </a:r>
            <a:br/>
            <a:br/>
            <a:r>
              <a:rPr>
                <a:solidFill>
                  <a:srgbClr val="5E5E5E"/>
                </a:solidFill>
                <a:latin typeface="Courier"/>
              </a:rPr>
              <a:t># Swap this path for your download -----------------------</a:t>
            </a:r>
            <a:br/>
            <a:r>
              <a:rPr>
                <a:solidFill>
                  <a:srgbClr val="003B4F"/>
                </a:solidFill>
                <a:latin typeface="Courier"/>
              </a:rPr>
              <a:t>bigfoot_df &lt;- </a:t>
            </a:r>
            <a:r>
              <a:rPr>
                <a:solidFill>
                  <a:srgbClr val="4758AB"/>
                </a:solidFill>
                <a:latin typeface="Courier"/>
              </a:rPr>
              <a:t>read_csv</a:t>
            </a:r>
            <a:r>
              <a:rPr>
                <a:solidFill>
                  <a:srgbClr val="003B4F"/>
                </a:solidFill>
                <a:latin typeface="Courier"/>
              </a:rPr>
              <a:t>(</a:t>
            </a:r>
            <a:r>
              <a:rPr>
                <a:solidFill>
                  <a:srgbClr val="20794D"/>
                </a:solidFill>
                <a:latin typeface="Courier"/>
              </a:rPr>
              <a:t>"data/bfro_reports_geocoded.csv"</a:t>
            </a:r>
            <a:r>
              <a:rPr>
                <a:solidFill>
                  <a:srgbClr val="003B4F"/>
                </a:solidFill>
                <a:latin typeface="Courier"/>
              </a:rPr>
              <a:t>)</a:t>
            </a:r>
            <a:br/>
            <a:br/>
            <a:r>
              <a:rPr>
                <a:solidFill>
                  <a:srgbClr val="003B4F"/>
                </a:solidFill>
                <a:latin typeface="Courier"/>
              </a:rPr>
              <a:t>bigfoot_df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(title, state, latitude, longitude, classification, season)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p>
          <a:p>
            <a:pPr lvl="0" indent="0" marL="0">
              <a:buNone/>
            </a:pPr>
            <a:r>
              <a:rPr/>
              <a:t>✏️ </a:t>
            </a:r>
            <a:r>
              <a:rPr b="1"/>
              <a:t>Your turn:</a:t>
            </a:r>
            <a:r>
              <a:rPr/>
              <a:t> How many rows and columns does the raw file have? Run </a:t>
            </a:r>
            <a:r>
              <a:rPr>
                <a:latin typeface="Courier"/>
              </a:rPr>
              <a:t>dim(bigfoot_df)</a:t>
            </a:r>
            <a:r>
              <a:rPr/>
              <a:t>.</a:t>
            </a:r>
          </a:p>
          <a:p>
            <a:pPr lvl="0" indent="0">
              <a:buNone/>
            </a:pPr>
            <a:r>
              <a:rPr>
                <a:latin typeface="Courier"/>
              </a:rPr>
              <a:t>Rows:            Columns:
What does one row represent?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Clean the coordinates</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Drop missing coords + keep the lower 48 ----------------</a:t>
            </a:r>
            <a:br/>
            <a:r>
              <a:rPr>
                <a:solidFill>
                  <a:srgbClr val="003B4F"/>
                </a:solidFill>
                <a:latin typeface="Courier"/>
              </a:rPr>
              <a:t>bigfoot_df &lt;- bigfoot_df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(latitude), </a:t>
            </a:r>
            <a:r>
              <a:rPr>
                <a:solidFill>
                  <a:srgbClr val="5E5E5E"/>
                </a:solidFill>
                <a:latin typeface="Courier"/>
              </a:rPr>
              <a:t>!</a:t>
            </a:r>
            <a:r>
              <a:rPr>
                <a:solidFill>
                  <a:srgbClr val="4758AB"/>
                </a:solidFill>
                <a:latin typeface="Courier"/>
              </a:rPr>
              <a:t>is.na</a:t>
            </a:r>
            <a:r>
              <a:rPr>
                <a:solidFill>
                  <a:srgbClr val="003B4F"/>
                </a:solidFill>
                <a:latin typeface="Courier"/>
              </a:rPr>
              <a:t>(longitude))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(longitude </a:t>
            </a:r>
            <a:r>
              <a:rPr>
                <a:solidFill>
                  <a:srgbClr val="5E5E5E"/>
                </a:solidFill>
                <a:latin typeface="Courier"/>
              </a:rPr>
              <a:t>&gt;</a:t>
            </a:r>
            <a:r>
              <a:rPr>
                <a:solidFill>
                  <a:srgbClr val="003B4F"/>
                </a:solidFill>
                <a:latin typeface="Courier"/>
              </a:rPr>
              <a:t> </a:t>
            </a:r>
            <a:r>
              <a:rPr>
                <a:solidFill>
                  <a:srgbClr val="5E5E5E"/>
                </a:solidFill>
                <a:latin typeface="Courier"/>
              </a:rPr>
              <a:t>-</a:t>
            </a:r>
            <a:r>
              <a:rPr>
                <a:solidFill>
                  <a:srgbClr val="AD0000"/>
                </a:solidFill>
                <a:latin typeface="Courier"/>
              </a:rPr>
              <a:t>125</a:t>
            </a:r>
            <a:r>
              <a:rPr>
                <a:solidFill>
                  <a:srgbClr val="003B4F"/>
                </a:solidFill>
                <a:latin typeface="Courier"/>
              </a:rPr>
              <a:t>, longitude </a:t>
            </a:r>
            <a:r>
              <a:rPr>
                <a:solidFill>
                  <a:srgbClr val="5E5E5E"/>
                </a:solidFill>
                <a:latin typeface="Courier"/>
              </a:rPr>
              <a:t>&lt;</a:t>
            </a:r>
            <a:r>
              <a:rPr>
                <a:solidFill>
                  <a:srgbClr val="003B4F"/>
                </a:solidFill>
                <a:latin typeface="Courier"/>
              </a:rPr>
              <a:t> </a:t>
            </a:r>
            <a:r>
              <a:rPr>
                <a:solidFill>
                  <a:srgbClr val="5E5E5E"/>
                </a:solidFill>
                <a:latin typeface="Courier"/>
              </a:rPr>
              <a:t>-</a:t>
            </a:r>
            <a:r>
              <a:rPr>
                <a:solidFill>
                  <a:srgbClr val="AD0000"/>
                </a:solidFill>
                <a:latin typeface="Courier"/>
              </a:rPr>
              <a:t>66</a:t>
            </a:r>
            <a:r>
              <a:rPr>
                <a:solidFill>
                  <a:srgbClr val="003B4F"/>
                </a:solidFill>
                <a:latin typeface="Courier"/>
              </a:rPr>
              <a:t>,</a:t>
            </a:r>
            <a:br/>
            <a:r>
              <a:rPr>
                <a:solidFill>
                  <a:srgbClr val="003B4F"/>
                </a:solidFill>
                <a:latin typeface="Courier"/>
              </a:rPr>
              <a:t>         latitude  </a:t>
            </a:r>
            <a:r>
              <a:rPr>
                <a:solidFill>
                  <a:srgbClr val="5E5E5E"/>
                </a:solidFill>
                <a:latin typeface="Courier"/>
              </a:rPr>
              <a:t>&gt;</a:t>
            </a:r>
            <a:r>
              <a:rPr>
                <a:solidFill>
                  <a:srgbClr val="003B4F"/>
                </a:solidFill>
                <a:latin typeface="Courier"/>
              </a:rPr>
              <a:t>   </a:t>
            </a:r>
            <a:r>
              <a:rPr>
                <a:solidFill>
                  <a:srgbClr val="AD0000"/>
                </a:solidFill>
                <a:latin typeface="Courier"/>
              </a:rPr>
              <a:t>24</a:t>
            </a:r>
            <a:r>
              <a:rPr>
                <a:solidFill>
                  <a:srgbClr val="003B4F"/>
                </a:solidFill>
                <a:latin typeface="Courier"/>
              </a:rPr>
              <a:t>, latitude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a:t>
            </a:r>
            <a:br/>
            <a:br/>
            <a:r>
              <a:rPr>
                <a:solidFill>
                  <a:srgbClr val="4758AB"/>
                </a:solidFill>
                <a:latin typeface="Courier"/>
              </a:rPr>
              <a:t>nrow</a:t>
            </a:r>
            <a:r>
              <a:rPr>
                <a:solidFill>
                  <a:srgbClr val="003B4F"/>
                </a:solidFill>
                <a:latin typeface="Courier"/>
              </a:rPr>
              <a:t>(bigfoot_df)</a:t>
            </a:r>
          </a:p>
          <a:p>
            <a:pPr lvl="0" indent="0" marL="0">
              <a:buNone/>
            </a:pPr>
            <a:r>
              <a:rPr/>
              <a:t>✏️ </a:t>
            </a:r>
            <a:r>
              <a:rPr b="1"/>
              <a:t>Your turn:</a:t>
            </a:r>
            <a:r>
              <a:rPr/>
              <a:t> How many rows remain? Why must we drop missing coordinates </a:t>
            </a:r>
            <a:r>
              <a:rPr i="1"/>
              <a:t>before</a:t>
            </a:r>
            <a:r>
              <a:rPr/>
              <a:t> the next step?</a:t>
            </a:r>
          </a:p>
          <a:p>
            <a:pPr lvl="0" indent="0">
              <a:buNone/>
            </a:pPr>
            <a:r>
              <a:rPr>
                <a:latin typeface="Courier"/>
              </a:rPr>
              <a:t>Rows remaining:
Why drop NA coords first: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Build the </a:t>
            </a:r>
            <a:r>
              <a:rPr>
                <a:latin typeface="Courier"/>
              </a:rPr>
              <a:t>sf</a:t>
            </a:r>
            <a:r>
              <a:rPr/>
              <a:t> object</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You’re about to plot ~4,600 points with NO basemap. What shape will the cloud of points make?</a:t>
            </a:r>
          </a:p>
          <a:p>
            <a:pPr lvl="0" indent="0" marL="0">
              <a:buNone/>
            </a:pPr>
            <a:r>
              <a:rPr b="1"/>
              <a:t>▶ Run this:</a:t>
            </a:r>
          </a:p>
          <a:p>
            <a:pPr lvl="0" indent="0">
              <a:buNone/>
            </a:pPr>
            <a:r>
              <a:rPr>
                <a:solidFill>
                  <a:srgbClr val="5E5E5E"/>
                </a:solidFill>
                <a:latin typeface="Courier"/>
              </a:rPr>
              <a:t># Turn lon/lat into a geometry column --------------------</a:t>
            </a:r>
            <a:br/>
            <a:r>
              <a:rPr>
                <a:solidFill>
                  <a:srgbClr val="003B4F"/>
                </a:solidFill>
                <a:latin typeface="Courier"/>
              </a:rPr>
              <a:t>bigfoot_sf &lt;- bigfoot_df </a:t>
            </a:r>
            <a:r>
              <a:rPr>
                <a:solidFill>
                  <a:srgbClr val="5E5E5E"/>
                </a:solidFill>
                <a:latin typeface="Courier"/>
              </a:rPr>
              <a:t>%&gt;%</a:t>
            </a:r>
            <a:br/>
            <a:r>
              <a:rPr>
                <a:solidFill>
                  <a:srgbClr val="003B4F"/>
                </a:solidFill>
                <a:latin typeface="Courier"/>
              </a:rPr>
              <a:t>  </a:t>
            </a:r>
            <a:r>
              <a:rPr>
                <a:solidFill>
                  <a:srgbClr val="4758AB"/>
                </a:solidFill>
                <a:latin typeface="Courier"/>
              </a:rPr>
              <a:t>st_as_sf</a:t>
            </a:r>
            <a:r>
              <a:rPr>
                <a:solidFill>
                  <a:srgbClr val="003B4F"/>
                </a:solidFill>
                <a:latin typeface="Courier"/>
              </a:rPr>
              <a:t>(</a:t>
            </a:r>
            <a:r>
              <a:rPr>
                <a:solidFill>
                  <a:srgbClr val="657422"/>
                </a:solidFill>
                <a:latin typeface="Courier"/>
              </a:rPr>
              <a:t>coords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"longitude"</a:t>
            </a:r>
            <a:r>
              <a:rPr>
                <a:solidFill>
                  <a:srgbClr val="003B4F"/>
                </a:solidFill>
                <a:latin typeface="Courier"/>
              </a:rPr>
              <a:t>, </a:t>
            </a:r>
            <a:r>
              <a:rPr>
                <a:solidFill>
                  <a:srgbClr val="20794D"/>
                </a:solidFill>
                <a:latin typeface="Courier"/>
              </a:rPr>
              <a:t>"latitude"</a:t>
            </a:r>
            <a:r>
              <a:rPr>
                <a:solidFill>
                  <a:srgbClr val="003B4F"/>
                </a:solidFill>
                <a:latin typeface="Courier"/>
              </a:rPr>
              <a:t>), </a:t>
            </a:r>
            <a:r>
              <a:rPr>
                <a:solidFill>
                  <a:srgbClr val="657422"/>
                </a:solidFill>
                <a:latin typeface="Courier"/>
              </a:rPr>
              <a:t>crs =</a:t>
            </a:r>
            <a:r>
              <a:rPr>
                <a:solidFill>
                  <a:srgbClr val="003B4F"/>
                </a:solidFill>
                <a:latin typeface="Courier"/>
              </a:rPr>
              <a:t> </a:t>
            </a:r>
            <a:r>
              <a:rPr>
                <a:solidFill>
                  <a:srgbClr val="AD0000"/>
                </a:solidFill>
                <a:latin typeface="Courier"/>
              </a:rPr>
              <a:t>4326</a:t>
            </a:r>
            <a:r>
              <a:rPr>
                <a:solidFill>
                  <a:srgbClr val="003B4F"/>
                </a:solidFill>
                <a:latin typeface="Courier"/>
              </a:rPr>
              <a:t>)</a:t>
            </a:r>
            <a:br/>
            <a:br/>
            <a:r>
              <a:rPr>
                <a:solidFill>
                  <a:srgbClr val="4758AB"/>
                </a:solidFill>
                <a:latin typeface="Courier"/>
              </a:rPr>
              <a:t>ggplot</a:t>
            </a:r>
            <a:r>
              <a:rPr>
                <a:solidFill>
                  <a:srgbClr val="003B4F"/>
                </a:solidFill>
                <a:latin typeface="Courier"/>
              </a:rPr>
              <a:t>(bigfoot_sf) </a:t>
            </a:r>
            <a:r>
              <a:rPr>
                <a:solidFill>
                  <a:srgbClr val="5E5E5E"/>
                </a:solidFill>
                <a:latin typeface="Courier"/>
              </a:rPr>
              <a:t>+</a:t>
            </a:r>
            <a:br/>
            <a:r>
              <a:rPr>
                <a:solidFill>
                  <a:srgbClr val="003B4F"/>
                </a:solidFill>
                <a:latin typeface="Courier"/>
              </a:rPr>
              <a:t>  </a:t>
            </a:r>
            <a:r>
              <a:rPr>
                <a:solidFill>
                  <a:srgbClr val="4758AB"/>
                </a:solidFill>
                <a:latin typeface="Courier"/>
              </a:rPr>
              <a:t>geom_sf</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 </a:t>
            </a:r>
            <a:r>
              <a:rPr b="1"/>
              <a:t>Your turn:</a:t>
            </a:r>
            <a:r>
              <a:rPr/>
              <a:t> In </a:t>
            </a:r>
            <a:r>
              <a:rPr>
                <a:latin typeface="Courier"/>
              </a:rPr>
              <a:t>coords = c("longitude", "latitude")</a:t>
            </a:r>
            <a:r>
              <a:rPr/>
              <a:t>, which comes first — x or y? What did the bare points end up looking like?</a:t>
            </a:r>
          </a:p>
          <a:p>
            <a:pPr lvl="0" indent="0">
              <a:buNone/>
            </a:pPr>
            <a:r>
              <a:rPr>
                <a:latin typeface="Courier"/>
              </a:rPr>
              <a:t>First coordinate is (x / y):
The points look like: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2 — Points on a real map </a:t>
            </a:r>
            <a:r>
              <a:rPr sz="2000" b="1" i="1"/>
              <a:t>(Day 1, after lecture Chunk 2)</a:t>
            </a:r>
          </a:p>
          <a:p>
            <a:pPr lvl="0" indent="0" marL="1270000">
              <a:buNone/>
            </a:pPr>
            <a:r>
              <a:rPr sz="2000"/>
              <a:t>Parts 4–6: add a US basemap and layer the sightings on top.</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Get US states as </a:t>
            </a:r>
            <a:r>
              <a:rPr>
                <a:latin typeface="Courier"/>
              </a:rPr>
              <a:t>sf</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Built-in state outlines -&gt; sf --------------------------</a:t>
            </a:r>
            <a:br/>
            <a:r>
              <a:rPr>
                <a:solidFill>
                  <a:srgbClr val="003B4F"/>
                </a:solidFill>
                <a:latin typeface="Courier"/>
              </a:rPr>
              <a:t>states_sf &lt;- </a:t>
            </a:r>
            <a:r>
              <a:rPr>
                <a:solidFill>
                  <a:srgbClr val="4758AB"/>
                </a:solidFill>
                <a:latin typeface="Courier"/>
              </a:rPr>
              <a:t>st_as_sf</a:t>
            </a:r>
            <a:r>
              <a:rPr>
                <a:solidFill>
                  <a:srgbClr val="003B4F"/>
                </a:solidFill>
                <a:latin typeface="Courier"/>
              </a:rPr>
              <a:t>(</a:t>
            </a:r>
            <a:br/>
            <a:r>
              <a:rPr>
                <a:solidFill>
                  <a:srgbClr val="003B4F"/>
                </a:solidFill>
                <a:latin typeface="Courier"/>
              </a:rPr>
              <a:t>  maps</a:t>
            </a:r>
            <a:r>
              <a:rPr>
                <a:solidFill>
                  <a:srgbClr val="5E5E5E"/>
                </a:solidFill>
                <a:latin typeface="Courier"/>
              </a:rPr>
              <a:t>::</a:t>
            </a:r>
            <a:r>
              <a:rPr>
                <a:solidFill>
                  <a:srgbClr val="4758AB"/>
                </a:solidFill>
                <a:latin typeface="Courier"/>
              </a:rPr>
              <a:t>map</a:t>
            </a:r>
            <a:r>
              <a:rPr>
                <a:solidFill>
                  <a:srgbClr val="003B4F"/>
                </a:solidFill>
                <a:latin typeface="Courier"/>
              </a:rPr>
              <a:t>(</a:t>
            </a:r>
            <a:r>
              <a:rPr>
                <a:solidFill>
                  <a:srgbClr val="20794D"/>
                </a:solidFill>
                <a:latin typeface="Courier"/>
              </a:rPr>
              <a:t>"state"</a:t>
            </a:r>
            <a:r>
              <a:rPr>
                <a:solidFill>
                  <a:srgbClr val="003B4F"/>
                </a:solidFill>
                <a:latin typeface="Courier"/>
              </a:rPr>
              <a:t>, </a:t>
            </a:r>
            <a:r>
              <a:rPr>
                <a:solidFill>
                  <a:srgbClr val="657422"/>
                </a:solidFill>
                <a:latin typeface="Courier"/>
              </a:rPr>
              <a:t>plot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st_set_crs</a:t>
            </a:r>
            <a:r>
              <a:rPr>
                <a:solidFill>
                  <a:srgbClr val="003B4F"/>
                </a:solidFill>
                <a:latin typeface="Courier"/>
              </a:rPr>
              <a:t>(</a:t>
            </a:r>
            <a:r>
              <a:rPr>
                <a:solidFill>
                  <a:srgbClr val="AD0000"/>
                </a:solidFill>
                <a:latin typeface="Courier"/>
              </a:rPr>
              <a:t>4326</a:t>
            </a:r>
            <a:r>
              <a:rPr>
                <a:solidFill>
                  <a:srgbClr val="003B4F"/>
                </a:solidFill>
                <a:latin typeface="Courier"/>
              </a:rPr>
              <a:t>)</a:t>
            </a:r>
            <a:br/>
            <a:br/>
            <a:r>
              <a:rPr>
                <a:solidFill>
                  <a:srgbClr val="003B4F"/>
                </a:solidFill>
                <a:latin typeface="Courier"/>
              </a:rPr>
              <a:t>states_sf </a:t>
            </a:r>
            <a:r>
              <a:rPr>
                <a:solidFill>
                  <a:srgbClr val="5E5E5E"/>
                </a:solidFill>
                <a:latin typeface="Courier"/>
              </a:rPr>
              <a:t>%&gt;%</a:t>
            </a: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marL="0">
              <a:buNone/>
            </a:pPr>
            <a:r>
              <a:rPr/>
              <a:t>✏️ </a:t>
            </a:r>
            <a:r>
              <a:rPr b="1"/>
              <a:t>Your turn:</a:t>
            </a:r>
            <a:r>
              <a:rPr/>
              <a:t> What is in the </a:t>
            </a:r>
            <a:r>
              <a:rPr>
                <a:latin typeface="Courier"/>
              </a:rPr>
              <a:t>ID</a:t>
            </a:r>
            <a:r>
              <a:rPr/>
              <a:t> column, and what case are the state names in? (You’ll need this for the join later.)</a:t>
            </a:r>
          </a:p>
          <a:p>
            <a:pPr lvl="0" indent="0">
              <a:buNone/>
            </a:pPr>
            <a:r>
              <a:rPr>
                <a:latin typeface="Courier"/>
              </a:rPr>
              <a:t>ID column holds:
Case (UPPER / lower / Title):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Layer the sightings on the map</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Which region will have the densest cluster of points? Write your guess.</a:t>
            </a:r>
          </a:p>
          <a:p>
            <a:pPr lvl="0" indent="0" marL="0">
              <a:buNone/>
            </a:pPr>
            <a:r>
              <a:rPr b="1"/>
              <a:t>▶ Run this:</a:t>
            </a:r>
          </a:p>
          <a:p>
            <a:pPr lvl="0" indent="0">
              <a:buNone/>
            </a:pPr>
            <a:r>
              <a:rPr>
                <a:solidFill>
                  <a:srgbClr val="5E5E5E"/>
                </a:solidFill>
                <a:latin typeface="Courier"/>
              </a:rPr>
              <a:t># Basemap first, points on top ---------------------------</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geom_sf</a:t>
            </a:r>
            <a:r>
              <a:rPr>
                <a:solidFill>
                  <a:srgbClr val="003B4F"/>
                </a:solidFill>
                <a:latin typeface="Courier"/>
              </a:rPr>
              <a:t>(</a:t>
            </a:r>
            <a:r>
              <a:rPr>
                <a:solidFill>
                  <a:srgbClr val="657422"/>
                </a:solidFill>
                <a:latin typeface="Courier"/>
              </a:rPr>
              <a:t>data =</a:t>
            </a:r>
            <a:r>
              <a:rPr>
                <a:solidFill>
                  <a:srgbClr val="003B4F"/>
                </a:solidFill>
                <a:latin typeface="Courier"/>
              </a:rPr>
              <a:t> states_sf, </a:t>
            </a:r>
            <a:r>
              <a:rPr>
                <a:solidFill>
                  <a:srgbClr val="657422"/>
                </a:solidFill>
                <a:latin typeface="Courier"/>
              </a:rPr>
              <a:t>fill =</a:t>
            </a:r>
            <a:r>
              <a:rPr>
                <a:solidFill>
                  <a:srgbClr val="003B4F"/>
                </a:solidFill>
                <a:latin typeface="Courier"/>
              </a:rPr>
              <a:t> </a:t>
            </a:r>
            <a:r>
              <a:rPr>
                <a:solidFill>
                  <a:srgbClr val="20794D"/>
                </a:solidFill>
                <a:latin typeface="Courier"/>
              </a:rPr>
              <a:t>"grey96"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"grey75"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geom_sf</a:t>
            </a:r>
            <a:r>
              <a:rPr>
                <a:solidFill>
                  <a:srgbClr val="003B4F"/>
                </a:solidFill>
                <a:latin typeface="Courier"/>
              </a:rPr>
              <a:t>(</a:t>
            </a:r>
            <a:r>
              <a:rPr>
                <a:solidFill>
                  <a:srgbClr val="657422"/>
                </a:solidFill>
                <a:latin typeface="Courier"/>
              </a:rPr>
              <a:t>data =</a:t>
            </a:r>
            <a:r>
              <a:rPr>
                <a:solidFill>
                  <a:srgbClr val="003B4F"/>
                </a:solidFill>
                <a:latin typeface="Courier"/>
              </a:rPr>
              <a:t> bigfoot_sf, </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classification),</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"Bigfoot Sightings Across the Lower 48"</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"Report class"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theme_void</a:t>
            </a:r>
            <a:r>
              <a:rPr>
                <a:solidFill>
                  <a:srgbClr val="003B4F"/>
                </a:solidFill>
                <a:latin typeface="Courier"/>
              </a:rPr>
              <a:t>()</a:t>
            </a:r>
          </a:p>
          <a:p>
            <a:pPr lvl="0" indent="0" marL="0">
              <a:buNone/>
            </a:pPr>
            <a:r>
              <a:rPr/>
              <a:t>✏️ </a:t>
            </a:r>
            <a:r>
              <a:rPr b="1"/>
              <a:t>Your turn:</a:t>
            </a:r>
            <a:r>
              <a:rPr/>
              <a:t> Was your prediction right? Why does the order of the two </a:t>
            </a:r>
            <a:r>
              <a:rPr>
                <a:latin typeface="Courier"/>
              </a:rPr>
              <a:t>geom_sf()</a:t>
            </a:r>
            <a:r>
              <a:rPr/>
              <a:t> layers matter?</a:t>
            </a:r>
          </a:p>
          <a:p>
            <a:pPr lvl="0" indent="0">
              <a:buNone/>
            </a:pPr>
            <a:r>
              <a:rPr>
                <a:latin typeface="Courier"/>
              </a:rPr>
              <a:t>Densest region:
Why layer order matters: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Make it yours</a:t>
            </a:r>
          </a:p>
        </p:txBody>
      </p:sp>
      <p:sp>
        <p:nvSpPr>
          <p:cNvPr id="3" name="Content Placeholder 2"/>
          <p:cNvSpPr>
            <a:spLocks noGrp="1"/>
          </p:cNvSpPr>
          <p:nvPr>
            <p:ph idx="1"/>
          </p:nvPr>
        </p:nvSpPr>
        <p:spPr/>
        <p:txBody>
          <a:bodyPr/>
          <a:lstStyle/>
          <a:p>
            <a:pPr lvl="0" indent="0" marL="0">
              <a:buNone/>
            </a:pPr>
            <a:r>
              <a:rPr/>
              <a:t>✏️ </a:t>
            </a:r>
            <a:r>
              <a:rPr b="1"/>
              <a:t>Your turn:</a:t>
            </a:r>
            <a:r>
              <a:rPr/>
              <a:t> Change </a:t>
            </a:r>
            <a:r>
              <a:rPr>
                <a:latin typeface="Courier"/>
              </a:rPr>
              <a:t>theme_void()</a:t>
            </a:r>
            <a:r>
              <a:rPr/>
              <a:t> to </a:t>
            </a:r>
            <a:r>
              <a:rPr>
                <a:latin typeface="Courier"/>
              </a:rPr>
              <a:t>theme_minimal()</a:t>
            </a:r>
            <a:r>
              <a:rPr/>
              <a:t>. What comes back? Which looks better for a map, and why?</a:t>
            </a:r>
          </a:p>
          <a:p>
            <a:pPr lvl="0" indent="0">
              <a:buNone/>
            </a:pPr>
            <a:r>
              <a:rPr>
                <a:solidFill>
                  <a:srgbClr val="5E5E5E"/>
                </a:solidFill>
                <a:latin typeface="Courier"/>
              </a:rPr>
              <a:t># Write your modified plot here:</a:t>
            </a:r>
          </a:p>
          <a:p>
            <a:pPr lvl="0" indent="0">
              <a:buNone/>
            </a:pPr>
            <a:r>
              <a:rPr>
                <a:latin typeface="Courier"/>
              </a:rPr>
              <a:t>What theme_minimal() adds:
Better for a map and why:</a:t>
            </a:r>
          </a:p>
          <a:p>
            <a:pPr lvl="0" indent="0" marL="1270000">
              <a:buNone/>
            </a:pPr>
            <a:r>
              <a:rPr sz="2000"/>
              <a:t>🛑 </a:t>
            </a:r>
            <a:r>
              <a:rPr sz="2000" b="1"/>
              <a:t>End of Day 1.</a:t>
            </a:r>
            <a:r>
              <a:rPr sz="2000"/>
              <a:t> You can put points on a map. Day 2: the choropleth.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3 — Choropleth by state </a:t>
            </a:r>
            <a:r>
              <a:rPr sz="2000" b="1" i="1"/>
              <a:t>(Day 2, after lecture Chunk 3)</a:t>
            </a:r>
          </a:p>
          <a:p>
            <a:pPr lvl="0" indent="0" marL="1270000">
              <a:buNone/>
            </a:pPr>
            <a:r>
              <a:rPr sz="2000"/>
              <a:t>Parts 7–9: count per state, join to the map, shade it.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Count sightings per state</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Which state has the most Bigfoot reports? Commit before you run </a:t>
            </a:r>
            <a:r>
              <a:rPr sz="2000">
                <a:latin typeface="Courier"/>
              </a:rPr>
              <a:t>count()</a:t>
            </a:r>
            <a:r>
              <a:rPr sz="2000"/>
              <a:t>.</a:t>
            </a:r>
          </a:p>
          <a:p>
            <a:pPr lvl="0" indent="0" marL="0">
              <a:buNone/>
            </a:pPr>
            <a:r>
              <a:rPr b="1"/>
              <a:t>▶ Run this:</a:t>
            </a:r>
          </a:p>
          <a:p>
            <a:pPr lvl="0" indent="0">
              <a:buNone/>
            </a:pPr>
            <a:r>
              <a:rPr>
                <a:solidFill>
                  <a:srgbClr val="5E5E5E"/>
                </a:solidFill>
                <a:latin typeface="Courier"/>
              </a:rPr>
              <a:t># Sightings per state, lowercased to match the map -------</a:t>
            </a:r>
            <a:br/>
            <a:r>
              <a:rPr>
                <a:solidFill>
                  <a:srgbClr val="003B4F"/>
                </a:solidFill>
                <a:latin typeface="Courier"/>
              </a:rPr>
              <a:t>sightings_by_state &lt;- bigfoot_df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state =</a:t>
            </a:r>
            <a:r>
              <a:rPr>
                <a:solidFill>
                  <a:srgbClr val="003B4F"/>
                </a:solidFill>
                <a:latin typeface="Courier"/>
              </a:rPr>
              <a:t> </a:t>
            </a:r>
            <a:r>
              <a:rPr>
                <a:solidFill>
                  <a:srgbClr val="4758AB"/>
                </a:solidFill>
                <a:latin typeface="Courier"/>
              </a:rPr>
              <a:t>str_to_lower</a:t>
            </a:r>
            <a:r>
              <a:rPr>
                <a:solidFill>
                  <a:srgbClr val="003B4F"/>
                </a:solidFill>
                <a:latin typeface="Courier"/>
              </a:rPr>
              <a:t>(state))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(state, </a:t>
            </a:r>
            <a:r>
              <a:rPr>
                <a:solidFill>
                  <a:srgbClr val="657422"/>
                </a:solidFill>
                <a:latin typeface="Courier"/>
              </a:rPr>
              <a:t>name =</a:t>
            </a:r>
            <a:r>
              <a:rPr>
                <a:solidFill>
                  <a:srgbClr val="003B4F"/>
                </a:solidFill>
                <a:latin typeface="Courier"/>
              </a:rPr>
              <a:t> </a:t>
            </a:r>
            <a:r>
              <a:rPr>
                <a:solidFill>
                  <a:srgbClr val="20794D"/>
                </a:solidFill>
                <a:latin typeface="Courier"/>
              </a:rPr>
              <a:t>"sightings"</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(sightings))</a:t>
            </a:r>
            <a:br/>
            <a:br/>
            <a:r>
              <a:rPr>
                <a:solidFill>
                  <a:srgbClr val="4758AB"/>
                </a:solidFill>
                <a:latin typeface="Courier"/>
              </a:rPr>
              <a:t>head</a:t>
            </a:r>
            <a:r>
              <a:rPr>
                <a:solidFill>
                  <a:srgbClr val="003B4F"/>
                </a:solidFill>
                <a:latin typeface="Courier"/>
              </a:rPr>
              <a:t>(sightings_by_state)</a:t>
            </a:r>
          </a:p>
          <a:p>
            <a:pPr lvl="0" indent="0" marL="0">
              <a:buNone/>
            </a:pPr>
            <a:r>
              <a:rPr/>
              <a:t>✏️ </a:t>
            </a:r>
            <a:r>
              <a:rPr b="1"/>
              <a:t>Your turn:</a:t>
            </a:r>
            <a:r>
              <a:rPr/>
              <a:t> Record the top three, and why we lowercase the state names now.</a:t>
            </a:r>
          </a:p>
          <a:p>
            <a:pPr lvl="0" indent="0">
              <a:buNone/>
            </a:pPr>
            <a:r>
              <a:rPr>
                <a:latin typeface="Courier"/>
              </a:rPr>
              <a:t>Top 3 states:
Why str_to_lower():</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Join counts to the map</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Join sightings onto the state polygons -----------------</a:t>
            </a:r>
            <a:br/>
            <a:r>
              <a:rPr>
                <a:solidFill>
                  <a:srgbClr val="003B4F"/>
                </a:solidFill>
                <a:latin typeface="Courier"/>
              </a:rPr>
              <a:t>states_map &lt;- states_sf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state =</a:t>
            </a:r>
            <a:r>
              <a:rPr>
                <a:solidFill>
                  <a:srgbClr val="003B4F"/>
                </a:solidFill>
                <a:latin typeface="Courier"/>
              </a:rPr>
              <a:t> </a:t>
            </a:r>
            <a:r>
              <a:rPr>
                <a:solidFill>
                  <a:srgbClr val="4758AB"/>
                </a:solidFill>
                <a:latin typeface="Courier"/>
              </a:rPr>
              <a:t>str_remove</a:t>
            </a:r>
            <a:r>
              <a:rPr>
                <a:solidFill>
                  <a:srgbClr val="003B4F"/>
                </a:solidFill>
                <a:latin typeface="Courier"/>
              </a:rPr>
              <a:t>(ID, </a:t>
            </a:r>
            <a:r>
              <a:rPr>
                <a:solidFill>
                  <a:srgbClr val="20794D"/>
                </a:solidFill>
                <a:latin typeface="Courier"/>
              </a:rPr>
              <a:t>":.*"</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5E5E5E"/>
                </a:solidFill>
                <a:latin typeface="Courier"/>
              </a:rPr>
              <a:t># drop ":north" etc.</a:t>
            </a:r>
            <a:br/>
            <a:r>
              <a:rPr>
                <a:solidFill>
                  <a:srgbClr val="003B4F"/>
                </a:solidFill>
                <a:latin typeface="Courier"/>
              </a:rPr>
              <a:t>  </a:t>
            </a:r>
            <a:r>
              <a:rPr>
                <a:solidFill>
                  <a:srgbClr val="4758AB"/>
                </a:solidFill>
                <a:latin typeface="Courier"/>
              </a:rPr>
              <a:t>left_join</a:t>
            </a:r>
            <a:r>
              <a:rPr>
                <a:solidFill>
                  <a:srgbClr val="003B4F"/>
                </a:solidFill>
                <a:latin typeface="Courier"/>
              </a:rPr>
              <a:t>(sightings_by_state, </a:t>
            </a:r>
            <a:r>
              <a:rPr>
                <a:solidFill>
                  <a:srgbClr val="657422"/>
                </a:solidFill>
                <a:latin typeface="Courier"/>
              </a:rPr>
              <a:t>by =</a:t>
            </a:r>
            <a:r>
              <a:rPr>
                <a:solidFill>
                  <a:srgbClr val="003B4F"/>
                </a:solidFill>
                <a:latin typeface="Courier"/>
              </a:rPr>
              <a:t> </a:t>
            </a:r>
            <a:r>
              <a:rPr>
                <a:solidFill>
                  <a:srgbClr val="20794D"/>
                </a:solidFill>
                <a:latin typeface="Courier"/>
              </a:rPr>
              <a:t>"state"</a:t>
            </a:r>
            <a:r>
              <a:rPr>
                <a:solidFill>
                  <a:srgbClr val="003B4F"/>
                </a:solidFill>
                <a:latin typeface="Courier"/>
              </a:rPr>
              <a:t>)</a:t>
            </a:r>
            <a:br/>
            <a:br/>
            <a:r>
              <a:rPr>
                <a:solidFill>
                  <a:srgbClr val="5E5E5E"/>
                </a:solidFill>
                <a:latin typeface="Courier"/>
              </a:rPr>
              <a:t># Peek — every state should now have a sightings number</a:t>
            </a:r>
            <a:br/>
            <a:r>
              <a:rPr>
                <a:solidFill>
                  <a:srgbClr val="003B4F"/>
                </a:solidFill>
                <a:latin typeface="Courier"/>
              </a:rPr>
              <a:t>states_map </a:t>
            </a:r>
            <a:r>
              <a:rPr>
                <a:solidFill>
                  <a:srgbClr val="5E5E5E"/>
                </a:solidFill>
                <a:latin typeface="Courier"/>
              </a:rPr>
              <a:t>%&gt;%</a:t>
            </a:r>
            <a:r>
              <a:rPr>
                <a:solidFill>
                  <a:srgbClr val="003B4F"/>
                </a:solidFill>
                <a:latin typeface="Courier"/>
              </a:rPr>
              <a:t> </a:t>
            </a:r>
            <a:r>
              <a:rPr>
                <a:solidFill>
                  <a:srgbClr val="4758AB"/>
                </a:solidFill>
                <a:latin typeface="Courier"/>
              </a:rPr>
              <a:t>st_drop_geometry</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head</a:t>
            </a:r>
            <a:r>
              <a:rPr>
                <a:solidFill>
                  <a:srgbClr val="003B4F"/>
                </a:solidFill>
                <a:latin typeface="Courier"/>
              </a:rPr>
              <a:t>()</a:t>
            </a:r>
          </a:p>
          <a:p>
            <a:pPr lvl="0" indent="0" marL="0">
              <a:buNone/>
            </a:pPr>
            <a:r>
              <a:rPr/>
              <a:t>✏️ </a:t>
            </a:r>
            <a:r>
              <a:rPr b="1"/>
              <a:t>Your turn:</a:t>
            </a:r>
            <a:r>
              <a:rPr/>
              <a:t> What would happen to the map if you did NOT lowercase the state names before joining? (Try it — join </a:t>
            </a:r>
            <a:r>
              <a:rPr>
                <a:latin typeface="Courier"/>
              </a:rPr>
              <a:t>count(bigfoot_df, state)</a:t>
            </a:r>
            <a:r>
              <a:rPr/>
              <a:t> directly.)</a:t>
            </a:r>
          </a:p>
          <a:p>
            <a:pPr lvl="0" indent="0">
              <a:buNone/>
            </a:pPr>
            <a:r>
              <a:rPr>
                <a:latin typeface="Courier"/>
              </a:rPr>
              <a:t>Your prediction / what happened: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Shade the choropleth</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The map IS the bar chart -------------------------------</a:t>
            </a:r>
            <a:br/>
            <a:r>
              <a:rPr>
                <a:solidFill>
                  <a:srgbClr val="4758AB"/>
                </a:solidFill>
                <a:latin typeface="Courier"/>
              </a:rPr>
              <a:t>ggplot</a:t>
            </a:r>
            <a:r>
              <a:rPr>
                <a:solidFill>
                  <a:srgbClr val="003B4F"/>
                </a:solidFill>
                <a:latin typeface="Courier"/>
              </a:rPr>
              <a:t>(states_map) </a:t>
            </a:r>
            <a:r>
              <a:rPr>
                <a:solidFill>
                  <a:srgbClr val="5E5E5E"/>
                </a:solidFill>
                <a:latin typeface="Courier"/>
              </a:rPr>
              <a:t>+</a:t>
            </a:r>
            <a:br/>
            <a:r>
              <a:rPr>
                <a:solidFill>
                  <a:srgbClr val="003B4F"/>
                </a:solidFill>
                <a:latin typeface="Courier"/>
              </a:rPr>
              <a:t>  </a:t>
            </a:r>
            <a:r>
              <a:rPr>
                <a:solidFill>
                  <a:srgbClr val="4758AB"/>
                </a:solidFill>
                <a:latin typeface="Courier"/>
              </a:rPr>
              <a:t>geom_sf</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fill =</a:t>
            </a:r>
            <a:r>
              <a:rPr>
                <a:solidFill>
                  <a:srgbClr val="003B4F"/>
                </a:solidFill>
                <a:latin typeface="Courier"/>
              </a:rPr>
              <a:t> sightings), </a:t>
            </a:r>
            <a:r>
              <a:rPr>
                <a:solidFill>
                  <a:srgbClr val="657422"/>
                </a:solidFill>
                <a:latin typeface="Courier"/>
              </a:rPr>
              <a:t>color =</a:t>
            </a:r>
            <a:r>
              <a:rPr>
                <a:solidFill>
                  <a:srgbClr val="003B4F"/>
                </a:solidFill>
                <a:latin typeface="Courier"/>
              </a:rPr>
              <a:t> </a:t>
            </a:r>
            <a:r>
              <a:rPr>
                <a:solidFill>
                  <a:srgbClr val="20794D"/>
                </a:solidFill>
                <a:latin typeface="Courier"/>
              </a:rPr>
              <a:t>"white"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scale_fill_viridis_c</a:t>
            </a:r>
            <a:r>
              <a:rPr>
                <a:solidFill>
                  <a:srgbClr val="003B4F"/>
                </a:solidFill>
                <a:latin typeface="Courier"/>
              </a:rPr>
              <a:t>(</a:t>
            </a:r>
            <a:r>
              <a:rPr>
                <a:solidFill>
                  <a:srgbClr val="657422"/>
                </a:solidFill>
                <a:latin typeface="Courier"/>
              </a:rPr>
              <a:t>option =</a:t>
            </a:r>
            <a:r>
              <a:rPr>
                <a:solidFill>
                  <a:srgbClr val="003B4F"/>
                </a:solidFill>
                <a:latin typeface="Courier"/>
              </a:rPr>
              <a:t> </a:t>
            </a:r>
            <a:r>
              <a:rPr>
                <a:solidFill>
                  <a:srgbClr val="20794D"/>
                </a:solidFill>
                <a:latin typeface="Courier"/>
              </a:rPr>
              <a:t>"magma"</a:t>
            </a:r>
            <a:r>
              <a:rPr>
                <a:solidFill>
                  <a:srgbClr val="003B4F"/>
                </a:solidFill>
                <a:latin typeface="Courier"/>
              </a:rPr>
              <a:t>, </a:t>
            </a:r>
            <a:r>
              <a:rPr>
                <a:solidFill>
                  <a:srgbClr val="657422"/>
                </a:solidFill>
                <a:latin typeface="Courier"/>
              </a:rPr>
              <a:t>direction =</a:t>
            </a:r>
            <a:r>
              <a:rPr>
                <a:solidFill>
                  <a:srgbClr val="003B4F"/>
                </a:solidFill>
                <a:latin typeface="Courier"/>
              </a:rPr>
              <a:t> </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"Bigfoot Sightings by State"</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"Sightings"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theme_void</a:t>
            </a:r>
            <a:r>
              <a:rPr>
                <a:solidFill>
                  <a:srgbClr val="003B4F"/>
                </a:solidFill>
                <a:latin typeface="Courier"/>
              </a:rPr>
              <a:t>()</a:t>
            </a:r>
          </a:p>
          <a:p>
            <a:pPr lvl="0" indent="0" marL="0">
              <a:buNone/>
            </a:pPr>
            <a:r>
              <a:rPr/>
              <a:t>✏️ </a:t>
            </a:r>
            <a:r>
              <a:rPr b="1"/>
              <a:t>Your turn:</a:t>
            </a:r>
            <a:r>
              <a:rPr/>
              <a:t> Does the darkest state match your Part 7 prediction? Name one state that surprised you.</a:t>
            </a:r>
          </a:p>
          <a:p>
            <a:pPr lvl="0" indent="0">
              <a:buNone/>
            </a:pPr>
            <a:r>
              <a:rPr>
                <a:latin typeface="Courier"/>
              </a:rPr>
              <a:t>Darkest state:
A surprise: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4 — Polish &amp; explore </a:t>
            </a:r>
            <a:r>
              <a:rPr sz="2000" b="1" i="1"/>
              <a:t>(Day 2, after lecture Chunk 4)</a:t>
            </a:r>
          </a:p>
          <a:p>
            <a:pPr lvl="0" indent="0" marL="1270000">
              <a:buNone/>
            </a:pPr>
            <a:r>
              <a:rPr sz="2000"/>
              <a:t>Parts 10–12: reproject, explore by season, and save.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Reproject for a proper US look</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Albers Equal-Area (EPSG:5070) --------------------------</a:t>
            </a:r>
            <a:br/>
            <a:r>
              <a:rPr>
                <a:solidFill>
                  <a:srgbClr val="4758AB"/>
                </a:solidFill>
                <a:latin typeface="Courier"/>
              </a:rPr>
              <a:t>ggplot</a:t>
            </a:r>
            <a:r>
              <a:rPr>
                <a:solidFill>
                  <a:srgbClr val="003B4F"/>
                </a:solidFill>
                <a:latin typeface="Courier"/>
              </a:rPr>
              <a:t>(states_map) </a:t>
            </a:r>
            <a:r>
              <a:rPr>
                <a:solidFill>
                  <a:srgbClr val="5E5E5E"/>
                </a:solidFill>
                <a:latin typeface="Courier"/>
              </a:rPr>
              <a:t>+</a:t>
            </a:r>
            <a:br/>
            <a:r>
              <a:rPr>
                <a:solidFill>
                  <a:srgbClr val="003B4F"/>
                </a:solidFill>
                <a:latin typeface="Courier"/>
              </a:rPr>
              <a:t>  </a:t>
            </a:r>
            <a:r>
              <a:rPr>
                <a:solidFill>
                  <a:srgbClr val="4758AB"/>
                </a:solidFill>
                <a:latin typeface="Courier"/>
              </a:rPr>
              <a:t>geom_sf</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fill =</a:t>
            </a:r>
            <a:r>
              <a:rPr>
                <a:solidFill>
                  <a:srgbClr val="003B4F"/>
                </a:solidFill>
                <a:latin typeface="Courier"/>
              </a:rPr>
              <a:t> sightings), </a:t>
            </a:r>
            <a:r>
              <a:rPr>
                <a:solidFill>
                  <a:srgbClr val="657422"/>
                </a:solidFill>
                <a:latin typeface="Courier"/>
              </a:rPr>
              <a:t>color =</a:t>
            </a:r>
            <a:r>
              <a:rPr>
                <a:solidFill>
                  <a:srgbClr val="003B4F"/>
                </a:solidFill>
                <a:latin typeface="Courier"/>
              </a:rPr>
              <a:t> </a:t>
            </a:r>
            <a:r>
              <a:rPr>
                <a:solidFill>
                  <a:srgbClr val="20794D"/>
                </a:solidFill>
                <a:latin typeface="Courier"/>
              </a:rPr>
              <a:t>"white"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scale_fill_viridis_c</a:t>
            </a:r>
            <a:r>
              <a:rPr>
                <a:solidFill>
                  <a:srgbClr val="003B4F"/>
                </a:solidFill>
                <a:latin typeface="Courier"/>
              </a:rPr>
              <a:t>(</a:t>
            </a:r>
            <a:r>
              <a:rPr>
                <a:solidFill>
                  <a:srgbClr val="657422"/>
                </a:solidFill>
                <a:latin typeface="Courier"/>
              </a:rPr>
              <a:t>option =</a:t>
            </a:r>
            <a:r>
              <a:rPr>
                <a:solidFill>
                  <a:srgbClr val="003B4F"/>
                </a:solidFill>
                <a:latin typeface="Courier"/>
              </a:rPr>
              <a:t> </a:t>
            </a:r>
            <a:r>
              <a:rPr>
                <a:solidFill>
                  <a:srgbClr val="20794D"/>
                </a:solidFill>
                <a:latin typeface="Courier"/>
              </a:rPr>
              <a:t>"magma"</a:t>
            </a:r>
            <a:r>
              <a:rPr>
                <a:solidFill>
                  <a:srgbClr val="003B4F"/>
                </a:solidFill>
                <a:latin typeface="Courier"/>
              </a:rPr>
              <a:t>, </a:t>
            </a:r>
            <a:r>
              <a:rPr>
                <a:solidFill>
                  <a:srgbClr val="657422"/>
                </a:solidFill>
                <a:latin typeface="Courier"/>
              </a:rPr>
              <a:t>direction =</a:t>
            </a:r>
            <a:r>
              <a:rPr>
                <a:solidFill>
                  <a:srgbClr val="003B4F"/>
                </a:solidFill>
                <a:latin typeface="Courier"/>
              </a:rPr>
              <a:t> </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coord_sf</a:t>
            </a:r>
            <a:r>
              <a:rPr>
                <a:solidFill>
                  <a:srgbClr val="003B4F"/>
                </a:solidFill>
                <a:latin typeface="Courier"/>
              </a:rPr>
              <a:t>(</a:t>
            </a:r>
            <a:r>
              <a:rPr>
                <a:solidFill>
                  <a:srgbClr val="657422"/>
                </a:solidFill>
                <a:latin typeface="Courier"/>
              </a:rPr>
              <a:t>crs =</a:t>
            </a:r>
            <a:r>
              <a:rPr>
                <a:solidFill>
                  <a:srgbClr val="003B4F"/>
                </a:solidFill>
                <a:latin typeface="Courier"/>
              </a:rPr>
              <a:t> </a:t>
            </a:r>
            <a:r>
              <a:rPr>
                <a:solidFill>
                  <a:srgbClr val="AD0000"/>
                </a:solidFill>
                <a:latin typeface="Courier"/>
              </a:rPr>
              <a:t>5070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"Bigfoot Sightings by State (Albers)"</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"Sightings"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theme_void</a:t>
            </a:r>
            <a:r>
              <a:rPr>
                <a:solidFill>
                  <a:srgbClr val="003B4F"/>
                </a:solidFill>
                <a:latin typeface="Courier"/>
              </a:rPr>
              <a:t>()</a:t>
            </a:r>
          </a:p>
          <a:p>
            <a:pPr lvl="0" indent="0" marL="0">
              <a:buNone/>
            </a:pPr>
            <a:r>
              <a:rPr/>
              <a:t>✏️ </a:t>
            </a:r>
            <a:r>
              <a:rPr b="1"/>
              <a:t>Your turn:</a:t>
            </a:r>
            <a:r>
              <a:rPr/>
              <a:t> Compare this to the Part 9 map. What changed about the shape of the country?</a:t>
            </a:r>
          </a:p>
          <a:p>
            <a:pPr lvl="0" indent="0">
              <a:buNone/>
            </a:pPr>
            <a:r>
              <a:rPr>
                <a:latin typeface="Courier"/>
              </a:rPr>
              <a:t>Your answer: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11 · Explore by season</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Which season has the most reported sightings? Why might that be (think about who is outside)?</a:t>
            </a:r>
          </a:p>
          <a:p>
            <a:pPr lvl="0" indent="0" marL="0">
              <a:buNone/>
            </a:pPr>
            <a:r>
              <a:rPr b="1"/>
              <a:t>▶ Run this:</a:t>
            </a:r>
          </a:p>
          <a:p>
            <a:pPr lvl="0" indent="0">
              <a:buNone/>
            </a:pPr>
            <a:r>
              <a:rPr>
                <a:solidFill>
                  <a:srgbClr val="5E5E5E"/>
                </a:solidFill>
                <a:latin typeface="Courier"/>
              </a:rPr>
              <a:t># One small map per season -------------------------------</a:t>
            </a:r>
            <a:br/>
            <a:r>
              <a:rPr>
                <a:solidFill>
                  <a:srgbClr val="003B4F"/>
                </a:solidFill>
                <a:latin typeface="Courier"/>
              </a:rPr>
              <a:t>bigfoot_sf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(season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"Spring"</a:t>
            </a:r>
            <a:r>
              <a:rPr>
                <a:solidFill>
                  <a:srgbClr val="003B4F"/>
                </a:solidFill>
                <a:latin typeface="Courier"/>
              </a:rPr>
              <a:t>,</a:t>
            </a:r>
            <a:r>
              <a:rPr>
                <a:solidFill>
                  <a:srgbClr val="20794D"/>
                </a:solidFill>
                <a:latin typeface="Courier"/>
              </a:rPr>
              <a:t>"Summer"</a:t>
            </a:r>
            <a:r>
              <a:rPr>
                <a:solidFill>
                  <a:srgbClr val="003B4F"/>
                </a:solidFill>
                <a:latin typeface="Courier"/>
              </a:rPr>
              <a:t>,</a:t>
            </a:r>
            <a:r>
              <a:rPr>
                <a:solidFill>
                  <a:srgbClr val="20794D"/>
                </a:solidFill>
                <a:latin typeface="Courier"/>
              </a:rPr>
              <a:t>"Fall"</a:t>
            </a:r>
            <a:r>
              <a:rPr>
                <a:solidFill>
                  <a:srgbClr val="003B4F"/>
                </a:solidFill>
                <a:latin typeface="Courier"/>
              </a:rPr>
              <a:t>,</a:t>
            </a:r>
            <a:r>
              <a:rPr>
                <a:solidFill>
                  <a:srgbClr val="20794D"/>
                </a:solidFill>
                <a:latin typeface="Courier"/>
              </a:rPr>
              <a:t>"Winter"</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geom_sf</a:t>
            </a:r>
            <a:r>
              <a:rPr>
                <a:solidFill>
                  <a:srgbClr val="003B4F"/>
                </a:solidFill>
                <a:latin typeface="Courier"/>
              </a:rPr>
              <a:t>(</a:t>
            </a:r>
            <a:r>
              <a:rPr>
                <a:solidFill>
                  <a:srgbClr val="657422"/>
                </a:solidFill>
                <a:latin typeface="Courier"/>
              </a:rPr>
              <a:t>data =</a:t>
            </a:r>
            <a:r>
              <a:rPr>
                <a:solidFill>
                  <a:srgbClr val="003B4F"/>
                </a:solidFill>
                <a:latin typeface="Courier"/>
              </a:rPr>
              <a:t> states_sf, </a:t>
            </a:r>
            <a:r>
              <a:rPr>
                <a:solidFill>
                  <a:srgbClr val="657422"/>
                </a:solidFill>
                <a:latin typeface="Courier"/>
              </a:rPr>
              <a:t>fill =</a:t>
            </a:r>
            <a:r>
              <a:rPr>
                <a:solidFill>
                  <a:srgbClr val="003B4F"/>
                </a:solidFill>
                <a:latin typeface="Courier"/>
              </a:rPr>
              <a:t> </a:t>
            </a:r>
            <a:r>
              <a:rPr>
                <a:solidFill>
                  <a:srgbClr val="20794D"/>
                </a:solidFill>
                <a:latin typeface="Courier"/>
              </a:rPr>
              <a:t>"grey96"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"grey80"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geom_sf</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0.4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"firebrick"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coord_sf</a:t>
            </a:r>
            <a:r>
              <a:rPr>
                <a:solidFill>
                  <a:srgbClr val="003B4F"/>
                </a:solidFill>
                <a:latin typeface="Courier"/>
              </a:rPr>
              <a:t>(</a:t>
            </a:r>
            <a:r>
              <a:rPr>
                <a:solidFill>
                  <a:srgbClr val="657422"/>
                </a:solidFill>
                <a:latin typeface="Courier"/>
              </a:rPr>
              <a:t>crs =</a:t>
            </a:r>
            <a:r>
              <a:rPr>
                <a:solidFill>
                  <a:srgbClr val="003B4F"/>
                </a:solidFill>
                <a:latin typeface="Courier"/>
              </a:rPr>
              <a:t> </a:t>
            </a:r>
            <a:r>
              <a:rPr>
                <a:solidFill>
                  <a:srgbClr val="AD0000"/>
                </a:solidFill>
                <a:latin typeface="Courier"/>
              </a:rPr>
              <a:t>5070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theme_void</a:t>
            </a:r>
            <a:r>
              <a:rPr>
                <a:solidFill>
                  <a:srgbClr val="003B4F"/>
                </a:solidFill>
                <a:latin typeface="Courier"/>
              </a:rPr>
              <a:t>()</a:t>
            </a:r>
          </a:p>
          <a:p>
            <a:pPr lvl="0" indent="0" marL="0">
              <a:buNone/>
            </a:pPr>
            <a:r>
              <a:rPr/>
              <a:t>✏️ </a:t>
            </a:r>
            <a:r>
              <a:rPr b="1"/>
              <a:t>Your turn:</a:t>
            </a:r>
            <a:r>
              <a:rPr/>
              <a:t> Which season dominates? Is that about Bigfoot, or about </a:t>
            </a:r>
            <a:r>
              <a:rPr i="1"/>
              <a:t>people</a:t>
            </a:r>
            <a:r>
              <a:rPr/>
              <a:t>?</a:t>
            </a:r>
          </a:p>
          <a:p>
            <a:pPr lvl="0" indent="0">
              <a:buNone/>
            </a:pPr>
            <a:r>
              <a:rPr>
                <a:latin typeface="Courier"/>
              </a:rPr>
              <a:t>Busiest season:
What it really tells you:</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12 · Save your map</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choropleth_plot &lt;- </a:t>
            </a:r>
            <a:r>
              <a:rPr>
                <a:solidFill>
                  <a:srgbClr val="4758AB"/>
                </a:solidFill>
                <a:latin typeface="Courier"/>
              </a:rPr>
              <a:t>ggplot</a:t>
            </a:r>
            <a:r>
              <a:rPr>
                <a:solidFill>
                  <a:srgbClr val="003B4F"/>
                </a:solidFill>
                <a:latin typeface="Courier"/>
              </a:rPr>
              <a:t>(states_map) </a:t>
            </a:r>
            <a:r>
              <a:rPr>
                <a:solidFill>
                  <a:srgbClr val="5E5E5E"/>
                </a:solidFill>
                <a:latin typeface="Courier"/>
              </a:rPr>
              <a:t>+</a:t>
            </a:r>
            <a:br/>
            <a:r>
              <a:rPr>
                <a:solidFill>
                  <a:srgbClr val="003B4F"/>
                </a:solidFill>
                <a:latin typeface="Courier"/>
              </a:rPr>
              <a:t>  </a:t>
            </a:r>
            <a:r>
              <a:rPr>
                <a:solidFill>
                  <a:srgbClr val="4758AB"/>
                </a:solidFill>
                <a:latin typeface="Courier"/>
              </a:rPr>
              <a:t>geom_sf</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fill =</a:t>
            </a:r>
            <a:r>
              <a:rPr>
                <a:solidFill>
                  <a:srgbClr val="003B4F"/>
                </a:solidFill>
                <a:latin typeface="Courier"/>
              </a:rPr>
              <a:t> sightings), </a:t>
            </a:r>
            <a:r>
              <a:rPr>
                <a:solidFill>
                  <a:srgbClr val="657422"/>
                </a:solidFill>
                <a:latin typeface="Courier"/>
              </a:rPr>
              <a:t>color =</a:t>
            </a:r>
            <a:r>
              <a:rPr>
                <a:solidFill>
                  <a:srgbClr val="003B4F"/>
                </a:solidFill>
                <a:latin typeface="Courier"/>
              </a:rPr>
              <a:t> </a:t>
            </a:r>
            <a:r>
              <a:rPr>
                <a:solidFill>
                  <a:srgbClr val="20794D"/>
                </a:solidFill>
                <a:latin typeface="Courier"/>
              </a:rPr>
              <a:t>"white"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scale_fill_viridis_c</a:t>
            </a:r>
            <a:r>
              <a:rPr>
                <a:solidFill>
                  <a:srgbClr val="003B4F"/>
                </a:solidFill>
                <a:latin typeface="Courier"/>
              </a:rPr>
              <a:t>(</a:t>
            </a:r>
            <a:r>
              <a:rPr>
                <a:solidFill>
                  <a:srgbClr val="657422"/>
                </a:solidFill>
                <a:latin typeface="Courier"/>
              </a:rPr>
              <a:t>option =</a:t>
            </a:r>
            <a:r>
              <a:rPr>
                <a:solidFill>
                  <a:srgbClr val="003B4F"/>
                </a:solidFill>
                <a:latin typeface="Courier"/>
              </a:rPr>
              <a:t> </a:t>
            </a:r>
            <a:r>
              <a:rPr>
                <a:solidFill>
                  <a:srgbClr val="20794D"/>
                </a:solidFill>
                <a:latin typeface="Courier"/>
              </a:rPr>
              <a:t>"magma"</a:t>
            </a:r>
            <a:r>
              <a:rPr>
                <a:solidFill>
                  <a:srgbClr val="003B4F"/>
                </a:solidFill>
                <a:latin typeface="Courier"/>
              </a:rPr>
              <a:t>, </a:t>
            </a:r>
            <a:r>
              <a:rPr>
                <a:solidFill>
                  <a:srgbClr val="657422"/>
                </a:solidFill>
                <a:latin typeface="Courier"/>
              </a:rPr>
              <a:t>direction =</a:t>
            </a:r>
            <a:r>
              <a:rPr>
                <a:solidFill>
                  <a:srgbClr val="003B4F"/>
                </a:solidFill>
                <a:latin typeface="Courier"/>
              </a:rPr>
              <a:t> </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coord_sf</a:t>
            </a:r>
            <a:r>
              <a:rPr>
                <a:solidFill>
                  <a:srgbClr val="003B4F"/>
                </a:solidFill>
                <a:latin typeface="Courier"/>
              </a:rPr>
              <a:t>(</a:t>
            </a:r>
            <a:r>
              <a:rPr>
                <a:solidFill>
                  <a:srgbClr val="657422"/>
                </a:solidFill>
                <a:latin typeface="Courier"/>
              </a:rPr>
              <a:t>crs =</a:t>
            </a:r>
            <a:r>
              <a:rPr>
                <a:solidFill>
                  <a:srgbClr val="003B4F"/>
                </a:solidFill>
                <a:latin typeface="Courier"/>
              </a:rPr>
              <a:t> </a:t>
            </a:r>
            <a:r>
              <a:rPr>
                <a:solidFill>
                  <a:srgbClr val="AD0000"/>
                </a:solidFill>
                <a:latin typeface="Courier"/>
              </a:rPr>
              <a:t>5070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"Bigfoot Sightings by State"</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"Sightings"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theme_void</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"figures/bigfoot_choropleth.png"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choropleth_plot,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13 · Review and checkpoint</a:t>
            </a:r>
          </a:p>
        </p:txBody>
      </p:sp>
      <p:sp>
        <p:nvSpPr>
          <p:cNvPr id="3" name="Content Placeholder 2"/>
          <p:cNvSpPr>
            <a:spLocks noGrp="1"/>
          </p:cNvSpPr>
          <p:nvPr>
            <p:ph idx="1"/>
          </p:nvPr>
        </p:nvSpPr>
        <p:spPr/>
        <p:txBody>
          <a:bodyPr/>
          <a:lstStyle/>
          <a:p>
            <a:pPr lvl="0" indent="0" marL="0">
              <a:buNone/>
            </a:pPr>
            <a:r>
              <a:rPr/>
              <a:t>You should now be able to:</a:t>
            </a:r>
          </a:p>
          <a:p>
            <a:pPr lvl="0"/>
            <a:r>
              <a:rPr/>
              <a:t>☐ Explain points, polygons, and CRS</a:t>
            </a:r>
          </a:p>
          <a:p>
            <a:pPr lvl="0"/>
            <a:r>
              <a:rPr/>
              <a:t>☐ Build an </a:t>
            </a:r>
            <a:r>
              <a:rPr>
                <a:latin typeface="Courier"/>
              </a:rPr>
              <a:t>sf</a:t>
            </a:r>
            <a:r>
              <a:rPr/>
              <a:t> object with </a:t>
            </a:r>
            <a:r>
              <a:rPr>
                <a:latin typeface="Courier"/>
              </a:rPr>
              <a:t>st_as_sf(coords = ..., crs = 4326)</a:t>
            </a:r>
          </a:p>
          <a:p>
            <a:pPr lvl="0"/>
            <a:r>
              <a:rPr/>
              <a:t>☐ Draw a basemap + points with </a:t>
            </a:r>
            <a:r>
              <a:rPr>
                <a:latin typeface="Courier"/>
              </a:rPr>
              <a:t>geom_sf()</a:t>
            </a:r>
            <a:r>
              <a:rPr/>
              <a:t> (basemap first!)</a:t>
            </a:r>
          </a:p>
          <a:p>
            <a:pPr lvl="0"/>
            <a:r>
              <a:rPr/>
              <a:t>☐ Count per group and </a:t>
            </a:r>
            <a:r>
              <a:rPr>
                <a:latin typeface="Courier"/>
              </a:rPr>
              <a:t>left_join()</a:t>
            </a:r>
            <a:r>
              <a:rPr/>
              <a:t> the counts to polygons</a:t>
            </a:r>
          </a:p>
          <a:p>
            <a:pPr lvl="0"/>
            <a:r>
              <a:rPr/>
              <a:t>☐ Shade a choropleth with </a:t>
            </a:r>
            <a:r>
              <a:rPr>
                <a:latin typeface="Courier"/>
              </a:rPr>
              <a:t>geom_sf(aes(fill = ...))</a:t>
            </a:r>
          </a:p>
          <a:p>
            <a:pPr lvl="0"/>
            <a:r>
              <a:rPr/>
              <a:t>☐ Reproject with </a:t>
            </a:r>
            <a:r>
              <a:rPr>
                <a:latin typeface="Courier"/>
              </a:rPr>
              <a:t>coord_sf(crs = 5070)</a:t>
            </a:r>
          </a:p>
          <a:p>
            <a:pPr lvl="0" indent="0" marL="0">
              <a:buNone/>
            </a:pPr>
            <a:r>
              <a:rPr/>
              <a:t>✏️ </a:t>
            </a:r>
            <a:r>
              <a:rPr b="1"/>
              <a:t>Your turn — before you move on:</a:t>
            </a:r>
            <a:r>
              <a:rPr/>
              <a:t> Run your whole script top to bottom. Does it run cleanly?</a:t>
            </a:r>
          </a:p>
          <a:p>
            <a:pPr lvl="0" indent="0">
              <a:buNone/>
            </a:pPr>
            <a:r>
              <a:rPr>
                <a:latin typeface="Courier"/>
              </a:rPr>
              <a:t>Ran cleanly?  Y / N
If not, what error appeared: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14 · Going further</a:t>
            </a:r>
          </a:p>
        </p:txBody>
      </p:sp>
      <p:sp>
        <p:nvSpPr>
          <p:cNvPr id="3" name="Content Placeholder 2"/>
          <p:cNvSpPr>
            <a:spLocks noGrp="1"/>
          </p:cNvSpPr>
          <p:nvPr>
            <p:ph idx="1"/>
          </p:nvPr>
        </p:nvSpPr>
        <p:spPr/>
        <p:txBody>
          <a:bodyPr/>
          <a:lstStyle/>
          <a:p>
            <a:pPr lvl="0" indent="0" marL="1270000">
              <a:buNone/>
            </a:pPr>
            <a:r>
              <a:rPr sz="2000"/>
              <a:t>Optional — do this if you finish early.</a:t>
            </a:r>
          </a:p>
          <a:p>
            <a:pPr lvl="0" indent="0" marL="0">
              <a:spcBef>
                <a:spcPts val="3000"/>
              </a:spcBef>
              <a:buNone/>
            </a:pPr>
            <a:r>
              <a:rPr b="1"/>
              <a:t>Class A only</a:t>
            </a:r>
          </a:p>
          <a:p>
            <a:pPr lvl="0" indent="0" marL="0">
              <a:buNone/>
            </a:pPr>
            <a:r>
              <a:rPr b="1"/>
              <a:t>▶ Try this:</a:t>
            </a:r>
            <a:r>
              <a:rPr/>
              <a:t> map only the clearest (“Class A”) sightings.</a:t>
            </a:r>
          </a:p>
          <a:p>
            <a:pPr lvl="0" indent="0">
              <a:buNone/>
            </a:pPr>
            <a:r>
              <a:rPr>
                <a:solidFill>
                  <a:srgbClr val="003B4F"/>
                </a:solidFill>
                <a:latin typeface="Courier"/>
              </a:rPr>
              <a:t>bigfoot_sf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(classification </a:t>
            </a:r>
            <a:r>
              <a:rPr>
                <a:solidFill>
                  <a:srgbClr val="5E5E5E"/>
                </a:solidFill>
                <a:latin typeface="Courier"/>
              </a:rPr>
              <a:t>==</a:t>
            </a:r>
            <a:r>
              <a:rPr>
                <a:solidFill>
                  <a:srgbClr val="003B4F"/>
                </a:solidFill>
                <a:latin typeface="Courier"/>
              </a:rPr>
              <a:t> </a:t>
            </a:r>
            <a:r>
              <a:rPr>
                <a:solidFill>
                  <a:srgbClr val="20794D"/>
                </a:solidFill>
                <a:latin typeface="Courier"/>
              </a:rPr>
              <a:t>"Class A"</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geom_sf</a:t>
            </a:r>
            <a:r>
              <a:rPr>
                <a:solidFill>
                  <a:srgbClr val="003B4F"/>
                </a:solidFill>
                <a:latin typeface="Courier"/>
              </a:rPr>
              <a:t>(</a:t>
            </a:r>
            <a:r>
              <a:rPr>
                <a:solidFill>
                  <a:srgbClr val="657422"/>
                </a:solidFill>
                <a:latin typeface="Courier"/>
              </a:rPr>
              <a:t>data =</a:t>
            </a:r>
            <a:r>
              <a:rPr>
                <a:solidFill>
                  <a:srgbClr val="003B4F"/>
                </a:solidFill>
                <a:latin typeface="Courier"/>
              </a:rPr>
              <a:t> states_sf, </a:t>
            </a:r>
            <a:r>
              <a:rPr>
                <a:solidFill>
                  <a:srgbClr val="657422"/>
                </a:solidFill>
                <a:latin typeface="Courier"/>
              </a:rPr>
              <a:t>fill =</a:t>
            </a:r>
            <a:r>
              <a:rPr>
                <a:solidFill>
                  <a:srgbClr val="003B4F"/>
                </a:solidFill>
                <a:latin typeface="Courier"/>
              </a:rPr>
              <a:t> </a:t>
            </a:r>
            <a:r>
              <a:rPr>
                <a:solidFill>
                  <a:srgbClr val="20794D"/>
                </a:solidFill>
                <a:latin typeface="Courier"/>
              </a:rPr>
              <a:t>"grey96"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"grey80"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geom_sf</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coord_sf</a:t>
            </a:r>
            <a:r>
              <a:rPr>
                <a:solidFill>
                  <a:srgbClr val="003B4F"/>
                </a:solidFill>
                <a:latin typeface="Courier"/>
              </a:rPr>
              <a:t>(</a:t>
            </a:r>
            <a:r>
              <a:rPr>
                <a:solidFill>
                  <a:srgbClr val="657422"/>
                </a:solidFill>
                <a:latin typeface="Courier"/>
              </a:rPr>
              <a:t>crs =</a:t>
            </a:r>
            <a:r>
              <a:rPr>
                <a:solidFill>
                  <a:srgbClr val="003B4F"/>
                </a:solidFill>
                <a:latin typeface="Courier"/>
              </a:rPr>
              <a:t> </a:t>
            </a:r>
            <a:r>
              <a:rPr>
                <a:solidFill>
                  <a:srgbClr val="AD0000"/>
                </a:solidFill>
                <a:latin typeface="Courier"/>
              </a:rPr>
              <a:t>5070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theme_void</a:t>
            </a:r>
            <a:r>
              <a:rPr>
                <a:solidFill>
                  <a:srgbClr val="003B4F"/>
                </a:solidFill>
                <a:latin typeface="Courier"/>
              </a:rPr>
              <a:t>()</a:t>
            </a:r>
          </a:p>
          <a:p>
            <a:pPr lvl="0" indent="0" marL="0">
              <a:buNone/>
            </a:pPr>
            <a:r>
              <a:rPr/>
              <a:t>✏️ </a:t>
            </a:r>
            <a:r>
              <a:rPr b="1"/>
              <a:t>Your turn:</a:t>
            </a:r>
            <a:r>
              <a:rPr/>
              <a:t> Does restricting to Class A change the geographic pattern?</a:t>
            </a:r>
          </a:p>
          <a:p>
            <a:pPr lvl="0" indent="0">
              <a:buNone/>
            </a:pPr>
            <a:r>
              <a:rPr>
                <a:latin typeface="Courier"/>
              </a:rPr>
              <a:t>Your answer:</a:t>
            </a:r>
          </a:p>
          <a:p>
            <a:pPr lvl="0" indent="0" marL="0">
              <a:spcBef>
                <a:spcPts val="3000"/>
              </a:spcBef>
              <a:buNone/>
            </a:pPr>
            <a:r>
              <a:rPr b="1"/>
              <a:t>Per-capita thinking</a:t>
            </a:r>
          </a:p>
          <a:p>
            <a:pPr lvl="0" indent="0" marL="0">
              <a:buNone/>
            </a:pPr>
            <a:r>
              <a:rPr/>
              <a:t>✏️ </a:t>
            </a:r>
            <a:r>
              <a:rPr b="1"/>
              <a:t>Your turn:</a:t>
            </a:r>
            <a:r>
              <a:rPr/>
              <a:t> Washington and California have many sightings — but they’re also big, populous states. What extra data would you need to make this a </a:t>
            </a:r>
            <a:r>
              <a:rPr i="1"/>
              <a:t>fair</a:t>
            </a:r>
            <a:r>
              <a:rPr/>
              <a:t> comparison between states?</a:t>
            </a:r>
          </a:p>
          <a:p>
            <a:pPr lvl="0" indent="0">
              <a:buNone/>
            </a:pPr>
            <a:r>
              <a:rPr>
                <a:latin typeface="Courier"/>
              </a:rPr>
              <a:t>Your answer: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Extension — out of class (~30–40 min)</a:t>
            </a:r>
          </a:p>
        </p:txBody>
      </p:sp>
      <p:sp>
        <p:nvSpPr>
          <p:cNvPr id="3" name="Content Placeholder 2"/>
          <p:cNvSpPr>
            <a:spLocks noGrp="1"/>
          </p:cNvSpPr>
          <p:nvPr>
            <p:ph idx="1"/>
          </p:nvPr>
        </p:nvSpPr>
        <p:spPr/>
        <p:txBody>
          <a:bodyPr/>
          <a:lstStyle/>
          <a:p>
            <a:pPr lvl="0" indent="0" marL="0">
              <a:buNone/>
            </a:pPr>
            <a:r>
              <a:rPr i="1"/>
              <a:t>Turn this in with your worksheet. In class you mapped Bigfoot reports. Now you map a </a:t>
            </a:r>
            <a:r>
              <a:rPr b="1" i="1"/>
              <a:t>real species you pick</a:t>
            </a:r>
            <a:r>
              <a:rPr i="1"/>
              <a:t>, pulled live from GBIF with </a:t>
            </a:r>
            <a:r>
              <a:rPr i="1">
                <a:latin typeface="Courier"/>
              </a:rPr>
              <a:t>rgbif</a:t>
            </a:r>
            <a:r>
              <a:rPr i="1"/>
              <a:t>.</a:t>
            </a:r>
          </a:p>
          <a:p>
            <a:pPr lvl="0" indent="0" marL="1270000">
              <a:buNone/>
            </a:pPr>
            <a:r>
              <a:rPr sz="2000" b="1"/>
              <a:t>Important</a:t>
            </a:r>
          </a:p>
          <a:p>
            <a:pPr lvl="0" indent="0" marL="1270000">
              <a:buNone/>
            </a:pPr>
            <a:r>
              <a:rPr sz="2000" b="1"/>
              <a:t>E2 and E3 must be handwritten</a:t>
            </a:r>
            <a:r>
              <a:rPr sz="2000"/>
              <a:t> on paper, photographed, and embedded (</a:t>
            </a:r>
            <a:r>
              <a:rPr sz="2000">
                <a:latin typeface="Courier"/>
              </a:rPr>
              <a:t>![caption](my_photo.jpg)</a:t>
            </a:r>
            <a:r>
              <a:rPr sz="2000"/>
              <a:t>). Typed answers get </a:t>
            </a:r>
            <a:r>
              <a:rPr sz="2000" b="1"/>
              <a:t>at most half credit, even if correct</a:t>
            </a:r>
            <a:r>
              <a:rPr sz="2000"/>
              <a:t> — E2 is your prediction </a:t>
            </a:r>
            <a:r>
              <a:rPr sz="2000" i="1"/>
              <a:t>before</a:t>
            </a:r>
            <a:r>
              <a:rPr sz="2000"/>
              <a:t> you download.</a:t>
            </a:r>
          </a:p>
          <a:p>
            <a:pPr lvl="0" indent="0" marL="0">
              <a:spcBef>
                <a:spcPts val="3000"/>
              </a:spcBef>
              <a:buNone/>
            </a:pPr>
            <a:r>
              <a:rPr b="1"/>
              <a:t>E1 · Map your own species (4 pts)</a:t>
            </a:r>
          </a:p>
          <a:p>
            <a:pPr lvl="0" indent="0" marL="0">
              <a:buNone/>
            </a:pPr>
            <a:r>
              <a:rPr/>
              <a:t>Pick any species with a scientific name (a plant, bird, mammal, insect — your choice). Then, with the same recipe as class:</a:t>
            </a:r>
          </a:p>
          <a:p>
            <a:pPr lvl="0" indent="0">
              <a:buNone/>
            </a:pPr>
            <a:r>
              <a:rPr>
                <a:solidFill>
                  <a:srgbClr val="4758AB"/>
                </a:solidFill>
                <a:latin typeface="Courier"/>
              </a:rPr>
              <a:t>library</a:t>
            </a:r>
            <a:r>
              <a:rPr>
                <a:solidFill>
                  <a:srgbClr val="003B4F"/>
                </a:solidFill>
                <a:latin typeface="Courier"/>
              </a:rPr>
              <a:t>(rgbif)</a:t>
            </a:r>
            <a:br/>
            <a:r>
              <a:rPr>
                <a:solidFill>
                  <a:srgbClr val="4758AB"/>
                </a:solidFill>
                <a:latin typeface="Courier"/>
              </a:rPr>
              <a:t>library</a:t>
            </a:r>
            <a:r>
              <a:rPr>
                <a:solidFill>
                  <a:srgbClr val="003B4F"/>
                </a:solidFill>
                <a:latin typeface="Courier"/>
              </a:rPr>
              <a:t>(sf)</a:t>
            </a:r>
            <a:br/>
            <a:r>
              <a:rPr>
                <a:solidFill>
                  <a:srgbClr val="4758AB"/>
                </a:solidFill>
                <a:latin typeface="Courier"/>
              </a:rPr>
              <a:t>library</a:t>
            </a:r>
            <a:r>
              <a:rPr>
                <a:solidFill>
                  <a:srgbClr val="003B4F"/>
                </a:solidFill>
                <a:latin typeface="Courier"/>
              </a:rPr>
              <a:t>(tidyverse)</a:t>
            </a:r>
            <a:br/>
            <a:br/>
            <a:r>
              <a:rPr>
                <a:solidFill>
                  <a:srgbClr val="5E5E5E"/>
                </a:solidFill>
                <a:latin typeface="Courier"/>
              </a:rPr>
              <a:t># 1. up to ~1500 US records that have coordinates</a:t>
            </a:r>
            <a:br/>
            <a:r>
              <a:rPr>
                <a:solidFill>
                  <a:srgbClr val="003B4F"/>
                </a:solidFill>
                <a:latin typeface="Courier"/>
              </a:rPr>
              <a:t>occ &lt;- </a:t>
            </a:r>
            <a:r>
              <a:rPr>
                <a:solidFill>
                  <a:srgbClr val="4758AB"/>
                </a:solidFill>
                <a:latin typeface="Courier"/>
              </a:rPr>
              <a:t>occ_data</a:t>
            </a:r>
            <a:r>
              <a:rPr>
                <a:solidFill>
                  <a:srgbClr val="003B4F"/>
                </a:solidFill>
                <a:latin typeface="Courier"/>
              </a:rPr>
              <a:t>(</a:t>
            </a:r>
            <a:r>
              <a:rPr>
                <a:solidFill>
                  <a:srgbClr val="657422"/>
                </a:solidFill>
                <a:latin typeface="Courier"/>
              </a:rPr>
              <a:t>scientificName =</a:t>
            </a:r>
            <a:r>
              <a:rPr>
                <a:solidFill>
                  <a:srgbClr val="003B4F"/>
                </a:solidFill>
                <a:latin typeface="Courier"/>
              </a:rPr>
              <a:t> </a:t>
            </a:r>
            <a:r>
              <a:rPr>
                <a:solidFill>
                  <a:srgbClr val="20794D"/>
                </a:solidFill>
                <a:latin typeface="Courier"/>
              </a:rPr>
              <a:t>"Genus species"</a:t>
            </a:r>
            <a:r>
              <a:rPr>
                <a:solidFill>
                  <a:srgbClr val="003B4F"/>
                </a:solidFill>
                <a:latin typeface="Courier"/>
              </a:rPr>
              <a:t>,</a:t>
            </a:r>
            <a:br/>
            <a:r>
              <a:rPr>
                <a:solidFill>
                  <a:srgbClr val="003B4F"/>
                </a:solidFill>
                <a:latin typeface="Courier"/>
              </a:rPr>
              <a:t>                </a:t>
            </a:r>
            <a:r>
              <a:rPr>
                <a:solidFill>
                  <a:srgbClr val="657422"/>
                </a:solidFill>
                <a:latin typeface="Courier"/>
              </a:rPr>
              <a:t>country =</a:t>
            </a:r>
            <a:r>
              <a:rPr>
                <a:solidFill>
                  <a:srgbClr val="003B4F"/>
                </a:solidFill>
                <a:latin typeface="Courier"/>
              </a:rPr>
              <a:t> </a:t>
            </a:r>
            <a:r>
              <a:rPr>
                <a:solidFill>
                  <a:srgbClr val="20794D"/>
                </a:solidFill>
                <a:latin typeface="Courier"/>
              </a:rPr>
              <a:t>"US"</a:t>
            </a:r>
            <a:r>
              <a:rPr>
                <a:solidFill>
                  <a:srgbClr val="003B4F"/>
                </a:solidFill>
                <a:latin typeface="Courier"/>
              </a:rPr>
              <a:t>, </a:t>
            </a:r>
            <a:r>
              <a:rPr>
                <a:solidFill>
                  <a:srgbClr val="657422"/>
                </a:solidFill>
                <a:latin typeface="Courier"/>
              </a:rPr>
              <a:t>hasCoordinate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limit =</a:t>
            </a:r>
            <a:r>
              <a:rPr>
                <a:solidFill>
                  <a:srgbClr val="003B4F"/>
                </a:solidFill>
                <a:latin typeface="Courier"/>
              </a:rPr>
              <a:t> </a:t>
            </a:r>
            <a:r>
              <a:rPr>
                <a:solidFill>
                  <a:srgbClr val="AD0000"/>
                </a:solidFill>
                <a:latin typeface="Courier"/>
              </a:rPr>
              <a:t>1500</a:t>
            </a:r>
            <a:r>
              <a:rPr>
                <a:solidFill>
                  <a:srgbClr val="003B4F"/>
                </a:solidFill>
                <a:latin typeface="Courier"/>
              </a:rPr>
              <a:t>)</a:t>
            </a:r>
            <a:r>
              <a:rPr>
                <a:solidFill>
                  <a:srgbClr val="5E5E5E"/>
                </a:solidFill>
                <a:latin typeface="Courier"/>
              </a:rPr>
              <a:t>$</a:t>
            </a:r>
            <a:r>
              <a:rPr>
                <a:solidFill>
                  <a:srgbClr val="003B4F"/>
                </a:solidFill>
                <a:latin typeface="Courier"/>
              </a:rPr>
              <a:t>data</a:t>
            </a:r>
            <a:br/>
            <a:br/>
            <a:r>
              <a:rPr>
                <a:solidFill>
                  <a:srgbClr val="5E5E5E"/>
                </a:solidFill>
                <a:latin typeface="Courier"/>
              </a:rPr>
              <a:t># 2. keep real coordinates, build the sf object (x = longitude first!)</a:t>
            </a:r>
            <a:br/>
            <a:r>
              <a:rPr>
                <a:solidFill>
                  <a:srgbClr val="003B4F"/>
                </a:solidFill>
                <a:latin typeface="Courier"/>
              </a:rPr>
              <a:t>sp_sf &lt;- occ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(decimalLongitude), </a:t>
            </a:r>
            <a:r>
              <a:rPr>
                <a:solidFill>
                  <a:srgbClr val="5E5E5E"/>
                </a:solidFill>
                <a:latin typeface="Courier"/>
              </a:rPr>
              <a:t>!</a:t>
            </a:r>
            <a:r>
              <a:rPr>
                <a:solidFill>
                  <a:srgbClr val="4758AB"/>
                </a:solidFill>
                <a:latin typeface="Courier"/>
              </a:rPr>
              <a:t>is.na</a:t>
            </a:r>
            <a:r>
              <a:rPr>
                <a:solidFill>
                  <a:srgbClr val="003B4F"/>
                </a:solidFill>
                <a:latin typeface="Courier"/>
              </a:rPr>
              <a:t>(decimalLatitude)) </a:t>
            </a:r>
            <a:r>
              <a:rPr>
                <a:solidFill>
                  <a:srgbClr val="5E5E5E"/>
                </a:solidFill>
                <a:latin typeface="Courier"/>
              </a:rPr>
              <a:t>%&gt;%</a:t>
            </a:r>
            <a:br/>
            <a:r>
              <a:rPr>
                <a:solidFill>
                  <a:srgbClr val="003B4F"/>
                </a:solidFill>
                <a:latin typeface="Courier"/>
              </a:rPr>
              <a:t>  </a:t>
            </a:r>
            <a:r>
              <a:rPr>
                <a:solidFill>
                  <a:srgbClr val="4758AB"/>
                </a:solidFill>
                <a:latin typeface="Courier"/>
              </a:rPr>
              <a:t>st_as_sf</a:t>
            </a:r>
            <a:r>
              <a:rPr>
                <a:solidFill>
                  <a:srgbClr val="003B4F"/>
                </a:solidFill>
                <a:latin typeface="Courier"/>
              </a:rPr>
              <a:t>(</a:t>
            </a:r>
            <a:r>
              <a:rPr>
                <a:solidFill>
                  <a:srgbClr val="657422"/>
                </a:solidFill>
                <a:latin typeface="Courier"/>
              </a:rPr>
              <a:t>coords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"decimalLongitude"</a:t>
            </a:r>
            <a:r>
              <a:rPr>
                <a:solidFill>
                  <a:srgbClr val="003B4F"/>
                </a:solidFill>
                <a:latin typeface="Courier"/>
              </a:rPr>
              <a:t>, </a:t>
            </a:r>
            <a:r>
              <a:rPr>
                <a:solidFill>
                  <a:srgbClr val="20794D"/>
                </a:solidFill>
                <a:latin typeface="Courier"/>
              </a:rPr>
              <a:t>"decimalLatitude"</a:t>
            </a:r>
            <a:r>
              <a:rPr>
                <a:solidFill>
                  <a:srgbClr val="003B4F"/>
                </a:solidFill>
                <a:latin typeface="Courier"/>
              </a:rPr>
              <a:t>), </a:t>
            </a:r>
            <a:r>
              <a:rPr>
                <a:solidFill>
                  <a:srgbClr val="657422"/>
                </a:solidFill>
                <a:latin typeface="Courier"/>
              </a:rPr>
              <a:t>crs =</a:t>
            </a:r>
            <a:r>
              <a:rPr>
                <a:solidFill>
                  <a:srgbClr val="003B4F"/>
                </a:solidFill>
                <a:latin typeface="Courier"/>
              </a:rPr>
              <a:t> </a:t>
            </a:r>
            <a:r>
              <a:rPr>
                <a:solidFill>
                  <a:srgbClr val="AD0000"/>
                </a:solidFill>
                <a:latin typeface="Courier"/>
              </a:rPr>
              <a:t>4326</a:t>
            </a:r>
            <a:r>
              <a:rPr>
                <a:solidFill>
                  <a:srgbClr val="003B4F"/>
                </a:solidFill>
                <a:latin typeface="Courier"/>
              </a:rPr>
              <a:t>)</a:t>
            </a:r>
            <a:br/>
            <a:br/>
            <a:r>
              <a:rPr>
                <a:solidFill>
                  <a:srgbClr val="5E5E5E"/>
                </a:solidFill>
                <a:latin typeface="Courier"/>
              </a:rPr>
              <a:t># 3. points on the same states basemap you used in class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geom_sf</a:t>
            </a:r>
            <a:r>
              <a:rPr>
                <a:solidFill>
                  <a:srgbClr val="003B4F"/>
                </a:solidFill>
                <a:latin typeface="Courier"/>
              </a:rPr>
              <a:t>(</a:t>
            </a:r>
            <a:r>
              <a:rPr>
                <a:solidFill>
                  <a:srgbClr val="657422"/>
                </a:solidFill>
                <a:latin typeface="Courier"/>
              </a:rPr>
              <a:t>data =</a:t>
            </a:r>
            <a:r>
              <a:rPr>
                <a:solidFill>
                  <a:srgbClr val="003B4F"/>
                </a:solidFill>
                <a:latin typeface="Courier"/>
              </a:rPr>
              <a:t> states_sf, </a:t>
            </a:r>
            <a:r>
              <a:rPr>
                <a:solidFill>
                  <a:srgbClr val="657422"/>
                </a:solidFill>
                <a:latin typeface="Courier"/>
              </a:rPr>
              <a:t>fill =</a:t>
            </a:r>
            <a:r>
              <a:rPr>
                <a:solidFill>
                  <a:srgbClr val="003B4F"/>
                </a:solidFill>
                <a:latin typeface="Courier"/>
              </a:rPr>
              <a:t> </a:t>
            </a:r>
            <a:r>
              <a:rPr>
                <a:solidFill>
                  <a:srgbClr val="20794D"/>
                </a:solidFill>
                <a:latin typeface="Courier"/>
              </a:rPr>
              <a:t>"grey96"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"grey80"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geom_sf</a:t>
            </a:r>
            <a:r>
              <a:rPr>
                <a:solidFill>
                  <a:srgbClr val="003B4F"/>
                </a:solidFill>
                <a:latin typeface="Courier"/>
              </a:rPr>
              <a:t>(</a:t>
            </a:r>
            <a:r>
              <a:rPr>
                <a:solidFill>
                  <a:srgbClr val="657422"/>
                </a:solidFill>
                <a:latin typeface="Courier"/>
              </a:rPr>
              <a:t>data =</a:t>
            </a:r>
            <a:r>
              <a:rPr>
                <a:solidFill>
                  <a:srgbClr val="003B4F"/>
                </a:solidFill>
                <a:latin typeface="Courier"/>
              </a:rPr>
              <a:t> sp_sf,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coord_sf</a:t>
            </a:r>
            <a:r>
              <a:rPr>
                <a:solidFill>
                  <a:srgbClr val="003B4F"/>
                </a:solidFill>
                <a:latin typeface="Courier"/>
              </a:rPr>
              <a:t>(</a:t>
            </a:r>
            <a:r>
              <a:rPr>
                <a:solidFill>
                  <a:srgbClr val="657422"/>
                </a:solidFill>
                <a:latin typeface="Courier"/>
              </a:rPr>
              <a:t>crs =</a:t>
            </a:r>
            <a:r>
              <a:rPr>
                <a:solidFill>
                  <a:srgbClr val="003B4F"/>
                </a:solidFill>
                <a:latin typeface="Courier"/>
              </a:rPr>
              <a:t> </a:t>
            </a:r>
            <a:r>
              <a:rPr>
                <a:solidFill>
                  <a:srgbClr val="AD0000"/>
                </a:solidFill>
                <a:latin typeface="Courier"/>
              </a:rPr>
              <a:t>5070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theme_void</a:t>
            </a:r>
            <a:r>
              <a:rPr>
                <a:solidFill>
                  <a:srgbClr val="003B4F"/>
                </a:solidFill>
                <a:latin typeface="Courier"/>
              </a:rPr>
              <a:t>()</a:t>
            </a:r>
          </a:p>
          <a:p>
            <a:pPr lvl="0" indent="0" marL="0">
              <a:buNone/>
            </a:pPr>
            <a:r>
              <a:rPr/>
              <a:t>Save the map to </a:t>
            </a:r>
            <a:r>
              <a:rPr>
                <a:latin typeface="Courier"/>
              </a:rPr>
              <a:t>figures/</a:t>
            </a:r>
            <a:r>
              <a:rPr/>
              <a:t> at </a:t>
            </a:r>
            <a:r>
              <a:rPr>
                <a:latin typeface="Courier"/>
              </a:rPr>
              <a:t>dpi = 300</a:t>
            </a:r>
            <a:r>
              <a:rPr/>
              <a:t>. Record your species and how many records you got.</a:t>
            </a:r>
          </a:p>
          <a:p>
            <a:pPr lvl="0" indent="0" marL="0">
              <a:spcBef>
                <a:spcPts val="3000"/>
              </a:spcBef>
              <a:buNone/>
            </a:pPr>
            <a:r>
              <a:rPr b="1"/>
              <a:t>E2 · Predict, then check — ✍️ by hand (3 pts)</a:t>
            </a:r>
          </a:p>
          <a:p>
            <a:pPr lvl="0" indent="0" marL="0">
              <a:buNone/>
            </a:pPr>
            <a:r>
              <a:rPr b="1"/>
              <a:t>Before running E1:</a:t>
            </a:r>
            <a:r>
              <a:rPr/>
              <a:t> sketch, on a rough US outline, where you expect your species to occur and why (climate, habitat, range you know). Then run E1 and write 2–3 sentences comparing your prediction to the real map — and note whether anything looks like a </a:t>
            </a:r>
            <a:r>
              <a:rPr i="1"/>
              <a:t>sampling</a:t>
            </a:r>
            <a:r>
              <a:rPr/>
              <a:t> artifact rather than real range (a dense blob around one city, a hard line at a state border).</a:t>
            </a:r>
          </a:p>
          <a:p>
            <a:pPr lvl="0" indent="0" marL="0">
              <a:spcBef>
                <a:spcPts val="3000"/>
              </a:spcBef>
              <a:buNone/>
            </a:pPr>
            <a:r>
              <a:rPr b="1"/>
              <a:t>E3 · Explain it — ✍️ by hand (3 pts)</a:t>
            </a:r>
          </a:p>
          <a:p>
            <a:pPr lvl="0" indent="-342900" marL="342900">
              <a:buAutoNum type="arabicPeriod"/>
            </a:pPr>
            <a:r>
              <a:rPr/>
              <a:t>GBIF records are where people </a:t>
            </a:r>
            <a:r>
              <a:rPr i="1"/>
              <a:t>reported</a:t>
            </a:r>
            <a:r>
              <a:rPr/>
              <a:t> the species, not where it truly lives. Give one concrete way that could bias </a:t>
            </a:r>
            <a:r>
              <a:rPr i="1"/>
              <a:t>your</a:t>
            </a:r>
            <a:r>
              <a:rPr/>
              <a:t> map.</a:t>
            </a:r>
          </a:p>
          <a:p>
            <a:pPr lvl="0" indent="-342900" marL="342900">
              <a:buAutoNum type="arabicPeriod"/>
            </a:pPr>
            <a:r>
              <a:rPr/>
              <a:t>Washington and California had many Bigfoot reports partly because they are big and populous. What extra data would make a state-to-state comparison of </a:t>
            </a:r>
            <a:r>
              <a:rPr i="1"/>
              <a:t>your</a:t>
            </a:r>
            <a:r>
              <a:rPr/>
              <a:t> species fair?</a:t>
            </a:r>
          </a:p>
          <a:p>
            <a:pPr lvl="0" indent="-342900" marL="342900">
              <a:buAutoNum type="arabicPeriod"/>
            </a:pPr>
            <a:r>
              <a:rPr/>
              <a:t>The choropleth recipe (polygons → counts → </a:t>
            </a:r>
            <a:r>
              <a:rPr>
                <a:latin typeface="Courier"/>
              </a:rPr>
              <a:t>left_join()</a:t>
            </a:r>
            <a:r>
              <a:rPr/>
              <a:t> → </a:t>
            </a:r>
            <a:r>
              <a:rPr>
                <a:latin typeface="Courier"/>
              </a:rPr>
              <a:t>geom_sf(fill=)</a:t>
            </a:r>
            <a:r>
              <a:rPr/>
              <a:t>) didn’t change from Bigfoot to your species. In your own words, why is that recipe dataset-independent?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342900" marL="342900">
              <a:buAutoNum type="arabicPeriod"/>
            </a:pPr>
            <a:r>
              <a:rPr b="1">
                <a:latin typeface="Courier"/>
              </a:rPr>
              <a:t>st_as_sf</a:t>
            </a:r>
            <a:r>
              <a:rPr b="1"/>
              <a:t> error about missing coordinates</a:t>
            </a:r>
            <a:r>
              <a:rPr/>
              <a:t> → filter out </a:t>
            </a:r>
            <a:r>
              <a:rPr>
                <a:latin typeface="Courier"/>
              </a:rPr>
              <a:t>NA</a:t>
            </a:r>
            <a:r>
              <a:rPr/>
              <a:t> lat/long first (Part 2).</a:t>
            </a:r>
          </a:p>
          <a:p>
            <a:pPr lvl="0" indent="-342900" marL="342900">
              <a:buAutoNum type="arabicPeriod"/>
            </a:pPr>
            <a:r>
              <a:rPr b="1"/>
              <a:t>Points and states don’t line up</a:t>
            </a:r>
            <a:r>
              <a:rPr/>
              <a:t> → both need the same CRS; set the states to </a:t>
            </a:r>
            <a:r>
              <a:rPr>
                <a:latin typeface="Courier"/>
              </a:rPr>
              <a:t>st_set_crs(4326)</a:t>
            </a:r>
            <a:r>
              <a:rPr/>
              <a:t>.</a:t>
            </a:r>
          </a:p>
          <a:p>
            <a:pPr lvl="0" indent="-342900" marL="342900">
              <a:buAutoNum type="arabicPeriod"/>
            </a:pPr>
            <a:r>
              <a:rPr b="1"/>
              <a:t>Whole choropleth is grey</a:t>
            </a:r>
            <a:r>
              <a:rPr/>
              <a:t> → your join keys don’t match (case!). Lowercase both sides.</a:t>
            </a:r>
          </a:p>
          <a:p>
            <a:pPr lvl="0" indent="-342900" marL="342900">
              <a:buAutoNum type="arabicPeriod"/>
            </a:pPr>
            <a:r>
              <a:rPr b="1"/>
              <a:t>Empty states in the choropleth</a:t>
            </a:r>
            <a:r>
              <a:rPr/>
              <a:t> → a state name spelled differently in the two tables; check with </a:t>
            </a:r>
            <a:r>
              <a:rPr>
                <a:latin typeface="Courier"/>
              </a:rPr>
              <a:t>anti_join()</a:t>
            </a:r>
            <a:r>
              <a:rPr/>
              <a:t>.</a:t>
            </a:r>
          </a:p>
          <a:p>
            <a:pPr lvl="0" indent="-342900" marL="342900">
              <a:buAutoNum type="arabicPeriod"/>
            </a:pPr>
            <a:r>
              <a:rPr b="1">
                <a:latin typeface="Courier"/>
              </a:rPr>
              <a:t>could not find function "st_as_sf"</a:t>
            </a:r>
            <a:r>
              <a:rPr/>
              <a:t> → </a:t>
            </a:r>
            <a:r>
              <a:rPr>
                <a:latin typeface="Courier"/>
              </a:rPr>
              <a:t>install.packages("sf")</a:t>
            </a:r>
            <a:r>
              <a:rPr/>
              <a:t>, then </a:t>
            </a:r>
            <a:r>
              <a:rPr>
                <a:latin typeface="Courier"/>
              </a:rPr>
              <a:t>library(sf)</a:t>
            </a:r>
            <a:r>
              <a:rPr/>
              <a:t>.</a:t>
            </a:r>
          </a:p>
          <a:p>
            <a:pPr lvl="0" indent="-342900" marL="342900">
              <a:buAutoNum type="arabicPeriod"/>
            </a:pPr>
            <a:r>
              <a:rPr b="1"/>
              <a:t>Cheat sheet</a:t>
            </a:r>
            <a:r>
              <a:rPr/>
              <a:t> — </a:t>
            </a:r>
            <a:r>
              <a:rPr>
                <a:hlinkClick r:id="rId2"/>
              </a:rPr>
              <a:t>https://r-spatial.github.io/sf/</a:t>
            </a:r>
          </a:p>
          <a:p>
            <a:pPr lvl="0" indent="0" marL="1270000">
              <a:buNone/>
            </a:pPr>
            <a:r>
              <a:rPr sz="2000"/>
              <a:t>💡 </a:t>
            </a:r>
            <a:r>
              <a:rPr sz="2000" b="1"/>
              <a:t>Key idea:</a:t>
            </a:r>
            <a:r>
              <a:rPr sz="2000"/>
              <a:t> the choropleth recipe doesn’t change with the dataset — get polygons, get counts, </a:t>
            </a:r>
            <a:r>
              <a:rPr sz="2000">
                <a:latin typeface="Courier"/>
              </a:rPr>
              <a:t>left_join()</a:t>
            </a:r>
            <a:r>
              <a:rPr sz="2000"/>
              <a:t> them on a matching key, then shade with </a:t>
            </a:r>
            <a:r>
              <a:rPr sz="2000">
                <a:latin typeface="Courier"/>
              </a:rPr>
              <a:t>geom_sf()</a:t>
            </a:r>
            <a:r>
              <a:rPr sz="2000"/>
              <a:t>. You just ran it on Bigfoot sightings; the Extension runs the same four steps on a species you pick from GBIF.</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End of the Mapping worksheet.</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Worksheet — Mapping Bigfoot Sightings</dc:title>
  <dc:creator>Bill Perry</dc:creator>
  <cp:keywords/>
  <dc:description>Hands-on companion to the mapping lecture. Over two days students load ~4,600 Bigfoot sightings, make them spatial with sf, plot points on a US map, and join sighting counts to state polygons to build a choropleth.</dc:description>
  <dcterms:created xsi:type="dcterms:W3CDTF">2026-08-27T20:05:53Z</dcterms:created>
  <dcterms:modified xsi:type="dcterms:W3CDTF">2026-08-27T20:05:53Z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date">
    <vt:lpwstr>2026-08-27</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23</vt:lpwstr>
  </property>
  <property fmtid="{D5CDD505-2E9C-101B-9397-08002B2CF9AE}" pid="13" name="resources">
    <vt:lpwstr/>
  </property>
  <property fmtid="{D5CDD505-2E9C-101B-9397-08002B2CF9AE}" pid="14" name="subtitle">
    <vt:lpwstr>Turn latitude/longitude into maps with sf and geom_sf, then build a per-state choropleth</vt:lpwstr>
  </property>
  <property fmtid="{D5CDD505-2E9C-101B-9397-08002B2CF9AE}" pid="15" name="toc-title">
    <vt:lpwstr>Table of contents</vt:lpwstr>
  </property>
  <property fmtid="{D5CDD505-2E9C-101B-9397-08002B2CF9AE}" pid="16" name="type">
    <vt:lpwstr>activity</vt:lpwstr>
  </property>
  <property fmtid="{D5CDD505-2E9C-101B-9397-08002B2CF9AE}" pid="17" name="week">
    <vt:lpwstr>12</vt:lpwstr>
  </property>
</Properties>
</file>