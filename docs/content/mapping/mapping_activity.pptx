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kaggle.com/datasets/thedevastator/unlocking-mysteries-of-bigfoot-through-sighting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spatial.github.io/sf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13 — Mapping Bigfoot Sightings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Turn latitude/longitude into maps with sf and geom_sf, then build a per-state choropleth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Bigfoot 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start — get the data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bfro_reports_geocoded.csv</a:t>
            </a:r>
            <a:r>
              <a:rPr/>
              <a:t> from Kaggle (</a:t>
            </a:r>
            <a:r>
              <a:rPr>
                <a:hlinkClick r:id="rId2"/>
              </a:rPr>
              <a:t>https://www.kaggle.com/datasets/thedevastator/unlocking-mysteries-of-bigfoot-through-sightings</a:t>
            </a:r>
            <a:r>
              <a:rPr/>
              <a:t>) and save it into your project’s </a:t>
            </a:r>
            <a:r>
              <a:rPr>
                <a:latin typeface="Courier"/>
              </a:rPr>
              <a:t>data/</a:t>
            </a:r>
            <a:r>
              <a:rPr/>
              <a:t> folder. It has ~4,586 sightings with </a:t>
            </a:r>
            <a:r>
              <a:rPr>
                <a:latin typeface="Courier"/>
              </a:rPr>
              <a:t>latitude</a:t>
            </a:r>
            <a:r>
              <a:rPr/>
              <a:t>, </a:t>
            </a:r>
            <a:r>
              <a:rPr>
                <a:latin typeface="Courier"/>
              </a:rPr>
              <a:t>longitude</a:t>
            </a:r>
            <a:r>
              <a:rPr/>
              <a:t>, </a:t>
            </a:r>
            <a:r>
              <a:rPr>
                <a:latin typeface="Courier"/>
              </a:rPr>
              <a:t>state</a:t>
            </a:r>
            <a:r>
              <a:rPr/>
              <a:t>, </a:t>
            </a:r>
            <a:r>
              <a:rPr>
                <a:latin typeface="Courier"/>
              </a:rPr>
              <a:t>season</a:t>
            </a:r>
            <a:r>
              <a:rPr/>
              <a:t>, and </a:t>
            </a:r>
            <a:r>
              <a:rPr>
                <a:latin typeface="Courier"/>
              </a:rPr>
              <a:t>classification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Make latitude/longitude into a spatial </a:t>
            </a:r>
            <a:r>
              <a:rPr>
                <a:latin typeface="Courier"/>
              </a:rPr>
              <a:t>sf</a:t>
            </a:r>
            <a:r>
              <a:rPr/>
              <a:t> object</a:t>
            </a:r>
          </a:p>
          <a:p>
            <a:pPr lvl="0" indent="-342900" marL="342900">
              <a:buAutoNum type="arabicPeriod"/>
            </a:pPr>
            <a:r>
              <a:rPr/>
              <a:t>Draw sighting points on a map of US states</a:t>
            </a:r>
          </a:p>
          <a:p>
            <a:pPr lvl="0" indent="-342900" marL="342900">
              <a:buAutoNum type="arabicPeriod"/>
            </a:pPr>
            <a:r>
              <a:rPr/>
              <a:t>Count sightings per state and </a:t>
            </a:r>
            <a:r>
              <a:rPr b="1"/>
              <a:t>join</a:t>
            </a:r>
            <a:r>
              <a:rPr/>
              <a:t> them to the map</a:t>
            </a:r>
          </a:p>
          <a:p>
            <a:pPr lvl="0" indent="-342900" marL="342900">
              <a:buAutoNum type="arabicPeriod"/>
            </a:pPr>
            <a:r>
              <a:rPr/>
              <a:t>Shade a choropleth and reproject it for a proper US look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map draws, </a:t>
            </a:r>
            <a:r>
              <a:rPr sz="2000" i="1"/>
              <a:t>predict</a:t>
            </a:r>
            <a:r>
              <a:rPr sz="2000"/>
              <a:t> where the points or the dark states will be. Then type the code yourself. Predicting the pattern (“Pacific Northwest?”) is what makes a map mean something when it appears — and typing builds the </a:t>
            </a:r>
            <a:r>
              <a:rPr sz="2000">
                <a:latin typeface="Courier"/>
              </a:rPr>
              <a:t>sf</a:t>
            </a:r>
            <a:r>
              <a:rPr sz="2000"/>
              <a:t> + </a:t>
            </a:r>
            <a:r>
              <a:rPr sz="2000">
                <a:latin typeface="Courier"/>
              </a:rPr>
              <a:t>geom_sf</a:t>
            </a:r>
            <a:r>
              <a:rPr sz="2000"/>
              <a:t> habits.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Make it spatial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the sightings, clean coordinates, and build an </a:t>
            </a:r>
            <a:r>
              <a:rPr sz="2000">
                <a:latin typeface="Courier"/>
              </a:rPr>
              <a:t>sf</a:t>
            </a:r>
            <a:r>
              <a:rPr sz="2000"/>
              <a:t> object.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</a:t>
            </a:r>
            <a:r>
              <a:rPr>
                <a:solidFill>
                  <a:srgbClr val="5E5E5E"/>
                </a:solidFill>
                <a:latin typeface="Courier"/>
              </a:rPr>
              <a:t>#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and columns does the raw file have? Run </a:t>
            </a:r>
            <a:r>
              <a:rPr>
                <a:latin typeface="Courier"/>
              </a:rPr>
              <a:t>dim(bigfoot_df)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Columns:
What does one row represent?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Clean the coordinates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remain? Why must we drop missing coordinates </a:t>
            </a:r>
            <a:r>
              <a:rPr i="1"/>
              <a:t>before</a:t>
            </a:r>
            <a:r>
              <a:rPr/>
              <a:t> the next step?</a:t>
            </a:r>
          </a:p>
          <a:p>
            <a:pPr lvl="0" indent="0">
              <a:buNone/>
            </a:pPr>
            <a:r>
              <a:rPr>
                <a:latin typeface="Courier"/>
              </a:rPr>
              <a:t>Rows remaining:
Why drop NA coords first: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Build the </a:t>
            </a:r>
            <a:r>
              <a:rPr>
                <a:latin typeface="Courier"/>
              </a:rPr>
              <a:t>sf</a:t>
            </a:r>
            <a:r>
              <a:rPr/>
              <a:t>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You’re about to plot 4,000+ points with NO basemap. What shape will the cloud of points make?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lon/lat into a geometry column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</a:t>
            </a:r>
            <a:r>
              <a:rPr>
                <a:latin typeface="Courier"/>
              </a:rPr>
              <a:t>coords = c("longitude", "latitude")</a:t>
            </a:r>
            <a:r>
              <a:rPr/>
              <a:t>, which comes first — x or y? What did the bare points end up looking like?</a:t>
            </a:r>
          </a:p>
          <a:p>
            <a:pPr lvl="0" indent="0">
              <a:buNone/>
            </a:pPr>
            <a:r>
              <a:rPr>
                <a:latin typeface="Courier"/>
              </a:rPr>
              <a:t>First coordinate is (x / y):
The points look like: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Points on a real map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add a US basemap and layer the sightings on top.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Get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Built-in state outlines -&gt; sf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in the </a:t>
            </a:r>
            <a:r>
              <a:rPr>
                <a:latin typeface="Courier"/>
              </a:rPr>
              <a:t>ID</a:t>
            </a:r>
            <a:r>
              <a:rPr/>
              <a:t> column, and what case are the state names in? (You’ll need this for the join later.)</a:t>
            </a:r>
          </a:p>
          <a:p>
            <a:pPr lvl="0" indent="0">
              <a:buNone/>
            </a:pPr>
            <a:r>
              <a:rPr>
                <a:latin typeface="Courier"/>
              </a:rPr>
              <a:t>ID column holds:
Case (UPPER / lower / Title):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region will have the densest cluster of points? Write your guess.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points on top 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 your prediction right? Why does the order of the two </a:t>
            </a:r>
            <a:r>
              <a:rPr>
                <a:latin typeface="Courier"/>
              </a:rPr>
              <a:t>geom_sf()</a:t>
            </a:r>
            <a:r>
              <a:rPr/>
              <a:t> layers matter?</a:t>
            </a:r>
          </a:p>
          <a:p>
            <a:pPr lvl="0" indent="0">
              <a:buNone/>
            </a:pPr>
            <a:r>
              <a:rPr>
                <a:latin typeface="Courier"/>
              </a:rPr>
              <a:t>Densest region:
Why layer order matters: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Make it yours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theme_void()</a:t>
            </a:r>
            <a:r>
              <a:rPr/>
              <a:t> to </a:t>
            </a:r>
            <a:r>
              <a:rPr>
                <a:latin typeface="Courier"/>
              </a:rPr>
              <a:t>theme_minimal()</a:t>
            </a:r>
            <a:r>
              <a:rPr/>
              <a:t>. What comes back? Which looks better for a map,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plot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What theme_minimal() adds:
Better for a map and why: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put points on a map. Day 2: the choropleth.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Choropleth by state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count per state, join to the map, shade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state has the most Bigfoot reports? Commit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state, lowercased to match the map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top three, and why we lowercase the state names now.</a:t>
            </a:r>
          </a:p>
          <a:p>
            <a:pPr lvl="0" indent="0">
              <a:buNone/>
            </a:pPr>
            <a:r>
              <a:rPr>
                <a:latin typeface="Courier"/>
              </a:rPr>
              <a:t>Top 3 states:
Why str_to_lower():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Join counts to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onto the state polygons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Peek — every state should now have a sightings number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st_drop_geometry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would happen to the map if you did NOT lowercase the state names before joining? (Try it — join </a:t>
            </a:r>
            <a:r>
              <a:rPr>
                <a:latin typeface="Courier"/>
              </a:rPr>
              <a:t>count(bigfoot_df, state)</a:t>
            </a:r>
            <a:r>
              <a:rPr/>
              <a:t> directly.)</a:t>
            </a:r>
          </a:p>
          <a:p>
            <a:pPr lvl="0" indent="0">
              <a:buNone/>
            </a:pPr>
            <a:r>
              <a:rPr>
                <a:latin typeface="Courier"/>
              </a:rPr>
              <a:t>Your prediction / what happened: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Shade the choropleth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map IS the bar chart 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darkest state match your Part 7 prediction? Name one state that surprised you.</a:t>
            </a:r>
          </a:p>
          <a:p>
            <a:pPr lvl="0" indent="0">
              <a:buNone/>
            </a:pPr>
            <a:r>
              <a:rPr>
                <a:latin typeface="Courier"/>
              </a:rPr>
              <a:t>Darkest state:
A surprise: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Polish &amp; explore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reproject, explore by season, and save.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Reproject for a proper US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this to the Part 9 map. What changed about the shape of the country?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Explore by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season has the most reported sightings? Why might that be (think about who is outside)?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small map per season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season dominates? Is that about Bigfoot, or about </a:t>
            </a:r>
            <a:r>
              <a:rPr i="1"/>
              <a:t>people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Busiest season:
What it really tells you: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Save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choropleth_plot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"figures/bigfoot_choropleth.png"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choropleth_plot,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should now be able to:</a:t>
            </a:r>
          </a:p>
          <a:p>
            <a:pPr lvl="0"/>
            <a:r>
              <a:rPr/>
              <a:t>☐ Explain points, polygons, and CRS</a:t>
            </a:r>
          </a:p>
          <a:p>
            <a:pPr lvl="0"/>
            <a:r>
              <a:rPr/>
              <a:t>☐ Build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st_as_sf(coords = ..., crs = 4326)</a:t>
            </a:r>
          </a:p>
          <a:p>
            <a:pPr lvl="0"/>
            <a:r>
              <a:rPr/>
              <a:t>☐ Draw a basemap + points with </a:t>
            </a:r>
            <a:r>
              <a:rPr>
                <a:latin typeface="Courier"/>
              </a:rPr>
              <a:t>geom_sf()</a:t>
            </a:r>
            <a:r>
              <a:rPr/>
              <a:t> (basemap first!)</a:t>
            </a:r>
          </a:p>
          <a:p>
            <a:pPr lvl="0"/>
            <a:r>
              <a:rPr/>
              <a:t>☐ Count per group and </a:t>
            </a:r>
            <a:r>
              <a:rPr>
                <a:latin typeface="Courier"/>
              </a:rPr>
              <a:t>left_join()</a:t>
            </a:r>
            <a:r>
              <a:rPr/>
              <a:t> the counts to polygons</a:t>
            </a:r>
          </a:p>
          <a:p>
            <a:pPr lvl="0"/>
            <a:r>
              <a:rPr/>
              <a:t>☐ Shade a choropleth with </a:t>
            </a:r>
            <a:r>
              <a:rPr>
                <a:latin typeface="Courier"/>
              </a:rPr>
              <a:t>geom_sf(aes(fill = ...))</a:t>
            </a:r>
          </a:p>
          <a:p>
            <a:pPr lvl="0"/>
            <a:r>
              <a:rPr/>
              <a:t>☐ Reproject with </a:t>
            </a:r>
            <a:r>
              <a:rPr>
                <a:latin typeface="Courier"/>
              </a:rPr>
              <a:t>coord_sf(crs = 5070)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Class A only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map only the clearest (“Class A”) sightings.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(classification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 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restricting to Class A change the geographic pattern?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Per-capita thinking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Washington and California have many sightings — but they’re also big, populous states. What extra data would you need to make this a </a:t>
            </a:r>
            <a:r>
              <a:rPr i="1"/>
              <a:t>fair</a:t>
            </a:r>
            <a:r>
              <a:rPr/>
              <a:t> comparison between states?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st_as_sf</a:t>
            </a:r>
            <a:r>
              <a:rPr b="1"/>
              <a:t> error about missing coordinates</a:t>
            </a:r>
            <a:r>
              <a:rPr/>
              <a:t> → filter out </a:t>
            </a:r>
            <a:r>
              <a:rPr>
                <a:latin typeface="Courier"/>
              </a:rPr>
              <a:t>NA</a:t>
            </a:r>
            <a:r>
              <a:rPr/>
              <a:t> lat/long first (Part 2).</a:t>
            </a:r>
          </a:p>
          <a:p>
            <a:pPr lvl="0" indent="-342900" marL="342900">
              <a:buAutoNum type="arabicPeriod"/>
            </a:pPr>
            <a:r>
              <a:rPr b="1"/>
              <a:t>Points and states don’t line up</a:t>
            </a:r>
            <a:r>
              <a:rPr/>
              <a:t> → both need the same CRS; set the states to </a:t>
            </a:r>
            <a:r>
              <a:rPr>
                <a:latin typeface="Courier"/>
              </a:rPr>
              <a:t>st_set_crs(4326)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Whole choropleth is grey</a:t>
            </a:r>
            <a:r>
              <a:rPr/>
              <a:t> → your join keys don’t match (case!). Lowercase both sides.</a:t>
            </a:r>
          </a:p>
          <a:p>
            <a:pPr lvl="0" indent="-342900" marL="342900">
              <a:buAutoNum type="arabicPeriod"/>
            </a:pPr>
            <a:r>
              <a:rPr b="1"/>
              <a:t>Empty states in the choropleth</a:t>
            </a:r>
            <a:r>
              <a:rPr/>
              <a:t> → a state name spelled differently in the two tables; check with </a:t>
            </a:r>
            <a:r>
              <a:rPr>
                <a:latin typeface="Courier"/>
              </a:rPr>
              <a:t>anti_join()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"st_as_sf"</a:t>
            </a:r>
            <a:r>
              <a:rPr/>
              <a:t> → </a:t>
            </a:r>
            <a:r>
              <a:rPr>
                <a:latin typeface="Courier"/>
              </a:rPr>
              <a:t>install.packages("sf")</a:t>
            </a:r>
            <a:r>
              <a:rPr/>
              <a:t>, then </a:t>
            </a:r>
            <a:r>
              <a:rPr>
                <a:latin typeface="Courier"/>
              </a:rPr>
              <a:t>library(sf)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https://r-spatial.github.io/sf/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map is the same recipe — get geometry, get data, </a:t>
            </a:r>
            <a:r>
              <a:rPr sz="2000" b="1"/>
              <a:t>join</a:t>
            </a:r>
            <a:r>
              <a:rPr sz="2000"/>
              <a:t> them, and shade or plot. You just did it with Bigfoot; the homework does it with real species from GBIF.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13. Homework: map your own species from GBIF with </a:t>
            </a:r>
            <a:r>
              <a:rPr i="1">
                <a:latin typeface="Courier"/>
              </a:rPr>
              <a:t>rgbif</a:t>
            </a:r>
            <a:r>
              <a:rPr i="1"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13 — Mapping Bigfoot Sightings</dc:title>
  <dc:creator>Bill Perry</dc:creator>
  <cp:keywords/>
  <dc:description>Hands-on companion to the mapping lecture. Over two days students load 4,500+ Bigfoot sightings, make them spatial with sf, plot points on a US map, and join sighting counts to state polygons to build a choropleth.</dc:description>
  <dcterms:created xsi:type="dcterms:W3CDTF">2026-07-05T19:53:00Z</dcterms:created>
  <dcterms:modified xsi:type="dcterms:W3CDTF">2026-07-05T19:53:00Z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Turn latitude/longitude into maps with sf and geom_sf, then build a per-state choropleth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7</vt:lpwstr>
  </property>
</Properties>
</file>