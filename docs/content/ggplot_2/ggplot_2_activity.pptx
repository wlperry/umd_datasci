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osit.co/resources/cheatsheets/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04 - GGPlot II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More geoms, zooming safely, and picking a theme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More Geoms, Coordinates, and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 from Worksheet 03</a:t>
            </a:r>
          </a:p>
          <a:p>
            <a:pPr lvl="0"/>
            <a:r>
              <a:rPr/>
              <a:t>Piped </a:t>
            </a:r>
            <a:r>
              <a:rPr>
                <a:latin typeface="Courier"/>
              </a:rPr>
              <a:t>tree_df</a:t>
            </a:r>
            <a:r>
              <a:rPr/>
              <a:t> straight into </a:t>
            </a:r>
            <a:r>
              <a:rPr>
                <a:latin typeface="Courier"/>
              </a:rPr>
              <a:t>ggplot()</a:t>
            </a:r>
          </a:p>
          <a:p>
            <a:pPr lvl="0"/>
            <a:r>
              <a:rPr/>
              <a:t>Assigned exact colors with </a:t>
            </a:r>
            <a:r>
              <a:rPr>
                <a:latin typeface="Courier"/>
              </a:rPr>
              <a:t>scale_fill_manual()</a:t>
            </a:r>
            <a:r>
              <a:rPr/>
              <a:t> / </a:t>
            </a:r>
            <a:r>
              <a:rPr>
                <a:latin typeface="Courier"/>
              </a:rPr>
              <a:t>scale_color_manual()</a:t>
            </a:r>
          </a:p>
          <a:p>
            <a:pPr lvl="0"/>
            <a:r>
              <a:rPr/>
              <a:t>Split plots with </a:t>
            </a:r>
            <a:r>
              <a:rPr>
                <a:latin typeface="Courier"/>
              </a:rPr>
              <a:t>facet_wrap()</a:t>
            </a:r>
            <a:r>
              <a:rPr/>
              <a:t> and </a:t>
            </a:r>
            <a:r>
              <a:rPr>
                <a:latin typeface="Courier"/>
              </a:rPr>
              <a:t>facet_grid()</a:t>
            </a:r>
          </a:p>
          <a:p>
            <a:pPr lvl="0"/>
            <a:r>
              <a:rPr/>
              <a:t>Built a mean ± SE plot with </a:t>
            </a:r>
            <a:r>
              <a:rPr>
                <a:latin typeface="Courier"/>
              </a:rPr>
              <a:t>stat_summary()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</a:t>
            </a:r>
          </a:p>
          <a:p>
            <a:pPr lvl="0" indent="-342900" marL="342900">
              <a:buAutoNum type="arabicPeriod"/>
            </a:pPr>
            <a:r>
              <a:rPr/>
              <a:t>Map shape alongside color, and add a </a:t>
            </a:r>
            <a:r>
              <a:rPr>
                <a:latin typeface="Courier"/>
              </a:rPr>
              <a:t>geom_smooth()</a:t>
            </a:r>
            <a:r>
              <a:rPr/>
              <a:t> trend line</a:t>
            </a:r>
          </a:p>
          <a:p>
            <a:pPr lvl="0" indent="-342900" marL="342900">
              <a:buAutoNum type="arabicPeriod"/>
            </a:pPr>
            <a:r>
              <a:rPr/>
              <a:t>Compare </a:t>
            </a:r>
            <a:r>
              <a:rPr>
                <a:latin typeface="Courier"/>
              </a:rPr>
              <a:t>coord_cartesian()</a:t>
            </a:r>
            <a:r>
              <a:rPr/>
              <a:t> to </a:t>
            </a:r>
            <a:r>
              <a:rPr>
                <a:latin typeface="Courier"/>
              </a:rPr>
              <a:t>xlim()</a:t>
            </a:r>
            <a:r>
              <a:rPr/>
              <a:t>/</a:t>
            </a:r>
            <a:r>
              <a:rPr>
                <a:latin typeface="Courier"/>
              </a:rPr>
              <a:t>ylim()</a:t>
            </a:r>
          </a:p>
          <a:p>
            <a:pPr lvl="0" indent="-342900" marL="342900">
              <a:buAutoNum type="arabicPeriod"/>
            </a:pPr>
            <a:r>
              <a:rPr/>
              <a:t>Pick a built-in theme and adjust it with </a:t>
            </a:r>
            <a:r>
              <a:rPr>
                <a:latin typeface="Courier"/>
              </a:rPr>
              <a:t>theme()</a:t>
            </a:r>
          </a:p>
          <a:p>
            <a:pPr lvl="0" indent="-342900" marL="342900">
              <a:buAutoNum type="arabicPeriod"/>
            </a:pPr>
            <a:r>
              <a:rPr/>
              <a:t>Save a plot as both PNG and PDF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part at your own pace. Type the code into a new R script in Positron and run it line by line. Code blocks marked </a:t>
            </a:r>
            <a:r>
              <a:rPr sz="2000" b="1"/>
              <a:t>▶ Run this</a:t>
            </a:r>
            <a:r>
              <a:rPr sz="2000"/>
              <a:t> should be executed exactly as written. Blocks marked </a:t>
            </a:r>
            <a:r>
              <a:rPr sz="2000" b="1"/>
              <a:t>✏️ Your turn</a:t>
            </a:r>
            <a:r>
              <a:rPr sz="2000"/>
              <a:t> ask you to write or modify something.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0 · 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at the top of your script: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Shape, color, and a trend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We map </a:t>
            </a:r>
            <a:r>
              <a:rPr sz="2000">
                <a:latin typeface="Courier"/>
              </a:rPr>
              <a:t>color = side</a:t>
            </a:r>
            <a:r>
              <a:rPr sz="2000"/>
              <a:t> and </a:t>
            </a:r>
            <a:r>
              <a:rPr sz="2000">
                <a:latin typeface="Courier"/>
              </a:rPr>
              <a:t>shape = side</a:t>
            </a:r>
            <a:r>
              <a:rPr sz="2000"/>
              <a:t> to the same variable. One legend or two?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width_cm,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shape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"goldenrod"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"forestgreen"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vs. Width"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"Width (cm)"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Add a </a:t>
            </a:r>
            <a:r>
              <a:rPr>
                <a:latin typeface="Courier"/>
              </a:rPr>
              <a:t>geom_smooth(method = "lm")</a:t>
            </a:r>
            <a:r>
              <a:rPr/>
              <a:t> layer to the plot above (no color/fill needed — let it default). Does the line slope up or down?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modified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Slope direction (up/down):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</a:t>
            </a:r>
            <a:r>
              <a:rPr>
                <a:latin typeface="Courier"/>
              </a:rPr>
              <a:t>coord_cartesian()</a:t>
            </a:r>
            <a:r>
              <a:rPr/>
              <a:t> vs. </a:t>
            </a:r>
            <a:r>
              <a:rPr>
                <a:latin typeface="Courier"/>
              </a:rPr>
              <a:t>xlim()</a:t>
            </a:r>
            <a:r>
              <a:rPr/>
              <a:t>/</a:t>
            </a:r>
            <a:r>
              <a:rPr>
                <a:latin typeface="Courier"/>
              </a:rPr>
              <a:t>ylim()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— Version A, </a:t>
            </a:r>
            <a:r>
              <a:rPr b="1">
                <a:latin typeface="Courier"/>
              </a:rPr>
              <a:t>coord_cartesian()</a:t>
            </a:r>
            <a:r>
              <a:rPr b="1"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width_cm,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"grey40"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coord_cartesian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xlim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ylim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"Zoomed with coord_cartesian()"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"Width (cm)"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"Weight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 b="1"/>
              <a:t>▶ Run this — Version B, </a:t>
            </a:r>
            <a:r>
              <a:rPr b="1">
                <a:latin typeface="Courier"/>
              </a:rPr>
              <a:t>xlim()</a:t>
            </a:r>
            <a:r>
              <a:rPr b="1"/>
              <a:t>/</a:t>
            </a:r>
            <a:r>
              <a:rPr b="1">
                <a:latin typeface="Courier"/>
              </a:rPr>
              <a:t>ylim()</a:t>
            </a:r>
            <a:r>
              <a:rPr b="1"/>
              <a:t>:</a:t>
            </a:r>
          </a:p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Will the trend line in Version B look the same as Version A, or different? Why?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width_cm,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"grey40"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xlim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ylim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"Zoomed with xlim()/ylim()"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"Width (cm)"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"Weight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Compare the two trend lines. Are they the same? Explain why, in terms of what each function does to the data </a:t>
            </a:r>
            <a:r>
              <a:rPr i="1"/>
              <a:t>before</a:t>
            </a:r>
            <a:r>
              <a:rPr/>
              <a:t> the line is fit.</a:t>
            </a:r>
          </a:p>
          <a:p>
            <a:pPr lvl="0" indent="0">
              <a:buNone/>
            </a:pPr>
            <a:r>
              <a:rPr>
                <a:latin typeface="Courier"/>
              </a:rPr>
              <a:t>Same or different?
Why: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Pick a theme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this, trying each theme in turn: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leaf_plot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"goldenrod"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"forestgreen"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Side"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theme_grey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theme_classic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theme_light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theme do you like best for this plot, and why?</a:t>
            </a:r>
          </a:p>
          <a:p>
            <a:pPr lvl="0" indent="0">
              <a:buNone/>
            </a:pPr>
            <a:r>
              <a:rPr>
                <a:latin typeface="Courier"/>
              </a:rPr>
              <a:t>Theme chosen:
Why: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Adjust it with </a:t>
            </a:r>
            <a:r>
              <a:rPr b="1">
                <a:latin typeface="Courier"/>
              </a:rPr>
              <a:t>theme()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leaf_plot_final &lt;- leaf_plot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theme_classic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axis.text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axis.title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leaf_plot_final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Change </a:t>
            </a:r>
            <a:r>
              <a:rPr>
                <a:latin typeface="Courier"/>
              </a:rPr>
              <a:t>axis.text</a:t>
            </a:r>
            <a:r>
              <a:rPr/>
              <a:t> to </a:t>
            </a:r>
            <a:r>
              <a:rPr>
                <a:latin typeface="Courier"/>
              </a:rPr>
              <a:t>size = 16</a:t>
            </a:r>
            <a:r>
              <a:rPr/>
              <a:t>. Too big, too small, or just right?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modified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Your judgment: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Save in two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"figures/leaf_weight_theme.png"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leaf_plot_final,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"figures/leaf_weight_theme.pdf"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leaf_plot_final,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Open both files. In one sentence, when would you send a colleague the </a:t>
            </a:r>
            <a:r>
              <a:rPr>
                <a:latin typeface="Courier"/>
              </a:rPr>
              <a:t>.pdf</a:t>
            </a:r>
            <a:r>
              <a:rPr/>
              <a:t> instead of the </a:t>
            </a:r>
            <a:r>
              <a:rPr>
                <a:latin typeface="Courier"/>
              </a:rPr>
              <a:t>.png</a:t>
            </a:r>
            <a:r>
              <a:rPr/>
              <a:t>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should be able to:</a:t>
            </a:r>
          </a:p>
          <a:p>
            <a:pPr lvl="0"/>
            <a:r>
              <a:rPr/>
              <a:t>☐ Map shape alongside color and merge the legends</a:t>
            </a:r>
          </a:p>
          <a:p>
            <a:pPr lvl="0"/>
            <a:r>
              <a:rPr/>
              <a:t>☐ Add a </a:t>
            </a:r>
            <a:r>
              <a:rPr>
                <a:latin typeface="Courier"/>
              </a:rPr>
              <a:t>geom_smooth(method = "lm")</a:t>
            </a:r>
            <a:r>
              <a:rPr/>
              <a:t> trend line</a:t>
            </a:r>
          </a:p>
          <a:p>
            <a:pPr lvl="0"/>
            <a:r>
              <a:rPr/>
              <a:t>☐ Explain why </a:t>
            </a:r>
            <a:r>
              <a:rPr>
                <a:latin typeface="Courier"/>
              </a:rPr>
              <a:t>coord_cartesian()</a:t>
            </a:r>
            <a:r>
              <a:rPr/>
              <a:t> and </a:t>
            </a:r>
            <a:r>
              <a:rPr>
                <a:latin typeface="Courier"/>
              </a:rPr>
              <a:t>xlim()</a:t>
            </a:r>
            <a:r>
              <a:rPr/>
              <a:t>/</a:t>
            </a:r>
            <a:r>
              <a:rPr>
                <a:latin typeface="Courier"/>
              </a:rPr>
              <a:t>ylim()</a:t>
            </a:r>
            <a:r>
              <a:rPr/>
              <a:t> can produce different trend lines</a:t>
            </a:r>
          </a:p>
          <a:p>
            <a:pPr lvl="0"/>
            <a:r>
              <a:rPr/>
              <a:t>☐ Try all five built-in themes on the same plot</a:t>
            </a:r>
          </a:p>
          <a:p>
            <a:pPr lvl="0"/>
            <a:r>
              <a:rPr/>
              <a:t>☐ Adjust a theme with </a:t>
            </a:r>
            <a:r>
              <a:rPr>
                <a:latin typeface="Courier"/>
              </a:rPr>
              <a:t>theme()</a:t>
            </a:r>
          </a:p>
          <a:p>
            <a:pPr lvl="0"/>
            <a:r>
              <a:rPr/>
              <a:t>☐ Save a plot as both </a:t>
            </a:r>
            <a:r>
              <a:rPr>
                <a:latin typeface="Courier"/>
              </a:rPr>
              <a:t>.png</a:t>
            </a:r>
            <a:r>
              <a:rPr/>
              <a:t> and </a:t>
            </a:r>
            <a:r>
              <a:rPr>
                <a:latin typeface="Courier"/>
              </a:rPr>
              <a:t>.pdf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entire script with </a:t>
            </a:r>
            <a:r>
              <a:rPr b="1"/>
              <a:t>Ctrl/Cmd + Shift + Enter</a:t>
            </a:r>
            <a:r>
              <a:rPr/>
              <a:t>. Does it complete without errors?</a:t>
            </a:r>
          </a:p>
          <a:p>
            <a:pPr lvl="0" indent="0">
              <a:buNone/>
            </a:pPr>
            <a:r>
              <a:rPr>
                <a:latin typeface="Courier"/>
              </a:rPr>
              <a:t>Ran cleanly?  Y / N
If not, what error appeared: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your </a:t>
            </a:r>
            <a:r>
              <a:rPr>
                <a:latin typeface="Courier"/>
              </a:rPr>
              <a:t>figures/</a:t>
            </a:r>
            <a:r>
              <a:rPr/>
              <a:t> folder should contain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tree_project/
├── data/
│   └── 2026_06_25_tree_experiment_raw_data.xlsx   &lt;- never edit this
├── figures/
│   ├── leaf_weight_theme.png                       &lt;- Part 4
│   └── leaf_weight_theme.pdf                       &lt;- Part 4
└── scripts/
    └── 04_ggplot_2.R                               &lt;- your script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Extension — out of class (~30–40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Turn this in with your worksheet. In class you zoomed a fixed window on </a:t>
            </a:r>
            <a:r>
              <a:rPr i="1">
                <a:latin typeface="Courier"/>
              </a:rPr>
              <a:t>weight_g</a:t>
            </a:r>
            <a:r>
              <a:rPr i="1"/>
              <a:t> vs </a:t>
            </a:r>
            <a:r>
              <a:rPr i="1">
                <a:latin typeface="Courier"/>
              </a:rPr>
              <a:t>height_cm</a:t>
            </a:r>
            <a:r>
              <a:rPr i="1"/>
              <a:t>. Now the variable pair </a:t>
            </a:r>
            <a:r>
              <a:rPr b="1" i="1"/>
              <a:t>and</a:t>
            </a:r>
            <a:r>
              <a:rPr i="1"/>
              <a:t> the window are yours.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E2 and E3 must be handwritten</a:t>
            </a:r>
            <a:r>
              <a:rPr sz="2000"/>
              <a:t> on paper, photographed, and embedded (</a:t>
            </a:r>
            <a:r>
              <a:rPr sz="2000">
                <a:latin typeface="Courier"/>
              </a:rPr>
              <a:t>![caption](my_photo.jpg)</a:t>
            </a:r>
            <a:r>
              <a:rPr sz="2000"/>
              <a:t>). Typed answers to E2/E3 get </a:t>
            </a:r>
            <a:r>
              <a:rPr sz="2000" b="1"/>
              <a:t>at most half credit, even if correct</a:t>
            </a:r>
            <a:r>
              <a:rPr sz="2000"/>
              <a:t> — I want your own prediction and reasoning about </a:t>
            </a:r>
            <a:r>
              <a:rPr sz="2000" i="1"/>
              <a:t>your own</a:t>
            </a:r>
            <a:r>
              <a:rPr sz="2000"/>
              <a:t> numbers.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E1 · Your own zoom window (4 pts)</a:t>
            </a:r>
          </a:p>
          <a:p>
            <a:pPr lvl="0" indent="-342900" marL="342900">
              <a:buAutoNum type="arabicPeriod"/>
            </a:pPr>
            <a:r>
              <a:rPr/>
              <a:t>Pick </a:t>
            </a:r>
            <a:r>
              <a:rPr b="1"/>
              <a:t>your own pair of numeric variables</a:t>
            </a:r>
            <a:r>
              <a:rPr/>
              <a:t> from </a:t>
            </a:r>
            <a:r>
              <a:rPr>
                <a:latin typeface="Courier"/>
              </a:rPr>
              <a:t>tree_df</a:t>
            </a:r>
            <a:r>
              <a:rPr/>
              <a:t> that class did </a:t>
            </a:r>
            <a:r>
              <a:rPr i="1"/>
              <a:t>not</a:t>
            </a:r>
            <a:r>
              <a:rPr/>
              <a:t> use together (not </a:t>
            </a:r>
            <a:r>
              <a:rPr>
                <a:latin typeface="Courier"/>
              </a:rPr>
              <a:t>weight_g</a:t>
            </a:r>
            <a:r>
              <a:rPr/>
              <a:t> vs </a:t>
            </a:r>
            <a:r>
              <a:rPr>
                <a:latin typeface="Courier"/>
              </a:rPr>
              <a:t>height_cm</a:t>
            </a:r>
            <a:r>
              <a:rPr/>
              <a:t>). </a:t>
            </a:r>
            <a:r>
              <a:rPr>
                <a:latin typeface="Courier"/>
              </a:rPr>
              <a:t>width_cm</a:t>
            </a:r>
            <a:r>
              <a:rPr/>
              <a:t> is available.</a:t>
            </a:r>
          </a:p>
          <a:p>
            <a:pPr lvl="0" indent="-342900" marL="342900">
              <a:buAutoNum type="arabicPeriod"/>
            </a:pPr>
            <a:r>
              <a:rPr/>
              <a:t>Look at the range of your x-variable (</a:t>
            </a:r>
            <a:r>
              <a:rPr>
                <a:latin typeface="Courier"/>
              </a:rPr>
              <a:t>range()</a:t>
            </a:r>
            <a:r>
              <a:rPr/>
              <a:t> / </a:t>
            </a:r>
            <a:r>
              <a:rPr>
                <a:latin typeface="Courier"/>
              </a:rPr>
              <a:t>summary()</a:t>
            </a:r>
            <a:r>
              <a:rPr/>
              <a:t>), then pick a </a:t>
            </a:r>
            <a:r>
              <a:rPr b="1"/>
              <a:t>zoom window that cuts the data roughly in half</a:t>
            </a:r>
            <a:r>
              <a:rPr/>
              <a:t> — a real cut, not a guess.</a:t>
            </a:r>
          </a:p>
          <a:p>
            <a:pPr lvl="0" indent="-342900" marL="342900">
              <a:buAutoNum type="arabicPeriod"/>
            </a:pPr>
            <a:r>
              <a:rPr/>
              <a:t>Build the </a:t>
            </a:r>
            <a:r>
              <a:rPr>
                <a:latin typeface="Courier"/>
              </a:rPr>
              <a:t>coord_cartesian()</a:t>
            </a:r>
            <a:r>
              <a:rPr/>
              <a:t> version and the </a:t>
            </a:r>
            <a:r>
              <a:rPr>
                <a:latin typeface="Courier"/>
              </a:rPr>
              <a:t>xlim()</a:t>
            </a:r>
            <a:r>
              <a:rPr/>
              <a:t> version of a scatter with </a:t>
            </a:r>
            <a:r>
              <a:rPr>
                <a:latin typeface="Courier"/>
              </a:rPr>
              <a:t>geom_smooth(method = "lm")</a:t>
            </a:r>
            <a:r>
              <a:rPr/>
              <a:t>, exactly like the in-class Part 3.</a:t>
            </a:r>
          </a:p>
          <a:p>
            <a:pPr lvl="0" indent="-342900" marL="342900">
              <a:buAutoNum type="arabicPeriod"/>
            </a:pPr>
            <a:r>
              <a:rPr/>
              <a:t>Run </a:t>
            </a:r>
            <a:r>
              <a:rPr>
                <a:latin typeface="Courier"/>
              </a:rPr>
              <a:t>nrow(tree_df)</a:t>
            </a:r>
            <a:r>
              <a:rPr/>
              <a:t>, then </a:t>
            </a:r>
            <a:r>
              <a:rPr>
                <a:latin typeface="Courier"/>
              </a:rPr>
              <a:t>filter()</a:t>
            </a:r>
            <a:r>
              <a:rPr/>
              <a:t> </a:t>
            </a:r>
            <a:r>
              <a:rPr>
                <a:latin typeface="Courier"/>
              </a:rPr>
              <a:t>tree_df</a:t>
            </a:r>
            <a:r>
              <a:rPr/>
              <a:t> to your window and check </a:t>
            </a:r>
            <a:r>
              <a:rPr>
                <a:latin typeface="Courier"/>
              </a:rPr>
              <a:t>nrow()</a:t>
            </a:r>
            <a:r>
              <a:rPr/>
              <a:t> again — that’s the row count </a:t>
            </a:r>
            <a:r>
              <a:rPr>
                <a:latin typeface="Courier"/>
              </a:rPr>
              <a:t>xlim()</a:t>
            </a:r>
            <a:r>
              <a:rPr/>
              <a:t> is silently using.</a:t>
            </a:r>
          </a:p>
          <a:p>
            <a:pPr lvl="0" indent="0" marL="0">
              <a:buNone/>
            </a:pPr>
            <a:r>
              <a:rPr/>
              <a:t>Record your exact window and both row counts (they’ll differ for everyone).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E2 · Predict, then check — ✍️ by hand (3 pts)</a:t>
            </a:r>
          </a:p>
          <a:p>
            <a:pPr lvl="0" indent="0" marL="0">
              <a:buNone/>
            </a:pPr>
            <a:r>
              <a:rPr b="1"/>
              <a:t>Before running E1:</a:t>
            </a:r>
            <a:r>
              <a:rPr/>
              <a:t> write your variable pair and window, and predict — will the </a:t>
            </a:r>
            <a:r>
              <a:rPr>
                <a:latin typeface="Courier"/>
              </a:rPr>
              <a:t>xlim()</a:t>
            </a:r>
            <a:r>
              <a:rPr/>
              <a:t> trend line be the same slope as the </a:t>
            </a:r>
            <a:r>
              <a:rPr>
                <a:latin typeface="Courier"/>
              </a:rPr>
              <a:t>coord_cartesian()</a:t>
            </a:r>
            <a:r>
              <a:rPr/>
              <a:t> one, steeper, or shallower? Also predict, as a number, how many rows land in your window. Run the code, then write how close your row-count guess was and whether the trend lines differed as predicted.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E3 · Explain it — ✍️ by hand, using YOUR numbers (3 pts)</a:t>
            </a:r>
          </a:p>
          <a:p>
            <a:pPr lvl="0" indent="-342900" marL="342900">
              <a:buAutoNum type="arabicPeriod"/>
            </a:pPr>
            <a:r>
              <a:rPr/>
              <a:t>Using your before/after row counts, explain why </a:t>
            </a:r>
            <a:r>
              <a:rPr>
                <a:latin typeface="Courier"/>
              </a:rPr>
              <a:t>xlim()</a:t>
            </a:r>
            <a:r>
              <a:rPr/>
              <a:t> gave a different line than </a:t>
            </a:r>
            <a:r>
              <a:rPr>
                <a:latin typeface="Courier"/>
              </a:rPr>
              <a:t>coord_cartesian()</a:t>
            </a:r>
            <a:r>
              <a:rPr/>
              <a:t> for </a:t>
            </a:r>
            <a:r>
              <a:rPr i="1"/>
              <a:t>your</a:t>
            </a:r>
            <a:r>
              <a:rPr/>
              <a:t> window. If the counts came out equal, explain how that can happen.</a:t>
            </a:r>
          </a:p>
          <a:p>
            <a:pPr lvl="0" indent="-342900" marL="342900">
              <a:buAutoNum type="arabicPeriod"/>
            </a:pPr>
            <a:r>
              <a:rPr/>
              <a:t>In your own words, why is it dangerous that </a:t>
            </a:r>
            <a:r>
              <a:rPr>
                <a:latin typeface="Courier"/>
              </a:rPr>
              <a:t>xlim()</a:t>
            </a:r>
            <a:r>
              <a:rPr/>
              <a:t>/</a:t>
            </a:r>
            <a:r>
              <a:rPr>
                <a:latin typeface="Courier"/>
              </a:rPr>
              <a:t>ylim()</a:t>
            </a:r>
            <a:r>
              <a:rPr/>
              <a:t> delete rows </a:t>
            </a:r>
            <a:r>
              <a:rPr i="1"/>
              <a:t>silently</a:t>
            </a:r>
            <a:r>
              <a:rPr/>
              <a:t>? Give a realistic case where that silent deletion leads to a wrong conclusion.</a:t>
            </a:r>
          </a:p>
          <a:p>
            <a:pPr lvl="0" indent="-342900" marL="342900">
              <a:buAutoNum type="arabicPeriod"/>
            </a:pPr>
            <a:r>
              <a:rPr/>
              <a:t>Name the theme you chose in the in-class Part 4 and say, in a sentence or two, why you’d pick it over </a:t>
            </a:r>
            <a:r>
              <a:rPr>
                <a:latin typeface="Courier"/>
              </a:rPr>
              <a:t>theme_grey()</a:t>
            </a:r>
            <a:r>
              <a:rPr/>
              <a:t> for a figure in a report.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/>
              <a:t>Line looks wrong after zooming?</a:t>
            </a:r>
            <a:r>
              <a:rPr/>
              <a:t> Check whether you used </a:t>
            </a:r>
            <a:r>
              <a:rPr>
                <a:latin typeface="Courier"/>
              </a:rPr>
              <a:t>xlim()</a:t>
            </a:r>
            <a:r>
              <a:rPr/>
              <a:t>/</a:t>
            </a:r>
            <a:r>
              <a:rPr>
                <a:latin typeface="Courier"/>
              </a:rPr>
              <a:t>ylim()</a:t>
            </a:r>
            <a:r>
              <a:rPr/>
              <a:t> (deletes data) instead of </a:t>
            </a:r>
            <a:r>
              <a:rPr>
                <a:latin typeface="Courier"/>
              </a:rPr>
              <a:t>coord_cartesian()</a:t>
            </a:r>
            <a:r>
              <a:rPr/>
              <a:t> (keeps it).</a:t>
            </a:r>
          </a:p>
          <a:p>
            <a:pPr lvl="0" indent="-342900" marL="342900">
              <a:buAutoNum type="arabicPeriod"/>
            </a:pPr>
            <a:r>
              <a:rPr b="1"/>
              <a:t>Legend didn’t merge?</a:t>
            </a:r>
            <a:r>
              <a:rPr/>
              <a:t> </a:t>
            </a:r>
            <a:r>
              <a:rPr>
                <a:latin typeface="Courier"/>
              </a:rPr>
              <a:t>color</a:t>
            </a:r>
            <a:r>
              <a:rPr/>
              <a:t> and </a:t>
            </a:r>
            <a:r>
              <a:rPr>
                <a:latin typeface="Courier"/>
              </a:rPr>
              <a:t>shape</a:t>
            </a:r>
            <a:r>
              <a:rPr/>
              <a:t> (or the matching </a:t>
            </a:r>
            <a:r>
              <a:rPr>
                <a:latin typeface="Courier"/>
              </a:rPr>
              <a:t>labs()</a:t>
            </a:r>
            <a:r>
              <a:rPr/>
              <a:t> titles) must reference the exact same variable name.</a:t>
            </a:r>
          </a:p>
          <a:p>
            <a:pPr lvl="0" indent="-342900" marL="342900">
              <a:buAutoNum type="arabicPeriod"/>
            </a:pPr>
            <a:r>
              <a:rPr b="1"/>
              <a:t>Cheat sheets</a:t>
            </a:r>
            <a:r>
              <a:rPr/>
              <a:t> — </a:t>
            </a:r>
            <a:r>
              <a:rPr>
                <a:hlinkClick r:id="rId2"/>
              </a:rPr>
              <a:t>https://posit.co/resources/cheatsheets/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class, Canvas, or office hours.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the GGplot II worksheet. Next: wrangling with filter, select, mutate, and arrange.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04 - GGPlot II</dc:title>
  <dc:creator>Bill Perry</dc:creator>
  <cp:keywords/>
  <dc:description>Hands-on companion to the GGPlot II lecture. Map shape alongside color, add a trend line, compare coord_cartesian() to xlim()/ylim(), and pick and save a themed figure.</dc:description>
  <dcterms:created xsi:type="dcterms:W3CDTF">2026-08-27T20:05:42Z</dcterms:created>
  <dcterms:modified xsi:type="dcterms:W3CDTF">2026-08-27T20:05:42Z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2026-08-27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4</vt:lpwstr>
  </property>
  <property fmtid="{D5CDD505-2E9C-101B-9397-08002B2CF9AE}" pid="13" name="resources">
    <vt:lpwstr/>
  </property>
  <property fmtid="{D5CDD505-2E9C-101B-9397-08002B2CF9AE}" pid="14" name="subtitle">
    <vt:lpwstr>More geoms, zooming safely, and picking a theme</vt:lpwstr>
  </property>
  <property fmtid="{D5CDD505-2E9C-101B-9397-08002B2CF9AE}" pid="15" name="toc-title">
    <vt:lpwstr>Table of contents</vt:lpwstr>
  </property>
  <property fmtid="{D5CDD505-2E9C-101B-9397-08002B2CF9AE}" pid="16" name="type">
    <vt:lpwstr>activity</vt:lpwstr>
  </property>
  <property fmtid="{D5CDD505-2E9C-101B-9397-08002B2CF9AE}" pid="17" name="week">
    <vt:lpwstr>2</vt:lpwstr>
  </property>
</Properties>
</file>