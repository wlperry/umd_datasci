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04 -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Coordinates, and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03</a:t>
            </a:r>
          </a:p>
          <a:p>
            <a:pPr lvl="0"/>
            <a:r>
              <a:rPr/>
              <a:t>Piped </a:t>
            </a:r>
            <a:r>
              <a:rPr>
                <a:latin typeface="Courier"/>
              </a:rPr>
              <a:t>tree_df</a:t>
            </a:r>
            <a:r>
              <a:rPr/>
              <a:t> straight into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/>
              <a:t>Assigned exact colors with </a:t>
            </a:r>
            <a:r>
              <a:rPr>
                <a:latin typeface="Courier"/>
              </a:rPr>
              <a:t>scale_fill_manual()</a:t>
            </a:r>
            <a:r>
              <a:rPr/>
              <a:t> /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plots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Built a mean ± SE plot with </a:t>
            </a:r>
            <a:r>
              <a:rPr>
                <a:latin typeface="Courier"/>
              </a:rPr>
              <a:t>stat_summary()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Map shape alongside color, and add a </a:t>
            </a:r>
            <a:r>
              <a:rPr>
                <a:latin typeface="Courier"/>
              </a:rPr>
              <a:t>geom_smooth()</a:t>
            </a:r>
            <a:r>
              <a:rPr/>
              <a:t> trend line</a:t>
            </a:r>
          </a:p>
          <a:p>
            <a:pPr lvl="0" indent="-342900" marL="342900">
              <a:buAutoNum type="arabicPeriod"/>
            </a:pPr>
            <a:r>
              <a:rPr/>
              <a:t>Compare </a:t>
            </a:r>
            <a:r>
              <a:rPr>
                <a:latin typeface="Courier"/>
              </a:rPr>
              <a:t>coord_cartesian()</a:t>
            </a:r>
            <a:r>
              <a:rPr/>
              <a:t> to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</a:p>
          <a:p>
            <a:pPr lvl="0" indent="-342900" marL="342900">
              <a:buAutoNum type="arabicPeriod"/>
            </a:pPr>
            <a:r>
              <a:rPr/>
              <a:t>Pick a built-in theme and adjust it with </a:t>
            </a:r>
            <a:r>
              <a:rPr>
                <a:latin typeface="Courier"/>
              </a:rPr>
              <a:t>theme()</a:t>
            </a:r>
          </a:p>
          <a:p>
            <a:pPr lvl="0" indent="-342900" marL="342900">
              <a:buAutoNum type="arabicPeriod"/>
            </a:pPr>
            <a:r>
              <a:rPr/>
              <a:t>Save a plot as both PNG and PDF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at your own pace. Type the code into a new R script in Positron and run it line by line. Code blocks marked </a:t>
            </a:r>
            <a:r>
              <a:rPr sz="2000" b="1"/>
              <a:t>▶ Run this</a:t>
            </a:r>
            <a:r>
              <a:rPr sz="2000"/>
              <a:t> should be executed exactly as written. Blocks marked </a:t>
            </a:r>
            <a:r>
              <a:rPr sz="2000" b="1"/>
              <a:t>✏️ Your turn</a:t>
            </a:r>
            <a:r>
              <a:rPr sz="2000"/>
              <a:t> ask you to write or modify something.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0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We map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same variable. One legend or two?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geom_smooth(method = "lm")</a:t>
            </a:r>
            <a:r>
              <a:rPr/>
              <a:t> layer to the plot above (no color/fill needed — let it default). Does the line slope up or down?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Slope direction (up/down):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Version A, </a:t>
            </a:r>
            <a:r>
              <a:rPr b="1">
                <a:latin typeface="Courier"/>
              </a:rPr>
              <a:t>coord_cartesian()</a:t>
            </a:r>
            <a:r>
              <a:rPr b="1"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 — Version B, </a:t>
            </a:r>
            <a:r>
              <a:rPr b="1">
                <a:latin typeface="Courier"/>
              </a:rPr>
              <a:t>xlim()</a:t>
            </a:r>
            <a:r>
              <a:rPr b="1"/>
              <a:t>/</a:t>
            </a:r>
            <a:r>
              <a:rPr b="1">
                <a:latin typeface="Courier"/>
              </a:rPr>
              <a:t>ylim()</a:t>
            </a:r>
            <a:r>
              <a:rPr b="1"/>
              <a:t>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Will the trend line in Version B look the same as Version A, or different? Why?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xlim()/ylim()"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two trend lines. Are they the same? Explain why, in terms of what each function does to the data </a:t>
            </a:r>
            <a:r>
              <a:rPr i="1"/>
              <a:t>before</a:t>
            </a:r>
            <a:r>
              <a:rPr/>
              <a:t> the line is fit.</a:t>
            </a:r>
          </a:p>
          <a:p>
            <a:pPr lvl="0" indent="0">
              <a:buNone/>
            </a:pPr>
            <a:r>
              <a:rPr>
                <a:latin typeface="Courier"/>
              </a:rPr>
              <a:t>Same or different?
Why: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this, trying each theme in turn: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theme_grey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plot,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Theme chosen:
Why: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Adjust it with </a:t>
            </a:r>
            <a:r>
              <a:rPr b="1">
                <a:latin typeface="Courier"/>
              </a:rPr>
              <a:t>theme()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leaf_plot_final &lt;- leaf_plot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leaf_plot_final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axis.text</a:t>
            </a:r>
            <a:r>
              <a:rPr/>
              <a:t> to </a:t>
            </a:r>
            <a:r>
              <a:rPr>
                <a:latin typeface="Courier"/>
              </a:rPr>
              <a:t>size = 16</a:t>
            </a:r>
            <a:r>
              <a:rPr/>
              <a:t>. Too big, too small, or just right?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judgment: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Save in two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leaf_plot_final,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leaf_plot_final,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Open both files. In one sentence, when would you send a colleague the </a:t>
            </a:r>
            <a:r>
              <a:rPr>
                <a:latin typeface="Courier"/>
              </a:rPr>
              <a:t>.pdf</a:t>
            </a:r>
            <a:r>
              <a:rPr/>
              <a:t> instead of the </a:t>
            </a:r>
            <a:r>
              <a:rPr>
                <a:latin typeface="Courier"/>
              </a:rPr>
              <a:t>.png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Map shape alongside color and merge the legends</a:t>
            </a:r>
          </a:p>
          <a:p>
            <a:pPr lvl="0"/>
            <a:r>
              <a:rPr/>
              <a:t>☐ Add a </a:t>
            </a:r>
            <a:r>
              <a:rPr>
                <a:latin typeface="Courier"/>
              </a:rPr>
              <a:t>geom_smooth(method = "lm")</a:t>
            </a:r>
            <a:r>
              <a:rPr/>
              <a:t> trend line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coord_cartesian()</a:t>
            </a:r>
            <a:r>
              <a:rPr/>
              <a:t> and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can produce different trend lines</a:t>
            </a:r>
          </a:p>
          <a:p>
            <a:pPr lvl="0"/>
            <a:r>
              <a:rPr/>
              <a:t>☐ Try all five built-in themes on the same plot</a:t>
            </a:r>
          </a:p>
          <a:p>
            <a:pPr lvl="0"/>
            <a:r>
              <a:rPr/>
              <a:t>☐ Adjust a theme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☐ Save a plot as both </a:t>
            </a:r>
            <a:r>
              <a:rPr>
                <a:latin typeface="Courier"/>
              </a:rPr>
              <a:t>.png</a:t>
            </a:r>
            <a:r>
              <a:rPr/>
              <a:t> and </a:t>
            </a:r>
            <a:r>
              <a:rPr>
                <a:latin typeface="Courier"/>
              </a:rPr>
              <a:t>.pdf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tree_project/
├── data/
│   └── 2026_06_25_tree_experiment_raw_data.xlsx   &lt;- never edit this
├── figures/
│   ├── leaf_weight_theme.png                       &lt;- Part 4
│   └── leaf_weight_theme.pdf                       &lt;- Part 4
└── scripts/
    └── 04_ggplot_2.R                               &lt;- your script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Line looks wrong after zooming?</a:t>
            </a:r>
            <a:r>
              <a:rPr/>
              <a:t> Check whether you used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(deletes data) instead of </a:t>
            </a:r>
            <a:r>
              <a:rPr>
                <a:latin typeface="Courier"/>
              </a:rPr>
              <a:t>coord_cartesian()</a:t>
            </a:r>
            <a:r>
              <a:rPr/>
              <a:t> (keeps it).</a:t>
            </a:r>
          </a:p>
          <a:p>
            <a:pPr lvl="0" indent="-342900" marL="342900">
              <a:buAutoNum type="arabicPeriod"/>
            </a:pPr>
            <a:r>
              <a:rPr b="1"/>
              <a:t>Legend didn’t merge?</a:t>
            </a:r>
            <a:r>
              <a:rPr/>
              <a:t>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(or the matching </a:t>
            </a:r>
            <a:r>
              <a:rPr>
                <a:latin typeface="Courier"/>
              </a:rPr>
              <a:t>labs()</a:t>
            </a:r>
            <a:r>
              <a:rPr/>
              <a:t> titles) must reference the exact same variable name.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covers wrangling with filter, select, mutate, and arrange.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04 - GGPlot II</dc:title>
  <dc:creator>Bill Perry</dc:creator>
  <cp:keywords/>
  <dc:description>Hands-on companion to the GGPlot II lecture. Map shape alongside color, add a trend line, compare coord_cartesian() to xlim()/ylim(), and pick and save a themed figure.</dc:description>
  <dcterms:created xsi:type="dcterms:W3CDTF">2026-08-27T17:12:00Z</dcterms:created>
  <dcterms:modified xsi:type="dcterms:W3CDTF">2026-08-27T17:12:00Z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2</vt:lpwstr>
  </property>
</Properties>
</file>