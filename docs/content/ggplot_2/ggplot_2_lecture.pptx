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adjust it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side</a:t>
            </a:r>
            <a:r>
              <a:rPr sz="2000"/>
              <a:t> and </a:t>
            </a:r>
            <a:r>
              <a:rPr sz="2000">
                <a:latin typeface="Courier"/>
              </a:rPr>
              <a:t>shape = side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Map shape and color to </a:t>
            </a:r>
            <a:r>
              <a:rPr>
                <a:latin typeface="Courier"/>
              </a:rPr>
              <a:t>side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Without Losing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— they look the same until they don’t.</a:t>
            </a:r>
          </a:p>
          <a:p>
            <a:pPr lvl="0" indent="0" marL="0">
              <a:buNone/>
            </a:pPr>
            <a:r>
              <a:rPr b="1"/>
              <a:t>🛑 After this chunk you will do Activity Part 2.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Without Removing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trend line is fit on </a:t>
            </a:r>
            <a:r>
              <a:rPr b="1"/>
              <a:t>all 20 leaves</a:t>
            </a:r>
            <a:r>
              <a:rPr/>
              <a:t>, then the plot window is cropped afterward</a:t>
            </a:r>
          </a:p>
          <a:p>
            <a:pPr lvl="0"/>
            <a:r>
              <a:rPr/>
              <a:t>Safe to use anytime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— Removes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our zoom window </a:t>
            </a:r>
            <a:r>
              <a:rPr sz="2000" i="1"/>
              <a:t>before</a:t>
            </a:r>
            <a:r>
              <a:rPr sz="2000"/>
              <a:t> fitting the trend line, will the line look the same as before,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xlim()/ylim() DELETE rows outside the range first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 / ylim() — different line!"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rows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trend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produced, with no warning that data went missing.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</a:t>
            </a:r>
            <a:r>
              <a:rPr>
                <a:latin typeface="Courier"/>
              </a:rPr>
              <a:t>coord_cartesian()</a:t>
            </a:r>
            <a:r>
              <a:rPr/>
              <a:t> to zoom. Only use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excluded from the analysis, not just out of 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2 now</a:t>
            </a:r>
          </a:p>
          <a:p>
            <a:pPr lvl="0" indent="0" marL="0">
              <a:buNone/>
            </a:pPr>
            <a:r>
              <a:rPr/>
              <a:t>Zoom the same plot two ways and compare the trend lines.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3–4.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built-in themes to try on the same plot: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theme_bw()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grey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subtle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theme_light()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grey lines and border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redundant legend</a:t>
            </a:r>
          </a:p>
          <a:p>
            <a:pPr lvl="0"/>
            <a:r>
              <a:rPr>
                <a:latin typeface="Courier"/>
              </a:rPr>
              <a:t>axis.text</a:t>
            </a:r>
            <a:r>
              <a:rPr/>
              <a:t> / </a:t>
            </a:r>
            <a:r>
              <a:rPr>
                <a:latin typeface="Courier"/>
              </a:rPr>
              <a:t>axis.title</a:t>
            </a:r>
            <a:r>
              <a:rPr/>
              <a:t> — control tick labels and axis titles separately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3–4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Built-in themes (</a:t>
            </a:r>
            <a:r>
              <a:rPr>
                <a:latin typeface="Courier"/>
              </a:rPr>
              <a:t>theme_classic()</a:t>
            </a:r>
            <a:r>
              <a:rPr/>
              <a:t>, etc.) + </a:t>
            </a:r>
            <a:r>
              <a:rPr>
                <a:latin typeface="Courier"/>
              </a:rPr>
              <a:t>theme()</a:t>
            </a:r>
            <a:r>
              <a:rPr/>
              <a:t> for small overrides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2026-09-04T20:06:21Z</dcterms:created>
  <dcterms:modified xsi:type="dcterms:W3CDTF">2026-09-04T20:06:21Z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