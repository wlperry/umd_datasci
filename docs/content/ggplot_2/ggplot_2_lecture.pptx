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visualize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www.kaggle.com/datasets?search=ufo+sightings" TargetMode="External" /><Relationship Id="rId4" Type="http://schemas.openxmlformats.org/officeDocument/2006/relationships/hyperlink" Target="https://www.kaggle.com/datasets?search=bigfoot+sightings" TargetMode="Externa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visualize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04 — GGPlot II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New data, safe zooming, distributions, themes, and patchwork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03 — GGPlot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Piping straight into a plot: </a:t>
            </a:r>
            <a:r>
              <a:rPr>
                <a:latin typeface="Courier"/>
              </a:rPr>
              <a:t>leaf_df %&gt;% ggplot(...)</a:t>
            </a:r>
          </a:p>
          <a:p>
            <a:pPr lvl="0"/>
            <a:r>
              <a:rPr>
                <a:latin typeface="Courier"/>
              </a:rPr>
              <a:t>scale_color_manual()</a:t>
            </a:r>
            <a:r>
              <a:rPr/>
              <a:t> / </a:t>
            </a:r>
            <a:r>
              <a:rPr>
                <a:latin typeface="Courier"/>
              </a:rPr>
              <a:t>scale_fill_manual()</a:t>
            </a:r>
            <a:r>
              <a:rPr/>
              <a:t> — colors you choose</a:t>
            </a:r>
          </a:p>
          <a:p>
            <a:pPr lvl="0"/>
            <a:r>
              <a:rPr>
                <a:latin typeface="Courier"/>
              </a:rPr>
              <a:t>facet_wrap()</a:t>
            </a:r>
            <a:r>
              <a:rPr/>
              <a:t> and </a:t>
            </a:r>
            <a:r>
              <a:rPr>
                <a:latin typeface="Courier"/>
              </a:rPr>
              <a:t>facet_grid()</a:t>
            </a:r>
            <a:r>
              <a:rPr/>
              <a:t> — one panel per group</a:t>
            </a:r>
          </a:p>
          <a:p>
            <a:pPr lvl="0"/>
            <a:r>
              <a:rPr>
                <a:latin typeface="Courier"/>
              </a:rPr>
              <a:t>stat_summary()</a:t>
            </a:r>
            <a:r>
              <a:rPr/>
              <a:t> — mean and mean ± SE, drawn from raw data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03</a:t>
            </a:r>
          </a:p>
          <a:p>
            <a:pPr lvl="0" indent="0" marL="1270000">
              <a:buNone/>
            </a:pPr>
            <a:r>
              <a:rPr sz="2000"/>
              <a:t>You already know how to build a grouped, colored, faceted figure — but only on </a:t>
            </a:r>
            <a:r>
              <a:rPr sz="2000">
                <a:latin typeface="Courier"/>
              </a:rPr>
              <a:t>leaf_df</a:t>
            </a:r>
            <a:r>
              <a:rPr sz="2000"/>
              <a:t>. Today’s real test: can you do it on data you’ve never seen before?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Practice your plotting skills on a </a:t>
            </a:r>
            <a:r>
              <a:rPr b="1"/>
              <a:t>brand-new dataset</a:t>
            </a:r>
            <a:r>
              <a:rPr/>
              <a:t>, and see where you’d find one yourself</a:t>
            </a:r>
          </a:p>
          <a:p>
            <a:pPr lvl="0"/>
            <a:r>
              <a:rPr/>
              <a:t>Zoom into a plot </a:t>
            </a:r>
            <a:r>
              <a:rPr b="1"/>
              <a:t>without silently dropping data</a:t>
            </a:r>
            <a:r>
              <a:rPr/>
              <a:t> — </a:t>
            </a:r>
            <a:r>
              <a:rPr>
                <a:latin typeface="Courier"/>
              </a:rPr>
              <a:t>coord_cartesian()</a:t>
            </a:r>
          </a:p>
          <a:p>
            <a:pPr lvl="0"/>
            <a:r>
              <a:rPr/>
              <a:t>Build a </a:t>
            </a:r>
            <a:r>
              <a:rPr b="1"/>
              <a:t>histogram</a:t>
            </a:r>
            <a:r>
              <a:rPr/>
              <a:t> and a </a:t>
            </a:r>
            <a:r>
              <a:rPr b="1"/>
              <a:t>density plot</a:t>
            </a:r>
            <a:r>
              <a:rPr/>
              <a:t> — two views of one distribution</a:t>
            </a:r>
          </a:p>
          <a:p>
            <a:pPr lvl="0"/>
            <a:r>
              <a:rPr/>
              <a:t>Apply a </a:t>
            </a:r>
            <a:r>
              <a:rPr b="1"/>
              <a:t>reusable theme file</a:t>
            </a:r>
            <a:r>
              <a:rPr/>
              <a:t>, and combine panels with </a:t>
            </a:r>
            <a:r>
              <a:rPr b="1">
                <a:latin typeface="Courier"/>
              </a:rPr>
              <a:t>patchwork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recognize the single most common ggplot mistake — zooming with </a:t>
            </a:r>
            <a:r>
              <a:rPr sz="2000">
                <a:latin typeface="Courier"/>
              </a:rPr>
              <a:t>ylim()</a:t>
            </a:r>
            <a:r>
              <a:rPr sz="2000"/>
              <a:t> / </a:t>
            </a:r>
            <a:r>
              <a:rPr sz="2000">
                <a:latin typeface="Courier"/>
              </a:rPr>
              <a:t>scale_y_continuous(limits = )</a:t>
            </a:r>
            <a:r>
              <a:rPr sz="2000"/>
              <a:t> — before you ever make it yourself.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Whitlock &amp; Schluter, Ch. 2 — </a:t>
            </a:r>
            <a:r>
              <a:rPr i="1"/>
              <a:t>Displaying Data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 1</a:t>
            </a:r>
            <a:r>
              <a:rPr/>
              <a:t> — Data Visualization</a:t>
            </a:r>
          </a:p>
          <a:p>
            <a:pPr lvl="0" indent="0" marL="0">
              <a:buNone/>
            </a:pPr>
            <a:r>
              <a:rPr/>
              <a:t>Both PDFs are in the course </a:t>
            </a:r>
            <a:r>
              <a:rPr>
                <a:latin typeface="Courier"/>
              </a:rPr>
              <a:t>readings/</a:t>
            </a:r>
            <a:r>
              <a:rPr/>
              <a:t> folder.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Use These Slides — Predict · Type ·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runs in </a:t>
            </a:r>
            <a:r>
              <a:rPr b="1"/>
              <a:t>five short chunks</a:t>
            </a:r>
            <a:r>
              <a:rPr/>
              <a:t>. After each chunk you switch to the activity and type the code yourself into your R script.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bother?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ylim()</a:t>
            </a:r>
            <a:r>
              <a:rPr sz="2000"/>
              <a:t> and </a:t>
            </a:r>
            <a:r>
              <a:rPr sz="2000">
                <a:latin typeface="Courier"/>
              </a:rPr>
              <a:t>coord_cartesian()</a:t>
            </a:r>
            <a:r>
              <a:rPr sz="2000"/>
              <a:t> produce plots that look </a:t>
            </a:r>
            <a:r>
              <a:rPr sz="2000" i="1"/>
              <a:t>identical</a:t>
            </a:r>
            <a:r>
              <a:rPr sz="2000"/>
              <a:t> for a simple scatter — the difference only shows up once you compute something (a boxplot, a smooth). Typing both yourself and comparing outputs is the only way this sticks.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1 of 5 · New Data, Same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loading </a:t>
            </a:r>
            <a:r>
              <a:rPr>
                <a:latin typeface="Courier"/>
              </a:rPr>
              <a:t>palmerpenguins</a:t>
            </a:r>
            <a:r>
              <a:rPr/>
              <a:t>, and rebuilding the two plot types you already know on data you’ve never seen.</a:t>
            </a:r>
          </a:p>
          <a:p>
            <a:pPr lvl="0" indent="0" marL="0">
              <a:buNone/>
            </a:pPr>
            <a:r>
              <a:rPr b="1"/>
              <a:t>🛑 After this chunk you will do Activity Parts 1–2.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Dataset You Didn’t Collect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of every script 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   </a:t>
            </a:r>
            <a:r>
              <a:rPr>
                <a:solidFill>
                  <a:srgbClr val="5E5E5E"/>
                </a:solidFill>
                <a:latin typeface="Courier"/>
              </a:rPr>
              <a:t># data wrangling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(palmerpenguins) </a:t>
            </a:r>
            <a:r>
              <a:rPr>
                <a:solidFill>
                  <a:srgbClr val="5E5E5E"/>
                </a:solidFill>
                <a:latin typeface="Courier"/>
              </a:rPr>
              <a:t># penguins data, Palmer Station LTER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palmerpenguins ships the data already clean 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&lt;- penguins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(species, bill_length_mm, bill_depth_mm,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flipper_length_mm, body_mass_g)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(penguins_df)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342
Columns: 8
$ species           &lt;fct&gt; Adelie, Adelie, Adelie, Adelie, Adeli…
$ island            &lt;fct&gt; Torgersen, Torgersen, Torgersen, Torg…
$ bill_length_mm    &lt;dbl&gt; 39.1, 39.5, 40.3, 36.7, 39.3, 38.9, 3…
$ bill_depth_mm     &lt;dbl&gt; 18.7, 17.4, 18.0, 19.3, 20.6, 17.8, 1…
$ flipper_length_mm &lt;int&gt; 181, 186, 195, 193, 190, 181, 195, 19…
$ body_mass_g       &lt;int&gt; 3750, 3800, 3250, 3450, 3650, 3625, 4…
$ sex               &lt;fct&gt; male, female, female, female, male, f…
$ year              &lt;int&gt; 2007, 2007, 2007, 2007, 2007, 2007, 2…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penguins</a:t>
            </a:r>
            <a:r>
              <a:rPr/>
              <a:t> comes </a:t>
            </a:r>
            <a:r>
              <a:rPr b="1"/>
              <a:t>inside the package</a:t>
            </a:r>
            <a:r>
              <a:rPr/>
              <a:t> — no </a:t>
            </a:r>
            <a:r>
              <a:rPr>
                <a:latin typeface="Courier"/>
              </a:rPr>
              <a:t>read_excel()</a:t>
            </a:r>
            <a:r>
              <a:rPr/>
              <a:t> needed, just </a:t>
            </a:r>
            <a:r>
              <a:rPr>
                <a:latin typeface="Courier"/>
              </a:rPr>
              <a:t>library(palmerpenguins)</a:t>
            </a:r>
          </a:p>
          <a:p>
            <a:pPr lvl="0"/>
            <a:r>
              <a:rPr/>
              <a:t>344 penguins, 3 species, Palmer Station, Antarctica</a:t>
            </a:r>
          </a:p>
          <a:p>
            <a:pPr lvl="0"/>
            <a:r>
              <a:rPr>
                <a:latin typeface="Courier"/>
              </a:rPr>
              <a:t>drop_na()</a:t>
            </a:r>
            <a:r>
              <a:rPr/>
              <a:t> removes the handful of rows missing a measurement — same idea as the </a:t>
            </a:r>
            <a:r>
              <a:rPr>
                <a:latin typeface="Courier"/>
              </a:rPr>
              <a:t>NA</a:t>
            </a:r>
            <a:r>
              <a:rPr/>
              <a:t>s in </a:t>
            </a:r>
            <a:r>
              <a:rPr>
                <a:latin typeface="Courier"/>
              </a:rPr>
              <a:t>leaf_df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Same Simple XY Plot — On New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longer flippers, heavier birds. Will the three species separate into three clouds, or overlap into one?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exact same recipe you used on leaf_df 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flipper_length_mm,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vs. Flipper Length"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"Flipper Length (mm)"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ggplot_2_lecture_files/figure-pptx/xy-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032000"/>
            <a:ext cx="4432300" cy="177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Same </a:t>
            </a:r>
            <a:r>
              <a:rPr>
                <a:latin typeface="Courier"/>
              </a:rPr>
              <a:t>aes()</a:t>
            </a:r>
            <a:r>
              <a:rPr/>
              <a:t> + </a:t>
            </a:r>
            <a:r>
              <a:rPr>
                <a:latin typeface="Courier"/>
              </a:rPr>
              <a:t>geom_point()</a:t>
            </a:r>
            <a:r>
              <a:rPr/>
              <a:t> + </a:t>
            </a:r>
            <a:r>
              <a:rPr>
                <a:latin typeface="Courier"/>
              </a:rPr>
              <a:t>labs()</a:t>
            </a:r>
            <a:r>
              <a:rPr/>
              <a:t> + </a:t>
            </a:r>
            <a:r>
              <a:rPr>
                <a:latin typeface="Courier"/>
              </a:rPr>
              <a:t>theme_minimal()</a:t>
            </a:r>
            <a:r>
              <a:rPr/>
              <a:t> you already typed for leaves</a:t>
            </a:r>
          </a:p>
          <a:p>
            <a:pPr lvl="0"/>
            <a:r>
              <a:rPr/>
              <a:t>The </a:t>
            </a:r>
            <a:r>
              <a:rPr b="1"/>
              <a:t>dataset changed</a:t>
            </a:r>
            <a:r>
              <a:rPr/>
              <a:t>, the </a:t>
            </a:r>
            <a:r>
              <a:rPr b="1"/>
              <a:t>recipe didn’t</a:t>
            </a:r>
            <a:r>
              <a:rPr/>
              <a:t> — that’s the point</a:t>
            </a:r>
          </a:p>
          <a:p>
            <a:pPr lvl="0"/>
            <a:r>
              <a:rPr/>
              <a:t>Nothing here is new syntax; it’s proof you can already do this on any data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Same Simple Categorical Plot — On New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boxplot + jitter, exactly like the leaf_df pattern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by Species"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gplot_2_lecture_files/figure-pptx/box-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💡 Where would you find a dataset like this on your own?</a:t>
            </a:r>
          </a:p>
          <a:p>
            <a:pPr lvl="0"/>
            <a:r>
              <a:rPr sz="2000">
                <a:latin typeface="Courier"/>
              </a:rPr>
              <a:t>library(palmerpenguins)</a:t>
            </a:r>
            <a:r>
              <a:rPr sz="2000"/>
              <a:t> or </a:t>
            </a:r>
            <a:r>
              <a:rPr sz="2000">
                <a:latin typeface="Courier"/>
              </a:rPr>
              <a:t>library(FSA)</a:t>
            </a:r>
            <a:r>
              <a:rPr sz="2000"/>
              <a:t> (fish data, Derek Ogle) — real data bundled inside an R package, zero downloading</a:t>
            </a:r>
          </a:p>
          <a:p>
            <a:pPr lvl="0"/>
            <a:r>
              <a:rPr sz="2000">
                <a:hlinkClick r:id="rId3"/>
              </a:rPr>
              <a:t>Kaggle — search “UFO sightings”</a:t>
            </a:r>
            <a:r>
              <a:rPr sz="2000"/>
              <a:t> or </a:t>
            </a:r>
            <a:r>
              <a:rPr sz="2000">
                <a:hlinkClick r:id="rId4"/>
              </a:rPr>
              <a:t>Kaggle — search “Bigfoot sightings”</a:t>
            </a:r>
            <a:r>
              <a:rPr sz="2000"/>
              <a:t> — download a </a:t>
            </a:r>
            <a:r>
              <a:rPr sz="2000">
                <a:latin typeface="Courier"/>
              </a:rPr>
              <a:t>.csv</a:t>
            </a:r>
            <a:r>
              <a:rPr sz="2000"/>
              <a:t>, load it with </a:t>
            </a:r>
            <a:r>
              <a:rPr sz="2000">
                <a:latin typeface="Courier"/>
              </a:rPr>
              <a:t>read_csv()</a:t>
            </a:r>
            <a:r>
              <a:rPr sz="2000"/>
              <a:t> like any other file</a:t>
            </a:r>
          </a:p>
          <a:p>
            <a:pPr lvl="0" indent="0" marL="1270000">
              <a:buNone/>
            </a:pPr>
            <a:r>
              <a:rPr sz="2000"/>
              <a:t>Both a simple XY numeric plot and a simple categorical plot (like today’s two) work on almost any tidy dataset you find.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4 Parts 1–2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Parts 1–2 now</a:t>
            </a:r>
          </a:p>
          <a:p>
            <a:pPr lvl="0" indent="0" marL="0">
              <a:buNone/>
            </a:pPr>
            <a:r>
              <a:rPr/>
              <a:t>Load </a:t>
            </a:r>
            <a:r>
              <a:rPr>
                <a:latin typeface="Courier"/>
              </a:rPr>
              <a:t>palmerpenguins</a:t>
            </a:r>
            <a:r>
              <a:rPr/>
              <a:t>, then rebuild the XY scatter and the boxplot+jitter — same recipe, new data. Predict, type, run.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2 of 5 · Zooming In Safely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</a:t>
            </a:r>
            <a:r>
              <a:rPr>
                <a:latin typeface="Courier"/>
              </a:rPr>
              <a:t>coord_cartesian()</a:t>
            </a:r>
            <a:r>
              <a:rPr/>
              <a:t> to zoom — and the </a:t>
            </a:r>
            <a:r>
              <a:rPr>
                <a:latin typeface="Courier"/>
              </a:rPr>
              <a:t>ylim()</a:t>
            </a:r>
            <a:r>
              <a:rPr/>
              <a:t> / </a:t>
            </a:r>
            <a:r>
              <a:rPr>
                <a:latin typeface="Courier"/>
              </a:rPr>
              <a:t>scale_y_continuous(limits = )</a:t>
            </a:r>
            <a:r>
              <a:rPr/>
              <a:t> trap to avoid.</a:t>
            </a:r>
          </a:p>
          <a:p>
            <a:pPr lvl="0" indent="0" marL="0">
              <a:buNone/>
            </a:pPr>
            <a:r>
              <a:rPr b="1"/>
              <a:t>🛑 After this chunk you will do Activity Part 3.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coord_cartesian()</a:t>
            </a:r>
            <a:r>
              <a:rPr/>
              <a:t> — Zoom the View, Keep the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coord_cartesian() zooms the VIEW, keeps all the data 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coord_cartesian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ylim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5000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"Zoomed with coord_cartesian()"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gplot_2_lecture_files/figure-pptx/coord-cartesian-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Zooms the </a:t>
            </a:r>
            <a:r>
              <a:rPr b="1"/>
              <a:t>view</a:t>
            </a:r>
            <a:r>
              <a:rPr/>
              <a:t> — every penguin still contributes to each box’s median and quartiles</a:t>
            </a:r>
          </a:p>
          <a:p>
            <a:pPr lvl="0"/>
            <a:r>
              <a:rPr/>
              <a:t>The window just crops what you can </a:t>
            </a:r>
            <a:r>
              <a:rPr i="1"/>
              <a:t>see</a:t>
            </a:r>
            <a:r>
              <a:rPr/>
              <a:t> afterward</a:t>
            </a:r>
          </a:p>
          <a:p>
            <a:pPr lvl="0"/>
            <a:r>
              <a:rPr/>
              <a:t>This is the one to reach for whenever you just want a closer look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Trap — </a:t>
            </a:r>
            <a:r>
              <a:rPr>
                <a:latin typeface="Courier"/>
              </a:rPr>
              <a:t>ylim()</a:t>
            </a:r>
            <a:r>
              <a:rPr/>
              <a:t> / </a:t>
            </a:r>
            <a:r>
              <a:rPr>
                <a:latin typeface="Courier"/>
              </a:rPr>
              <a:t>scale_y_continuous(limits = )</a:t>
            </a:r>
            <a:r>
              <a:rPr/>
              <a:t> Delete Rows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Many Gentoos sit above 5000 g. If we drop every penguin outside </a:t>
            </a:r>
            <a:r>
              <a:rPr sz="2000">
                <a:latin typeface="Courier"/>
              </a:rPr>
              <a:t>3000</a:t>
            </a:r>
            <a:r>
              <a:rPr sz="2000"/>
              <a:t>–</a:t>
            </a:r>
            <a:r>
              <a:rPr sz="2000">
                <a:latin typeface="Courier"/>
              </a:rPr>
              <a:t>5000</a:t>
            </a:r>
            <a:r>
              <a:rPr sz="2000"/>
              <a:t> g </a:t>
            </a:r>
            <a:r>
              <a:rPr sz="2000" i="1"/>
              <a:t>before</a:t>
            </a:r>
            <a:r>
              <a:rPr sz="2000"/>
              <a:t> drawing the boxes, what happens to the Gentoo box?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ylim() DELETES rows outside the range first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ylim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5000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"ylim() — boxes recomputed on fewer penguins"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gplot_2_lecture_files/figure-pptx/ylim-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006600"/>
            <a:ext cx="4432300" cy="184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ylim()</a:t>
            </a:r>
            <a:r>
              <a:rPr sz="2000"/>
              <a:t> — and </a:t>
            </a:r>
            <a:r>
              <a:rPr sz="2000">
                <a:latin typeface="Courier"/>
              </a:rPr>
              <a:t>scale_y_continuous(limits = ...)</a:t>
            </a:r>
            <a:r>
              <a:rPr sz="2000"/>
              <a:t> — </a:t>
            </a:r>
            <a:r>
              <a:rPr sz="2000" b="1"/>
              <a:t>silently delete every row</a:t>
            </a:r>
            <a:r>
              <a:rPr sz="2000"/>
              <a:t> outside the range </a:t>
            </a:r>
            <a:r>
              <a:rPr sz="2000" i="1"/>
              <a:t>before</a:t>
            </a:r>
            <a:r>
              <a:rPr sz="2000"/>
              <a:t> anything is computed. Compare the Gentoo box to the </a:t>
            </a:r>
            <a:r>
              <a:rPr sz="2000">
                <a:latin typeface="Courier"/>
              </a:rPr>
              <a:t>coord_cartesian()</a:t>
            </a:r>
            <a:r>
              <a:rPr sz="2000"/>
              <a:t> version: same window, different box.</a:t>
            </a:r>
          </a:p>
          <a:p>
            <a:pPr lvl="0" indent="0" marL="0">
              <a:buNone/>
            </a:pPr>
            <a:r>
              <a:rPr b="1"/>
              <a:t>Rule:</a:t>
            </a:r>
            <a:r>
              <a:rPr/>
              <a:t> zoom with </a:t>
            </a:r>
            <a:r>
              <a:rPr>
                <a:latin typeface="Courier"/>
              </a:rPr>
              <a:t>coord_cartesian()</a:t>
            </a:r>
            <a:r>
              <a:rPr/>
              <a:t>. Only use </a:t>
            </a:r>
            <a:r>
              <a:rPr>
                <a:latin typeface="Courier"/>
              </a:rPr>
              <a:t>ylim()</a:t>
            </a:r>
            <a:r>
              <a:rPr/>
              <a:t> / </a:t>
            </a:r>
            <a:r>
              <a:rPr>
                <a:latin typeface="Courier"/>
              </a:rPr>
              <a:t>scale_y_continuous(limits = )</a:t>
            </a:r>
            <a:r>
              <a:rPr/>
              <a:t> when you actually want those rows gone from the analysis.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4 Part 3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 3 now</a:t>
            </a:r>
          </a:p>
          <a:p>
            <a:pPr lvl="0" indent="0" marL="0">
              <a:buNone/>
            </a:pPr>
            <a:r>
              <a:rPr/>
              <a:t>Zoom with </a:t>
            </a:r>
            <a:r>
              <a:rPr>
                <a:latin typeface="Courier"/>
              </a:rPr>
              <a:t>coord_cartesian()</a:t>
            </a:r>
            <a:r>
              <a:rPr/>
              <a:t>, then run the </a:t>
            </a:r>
            <a:r>
              <a:rPr>
                <a:latin typeface="Courier"/>
              </a:rPr>
              <a:t>ylim()</a:t>
            </a:r>
            <a:r>
              <a:rPr/>
              <a:t> version and count exactly how many penguins it drops. Predict, type, run.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3 of 5 · Two Views of One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</a:t>
            </a:r>
            <a:r>
              <a:rPr>
                <a:latin typeface="Courier"/>
              </a:rPr>
              <a:t>geom_histogram()</a:t>
            </a:r>
            <a:r>
              <a:rPr/>
              <a:t> and </a:t>
            </a:r>
            <a:r>
              <a:rPr>
                <a:latin typeface="Courier"/>
              </a:rPr>
              <a:t>geom_density()</a:t>
            </a:r>
            <a:r>
              <a:rPr/>
              <a:t> — the two standard ways to show how one numeric variable is distributed.</a:t>
            </a:r>
          </a:p>
          <a:p>
            <a:pPr lvl="0" indent="0" marL="0">
              <a:buNone/>
            </a:pPr>
            <a:r>
              <a:rPr b="1"/>
              <a:t>🛑 After this chunk you will do Activity Part 4.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geom_histogram()</a:t>
            </a:r>
            <a:r>
              <a:rPr/>
              <a:t> — Bars of Counts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geom_histogram() bins the data and counts rows per bin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body_mass_g))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"Distribution of Body Mass"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ggplot_2_lecture_files/figure-pptx/histogram-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binwidth</a:t>
            </a:r>
            <a:r>
              <a:rPr/>
              <a:t> sets the width of each bar in the </a:t>
            </a:r>
            <a:r>
              <a:rPr b="1"/>
              <a:t>units of </a:t>
            </a:r>
            <a:r>
              <a:rPr b="1">
                <a:latin typeface="Courier"/>
              </a:rPr>
              <a:t>x</a:t>
            </a:r>
            <a:r>
              <a:rPr/>
              <a:t> — here, 200 g per bin</a:t>
            </a:r>
          </a:p>
          <a:p>
            <a:pPr lvl="0"/>
            <a:r>
              <a:rPr/>
              <a:t>Too narrow → noisy, spiky bars. Too wide → real structure gets smoothed away</a:t>
            </a:r>
          </a:p>
          <a:p>
            <a:pPr lvl="0"/>
            <a:r>
              <a:rPr/>
              <a:t>Try a few </a:t>
            </a:r>
            <a:r>
              <a:rPr>
                <a:latin typeface="Courier"/>
              </a:rPr>
              <a:t>binwidth</a:t>
            </a:r>
            <a:r>
              <a:rPr/>
              <a:t> values before settling on one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geom_density()</a:t>
            </a:r>
            <a:r>
              <a:rPr/>
              <a:t> — a Smooth Curve Instead of Bars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geom_density() smooths the same shape into a curve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body_mass_g))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geom_density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"Density"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"Density of Body Mass"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ggplot_2_lecture_files/figure-pptx/density-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Same variable, same shape — a density curve is a </a:t>
            </a:r>
            <a:r>
              <a:rPr b="1"/>
              <a:t>smoothed histogram</a:t>
            </a:r>
            <a:r>
              <a:rPr/>
              <a:t>, area under the curve sums to 1</a:t>
            </a:r>
          </a:p>
          <a:p>
            <a:pPr lvl="0"/>
            <a:r>
              <a:rPr/>
              <a:t>The y-axis is no longer a count — it’s a density, which is why the numbers look small</a:t>
            </a:r>
          </a:p>
          <a:p>
            <a:pPr lvl="0"/>
            <a:r>
              <a:rPr/>
              <a:t>📖 Whitlock &amp; Schluter, Ch. 2 — </a:t>
            </a:r>
            <a:r>
              <a:rPr i="1"/>
              <a:t>Displaying Data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Coming soon:</a:t>
            </a:r>
            <a:r>
              <a:rPr sz="2000"/>
              <a:t> in the Summary Statistics lecture we’ll come back to this exact curve and shade in the </a:t>
            </a:r>
            <a:r>
              <a:rPr sz="2000" b="1"/>
              <a:t>95% range</a:t>
            </a:r>
            <a:r>
              <a:rPr sz="2000"/>
              <a:t> underneath it. Today, just get comfortable building both plot types.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4 Part 4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 4 now</a:t>
            </a:r>
          </a:p>
          <a:p>
            <a:pPr lvl="0" indent="0" marL="0">
              <a:buNone/>
            </a:pPr>
            <a:r>
              <a:rPr/>
              <a:t>Build a histogram and a density plot of the same variable. Predict, type, run.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4 of 5 · A Reusable Theme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sourcing a custom theme file and applying it — no need to build one from scratch today.</a:t>
            </a:r>
          </a:p>
          <a:p>
            <a:pPr lvl="0" indent="0" marL="0">
              <a:buNone/>
            </a:pPr>
            <a:r>
              <a:rPr b="1"/>
              <a:t>🛑 After this chunk you will do Activity Part 5.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source()</a:t>
            </a:r>
            <a:r>
              <a:rPr/>
              <a:t> a Theme File Instead of Repeating </a:t>
            </a:r>
            <a:r>
              <a:rPr>
                <a:latin typeface="Courier"/>
              </a:rPr>
              <a:t>theme()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source() loads functions from another .R file 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source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"themes/r_themes_for_3_sizes.R"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by Species"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theme_regular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gplot_2_lecture_files/figure-pptx/themes-source-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source("themes/r_themes_for_3_sizes.R")</a:t>
            </a:r>
            <a:r>
              <a:rPr/>
              <a:t> runs that file once and loads </a:t>
            </a:r>
            <a:r>
              <a:rPr>
                <a:latin typeface="Courier"/>
              </a:rPr>
              <a:t>theme_small()</a:t>
            </a:r>
            <a:r>
              <a:rPr/>
              <a:t>, </a:t>
            </a:r>
            <a:r>
              <a:rPr>
                <a:latin typeface="Courier"/>
              </a:rPr>
              <a:t>theme_regular()</a:t>
            </a:r>
            <a:r>
              <a:rPr/>
              <a:t>, </a:t>
            </a:r>
            <a:r>
              <a:rPr>
                <a:latin typeface="Courier"/>
              </a:rPr>
              <a:t>theme_large()</a:t>
            </a:r>
            <a:r>
              <a:rPr/>
              <a:t> into your session</a:t>
            </a:r>
          </a:p>
          <a:p>
            <a:pPr lvl="0"/>
            <a:r>
              <a:rPr/>
              <a:t>You don’t need to understand every line </a:t>
            </a:r>
            <a:r>
              <a:rPr b="1"/>
              <a:t>inside</a:t>
            </a:r>
            <a:r>
              <a:rPr/>
              <a:t> the file today — just how to call it</a:t>
            </a:r>
          </a:p>
          <a:p>
            <a:pPr lvl="0"/>
            <a:r>
              <a:rPr/>
              <a:t>Pick the size that matches where the figure is going: slides/report → </a:t>
            </a:r>
            <a:r>
              <a:rPr>
                <a:latin typeface="Courier"/>
              </a:rPr>
              <a:t>theme_regular()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Tweaking Fonts and Colors on Top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theme() and scale_fill_manual() still work as usual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"Adelie"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"darkorange"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"Chinstrap"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"purple"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"Gentoo"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"cyan4"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by Species"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theme_regular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plot.title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1.4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</p:txBody>
      </p:sp>
      <p:pic>
        <p:nvPicPr>
          <p:cNvPr descr="ggplot_2_lecture_files/figure-pptx/theme-tweak-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032000"/>
            <a:ext cx="4432300" cy="177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A sourced theme is just a </a:t>
            </a:r>
            <a:r>
              <a:rPr>
                <a:latin typeface="Courier"/>
              </a:rPr>
              <a:t>theme()</a:t>
            </a:r>
            <a:r>
              <a:rPr/>
              <a:t> call — </a:t>
            </a:r>
            <a:r>
              <a:rPr>
                <a:latin typeface="Courier"/>
              </a:rPr>
              <a:t>+ theme(...)</a:t>
            </a:r>
            <a:r>
              <a:rPr/>
              <a:t> </a:t>
            </a:r>
            <a:r>
              <a:rPr b="1"/>
              <a:t>after</a:t>
            </a:r>
            <a:r>
              <a:rPr/>
              <a:t> it overrides single pieces</a:t>
            </a:r>
          </a:p>
          <a:p>
            <a:pPr lvl="0"/>
            <a:r>
              <a:rPr>
                <a:latin typeface="Courier"/>
              </a:rPr>
              <a:t>scale_fill_manual()</a:t>
            </a:r>
            <a:r>
              <a:rPr/>
              <a:t> still controls colors; the theme controls fonts, lines, margins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idea:</a:t>
            </a:r>
            <a:r>
              <a:rPr sz="2000"/>
              <a:t> one theme file sourced at the top of every script keeps a project consistent — change it once, every plot updates.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4 Part 5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 5 now</a:t>
            </a:r>
          </a:p>
          <a:p>
            <a:pPr lvl="0" indent="0" marL="0">
              <a:buNone/>
            </a:pPr>
            <a:r>
              <a:rPr/>
              <a:t>Download the theme file, source it, and apply </a:t>
            </a:r>
            <a:r>
              <a:rPr>
                <a:latin typeface="Courier"/>
              </a:rPr>
              <a:t>theme_regular()</a:t>
            </a:r>
            <a:r>
              <a:rPr/>
              <a:t> to one of your plots. Then tweak a font size and a color. Predict, type, run.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5 of 5 · Combining Panels with </a:t>
            </a:r>
            <a:r>
              <a:rPr>
                <a:latin typeface="Courier"/>
              </a:rPr>
              <a:t>patchwork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</a:t>
            </a:r>
            <a:r>
              <a:rPr>
                <a:latin typeface="Courier"/>
              </a:rPr>
              <a:t>patchwork</a:t>
            </a:r>
            <a:r>
              <a:rPr/>
              <a:t> — putting two ggplot objects side by side as one figure.</a:t>
            </a:r>
          </a:p>
          <a:p>
            <a:pPr lvl="0" indent="0" marL="0">
              <a:buNone/>
            </a:pPr>
            <a:r>
              <a:rPr b="1"/>
              <a:t>🛑 After this chunk you will do Activity Part 6.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patchwork</a:t>
            </a:r>
            <a:r>
              <a:rPr/>
              <a:t> — Two Plots, One Figure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 </a:t>
            </a:r>
            <a:r>
              <a:rPr>
                <a:solidFill>
                  <a:srgbClr val="5E5E5E"/>
                </a:solidFill>
                <a:latin typeface="Courier"/>
              </a:rPr>
              <a:t># combine ggplot objects with + and /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xy_plot &lt;- 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flipper_length_mm,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"Flipper Length (mm)"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theme_regular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box_plot &lt;- 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theme_regular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xy_plot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box_plot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plot_annotation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"Penguin Body Mass, Two Ways"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tag_levels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</p:txBody>
      </p:sp>
      <p:pic>
        <p:nvPicPr>
          <p:cNvPr descr="ggplot_2_lecture_files/figure-pptx/patchwork-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108200"/>
            <a:ext cx="4432300" cy="163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Each panel is an </a:t>
            </a:r>
            <a:r>
              <a:rPr b="1"/>
              <a:t>ordinary saved ggplot object</a:t>
            </a:r>
            <a:r>
              <a:rPr/>
              <a:t> — build them separately first</a:t>
            </a:r>
          </a:p>
          <a:p>
            <a:pPr lvl="0"/>
            <a:r>
              <a:rPr>
                <a:latin typeface="Courier"/>
              </a:rPr>
              <a:t>+</a:t>
            </a:r>
            <a:r>
              <a:rPr/>
              <a:t> places two plots </a:t>
            </a:r>
            <a:r>
              <a:rPr b="1"/>
              <a:t>side by side</a:t>
            </a:r>
            <a:r>
              <a:rPr/>
              <a:t>; </a:t>
            </a:r>
            <a:r>
              <a:rPr>
                <a:latin typeface="Courier"/>
              </a:rPr>
              <a:t>/</a:t>
            </a:r>
            <a:r>
              <a:rPr/>
              <a:t> stacks them</a:t>
            </a:r>
          </a:p>
          <a:p>
            <a:pPr lvl="0"/>
            <a:r>
              <a:rPr>
                <a:latin typeface="Courier"/>
              </a:rPr>
              <a:t>plot_annotation()</a:t>
            </a:r>
            <a:r>
              <a:rPr/>
              <a:t> adds one title and A/B/C tags across the </a:t>
            </a:r>
            <a:r>
              <a:rPr b="1"/>
              <a:t>whole figure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4 Part 6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Go to Activity 4 — Part 6</a:t>
            </a:r>
          </a:p>
          <a:p>
            <a:pPr lvl="0" indent="0" marL="0">
              <a:buNone/>
            </a:pPr>
            <a:r>
              <a:rPr/>
              <a:t>Close the slides. Combine two of your plots with </a:t>
            </a:r>
            <a:r>
              <a:rPr>
                <a:latin typeface="Courier"/>
              </a:rPr>
              <a:t>patchwork</a:t>
            </a:r>
            <a:r>
              <a:rPr/>
              <a:t> and </a:t>
            </a:r>
            <a:r>
              <a:rPr>
                <a:latin typeface="Courier"/>
              </a:rPr>
              <a:t>plot_annotation()</a:t>
            </a:r>
            <a:r>
              <a:rPr/>
              <a:t>, then save the combined figure.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The XY-scatter / boxplot+jitter recipe you already know works on </a:t>
            </a:r>
            <a:r>
              <a:rPr b="1"/>
              <a:t>any</a:t>
            </a:r>
            <a:r>
              <a:rPr/>
              <a:t> tidy dataset — </a:t>
            </a:r>
            <a:r>
              <a:rPr>
                <a:latin typeface="Courier"/>
              </a:rPr>
              <a:t>palmerpenguins</a:t>
            </a:r>
            <a:r>
              <a:rPr/>
              <a:t>, </a:t>
            </a:r>
            <a:r>
              <a:rPr>
                <a:latin typeface="Courier"/>
              </a:rPr>
              <a:t>FSA</a:t>
            </a:r>
            <a:r>
              <a:rPr/>
              <a:t>, or a </a:t>
            </a:r>
            <a:r>
              <a:rPr>
                <a:latin typeface="Courier"/>
              </a:rPr>
              <a:t>.csv</a:t>
            </a:r>
            <a:r>
              <a:rPr/>
              <a:t> from Kaggle</a:t>
            </a:r>
          </a:p>
          <a:p>
            <a:pPr lvl="0"/>
            <a:r>
              <a:rPr>
                <a:latin typeface="Courier"/>
              </a:rPr>
              <a:t>coord_cartesian()</a:t>
            </a:r>
            <a:r>
              <a:rPr/>
              <a:t> zooms safely; </a:t>
            </a:r>
            <a:r>
              <a:rPr>
                <a:latin typeface="Courier"/>
              </a:rPr>
              <a:t>ylim()</a:t>
            </a:r>
            <a:r>
              <a:rPr/>
              <a:t> / </a:t>
            </a:r>
            <a:r>
              <a:rPr>
                <a:latin typeface="Courier"/>
              </a:rPr>
              <a:t>scale_y_continuous(limits = )</a:t>
            </a:r>
            <a:r>
              <a:rPr/>
              <a:t> silently deletes rows first</a:t>
            </a:r>
          </a:p>
          <a:p>
            <a:pPr lvl="0"/>
            <a:r>
              <a:rPr>
                <a:latin typeface="Courier"/>
              </a:rPr>
              <a:t>geom_histogram()</a:t>
            </a:r>
            <a:r>
              <a:rPr/>
              <a:t> and </a:t>
            </a:r>
            <a:r>
              <a:rPr>
                <a:latin typeface="Courier"/>
              </a:rPr>
              <a:t>geom_density()</a:t>
            </a:r>
            <a:r>
              <a:rPr/>
              <a:t> — two views of one distribution</a:t>
            </a:r>
          </a:p>
          <a:p>
            <a:pPr lvl="0"/>
            <a:r>
              <a:rPr>
                <a:latin typeface="Courier"/>
              </a:rPr>
              <a:t>source()</a:t>
            </a:r>
            <a:r>
              <a:rPr/>
              <a:t> a theme file once, then call </a:t>
            </a:r>
            <a:r>
              <a:rPr>
                <a:latin typeface="Courier"/>
              </a:rPr>
              <a:t>theme_regular()</a:t>
            </a:r>
            <a:r>
              <a:rPr/>
              <a:t> (or </a:t>
            </a:r>
            <a:r>
              <a:rPr>
                <a:latin typeface="Courier"/>
              </a:rPr>
              <a:t>_small()</a:t>
            </a:r>
            <a:r>
              <a:rPr/>
              <a:t> / </a:t>
            </a:r>
            <a:r>
              <a:rPr>
                <a:latin typeface="Courier"/>
              </a:rPr>
              <a:t>_large()</a:t>
            </a:r>
            <a:r>
              <a:rPr/>
              <a:t>) everywhere</a:t>
            </a:r>
          </a:p>
          <a:p>
            <a:pPr lvl="0"/>
            <a:r>
              <a:rPr>
                <a:latin typeface="Courier"/>
              </a:rPr>
              <a:t>patchwork</a:t>
            </a:r>
            <a:r>
              <a:rPr/>
              <a:t> (</a:t>
            </a:r>
            <a:r>
              <a:rPr>
                <a:latin typeface="Courier"/>
              </a:rPr>
              <a:t>+</a:t>
            </a:r>
            <a:r>
              <a:rPr/>
              <a:t> / </a:t>
            </a:r>
            <a:r>
              <a:rPr>
                <a:latin typeface="Courier"/>
              </a:rPr>
              <a:t>/</a:t>
            </a:r>
            <a:r>
              <a:rPr/>
              <a:t>) combines saved plots; </a:t>
            </a:r>
            <a:r>
              <a:rPr>
                <a:latin typeface="Courier"/>
              </a:rPr>
              <a:t>plot_annotation()</a:t>
            </a:r>
            <a:r>
              <a:rPr/>
              <a:t> titles and tags the whole figure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Whitlock &amp; Schluter, Ch. 2 — </a:t>
            </a:r>
            <a:r>
              <a:rPr i="1"/>
              <a:t>Displaying Data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 1</a:t>
            </a:r>
            <a:r>
              <a:rPr/>
              <a:t> — Data Visualization</a:t>
            </a:r>
          </a:p>
          <a:p>
            <a:pPr lvl="0" indent="0" marL="0">
              <a:buNone/>
            </a:pPr>
            <a:r>
              <a:rPr b="1"/>
              <a:t>Up next — Lecture 05, Wrangling: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</a:t>
            </a:r>
            <a:r>
              <a:rPr>
                <a:latin typeface="Courier"/>
              </a:rPr>
              <a:t>arrange()</a:t>
            </a:r>
          </a:p>
          <a:p>
            <a:pPr lvl="0"/>
            <a:r>
              <a:rPr/>
              <a:t>Chaining verbs into one pipeline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04 — GGPlot II</dc:title>
  <dc:creator>Bill Perry</dc:creator>
  <cp:keywords/>
  <dc:description>Practicing the plots you already know on a brand-new dataset, zooming safely with coord_cartesian() vs. the ylim()/scale_y_continuous(limits=) trap, histograms and density plots, a reusable custom theme file, and combining panels with patchwork.</dc:description>
  <dcterms:created xsi:type="dcterms:W3CDTF">2026-10-20T00:51:43Z</dcterms:created>
  <dcterms:modified xsi:type="dcterms:W3CDTF">2026-10-20T00:51:43Z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2026-10-19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4</vt:lpwstr>
  </property>
  <property fmtid="{D5CDD505-2E9C-101B-9397-08002B2CF9AE}" pid="13" name="resources">
    <vt:lpwstr/>
  </property>
  <property fmtid="{D5CDD505-2E9C-101B-9397-08002B2CF9AE}" pid="14" name="subtitle">
    <vt:lpwstr>New data, safe zooming, distributions, themes, and patchwork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2</vt:lpwstr>
  </property>
</Properties>
</file>