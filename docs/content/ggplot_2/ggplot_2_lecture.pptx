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More geoms, zooming safely, and picking a theme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can already build a grouped, colored, faceted figure. Today: one more geom, a safer way to zoom, and picking a theme that looks intentional instead of default.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 b="1"/>
              <a:t>shape</a:t>
            </a:r>
            <a:r>
              <a:rPr/>
              <a:t> alongside color, and add a trend line with </a:t>
            </a:r>
            <a:r>
              <a:rPr>
                <a:latin typeface="Courier"/>
              </a:rPr>
              <a:t>geom_smooth()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Pick a built-in </a:t>
            </a:r>
            <a:r>
              <a:rPr b="1"/>
              <a:t>theme</a:t>
            </a:r>
            <a:r>
              <a:rPr/>
              <a:t> and adjust it with </a:t>
            </a:r>
            <a:r>
              <a:rPr>
                <a:latin typeface="Courier"/>
              </a:rPr>
              <a:t>theme()</a:t>
            </a:r>
          </a:p>
          <a:p>
            <a:pPr lvl="0"/>
            <a:r>
              <a:rPr/>
              <a:t>Save a figure in the right </a:t>
            </a:r>
            <a:r>
              <a:rPr b="1"/>
              <a:t>format</a:t>
            </a:r>
            <a:r>
              <a:rPr/>
              <a:t> for the job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simple scatter plots — the difference only shows up once you compute something (a smooth line, a boxplot).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Shape, Color, and a Trend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mapping shape alongside color, and </a:t>
            </a:r>
            <a:r>
              <a:rPr>
                <a:latin typeface="Courier"/>
              </a:rPr>
              <a:t>geom_smooth()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Shape Alongside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map both </a:t>
            </a:r>
            <a:r>
              <a:rPr sz="2000">
                <a:latin typeface="Courier"/>
              </a:rPr>
              <a:t>color = shade</a:t>
            </a:r>
            <a:r>
              <a:rPr sz="2000"/>
              <a:t> and </a:t>
            </a:r>
            <a:r>
              <a:rPr sz="2000">
                <a:latin typeface="Courier"/>
              </a:rPr>
              <a:t>shape = shade</a:t>
            </a:r>
            <a:r>
              <a:rPr sz="2000"/>
              <a:t> to the </a:t>
            </a:r>
            <a:r>
              <a:rPr sz="2000" i="1"/>
              <a:t>same</a:t>
            </a:r>
            <a:r>
              <a:rPr sz="2000"/>
              <a:t> variable. Will ggplot draw one legend or two?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Map color AND shape to the same variable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petiole_mm,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vs. Petiole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"Petiole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shape-color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Mapping the </a:t>
            </a:r>
            <a:r>
              <a:rPr b="1"/>
              <a:t>same variable</a:t>
            </a:r>
            <a:r>
              <a:rPr/>
              <a:t> to both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merges them into </a:t>
            </a:r>
            <a:r>
              <a:rPr b="1"/>
              <a:t>one legend</a:t>
            </a:r>
          </a:p>
          <a:p>
            <a:pPr lvl="0"/>
            <a:r>
              <a:rPr/>
              <a:t>This makes the plot easier to read in black-and-white or for colorblind readers</a:t>
            </a:r>
          </a:p>
          <a:p>
            <a:pPr lvl="0"/>
            <a:r>
              <a:rPr/>
              <a:t>If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legend titles differ in </a:t>
            </a:r>
            <a:r>
              <a:rPr>
                <a:latin typeface="Courier"/>
              </a:rPr>
              <a:t>labs()</a:t>
            </a:r>
            <a:r>
              <a:rPr/>
              <a:t>, you get </a:t>
            </a:r>
            <a:r>
              <a:rPr b="1"/>
              <a:t>two</a:t>
            </a:r>
            <a:r>
              <a:rPr/>
              <a:t> legends instead — usually not what you want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Adding a Trend Line — </a:t>
            </a:r>
            <a:r>
              <a:rPr>
                <a:latin typeface="Courier"/>
              </a:rPr>
              <a:t>geom_smooth()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geom_smooth() fits a line straight from the data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petiole_mm,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vs. Petiole Length, with Trend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"Petiole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geom-smooth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method = "lm"</a:t>
            </a:r>
            <a:r>
              <a:rPr/>
              <a:t> fits a straight line (linear model)</a:t>
            </a:r>
          </a:p>
          <a:p>
            <a:pPr lvl="0"/>
            <a:r>
              <a:rPr/>
              <a:t>The shaded ribbon is the </a:t>
            </a:r>
            <a:r>
              <a:rPr b="1"/>
              <a:t>95% confidence band</a:t>
            </a:r>
            <a:r>
              <a:rPr/>
              <a:t> around the line</a:t>
            </a:r>
          </a:p>
          <a:p>
            <a:pPr lvl="0"/>
            <a:r>
              <a:rPr/>
              <a:t>We’ll fit this same relationship formally with </a:t>
            </a:r>
            <a:r>
              <a:rPr>
                <a:latin typeface="Courier"/>
              </a:rPr>
              <a:t>lm()</a:t>
            </a:r>
            <a:r>
              <a:rPr/>
              <a:t> in the Regression unit later this semester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is exploration, not a hypothesis test — it shows you </a:t>
            </a:r>
            <a:r>
              <a:rPr sz="2000" i="1"/>
              <a:t>whether a line is worth fitting formally</a:t>
            </a:r>
            <a:r>
              <a:rPr sz="2000"/>
              <a:t> before you commit to 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data, map shape and color to </a:t>
            </a:r>
            <a:r>
              <a:rPr>
                <a:latin typeface="Courier"/>
              </a:rPr>
              <a:t>shade</a:t>
            </a:r>
            <a:r>
              <a:rPr/>
              <a:t>, then add a </a:t>
            </a:r>
            <a:r>
              <a:rPr>
                <a:latin typeface="Courier"/>
              </a:rPr>
              <a:t>geom_smooth()</a:t>
            </a:r>
            <a:r>
              <a:rPr/>
              <a:t> trend line.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Zooming Without Losing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— they look the same until they don’t.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Without Removing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petiole_mm,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"Petiole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point still contributes to the trend line</a:t>
            </a:r>
          </a:p>
          <a:p>
            <a:pPr lvl="0"/>
            <a:r>
              <a:rPr/>
              <a:t>The trend line is fit on </a:t>
            </a:r>
            <a:r>
              <a:rPr b="1"/>
              <a:t>all 53 leaves</a:t>
            </a:r>
            <a:r>
              <a:rPr/>
              <a:t>, then the plot window is cropped afterward</a:t>
            </a:r>
          </a:p>
          <a:p>
            <a:pPr lvl="0"/>
            <a:r>
              <a:rPr/>
              <a:t>Safe to use anytime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xlim()</a:t>
            </a:r>
            <a:r>
              <a:rPr/>
              <a:t> / </a:t>
            </a:r>
            <a:r>
              <a:rPr>
                <a:latin typeface="Courier"/>
              </a:rPr>
              <a:t>ylim()</a:t>
            </a:r>
            <a:r>
              <a:rPr/>
              <a:t> — Removes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drop the leaves outside our zoom window </a:t>
            </a:r>
            <a:r>
              <a:rPr sz="2000" i="1"/>
              <a:t>before</a:t>
            </a:r>
            <a:r>
              <a:rPr sz="2000"/>
              <a:t> fitting the trend line, will the line look the same as before, or different?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xlim()/ylim() DELETE rows outside the range first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petiole_mm,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xlim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xlim() / ylim() — different line!"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"Petiole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</a:t>
            </a:r>
            <a:r>
              <a:rPr sz="2000" b="1"/>
              <a:t>silently delete rows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The trend line above is fit only on the leaves that remain — a different line than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produced, with no warning that data went missing.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</a:t>
            </a:r>
            <a:r>
              <a:rPr>
                <a:latin typeface="Courier"/>
              </a:rPr>
              <a:t>coord_cartesian()</a:t>
            </a:r>
            <a:r>
              <a:rPr/>
              <a:t> to zoom. Only use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when you actually want those rows excluded from the analysis, not just out of view.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the same plot two ways and compare the trend lines.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Themes and Saving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picking a built-in theme, </a:t>
            </a:r>
            <a:r>
              <a:rPr>
                <a:latin typeface="Courier"/>
              </a:rPr>
              <a:t>theme()</a:t>
            </a:r>
            <a:r>
              <a:rPr/>
              <a:t> tweaks, and choosing a file format with </a:t>
            </a:r>
            <a:r>
              <a:rPr>
                <a:latin typeface="Courier"/>
              </a:rPr>
              <a:t>ggsave()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Picking a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theme_classic() — clean, close to journal defaults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built-in themes to try on the same plot: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theme_grey()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default — grey background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theme_bw()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grey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theme_minimal()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background, subtle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theme_classic()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axis lines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theme_light()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 grey lines and border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theme_classic()</a:t>
            </a:r>
            <a:r>
              <a:rPr sz="2000"/>
              <a:t> is a safe default for scientific figures — clean, uncluttered, close to what most journals expect.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Adjusting a Theme with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overrides individual elements afterward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Pick a </a:t>
            </a:r>
            <a:r>
              <a:rPr b="1"/>
              <a:t>built-in theme first</a:t>
            </a:r>
            <a:r>
              <a:rPr/>
              <a:t> (</a:t>
            </a:r>
            <a:r>
              <a:rPr>
                <a:latin typeface="Courier"/>
              </a:rPr>
              <a:t>theme_classic()</a:t>
            </a:r>
            <a:r>
              <a:rPr/>
              <a:t>), then add </a:t>
            </a:r>
            <a:r>
              <a:rPr>
                <a:latin typeface="Courier"/>
              </a:rPr>
              <a:t>theme()</a:t>
            </a:r>
            <a:r>
              <a:rPr/>
              <a:t> afterward to tweak individual pieces</a:t>
            </a:r>
          </a:p>
          <a:p>
            <a:pPr lvl="0"/>
            <a:r>
              <a:rPr>
                <a:latin typeface="Courier"/>
              </a:rPr>
              <a:t>legend.position = "none"</a:t>
            </a:r>
            <a:r>
              <a:rPr/>
              <a:t> — drop a redundant legend</a:t>
            </a:r>
          </a:p>
          <a:p>
            <a:pPr lvl="0"/>
            <a:r>
              <a:rPr>
                <a:latin typeface="Courier"/>
              </a:rPr>
              <a:t>axis.text</a:t>
            </a:r>
            <a:r>
              <a:rPr/>
              <a:t> / </a:t>
            </a:r>
            <a:r>
              <a:rPr>
                <a:latin typeface="Courier"/>
              </a:rPr>
              <a:t>axis.title</a:t>
            </a:r>
            <a:r>
              <a:rPr/>
              <a:t> — control tick labels and axis titles separately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rarely need to build a theme from scratch. Start from a built-in theme and override only what looks wrong.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in the Right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PNG — good for Word docs, slides, web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"figures/leaf_mass_theme.png"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PDF — vector, scales to any size, good for print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"figures/leaf_mass_theme.pdf"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1460500"/>
                <a:gridCol w="146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 docs, slides,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Print, journals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infinite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.tiff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submission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Parts 4–5</a:t>
            </a:r>
          </a:p>
          <a:p>
            <a:pPr lvl="0" indent="0" marL="0">
              <a:buNone/>
            </a:pPr>
            <a:r>
              <a:rPr/>
              <a:t>Close the slides. Pick a theme, tweak it, and save your plot as both PNG and PDF.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>
                <a:latin typeface="Courier"/>
              </a:rPr>
              <a:t>shape</a:t>
            </a:r>
            <a:r>
              <a:rPr/>
              <a:t> alongside </a:t>
            </a:r>
            <a:r>
              <a:rPr>
                <a:latin typeface="Courier"/>
              </a:rPr>
              <a:t>color</a:t>
            </a:r>
            <a:r>
              <a:rPr/>
              <a:t> to merge legends</a:t>
            </a:r>
          </a:p>
          <a:p>
            <a:pPr lvl="0"/>
            <a:r>
              <a:rPr>
                <a:latin typeface="Courier"/>
              </a:rPr>
              <a:t>geom_smooth(method = "lm")</a:t>
            </a:r>
            <a:r>
              <a:rPr/>
              <a:t> — a quick trend line, not a hypothesis test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silently deletes rows first</a:t>
            </a:r>
          </a:p>
          <a:p>
            <a:pPr lvl="0"/>
            <a:r>
              <a:rPr/>
              <a:t>Built-in themes (</a:t>
            </a:r>
            <a:r>
              <a:rPr>
                <a:latin typeface="Courier"/>
              </a:rPr>
              <a:t>theme_classic()</a:t>
            </a:r>
            <a:r>
              <a:rPr/>
              <a:t>, etc.) + </a:t>
            </a:r>
            <a:r>
              <a:rPr>
                <a:latin typeface="Courier"/>
              </a:rPr>
              <a:t>theme()</a:t>
            </a:r>
            <a:r>
              <a:rPr/>
              <a:t> for small overrides</a:t>
            </a:r>
          </a:p>
          <a:p>
            <a:pPr lvl="0"/>
            <a:r>
              <a:rPr>
                <a:latin typeface="Courier"/>
              </a:rPr>
              <a:t>.png</a:t>
            </a:r>
            <a:r>
              <a:rPr/>
              <a:t> for documents/slides, </a:t>
            </a:r>
            <a:r>
              <a:rPr>
                <a:latin typeface="Courier"/>
              </a:rPr>
              <a:t>.pdf</a:t>
            </a:r>
            <a:r>
              <a:rPr/>
              <a:t> for print/journals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Mapping shape alongside color, adding a trend line with geom_smooth(), coord_cartesian() vs. xlim()/ylim(), and choosing a built-in theme.</dc:description>
  <dcterms:created xsi:type="dcterms:W3CDTF">2026-09-08T18:26:59Z</dcterms:created>
  <dcterms:modified xsi:type="dcterms:W3CDTF">2026-09-08T18:26:59Z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More geoms, zooming safely, and picking a theme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