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Joins: Combining Two Tables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Keys, mutating joins, and filtering joins on a fisher reintroduction dataset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Pivoting</a:t>
            </a:r>
            <a:r>
              <a:rPr/>
              <a:t> — reshaped wide data to long; </a:t>
            </a:r>
            <a:r>
              <a:rPr b="1"/>
              <a:t>ANOVA</a:t>
            </a:r>
            <a:r>
              <a:rPr/>
              <a:t> — compared group means; </a:t>
            </a:r>
            <a:r>
              <a:rPr b="1"/>
              <a:t>Factors</a:t>
            </a:r>
            <a:r>
              <a:rPr/>
              <a:t> — controlled category order</a:t>
            </a:r>
          </a:p>
          <a:p>
            <a:pPr lvl="0"/>
            <a:r>
              <a:rPr/>
              <a:t>Your </a:t>
            </a:r>
            <a:r>
              <a:rPr b="1"/>
              <a:t>final project</a:t>
            </a:r>
            <a:r>
              <a:rPr/>
              <a:t> is under way — data found, question pitched</a:t>
            </a:r>
          </a:p>
          <a:p>
            <a:pPr lvl="0"/>
            <a:r>
              <a:rPr/>
              <a:t>So far every analysis used </a:t>
            </a:r>
            <a:r>
              <a:rPr b="1"/>
              <a:t>one</a:t>
            </a:r>
            <a:r>
              <a:rPr/>
              <a:t> table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Real data almost never lives in a single table. Fishers (</a:t>
            </a:r>
            <a:r>
              <a:rPr sz="2000" i="1"/>
              <a:t>Pekania pennanti</a:t>
            </a:r>
            <a:r>
              <a:rPr sz="2000"/>
              <a:t>, a large forest weasel) are reintroduced and then monitored: one table lists the </a:t>
            </a:r>
            <a:r>
              <a:rPr sz="2000" b="1"/>
              <a:t>animals released</a:t>
            </a:r>
            <a:r>
              <a:rPr sz="2000"/>
              <a:t>, another logs every </a:t>
            </a:r>
            <a:r>
              <a:rPr sz="2000" b="1"/>
              <a:t>field capture / collar event</a:t>
            </a:r>
            <a:r>
              <a:rPr sz="2000"/>
              <a:t>. Neither alone tells you a captured animal’s sex or where it came from. </a:t>
            </a:r>
            <a:r>
              <a:rPr sz="2000" b="1"/>
              <a:t>Joins</a:t>
            </a:r>
            <a:r>
              <a:rPr sz="2000"/>
              <a:t> stitch them on a shared </a:t>
            </a:r>
            <a:r>
              <a:rPr sz="2000" b="1"/>
              <a:t>key</a:t>
            </a:r>
            <a:r>
              <a:rPr sz="2000"/>
              <a:t>. </a:t>
            </a:r>
            <a:r>
              <a:rPr sz="2000" i="1"/>
              <a:t>(The data are simulated for teaching, patterned on real reintroduction programs.)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a </a:t>
            </a:r>
            <a:r>
              <a:rPr b="1"/>
              <a:t>key</a:t>
            </a:r>
            <a:r>
              <a:rPr/>
              <a:t> — the column that links two tables</a:t>
            </a:r>
          </a:p>
          <a:p>
            <a:pPr lvl="0"/>
            <a:r>
              <a:rPr/>
              <a:t>Join when the key columns have </a:t>
            </a:r>
            <a:r>
              <a:rPr b="1"/>
              <a:t>different names</a:t>
            </a:r>
          </a:p>
          <a:p>
            <a:pPr lvl="0"/>
            <a:r>
              <a:rPr/>
              <a:t>The </a:t>
            </a:r>
            <a:r>
              <a:rPr b="1"/>
              <a:t>mutating joins</a:t>
            </a:r>
            <a:r>
              <a:rPr/>
              <a:t> — </a:t>
            </a:r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/>
              <a:t>The </a:t>
            </a:r>
            <a:r>
              <a:rPr b="1"/>
              <a:t>filtering joins</a:t>
            </a:r>
            <a:r>
              <a:rPr/>
              <a:t> — </a:t>
            </a:r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/>
              <a:t>Build one combined capture + individual 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 (dplyr)</a:t>
            </a:r>
          </a:p>
          <a:p>
            <a:pPr lvl="0" indent="0" marL="0">
              <a:buNone/>
            </a:pPr>
            <a:r>
              <a:rPr b="1"/>
              <a:t>Data (two tables, simulated):</a:t>
            </a:r>
          </a:p>
          <a:p>
            <a:pPr lvl="0"/>
            <a:r>
              <a:rPr>
                <a:latin typeface="Courier"/>
              </a:rPr>
              <a:t>fisher_captures.csv</a:t>
            </a:r>
            <a:r>
              <a:rPr/>
              <a:t> — one row per capture event</a:t>
            </a:r>
          </a:p>
          <a:p>
            <a:pPr lvl="0"/>
            <a:r>
              <a:rPr>
                <a:latin typeface="Courier"/>
              </a:rPr>
              <a:t>fisher_individuals.csv</a:t>
            </a:r>
            <a:r>
              <a:rPr/>
              <a:t> — one row per released fisher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keys + </a:t>
            </a:r>
            <a:r>
              <a:rPr sz="2000">
                <a:latin typeface="Courier"/>
              </a:rPr>
              <a:t>left_join</a:t>
            </a:r>
            <a:r>
              <a:rPr sz="2000"/>
              <a:t>. </a:t>
            </a:r>
            <a:r>
              <a:rPr sz="2000" b="1"/>
              <a:t>Day 2:</a:t>
            </a:r>
            <a:r>
              <a:rPr sz="2000"/>
              <a:t> the join family + filtering joins.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join,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how many rows you’ll get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join can run without error and still hand you the wrong table — the only way to catch that is to know the row count you expected </a:t>
            </a:r>
            <a:r>
              <a:rPr sz="2000" i="1"/>
              <a:t>before</a:t>
            </a:r>
            <a:r>
              <a:rPr sz="2000"/>
              <a:t> you see the actual one.</a:t>
            </a:r>
          </a:p>
          <a:p>
            <a:pPr lvl="0"/>
            <a:r>
              <a:rPr sz="2000"/>
              <a:t>Every join in this lecture takes </a:t>
            </a:r>
            <a:r>
              <a:rPr sz="2000">
                <a:latin typeface="Courier"/>
              </a:rPr>
              <a:t>by = c("a" = "b")</a:t>
            </a:r>
            <a:r>
              <a:rPr sz="2000"/>
              <a:t> as an argument — typing that syntax a dozen times is what makes it automatic under deadline pressure.</a:t>
            </a:r>
          </a:p>
          <a:p>
            <a:pPr lvl="0"/>
            <a:r>
              <a:rPr sz="2000"/>
              <a:t>Four short chunks instead of one long one means </a:t>
            </a:r>
            <a:r>
              <a:rPr sz="2000">
                <a:latin typeface="Courier"/>
              </a:rPr>
              <a:t>left_join</a:t>
            </a:r>
            <a:r>
              <a:rPr sz="2000"/>
              <a:t>, </a:t>
            </a:r>
            <a:r>
              <a:rPr sz="2000">
                <a:latin typeface="Courier"/>
              </a:rPr>
              <a:t>inner</a:t>
            </a:r>
            <a:r>
              <a:rPr sz="2000"/>
              <a:t>/</a:t>
            </a:r>
            <a:r>
              <a:rPr sz="2000">
                <a:latin typeface="Courier"/>
              </a:rPr>
              <a:t>full</a:t>
            </a:r>
            <a:r>
              <a:rPr sz="2000"/>
              <a:t>, and </a:t>
            </a:r>
            <a:r>
              <a:rPr sz="2000">
                <a:latin typeface="Courier"/>
              </a:rPr>
              <a:t>semi</a:t>
            </a:r>
            <a:r>
              <a:rPr sz="2000"/>
              <a:t>/</a:t>
            </a:r>
            <a:r>
              <a:rPr sz="2000">
                <a:latin typeface="Courier"/>
              </a:rPr>
              <a:t>anti</a:t>
            </a:r>
            <a:r>
              <a:rPr sz="2000"/>
              <a:t> each get their own uncluttered mental slot.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Two Tables &amp; a Key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data comes in multiple tables, and what a key is.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both tables, find the key).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— Data in Two 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BOTH fisher tables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captures_df 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"data/fisher_captures.csv"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"data/fisher_individuals.csv"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(captures_df)       </a:t>
            </a:r>
            <a:r>
              <a:rPr>
                <a:solidFill>
                  <a:srgbClr val="5E5E5E"/>
                </a:solidFill>
                <a:latin typeface="Courier"/>
              </a:rPr>
              <a:t># field events: when/where/mass/collar</a:t>
            </a:r>
          </a:p>
          <a:p>
            <a:pPr lvl="0" indent="0">
              <a:buNone/>
            </a:pPr>
            <a:r>
              <a:rPr>
                <a:latin typeface="Courier"/>
              </a:rPr>
              <a:t>[1] 45  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(individuals_df)    </a:t>
            </a:r>
            <a:r>
              <a:rPr>
                <a:solidFill>
                  <a:srgbClr val="5E5E5E"/>
                </a:solidFill>
                <a:latin typeface="Courier"/>
              </a:rPr>
              <a:t># released animals: sex/age/source/site</a:t>
            </a:r>
          </a:p>
          <a:p>
            <a:pPr lvl="0" indent="0">
              <a:buNone/>
            </a:pPr>
            <a:r>
              <a:rPr>
                <a:latin typeface="Courier"/>
              </a:rPr>
              <a:t>[1] 18  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captures_df</a:t>
            </a:r>
            <a:r>
              <a:rPr/>
              <a:t> — one row per capture event: date, site, mass, collar id</a:t>
            </a:r>
          </a:p>
          <a:p>
            <a:pPr lvl="0"/>
            <a:r>
              <a:rPr b="1">
                <a:latin typeface="Courier"/>
              </a:rPr>
              <a:t>individuals_df</a:t>
            </a:r>
            <a:r>
              <a:rPr/>
              <a:t> — one row per released fisher: sex, age class, source, release site</a:t>
            </a:r>
          </a:p>
          <a:p>
            <a:pPr lvl="0"/>
            <a:r>
              <a:rPr/>
              <a:t>To use a capture you often need </a:t>
            </a:r>
            <a:r>
              <a:rPr b="1"/>
              <a:t>both</a:t>
            </a:r>
            <a:r>
              <a:rPr/>
              <a:t> — the event </a:t>
            </a:r>
            <a:r>
              <a:rPr i="1"/>
              <a:t>and</a:t>
            </a:r>
            <a:r>
              <a:rPr/>
              <a:t> who the animal 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a Key?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columns that identify an animal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  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capture_date, site,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animal_id capture_date site       mass_kg
  &lt;chr&gt;     &lt;date&gt;       &lt;chr&gt;        &lt;dbl&gt;
1 f07       2018-03-25   Snoqualmie    1.4 
2 f16       2018-04-11   Mt Rainier    5.52
3 f06       2018-04-29   Snoqualmie    2.06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site, release_date)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fisher_id sex   site       release_date
  &lt;chr&gt;     &lt;chr&gt; &lt;chr&gt;      &lt;date&gt;      
1 F01       F     Mt Rainier 2019-05-10  
2 F02       F     Mt Rainier 2018-11-08  
3 F03       M     Snoqualmie 2018-02-07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key</a:t>
            </a:r>
            <a:r>
              <a:rPr/>
              <a:t> is the column that identifies an animal and links the tables.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captures_df</a:t>
            </a:r>
            <a:r>
              <a:rPr/>
              <a:t> it’s </a:t>
            </a:r>
            <a:r>
              <a:rPr b="1">
                <a:latin typeface="Courier"/>
              </a:rPr>
              <a:t>animal_id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individuals_df</a:t>
            </a:r>
            <a:r>
              <a:rPr/>
              <a:t> it’s </a:t>
            </a:r>
            <a:r>
              <a:rPr b="1">
                <a:latin typeface="Courier"/>
              </a:rPr>
              <a:t>fisher_id</a:t>
            </a:r>
          </a:p>
          <a:p>
            <a:pPr lvl="0"/>
            <a:r>
              <a:rPr b="1"/>
              <a:t>Same idea, different name</a:t>
            </a:r>
            <a:r>
              <a:rPr/>
              <a:t> — we’ll tell the join that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Vocabulary</a:t>
            </a:r>
          </a:p>
          <a:p>
            <a:pPr lvl="0" indent="0" marL="1270000">
              <a:buNone/>
            </a:pPr>
            <a:r>
              <a:rPr sz="2000"/>
              <a:t>The key must be </a:t>
            </a:r>
            <a:r>
              <a:rPr sz="2000" b="1"/>
              <a:t>unique</a:t>
            </a:r>
            <a:r>
              <a:rPr sz="2000"/>
              <a:t> in the table you look things up in (</a:t>
            </a:r>
            <a:r>
              <a:rPr sz="2000">
                <a:latin typeface="Courier"/>
              </a:rPr>
              <a:t>individuals_df</a:t>
            </a:r>
            <a:r>
              <a:rPr sz="2000"/>
              <a:t> — one row per fisher). It is </a:t>
            </a:r>
            <a:r>
              <a:rPr sz="2000" i="1"/>
              <a:t>not</a:t>
            </a:r>
            <a:r>
              <a:rPr sz="2000"/>
              <a:t> unique in </a:t>
            </a:r>
            <a:r>
              <a:rPr sz="2000">
                <a:latin typeface="Courier"/>
              </a:rPr>
              <a:t>captures_df</a:t>
            </a:r>
            <a:r>
              <a:rPr sz="2000"/>
              <a:t> — a fisher can be caught many times.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Key Before Joining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capture key is lowercase; the individual key is not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(animal_id)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animal_id     n
  &lt;chr&gt;     &lt;int&gt;
1 f01           3
2 f02           4
3 f03           2
4 f05           3
5 f06           5
6 f07           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animal_id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str_to_upper</a:t>
            </a:r>
            <a:r>
              <a:rPr>
                <a:solidFill>
                  <a:srgbClr val="003B4F"/>
                </a:solidFill>
                <a:latin typeface="Courier"/>
              </a:rPr>
              <a:t>(animal_id))   </a:t>
            </a:r>
            <a:r>
              <a:rPr>
                <a:solidFill>
                  <a:srgbClr val="5E5E5E"/>
                </a:solidFill>
                <a:latin typeface="Courier"/>
              </a:rPr>
              <a:t># "f07" -&gt; "F07"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(individuals_df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fisher_id)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(captures_df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animal_id)   </a:t>
            </a:r>
            <a:r>
              <a:rPr>
                <a:solidFill>
                  <a:srgbClr val="5E5E5E"/>
                </a:solidFill>
                <a:latin typeface="Courier"/>
              </a:rPr>
              <a:t># includes "UNK" — unmarked animals</a:t>
            </a:r>
          </a:p>
          <a:p>
            <a:pPr lvl="0" indent="0">
              <a:buNone/>
            </a:pPr>
            <a:r>
              <a:rPr>
                <a:latin typeface="Courier"/>
              </a:rPr>
              <a:t>[1] 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str_to_upper()</a:t>
            </a:r>
            <a:r>
              <a:rPr/>
              <a:t> — </a:t>
            </a:r>
            <a:r>
              <a:rPr>
                <a:latin typeface="Courier"/>
              </a:rPr>
              <a:t>animal_id</a:t>
            </a:r>
            <a:r>
              <a:rPr/>
              <a:t> was </a:t>
            </a:r>
            <a:r>
              <a:rPr>
                <a:latin typeface="Courier"/>
              </a:rPr>
              <a:t>"f07"</a:t>
            </a:r>
            <a:r>
              <a:rPr/>
              <a:t>, </a:t>
            </a:r>
            <a:r>
              <a:rPr>
                <a:latin typeface="Courier"/>
              </a:rPr>
              <a:t>fisher_id</a:t>
            </a:r>
            <a:r>
              <a:rPr/>
              <a:t> is </a:t>
            </a:r>
            <a:r>
              <a:rPr>
                <a:latin typeface="Courier"/>
              </a:rPr>
              <a:t>"F07"</a:t>
            </a:r>
            <a:r>
              <a:rPr/>
              <a:t>. </a:t>
            </a:r>
            <a:r>
              <a:rPr b="1"/>
              <a:t>Case must match</a:t>
            </a:r>
            <a:r>
              <a:rPr/>
              <a:t> or the join finds nothing</a:t>
            </a:r>
          </a:p>
          <a:p>
            <a:pPr lvl="0"/>
            <a:r>
              <a:rPr>
                <a:latin typeface="Courier"/>
              </a:rPr>
              <a:t>"UNK"</a:t>
            </a:r>
            <a:r>
              <a:rPr/>
              <a:t> is not a real fisher — those events have no individual to attach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A join silently fails to match if the keys differ in </a:t>
            </a:r>
            <a:r>
              <a:rPr sz="2000" b="1"/>
              <a:t>type</a:t>
            </a:r>
            <a:r>
              <a:rPr sz="2000"/>
              <a:t> (text vs number), </a:t>
            </a:r>
            <a:r>
              <a:rPr sz="2000" b="1"/>
              <a:t>case</a:t>
            </a:r>
            <a:r>
              <a:rPr sz="2000"/>
              <a:t>, or </a:t>
            </a:r>
            <a:r>
              <a:rPr sz="2000" b="1"/>
              <a:t>format</a:t>
            </a:r>
            <a:r>
              <a:rPr sz="2000"/>
              <a:t> — clean them first.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both tables, find the key in each, and fix its case. Predict how many capture events can be tied to a known fisher.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Your First Join — </a:t>
            </a:r>
            <a:r>
              <a:rPr>
                <a:latin typeface="Courier"/>
              </a:rPr>
              <a:t>left_join()</a:t>
            </a:r>
            <a:r>
              <a:rPr/>
              <a:t>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joining the two tables when the key columns are named differently.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(run the left join, read the result).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left_join()</a:t>
            </a:r>
            <a:r>
              <a:rPr/>
              <a:t> — Keep Every Capture Event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captures_df</a:t>
            </a:r>
            <a:r>
              <a:rPr sz="2000"/>
              <a:t> has ~45 events; a few are unmarked animals. After a </a:t>
            </a:r>
            <a:r>
              <a:rPr sz="2000">
                <a:latin typeface="Courier"/>
              </a:rPr>
              <a:t>left_join</a:t>
            </a:r>
            <a:r>
              <a:rPr sz="2000"/>
              <a:t> (captures on the left), how many </a:t>
            </a:r>
            <a:r>
              <a:rPr sz="2000" b="1"/>
              <a:t>rows</a:t>
            </a:r>
            <a:r>
              <a:rPr sz="2000"/>
              <a:t> will we have, and how many will have a missing </a:t>
            </a:r>
            <a:r>
              <a:rPr sz="2000">
                <a:latin typeface="Courier"/>
              </a:rPr>
              <a:t>sex</a:t>
            </a:r>
            <a:r>
              <a:rPr sz="2000"/>
              <a:t>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Match on differently-named keys with by = c()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captures_joined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(captures_joined)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capture event is kept</a:t>
            </a:r>
          </a:p>
          <a:p>
            <a:pPr lvl="0" indent="0">
              <a:buNone/>
            </a:pPr>
            <a:r>
              <a:rPr>
                <a:latin typeface="Courier"/>
              </a:rPr>
              <a:t>[1] 45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(captures_joined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sex))        </a:t>
            </a:r>
            <a:r>
              <a:rPr>
                <a:solidFill>
                  <a:srgbClr val="5E5E5E"/>
                </a:solidFill>
                <a:latin typeface="Courier"/>
              </a:rPr>
              <a:t># events we can't attribute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by = c("animal_id" = "fisher_id")</a:t>
            </a:r>
            <a:r>
              <a:rPr/>
              <a:t> — “match my </a:t>
            </a:r>
            <a:r>
              <a:rPr>
                <a:latin typeface="Courier"/>
              </a:rPr>
              <a:t>animal_id</a:t>
            </a:r>
            <a:r>
              <a:rPr/>
              <a:t> to their </a:t>
            </a:r>
            <a:r>
              <a:rPr>
                <a:latin typeface="Courier"/>
              </a:rPr>
              <a:t>fisher_id</a:t>
            </a:r>
            <a:r>
              <a:rPr/>
              <a:t>”</a:t>
            </a:r>
          </a:p>
          <a:p>
            <a:pPr lvl="0"/>
            <a:r>
              <a:rPr b="1">
                <a:latin typeface="Courier"/>
              </a:rPr>
              <a:t>left_join</a:t>
            </a:r>
            <a:r>
              <a:rPr b="1"/>
              <a:t> keeps every row on the left</a:t>
            </a:r>
            <a:r>
              <a:rPr/>
              <a:t> (all capture events)</a:t>
            </a:r>
          </a:p>
          <a:p>
            <a:pPr lvl="0"/>
            <a:r>
              <a:rPr/>
              <a:t>Unmarked-animal events get </a:t>
            </a:r>
            <a:r>
              <a:rPr>
                <a:latin typeface="Courier"/>
              </a:rPr>
              <a:t>NA</a:t>
            </a:r>
            <a:r>
              <a:rPr/>
              <a:t> for sex, age, source</a:t>
            </a:r>
          </a:p>
          <a:p>
            <a:pPr lvl="0" indent="0" marL="0">
              <a:buNone/>
            </a:pPr>
            <a:r>
              <a:rPr/>
              <a:t>📖 R4DS §19.3 — mutating joins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silent wrong join)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forget </a:t>
            </a:r>
            <a:r>
              <a:rPr>
                <a:latin typeface="Courier"/>
              </a:rPr>
              <a:t>by = ...</a:t>
            </a:r>
            <a:r>
              <a:rPr/>
              <a:t>, dplyr looks for a </a:t>
            </a:r>
            <a:r>
              <a:rPr b="1"/>
              <a:t>shared column name</a:t>
            </a:r>
            <a:r>
              <a:rPr/>
              <a:t> — and both tables have a </a:t>
            </a:r>
            <a:r>
              <a:rPr b="1">
                <a:latin typeface="Courier"/>
              </a:rPr>
              <a:t>site</a:t>
            </a:r>
            <a:r>
              <a:rPr/>
              <a:t> column: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#&gt; Joining with `by = join_by(site)`</a:t>
            </a:r>
          </a:p>
          <a:p>
            <a:pPr lvl="0" indent="0" marL="0">
              <a:buNone/>
            </a:pPr>
            <a:r>
              <a:rPr/>
              <a:t>But </a:t>
            </a:r>
            <a:r>
              <a:rPr>
                <a:latin typeface="Courier"/>
              </a:rPr>
              <a:t>site</a:t>
            </a:r>
            <a:r>
              <a:rPr/>
              <a:t> means different things: the </a:t>
            </a:r>
            <a:r>
              <a:rPr b="1"/>
              <a:t>capture</a:t>
            </a:r>
            <a:r>
              <a:rPr/>
              <a:t> site vs the </a:t>
            </a:r>
            <a:r>
              <a:rPr b="1"/>
              <a:t>release</a:t>
            </a:r>
            <a:r>
              <a:rPr/>
              <a:t> site. Joining on it matches a capture to </a:t>
            </a:r>
            <a:r>
              <a:rPr i="1"/>
              <a:t>every fisher released at that site</a:t>
            </a:r>
            <a:r>
              <a:rPr/>
              <a:t> — the row count explodes and the animal ids are nonsense. </a:t>
            </a:r>
            <a:r>
              <a:rPr b="1"/>
              <a:t>No error.</a:t>
            </a:r>
          </a:p>
          <a:p>
            <a:pPr lvl="0" indent="0" marL="0">
              <a:buNone/>
            </a:pPr>
            <a:r>
              <a:rPr/>
              <a:t>The fix — always name the real key: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silent wrong join?</a:t>
            </a:r>
          </a:p>
          <a:p>
            <a:pPr lvl="0" indent="0" marL="1270000">
              <a:buNone/>
            </a:pPr>
            <a:r>
              <a:rPr sz="2000"/>
              <a:t>Nothing throws an error, so nothing forces you to notice. </a:t>
            </a:r>
            <a:r>
              <a:rPr sz="2000">
                <a:latin typeface="Courier"/>
              </a:rPr>
              <a:t>captures_df</a:t>
            </a:r>
            <a:r>
              <a:rPr sz="2000"/>
              <a:t> and </a:t>
            </a:r>
            <a:r>
              <a:rPr sz="2000">
                <a:latin typeface="Courier"/>
              </a:rPr>
              <a:t>individuals_df</a:t>
            </a:r>
            <a:r>
              <a:rPr sz="2000"/>
              <a:t> both have a </a:t>
            </a:r>
            <a:r>
              <a:rPr sz="2000">
                <a:latin typeface="Courier"/>
              </a:rPr>
              <a:t>site</a:t>
            </a:r>
            <a:r>
              <a:rPr sz="2000"/>
              <a:t> column; dplyr matches on it happily and hands you hundreds of rows that pair a capture with the wrong animal. If the message </a:t>
            </a:r>
            <a:r>
              <a:rPr sz="2000" i="1"/>
              <a:t>“Joining with </a:t>
            </a:r>
            <a:r>
              <a:rPr sz="2000" i="1">
                <a:latin typeface="Courier"/>
              </a:rPr>
              <a:t>by = ...</a:t>
            </a:r>
            <a:r>
              <a:rPr sz="2000" i="1"/>
              <a:t>”</a:t>
            </a:r>
            <a:r>
              <a:rPr sz="2000"/>
              <a:t> names a column you didn’t pick, treat it as a bug report, not a status update.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a key and why it must be unique (in the lookup table) and same case/type</a:t>
            </a:r>
          </a:p>
          <a:p>
            <a:pPr lvl="0"/>
            <a:r>
              <a:rPr/>
              <a:t>Join two tables whose key columns are named differently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left_join()</a:t>
            </a:r>
            <a:r>
              <a:rPr/>
              <a:t> to keep every row on the left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rest of the family:</a:t>
            </a:r>
          </a:p>
          <a:p>
            <a:pPr lvl="0"/>
            <a:r>
              <a:rPr>
                <a:latin typeface="Courier"/>
              </a:rPr>
              <a:t>inner_join</a:t>
            </a:r>
            <a:r>
              <a:rPr/>
              <a:t> vs </a:t>
            </a:r>
            <a:r>
              <a:rPr>
                <a:latin typeface="Courier"/>
              </a:rPr>
              <a:t>left_join</a:t>
            </a:r>
            <a:r>
              <a:rPr/>
              <a:t> vs </a:t>
            </a:r>
            <a:r>
              <a:rPr>
                <a:latin typeface="Courier"/>
              </a:rPr>
              <a:t>full_join</a:t>
            </a:r>
          </a:p>
          <a:p>
            <a:pPr lvl="0"/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to </a:t>
            </a:r>
            <a:r>
              <a:rPr b="1"/>
              <a:t>filter</a:t>
            </a:r>
            <a:r>
              <a:rPr/>
              <a:t> instead of add columns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The Join Family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inner_join</a:t>
            </a:r>
            <a:r>
              <a:rPr/>
              <a:t>, </a:t>
            </a:r>
            <a:r>
              <a:rPr>
                <a:latin typeface="Courier"/>
              </a:rPr>
              <a:t>left_join</a:t>
            </a:r>
            <a:r>
              <a:rPr/>
              <a:t>, and </a:t>
            </a:r>
            <a:r>
              <a:rPr>
                <a:latin typeface="Courier"/>
              </a:rPr>
              <a:t>full_join</a:t>
            </a:r>
            <a:r>
              <a:rPr/>
              <a:t>, and how to choose.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(compare the three joins).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Inner vs. Left vs. Full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Rank by row count: </a:t>
            </a:r>
            <a:r>
              <a:rPr sz="2000">
                <a:latin typeface="Courier"/>
              </a:rPr>
              <a:t>inner_join</a:t>
            </a:r>
            <a:r>
              <a:rPr sz="2000"/>
              <a:t> (only matches), </a:t>
            </a:r>
            <a:r>
              <a:rPr sz="2000">
                <a:latin typeface="Courier"/>
              </a:rPr>
              <a:t>left_join</a:t>
            </a:r>
            <a:r>
              <a:rPr sz="2000"/>
              <a:t> (all captures), </a:t>
            </a:r>
            <a:r>
              <a:rPr sz="2000">
                <a:latin typeface="Courier"/>
              </a:rPr>
              <a:t>full_join</a:t>
            </a:r>
            <a:r>
              <a:rPr sz="2000"/>
              <a:t> (all captures </a:t>
            </a:r>
            <a:r>
              <a:rPr sz="2000" b="1"/>
              <a:t>and</a:t>
            </a:r>
            <a:r>
              <a:rPr sz="2000"/>
              <a:t> every released fisher, even the never-recaptured ones).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key, three different rules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key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inner &lt;-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left  &lt;-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  &lt;- </a:t>
            </a:r>
            <a:r>
              <a:rPr>
                <a:solidFill>
                  <a:srgbClr val="4758AB"/>
                </a:solidFill>
                <a:latin typeface="Courier"/>
              </a:rPr>
              <a:t>full_join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inner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(inner), </a:t>
            </a:r>
            <a:r>
              <a:rPr>
                <a:solidFill>
                  <a:srgbClr val="657422"/>
                </a:solidFill>
                <a:latin typeface="Courier"/>
              </a:rPr>
              <a:t>left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(left), </a:t>
            </a:r>
            <a:r>
              <a:rPr>
                <a:solidFill>
                  <a:srgbClr val="657422"/>
                </a:solidFill>
                <a:latin typeface="Courier"/>
              </a:rPr>
              <a:t>full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(full))</a:t>
            </a:r>
          </a:p>
          <a:p>
            <a:pPr lvl="0" indent="0">
              <a:buNone/>
            </a:pPr>
            <a:r>
              <a:rPr>
                <a:latin typeface="Courier"/>
              </a:rPr>
              <a:t>inner  left  full 
   42    45    49 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inner_join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only events with a </a:t>
                      </a:r>
                      <a:r>
                        <a:rPr b="1"/>
                        <a:t>known</a:t>
                      </a:r>
                      <a:r>
                        <a:rPr/>
                        <a:t> animal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left_join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all</a:t>
                      </a:r>
                      <a:r>
                        <a:rPr/>
                        <a:t> capture events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full_join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events </a:t>
                      </a:r>
                      <a:r>
                        <a:rPr b="1"/>
                        <a:t>and</a:t>
                      </a:r>
                      <a:r>
                        <a:rPr/>
                        <a:t> every released fisher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Join Should You Use?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left_join</a:t>
            </a:r>
            <a:r>
              <a:rPr/>
              <a:t> — the default. Keep everything on your main table, add what you can. </a:t>
            </a:r>
            <a:r>
              <a:rPr i="1"/>
              <a:t>(Event-level analysis: keep all captures.)</a:t>
            </a:r>
          </a:p>
          <a:p>
            <a:pPr lvl="0"/>
            <a:r>
              <a:rPr b="1">
                <a:latin typeface="Courier"/>
              </a:rPr>
              <a:t>inner_join</a:t>
            </a:r>
            <a:r>
              <a:rPr/>
              <a:t> — only rows with a match. </a:t>
            </a:r>
            <a:r>
              <a:rPr i="1"/>
              <a:t>(When an unattributed event would ruin the analysis.)</a:t>
            </a:r>
          </a:p>
          <a:p>
            <a:pPr lvl="0"/>
            <a:r>
              <a:rPr b="1">
                <a:latin typeface="Courier"/>
              </a:rPr>
              <a:t>full_join</a:t>
            </a:r>
            <a:r>
              <a:rPr/>
              <a:t> — keep everything from both. </a:t>
            </a:r>
            <a:r>
              <a:rPr i="1"/>
              <a:t>(To audit what’s missing on each side — which fishers vanished.)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Choosing among the three</a:t>
            </a:r>
          </a:p>
          <a:p>
            <a:pPr lvl="0" indent="0" marL="1270000">
              <a:buNone/>
            </a:pPr>
            <a:r>
              <a:rPr sz="2000"/>
              <a:t>Ask which rows you’d be upset to lose. Drop an unmarked capture and you undercount effort; drop a never-recaptured fisher from a </a:t>
            </a:r>
            <a:r>
              <a:rPr sz="2000" i="1"/>
              <a:t>survival</a:t>
            </a:r>
            <a:r>
              <a:rPr sz="2000"/>
              <a:t> analysis and you bias it badly. Match the join to the question.</a:t>
            </a:r>
          </a:p>
          <a:p>
            <a:pPr lvl="0" indent="0" marL="0">
              <a:buNone/>
            </a:pPr>
            <a:r>
              <a:rPr/>
              <a:t>📖 R4DS §19.3–19.4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all three joins, compare the row counts, and decide which one you’d use to build a map. Predict each count first.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Filtering Joins &amp; the Payoff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— joins that </a:t>
            </a:r>
            <a:r>
              <a:rPr b="1"/>
              <a:t>filter</a:t>
            </a:r>
            <a:r>
              <a:rPr/>
              <a:t> rather than add columns.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(find the missing reports, build the map table).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anti_join()</a:t>
            </a:r>
            <a:r>
              <a:rPr/>
              <a:t> — What Didn’t Match?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 (two ways):</a:t>
            </a:r>
            <a:r>
              <a:rPr sz="2000"/>
              <a:t> how many capture </a:t>
            </a:r>
            <a:r>
              <a:rPr sz="2000" b="1"/>
              <a:t>events</a:t>
            </a:r>
            <a:r>
              <a:rPr sz="2000"/>
              <a:t> have no known animal? How many released </a:t>
            </a:r>
            <a:r>
              <a:rPr sz="2000" b="1"/>
              <a:t>fishers</a:t>
            </a:r>
            <a:r>
              <a:rPr sz="2000"/>
              <a:t> were never recaptured?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(a) capture events of unmarked animals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(b) released fishers with no capture — anti_join the OTHER way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fisher_id sex   site           
  &lt;chr&gt;     &lt;chr&gt; &lt;chr&gt;          
1 F04       F     Snoqualmie     
2 F11       F     Gifford Pinchot
3 F17       M     Snoqualmie     
4 F18       F     Mt Rainier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anti_join</a:t>
            </a:r>
            <a:r>
              <a:rPr/>
              <a:t> keeps the left rows with </a:t>
            </a:r>
            <a:r>
              <a:rPr b="1"/>
              <a:t>no</a:t>
            </a:r>
            <a:r>
              <a:rPr/>
              <a:t> match — “what’s missing?”</a:t>
            </a:r>
          </a:p>
          <a:p>
            <a:pPr lvl="0"/>
            <a:r>
              <a:rPr/>
              <a:t>It </a:t>
            </a:r>
            <a:r>
              <a:rPr b="1"/>
              <a:t>adds no columns</a:t>
            </a:r>
            <a:r>
              <a:rPr/>
              <a:t> — it filters</a:t>
            </a:r>
          </a:p>
          <a:p>
            <a:pPr lvl="0"/>
            <a:r>
              <a:rPr/>
              <a:t>Direction matters: run it both ways to see each side’s gaps</a:t>
            </a:r>
          </a:p>
          <a:p>
            <a:pPr lvl="0" indent="0" marL="0">
              <a:buNone/>
            </a:pPr>
            <a:r>
              <a:rPr/>
              <a:t>📖 R4DS §19.5 — filtering joins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semi_join()</a:t>
            </a:r>
            <a:r>
              <a:rPr/>
              <a:t> — Keep Only What Matched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Released fishers that WERE recaptured at least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semi_join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semi_join</a:t>
            </a:r>
            <a:r>
              <a:rPr/>
              <a:t> keeps left rows that </a:t>
            </a:r>
            <a:r>
              <a:rPr b="1"/>
              <a:t>have</a:t>
            </a:r>
            <a:r>
              <a:rPr/>
              <a:t> a match — again, </a:t>
            </a:r>
            <a:r>
              <a:rPr b="1"/>
              <a:t>no new columns</a:t>
            </a:r>
          </a:p>
          <a:p>
            <a:pPr lvl="0"/>
            <a:r>
              <a:rPr/>
              <a:t>Think of </a:t>
            </a:r>
            <a:r>
              <a:rPr>
                <a:latin typeface="Courier"/>
              </a:rPr>
              <a:t>semi</a:t>
            </a:r>
            <a:r>
              <a:rPr/>
              <a:t>/</a:t>
            </a:r>
            <a:r>
              <a:rPr>
                <a:latin typeface="Courier"/>
              </a:rPr>
              <a:t>anti</a:t>
            </a:r>
            <a:r>
              <a:rPr/>
              <a:t> as a </a:t>
            </a:r>
            <a:r>
              <a:rPr b="1"/>
              <a:t>filter driven by another table</a:t>
            </a:r>
          </a:p>
          <a:p>
            <a:pPr lvl="0"/>
            <a:r>
              <a:rPr>
                <a:latin typeface="Courier"/>
              </a:rPr>
              <a:t>semi</a:t>
            </a:r>
            <a:r>
              <a:rPr/>
              <a:t> + </a:t>
            </a:r>
            <a:r>
              <a:rPr>
                <a:latin typeface="Courier"/>
              </a:rPr>
              <a:t>anti</a:t>
            </a:r>
            <a:r>
              <a:rPr/>
              <a:t> on the same table split it in two: recaptured vs never seen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Payoff — Build One Analysis-Ready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KNOWN-individual capture, with the animal's attributes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fisher_analysis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days_since_release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(capture_date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release_date))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fisher_analysis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sex, age_class, capture_date, days_since_release,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animal_id sex   age_class capture_date days_since_release mass_kg
  &lt;chr&gt;     &lt;chr&gt; &lt;chr&gt;     &lt;date&gt;                    &lt;dbl&gt;   &lt;dbl&gt;
1 F07       F     juvenile  2018-03-25                 -244    1.4 
2 F16       F     juvenile  2018-04-11                 -139    5.52
3 F06       F     adult     2018-04-29                 -301    2.06
4 F09       F     juvenile  2018-05-21                 -165    2.49
5 F06       F     adult     2018-05-30                 -270    1.4 
6 F02       F     juvenile  2018-06-08                 -153    4.21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You just built a real dataset from two raw ones.</a:t>
            </a:r>
            <a:r>
              <a:rPr/>
              <a:t> </a:t>
            </a:r>
            <a:r>
              <a:rPr>
                <a:latin typeface="Courier"/>
              </a:rPr>
              <a:t>fisher_analysis</a:t>
            </a:r>
            <a:r>
              <a:rPr/>
              <a:t> didn’t exist in either source file — every row is a capture event </a:t>
            </a:r>
            <a:r>
              <a:rPr i="1"/>
              <a:t>plus</a:t>
            </a:r>
            <a:r>
              <a:rPr/>
              <a:t> the animal’s sex, age, and days-since-release, ready for a model.</a:t>
            </a:r>
          </a:p>
          <a:p>
            <a:pPr lvl="0" indent="0" marL="0">
              <a:buNone/>
            </a:pPr>
            <a:r>
              <a:rPr/>
              <a:t>Here </a:t>
            </a:r>
            <a:r>
              <a:rPr>
                <a:latin typeface="Courier"/>
              </a:rPr>
              <a:t>inner_join</a:t>
            </a:r>
            <a:r>
              <a:rPr/>
              <a:t> is right: an event with no known animal can’t go into an individual-level analysis.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10–12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</a:t>
            </a:r>
            <a:r>
              <a:rPr>
                <a:latin typeface="Courier"/>
              </a:rPr>
              <a:t>anti_join</a:t>
            </a:r>
            <a:r>
              <a:rPr/>
              <a:t> both directions to find the gaps, </a:t>
            </a:r>
            <a:r>
              <a:rPr>
                <a:latin typeface="Courier"/>
              </a:rPr>
              <a:t>semi_join</a:t>
            </a:r>
            <a:r>
              <a:rPr/>
              <a:t> to see who was recaptured, and build the combined table. Predict the counts first.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 </a:t>
            </a:r>
            <a:r>
              <a:rPr b="1"/>
              <a:t>key</a:t>
            </a:r>
            <a:r>
              <a:rPr/>
              <a:t> links two tables; it must be </a:t>
            </a:r>
            <a:r>
              <a:rPr b="1"/>
              <a:t>unique</a:t>
            </a:r>
            <a:r>
              <a:rPr/>
              <a:t> and the </a:t>
            </a:r>
            <a:r>
              <a:rPr b="1"/>
              <a:t>same type</a:t>
            </a:r>
          </a:p>
          <a:p>
            <a:pPr lvl="0"/>
            <a:r>
              <a:rPr/>
              <a:t>Join differently-named keys with </a:t>
            </a:r>
            <a:r>
              <a:rPr>
                <a:latin typeface="Courier"/>
              </a:rPr>
              <a:t>by = c("a" = "b")</a:t>
            </a:r>
          </a:p>
          <a:p>
            <a:pPr lvl="0"/>
            <a:r>
              <a:rPr b="1"/>
              <a:t>Mutating joins</a:t>
            </a:r>
            <a:r>
              <a:rPr/>
              <a:t> add columns: </a:t>
            </a:r>
            <a:r>
              <a:rPr>
                <a:latin typeface="Courier"/>
              </a:rPr>
              <a:t>left</a:t>
            </a:r>
            <a:r>
              <a:rPr/>
              <a:t> (all left), </a:t>
            </a:r>
            <a:r>
              <a:rPr>
                <a:latin typeface="Courier"/>
              </a:rPr>
              <a:t>inner</a:t>
            </a:r>
            <a:r>
              <a:rPr/>
              <a:t> (matches), </a:t>
            </a:r>
            <a:r>
              <a:rPr>
                <a:latin typeface="Courier"/>
              </a:rPr>
              <a:t>full</a:t>
            </a:r>
            <a:r>
              <a:rPr/>
              <a:t> (all)</a:t>
            </a:r>
          </a:p>
          <a:p>
            <a:pPr lvl="0"/>
            <a:r>
              <a:rPr b="1"/>
              <a:t>Filtering joins</a:t>
            </a:r>
            <a:r>
              <a:rPr/>
              <a:t> keep rows: </a:t>
            </a:r>
            <a:r>
              <a:rPr>
                <a:latin typeface="Courier"/>
              </a:rPr>
              <a:t>semi</a:t>
            </a:r>
            <a:r>
              <a:rPr/>
              <a:t> (has a match), </a:t>
            </a:r>
            <a:r>
              <a:rPr>
                <a:latin typeface="Courier"/>
              </a:rPr>
              <a:t>anti</a:t>
            </a:r>
            <a:r>
              <a:rPr/>
              <a:t> (no match)</a:t>
            </a:r>
          </a:p>
          <a:p>
            <a:pPr lvl="0"/>
            <a:r>
              <a:rPr/>
              <a:t>Always </a:t>
            </a:r>
            <a:r>
              <a:rPr b="1"/>
              <a:t>name your key</a:t>
            </a:r>
            <a:r>
              <a:rPr/>
              <a:t> — a printed </a:t>
            </a:r>
            <a:r>
              <a:rPr>
                <a:latin typeface="Courier"/>
              </a:rPr>
              <a:t>by = ...</a:t>
            </a:r>
            <a:r>
              <a:rPr/>
              <a:t> you didn’t choose is a bug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>
                <a:latin typeface="Courier"/>
              </a:rPr>
              <a:t>str_to_upper()</a:t>
            </a:r>
            <a:r>
              <a:rPr/>
              <a:t> (and </a:t>
            </a:r>
            <a:r>
              <a:rPr>
                <a:latin typeface="Courier"/>
              </a:rPr>
              <a:t>as.integer()</a:t>
            </a:r>
            <a:r>
              <a:rPr/>
              <a:t>, </a:t>
            </a:r>
            <a:r>
              <a:rPr>
                <a:latin typeface="Courier"/>
              </a:rPr>
              <a:t>str_trim()</a:t>
            </a:r>
            <a:r>
              <a:rPr/>
              <a:t>) for key hygiene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0">
              <a:buNone/>
            </a:pPr>
            <a:r>
              <a:rPr b="1"/>
              <a:t>Up next — Mapping:</a:t>
            </a:r>
          </a:p>
          <a:p>
            <a:pPr lvl="0"/>
            <a:r>
              <a:rPr/>
              <a:t>Turn latitude/longitude into a map with </a:t>
            </a:r>
            <a:r>
              <a:rPr>
                <a:latin typeface="Courier"/>
              </a:rPr>
              <a:t>sf</a:t>
            </a:r>
            <a:r>
              <a:rPr/>
              <a:t> and </a:t>
            </a:r>
            <a:r>
              <a:rPr>
                <a:latin typeface="Courier"/>
              </a:rPr>
              <a:t>geom_sf()</a:t>
            </a:r>
          </a:p>
          <a:p>
            <a:pPr lvl="0"/>
            <a:r>
              <a:rPr/>
              <a:t>A different dataset (Bigfoot sightings) — same join thinking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Joins: Combining Two Tables</dc:title>
  <dc:creator>Bill Perry</dc:creator>
  <cp:keywords/>
  <dc:description>Real projects spread data across several tables. This 2-day lecture teaches joins: what a key is, how to join two tables when the key columns are named differently, the mutating joins (left/inner/full), and the filtering joins (semi/anti) — by combining a table of released fishers with a table of field capture events into one analysis-ready dataset.</dc:description>
  <dcterms:created xsi:type="dcterms:W3CDTF">2026-09-14T23:54:32Z</dcterms:created>
  <dcterms:modified xsi:type="dcterms:W3CDTF">2026-09-14T23:54:32Z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21</vt:lpwstr>
  </property>
  <property fmtid="{D5CDD505-2E9C-101B-9397-08002B2CF9AE}" pid="13" name="resources">
    <vt:lpwstr/>
  </property>
  <property fmtid="{D5CDD505-2E9C-101B-9397-08002B2CF9AE}" pid="14" name="subtitle">
    <vt:lpwstr>Keys, mutating joins, and filtering joins on a fisher reintroduction dataset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11</vt:lpwstr>
  </property>
</Properties>
</file>