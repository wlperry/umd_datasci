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joins"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joi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Joins: Combining Two Tables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Keys, mutating joins, and filtering joins with real Bigfoot report data</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 Factors</a:t>
            </a:r>
          </a:p>
        </p:txBody>
      </p:sp>
      <p:sp>
        <p:nvSpPr>
          <p:cNvPr id="3" name="Content Placeholder 2"/>
          <p:cNvSpPr>
            <a:spLocks noGrp="1"/>
          </p:cNvSpPr>
          <p:nvPr>
            <p:ph idx="1"/>
          </p:nvPr>
        </p:nvSpPr>
        <p:spPr/>
        <p:txBody>
          <a:bodyPr/>
          <a:lstStyle/>
          <a:p>
            <a:pPr lvl="0"/>
            <a:r>
              <a:rPr b="1"/>
              <a:t>Factors</a:t>
            </a:r>
            <a:r>
              <a:rPr/>
              <a:t> — reordered and relabeled categorical levels for clean plots and models</a:t>
            </a:r>
          </a:p>
          <a:p>
            <a:pPr lvl="0"/>
            <a:r>
              <a:rPr/>
              <a:t>Before that: reshaped messy data (Pivoting), started the final project, and ran a one-way ANOVA</a:t>
            </a:r>
          </a:p>
          <a:p>
            <a:pPr lvl="0"/>
            <a:r>
              <a:rPr/>
              <a:t>So far every analysis used </a:t>
            </a:r>
            <a:r>
              <a:rPr b="1"/>
              <a:t>one</a:t>
            </a:r>
            <a:r>
              <a:rPr/>
              <a:t> table</a:t>
            </a:r>
          </a:p>
          <a:p>
            <a:pPr lvl="0" indent="0" marL="1270000">
              <a:buNone/>
            </a:pPr>
            <a:r>
              <a:rPr sz="2000" b="1"/>
              <a:t>Note</a:t>
            </a:r>
          </a:p>
          <a:p>
            <a:pPr lvl="0" indent="0" marL="1270000">
              <a:buNone/>
            </a:pPr>
            <a:r>
              <a:rPr sz="2000" b="1"/>
              <a:t>✅ Transition</a:t>
            </a:r>
          </a:p>
          <a:p>
            <a:pPr lvl="0" indent="0" marL="1270000">
              <a:buNone/>
            </a:pPr>
            <a:r>
              <a:rPr sz="2000"/>
              <a:t>Real data almost never lives in a single table. Today’s dataset comes in </a:t>
            </a:r>
            <a:r>
              <a:rPr sz="2000" b="1"/>
              <a:t>two</a:t>
            </a:r>
            <a:r>
              <a:rPr sz="2000"/>
              <a:t>: one file has the Bigfoot report </a:t>
            </a:r>
            <a:r>
              <a:rPr sz="2000" b="1"/>
              <a:t>text</a:t>
            </a:r>
            <a:r>
              <a:rPr sz="2000"/>
              <a:t> (where, when, what), a second has the </a:t>
            </a:r>
            <a:r>
              <a:rPr sz="2000" b="1"/>
              <a:t>coordinates</a:t>
            </a:r>
            <a:r>
              <a:rPr sz="2000"/>
              <a:t>. Neither alone lets you map a sighting. </a:t>
            </a:r>
            <a:r>
              <a:rPr sz="2000" b="1"/>
              <a:t>Joins</a:t>
            </a:r>
            <a:r>
              <a:rPr sz="2000"/>
              <a:t> stitch them together on a shared </a:t>
            </a:r>
            <a:r>
              <a:rPr sz="2000" b="1"/>
              <a:t>key</a:t>
            </a:r>
            <a:r>
              <a:rPr sz="2000"/>
              <a:t> — and the result is exactly the file we’ll map next week. 🦶</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 (a 2-day lecture)</a:t>
            </a:r>
          </a:p>
        </p:txBody>
      </p:sp>
      <p:sp>
        <p:nvSpPr>
          <p:cNvPr id="3" name="Content Placeholder 2"/>
          <p:cNvSpPr>
            <a:spLocks noGrp="1"/>
          </p:cNvSpPr>
          <p:nvPr>
            <p:ph idx="1" sz="half"/>
          </p:nvPr>
        </p:nvSpPr>
        <p:spPr/>
        <p:txBody>
          <a:bodyPr/>
          <a:lstStyle/>
          <a:p>
            <a:pPr lvl="0"/>
            <a:r>
              <a:rPr/>
              <a:t>Understand a </a:t>
            </a:r>
            <a:r>
              <a:rPr b="1"/>
              <a:t>key</a:t>
            </a:r>
            <a:r>
              <a:rPr/>
              <a:t> — the column that links two tables</a:t>
            </a:r>
          </a:p>
          <a:p>
            <a:pPr lvl="0"/>
            <a:r>
              <a:rPr/>
              <a:t>Join when the key columns have </a:t>
            </a:r>
            <a:r>
              <a:rPr b="1"/>
              <a:t>different names</a:t>
            </a:r>
          </a:p>
          <a:p>
            <a:pPr lvl="0"/>
            <a:r>
              <a:rPr/>
              <a:t>The </a:t>
            </a:r>
            <a:r>
              <a:rPr b="1"/>
              <a:t>mutating joins</a:t>
            </a:r>
            <a:r>
              <a:rPr/>
              <a:t> — </a:t>
            </a:r>
            <a:r>
              <a:rPr>
                <a:latin typeface="Courier"/>
              </a:rPr>
              <a:t>left_join()</a:t>
            </a:r>
            <a:r>
              <a:rPr/>
              <a:t>, </a:t>
            </a:r>
            <a:r>
              <a:rPr>
                <a:latin typeface="Courier"/>
              </a:rPr>
              <a:t>inner_join()</a:t>
            </a:r>
            <a:r>
              <a:rPr/>
              <a:t>, </a:t>
            </a:r>
            <a:r>
              <a:rPr>
                <a:latin typeface="Courier"/>
              </a:rPr>
              <a:t>full_join()</a:t>
            </a:r>
          </a:p>
          <a:p>
            <a:pPr lvl="0"/>
            <a:r>
              <a:rPr/>
              <a:t>The </a:t>
            </a:r>
            <a:r>
              <a:rPr b="1"/>
              <a:t>filtering joins</a:t>
            </a:r>
            <a:r>
              <a:rPr/>
              <a:t> — </a:t>
            </a:r>
            <a:r>
              <a:rPr>
                <a:latin typeface="Courier"/>
              </a:rPr>
              <a:t>semi_join()</a:t>
            </a:r>
            <a:r>
              <a:rPr/>
              <a:t>, </a:t>
            </a:r>
            <a:r>
              <a:rPr>
                <a:latin typeface="Courier"/>
              </a:rPr>
              <a:t>anti_join()</a:t>
            </a:r>
          </a:p>
          <a:p>
            <a:pPr lvl="0"/>
            <a:r>
              <a:rPr/>
              <a:t>Build the combined report + coordinates table</a:t>
            </a:r>
          </a:p>
        </p:txBody>
      </p:sp>
      <p:sp>
        <p:nvSpPr>
          <p:cNvPr id="4" name="Content Placeholder 3"/>
          <p:cNvSpPr>
            <a:spLocks noGrp="1"/>
          </p:cNvSpPr>
          <p:nvPr>
            <p:ph idx="2" sz="half"/>
          </p:nvPr>
        </p:nvSpPr>
        <p:spPr/>
        <p:txBody>
          <a:bodyPr/>
          <a:lstStyle/>
          <a:p>
            <a:pPr lvl="0" indent="0" marL="0">
              <a:buNone/>
            </a:pPr>
            <a:r>
              <a:rPr b="1"/>
              <a:t>Tools today:</a:t>
            </a:r>
          </a:p>
          <a:p>
            <a:pPr lvl="0"/>
            <a:r>
              <a:rPr>
                <a:latin typeface="Courier"/>
              </a:rPr>
              <a:t>tidyverse</a:t>
            </a:r>
            <a:r>
              <a:rPr/>
              <a:t> (dplyr)</a:t>
            </a:r>
          </a:p>
          <a:p>
            <a:pPr lvl="0" indent="0" marL="0">
              <a:buNone/>
            </a:pPr>
            <a:r>
              <a:rPr b="1"/>
              <a:t>Data (two tables):</a:t>
            </a:r>
          </a:p>
          <a:p>
            <a:pPr lvl="0"/>
            <a:r>
              <a:rPr>
                <a:latin typeface="Courier"/>
              </a:rPr>
              <a:t>bfro_reports.csv</a:t>
            </a:r>
            <a:r>
              <a:rPr/>
              <a:t> — the report text + class</a:t>
            </a:r>
          </a:p>
          <a:p>
            <a:pPr lvl="0"/>
            <a:r>
              <a:rPr>
                <a:latin typeface="Courier"/>
              </a:rPr>
              <a:t>bfro_locations.csv</a:t>
            </a:r>
            <a:r>
              <a:rPr/>
              <a:t> — the coordinates</a:t>
            </a:r>
          </a:p>
          <a:p>
            <a:pPr lvl="0" indent="0" marL="0">
              <a:buNone/>
            </a:pPr>
            <a:r>
              <a:rPr b="1"/>
              <a:t>Reference:</a:t>
            </a:r>
          </a:p>
          <a:p>
            <a:pPr lvl="0"/>
            <a:r>
              <a:rPr/>
              <a:t>📖 </a:t>
            </a:r>
            <a:r>
              <a:rPr>
                <a:hlinkClick r:id="rId2"/>
              </a:rPr>
              <a:t>R4DS Ch. 19 — Joins</a:t>
            </a:r>
          </a:p>
          <a:p>
            <a:pPr lvl="0"/>
            <a:r>
              <a:rPr/>
              <a:t>📖 </a:t>
            </a:r>
            <a:r>
              <a:rPr>
                <a:latin typeface="Courier"/>
              </a:rPr>
              <a:t>common_code/13_joins</a:t>
            </a:r>
          </a:p>
          <a:p>
            <a:pPr lvl="0" indent="0" marL="1270000">
              <a:buNone/>
            </a:pPr>
            <a:r>
              <a:rPr sz="2000" b="1"/>
              <a:t>Tip</a:t>
            </a:r>
          </a:p>
          <a:p>
            <a:pPr lvl="0" indent="0" marL="1270000">
              <a:buNone/>
            </a:pPr>
            <a:r>
              <a:rPr sz="2000" b="1"/>
              <a:t>Day 1:</a:t>
            </a:r>
            <a:r>
              <a:rPr sz="2000"/>
              <a:t> keys + </a:t>
            </a:r>
            <a:r>
              <a:rPr sz="2000">
                <a:latin typeface="Courier"/>
              </a:rPr>
              <a:t>left_join</a:t>
            </a:r>
            <a:r>
              <a:rPr sz="2000"/>
              <a:t>. </a:t>
            </a:r>
            <a:r>
              <a:rPr sz="2000" b="1"/>
              <a:t>Day 2:</a:t>
            </a:r>
            <a:r>
              <a:rPr sz="2000"/>
              <a:t> the join family + filtering joins.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How to Use These Slides — Predict · Type · Run</a:t>
            </a:r>
          </a:p>
        </p:txBody>
      </p:sp>
      <p:sp>
        <p:nvSpPr>
          <p:cNvPr id="3" name="Content Placeholder 2"/>
          <p:cNvSpPr>
            <a:spLocks noGrp="1"/>
          </p:cNvSpPr>
          <p:nvPr>
            <p:ph idx="1" sz="half"/>
          </p:nvPr>
        </p:nvSpPr>
        <p:spPr/>
        <p:txBody>
          <a:bodyPr/>
          <a:lstStyle/>
          <a:p>
            <a:pPr lvl="0" indent="0" marL="0">
              <a:buNone/>
            </a:pPr>
            <a:r>
              <a:rPr/>
              <a:t>This lecture runs in </a:t>
            </a:r>
            <a:r>
              <a:rPr b="1"/>
              <a:t>four chunks over two days</a:t>
            </a:r>
            <a:r>
              <a:rPr/>
              <a:t>. After each chunk you switch to the </a:t>
            </a:r>
            <a:r>
              <a:rPr b="1"/>
              <a:t>activity</a:t>
            </a:r>
            <a:r>
              <a:rPr/>
              <a:t> and type the code yourself.</a:t>
            </a:r>
          </a:p>
          <a:p>
            <a:pPr lvl="0" indent="0" marL="0">
              <a:buNone/>
            </a:pPr>
            <a:r>
              <a:rPr b="1"/>
              <a:t>For every join, do three things:</a:t>
            </a:r>
          </a:p>
          <a:p>
            <a:pPr lvl="0" indent="-342900" marL="342900">
              <a:buAutoNum type="arabicPeriod"/>
            </a:pPr>
            <a:r>
              <a:rPr b="1"/>
              <a:t>Predict</a:t>
            </a:r>
            <a:r>
              <a:rPr/>
              <a:t> — before it runs, say how many rows you’ll get</a:t>
            </a:r>
          </a:p>
          <a:p>
            <a:pPr lvl="0" indent="-342900" marL="342900">
              <a:buAutoNum type="arabicPeriod"/>
            </a:pPr>
            <a:r>
              <a:rPr b="1"/>
              <a:t>Type</a:t>
            </a:r>
            <a:r>
              <a:rPr/>
              <a:t> the code by hand — do not copy-paste</a:t>
            </a:r>
          </a:p>
          <a:p>
            <a:pPr lvl="0" indent="-342900" marL="342900">
              <a:buAutoNum type="arabicPeriod"/>
            </a:pPr>
            <a:r>
              <a:rPr b="1"/>
              <a:t>Run</a:t>
            </a:r>
            <a:r>
              <a:rPr/>
              <a:t> it and compare to your prediction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Why bother?</a:t>
            </a:r>
          </a:p>
          <a:p>
            <a:pPr lvl="0"/>
            <a:r>
              <a:rPr sz="2000"/>
              <a:t>A join can run without error and still hand you the wrong table — the only way to catch that is to know the row count you expected </a:t>
            </a:r>
            <a:r>
              <a:rPr sz="2000" i="1"/>
              <a:t>before</a:t>
            </a:r>
            <a:r>
              <a:rPr sz="2000"/>
              <a:t> you see the actual one.</a:t>
            </a:r>
          </a:p>
          <a:p>
            <a:pPr lvl="0"/>
            <a:r>
              <a:rPr sz="2000"/>
              <a:t>Every join in this lecture takes </a:t>
            </a:r>
            <a:r>
              <a:rPr sz="2000">
                <a:latin typeface="Courier"/>
              </a:rPr>
              <a:t>by = c("a" = "b")</a:t>
            </a:r>
            <a:r>
              <a:rPr sz="2000"/>
              <a:t> as an argument — typing that syntax a dozen times is what makes it automatic under deadline pressure.</a:t>
            </a:r>
          </a:p>
          <a:p>
            <a:pPr lvl="0"/>
            <a:r>
              <a:rPr sz="2000"/>
              <a:t>Four short chunks instead of one long one means </a:t>
            </a:r>
            <a:r>
              <a:rPr sz="2000">
                <a:latin typeface="Courier"/>
              </a:rPr>
              <a:t>left_join</a:t>
            </a:r>
            <a:r>
              <a:rPr sz="2000"/>
              <a:t>, </a:t>
            </a:r>
            <a:r>
              <a:rPr sz="2000">
                <a:latin typeface="Courier"/>
              </a:rPr>
              <a:t>inner</a:t>
            </a:r>
            <a:r>
              <a:rPr sz="2000"/>
              <a:t>/</a:t>
            </a:r>
            <a:r>
              <a:rPr sz="2000">
                <a:latin typeface="Courier"/>
              </a:rPr>
              <a:t>full</a:t>
            </a:r>
            <a:r>
              <a:rPr sz="2000"/>
              <a:t>, and </a:t>
            </a:r>
            <a:r>
              <a:rPr sz="2000">
                <a:latin typeface="Courier"/>
              </a:rPr>
              <a:t>semi</a:t>
            </a:r>
            <a:r>
              <a:rPr sz="2000"/>
              <a:t>/</a:t>
            </a:r>
            <a:r>
              <a:rPr sz="2000">
                <a:latin typeface="Courier"/>
              </a:rPr>
              <a:t>anti</a:t>
            </a:r>
            <a:r>
              <a:rPr sz="2000"/>
              <a:t> each get their own uncluttered mental slot.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Chunk 1 of 4 · Two Tables &amp; a Key </a:t>
            </a:r>
            <a:r>
              <a:rPr i="1"/>
              <a:t>(Day 1)</a:t>
            </a:r>
          </a:p>
        </p:txBody>
      </p:sp>
      <p:sp>
        <p:nvSpPr>
          <p:cNvPr id="3" name="Content Placeholder 2"/>
          <p:cNvSpPr>
            <a:spLocks noGrp="1"/>
          </p:cNvSpPr>
          <p:nvPr>
            <p:ph idx="1"/>
          </p:nvPr>
        </p:nvSpPr>
        <p:spPr/>
        <p:txBody>
          <a:bodyPr/>
          <a:lstStyle/>
          <a:p>
            <a:pPr lvl="0" indent="0" marL="0">
              <a:buNone/>
            </a:pPr>
            <a:r>
              <a:rPr b="1"/>
              <a:t>We will cover:</a:t>
            </a:r>
            <a:r>
              <a:rPr/>
              <a:t> why data comes in multiple tables, and what a key is.</a:t>
            </a:r>
          </a:p>
          <a:p>
            <a:pPr lvl="0" indent="0" marL="1270000">
              <a:buNone/>
            </a:pPr>
            <a:r>
              <a:rPr sz="2000" b="1"/>
              <a:t>Tip</a:t>
            </a:r>
          </a:p>
          <a:p>
            <a:pPr lvl="0" indent="0" marL="1270000">
              <a:buNone/>
            </a:pPr>
            <a:r>
              <a:rPr sz="2000" b="1"/>
              <a:t>🖐 After this chunk: Activity Parts 1–3</a:t>
            </a:r>
            <a:r>
              <a:rPr sz="2000"/>
              <a:t> (load both tables, find the key).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Problem — Data in Two Tables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BOTH Bigfoot tables ---------------------------</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reports_df   &lt;- </a:t>
            </a:r>
            <a:r>
              <a:rPr>
                <a:solidFill>
                  <a:srgbClr val="4758AB"/>
                </a:solidFill>
                <a:latin typeface="Courier"/>
              </a:rPr>
              <a:t>read_csv</a:t>
            </a:r>
            <a:r>
              <a:rPr>
                <a:solidFill>
                  <a:srgbClr val="003B4F"/>
                </a:solidFill>
                <a:latin typeface="Courier"/>
              </a:rPr>
              <a:t>(</a:t>
            </a:r>
            <a:r>
              <a:rPr>
                <a:solidFill>
                  <a:srgbClr val="20794D"/>
                </a:solidFill>
                <a:latin typeface="Courier"/>
              </a:rPr>
              <a:t>"data/bfro_reports.csv"</a:t>
            </a:r>
            <a:r>
              <a:rPr>
                <a:solidFill>
                  <a:srgbClr val="003B4F"/>
                </a:solidFill>
                <a:latin typeface="Courier"/>
              </a:rPr>
              <a:t>)</a:t>
            </a:r>
            <a:br/>
            <a:r>
              <a:rPr>
                <a:solidFill>
                  <a:srgbClr val="003B4F"/>
                </a:solidFill>
                <a:latin typeface="Courier"/>
              </a:rPr>
              <a:t>locations_df &lt;- </a:t>
            </a:r>
            <a:r>
              <a:rPr>
                <a:solidFill>
                  <a:srgbClr val="4758AB"/>
                </a:solidFill>
                <a:latin typeface="Courier"/>
              </a:rPr>
              <a:t>read_csv</a:t>
            </a:r>
            <a:r>
              <a:rPr>
                <a:solidFill>
                  <a:srgbClr val="003B4F"/>
                </a:solidFill>
                <a:latin typeface="Courier"/>
              </a:rPr>
              <a:t>(</a:t>
            </a:r>
            <a:r>
              <a:rPr>
                <a:solidFill>
                  <a:srgbClr val="20794D"/>
                </a:solidFill>
                <a:latin typeface="Courier"/>
              </a:rPr>
              <a:t>"data/bfro_locations.csv"</a:t>
            </a:r>
            <a:r>
              <a:rPr>
                <a:solidFill>
                  <a:srgbClr val="003B4F"/>
                </a:solidFill>
                <a:latin typeface="Courier"/>
              </a:rPr>
              <a:t>)</a:t>
            </a:r>
            <a:br/>
            <a:br/>
            <a:r>
              <a:rPr>
                <a:solidFill>
                  <a:srgbClr val="4758AB"/>
                </a:solidFill>
                <a:latin typeface="Courier"/>
              </a:rPr>
              <a:t>dim</a:t>
            </a:r>
            <a:r>
              <a:rPr>
                <a:solidFill>
                  <a:srgbClr val="003B4F"/>
                </a:solidFill>
                <a:latin typeface="Courier"/>
              </a:rPr>
              <a:t>(reports_df)      </a:t>
            </a:r>
            <a:r>
              <a:rPr>
                <a:solidFill>
                  <a:srgbClr val="5E5E5E"/>
                </a:solidFill>
                <a:latin typeface="Courier"/>
              </a:rPr>
              <a:t># the text: where/when/what</a:t>
            </a:r>
          </a:p>
          <a:p>
            <a:pPr lvl="0" indent="0">
              <a:buNone/>
            </a:pPr>
            <a:r>
              <a:rPr>
                <a:latin typeface="Courier"/>
              </a:rPr>
              <a:t>[1] 5485   19</a:t>
            </a:r>
          </a:p>
          <a:p>
            <a:pPr lvl="0" indent="0">
              <a:buNone/>
            </a:pPr>
            <a:r>
              <a:rPr>
                <a:solidFill>
                  <a:srgbClr val="4758AB"/>
                </a:solidFill>
                <a:latin typeface="Courier"/>
              </a:rPr>
              <a:t>dim</a:t>
            </a:r>
            <a:r>
              <a:rPr>
                <a:solidFill>
                  <a:srgbClr val="003B4F"/>
                </a:solidFill>
                <a:latin typeface="Courier"/>
              </a:rPr>
              <a:t>(locations_df)    </a:t>
            </a:r>
            <a:r>
              <a:rPr>
                <a:solidFill>
                  <a:srgbClr val="5E5E5E"/>
                </a:solidFill>
                <a:latin typeface="Courier"/>
              </a:rPr>
              <a:t># the coordinates</a:t>
            </a:r>
          </a:p>
          <a:p>
            <a:pPr lvl="0" indent="0">
              <a:buNone/>
            </a:pPr>
            <a:r>
              <a:rPr>
                <a:latin typeface="Courier"/>
              </a:rPr>
              <a:t>[1] 4250    7</a:t>
            </a:r>
          </a:p>
        </p:txBody>
      </p:sp>
      <p:sp>
        <p:nvSpPr>
          <p:cNvPr id="4" name="Content Placeholder 3"/>
          <p:cNvSpPr>
            <a:spLocks noGrp="1"/>
          </p:cNvSpPr>
          <p:nvPr>
            <p:ph idx="2" sz="half"/>
          </p:nvPr>
        </p:nvSpPr>
        <p:spPr/>
        <p:txBody>
          <a:bodyPr/>
          <a:lstStyle/>
          <a:p>
            <a:pPr lvl="0"/>
            <a:r>
              <a:rPr b="1">
                <a:latin typeface="Courier"/>
              </a:rPr>
              <a:t>reports_df</a:t>
            </a:r>
            <a:r>
              <a:rPr/>
              <a:t> — one row per sighting report: year, season, state, county, class, and the written account</a:t>
            </a:r>
          </a:p>
          <a:p>
            <a:pPr lvl="0"/>
            <a:r>
              <a:rPr b="1">
                <a:latin typeface="Courier"/>
              </a:rPr>
              <a:t>locations_df</a:t>
            </a:r>
            <a:r>
              <a:rPr/>
              <a:t> — one row per report that got geocoded: a latitude and longitude</a:t>
            </a:r>
          </a:p>
          <a:p>
            <a:pPr lvl="0"/>
            <a:r>
              <a:rPr/>
              <a:t>To map a sighting you need </a:t>
            </a:r>
            <a:r>
              <a:rPr b="1"/>
              <a:t>both</a:t>
            </a:r>
            <a:r>
              <a:rPr/>
              <a:t> — its class </a:t>
            </a:r>
            <a:r>
              <a:rPr i="1"/>
              <a:t>and</a:t>
            </a:r>
            <a:r>
              <a:rPr/>
              <a:t> its coordinates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What Is a Key?</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The columns that identify a report -----------------</a:t>
            </a:r>
            <a:br/>
            <a:r>
              <a:rPr>
                <a:solidFill>
                  <a:srgbClr val="003B4F"/>
                </a:solidFill>
                <a:latin typeface="Courier"/>
              </a:rPr>
              <a:t>reports_df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(REPORT_NUMBER, YEAR, STATE, REPORT_CLASS)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A tibble: 3 × 4
  REPORT_NUMBER YEAR         STATE        REPORT_CLASS
          &lt;dbl&gt; &lt;chr&gt;        &lt;chr&gt;        &lt;chr&gt;       
1         30680 2010         Alabama      Class B     
2          1261 Early 1990's Alaska       Class A     
3          6496 1974         Rhode Island Class A     </a:t>
            </a:r>
          </a:p>
          <a:p>
            <a:pPr lvl="0" indent="0">
              <a:buNone/>
            </a:pPr>
            <a:r>
              <a:rPr>
                <a:solidFill>
                  <a:srgbClr val="003B4F"/>
                </a:solidFill>
                <a:latin typeface="Courier"/>
              </a:rPr>
              <a:t>locations_df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(number, latitude, longitude)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A tibble: 3 × 3
  number latitude longitude
   &lt;dbl&gt;    &lt;dbl&gt;     &lt;dbl&gt;
1    637     61.5     -143.
2   2917     55.2     -133.
3   7963     55.2     -133.</a:t>
            </a:r>
          </a:p>
        </p:txBody>
      </p:sp>
      <p:sp>
        <p:nvSpPr>
          <p:cNvPr id="4" name="Content Placeholder 3"/>
          <p:cNvSpPr>
            <a:spLocks noGrp="1"/>
          </p:cNvSpPr>
          <p:nvPr>
            <p:ph idx="2" sz="half"/>
          </p:nvPr>
        </p:nvSpPr>
        <p:spPr/>
        <p:txBody>
          <a:bodyPr/>
          <a:lstStyle/>
          <a:p>
            <a:pPr lvl="0" indent="0" marL="0">
              <a:buNone/>
            </a:pPr>
            <a:r>
              <a:rPr/>
              <a:t>A </a:t>
            </a:r>
            <a:r>
              <a:rPr b="1"/>
              <a:t>key</a:t>
            </a:r>
            <a:r>
              <a:rPr/>
              <a:t> is the column that uniquely identifies a row and links the tables.</a:t>
            </a:r>
          </a:p>
          <a:p>
            <a:pPr lvl="0"/>
            <a:r>
              <a:rPr/>
              <a:t>In </a:t>
            </a:r>
            <a:r>
              <a:rPr>
                <a:latin typeface="Courier"/>
              </a:rPr>
              <a:t>reports_df</a:t>
            </a:r>
            <a:r>
              <a:rPr/>
              <a:t> it’s </a:t>
            </a:r>
            <a:r>
              <a:rPr b="1">
                <a:latin typeface="Courier"/>
              </a:rPr>
              <a:t>REPORT_NUMBER</a:t>
            </a:r>
          </a:p>
          <a:p>
            <a:pPr lvl="0"/>
            <a:r>
              <a:rPr/>
              <a:t>In </a:t>
            </a:r>
            <a:r>
              <a:rPr>
                <a:latin typeface="Courier"/>
              </a:rPr>
              <a:t>locations_df</a:t>
            </a:r>
            <a:r>
              <a:rPr/>
              <a:t> it’s </a:t>
            </a:r>
            <a:r>
              <a:rPr b="1">
                <a:latin typeface="Courier"/>
              </a:rPr>
              <a:t>number</a:t>
            </a:r>
          </a:p>
          <a:p>
            <a:pPr lvl="0"/>
            <a:r>
              <a:rPr b="1"/>
              <a:t>Same idea, different name</a:t>
            </a:r>
            <a:r>
              <a:rPr/>
              <a:t> — we’ll tell the join that</a:t>
            </a:r>
          </a:p>
          <a:p>
            <a:pPr lvl="0" indent="0" marL="1270000">
              <a:buNone/>
            </a:pPr>
            <a:r>
              <a:rPr sz="2000" b="1"/>
              <a:t>Note</a:t>
            </a:r>
          </a:p>
          <a:p>
            <a:pPr lvl="0" indent="0" marL="1270000">
              <a:buNone/>
            </a:pPr>
            <a:r>
              <a:rPr sz="2000" b="1"/>
              <a:t>📖 Vocabulary</a:t>
            </a:r>
          </a:p>
          <a:p>
            <a:pPr lvl="0" indent="0" marL="1270000">
              <a:buNone/>
            </a:pPr>
            <a:r>
              <a:rPr sz="2000"/>
              <a:t>The key must be </a:t>
            </a:r>
            <a:r>
              <a:rPr sz="2000" b="1"/>
              <a:t>unique</a:t>
            </a:r>
            <a:r>
              <a:rPr sz="2000"/>
              <a:t> in the table you’re looking things up in (</a:t>
            </a:r>
            <a:r>
              <a:rPr sz="2000">
                <a:latin typeface="Courier"/>
              </a:rPr>
              <a:t>locations_df</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Clean the Key Before Joining</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Two fixes: drop duplicate reports, match key type --</a:t>
            </a:r>
            <a:br/>
            <a:r>
              <a:rPr>
                <a:solidFill>
                  <a:srgbClr val="003B4F"/>
                </a:solidFill>
                <a:latin typeface="Courier"/>
              </a:rPr>
              <a:t>reports_df &lt;- reports_df </a:t>
            </a:r>
            <a:r>
              <a:rPr>
                <a:solidFill>
                  <a:srgbClr val="5E5E5E"/>
                </a:solidFill>
                <a:latin typeface="Courier"/>
              </a:rPr>
              <a:t>%&gt;%</a:t>
            </a:r>
            <a:br/>
            <a:r>
              <a:rPr>
                <a:solidFill>
                  <a:srgbClr val="003B4F"/>
                </a:solidFill>
                <a:latin typeface="Courier"/>
              </a:rPr>
              <a:t>  </a:t>
            </a:r>
            <a:r>
              <a:rPr>
                <a:solidFill>
                  <a:srgbClr val="4758AB"/>
                </a:solidFill>
                <a:latin typeface="Courier"/>
              </a:rPr>
              <a:t>distinct</a:t>
            </a:r>
            <a:r>
              <a:rPr>
                <a:solidFill>
                  <a:srgbClr val="003B4F"/>
                </a:solidFill>
                <a:latin typeface="Courier"/>
              </a:rPr>
              <a:t>(REPORT_NUMBER, </a:t>
            </a:r>
            <a:r>
              <a:rPr>
                <a:solidFill>
                  <a:srgbClr val="657422"/>
                </a:solidFill>
                <a:latin typeface="Courier"/>
              </a:rPr>
              <a:t>.keep_all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5E5E5E"/>
                </a:solidFill>
                <a:latin typeface="Courier"/>
              </a:rPr>
              <a:t># one row per report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REPORT_NUMBER =</a:t>
            </a:r>
            <a:r>
              <a:rPr>
                <a:solidFill>
                  <a:srgbClr val="003B4F"/>
                </a:solidFill>
                <a:latin typeface="Courier"/>
              </a:rPr>
              <a:t> </a:t>
            </a:r>
            <a:r>
              <a:rPr>
                <a:solidFill>
                  <a:srgbClr val="4758AB"/>
                </a:solidFill>
                <a:latin typeface="Courier"/>
              </a:rPr>
              <a:t>as.integer</a:t>
            </a:r>
            <a:r>
              <a:rPr>
                <a:solidFill>
                  <a:srgbClr val="003B4F"/>
                </a:solidFill>
                <a:latin typeface="Courier"/>
              </a:rPr>
              <a:t>(REPORT_NUMBER))</a:t>
            </a:r>
            <a:br/>
            <a:br/>
            <a:r>
              <a:rPr>
                <a:solidFill>
                  <a:srgbClr val="4758AB"/>
                </a:solidFill>
                <a:latin typeface="Courier"/>
              </a:rPr>
              <a:t>n_distinct</a:t>
            </a:r>
            <a:r>
              <a:rPr>
                <a:solidFill>
                  <a:srgbClr val="003B4F"/>
                </a:solidFill>
                <a:latin typeface="Courier"/>
              </a:rPr>
              <a:t>(reports_df</a:t>
            </a:r>
            <a:r>
              <a:rPr>
                <a:solidFill>
                  <a:srgbClr val="5E5E5E"/>
                </a:solidFill>
                <a:latin typeface="Courier"/>
              </a:rPr>
              <a:t>$</a:t>
            </a:r>
            <a:r>
              <a:rPr>
                <a:solidFill>
                  <a:srgbClr val="003B4F"/>
                </a:solidFill>
                <a:latin typeface="Courier"/>
              </a:rPr>
              <a:t>REPORT_NUMBER)</a:t>
            </a:r>
          </a:p>
          <a:p>
            <a:pPr lvl="0" indent="0">
              <a:buNone/>
            </a:pPr>
            <a:r>
              <a:rPr>
                <a:latin typeface="Courier"/>
              </a:rPr>
              <a:t>[1] 5022</a:t>
            </a:r>
          </a:p>
          <a:p>
            <a:pPr lvl="0" indent="0">
              <a:buNone/>
            </a:pPr>
            <a:r>
              <a:rPr>
                <a:solidFill>
                  <a:srgbClr val="4758AB"/>
                </a:solidFill>
                <a:latin typeface="Courier"/>
              </a:rPr>
              <a:t>n_distinct</a:t>
            </a:r>
            <a:r>
              <a:rPr>
                <a:solidFill>
                  <a:srgbClr val="003B4F"/>
                </a:solidFill>
                <a:latin typeface="Courier"/>
              </a:rPr>
              <a:t>(locations_df</a:t>
            </a:r>
            <a:r>
              <a:rPr>
                <a:solidFill>
                  <a:srgbClr val="5E5E5E"/>
                </a:solidFill>
                <a:latin typeface="Courier"/>
              </a:rPr>
              <a:t>$</a:t>
            </a:r>
            <a:r>
              <a:rPr>
                <a:solidFill>
                  <a:srgbClr val="003B4F"/>
                </a:solidFill>
                <a:latin typeface="Courier"/>
              </a:rPr>
              <a:t>number)</a:t>
            </a:r>
          </a:p>
          <a:p>
            <a:pPr lvl="0" indent="0">
              <a:buNone/>
            </a:pPr>
            <a:r>
              <a:rPr>
                <a:latin typeface="Courier"/>
              </a:rPr>
              <a:t>[1] 4250</a:t>
            </a:r>
          </a:p>
        </p:txBody>
      </p:sp>
      <p:sp>
        <p:nvSpPr>
          <p:cNvPr id="4" name="Content Placeholder 3"/>
          <p:cNvSpPr>
            <a:spLocks noGrp="1"/>
          </p:cNvSpPr>
          <p:nvPr>
            <p:ph idx="2" sz="half"/>
          </p:nvPr>
        </p:nvSpPr>
        <p:spPr/>
        <p:txBody>
          <a:bodyPr/>
          <a:lstStyle/>
          <a:p>
            <a:pPr lvl="0"/>
            <a:r>
              <a:rPr>
                <a:latin typeface="Courier"/>
              </a:rPr>
              <a:t>distinct()</a:t>
            </a:r>
            <a:r>
              <a:rPr/>
              <a:t> — keep one row per report number</a:t>
            </a:r>
          </a:p>
          <a:p>
            <a:pPr lvl="0"/>
            <a:r>
              <a:rPr>
                <a:latin typeface="Courier"/>
              </a:rPr>
              <a:t>as.integer()</a:t>
            </a:r>
            <a:r>
              <a:rPr/>
              <a:t> — </a:t>
            </a:r>
            <a:r>
              <a:rPr>
                <a:latin typeface="Courier"/>
              </a:rPr>
              <a:t>REPORT_NUMBER</a:t>
            </a:r>
            <a:r>
              <a:rPr/>
              <a:t> was stored like </a:t>
            </a:r>
            <a:r>
              <a:rPr>
                <a:latin typeface="Courier"/>
              </a:rPr>
              <a:t>30680.0</a:t>
            </a:r>
            <a:r>
              <a:rPr/>
              <a:t>; </a:t>
            </a:r>
            <a:r>
              <a:rPr>
                <a:latin typeface="Courier"/>
              </a:rPr>
              <a:t>number</a:t>
            </a:r>
            <a:r>
              <a:rPr/>
              <a:t> is </a:t>
            </a:r>
            <a:r>
              <a:rPr>
                <a:latin typeface="Courier"/>
              </a:rPr>
              <a:t>30680</a:t>
            </a:r>
            <a:r>
              <a:rPr/>
              <a:t>. </a:t>
            </a:r>
            <a:r>
              <a:rPr b="1"/>
              <a:t>Keys must be the same type</a:t>
            </a:r>
            <a:r>
              <a:rPr/>
              <a:t> to match</a:t>
            </a:r>
          </a:p>
          <a:p>
            <a:pPr lvl="0" indent="0" marL="1270000">
              <a:buNone/>
            </a:pPr>
            <a:r>
              <a:rPr sz="2000" b="1"/>
              <a:t>Warning</a:t>
            </a:r>
          </a:p>
          <a:p>
            <a:pPr lvl="0" indent="0" marL="1270000">
              <a:buNone/>
            </a:pPr>
            <a:r>
              <a:rPr sz="2000" b="1"/>
              <a:t>⚠️ Watch out!</a:t>
            </a:r>
            <a:r>
              <a:rPr sz="2000"/>
              <a:t> A join silently fails to match if the keys are different </a:t>
            </a:r>
            <a:r>
              <a:rPr sz="2000" b="1"/>
              <a:t>types</a:t>
            </a:r>
            <a:r>
              <a:rPr sz="2000"/>
              <a:t> (text vs number) or </a:t>
            </a:r>
            <a:r>
              <a:rPr sz="2000" b="1"/>
              <a:t>formats</a:t>
            </a:r>
            <a:r>
              <a:rPr sz="2000"/>
              <a:t> — clean them first.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Pause — Do Activity Parts 1–3 Now</a:t>
            </a:r>
          </a:p>
        </p:txBody>
      </p:sp>
      <p:sp>
        <p:nvSpPr>
          <p:cNvPr id="3" name="Content Placeholder 2"/>
          <p:cNvSpPr>
            <a:spLocks noGrp="1"/>
          </p:cNvSpPr>
          <p:nvPr>
            <p:ph idx="1"/>
          </p:nvPr>
        </p:nvSpPr>
        <p:spPr/>
        <p:txBody>
          <a:bodyPr/>
          <a:lstStyle/>
          <a:p>
            <a:pPr lvl="0" indent="0" marL="0">
              <a:buNone/>
            </a:pPr>
            <a:r>
              <a:rPr/>
              <a:t>Load both tables, find the key in each, and clean it. Predict how many reports have coordinates before we join.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Chunk 2 of 4 · Your First Join — </a:t>
            </a:r>
            <a:r>
              <a:rPr>
                <a:latin typeface="Courier"/>
              </a:rPr>
              <a:t>left_join()</a:t>
            </a:r>
            <a:r>
              <a:rPr/>
              <a:t> </a:t>
            </a:r>
            <a:r>
              <a:rPr i="1"/>
              <a:t>(Day 1)</a:t>
            </a:r>
          </a:p>
        </p:txBody>
      </p:sp>
      <p:sp>
        <p:nvSpPr>
          <p:cNvPr id="3" name="Content Placeholder 2"/>
          <p:cNvSpPr>
            <a:spLocks noGrp="1"/>
          </p:cNvSpPr>
          <p:nvPr>
            <p:ph idx="1"/>
          </p:nvPr>
        </p:nvSpPr>
        <p:spPr/>
        <p:txBody>
          <a:bodyPr/>
          <a:lstStyle/>
          <a:p>
            <a:pPr lvl="0" indent="0" marL="0">
              <a:buNone/>
            </a:pPr>
            <a:r>
              <a:rPr b="1"/>
              <a:t>We will cover:</a:t>
            </a:r>
            <a:r>
              <a:rPr/>
              <a:t> joining the two tables when the key columns are named differently.</a:t>
            </a:r>
          </a:p>
          <a:p>
            <a:pPr lvl="0" indent="0" marL="1270000">
              <a:buNone/>
            </a:pPr>
            <a:r>
              <a:rPr sz="2000" b="1"/>
              <a:t>Tip</a:t>
            </a:r>
          </a:p>
          <a:p>
            <a:pPr lvl="0" indent="0" marL="1270000">
              <a:buNone/>
            </a:pPr>
            <a:r>
              <a:rPr sz="2000" b="1"/>
              <a:t>🖐 After this chunk: Activity Parts 4–6</a:t>
            </a:r>
            <a:r>
              <a:rPr sz="2000"/>
              <a:t> (run the left join, read the result).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latin typeface="Courier"/>
              </a:rPr>
              <a:t>left_join()</a:t>
            </a:r>
            <a:r>
              <a:rPr/>
              <a:t> — Keep Every Report</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a:t>
            </a:r>
            <a:r>
              <a:rPr sz="2000">
                <a:latin typeface="Courier"/>
              </a:rPr>
              <a:t>reports_df</a:t>
            </a:r>
            <a:r>
              <a:rPr sz="2000"/>
              <a:t> has ~5,000 reports; only ~4,000 were geocoded. After a </a:t>
            </a:r>
            <a:r>
              <a:rPr sz="2000">
                <a:latin typeface="Courier"/>
              </a:rPr>
              <a:t>left_join</a:t>
            </a:r>
            <a:r>
              <a:rPr sz="2000"/>
              <a:t>, how many </a:t>
            </a:r>
            <a:r>
              <a:rPr sz="2000" b="1"/>
              <a:t>rows</a:t>
            </a:r>
            <a:r>
              <a:rPr sz="2000"/>
              <a:t> will we have, and how many will have a latitude?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Match on differently-named keys with by = c() ------</a:t>
            </a:r>
            <a:br/>
            <a:r>
              <a:rPr>
                <a:solidFill>
                  <a:srgbClr val="003B4F"/>
                </a:solidFill>
                <a:latin typeface="Courier"/>
              </a:rPr>
              <a:t>bigfoot_df &lt;- reports_df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a:t>
            </a:r>
            <a:br/>
            <a:br/>
            <a:r>
              <a:rPr>
                <a:solidFill>
                  <a:srgbClr val="4758AB"/>
                </a:solidFill>
                <a:latin typeface="Courier"/>
              </a:rPr>
              <a:t>nrow</a:t>
            </a:r>
            <a:r>
              <a:rPr>
                <a:solidFill>
                  <a:srgbClr val="003B4F"/>
                </a:solidFill>
                <a:latin typeface="Courier"/>
              </a:rPr>
              <a:t>(bigfoot_df)                    </a:t>
            </a:r>
            <a:r>
              <a:rPr>
                <a:solidFill>
                  <a:srgbClr val="5E5E5E"/>
                </a:solidFill>
                <a:latin typeface="Courier"/>
              </a:rPr>
              <a:t># every report is kept</a:t>
            </a:r>
          </a:p>
          <a:p>
            <a:pPr lvl="0" indent="0">
              <a:buNone/>
            </a:pPr>
            <a:r>
              <a:rPr>
                <a:latin typeface="Courier"/>
              </a:rPr>
              <a:t>[1] 5022</a:t>
            </a:r>
          </a:p>
          <a:p>
            <a:pPr lvl="0" indent="0">
              <a:buNone/>
            </a:pP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(bigfoot_df</a:t>
            </a:r>
            <a:r>
              <a:rPr>
                <a:solidFill>
                  <a:srgbClr val="5E5E5E"/>
                </a:solidFill>
                <a:latin typeface="Courier"/>
              </a:rPr>
              <a:t>$</a:t>
            </a:r>
            <a:r>
              <a:rPr>
                <a:solidFill>
                  <a:srgbClr val="003B4F"/>
                </a:solidFill>
                <a:latin typeface="Courier"/>
              </a:rPr>
              <a:t>latitude))    </a:t>
            </a:r>
            <a:r>
              <a:rPr>
                <a:solidFill>
                  <a:srgbClr val="5E5E5E"/>
                </a:solidFill>
                <a:latin typeface="Courier"/>
              </a:rPr>
              <a:t># how many got coordinates</a:t>
            </a:r>
          </a:p>
          <a:p>
            <a:pPr lvl="0" indent="0">
              <a:buNone/>
            </a:pPr>
            <a:r>
              <a:rPr>
                <a:latin typeface="Courier"/>
              </a:rPr>
              <a:t>[1] 4056</a:t>
            </a:r>
          </a:p>
        </p:txBody>
      </p:sp>
      <p:sp>
        <p:nvSpPr>
          <p:cNvPr id="4" name="Content Placeholder 3"/>
          <p:cNvSpPr>
            <a:spLocks noGrp="1"/>
          </p:cNvSpPr>
          <p:nvPr>
            <p:ph idx="2" sz="half"/>
          </p:nvPr>
        </p:nvSpPr>
        <p:spPr/>
        <p:txBody>
          <a:bodyPr/>
          <a:lstStyle/>
          <a:p>
            <a:pPr lvl="0"/>
            <a:r>
              <a:rPr>
                <a:latin typeface="Courier"/>
              </a:rPr>
              <a:t>by = c("REPORT_NUMBER" = "number")</a:t>
            </a:r>
            <a:r>
              <a:rPr/>
              <a:t> — “match my </a:t>
            </a:r>
            <a:r>
              <a:rPr>
                <a:latin typeface="Courier"/>
              </a:rPr>
              <a:t>REPORT_NUMBER</a:t>
            </a:r>
            <a:r>
              <a:rPr/>
              <a:t> to their </a:t>
            </a:r>
            <a:r>
              <a:rPr>
                <a:latin typeface="Courier"/>
              </a:rPr>
              <a:t>number</a:t>
            </a:r>
            <a:r>
              <a:rPr/>
              <a:t>”</a:t>
            </a:r>
          </a:p>
          <a:p>
            <a:pPr lvl="0"/>
            <a:r>
              <a:rPr b="1">
                <a:latin typeface="Courier"/>
              </a:rPr>
              <a:t>left_join</a:t>
            </a:r>
            <a:r>
              <a:rPr b="1"/>
              <a:t> keeps every row on the left</a:t>
            </a:r>
            <a:r>
              <a:rPr/>
              <a:t> (all reports)</a:t>
            </a:r>
          </a:p>
          <a:p>
            <a:pPr lvl="0"/>
            <a:r>
              <a:rPr/>
              <a:t>Reports with no location get </a:t>
            </a:r>
            <a:r>
              <a:rPr>
                <a:latin typeface="Courier"/>
              </a:rPr>
              <a:t>NA</a:t>
            </a:r>
            <a:r>
              <a:rPr/>
              <a:t> coordinates — they simply weren’t geocoded</a:t>
            </a:r>
          </a:p>
          <a:p>
            <a:pPr lvl="0" indent="0" marL="0">
              <a:buNone/>
            </a:pPr>
            <a:r>
              <a:rPr/>
              <a:t>📖 R4DS §19.3 — mutating joins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Live Demo — Watch It Break (a silent wrong join)</a:t>
            </a:r>
          </a:p>
        </p:txBody>
      </p:sp>
      <p:sp>
        <p:nvSpPr>
          <p:cNvPr id="3" name="Content Placeholder 2"/>
          <p:cNvSpPr>
            <a:spLocks noGrp="1"/>
          </p:cNvSpPr>
          <p:nvPr>
            <p:ph idx="1" sz="half"/>
          </p:nvPr>
        </p:nvSpPr>
        <p:spPr/>
        <p:txBody>
          <a:bodyPr/>
          <a:lstStyle/>
          <a:p>
            <a:pPr lvl="0" indent="0" marL="0">
              <a:buNone/>
            </a:pPr>
            <a:r>
              <a:rPr/>
              <a:t>If I forget </a:t>
            </a:r>
            <a:r>
              <a:rPr>
                <a:latin typeface="Courier"/>
              </a:rPr>
              <a:t>by = ...</a:t>
            </a:r>
            <a:r>
              <a:rPr/>
              <a:t>, dplyr looks for a </a:t>
            </a:r>
            <a:r>
              <a:rPr b="1"/>
              <a:t>shared column name</a:t>
            </a:r>
            <a:r>
              <a:rPr/>
              <a:t> — and both tables happen to have an </a:t>
            </a:r>
            <a:r>
              <a:rPr b="1">
                <a:latin typeface="Courier"/>
              </a:rPr>
              <a:t>index</a:t>
            </a:r>
            <a:r>
              <a:rPr/>
              <a:t> column:</a:t>
            </a:r>
          </a:p>
          <a:p>
            <a:pPr lvl="0" indent="0">
              <a:buNone/>
            </a:pPr>
            <a:r>
              <a:rPr>
                <a:solidFill>
                  <a:srgbClr val="003B4F"/>
                </a:solidFill>
                <a:latin typeface="Courier"/>
              </a:rPr>
              <a:t>reports_df </a:t>
            </a:r>
            <a:r>
              <a:rPr>
                <a:solidFill>
                  <a:srgbClr val="5E5E5E"/>
                </a:solidFill>
                <a:latin typeface="Courier"/>
              </a:rPr>
              <a:t>%&gt;%</a:t>
            </a:r>
            <a:r>
              <a:rPr>
                <a:solidFill>
                  <a:srgbClr val="003B4F"/>
                </a:solidFill>
                <a:latin typeface="Courier"/>
              </a:rPr>
              <a:t> </a:t>
            </a:r>
            <a:r>
              <a:rPr>
                <a:solidFill>
                  <a:srgbClr val="4758AB"/>
                </a:solidFill>
                <a:latin typeface="Courier"/>
              </a:rPr>
              <a:t>left_join</a:t>
            </a:r>
            <a:r>
              <a:rPr>
                <a:solidFill>
                  <a:srgbClr val="003B4F"/>
                </a:solidFill>
                <a:latin typeface="Courier"/>
              </a:rPr>
              <a:t>(locations_df)</a:t>
            </a:r>
            <a:br/>
            <a:r>
              <a:rPr>
                <a:solidFill>
                  <a:srgbClr val="5E5E5E"/>
                </a:solidFill>
                <a:latin typeface="Courier"/>
              </a:rPr>
              <a:t>#&gt; Joining with `by = join_by(index)`</a:t>
            </a:r>
          </a:p>
          <a:p>
            <a:pPr lvl="0" indent="0" marL="0">
              <a:buNone/>
            </a:pPr>
            <a:r>
              <a:rPr/>
              <a:t>That matches </a:t>
            </a:r>
            <a:r>
              <a:rPr b="1"/>
              <a:t>row 1 to row 1, row 2 to row 2</a:t>
            </a:r>
            <a:r>
              <a:rPr/>
              <a:t> — nonsense! </a:t>
            </a:r>
            <a:r>
              <a:rPr>
                <a:latin typeface="Courier"/>
              </a:rPr>
              <a:t>index</a:t>
            </a:r>
            <a:r>
              <a:rPr/>
              <a:t> is just a row number, not a report ID. You get coordinates glued to the wrong reports, with </a:t>
            </a:r>
            <a:r>
              <a:rPr b="1"/>
              <a:t>no error</a:t>
            </a:r>
            <a:r>
              <a:rPr/>
              <a:t>.</a:t>
            </a:r>
          </a:p>
          <a:p>
            <a:pPr lvl="0" indent="0" marL="0">
              <a:buNone/>
            </a:pPr>
            <a:r>
              <a:rPr/>
              <a:t>The fix — always name the real key:</a:t>
            </a:r>
          </a:p>
          <a:p>
            <a:pPr lvl="0" indent="0">
              <a:buNone/>
            </a:pPr>
            <a:r>
              <a:rPr>
                <a:solidFill>
                  <a:srgbClr val="003B4F"/>
                </a:solidFill>
                <a:latin typeface="Courier"/>
              </a:rPr>
              <a:t>reports_df </a:t>
            </a:r>
            <a:r>
              <a:rPr>
                <a:solidFill>
                  <a:srgbClr val="5E5E5E"/>
                </a:solidFill>
                <a:latin typeface="Courier"/>
              </a:rPr>
              <a:t>%&gt;%</a:t>
            </a:r>
            <a:r>
              <a:rPr>
                <a:solidFill>
                  <a:srgbClr val="003B4F"/>
                </a:solidFill>
                <a:latin typeface="Courier"/>
              </a:rPr>
              <a:t> </a:t>
            </a:r>
            <a:r>
              <a:rPr>
                <a:solidFill>
                  <a:srgbClr val="4758AB"/>
                </a:solidFill>
                <a:latin typeface="Courier"/>
              </a:rPr>
              <a:t>left_join</a:t>
            </a:r>
            <a:r>
              <a:rPr>
                <a:solidFill>
                  <a:srgbClr val="003B4F"/>
                </a:solidFill>
                <a:latin typeface="Courier"/>
              </a:rPr>
              <a:t>(locations_df,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show a silent wrong join?</a:t>
            </a:r>
          </a:p>
          <a:p>
            <a:pPr lvl="0" indent="0" marL="1270000">
              <a:buNone/>
            </a:pPr>
            <a:r>
              <a:rPr sz="2000"/>
              <a:t>Nothing here throws an error, so nothing forces you to notice — </a:t>
            </a:r>
            <a:r>
              <a:rPr sz="2000">
                <a:latin typeface="Courier"/>
              </a:rPr>
              <a:t>reports_df</a:t>
            </a:r>
            <a:r>
              <a:rPr sz="2000"/>
              <a:t> and </a:t>
            </a:r>
            <a:r>
              <a:rPr sz="2000">
                <a:latin typeface="Courier"/>
              </a:rPr>
              <a:t>locations_df</a:t>
            </a:r>
            <a:r>
              <a:rPr sz="2000"/>
              <a:t> both got the same made-up </a:t>
            </a:r>
            <a:r>
              <a:rPr sz="2000">
                <a:latin typeface="Courier"/>
              </a:rPr>
              <a:t>index</a:t>
            </a:r>
            <a:r>
              <a:rPr sz="2000"/>
              <a:t> column at some point, dplyr matches on it happily, and you end up with row 1’s coordinates glued to row 1’s report regardless of which Bigfoot sighting it actually was. If the message </a:t>
            </a:r>
            <a:r>
              <a:rPr sz="2000" i="1"/>
              <a:t>“Joining with </a:t>
            </a:r>
            <a:r>
              <a:rPr sz="2000" i="1">
                <a:latin typeface="Courier"/>
              </a:rPr>
              <a:t>by = ...</a:t>
            </a:r>
            <a:r>
              <a:rPr sz="2000" i="1"/>
              <a:t>”</a:t>
            </a:r>
            <a:r>
              <a:rPr sz="2000"/>
              <a:t> names a column you didn’t pick, treat it as a bug report, not a status update.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 End of Day 1 · Start Day 2 Here</a:t>
            </a:r>
          </a:p>
        </p:txBody>
      </p:sp>
      <p:sp>
        <p:nvSpPr>
          <p:cNvPr id="3" name="Content Placeholder 2"/>
          <p:cNvSpPr>
            <a:spLocks noGrp="1"/>
          </p:cNvSpPr>
          <p:nvPr>
            <p:ph idx="1" sz="half"/>
          </p:nvPr>
        </p:nvSpPr>
        <p:spPr/>
        <p:txBody>
          <a:bodyPr/>
          <a:lstStyle/>
          <a:p>
            <a:pPr lvl="0" indent="0" marL="0">
              <a:buNone/>
            </a:pPr>
            <a:r>
              <a:rPr b="1"/>
              <a:t>Day 1 recap — you can now:</a:t>
            </a:r>
          </a:p>
          <a:p>
            <a:pPr lvl="0"/>
            <a:r>
              <a:rPr/>
              <a:t>Explain a key and why it must be unique and same-type</a:t>
            </a:r>
          </a:p>
          <a:p>
            <a:pPr lvl="0"/>
            <a:r>
              <a:rPr/>
              <a:t>Join two tables whose key columns are named differently</a:t>
            </a:r>
          </a:p>
          <a:p>
            <a:pPr lvl="0"/>
            <a:r>
              <a:rPr/>
              <a:t>Use </a:t>
            </a:r>
            <a:r>
              <a:rPr>
                <a:latin typeface="Courier"/>
              </a:rPr>
              <a:t>left_join()</a:t>
            </a:r>
            <a:r>
              <a:rPr/>
              <a:t> to keep every row on the left</a:t>
            </a:r>
          </a:p>
        </p:txBody>
      </p:sp>
      <p:sp>
        <p:nvSpPr>
          <p:cNvPr id="4" name="Content Placeholder 3"/>
          <p:cNvSpPr>
            <a:spLocks noGrp="1"/>
          </p:cNvSpPr>
          <p:nvPr>
            <p:ph idx="2" sz="half"/>
          </p:nvPr>
        </p:nvSpPr>
        <p:spPr/>
        <p:txBody>
          <a:bodyPr/>
          <a:lstStyle/>
          <a:p>
            <a:pPr lvl="0" indent="0" marL="0">
              <a:buNone/>
            </a:pPr>
            <a:r>
              <a:rPr b="1"/>
              <a:t>Day 2 — the rest of the family:</a:t>
            </a:r>
          </a:p>
          <a:p>
            <a:pPr lvl="0"/>
            <a:r>
              <a:rPr>
                <a:latin typeface="Courier"/>
              </a:rPr>
              <a:t>inner_join</a:t>
            </a:r>
            <a:r>
              <a:rPr/>
              <a:t> vs </a:t>
            </a:r>
            <a:r>
              <a:rPr>
                <a:latin typeface="Courier"/>
              </a:rPr>
              <a:t>left_join</a:t>
            </a:r>
            <a:r>
              <a:rPr/>
              <a:t> vs </a:t>
            </a:r>
            <a:r>
              <a:rPr>
                <a:latin typeface="Courier"/>
              </a:rPr>
              <a:t>full_join</a:t>
            </a:r>
          </a:p>
          <a:p>
            <a:pPr lvl="0"/>
            <a:r>
              <a:rPr>
                <a:latin typeface="Courier"/>
              </a:rPr>
              <a:t>semi_join</a:t>
            </a:r>
            <a:r>
              <a:rPr/>
              <a:t> and </a:t>
            </a:r>
            <a:r>
              <a:rPr>
                <a:latin typeface="Courier"/>
              </a:rPr>
              <a:t>anti_join</a:t>
            </a:r>
            <a:r>
              <a:rPr/>
              <a:t> to </a:t>
            </a:r>
            <a:r>
              <a:rPr b="1"/>
              <a:t>filter</a:t>
            </a:r>
            <a:r>
              <a:rPr/>
              <a:t> instead of add columns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Chunk 3 of 4 · The Join Family </a:t>
            </a:r>
            <a:r>
              <a:rPr i="1"/>
              <a:t>(Day 2)</a:t>
            </a:r>
          </a:p>
        </p:txBody>
      </p:sp>
      <p:sp>
        <p:nvSpPr>
          <p:cNvPr id="3" name="Content Placeholder 2"/>
          <p:cNvSpPr>
            <a:spLocks noGrp="1"/>
          </p:cNvSpPr>
          <p:nvPr>
            <p:ph idx="1"/>
          </p:nvPr>
        </p:nvSpPr>
        <p:spPr/>
        <p:txBody>
          <a:bodyPr/>
          <a:lstStyle/>
          <a:p>
            <a:pPr lvl="0" indent="0" marL="0">
              <a:buNone/>
            </a:pPr>
            <a:r>
              <a:rPr b="1"/>
              <a:t>We will cover:</a:t>
            </a:r>
            <a:r>
              <a:rPr/>
              <a:t> </a:t>
            </a:r>
            <a:r>
              <a:rPr>
                <a:latin typeface="Courier"/>
              </a:rPr>
              <a:t>inner_join</a:t>
            </a:r>
            <a:r>
              <a:rPr/>
              <a:t>, </a:t>
            </a:r>
            <a:r>
              <a:rPr>
                <a:latin typeface="Courier"/>
              </a:rPr>
              <a:t>left_join</a:t>
            </a:r>
            <a:r>
              <a:rPr/>
              <a:t>, and </a:t>
            </a:r>
            <a:r>
              <a:rPr>
                <a:latin typeface="Courier"/>
              </a:rPr>
              <a:t>full_join</a:t>
            </a:r>
            <a:r>
              <a:rPr/>
              <a:t>, and how to choose.</a:t>
            </a:r>
          </a:p>
          <a:p>
            <a:pPr lvl="0" indent="0" marL="1270000">
              <a:buNone/>
            </a:pPr>
            <a:r>
              <a:rPr sz="2000" b="1"/>
              <a:t>Tip</a:t>
            </a:r>
          </a:p>
          <a:p>
            <a:pPr lvl="0" indent="0" marL="1270000">
              <a:buNone/>
            </a:pPr>
            <a:r>
              <a:rPr sz="2000" b="1"/>
              <a:t>🖐 After this chunk: Activity Parts 7–9</a:t>
            </a:r>
            <a:r>
              <a:rPr sz="2000"/>
              <a:t> (compare the three joins).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Inner vs. Left vs. Full</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Which will have </a:t>
            </a:r>
            <a:r>
              <a:rPr sz="2000" b="1"/>
              <a:t>more</a:t>
            </a:r>
            <a:r>
              <a:rPr sz="2000"/>
              <a:t> rows — an </a:t>
            </a:r>
            <a:r>
              <a:rPr sz="2000">
                <a:latin typeface="Courier"/>
              </a:rPr>
              <a:t>inner_join</a:t>
            </a:r>
            <a:r>
              <a:rPr sz="2000"/>
              <a:t> (only matches) or a </a:t>
            </a:r>
            <a:r>
              <a:rPr sz="2000">
                <a:latin typeface="Courier"/>
              </a:rPr>
              <a:t>left_join</a:t>
            </a:r>
            <a:r>
              <a:rPr sz="2000"/>
              <a:t> (all reports)? By roughly how many?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Same key, three different rules --------------------</a:t>
            </a:r>
            <a:br/>
            <a:r>
              <a:rPr>
                <a:solidFill>
                  <a:srgbClr val="003B4F"/>
                </a:solidFill>
                <a:latin typeface="Courier"/>
              </a:rPr>
              <a:t>inner &lt;- </a:t>
            </a:r>
            <a:r>
              <a:rPr>
                <a:solidFill>
                  <a:srgbClr val="4758AB"/>
                </a:solidFill>
                <a:latin typeface="Courier"/>
              </a:rPr>
              <a:t>inner_join</a:t>
            </a:r>
            <a:r>
              <a:rPr>
                <a:solidFill>
                  <a:srgbClr val="003B4F"/>
                </a:solidFill>
                <a:latin typeface="Courier"/>
              </a:rPr>
              <a:t>(reports_df, 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a:t>
            </a:r>
            <a:br/>
            <a:r>
              <a:rPr>
                <a:solidFill>
                  <a:srgbClr val="003B4F"/>
                </a:solidFill>
                <a:latin typeface="Courier"/>
              </a:rPr>
              <a:t>left  &lt;- </a:t>
            </a:r>
            <a:r>
              <a:rPr>
                <a:solidFill>
                  <a:srgbClr val="4758AB"/>
                </a:solidFill>
                <a:latin typeface="Courier"/>
              </a:rPr>
              <a:t>left_join</a:t>
            </a:r>
            <a:r>
              <a:rPr>
                <a:solidFill>
                  <a:srgbClr val="003B4F"/>
                </a:solidFill>
                <a:latin typeface="Courier"/>
              </a:rPr>
              <a:t> (reports_df, 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a:t>
            </a:r>
            <a:br/>
            <a:r>
              <a:rPr>
                <a:solidFill>
                  <a:srgbClr val="003B4F"/>
                </a:solidFill>
                <a:latin typeface="Courier"/>
              </a:rPr>
              <a:t>full  &lt;- </a:t>
            </a:r>
            <a:r>
              <a:rPr>
                <a:solidFill>
                  <a:srgbClr val="4758AB"/>
                </a:solidFill>
                <a:latin typeface="Courier"/>
              </a:rPr>
              <a:t>full_join</a:t>
            </a:r>
            <a:r>
              <a:rPr>
                <a:solidFill>
                  <a:srgbClr val="003B4F"/>
                </a:solidFill>
                <a:latin typeface="Courier"/>
              </a:rPr>
              <a:t> (reports_df, 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inner =</a:t>
            </a:r>
            <a:r>
              <a:rPr>
                <a:solidFill>
                  <a:srgbClr val="003B4F"/>
                </a:solidFill>
                <a:latin typeface="Courier"/>
              </a:rPr>
              <a:t> </a:t>
            </a:r>
            <a:r>
              <a:rPr>
                <a:solidFill>
                  <a:srgbClr val="4758AB"/>
                </a:solidFill>
                <a:latin typeface="Courier"/>
              </a:rPr>
              <a:t>nrow</a:t>
            </a:r>
            <a:r>
              <a:rPr>
                <a:solidFill>
                  <a:srgbClr val="003B4F"/>
                </a:solidFill>
                <a:latin typeface="Courier"/>
              </a:rPr>
              <a:t>(inner), </a:t>
            </a:r>
            <a:r>
              <a:rPr>
                <a:solidFill>
                  <a:srgbClr val="657422"/>
                </a:solidFill>
                <a:latin typeface="Courier"/>
              </a:rPr>
              <a:t>left =</a:t>
            </a:r>
            <a:r>
              <a:rPr>
                <a:solidFill>
                  <a:srgbClr val="003B4F"/>
                </a:solidFill>
                <a:latin typeface="Courier"/>
              </a:rPr>
              <a:t> </a:t>
            </a:r>
            <a:r>
              <a:rPr>
                <a:solidFill>
                  <a:srgbClr val="4758AB"/>
                </a:solidFill>
                <a:latin typeface="Courier"/>
              </a:rPr>
              <a:t>nrow</a:t>
            </a:r>
            <a:r>
              <a:rPr>
                <a:solidFill>
                  <a:srgbClr val="003B4F"/>
                </a:solidFill>
                <a:latin typeface="Courier"/>
              </a:rPr>
              <a:t>(left), </a:t>
            </a:r>
            <a:r>
              <a:rPr>
                <a:solidFill>
                  <a:srgbClr val="657422"/>
                </a:solidFill>
                <a:latin typeface="Courier"/>
              </a:rPr>
              <a:t>full =</a:t>
            </a:r>
            <a:r>
              <a:rPr>
                <a:solidFill>
                  <a:srgbClr val="003B4F"/>
                </a:solidFill>
                <a:latin typeface="Courier"/>
              </a:rPr>
              <a:t> </a:t>
            </a:r>
            <a:r>
              <a:rPr>
                <a:solidFill>
                  <a:srgbClr val="4758AB"/>
                </a:solidFill>
                <a:latin typeface="Courier"/>
              </a:rPr>
              <a:t>nrow</a:t>
            </a:r>
            <a:r>
              <a:rPr>
                <a:solidFill>
                  <a:srgbClr val="003B4F"/>
                </a:solidFill>
                <a:latin typeface="Courier"/>
              </a:rPr>
              <a:t>(full))</a:t>
            </a:r>
          </a:p>
          <a:p>
            <a:pPr lvl="0" indent="0">
              <a:buNone/>
            </a:pPr>
            <a:r>
              <a:rPr>
                <a:latin typeface="Courier"/>
              </a:rPr>
              <a:t>inner  left  full 
 4056  5022  5216 </a:t>
            </a:r>
          </a:p>
        </p:txBody>
      </p:sp>
      <p:graphicFrame>
        <p:nvGraphicFramePr>
          <p:cNvPr id="6" name="Content Placeholder 5"/>
          <p:cNvGraphicFramePr>
            <a:graphicFrameLocks noGrp="1"/>
          </p:cNvGraphicFramePr>
          <p:nvPr>
            <p:ph idx="1"/>
          </p:nvPr>
        </p:nvGraphicFramePr>
        <p:xfrm>
          <a:off x="4495800" y="660400"/>
          <a:ext cx="4406900" cy="3810000"/>
        </p:xfrm>
        <a:graphic>
          <a:graphicData uri="http://schemas.openxmlformats.org/drawingml/2006/table">
            <a:tbl>
              <a:tblPr firstRow="1" bandRow="1">
                <a:tableStyleId>{5C22544A-7EE6-4342-B048-85BDC9FD1C3A}</a:tableStyleId>
              </a:tblPr>
              <a:tblGrid>
                <a:gridCol w="2197100"/>
                <a:gridCol w="2197100"/>
              </a:tblGrid>
              <a:tr h="0">
                <a:tc>
                  <a:txBody>
                    <a:bodyPr/>
                    <a:lstStyle/>
                    <a:p>
                      <a:pPr lvl="0" indent="0" marL="0">
                        <a:buNone/>
                      </a:pPr>
                      <a:r>
                        <a:rPr/>
                        <a:t>Join</a:t>
                      </a:r>
                    </a:p>
                  </a:txBody>
                  <a:tcPr/>
                </a:tc>
                <a:tc>
                  <a:txBody>
                    <a:bodyPr/>
                    <a:lstStyle/>
                    <a:p>
                      <a:pPr lvl="0" indent="0" marL="0">
                        <a:buNone/>
                      </a:pPr>
                      <a:r>
                        <a:rPr/>
                        <a:t>Keeps</a:t>
                      </a:r>
                    </a:p>
                  </a:txBody>
                  <a:tcPr/>
                </a:tc>
              </a:tr>
              <a:tr h="0">
                <a:tc>
                  <a:txBody>
                    <a:bodyPr/>
                    <a:lstStyle/>
                    <a:p>
                      <a:pPr lvl="0" indent="0" marL="0">
                        <a:buNone/>
                      </a:pPr>
                      <a:r>
                        <a:rPr>
                          <a:latin typeface="Courier"/>
                        </a:rPr>
                        <a:t>inner_join</a:t>
                      </a:r>
                    </a:p>
                  </a:txBody>
                </a:tc>
                <a:tc>
                  <a:txBody>
                    <a:bodyPr/>
                    <a:lstStyle/>
                    <a:p>
                      <a:pPr lvl="0" indent="0" marL="0">
                        <a:buNone/>
                      </a:pPr>
                      <a:r>
                        <a:rPr/>
                        <a:t>only rows that </a:t>
                      </a:r>
                      <a:r>
                        <a:rPr b="1"/>
                        <a:t>match</a:t>
                      </a:r>
                      <a:r>
                        <a:rPr/>
                        <a:t> in both</a:t>
                      </a:r>
                    </a:p>
                  </a:txBody>
                </a:tc>
              </a:tr>
              <a:tr h="0">
                <a:tc>
                  <a:txBody>
                    <a:bodyPr/>
                    <a:lstStyle/>
                    <a:p>
                      <a:pPr lvl="0" indent="0" marL="0">
                        <a:buNone/>
                      </a:pPr>
                      <a:r>
                        <a:rPr>
                          <a:latin typeface="Courier"/>
                        </a:rPr>
                        <a:t>left_join</a:t>
                      </a:r>
                    </a:p>
                  </a:txBody>
                </a:tc>
                <a:tc>
                  <a:txBody>
                    <a:bodyPr/>
                    <a:lstStyle/>
                    <a:p>
                      <a:pPr lvl="0" indent="0" marL="0">
                        <a:buNone/>
                      </a:pPr>
                      <a:r>
                        <a:rPr b="1"/>
                        <a:t>all</a:t>
                      </a:r>
                      <a:r>
                        <a:rPr/>
                        <a:t> rows from the left (reports)</a:t>
                      </a:r>
                    </a:p>
                  </a:txBody>
                </a:tc>
              </a:tr>
              <a:tr h="0">
                <a:tc>
                  <a:txBody>
                    <a:bodyPr/>
                    <a:lstStyle/>
                    <a:p>
                      <a:pPr lvl="0" indent="0" marL="0">
                        <a:buNone/>
                      </a:pPr>
                      <a:r>
                        <a:rPr>
                          <a:latin typeface="Courier"/>
                        </a:rPr>
                        <a:t>full_join</a:t>
                      </a:r>
                    </a:p>
                  </a:txBody>
                </a:tc>
                <a:tc>
                  <a:txBody>
                    <a:bodyPr/>
                    <a:lstStyle/>
                    <a:p>
                      <a:pPr lvl="0" indent="0" marL="0">
                        <a:buNone/>
                      </a:pPr>
                      <a:r>
                        <a:rPr b="1"/>
                        <a:t>all</a:t>
                      </a:r>
                      <a:r>
                        <a:rPr/>
                        <a:t> rows from </a:t>
                      </a:r>
                      <a:r>
                        <a:rPr b="1"/>
                        <a:t>both</a:t>
                      </a:r>
                      <a:r>
                        <a:rPr/>
                        <a:t> tables</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Which Join Should You Use?</a:t>
            </a:r>
          </a:p>
        </p:txBody>
      </p:sp>
      <p:sp>
        <p:nvSpPr>
          <p:cNvPr id="3" name="Content Placeholder 2"/>
          <p:cNvSpPr>
            <a:spLocks noGrp="1"/>
          </p:cNvSpPr>
          <p:nvPr>
            <p:ph idx="1" sz="half"/>
          </p:nvPr>
        </p:nvSpPr>
        <p:spPr/>
        <p:txBody>
          <a:bodyPr/>
          <a:lstStyle/>
          <a:p>
            <a:pPr lvl="0"/>
            <a:r>
              <a:rPr b="1">
                <a:latin typeface="Courier"/>
              </a:rPr>
              <a:t>left_join</a:t>
            </a:r>
            <a:r>
              <a:rPr/>
              <a:t> — the default. Keep everything on your main table, add what you can. </a:t>
            </a:r>
            <a:r>
              <a:rPr i="1"/>
              <a:t>(Use this for the map: keep all reports.)</a:t>
            </a:r>
          </a:p>
          <a:p>
            <a:pPr lvl="0"/>
            <a:r>
              <a:rPr b="1">
                <a:latin typeface="Courier"/>
              </a:rPr>
              <a:t>inner_join</a:t>
            </a:r>
            <a:r>
              <a:rPr/>
              <a:t> — only rows with a match. </a:t>
            </a:r>
            <a:r>
              <a:rPr i="1"/>
              <a:t>(Use when missing data would ruin the analysis.)</a:t>
            </a:r>
          </a:p>
          <a:p>
            <a:pPr lvl="0"/>
            <a:r>
              <a:rPr b="1">
                <a:latin typeface="Courier"/>
              </a:rPr>
              <a:t>full_join</a:t>
            </a:r>
            <a:r>
              <a:rPr/>
              <a:t> — keep everything from both. </a:t>
            </a:r>
            <a:r>
              <a:rPr i="1"/>
              <a:t>(Use to audit what’s missing on each side.)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Choosing among the three</a:t>
            </a:r>
          </a:p>
          <a:p>
            <a:pPr lvl="0" indent="0" marL="1270000">
              <a:buNone/>
            </a:pPr>
            <a:r>
              <a:rPr sz="2000"/>
              <a:t>Ask which rows you’d be upset to lose. Drop a report from the map and a real sighting vanishes; drop a stray location record and nothing is lost. That’s why the map keeps every report — </a:t>
            </a:r>
            <a:r>
              <a:rPr sz="2000">
                <a:latin typeface="Courier"/>
              </a:rPr>
              <a:t>left_join</a:t>
            </a:r>
            <a:r>
              <a:rPr sz="2000"/>
              <a:t>, not </a:t>
            </a:r>
            <a:r>
              <a:rPr sz="2000">
                <a:latin typeface="Courier"/>
              </a:rPr>
              <a:t>inner_join</a:t>
            </a:r>
            <a:r>
              <a:rPr sz="2000"/>
              <a:t>.</a:t>
            </a:r>
          </a:p>
          <a:p>
            <a:pPr lvl="0" indent="0" marL="0">
              <a:buNone/>
            </a:pPr>
            <a:r>
              <a:rPr/>
              <a:t>📖 R4DS §19.3–19.4</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Pause — Do Activity Parts 7–9 Now</a:t>
            </a:r>
          </a:p>
        </p:txBody>
      </p:sp>
      <p:sp>
        <p:nvSpPr>
          <p:cNvPr id="3" name="Content Placeholder 2"/>
          <p:cNvSpPr>
            <a:spLocks noGrp="1"/>
          </p:cNvSpPr>
          <p:nvPr>
            <p:ph idx="1"/>
          </p:nvPr>
        </p:nvSpPr>
        <p:spPr/>
        <p:txBody>
          <a:bodyPr/>
          <a:lstStyle/>
          <a:p>
            <a:pPr lvl="0" indent="0" marL="0">
              <a:buNone/>
            </a:pPr>
            <a:r>
              <a:rPr/>
              <a:t>Run all three joins, compare the row counts, and decide which one you’d use to build a map. Predict each count first.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Chunk 4 of 4 · Filtering Joins &amp; the Payoff </a:t>
            </a:r>
            <a:r>
              <a:rPr i="1"/>
              <a:t>(Day 2)</a:t>
            </a:r>
          </a:p>
        </p:txBody>
      </p:sp>
      <p:sp>
        <p:nvSpPr>
          <p:cNvPr id="3" name="Content Placeholder 2"/>
          <p:cNvSpPr>
            <a:spLocks noGrp="1"/>
          </p:cNvSpPr>
          <p:nvPr>
            <p:ph idx="1"/>
          </p:nvPr>
        </p:nvSpPr>
        <p:spPr/>
        <p:txBody>
          <a:bodyPr/>
          <a:lstStyle/>
          <a:p>
            <a:pPr lvl="0" indent="0" marL="0">
              <a:buNone/>
            </a:pPr>
            <a:r>
              <a:rPr b="1"/>
              <a:t>We will cover:</a:t>
            </a:r>
            <a:r>
              <a:rPr/>
              <a:t> </a:t>
            </a:r>
            <a:r>
              <a:rPr>
                <a:latin typeface="Courier"/>
              </a:rPr>
              <a:t>semi_join</a:t>
            </a:r>
            <a:r>
              <a:rPr/>
              <a:t> and </a:t>
            </a:r>
            <a:r>
              <a:rPr>
                <a:latin typeface="Courier"/>
              </a:rPr>
              <a:t>anti_join</a:t>
            </a:r>
            <a:r>
              <a:rPr/>
              <a:t> — joins that </a:t>
            </a:r>
            <a:r>
              <a:rPr b="1"/>
              <a:t>filter</a:t>
            </a:r>
            <a:r>
              <a:rPr/>
              <a:t> rather than add columns.</a:t>
            </a:r>
          </a:p>
          <a:p>
            <a:pPr lvl="0" indent="0" marL="1270000">
              <a:buNone/>
            </a:pPr>
            <a:r>
              <a:rPr sz="2000" b="1"/>
              <a:t>Tip</a:t>
            </a:r>
          </a:p>
          <a:p>
            <a:pPr lvl="0" indent="0" marL="1270000">
              <a:buNone/>
            </a:pPr>
            <a:r>
              <a:rPr sz="2000" b="1"/>
              <a:t>🖐 After this chunk: Activity Parts 10–12</a:t>
            </a:r>
            <a:r>
              <a:rPr sz="2000"/>
              <a:t> (find the missing reports, build the map table).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latin typeface="Courier"/>
              </a:rPr>
              <a:t>anti_join()</a:t>
            </a:r>
            <a:r>
              <a:rPr/>
              <a:t> — What Didn’t Match?</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How many reports have </a:t>
            </a:r>
            <a:r>
              <a:rPr sz="2000" b="1"/>
              <a:t>no</a:t>
            </a:r>
            <a:r>
              <a:rPr sz="2000"/>
              <a:t> coordinates? (Hint: total reports minus the number that got a latitude in Chunk 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Reports that have NO location ----------------------</a:t>
            </a:r>
            <a:br/>
            <a:r>
              <a:rPr>
                <a:solidFill>
                  <a:srgbClr val="003B4F"/>
                </a:solidFill>
                <a:latin typeface="Courier"/>
              </a:rPr>
              <a:t>missing_coords &lt;- reports_df </a:t>
            </a:r>
            <a:r>
              <a:rPr>
                <a:solidFill>
                  <a:srgbClr val="5E5E5E"/>
                </a:solidFill>
                <a:latin typeface="Courier"/>
              </a:rPr>
              <a:t>%&gt;%</a:t>
            </a:r>
            <a:br/>
            <a:r>
              <a:rPr>
                <a:solidFill>
                  <a:srgbClr val="003B4F"/>
                </a:solidFill>
                <a:latin typeface="Courier"/>
              </a:rPr>
              <a:t>  </a:t>
            </a:r>
            <a:r>
              <a:rPr>
                <a:solidFill>
                  <a:srgbClr val="4758AB"/>
                </a:solidFill>
                <a:latin typeface="Courier"/>
              </a:rPr>
              <a:t>anti_join</a:t>
            </a:r>
            <a:r>
              <a:rPr>
                <a:solidFill>
                  <a:srgbClr val="003B4F"/>
                </a:solidFill>
                <a:latin typeface="Courier"/>
              </a:rPr>
              <a:t>(locations_df,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a:t>
            </a:r>
            <a:br/>
            <a:br/>
            <a:r>
              <a:rPr>
                <a:solidFill>
                  <a:srgbClr val="4758AB"/>
                </a:solidFill>
                <a:latin typeface="Courier"/>
              </a:rPr>
              <a:t>nrow</a:t>
            </a:r>
            <a:r>
              <a:rPr>
                <a:solidFill>
                  <a:srgbClr val="003B4F"/>
                </a:solidFill>
                <a:latin typeface="Courier"/>
              </a:rPr>
              <a:t>(missing_coords)</a:t>
            </a:r>
          </a:p>
          <a:p>
            <a:pPr lvl="0" indent="0">
              <a:buNone/>
            </a:pPr>
            <a:r>
              <a:rPr>
                <a:latin typeface="Courier"/>
              </a:rPr>
              <a:t>[1] 966</a:t>
            </a:r>
          </a:p>
          <a:p>
            <a:pPr lvl="0" indent="0">
              <a:buNone/>
            </a:pPr>
            <a:r>
              <a:rPr>
                <a:solidFill>
                  <a:srgbClr val="003B4F"/>
                </a:solidFill>
                <a:latin typeface="Courier"/>
              </a:rPr>
              <a:t>missing_coords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(STATE, </a:t>
            </a:r>
            <a:r>
              <a:rPr>
                <a:solidFill>
                  <a:srgbClr val="657422"/>
                </a:solidFill>
                <a:latin typeface="Courier"/>
              </a:rPr>
              <a:t>sort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4</a:t>
            </a:r>
            <a:r>
              <a:rPr>
                <a:solidFill>
                  <a:srgbClr val="003B4F"/>
                </a:solidFill>
                <a:latin typeface="Courier"/>
              </a:rPr>
              <a:t>)</a:t>
            </a:r>
          </a:p>
          <a:p>
            <a:pPr lvl="0" indent="0">
              <a:buNone/>
            </a:pPr>
            <a:r>
              <a:rPr>
                <a:latin typeface="Courier"/>
              </a:rPr>
              <a:t># A tibble: 4 × 2
  STATE            n
  &lt;chr&gt;        &lt;int&gt;
1 California     140
2 Pennsylvania    67
3 Oregon          63
4 Washington      61</a:t>
            </a:r>
          </a:p>
        </p:txBody>
      </p:sp>
      <p:sp>
        <p:nvSpPr>
          <p:cNvPr id="4" name="Content Placeholder 3"/>
          <p:cNvSpPr>
            <a:spLocks noGrp="1"/>
          </p:cNvSpPr>
          <p:nvPr>
            <p:ph idx="2" sz="half"/>
          </p:nvPr>
        </p:nvSpPr>
        <p:spPr/>
        <p:txBody>
          <a:bodyPr/>
          <a:lstStyle/>
          <a:p>
            <a:pPr lvl="0"/>
            <a:r>
              <a:rPr b="1">
                <a:latin typeface="Courier"/>
              </a:rPr>
              <a:t>anti_join</a:t>
            </a:r>
            <a:r>
              <a:rPr/>
              <a:t> keeps the left rows with </a:t>
            </a:r>
            <a:r>
              <a:rPr b="1"/>
              <a:t>no</a:t>
            </a:r>
            <a:r>
              <a:rPr/>
              <a:t> match — perfect for “what’s missing?”</a:t>
            </a:r>
          </a:p>
          <a:p>
            <a:pPr lvl="0"/>
            <a:r>
              <a:rPr/>
              <a:t>It </a:t>
            </a:r>
            <a:r>
              <a:rPr b="1"/>
              <a:t>adds no columns</a:t>
            </a:r>
            <a:r>
              <a:rPr/>
              <a:t> — it filters</a:t>
            </a:r>
          </a:p>
          <a:p>
            <a:pPr lvl="0"/>
            <a:r>
              <a:rPr/>
              <a:t>Here: the reports we could never map, and where they cluster</a:t>
            </a:r>
          </a:p>
          <a:p>
            <a:pPr lvl="0" indent="0" marL="0">
              <a:buNone/>
            </a:pPr>
            <a:r>
              <a:rPr/>
              <a:t>📖 R4DS §19.5 — filtering joins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latin typeface="Courier"/>
              </a:rPr>
              <a:t>semi_join()</a:t>
            </a:r>
            <a:r>
              <a:rPr/>
              <a:t> — Keep Only What Matched</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Keep only reports that DO have a location ----------</a:t>
            </a:r>
            <a:br/>
            <a:r>
              <a:rPr>
                <a:solidFill>
                  <a:srgbClr val="003B4F"/>
                </a:solidFill>
                <a:latin typeface="Courier"/>
              </a:rPr>
              <a:t>mappable_reports &lt;- reports_df </a:t>
            </a:r>
            <a:r>
              <a:rPr>
                <a:solidFill>
                  <a:srgbClr val="5E5E5E"/>
                </a:solidFill>
                <a:latin typeface="Courier"/>
              </a:rPr>
              <a:t>%&gt;%</a:t>
            </a:r>
            <a:br/>
            <a:r>
              <a:rPr>
                <a:solidFill>
                  <a:srgbClr val="003B4F"/>
                </a:solidFill>
                <a:latin typeface="Courier"/>
              </a:rPr>
              <a:t>  </a:t>
            </a:r>
            <a:r>
              <a:rPr>
                <a:solidFill>
                  <a:srgbClr val="4758AB"/>
                </a:solidFill>
                <a:latin typeface="Courier"/>
              </a:rPr>
              <a:t>semi_join</a:t>
            </a:r>
            <a:r>
              <a:rPr>
                <a:solidFill>
                  <a:srgbClr val="003B4F"/>
                </a:solidFill>
                <a:latin typeface="Courier"/>
              </a:rPr>
              <a:t>(locations_df,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a:t>
            </a:r>
            <a:br/>
            <a:br/>
            <a:r>
              <a:rPr>
                <a:solidFill>
                  <a:srgbClr val="4758AB"/>
                </a:solidFill>
                <a:latin typeface="Courier"/>
              </a:rPr>
              <a:t>nrow</a:t>
            </a:r>
            <a:r>
              <a:rPr>
                <a:solidFill>
                  <a:srgbClr val="003B4F"/>
                </a:solidFill>
                <a:latin typeface="Courier"/>
              </a:rPr>
              <a:t>(mappable_reports)</a:t>
            </a:r>
          </a:p>
          <a:p>
            <a:pPr lvl="0" indent="0">
              <a:buNone/>
            </a:pPr>
            <a:r>
              <a:rPr>
                <a:latin typeface="Courier"/>
              </a:rPr>
              <a:t>[1] 4056</a:t>
            </a:r>
          </a:p>
        </p:txBody>
      </p:sp>
      <p:sp>
        <p:nvSpPr>
          <p:cNvPr id="4" name="Content Placeholder 3"/>
          <p:cNvSpPr>
            <a:spLocks noGrp="1"/>
          </p:cNvSpPr>
          <p:nvPr>
            <p:ph idx="2" sz="half"/>
          </p:nvPr>
        </p:nvSpPr>
        <p:spPr/>
        <p:txBody>
          <a:bodyPr/>
          <a:lstStyle/>
          <a:p>
            <a:pPr lvl="0"/>
            <a:r>
              <a:rPr b="1">
                <a:latin typeface="Courier"/>
              </a:rPr>
              <a:t>semi_join</a:t>
            </a:r>
            <a:r>
              <a:rPr/>
              <a:t> keeps left rows that </a:t>
            </a:r>
            <a:r>
              <a:rPr b="1"/>
              <a:t>have</a:t>
            </a:r>
            <a:r>
              <a:rPr/>
              <a:t> a match — again, </a:t>
            </a:r>
            <a:r>
              <a:rPr b="1"/>
              <a:t>no new columns</a:t>
            </a:r>
          </a:p>
          <a:p>
            <a:pPr lvl="0"/>
            <a:r>
              <a:rPr/>
              <a:t>Think of </a:t>
            </a:r>
            <a:r>
              <a:rPr>
                <a:latin typeface="Courier"/>
              </a:rPr>
              <a:t>semi</a:t>
            </a:r>
            <a:r>
              <a:rPr/>
              <a:t>/</a:t>
            </a:r>
            <a:r>
              <a:rPr>
                <a:latin typeface="Courier"/>
              </a:rPr>
              <a:t>anti</a:t>
            </a:r>
            <a:r>
              <a:rPr/>
              <a:t> as a </a:t>
            </a:r>
            <a:r>
              <a:rPr b="1"/>
              <a:t>filter driven by another table</a:t>
            </a:r>
          </a:p>
          <a:p>
            <a:pPr lvl="0"/>
            <a:r>
              <a:rPr>
                <a:latin typeface="Courier"/>
              </a:rPr>
              <a:t>semi_join</a:t>
            </a:r>
            <a:r>
              <a:rPr/>
              <a:t> result = the rows an </a:t>
            </a:r>
            <a:r>
              <a:rPr>
                <a:latin typeface="Courier"/>
              </a:rPr>
              <a:t>inner_join</a:t>
            </a:r>
            <a:r>
              <a:rPr/>
              <a:t> would keep, but without the extra columns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Payoff — Build the Map-Ready Table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Reports + coordinates, ready to map next week ------</a:t>
            </a:r>
            <a:br/>
            <a:r>
              <a:rPr>
                <a:solidFill>
                  <a:srgbClr val="003B4F"/>
                </a:solidFill>
                <a:latin typeface="Courier"/>
              </a:rPr>
              <a:t>bigfoot_mappable &lt;- reports_df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(locations_df, </a:t>
            </a:r>
            <a:r>
              <a:rPr>
                <a:solidFill>
                  <a:srgbClr val="657422"/>
                </a:solidFill>
                <a:latin typeface="Courier"/>
              </a:rPr>
              <a:t>by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"REPORT_NUMBER"</a:t>
            </a:r>
            <a:r>
              <a:rPr>
                <a:solidFill>
                  <a:srgbClr val="003B4F"/>
                </a:solidFill>
                <a:latin typeface="Courier"/>
              </a:rPr>
              <a:t> = </a:t>
            </a:r>
            <a:r>
              <a:rPr>
                <a:solidFill>
                  <a:srgbClr val="20794D"/>
                </a:solidFill>
                <a:latin typeface="Courier"/>
              </a:rPr>
              <a:t>"number"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(latitude), </a:t>
            </a:r>
            <a:r>
              <a:rPr>
                <a:solidFill>
                  <a:srgbClr val="5E5E5E"/>
                </a:solidFill>
                <a:latin typeface="Courier"/>
              </a:rPr>
              <a:t>!</a:t>
            </a:r>
            <a:r>
              <a:rPr>
                <a:solidFill>
                  <a:srgbClr val="4758AB"/>
                </a:solidFill>
                <a:latin typeface="Courier"/>
              </a:rPr>
              <a:t>is.na</a:t>
            </a:r>
            <a:r>
              <a:rPr>
                <a:solidFill>
                  <a:srgbClr val="003B4F"/>
                </a:solidFill>
                <a:latin typeface="Courier"/>
              </a:rPr>
              <a:t>(longitude))</a:t>
            </a:r>
            <a:br/>
            <a:br/>
            <a:r>
              <a:rPr>
                <a:solidFill>
                  <a:srgbClr val="003B4F"/>
                </a:solidFill>
                <a:latin typeface="Courier"/>
              </a:rPr>
              <a:t>bigfoot_mappable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(REPORT_NUMBER, STATE, SEASON, REPORT_CLASS, latitude, longitude)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p>
          <a:p>
            <a:pPr lvl="0" indent="0">
              <a:buNone/>
            </a:pPr>
            <a:r>
              <a:rPr>
                <a:latin typeface="Courier"/>
              </a:rPr>
              <a:t># A tibble: 6 × 6
  REPORT_NUMBER STATE         SEASON REPORT_CLASS latitude longitude
          &lt;dbl&gt; &lt;chr&gt;         &lt;chr&gt;  &lt;chr&gt;           &lt;dbl&gt;     &lt;dbl&gt;
1          6496 Rhode Island  Fall   Class A          41.4     -71.5
2          9765 Oklahoma      Fall   Class A          35.3     -99.2
3          4983 Ohio          Summer Class A          39.4     -81.7
4         31940 New York      Fall   Class A          41.3     -73.7
5          5692 Nevada        Fall   Class B          39.6    -120. 
6         55269 New Hampshire Summer Class A          43.4     -72.3</a:t>
            </a:r>
          </a:p>
        </p:txBody>
      </p:sp>
      <p:sp>
        <p:nvSpPr>
          <p:cNvPr id="4" name="Content Placeholder 3"/>
          <p:cNvSpPr>
            <a:spLocks noGrp="1"/>
          </p:cNvSpPr>
          <p:nvPr>
            <p:ph idx="2" sz="half"/>
          </p:nvPr>
        </p:nvSpPr>
        <p:spPr/>
        <p:txBody>
          <a:bodyPr/>
          <a:lstStyle/>
          <a:p>
            <a:pPr lvl="0" indent="0" marL="0">
              <a:buNone/>
            </a:pPr>
            <a:r>
              <a:rPr/>
              <a:t>This joined table — report text </a:t>
            </a:r>
            <a:r>
              <a:rPr b="1"/>
              <a:t>plus</a:t>
            </a:r>
            <a:r>
              <a:rPr/>
              <a:t> coordinates — is essentially </a:t>
            </a:r>
            <a:r>
              <a:rPr>
                <a:latin typeface="Courier"/>
              </a:rPr>
              <a:t>bfro_reports_geocoded.csv</a:t>
            </a:r>
            <a:r>
              <a:rPr/>
              <a:t>, the file you’ll turn into a map in </a:t>
            </a:r>
            <a:r>
              <a:rPr b="1"/>
              <a:t>Lecture 13</a:t>
            </a:r>
            <a:r>
              <a:rPr/>
              <a:t>.</a:t>
            </a:r>
          </a:p>
          <a:p>
            <a:pPr lvl="0" indent="0" marL="0">
              <a:buNone/>
            </a:pPr>
            <a:r>
              <a:rPr b="1"/>
              <a:t>You just built a real dataset from two raw ones.</a:t>
            </a:r>
            <a:r>
              <a:rPr/>
              <a:t> </a:t>
            </a:r>
            <a:r>
              <a:rPr>
                <a:latin typeface="Courier"/>
              </a:rPr>
              <a:t>bigfoot_mappable</a:t>
            </a:r>
            <a:r>
              <a:rPr/>
              <a:t> didn’t exist in either source file — it only exists because you joined them on a key, and it’s the exact table Lecture 13 opens with.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Pause — Do Activity Parts 10–12 Now</a:t>
            </a:r>
          </a:p>
        </p:txBody>
      </p:sp>
      <p:sp>
        <p:nvSpPr>
          <p:cNvPr id="3" name="Content Placeholder 2"/>
          <p:cNvSpPr>
            <a:spLocks noGrp="1"/>
          </p:cNvSpPr>
          <p:nvPr>
            <p:ph idx="1"/>
          </p:nvPr>
        </p:nvSpPr>
        <p:spPr/>
        <p:txBody>
          <a:bodyPr/>
          <a:lstStyle/>
          <a:p>
            <a:pPr lvl="0" indent="0" marL="0">
              <a:buNone/>
            </a:pPr>
            <a:r>
              <a:rPr/>
              <a:t>Use </a:t>
            </a:r>
            <a:r>
              <a:rPr>
                <a:latin typeface="Courier"/>
              </a:rPr>
              <a:t>anti_join</a:t>
            </a:r>
            <a:r>
              <a:rPr/>
              <a:t> to find the un-geocoded reports, </a:t>
            </a:r>
            <a:r>
              <a:rPr>
                <a:latin typeface="Courier"/>
              </a:rPr>
              <a:t>semi_join</a:t>
            </a:r>
            <a:r>
              <a:rPr/>
              <a:t> to keep the mappable ones, and build the combined table. Predict the counts first.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What We Learned Today</a:t>
            </a:r>
          </a:p>
        </p:txBody>
      </p:sp>
      <p:sp>
        <p:nvSpPr>
          <p:cNvPr id="3" name="Content Placeholder 2"/>
          <p:cNvSpPr>
            <a:spLocks noGrp="1"/>
          </p:cNvSpPr>
          <p:nvPr>
            <p:ph idx="1" sz="half"/>
          </p:nvPr>
        </p:nvSpPr>
        <p:spPr/>
        <p:txBody>
          <a:bodyPr/>
          <a:lstStyle/>
          <a:p>
            <a:pPr lvl="0" indent="0" marL="0">
              <a:buNone/>
            </a:pPr>
            <a:r>
              <a:rPr b="1"/>
              <a:t>Concepts:</a:t>
            </a:r>
          </a:p>
          <a:p>
            <a:pPr lvl="0"/>
            <a:r>
              <a:rPr/>
              <a:t>A </a:t>
            </a:r>
            <a:r>
              <a:rPr b="1"/>
              <a:t>key</a:t>
            </a:r>
            <a:r>
              <a:rPr/>
              <a:t> links two tables; it must be </a:t>
            </a:r>
            <a:r>
              <a:rPr b="1"/>
              <a:t>unique</a:t>
            </a:r>
            <a:r>
              <a:rPr/>
              <a:t> and the </a:t>
            </a:r>
            <a:r>
              <a:rPr b="1"/>
              <a:t>same type</a:t>
            </a:r>
          </a:p>
          <a:p>
            <a:pPr lvl="0"/>
            <a:r>
              <a:rPr/>
              <a:t>Join differently-named keys with </a:t>
            </a:r>
            <a:r>
              <a:rPr>
                <a:latin typeface="Courier"/>
              </a:rPr>
              <a:t>by = c("a" = "b")</a:t>
            </a:r>
          </a:p>
          <a:p>
            <a:pPr lvl="0"/>
            <a:r>
              <a:rPr b="1"/>
              <a:t>Mutating joins</a:t>
            </a:r>
            <a:r>
              <a:rPr/>
              <a:t> add columns: </a:t>
            </a:r>
            <a:r>
              <a:rPr>
                <a:latin typeface="Courier"/>
              </a:rPr>
              <a:t>left</a:t>
            </a:r>
            <a:r>
              <a:rPr/>
              <a:t> (all left), </a:t>
            </a:r>
            <a:r>
              <a:rPr>
                <a:latin typeface="Courier"/>
              </a:rPr>
              <a:t>inner</a:t>
            </a:r>
            <a:r>
              <a:rPr/>
              <a:t> (matches), </a:t>
            </a:r>
            <a:r>
              <a:rPr>
                <a:latin typeface="Courier"/>
              </a:rPr>
              <a:t>full</a:t>
            </a:r>
            <a:r>
              <a:rPr/>
              <a:t> (all)</a:t>
            </a:r>
          </a:p>
          <a:p>
            <a:pPr lvl="0"/>
            <a:r>
              <a:rPr b="1"/>
              <a:t>Filtering joins</a:t>
            </a:r>
            <a:r>
              <a:rPr/>
              <a:t> keep rows: </a:t>
            </a:r>
            <a:r>
              <a:rPr>
                <a:latin typeface="Courier"/>
              </a:rPr>
              <a:t>semi</a:t>
            </a:r>
            <a:r>
              <a:rPr/>
              <a:t> (has a match), </a:t>
            </a:r>
            <a:r>
              <a:rPr>
                <a:latin typeface="Courier"/>
              </a:rPr>
              <a:t>anti</a:t>
            </a:r>
            <a:r>
              <a:rPr/>
              <a:t> (no match)</a:t>
            </a:r>
          </a:p>
          <a:p>
            <a:pPr lvl="0"/>
            <a:r>
              <a:rPr/>
              <a:t>Always </a:t>
            </a:r>
            <a:r>
              <a:rPr b="1"/>
              <a:t>name your key</a:t>
            </a:r>
            <a:r>
              <a:rPr/>
              <a:t> — a printed </a:t>
            </a:r>
            <a:r>
              <a:rPr>
                <a:latin typeface="Courier"/>
              </a:rPr>
              <a:t>by = ...</a:t>
            </a:r>
            <a:r>
              <a:rPr/>
              <a:t> you didn’t choose is a bug</a:t>
            </a:r>
          </a:p>
          <a:p>
            <a:pPr lvl="0" indent="0" marL="0">
              <a:buNone/>
            </a:pPr>
            <a:r>
              <a:rPr b="1"/>
              <a:t>R skills:</a:t>
            </a:r>
          </a:p>
          <a:p>
            <a:pPr lvl="0"/>
            <a:r>
              <a:rPr>
                <a:latin typeface="Courier"/>
              </a:rPr>
              <a:t>left_join()</a:t>
            </a:r>
            <a:r>
              <a:rPr/>
              <a:t>, </a:t>
            </a:r>
            <a:r>
              <a:rPr>
                <a:latin typeface="Courier"/>
              </a:rPr>
              <a:t>inner_join()</a:t>
            </a:r>
            <a:r>
              <a:rPr/>
              <a:t>, </a:t>
            </a:r>
            <a:r>
              <a:rPr>
                <a:latin typeface="Courier"/>
              </a:rPr>
              <a:t>full_join()</a:t>
            </a:r>
          </a:p>
          <a:p>
            <a:pPr lvl="0"/>
            <a:r>
              <a:rPr>
                <a:latin typeface="Courier"/>
              </a:rPr>
              <a:t>semi_join()</a:t>
            </a:r>
            <a:r>
              <a:rPr/>
              <a:t>, </a:t>
            </a:r>
            <a:r>
              <a:rPr>
                <a:latin typeface="Courier"/>
              </a:rPr>
              <a:t>anti_join()</a:t>
            </a:r>
          </a:p>
          <a:p>
            <a:pPr lvl="0"/>
            <a:r>
              <a:rPr>
                <a:latin typeface="Courier"/>
              </a:rPr>
              <a:t>distinct()</a:t>
            </a:r>
            <a:r>
              <a:rPr/>
              <a:t> + </a:t>
            </a:r>
            <a:r>
              <a:rPr>
                <a:latin typeface="Courier"/>
              </a:rPr>
              <a:t>as.integer()</a:t>
            </a:r>
            <a:r>
              <a:rPr/>
              <a:t> for key hygiene</a:t>
            </a:r>
          </a:p>
        </p:txBody>
      </p:sp>
      <p:sp>
        <p:nvSpPr>
          <p:cNvPr id="4" name="Content Placeholder 3"/>
          <p:cNvSpPr>
            <a:spLocks noGrp="1"/>
          </p:cNvSpPr>
          <p:nvPr>
            <p:ph idx="2" sz="half"/>
          </p:nvPr>
        </p:nvSpPr>
        <p:spPr/>
        <p:txBody>
          <a:bodyPr/>
          <a:lstStyle/>
          <a:p>
            <a:pPr lvl="0" indent="0" marL="0">
              <a:buNone/>
            </a:pPr>
            <a:r>
              <a:rPr b="1"/>
              <a:t>References:</a:t>
            </a:r>
          </a:p>
          <a:p>
            <a:pPr lvl="0"/>
            <a:r>
              <a:rPr/>
              <a:t>📖 </a:t>
            </a:r>
            <a:r>
              <a:rPr>
                <a:hlinkClick r:id="rId2"/>
              </a:rPr>
              <a:t>R4DS Ch. 19 — Joins</a:t>
            </a:r>
          </a:p>
          <a:p>
            <a:pPr lvl="0"/>
            <a:r>
              <a:rPr/>
              <a:t>📖 </a:t>
            </a:r>
            <a:r>
              <a:rPr>
                <a:latin typeface="Courier"/>
              </a:rPr>
              <a:t>common_code/13_joins</a:t>
            </a:r>
          </a:p>
          <a:p>
            <a:pPr lvl="0" indent="0" marL="0">
              <a:buNone/>
            </a:pPr>
            <a:r>
              <a:rPr b="1"/>
              <a:t>Up next — Lecture 18:</a:t>
            </a:r>
          </a:p>
          <a:p>
            <a:pPr lvl="0"/>
            <a:r>
              <a:rPr b="1"/>
              <a:t>Mapping</a:t>
            </a:r>
            <a:r>
              <a:rPr/>
              <a:t> — turn this joined table into a map with </a:t>
            </a:r>
            <a:r>
              <a:rPr>
                <a:latin typeface="Courier"/>
              </a:rPr>
              <a:t>sf</a:t>
            </a:r>
            <a:r>
              <a:rPr/>
              <a:t> and </a:t>
            </a:r>
            <a:r>
              <a:rPr>
                <a:latin typeface="Courier"/>
              </a:rPr>
              <a:t>geom_sf()</a:t>
            </a:r>
          </a:p>
          <a:p>
            <a:pPr lvl="0"/>
            <a:r>
              <a:rPr/>
              <a:t>Where </a:t>
            </a:r>
            <a:r>
              <a:rPr i="1"/>
              <a:t>is</a:t>
            </a:r>
            <a:r>
              <a:rPr/>
              <a:t> Bigfoot, anyway?</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Joins: Combining Two Tables</dc:title>
  <dc:creator>Bill Perry</dc:creator>
  <cp:keywords/>
  <dc:description>Real projects spread data across several tables. This 2-day lecture teaches joins: what a key is, how to join two tables when the key columns are named differently, the mutating joins (left/inner/full), and the filtering joins (semi/anti) — by combining the Bigfoot report text with its coordinates to build exactly the dataset we map next week.</dc:description>
  <dcterms:created xsi:type="dcterms:W3CDTF">2026-08-27T17:12:07Z</dcterms:created>
  <dcterms:modified xsi:type="dcterms:W3CDTF">2026-08-27T17:12:07Z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Keys, mutating joins, and filtering joins with real Bigfoot report data</vt:lpwstr>
  </property>
  <property fmtid="{D5CDD505-2E9C-101B-9397-08002B2CF9AE}" pid="15" name="toc-title">
    <vt:lpwstr>Table of contents</vt:lpwstr>
  </property>
  <property fmtid="{D5CDD505-2E9C-101B-9397-08002B2CF9AE}" pid="16" name="type">
    <vt:lpwstr>lecture</vt:lpwstr>
  </property>
  <property fmtid="{D5CDD505-2E9C-101B-9397-08002B2CF9AE}" pid="17" name="week">
    <vt:lpwstr>9</vt:lpwstr>
  </property>
</Properties>
</file>