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with real Bigfoot report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ANOVA &amp;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One-way ANOVA</a:t>
            </a:r>
            <a:r>
              <a:rPr/>
              <a:t> — compared a numeric response across several groups</a:t>
            </a:r>
          </a:p>
          <a:p>
            <a:pPr lvl="0"/>
            <a:r>
              <a:rPr b="1"/>
              <a:t>Factors</a:t>
            </a:r>
            <a:r>
              <a:rPr/>
              <a:t> — reordered and relabeled those groups for clean plots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Today’s dataset comes in </a:t>
            </a:r>
            <a:r>
              <a:rPr sz="2000" b="1"/>
              <a:t>two</a:t>
            </a:r>
            <a:r>
              <a:rPr sz="2000"/>
              <a:t>: one file has the Bigfoot report </a:t>
            </a:r>
            <a:r>
              <a:rPr sz="2000" b="1"/>
              <a:t>text</a:t>
            </a:r>
            <a:r>
              <a:rPr sz="2000"/>
              <a:t> (where, when, what), a second has the </a:t>
            </a:r>
            <a:r>
              <a:rPr sz="2000" b="1"/>
              <a:t>coordinates</a:t>
            </a:r>
            <a:r>
              <a:rPr sz="2000"/>
              <a:t>. Neither alone lets you map a sighting. </a:t>
            </a:r>
            <a:r>
              <a:rPr sz="2000" b="1"/>
              <a:t>Joins</a:t>
            </a:r>
            <a:r>
              <a:rPr sz="2000"/>
              <a:t> stitch them together on a shared </a:t>
            </a:r>
            <a:r>
              <a:rPr sz="2000" b="1"/>
              <a:t>key</a:t>
            </a:r>
            <a:r>
              <a:rPr sz="2000"/>
              <a:t> — and the result is exactly the file we’ll map next week.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the combined report + coordinates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tables):</a:t>
            </a:r>
          </a:p>
          <a:p>
            <a:pPr lvl="0"/>
            <a:r>
              <a:rPr>
                <a:latin typeface="Courier"/>
              </a:rPr>
              <a:t>bfro_reports.csv</a:t>
            </a:r>
            <a:r>
              <a:rPr/>
              <a:t> — the report text + class</a:t>
            </a:r>
          </a:p>
          <a:p>
            <a:pPr lvl="0"/>
            <a:r>
              <a:rPr>
                <a:latin typeface="Courier"/>
              </a:rPr>
              <a:t>bfro_locations.csv</a:t>
            </a:r>
            <a:r>
              <a:rPr/>
              <a:t> — the coordinates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 b="1"/>
              <a:t>Predicting the row count</a:t>
            </a:r>
            <a:r>
              <a:rPr sz="2000"/>
              <a:t> is the whole skill — a join that returns the wrong number of rows is the #1 data bug.</a:t>
            </a:r>
          </a:p>
          <a:p>
            <a:pPr lvl="0"/>
            <a:r>
              <a:rPr sz="2000" b="1"/>
              <a:t>Typing</a:t>
            </a:r>
            <a:r>
              <a:rPr sz="2000"/>
              <a:t> builds the </a:t>
            </a:r>
            <a:r>
              <a:rPr sz="2000">
                <a:latin typeface="Courier"/>
              </a:rPr>
              <a:t>*_join()</a:t>
            </a:r>
            <a:r>
              <a:rPr sz="2000"/>
              <a:t> muscle memory.</a:t>
            </a:r>
          </a:p>
          <a:p>
            <a:pPr lvl="0"/>
            <a:r>
              <a:rPr sz="2000" b="1"/>
              <a:t>Chunk → practice</a:t>
            </a:r>
            <a:r>
              <a:rPr sz="2000"/>
              <a:t> keeps each join type distinct.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Bigfoot tables 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reports_df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"data/bfro_locations.csv"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(reports_df)      </a:t>
            </a:r>
            <a:r>
              <a:rPr>
                <a:solidFill>
                  <a:srgbClr val="5E5E5E"/>
                </a:solidFill>
                <a:latin typeface="Courier"/>
              </a:rPr>
              <a:t># the text: where/when/what</a:t>
            </a:r>
          </a:p>
          <a:p>
            <a:pPr lvl="0" indent="0">
              <a:buNone/>
            </a:pPr>
            <a:r>
              <a:rPr>
                <a:latin typeface="Courier"/>
              </a:rPr>
              <a:t>[1] 5485   19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(locations_df)    </a:t>
            </a:r>
            <a:r>
              <a:rPr>
                <a:solidFill>
                  <a:srgbClr val="5E5E5E"/>
                </a:solidFill>
                <a:latin typeface="Courier"/>
              </a:rPr>
              <a:t># the coordinates</a:t>
            </a:r>
          </a:p>
          <a:p>
            <a:pPr lvl="0" indent="0">
              <a:buNone/>
            </a:pPr>
            <a:r>
              <a:rPr>
                <a:latin typeface="Courier"/>
              </a:rPr>
              <a:t>[1] 4250    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reports_df</a:t>
            </a:r>
            <a:r>
              <a:rPr/>
              <a:t> — one row per sighting report: year, season, state, county, class, and the written account</a:t>
            </a:r>
          </a:p>
          <a:p>
            <a:pPr lvl="0"/>
            <a:r>
              <a:rPr b="1">
                <a:latin typeface="Courier"/>
              </a:rPr>
              <a:t>locations_df</a:t>
            </a:r>
            <a:r>
              <a:rPr/>
              <a:t> — one row per report that got geocoded: a latitude and longitude</a:t>
            </a:r>
          </a:p>
          <a:p>
            <a:pPr lvl="0"/>
            <a:r>
              <a:rPr/>
              <a:t>To map a sighting you need </a:t>
            </a:r>
            <a:r>
              <a:rPr b="1"/>
              <a:t>both</a:t>
            </a:r>
            <a:r>
              <a:rPr/>
              <a:t> — its class </a:t>
            </a:r>
            <a:r>
              <a:rPr i="1"/>
              <a:t>and</a:t>
            </a:r>
            <a:r>
              <a:rPr/>
              <a:t> its coordinates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 report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YEAR, 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REPORT_NUMBER YEAR         STATE        REPORT_CLASS
          &lt;dbl&gt; &lt;chr&gt;        &lt;chr&gt;        &lt;chr&gt;       
1         30680 2010         Alabama      Class B     
2          1261 Early 1990's Alaska       Class A     
3          6496 1974         Rhode Island Class A   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locations_df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(number,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3
  number latitude longitude
   &lt;dbl&gt;    &lt;dbl&gt;     &lt;dbl&gt;
1    637     61.5     -143.
2   2917     55.2     -133.
3   7963     55.2     -133.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uniquely identifies a row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reports_df</a:t>
            </a:r>
            <a:r>
              <a:rPr/>
              <a:t> it’s </a:t>
            </a:r>
            <a:r>
              <a:rPr b="1">
                <a:latin typeface="Courier"/>
              </a:rPr>
              <a:t>REPORT_NUMBER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locations_df</a:t>
            </a:r>
            <a:r>
              <a:rPr/>
              <a:t> it’s </a:t>
            </a:r>
            <a:r>
              <a:rPr b="1">
                <a:latin typeface="Courier"/>
              </a:rPr>
              <a:t>number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you’re looking things up in (</a:t>
            </a:r>
            <a:r>
              <a:rPr sz="2000">
                <a:latin typeface="Courier"/>
              </a:rPr>
              <a:t>locations_df</a:t>
            </a:r>
            <a:r>
              <a:rPr sz="2000"/>
              <a:t>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fixes: drop duplicate reports, match key type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(REPORT_NUMBER, </a:t>
            </a:r>
            <a:r>
              <a:rPr>
                <a:solidFill>
                  <a:srgbClr val="657422"/>
                </a:solidFill>
                <a:latin typeface="Courier"/>
              </a:rPr>
              <a:t>.keep_all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one row per report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REPORT_NUMBER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(REPORT_NUMBER))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(reports_df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REPORT_NUMBER)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5022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(locations_df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number)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4250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distinct()</a:t>
            </a:r>
            <a:r>
              <a:rPr/>
              <a:t> — keep one row per report number</a:t>
            </a:r>
          </a:p>
          <a:p>
            <a:pPr lvl="0"/>
            <a:r>
              <a:rPr>
                <a:latin typeface="Courier"/>
              </a:rPr>
              <a:t>as.integer()</a:t>
            </a:r>
            <a:r>
              <a:rPr/>
              <a:t> — </a:t>
            </a:r>
            <a:r>
              <a:rPr>
                <a:latin typeface="Courier"/>
              </a:rPr>
              <a:t>REPORT_NUMBER</a:t>
            </a:r>
            <a:r>
              <a:rPr/>
              <a:t> was stored like </a:t>
            </a:r>
            <a:r>
              <a:rPr>
                <a:latin typeface="Courier"/>
              </a:rPr>
              <a:t>30680.0</a:t>
            </a:r>
            <a:r>
              <a:rPr/>
              <a:t>; </a:t>
            </a:r>
            <a:r>
              <a:rPr>
                <a:latin typeface="Courier"/>
              </a:rPr>
              <a:t>number</a:t>
            </a:r>
            <a:r>
              <a:rPr/>
              <a:t> is </a:t>
            </a:r>
            <a:r>
              <a:rPr>
                <a:latin typeface="Courier"/>
              </a:rPr>
              <a:t>30680</a:t>
            </a:r>
            <a:r>
              <a:rPr/>
              <a:t>. </a:t>
            </a:r>
            <a:r>
              <a:rPr b="1"/>
              <a:t>Keys must be the same type</a:t>
            </a:r>
            <a:r>
              <a:rPr/>
              <a:t> to match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are different </a:t>
            </a:r>
            <a:r>
              <a:rPr sz="2000" b="1"/>
              <a:t>types</a:t>
            </a:r>
            <a:r>
              <a:rPr sz="2000"/>
              <a:t> (text vs number) or </a:t>
            </a:r>
            <a:r>
              <a:rPr sz="2000" b="1"/>
              <a:t>formats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clean it. Predict how many reports have coordinates before we join.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reports_df</a:t>
            </a:r>
            <a:r>
              <a:rPr sz="2000"/>
              <a:t> has ~5,000 reports; only ~4,000 were geocoded. After a </a:t>
            </a:r>
            <a:r>
              <a:rPr sz="2000">
                <a:latin typeface="Courier"/>
              </a:rPr>
              <a:t>left_join</a:t>
            </a:r>
            <a:r>
              <a:rPr sz="2000"/>
              <a:t>, how many </a:t>
            </a:r>
            <a:r>
              <a:rPr sz="2000" b="1"/>
              <a:t>rows</a:t>
            </a:r>
            <a:r>
              <a:rPr sz="2000"/>
              <a:t> will we have, and how many will have a latitude?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report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5022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(bigfoot_df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latitude))    </a:t>
            </a:r>
            <a:r>
              <a:rPr>
                <a:solidFill>
                  <a:srgbClr val="5E5E5E"/>
                </a:solidFill>
                <a:latin typeface="Courier"/>
              </a:rPr>
              <a:t># how many got coordinates</a:t>
            </a:r>
          </a:p>
          <a:p>
            <a:pPr lvl="0" indent="0">
              <a:buNone/>
            </a:pPr>
            <a:r>
              <a:rPr>
                <a:latin typeface="Courier"/>
              </a:rPr>
              <a:t>[1] 4056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c("REPORT_NUMBER" = "number")</a:t>
            </a:r>
            <a:r>
              <a:rPr/>
              <a:t> — “match my </a:t>
            </a:r>
            <a:r>
              <a:rPr>
                <a:latin typeface="Courier"/>
              </a:rPr>
              <a:t>REPORT_NUMBER</a:t>
            </a:r>
            <a:r>
              <a:rPr/>
              <a:t> to their </a:t>
            </a:r>
            <a:r>
              <a:rPr>
                <a:latin typeface="Courier"/>
              </a:rPr>
              <a:t>number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reports)</a:t>
            </a:r>
          </a:p>
          <a:p>
            <a:pPr lvl="0"/>
            <a:r>
              <a:rPr/>
              <a:t>Reports with no location get </a:t>
            </a:r>
            <a:r>
              <a:rPr>
                <a:latin typeface="Courier"/>
              </a:rPr>
              <a:t>NA</a:t>
            </a:r>
            <a:r>
              <a:rPr/>
              <a:t> coordinates — they simply weren’t geocoded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happen to have an </a:t>
            </a:r>
            <a:r>
              <a:rPr b="1">
                <a:latin typeface="Courier"/>
              </a:rPr>
              <a:t>index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join_by(index)`</a:t>
            </a:r>
          </a:p>
          <a:p>
            <a:pPr lvl="0" indent="0" marL="0">
              <a:buNone/>
            </a:pPr>
            <a:r>
              <a:rPr/>
              <a:t>That matches </a:t>
            </a:r>
            <a:r>
              <a:rPr b="1"/>
              <a:t>row 1 to row 1, row 2 to row 2</a:t>
            </a:r>
            <a:r>
              <a:rPr/>
              <a:t> — nonsense! </a:t>
            </a:r>
            <a:r>
              <a:rPr>
                <a:latin typeface="Courier"/>
              </a:rPr>
              <a:t>index</a:t>
            </a:r>
            <a:r>
              <a:rPr/>
              <a:t> is just a row number, not a report ID. You get coordinates glued to the wrong reports, with </a:t>
            </a:r>
            <a:r>
              <a:rPr b="1"/>
              <a:t>no error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When dplyr prints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and you didn’t choose that column — </a:t>
            </a:r>
            <a:r>
              <a:rPr sz="2000" b="1"/>
              <a:t>stop</a:t>
            </a:r>
            <a:r>
              <a:rPr sz="2000"/>
              <a:t>. Auto-joining on an accidental shared name (</a:t>
            </a:r>
            <a:r>
              <a:rPr sz="2000">
                <a:latin typeface="Courier"/>
              </a:rPr>
              <a:t>index</a:t>
            </a:r>
            <a:r>
              <a:rPr sz="2000"/>
              <a:t>, </a:t>
            </a:r>
            <a:r>
              <a:rPr sz="2000">
                <a:latin typeface="Courier"/>
              </a:rPr>
              <a:t>id</a:t>
            </a:r>
            <a:r>
              <a:rPr sz="2000"/>
              <a:t>, </a:t>
            </a:r>
            <a:r>
              <a:rPr sz="2000">
                <a:latin typeface="Courier"/>
              </a:rPr>
              <a:t>x</a:t>
            </a:r>
            <a:r>
              <a:rPr sz="2000"/>
              <a:t>) is a classic silent bug. Name your key every time.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and same-type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will have </a:t>
            </a:r>
            <a:r>
              <a:rPr sz="2000" b="1"/>
              <a:t>more</a:t>
            </a:r>
            <a:r>
              <a:rPr sz="2000"/>
              <a:t> rows — an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 or a </a:t>
            </a:r>
            <a:r>
              <a:rPr sz="2000">
                <a:latin typeface="Courier"/>
              </a:rPr>
              <a:t>left_join</a:t>
            </a:r>
            <a:r>
              <a:rPr sz="2000"/>
              <a:t> (all reports)? By roughly how many?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4056  5022  5216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rows that </a:t>
                      </a:r>
                      <a:r>
                        <a:rPr b="1"/>
                        <a:t>match</a:t>
                      </a:r>
                      <a:r>
                        <a:rPr/>
                        <a:t> in both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rows from the left (reports)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rows from </a:t>
                      </a:r>
                      <a:r>
                        <a:rPr b="1"/>
                        <a:t>both</a:t>
                      </a:r>
                      <a:r>
                        <a:rPr/>
                        <a:t>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(Use this for the map: keep all reports.)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(Use when missing data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(Use to audit what’s missing on each side.)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 from the question: </a:t>
            </a:r>
            <a:r>
              <a:rPr sz="2000" i="1"/>
              <a:t>“Which rows do I refuse to lose?”</a:t>
            </a:r>
            <a:r>
              <a:rPr sz="2000"/>
              <a:t> That answer picks your join. For mapping we refuse to lose reports, so </a:t>
            </a:r>
            <a:r>
              <a:rPr sz="2000">
                <a:latin typeface="Courier"/>
              </a:rPr>
              <a:t>left_join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reports have </a:t>
            </a:r>
            <a:r>
              <a:rPr sz="2000" b="1"/>
              <a:t>no</a:t>
            </a:r>
            <a:r>
              <a:rPr sz="2000"/>
              <a:t> coordinates? (Hint: total reports minus the number that got a latitude in Chunk 2.)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that have NO location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missing_coords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(missing_coords)</a:t>
            </a:r>
          </a:p>
          <a:p>
            <a:pPr lvl="0" indent="0">
              <a:buNone/>
            </a:pPr>
            <a:r>
              <a:rPr>
                <a:latin typeface="Courier"/>
              </a:rPr>
              <a:t>[1] 966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missing_coords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sort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STATE            n
  &lt;chr&gt;        &lt;int&gt;
1 California     140
2 Pennsylvania    67
3 Oregon          63
4 Washington 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perfect for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Here: the reports we could never map, and where they cluster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reports that DO have a location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mappable_reports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(mappable_reports)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4056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result = the rows an </a:t>
            </a:r>
            <a:r>
              <a:rPr>
                <a:latin typeface="Courier"/>
              </a:rPr>
              <a:t>inner_join</a:t>
            </a:r>
            <a:r>
              <a:rPr/>
              <a:t> would keep, but without the extra columns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the Map-Ready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+ coordinates, ready to map next week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bigfoot_mappable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bigfoot_mappable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SEASON,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REPORT_NUMBER STATE         SEASON REPORT_CLASS latitude longitude
          &lt;dbl&gt; &lt;chr&gt;         &lt;chr&gt;  &lt;chr&gt;           &lt;dbl&gt;     &lt;dbl&gt;
1          6496 Rhode Island  Fall   Class A          41.4     -71.5
2          9765 Oklahoma      Fall   Class A          35.3     -99.2
3          4983 Ohio          Summer Class A          39.4     -81.7
4         31940 New York      Fall   Class A          41.3     -73.7
5          5692 Nevada        Fall   Class B          39.6    -120. 
6         55269 New Hampshire Summer Class A          43.4     -72.3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joined table — report text </a:t>
            </a:r>
            <a:r>
              <a:rPr b="1"/>
              <a:t>plus</a:t>
            </a:r>
            <a:r>
              <a:rPr/>
              <a:t> coordinates — is essentially </a:t>
            </a:r>
            <a:r>
              <a:rPr>
                <a:latin typeface="Courier"/>
              </a:rPr>
              <a:t>bfro_reports_geocoded.csv</a:t>
            </a:r>
            <a:r>
              <a:rPr/>
              <a:t>, the file you’ll turn into a map in </a:t>
            </a:r>
            <a:r>
              <a:rPr b="1"/>
              <a:t>Lecture 13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That’s the everyday work of data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to find the un-geocoded reports, </a:t>
            </a:r>
            <a:r>
              <a:rPr>
                <a:latin typeface="Courier"/>
              </a:rPr>
              <a:t>semi_join</a:t>
            </a:r>
            <a:r>
              <a:rPr/>
              <a:t> to keep the mappable ones,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distinct()</a:t>
            </a:r>
            <a:r>
              <a:rPr/>
              <a:t> + </a:t>
            </a:r>
            <a:r>
              <a:rPr>
                <a:latin typeface="Courier"/>
              </a:rPr>
              <a:t>as.integer()</a:t>
            </a:r>
            <a:r>
              <a:rPr/>
              <a:t>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Lecture 13:</a:t>
            </a:r>
          </a:p>
          <a:p>
            <a:pPr lvl="0"/>
            <a:r>
              <a:rPr b="1"/>
              <a:t>Mapping</a:t>
            </a:r>
            <a:r>
              <a:rPr/>
              <a:t> — turn this joined table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Where </a:t>
            </a:r>
            <a:r>
              <a:rPr i="1"/>
              <a:t>is</a:t>
            </a:r>
            <a:r>
              <a:rPr/>
              <a:t> Bigfoot, anyway?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the Bigfoot report text with its coordinates to build exactly the dataset we map next week.</dc:description>
  <dcterms:created xsi:type="dcterms:W3CDTF">2026-07-05T20:05:56Z</dcterms:created>
  <dcterms:modified xsi:type="dcterms:W3CDTF">2026-07-05T20:05:56Z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12</vt:lpwstr>
  </property>
  <property fmtid="{D5CDD505-2E9C-101B-9397-08002B2CF9AE}" pid="14" name="resources">
    <vt:lpwstr/>
  </property>
  <property fmtid="{D5CDD505-2E9C-101B-9397-08002B2CF9AE}" pid="15" name="subtitle">
    <vt:lpwstr>Keys, mutating joins, and filtering joins with real Bigfoot report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6</vt:lpwstr>
  </property>
</Properties>
</file>