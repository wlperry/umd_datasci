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plyr.tidyverse.org/reference/mutate-joins.html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17 — Joins: Combining Two Bigfoot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to build a map-ready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Joins — Two Bigfoot Tables into One 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the data</a:t>
            </a:r>
          </a:p>
          <a:p>
            <a:pPr lvl="0" indent="0" marL="0">
              <a:buNone/>
            </a:pPr>
            <a:r>
              <a:rPr/>
              <a:t>Two files live in your </a:t>
            </a:r>
            <a:r>
              <a:rPr>
                <a:latin typeface="Courier"/>
              </a:rPr>
              <a:t>data/</a:t>
            </a:r>
            <a:r>
              <a:rPr/>
              <a:t> folder:</a:t>
            </a:r>
          </a:p>
          <a:p>
            <a:pPr lvl="0"/>
            <a:r>
              <a:rPr b="1">
                <a:latin typeface="Courier"/>
              </a:rPr>
              <a:t>bfro_reports.csv</a:t>
            </a:r>
            <a:r>
              <a:rPr/>
              <a:t> — one row per sighting report (year, season, state, class, the written account), keyed by </a:t>
            </a:r>
            <a:r>
              <a:rPr>
                <a:latin typeface="Courier"/>
              </a:rPr>
              <a:t>REPORT_NUMBER</a:t>
            </a:r>
          </a:p>
          <a:p>
            <a:pPr lvl="0"/>
            <a:r>
              <a:rPr b="1">
                <a:latin typeface="Courier"/>
              </a:rPr>
              <a:t>bfro_locations.csv</a:t>
            </a:r>
            <a:r>
              <a:rPr/>
              <a:t> — the coordinates for reports that were geocoded, keyed by </a:t>
            </a:r>
            <a:r>
              <a:rPr>
                <a:latin typeface="Courier"/>
              </a:rPr>
              <a:t>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Find the key that links the two tables</a:t>
            </a:r>
          </a:p>
          <a:p>
            <a:pPr lvl="0" indent="-342900" marL="342900">
              <a:buAutoNum type="arabicPeriod"/>
            </a:pPr>
            <a:r>
              <a:rPr/>
              <a:t>Join them with </a:t>
            </a:r>
            <a:r>
              <a:rPr>
                <a:latin typeface="Courier"/>
              </a:rPr>
              <a:t>left_join()</a:t>
            </a:r>
            <a:r>
              <a:rPr/>
              <a:t> when the key columns are named differently</a:t>
            </a:r>
          </a:p>
          <a:p>
            <a:pPr lvl="0" indent="-342900" marL="342900">
              <a:buAutoNum type="arabicPeriod"/>
            </a:pPr>
            <a:r>
              <a:rPr/>
              <a:t>Compare </a:t>
            </a:r>
            <a:r>
              <a:rPr>
                <a:latin typeface="Courier"/>
              </a:rPr>
              <a:t>inner</a:t>
            </a:r>
            <a:r>
              <a:rPr/>
              <a:t>, </a:t>
            </a:r>
            <a:r>
              <a:rPr>
                <a:latin typeface="Courier"/>
              </a:rPr>
              <a:t>left</a:t>
            </a:r>
            <a:r>
              <a:rPr/>
              <a:t>, and </a:t>
            </a:r>
            <a:r>
              <a:rPr>
                <a:latin typeface="Courier"/>
              </a:rPr>
              <a:t>full</a:t>
            </a:r>
            <a:r>
              <a:rPr/>
              <a:t> joins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semi_join()</a:t>
            </a:r>
            <a:r>
              <a:rPr/>
              <a:t> / </a:t>
            </a:r>
            <a:r>
              <a:rPr>
                <a:latin typeface="Courier"/>
              </a:rPr>
              <a:t>anti_join()</a:t>
            </a:r>
            <a:r>
              <a:rPr/>
              <a:t> to filter, and build the map-ready table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every join, write down the row count you expect from </a:t>
            </a:r>
            <a:r>
              <a:rPr sz="2000">
                <a:latin typeface="Courier"/>
              </a:rPr>
              <a:t>reports_df</a:t>
            </a:r>
            <a:r>
              <a:rPr sz="2000"/>
              <a:t> and </a:t>
            </a:r>
            <a:r>
              <a:rPr sz="2000">
                <a:latin typeface="Courier"/>
              </a:rPr>
              <a:t>locations_df</a:t>
            </a:r>
            <a:r>
              <a:rPr sz="2000"/>
              <a:t> — then type the join and see if you were right. </a:t>
            </a:r>
            <a:r>
              <a:rPr sz="2000">
                <a:latin typeface="Courier"/>
              </a:rPr>
              <a:t>reports_df</a:t>
            </a:r>
            <a:r>
              <a:rPr sz="2000"/>
              <a:t> has thousands of rows and only some were ever geocoded, so a wrong guess almost always means you misjudged how many reports actually have coordinates, not that R did something strange.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Two tables &amp; a key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both tables and clean the key.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both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reports_df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"data/bfro_locations.csv"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(reports_df)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reports_df:   rows =        cols =
locations_df: rows =        cols =
Which table has more rows? Why might that be?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Find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YEAR, 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(number,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links the two tables, and what is it called in each?</a:t>
            </a:r>
          </a:p>
          <a:p>
            <a:pPr lvl="0" indent="0">
              <a:buNone/>
            </a:pPr>
            <a:r>
              <a:rPr>
                <a:latin typeface="Courier"/>
              </a:rPr>
              <a:t>Key in reports_df:
Key in locations_df:
Are the names the same?  Y / 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Clean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report + match the key type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(REPORT_NUMBER, </a:t>
            </a:r>
            <a:r>
              <a:rPr>
                <a:solidFill>
                  <a:srgbClr val="657422"/>
                </a:solidFill>
                <a:latin typeface="Courier"/>
              </a:rPr>
              <a:t>.keep_all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REPORT_NUMBER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(REPORT_NUMBER))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(reports_df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REPORT_NUMBER)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(locations_df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number)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REPORT_NUMBER</a:t>
            </a:r>
            <a:r>
              <a:rPr/>
              <a:t> was stored like </a:t>
            </a:r>
            <a:r>
              <a:rPr>
                <a:latin typeface="Courier"/>
              </a:rPr>
              <a:t>30680.0</a:t>
            </a:r>
            <a:r>
              <a:rPr/>
              <a:t> but </a:t>
            </a:r>
            <a:r>
              <a:rPr>
                <a:latin typeface="Courier"/>
              </a:rPr>
              <a:t>number</a:t>
            </a:r>
            <a:r>
              <a:rPr/>
              <a:t> is </a:t>
            </a:r>
            <a:r>
              <a:rPr>
                <a:latin typeface="Courier"/>
              </a:rPr>
              <a:t>30680</a:t>
            </a:r>
            <a:r>
              <a:rPr/>
              <a:t>. Why must we fix that before joining?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Your first join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the left join and the accidental-key trap.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left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After a </a:t>
            </a:r>
            <a:r>
              <a:rPr sz="2000">
                <a:latin typeface="Courier"/>
              </a:rPr>
              <a:t>left_join</a:t>
            </a:r>
            <a:r>
              <a:rPr sz="2000"/>
              <a:t>, how many rows will you have (all reports? only matched?), and roughly how many will have a latitude?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(bigfoot_df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latitude)) </a:t>
            </a:r>
            <a:r>
              <a:rPr>
                <a:solidFill>
                  <a:srgbClr val="5E5E5E"/>
                </a:solidFill>
                <a:latin typeface="Courier"/>
              </a:rPr>
              <a:t># rows with coordinates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 rows after left_join:
Rows WITH coordinates:
Rows with NA coordinates: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accidental-key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(on purpose — watch the message):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Forget by = ... and see what dplyr does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did dplyr announce it was joining on? Why is joining on </a:t>
            </a:r>
            <a:r>
              <a:rPr>
                <a:latin typeface="Courier"/>
              </a:rPr>
              <a:t>index</a:t>
            </a:r>
            <a:r>
              <a:rPr/>
              <a:t> completely wrong here?</a:t>
            </a:r>
          </a:p>
          <a:p>
            <a:pPr lvl="0" indent="0">
              <a:buNone/>
            </a:pPr>
            <a:r>
              <a:rPr>
                <a:latin typeface="Courier"/>
              </a:rPr>
              <a:t>dplyr joined on:
Why that's wrong: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and you didn’t choose that column, stop and name your real key.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Name the key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(the correct join):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at the first rows — do any already show </a:t>
            </a:r>
            <a:r>
              <a:rPr>
                <a:latin typeface="Courier"/>
              </a:rPr>
              <a:t>NA</a:t>
            </a:r>
            <a:r>
              <a:rPr/>
              <a:t> for latitude/longitude? What does that mean about those reports?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join two tables on a named key. Day 2: the rest of the join family.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The join family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inner vs left vs full.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Run all three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Rank these three by row count, most to fewest: </a:t>
            </a:r>
            <a:r>
              <a:rPr sz="2000">
                <a:latin typeface="Courier"/>
              </a:rPr>
              <a:t>inner_join</a:t>
            </a:r>
            <a:r>
              <a:rPr sz="2000"/>
              <a:t>,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full_join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inner rows =        left rows =        full rows =
Was your ranking right?  Y / 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What each join dropped or kept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each join does,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inner_join keeps:
left_join keeps:
full_join keeps:
Which reports does inner_join DROP that left_join keeps?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Pick the right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You want to make a </a:t>
            </a:r>
            <a:r>
              <a:rPr b="1"/>
              <a:t>map of all sightings</a:t>
            </a:r>
            <a:r>
              <a:rPr/>
              <a:t>, keeping every report even if some can’t be placed. Which join do you use,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Join:
Why: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figure out which rows you can’t afford to drop first — a report with no coordinates is still a report, so mapping calls for </a:t>
            </a:r>
            <a:r>
              <a:rPr sz="2000">
                <a:latin typeface="Courier"/>
              </a:rPr>
              <a:t>left_join</a:t>
            </a:r>
            <a:r>
              <a:rPr sz="2000"/>
              <a:t>, not </a:t>
            </a:r>
            <a:r>
              <a:rPr sz="2000">
                <a:latin typeface="Courier"/>
              </a:rPr>
              <a:t>inner_join</a:t>
            </a:r>
            <a:r>
              <a:rPr sz="2000"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Filtering joins &amp; the payoff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anti/semi joins and the map-ready table.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</a:t>
            </a:r>
            <a:r>
              <a:rPr>
                <a:latin typeface="Courier"/>
              </a:rPr>
              <a:t>anti_join()</a:t>
            </a:r>
            <a:r>
              <a:rPr/>
              <a:t> — what’s missing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How many reports have NO coordinates? (Total reports minus the number with a latitude from Part 4.)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missing_coords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(missing_coords)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missing_coords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Reports with no coordinates:
Did anti_join ADD any columns, or just filter rows?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</a:t>
            </a:r>
            <a:r>
              <a:rPr>
                <a:latin typeface="Courier"/>
              </a:rPr>
              <a:t>semi_join()</a:t>
            </a:r>
            <a:r>
              <a:rPr/>
              <a:t> — keep only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mappable_reports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(mappable_reports)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is </a:t>
            </a:r>
            <a:r>
              <a:rPr>
                <a:latin typeface="Courier"/>
              </a:rPr>
              <a:t>semi_join</a:t>
            </a:r>
            <a:r>
              <a:rPr/>
              <a:t> different from </a:t>
            </a:r>
            <a:r>
              <a:rPr>
                <a:latin typeface="Courier"/>
              </a:rPr>
              <a:t>inner_join</a:t>
            </a:r>
            <a:r>
              <a:rPr/>
              <a:t>? (Hint: look at the </a:t>
            </a:r>
            <a:r>
              <a:rPr i="1"/>
              <a:t>columns</a:t>
            </a:r>
            <a:r>
              <a:rPr/>
              <a:t>, not just the rows.)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Build the map-ready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+ coordinates, ready for next week's map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bigfoot_mappable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bigfoot_mappable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SEASON,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for the mapping lecture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(bigfoot_mappable, </a:t>
            </a:r>
            <a:r>
              <a:rPr>
                <a:solidFill>
                  <a:srgbClr val="20794D"/>
                </a:solidFill>
                <a:latin typeface="Courier"/>
              </a:rPr>
              <a:t>"data/bigfoot_joined.csv"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are in your map-ready table? How does this compare to the original </a:t>
            </a:r>
            <a:r>
              <a:rPr>
                <a:latin typeface="Courier"/>
              </a:rPr>
              <a:t>reports_df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Map-ready rows:
Difference from reports_df, and why: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what a key is and why it must be unique and same-type</a:t>
            </a:r>
          </a:p>
          <a:p>
            <a:pPr lvl="0"/>
            <a:r>
              <a:rPr/>
              <a:t>☐ Join two tables whose key columns are named differently (</a:t>
            </a:r>
            <a:r>
              <a:rPr>
                <a:latin typeface="Courier"/>
              </a:rPr>
              <a:t>by = c("a" = "b")</a:t>
            </a:r>
            <a:r>
              <a:rPr/>
              <a:t>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left_join</a:t>
            </a:r>
            <a:r>
              <a:rPr/>
              <a:t>,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full_join</a:t>
            </a:r>
            <a:r>
              <a:rPr/>
              <a:t> and predict their row counts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anti_join</a:t>
            </a:r>
            <a:r>
              <a:rPr/>
              <a:t> to find unmatched rows and </a:t>
            </a:r>
            <a:r>
              <a:rPr>
                <a:latin typeface="Courier"/>
              </a:rPr>
              <a:t>semi_join</a:t>
            </a:r>
            <a:r>
              <a:rPr/>
              <a:t> to keep matched rows</a:t>
            </a:r>
          </a:p>
          <a:p>
            <a:pPr lvl="0"/>
            <a:r>
              <a:rPr/>
              <a:t>☐ Recognize the accidental-</a:t>
            </a:r>
            <a:r>
              <a:rPr>
                <a:latin typeface="Courier"/>
              </a:rPr>
              <a:t>index</a:t>
            </a:r>
            <a:r>
              <a:rPr/>
              <a:t>-join bug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 the report class to a map count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join, then count sightings per state per class.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state + class combination has the most reports?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Locations with no report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an </a:t>
            </a:r>
            <a:r>
              <a:rPr>
                <a:latin typeface="Courier"/>
              </a:rPr>
              <a:t>anti_join</a:t>
            </a:r>
            <a:r>
              <a:rPr/>
              <a:t> the </a:t>
            </a:r>
            <a:r>
              <a:rPr i="1"/>
              <a:t>other</a:t>
            </a:r>
            <a:r>
              <a:rPr/>
              <a:t> direction to find locations that have no matching report. How many are there, and what might explain them?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anti_join here (locations first this time):</a:t>
            </a:r>
          </a:p>
          <a:p>
            <a:pPr lvl="0" indent="0">
              <a:buNone/>
            </a:pPr>
            <a:r>
              <a:rPr>
                <a:latin typeface="Courier"/>
              </a:rPr>
              <a:t>Locations with no report:
Possible explanation: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by</a:t>
            </a:r>
            <a:r>
              <a:rPr b="1"/>
              <a:t> must be supplied / weird match</a:t>
            </a:r>
            <a:r>
              <a:rPr/>
              <a:t> → the key columns are named differently; use </a:t>
            </a:r>
            <a:r>
              <a:rPr>
                <a:latin typeface="Courier"/>
              </a:rPr>
              <a:t>by = c("REPORT_NUMBER" = "number")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Zero matches</a:t>
            </a:r>
            <a:r>
              <a:rPr/>
              <a:t> → check the key </a:t>
            </a:r>
            <a:r>
              <a:rPr b="1"/>
              <a:t>type</a:t>
            </a:r>
            <a:r>
              <a:rPr/>
              <a:t> (</a:t>
            </a:r>
            <a:r>
              <a:rPr>
                <a:latin typeface="Courier"/>
              </a:rPr>
              <a:t>as.integer()</a:t>
            </a:r>
            <a:r>
              <a:rPr/>
              <a:t> on </a:t>
            </a:r>
            <a:r>
              <a:rPr>
                <a:latin typeface="Courier"/>
              </a:rPr>
              <a:t>REPORT_NUMBER</a:t>
            </a:r>
            <a:r>
              <a:rPr/>
              <a:t>) — text won’t match a number.</a:t>
            </a:r>
          </a:p>
          <a:p>
            <a:pPr lvl="0" indent="-342900" marL="342900">
              <a:buAutoNum type="arabicPeriod"/>
            </a:pPr>
            <a:r>
              <a:rPr b="1"/>
              <a:t>Way too many rows after a join</a:t>
            </a:r>
            <a:r>
              <a:rPr/>
              <a:t> → a duplicated key fans out the rows; </a:t>
            </a:r>
            <a:r>
              <a:rPr>
                <a:latin typeface="Courier"/>
              </a:rPr>
              <a:t>distinct()</a:t>
            </a:r>
            <a:r>
              <a:rPr/>
              <a:t> the lookup key first.</a:t>
            </a:r>
          </a:p>
          <a:p>
            <a:pPr lvl="0" indent="-342900" marL="342900">
              <a:buAutoNum type="arabicPeriod"/>
            </a:pPr>
            <a:r>
              <a:rPr b="1"/>
              <a:t>dplyr announced </a:t>
            </a:r>
            <a:r>
              <a:rPr b="1">
                <a:latin typeface="Courier"/>
              </a:rPr>
              <a:t>by = join_by(index)</a:t>
            </a:r>
            <a:r>
              <a:rPr/>
              <a:t> → you forgot to name your key; both tables share an </a:t>
            </a:r>
            <a:r>
              <a:rPr>
                <a:latin typeface="Courier"/>
              </a:rPr>
              <a:t>index</a:t>
            </a:r>
            <a:r>
              <a:rPr/>
              <a:t> column.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https://dplyr.tidyverse.org/reference/mutate-joins.html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</a:t>
            </a:r>
            <a:r>
              <a:rPr sz="2000">
                <a:latin typeface="Courier"/>
              </a:rPr>
              <a:t>bfro_reports.csv</a:t>
            </a:r>
            <a:r>
              <a:rPr sz="2000"/>
              <a:t> and </a:t>
            </a:r>
            <a:r>
              <a:rPr sz="2000">
                <a:latin typeface="Courier"/>
              </a:rPr>
              <a:t>bfro_locations.csv</a:t>
            </a:r>
            <a:r>
              <a:rPr sz="2000"/>
              <a:t> were each incomplete on their own — one had no coordinates, the other had no context. </a:t>
            </a:r>
            <a:r>
              <a:rPr sz="2000">
                <a:latin typeface="Courier"/>
              </a:rPr>
              <a:t>bigfoot_joined.csv</a:t>
            </a:r>
            <a:r>
              <a:rPr sz="2000"/>
              <a:t> is what you get once a shared key ties them together, and it’s what you’ll load for the mapping worksheet.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12. Next: Worksheet 13 — mapping the sightings you just assembled.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17 — Joins: Combining Two Bigfoot Tables</dc:title>
  <dc:creator>Bill Perry</dc:creator>
  <cp:keywords/>
  <dc:description>Hands-on companion to the joins lecture. Over two days students combine the Bigfoot report text (bfro_reports.csv) with its coordinates (bfro_locations.csv) using left/inner/full joins and semi/anti joins, and build the exact table they will map next week.</dc:description>
  <dcterms:created xsi:type="dcterms:W3CDTF">2026-08-27T17:12:05Z</dcterms:created>
  <dcterms:modified xsi:type="dcterms:W3CDTF">2026-08-27T17:12:05Z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18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to build a map-ready dataset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9</vt:lpwstr>
  </property>
</Properties>
</file>