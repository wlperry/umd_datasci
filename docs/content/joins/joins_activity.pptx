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plyr.tidyverse.org/reference/mutate-joins.html" TargetMode="Externa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Worksheet — Joins: Combining Two Fisher Monitoring Tables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Keys, mutating joins, and filtering joins on a fisher reintroduction dataset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2026-08-27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Joins — Two Fisher Monitoring Tables into 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About the data (constructed for teaching)</a:t>
            </a:r>
          </a:p>
          <a:p>
            <a:pPr lvl="0" indent="0" marL="1270000">
              <a:buNone/>
            </a:pPr>
            <a:r>
              <a:rPr sz="2000"/>
              <a:t>Fishers (</a:t>
            </a:r>
            <a:r>
              <a:rPr sz="2000" i="1"/>
              <a:t>Pekania pennanti</a:t>
            </a:r>
            <a:r>
              <a:rPr sz="2000"/>
              <a:t>) — a large forest weasel — have been reintroduced to several US states from Canadian source populations. Monitoring produces exactly the shape of data joins are for: one table of the </a:t>
            </a:r>
            <a:r>
              <a:rPr sz="2000" b="1"/>
              <a:t>animals released</a:t>
            </a:r>
            <a:r>
              <a:rPr sz="2000"/>
              <a:t>, and a separate table of every </a:t>
            </a:r>
            <a:r>
              <a:rPr sz="2000" b="1"/>
              <a:t>field capture / collar event</a:t>
            </a:r>
            <a:r>
              <a:rPr sz="2000"/>
              <a:t>. The two files here are </a:t>
            </a:r>
            <a:r>
              <a:rPr sz="2000" b="1"/>
              <a:t>simulated</a:t>
            </a:r>
            <a:r>
              <a:rPr sz="2000"/>
              <a:t> — patterned on real programs (e.g. the Washington Cascades translocations), but the numbers are invented. Use them to learn joins.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Before you start — the data</a:t>
            </a:r>
          </a:p>
          <a:p>
            <a:pPr lvl="0" indent="0" marL="0">
              <a:buNone/>
            </a:pPr>
            <a:r>
              <a:rPr/>
              <a:t>Two files live in your </a:t>
            </a:r>
            <a:r>
              <a:rPr>
                <a:latin typeface="Courier"/>
              </a:rPr>
              <a:t>data/</a:t>
            </a:r>
            <a:r>
              <a:rPr/>
              <a:t> folder:</a:t>
            </a:r>
          </a:p>
          <a:p>
            <a:pPr lvl="0"/>
            <a:r>
              <a:rPr b="1">
                <a:latin typeface="Courier"/>
              </a:rPr>
              <a:t>fisher_individuals.csv</a:t>
            </a:r>
            <a:r>
              <a:rPr/>
              <a:t> — one row per released fisher: </a:t>
            </a:r>
            <a:r>
              <a:rPr>
                <a:latin typeface="Courier"/>
              </a:rPr>
              <a:t>sex</a:t>
            </a:r>
            <a:r>
              <a:rPr/>
              <a:t>, </a:t>
            </a:r>
            <a:r>
              <a:rPr>
                <a:latin typeface="Courier"/>
              </a:rPr>
              <a:t>age_class</a:t>
            </a:r>
            <a:r>
              <a:rPr/>
              <a:t>, </a:t>
            </a:r>
            <a:r>
              <a:rPr>
                <a:latin typeface="Courier"/>
              </a:rPr>
              <a:t>source</a:t>
            </a:r>
            <a:r>
              <a:rPr/>
              <a:t>, </a:t>
            </a:r>
            <a:r>
              <a:rPr>
                <a:latin typeface="Courier"/>
              </a:rPr>
              <a:t>site</a:t>
            </a:r>
            <a:r>
              <a:rPr/>
              <a:t> (release site), </a:t>
            </a:r>
            <a:r>
              <a:rPr>
                <a:latin typeface="Courier"/>
              </a:rPr>
              <a:t>release_date</a:t>
            </a:r>
            <a:r>
              <a:rPr/>
              <a:t>. Keyed by </a:t>
            </a:r>
            <a:r>
              <a:rPr>
                <a:latin typeface="Courier"/>
              </a:rPr>
              <a:t>fisher_id</a:t>
            </a:r>
            <a:r>
              <a:rPr/>
              <a:t>.</a:t>
            </a:r>
          </a:p>
          <a:p>
            <a:pPr lvl="0"/>
            <a:r>
              <a:rPr b="1">
                <a:latin typeface="Courier"/>
              </a:rPr>
              <a:t>fisher_captures.csv</a:t>
            </a:r>
            <a:r>
              <a:rPr/>
              <a:t> — one row per field capture event: </a:t>
            </a:r>
            <a:r>
              <a:rPr>
                <a:latin typeface="Courier"/>
              </a:rPr>
              <a:t>capture_date</a:t>
            </a:r>
            <a:r>
              <a:rPr/>
              <a:t>, </a:t>
            </a:r>
            <a:r>
              <a:rPr>
                <a:latin typeface="Courier"/>
              </a:rPr>
              <a:t>site</a:t>
            </a:r>
            <a:r>
              <a:rPr/>
              <a:t> (capture site), </a:t>
            </a:r>
            <a:r>
              <a:rPr>
                <a:latin typeface="Courier"/>
              </a:rPr>
              <a:t>mass_kg</a:t>
            </a:r>
            <a:r>
              <a:rPr/>
              <a:t>, </a:t>
            </a:r>
            <a:r>
              <a:rPr>
                <a:latin typeface="Courier"/>
              </a:rPr>
              <a:t>collar_id</a:t>
            </a:r>
            <a:r>
              <a:rPr/>
              <a:t>. Keyed by </a:t>
            </a:r>
            <a:r>
              <a:rPr>
                <a:latin typeface="Courier"/>
              </a:rPr>
              <a:t>animal_id</a:t>
            </a:r>
            <a:r>
              <a:rPr/>
              <a:t>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Today’s Objectives (a 2-day worksheet)</a:t>
            </a:r>
          </a:p>
          <a:p>
            <a:pPr lvl="0" indent="-342900" marL="342900">
              <a:buAutoNum type="arabicPeriod"/>
            </a:pPr>
            <a:r>
              <a:rPr/>
              <a:t>Find the key that links the two tables</a:t>
            </a:r>
          </a:p>
          <a:p>
            <a:pPr lvl="0" indent="-342900" marL="342900">
              <a:buAutoNum type="arabicPeriod"/>
            </a:pPr>
            <a:r>
              <a:rPr/>
              <a:t>Join them with </a:t>
            </a:r>
            <a:r>
              <a:rPr>
                <a:latin typeface="Courier"/>
              </a:rPr>
              <a:t>left_join()</a:t>
            </a:r>
            <a:r>
              <a:rPr/>
              <a:t> when the key columns are named differently</a:t>
            </a:r>
          </a:p>
          <a:p>
            <a:pPr lvl="0" indent="-342900" marL="342900">
              <a:buAutoNum type="arabicPeriod"/>
            </a:pPr>
            <a:r>
              <a:rPr/>
              <a:t>Compare </a:t>
            </a:r>
            <a:r>
              <a:rPr>
                <a:latin typeface="Courier"/>
              </a:rPr>
              <a:t>inner</a:t>
            </a:r>
            <a:r>
              <a:rPr/>
              <a:t>, </a:t>
            </a:r>
            <a:r>
              <a:rPr>
                <a:latin typeface="Courier"/>
              </a:rPr>
              <a:t>left</a:t>
            </a:r>
            <a:r>
              <a:rPr/>
              <a:t>, and </a:t>
            </a:r>
            <a:r>
              <a:rPr>
                <a:latin typeface="Courier"/>
              </a:rPr>
              <a:t>full</a:t>
            </a:r>
            <a:r>
              <a:rPr/>
              <a:t> joins</a:t>
            </a:r>
          </a:p>
          <a:p>
            <a:pPr lvl="0" indent="-342900" marL="342900">
              <a:buAutoNum type="arabicPeriod"/>
            </a:pPr>
            <a:r>
              <a:rPr/>
              <a:t>Use </a:t>
            </a:r>
            <a:r>
              <a:rPr>
                <a:latin typeface="Courier"/>
              </a:rPr>
              <a:t>semi_join()</a:t>
            </a:r>
            <a:r>
              <a:rPr/>
              <a:t> / </a:t>
            </a:r>
            <a:r>
              <a:rPr>
                <a:latin typeface="Courier"/>
              </a:rPr>
              <a:t>anti_join()</a:t>
            </a:r>
            <a:r>
              <a:rPr/>
              <a:t> to filter, and build one analysis-ready table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sz="2000" b="1"/>
              <a:t>How to use this worksheet</a:t>
            </a:r>
          </a:p>
          <a:p>
            <a:pPr lvl="0"/>
            <a:r>
              <a:rPr sz="2000"/>
              <a:t>Work through the parts in order. Type the code into a new R script and run it line by line.</a:t>
            </a:r>
          </a:p>
          <a:p>
            <a:pPr lvl="0"/>
            <a:r>
              <a:rPr sz="2000"/>
              <a:t>Blocks marked </a:t>
            </a:r>
            <a:r>
              <a:rPr sz="2000" b="1"/>
              <a:t>▶ Run this</a:t>
            </a:r>
            <a:r>
              <a:rPr sz="2000"/>
              <a:t> should be executed as written.</a:t>
            </a:r>
          </a:p>
          <a:p>
            <a:pPr lvl="0"/>
            <a:r>
              <a:rPr sz="2000"/>
              <a:t>Blocks marked </a:t>
            </a:r>
            <a:r>
              <a:rPr sz="2000" b="1"/>
              <a:t>✏️ Your turn</a:t>
            </a:r>
            <a:r>
              <a:rPr sz="2000"/>
              <a:t> ask you to write, modify, or interpret.</a:t>
            </a:r>
          </a:p>
          <a:p>
            <a:pPr lvl="0"/>
            <a:r>
              <a:rPr sz="2000" b="1"/>
              <a:t>Day 1 = Parts 1–6. Day 2 = Parts 7–12.</a:t>
            </a:r>
          </a:p>
          <a:p>
            <a:pPr lvl="0" indent="0" marL="1270000">
              <a:buNone/>
            </a:pPr>
            <a:r>
              <a:rPr sz="2000" b="1"/>
              <a:t>🔮 Predict before you run — and type, don’t paste</a:t>
            </a:r>
          </a:p>
          <a:p>
            <a:pPr lvl="0" indent="0" marL="1270000">
              <a:buNone/>
            </a:pPr>
            <a:r>
              <a:rPr sz="2000"/>
              <a:t>Before every join, write down the row count you expect. </a:t>
            </a:r>
            <a:r>
              <a:rPr sz="2000">
                <a:latin typeface="Courier"/>
              </a:rPr>
              <a:t>fisher_captures.csv</a:t>
            </a:r>
            <a:r>
              <a:rPr sz="2000"/>
              <a:t> has more rows than </a:t>
            </a:r>
            <a:r>
              <a:rPr sz="2000">
                <a:latin typeface="Courier"/>
              </a:rPr>
              <a:t>fisher_individuals.csv</a:t>
            </a:r>
            <a:r>
              <a:rPr sz="2000"/>
              <a:t> (a fisher can be recaptured many times), and a few capture events are of </a:t>
            </a:r>
            <a:r>
              <a:rPr sz="2000" b="1"/>
              <a:t>unmarked</a:t>
            </a:r>
            <a:r>
              <a:rPr sz="2000"/>
              <a:t> animals with no matching individual — a wrong guess almost always means you misjudged the matching, not that R did something strange.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🧩 Chunk 1 — Two tables &amp; a key </a:t>
            </a:r>
            <a:r>
              <a:rPr sz="2000" b="1" i="1"/>
              <a:t>(Day 1, after lecture Chunk 1)</a:t>
            </a:r>
          </a:p>
          <a:p>
            <a:pPr lvl="0" indent="0" marL="1270000">
              <a:buNone/>
            </a:pPr>
            <a:r>
              <a:rPr sz="2000"/>
              <a:t>Parts 1–3: load both tables and clean the key.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Load both tables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individuals_df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"data/fisher_individuals.csv"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captures_df   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"data/fisher_captures.csv"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(individuals_df)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(captures_df)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</a:p>
          <a:p>
            <a:pPr lvl="0" indent="0">
              <a:buNone/>
            </a:pPr>
            <a:r>
              <a:rPr>
                <a:latin typeface="Courier"/>
              </a:rPr>
              <a:t>individuals_df: rows =        cols =
captures_df:    rows =        cols =
Which table has more rows? Why might that be?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Find the key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individuals_df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(fisher_id, sex, site, release_date)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captures_df   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(animal_id, capture_date, site, mass_kg)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What column links the two tables, and what is it called in each?</a:t>
            </a:r>
          </a:p>
          <a:p>
            <a:pPr lvl="0" indent="0">
              <a:buNone/>
            </a:pPr>
            <a:r>
              <a:rPr>
                <a:latin typeface="Courier"/>
              </a:rPr>
              <a:t>Key in individuals_df:
Key in captures_df:
Are the names the same?  Y / N
Both tables ALSO have a `site` column — do those mean the same thing? (look again)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Clean the key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capture key is lowercase ("f07"); the individual key is "F07"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(animal_id)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captures_df &lt;- 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animal_id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str_to_upper</a:t>
            </a:r>
            <a:r>
              <a:rPr>
                <a:solidFill>
                  <a:srgbClr val="003B4F"/>
                </a:solidFill>
                <a:latin typeface="Courier"/>
              </a:rPr>
              <a:t>(animal_id))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n_distinct</a:t>
            </a:r>
            <a:r>
              <a:rPr>
                <a:solidFill>
                  <a:srgbClr val="003B4F"/>
                </a:solidFill>
                <a:latin typeface="Courier"/>
              </a:rPr>
              <a:t>(individuals_df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fisher_id)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n_distinct</a:t>
            </a:r>
            <a:r>
              <a:rPr>
                <a:solidFill>
                  <a:srgbClr val="003B4F"/>
                </a:solidFill>
                <a:latin typeface="Courier"/>
              </a:rPr>
              <a:t>(captures_df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animal_id)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</a:t>
            </a:r>
            <a:r>
              <a:rPr>
                <a:latin typeface="Courier"/>
              </a:rPr>
              <a:t>animal_id</a:t>
            </a:r>
            <a:r>
              <a:rPr/>
              <a:t> was stored as </a:t>
            </a:r>
            <a:r>
              <a:rPr>
                <a:latin typeface="Courier"/>
              </a:rPr>
              <a:t>f07</a:t>
            </a:r>
            <a:r>
              <a:rPr/>
              <a:t> but </a:t>
            </a:r>
            <a:r>
              <a:rPr>
                <a:latin typeface="Courier"/>
              </a:rPr>
              <a:t>fisher_id</a:t>
            </a:r>
            <a:r>
              <a:rPr/>
              <a:t> is </a:t>
            </a:r>
            <a:r>
              <a:rPr>
                <a:latin typeface="Courier"/>
              </a:rPr>
              <a:t>F07</a:t>
            </a:r>
            <a:r>
              <a:rPr/>
              <a:t>. Why must we fix the case before joining? What is the </a:t>
            </a:r>
            <a:r>
              <a:rPr>
                <a:latin typeface="Courier"/>
              </a:rPr>
              <a:t>UNK</a:t>
            </a:r>
            <a:r>
              <a:rPr/>
              <a:t> value, and why is it not a real fisher?</a:t>
            </a:r>
          </a:p>
          <a:p>
            <a:pPr lvl="0" indent="0">
              <a:buNone/>
            </a:pPr>
            <a:r>
              <a:rPr>
                <a:latin typeface="Courier"/>
              </a:rPr>
              <a:t>Your answer: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🧩 Chunk 2 — Your first join </a:t>
            </a:r>
            <a:r>
              <a:rPr sz="2000" b="1" i="1"/>
              <a:t>(Day 1, after lecture Chunk 2)</a:t>
            </a:r>
          </a:p>
          <a:p>
            <a:pPr lvl="0" indent="0" marL="1270000">
              <a:buNone/>
            </a:pPr>
            <a:r>
              <a:rPr sz="2000"/>
              <a:t>Parts 4–6: the left join and the accidental-key trap.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The left join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🔮 </a:t>
            </a:r>
            <a:r>
              <a:rPr sz="2000" b="1"/>
              <a:t>Predict first:</a:t>
            </a:r>
            <a:r>
              <a:rPr sz="2000"/>
              <a:t> You will keep </a:t>
            </a:r>
            <a:r>
              <a:rPr sz="2000" b="1"/>
              <a:t>every capture event</a:t>
            </a:r>
            <a:r>
              <a:rPr sz="2000"/>
              <a:t> and attach who the animal is. How many rows will the result have, and roughly how many will have a missing </a:t>
            </a:r>
            <a:r>
              <a:rPr sz="2000">
                <a:latin typeface="Courier"/>
              </a:rPr>
              <a:t>sex</a:t>
            </a:r>
            <a:r>
              <a:rPr sz="2000"/>
              <a:t> (because the animal was unmarked)?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captures_joined &lt;- 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(captures_joined)                </a:t>
            </a:r>
            <a:r>
              <a:rPr>
                <a:solidFill>
                  <a:srgbClr val="5E5E5E"/>
                </a:solidFill>
                <a:latin typeface="Courier"/>
              </a:rPr>
              <a:t># rows kept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(captures_joined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sex))      </a:t>
            </a:r>
            <a:r>
              <a:rPr>
                <a:solidFill>
                  <a:srgbClr val="5E5E5E"/>
                </a:solidFill>
                <a:latin typeface="Courier"/>
              </a:rPr>
              <a:t># capture events we can't attribute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</a:p>
          <a:p>
            <a:pPr lvl="0" indent="0">
              <a:buNone/>
            </a:pPr>
            <a:r>
              <a:rPr>
                <a:latin typeface="Courier"/>
              </a:rPr>
              <a:t>Total rows after left_join:
Rows WITH an identified individual:
Rows with NA individual info:</a:t>
            </a:r>
          </a:p>
          <a:p>
            <a:pPr lvl="0" indent="0" marL="1270000">
              <a:buNone/>
            </a:pPr>
            <a:r>
              <a:rPr sz="2000"/>
              <a:t>Note the join gives you two </a:t>
            </a:r>
            <a:r>
              <a:rPr sz="2000">
                <a:latin typeface="Courier"/>
              </a:rPr>
              <a:t>site</a:t>
            </a:r>
            <a:r>
              <a:rPr sz="2000"/>
              <a:t> columns — </a:t>
            </a:r>
            <a:r>
              <a:rPr sz="2000">
                <a:latin typeface="Courier"/>
              </a:rPr>
              <a:t>site.x</a:t>
            </a:r>
            <a:r>
              <a:rPr sz="2000"/>
              <a:t> (capture site) and </a:t>
            </a:r>
            <a:r>
              <a:rPr sz="2000">
                <a:latin typeface="Courier"/>
              </a:rPr>
              <a:t>site.y</a:t>
            </a:r>
            <a:r>
              <a:rPr sz="2000"/>
              <a:t> (release site). Real fishers move; those are genuinely different.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The accidental-key trap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 (on purpose — watch the message):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Forget by = ... and see what dplyr does 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(individuals_df)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What column did dplyr announce it was joining on? Why is joining on </a:t>
            </a:r>
            <a:r>
              <a:rPr>
                <a:latin typeface="Courier"/>
              </a:rPr>
              <a:t>site</a:t>
            </a:r>
            <a:r>
              <a:rPr/>
              <a:t> completely wrong here? (What does it match — a capture event to the </a:t>
            </a:r>
            <a:r>
              <a:rPr i="1"/>
              <a:t>right animal</a:t>
            </a:r>
            <a:r>
              <a:rPr/>
              <a:t>, or to </a:t>
            </a:r>
            <a:r>
              <a:rPr i="1"/>
              <a:t>every animal released at that site</a:t>
            </a:r>
            <a:r>
              <a:rPr/>
              <a:t>?)</a:t>
            </a:r>
          </a:p>
          <a:p>
            <a:pPr lvl="0" indent="0">
              <a:buNone/>
            </a:pPr>
            <a:r>
              <a:rPr>
                <a:latin typeface="Courier"/>
              </a:rPr>
              <a:t>dplyr joined on:
Why that's wrong:
Row count of this accidental join vs. Part 4's correct join:</a:t>
            </a:r>
          </a:p>
          <a:p>
            <a:pPr lvl="0" indent="0" marL="1270000">
              <a:buNone/>
            </a:pPr>
            <a:r>
              <a:rPr sz="2000"/>
              <a:t>⚠️ </a:t>
            </a:r>
            <a:r>
              <a:rPr sz="2000" b="1"/>
              <a:t>Watch out!</a:t>
            </a:r>
            <a:r>
              <a:rPr sz="2000"/>
              <a:t> When dplyr prints </a:t>
            </a:r>
            <a:r>
              <a:rPr sz="2000" i="1"/>
              <a:t>“Joining with </a:t>
            </a:r>
            <a:r>
              <a:rPr sz="2000" i="1">
                <a:latin typeface="Courier"/>
              </a:rPr>
              <a:t>by = join_by(site)</a:t>
            </a:r>
            <a:r>
              <a:rPr sz="2000" i="1"/>
              <a:t>”</a:t>
            </a:r>
            <a:r>
              <a:rPr sz="2000"/>
              <a:t> and you didn’t choose that column, stop and name your real key.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Name the key every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 (the correct join):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captures_joined &lt;- 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captures_joined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(capture_event, animal_id, capture_date, sex, age_class)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Look at the first rows — do any already show </a:t>
            </a:r>
            <a:r>
              <a:rPr>
                <a:latin typeface="Courier"/>
              </a:rPr>
              <a:t>NA</a:t>
            </a:r>
            <a:r>
              <a:rPr/>
              <a:t> for </a:t>
            </a:r>
            <a:r>
              <a:rPr>
                <a:latin typeface="Courier"/>
              </a:rPr>
              <a:t>sex</a:t>
            </a:r>
            <a:r>
              <a:rPr/>
              <a:t>? What does that mean about that capture event?</a:t>
            </a:r>
          </a:p>
          <a:p>
            <a:pPr lvl="0" indent="0">
              <a:buNone/>
            </a:pPr>
            <a:r>
              <a:rPr>
                <a:latin typeface="Courier"/>
              </a:rPr>
              <a:t>Your answer:</a:t>
            </a:r>
          </a:p>
          <a:p>
            <a:pPr lvl="0" indent="0" marL="1270000">
              <a:buNone/>
            </a:pPr>
            <a:r>
              <a:rPr sz="2000"/>
              <a:t>🛑 </a:t>
            </a:r>
            <a:r>
              <a:rPr sz="2000" b="1"/>
              <a:t>End of Day 1.</a:t>
            </a:r>
            <a:r>
              <a:rPr sz="2000"/>
              <a:t> You can join two tables on a named key. Day 2: the rest of the join family.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🧩 Chunk 3 — The join family </a:t>
            </a:r>
            <a:r>
              <a:rPr sz="2000" b="1" i="1"/>
              <a:t>(Day 2, after lecture Chunk 3)</a:t>
            </a:r>
          </a:p>
          <a:p>
            <a:pPr lvl="0" indent="0" marL="1270000">
              <a:buNone/>
            </a:pPr>
            <a:r>
              <a:rPr sz="2000"/>
              <a:t>Parts 7–9: inner vs left vs full.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Run all three joins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🔮 </a:t>
            </a:r>
            <a:r>
              <a:rPr sz="2000" b="1"/>
              <a:t>Predict first:</a:t>
            </a:r>
            <a:r>
              <a:rPr sz="2000"/>
              <a:t> Rank these three by row count, most to fewest: </a:t>
            </a:r>
            <a:r>
              <a:rPr sz="2000">
                <a:latin typeface="Courier"/>
              </a:rPr>
              <a:t>inner_join</a:t>
            </a:r>
            <a:r>
              <a:rPr sz="2000"/>
              <a:t>, </a:t>
            </a:r>
            <a:r>
              <a:rPr sz="2000">
                <a:latin typeface="Courier"/>
              </a:rPr>
              <a:t>left_join</a:t>
            </a:r>
            <a:r>
              <a:rPr sz="2000"/>
              <a:t>, </a:t>
            </a:r>
            <a:r>
              <a:rPr sz="2000">
                <a:latin typeface="Courier"/>
              </a:rPr>
              <a:t>full_join</a:t>
            </a:r>
            <a:r>
              <a:rPr sz="2000"/>
              <a:t>.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key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inner &lt;- </a:t>
            </a:r>
            <a:r>
              <a:rPr>
                <a:solidFill>
                  <a:srgbClr val="4758AB"/>
                </a:solidFill>
                <a:latin typeface="Courier"/>
              </a:rPr>
              <a:t>inner_join</a:t>
            </a:r>
            <a:r>
              <a:rPr>
                <a:solidFill>
                  <a:srgbClr val="003B4F"/>
                </a:solidFill>
                <a:latin typeface="Courier"/>
              </a:rPr>
              <a:t>(captures_df, 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key)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left  &lt;-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 (captures_df, 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key)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full  &lt;- </a:t>
            </a:r>
            <a:r>
              <a:rPr>
                <a:solidFill>
                  <a:srgbClr val="4758AB"/>
                </a:solidFill>
                <a:latin typeface="Courier"/>
              </a:rPr>
              <a:t>full_join</a:t>
            </a:r>
            <a:r>
              <a:rPr>
                <a:solidFill>
                  <a:srgbClr val="003B4F"/>
                </a:solidFill>
                <a:latin typeface="Courier"/>
              </a:rPr>
              <a:t> (captures_df, 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key)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inner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(inner), </a:t>
            </a:r>
            <a:r>
              <a:rPr>
                <a:solidFill>
                  <a:srgbClr val="657422"/>
                </a:solidFill>
                <a:latin typeface="Courier"/>
              </a:rPr>
              <a:t>left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(left), </a:t>
            </a:r>
            <a:r>
              <a:rPr>
                <a:solidFill>
                  <a:srgbClr val="657422"/>
                </a:solidFill>
                <a:latin typeface="Courier"/>
              </a:rPr>
              <a:t>full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(full))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</a:p>
          <a:p>
            <a:pPr lvl="0" indent="0">
              <a:buNone/>
            </a:pPr>
            <a:r>
              <a:rPr>
                <a:latin typeface="Courier"/>
              </a:rPr>
              <a:t>inner rows =        left rows =        full rows =
Was your ranking right?  Y / N
Why does full have MORE rows than left? (which fishers does it add back?)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What each join dropped or kept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Fill in what each join does, in your own words.</a:t>
            </a:r>
          </a:p>
          <a:p>
            <a:pPr lvl="0" indent="0">
              <a:buNone/>
            </a:pPr>
            <a:r>
              <a:rPr>
                <a:latin typeface="Courier"/>
              </a:rPr>
              <a:t>inner_join keeps:
left_join keeps:
full_join keeps:
Which capture events does inner_join DROP that left_join keeps?
Which fishers does full_join ADD that neither inner nor left includes?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9 · Pick the right join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You want a table of </a:t>
            </a:r>
            <a:r>
              <a:rPr b="1"/>
              <a:t>every capture event</a:t>
            </a:r>
            <a:r>
              <a:rPr/>
              <a:t> for a survival analysis, keeping the event even if the animal was unmarked. Which join do you use, and why?</a:t>
            </a:r>
          </a:p>
          <a:p>
            <a:pPr lvl="0" indent="0">
              <a:buNone/>
            </a:pPr>
            <a:r>
              <a:rPr>
                <a:latin typeface="Courier"/>
              </a:rPr>
              <a:t>Join:
Why: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decide which rows you can’t afford to drop first — an unmarked-animal capture is still a capture, so an event-level analysis calls for </a:t>
            </a:r>
            <a:r>
              <a:rPr sz="2000">
                <a:latin typeface="Courier"/>
              </a:rPr>
              <a:t>left_join</a:t>
            </a:r>
            <a:r>
              <a:rPr sz="2000"/>
              <a:t> (captures on the left), not </a:t>
            </a:r>
            <a:r>
              <a:rPr sz="2000">
                <a:latin typeface="Courier"/>
              </a:rPr>
              <a:t>inner_join</a:t>
            </a:r>
            <a:r>
              <a:rPr sz="2000"/>
              <a:t>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🧩 Chunk 4 — Filtering joins &amp; the payoff </a:t>
            </a:r>
            <a:r>
              <a:rPr sz="2000" b="1" i="1"/>
              <a:t>(Day 2, after lecture Chunk 4)</a:t>
            </a:r>
          </a:p>
          <a:p>
            <a:pPr lvl="0" indent="0" marL="1270000">
              <a:buNone/>
            </a:pPr>
            <a:r>
              <a:rPr sz="2000"/>
              <a:t>Parts 10–12: anti/semi joins and the analysis-ready table.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10 · </a:t>
            </a:r>
            <a:r>
              <a:rPr>
                <a:latin typeface="Courier"/>
              </a:rPr>
              <a:t>anti_join()</a:t>
            </a:r>
            <a:r>
              <a:rPr/>
              <a:t> — what’s missing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🔮 </a:t>
            </a:r>
            <a:r>
              <a:rPr sz="2000" b="1"/>
              <a:t>Predict first (two ways):</a:t>
            </a:r>
            <a:r>
              <a:rPr sz="2000"/>
              <a:t> (a) how many </a:t>
            </a:r>
            <a:r>
              <a:rPr sz="2000" b="1"/>
              <a:t>capture events</a:t>
            </a:r>
            <a:r>
              <a:rPr sz="2000"/>
              <a:t> have no matching individual? (b) how many </a:t>
            </a:r>
            <a:r>
              <a:rPr sz="2000" b="1"/>
              <a:t>released fishers</a:t>
            </a:r>
            <a:r>
              <a:rPr sz="2000"/>
              <a:t> were never recaptured?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(a) capture events of unmarked animals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unmarked &lt;- 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anti_join</a:t>
            </a:r>
            <a:r>
              <a:rPr>
                <a:solidFill>
                  <a:srgbClr val="003B4F"/>
                </a:solidFill>
                <a:latin typeface="Courier"/>
              </a:rPr>
              <a:t>(individuals_df,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(unmarked)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(b) released fishers with no capture record — anti_join the OTHER direction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never_seen &lt;- individuals_df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anti_join</a:t>
            </a:r>
            <a:r>
              <a:rPr>
                <a:solidFill>
                  <a:srgbClr val="003B4F"/>
                </a:solidFill>
                <a:latin typeface="Courier"/>
              </a:rPr>
              <a:t>(captures_df,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never_seen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(fisher_id, sex, site, release_date)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</a:p>
          <a:p>
            <a:pPr lvl="0" indent="0">
              <a:buNone/>
            </a:pPr>
            <a:r>
              <a:rPr>
                <a:latin typeface="Courier"/>
              </a:rPr>
              <a:t>Capture events with no individual:
Released fishers never recaptured:
Did anti_join ADD any columns, or just filter rows?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11 · </a:t>
            </a:r>
            <a:r>
              <a:rPr>
                <a:latin typeface="Courier"/>
              </a:rPr>
              <a:t>semi_join()</a:t>
            </a:r>
            <a:r>
              <a:rPr/>
              <a:t> — keep only matches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Released fishers that WERE recaptured at least once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recaptured &lt;- individuals_df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semi_join</a:t>
            </a:r>
            <a:r>
              <a:rPr>
                <a:solidFill>
                  <a:srgbClr val="003B4F"/>
                </a:solidFill>
                <a:latin typeface="Courier"/>
              </a:rPr>
              <a:t>(captures_df,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(recaptured)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How is </a:t>
            </a:r>
            <a:r>
              <a:rPr>
                <a:latin typeface="Courier"/>
              </a:rPr>
              <a:t>semi_join</a:t>
            </a:r>
            <a:r>
              <a:rPr/>
              <a:t> different from </a:t>
            </a:r>
            <a:r>
              <a:rPr>
                <a:latin typeface="Courier"/>
              </a:rPr>
              <a:t>inner_join</a:t>
            </a:r>
            <a:r>
              <a:rPr/>
              <a:t>? (Hint: look at the </a:t>
            </a:r>
            <a:r>
              <a:rPr i="1"/>
              <a:t>columns</a:t>
            </a:r>
            <a:r>
              <a:rPr/>
              <a:t>, not just the rows.)</a:t>
            </a:r>
          </a:p>
          <a:p>
            <a:pPr lvl="0" indent="0">
              <a:buNone/>
            </a:pPr>
            <a:r>
              <a:rPr>
                <a:latin typeface="Courier"/>
              </a:rPr>
              <a:t>Your answer:
recaptured rows + never_seen rows should equal nrow(individuals_df) — does it?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12 · Build one analysis-ready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Every KNOWN-individual capture, with the fisher's attributes attached 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fisher_analysis &lt;- 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inner_join</a:t>
            </a:r>
            <a:r>
              <a:rPr>
                <a:solidFill>
                  <a:srgbClr val="003B4F"/>
                </a:solidFill>
                <a:latin typeface="Courier"/>
              </a:rPr>
              <a:t>(individuals_df,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days_since_release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(capture_date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release_date))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(animal_id, sex, age_class, capture_date, days_since_release,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capture_site =</a:t>
            </a:r>
            <a:r>
              <a:rPr>
                <a:solidFill>
                  <a:srgbClr val="003B4F"/>
                </a:solidFill>
                <a:latin typeface="Courier"/>
              </a:rPr>
              <a:t> site.x, </a:t>
            </a:r>
            <a:r>
              <a:rPr>
                <a:solidFill>
                  <a:srgbClr val="657422"/>
                </a:solidFill>
                <a:latin typeface="Courier"/>
              </a:rPr>
              <a:t>release_site =</a:t>
            </a:r>
            <a:r>
              <a:rPr>
                <a:solidFill>
                  <a:srgbClr val="003B4F"/>
                </a:solidFill>
                <a:latin typeface="Courier"/>
              </a:rPr>
              <a:t> site.y, mass_kg)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fisher_analysis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Save it for later ------------------------------------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write_csv</a:t>
            </a:r>
            <a:r>
              <a:rPr>
                <a:solidFill>
                  <a:srgbClr val="003B4F"/>
                </a:solidFill>
                <a:latin typeface="Courier"/>
              </a:rPr>
              <a:t>(fisher_analysis, </a:t>
            </a:r>
            <a:r>
              <a:rPr>
                <a:solidFill>
                  <a:srgbClr val="20794D"/>
                </a:solidFill>
                <a:latin typeface="Courier"/>
              </a:rPr>
              <a:t>"data/fisher_joined.csv"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How many rows are in your analysis table? Why is it smaller than </a:t>
            </a:r>
            <a:r>
              <a:rPr>
                <a:latin typeface="Courier"/>
              </a:rPr>
              <a:t>captures_df</a:t>
            </a:r>
            <a:r>
              <a:rPr/>
              <a:t>, and why did we use </a:t>
            </a:r>
            <a:r>
              <a:rPr>
                <a:latin typeface="Courier"/>
              </a:rPr>
              <a:t>inner_join</a:t>
            </a:r>
            <a:r>
              <a:rPr/>
              <a:t> here instead of </a:t>
            </a:r>
            <a:r>
              <a:rPr>
                <a:latin typeface="Courier"/>
              </a:rPr>
              <a:t>left_join</a:t>
            </a:r>
            <a:r>
              <a:rPr/>
              <a:t>?</a:t>
            </a:r>
          </a:p>
          <a:p>
            <a:pPr lvl="0" indent="0">
              <a:buNone/>
            </a:pPr>
            <a:r>
              <a:rPr>
                <a:latin typeface="Courier"/>
              </a:rPr>
              <a:t>Analysis-table rows:
Difference from captures_df, and why:
Why inner_join and not left_join for THIS table: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13 · Review and checkpoint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should now be able to:</a:t>
            </a:r>
          </a:p>
          <a:p>
            <a:pPr lvl="0"/>
            <a:r>
              <a:rPr/>
              <a:t>☐ Explain what a key is and why it must be unique and same-type</a:t>
            </a:r>
          </a:p>
          <a:p>
            <a:pPr lvl="0"/>
            <a:r>
              <a:rPr/>
              <a:t>☐ Join two tables whose key columns are named differently (</a:t>
            </a:r>
            <a:r>
              <a:rPr>
                <a:latin typeface="Courier"/>
              </a:rPr>
              <a:t>by = c("a" = "b")</a:t>
            </a:r>
            <a:r>
              <a:rPr/>
              <a:t>)</a:t>
            </a:r>
          </a:p>
          <a:p>
            <a:pPr lvl="0"/>
            <a:r>
              <a:rPr/>
              <a:t>☐ Use </a:t>
            </a:r>
            <a:r>
              <a:rPr>
                <a:latin typeface="Courier"/>
              </a:rPr>
              <a:t>left_join</a:t>
            </a:r>
            <a:r>
              <a:rPr/>
              <a:t>, </a:t>
            </a:r>
            <a:r>
              <a:rPr>
                <a:latin typeface="Courier"/>
              </a:rPr>
              <a:t>inner_join</a:t>
            </a:r>
            <a:r>
              <a:rPr/>
              <a:t>, </a:t>
            </a:r>
            <a:r>
              <a:rPr>
                <a:latin typeface="Courier"/>
              </a:rPr>
              <a:t>full_join</a:t>
            </a:r>
            <a:r>
              <a:rPr/>
              <a:t> and predict their row counts</a:t>
            </a:r>
          </a:p>
          <a:p>
            <a:pPr lvl="0"/>
            <a:r>
              <a:rPr/>
              <a:t>☐ Use </a:t>
            </a:r>
            <a:r>
              <a:rPr>
                <a:latin typeface="Courier"/>
              </a:rPr>
              <a:t>anti_join</a:t>
            </a:r>
            <a:r>
              <a:rPr/>
              <a:t> to find unmatched rows and </a:t>
            </a:r>
            <a:r>
              <a:rPr>
                <a:latin typeface="Courier"/>
              </a:rPr>
              <a:t>semi_join</a:t>
            </a:r>
            <a:r>
              <a:rPr/>
              <a:t> to keep matched rows</a:t>
            </a:r>
          </a:p>
          <a:p>
            <a:pPr lvl="0"/>
            <a:r>
              <a:rPr/>
              <a:t>☐ Recognize the accidental-</a:t>
            </a:r>
            <a:r>
              <a:rPr>
                <a:latin typeface="Courier"/>
              </a:rPr>
              <a:t>site</a:t>
            </a:r>
            <a:r>
              <a:rPr/>
              <a:t>-join bug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 — before you move on:</a:t>
            </a:r>
            <a:r>
              <a:rPr/>
              <a:t> Run your whole script top to bottom. Does it run cleanly?</a:t>
            </a:r>
          </a:p>
          <a:p>
            <a:pPr lvl="0" indent="0">
              <a:buNone/>
            </a:pPr>
            <a:r>
              <a:rPr>
                <a:latin typeface="Courier"/>
              </a:rPr>
              <a:t>Ran cleanly?  Y / N
If not, what error appeared: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14 · Going further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Optional — do this if you finish early.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Capture effort by site and sex</a:t>
            </a:r>
          </a:p>
          <a:p>
            <a:pPr lvl="0" indent="0" marL="0">
              <a:buNone/>
            </a:pPr>
            <a:r>
              <a:rPr b="1"/>
              <a:t>▶ Try this:</a:t>
            </a:r>
            <a:r>
              <a:rPr/>
              <a:t> join, then count capture events per release site per sex.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inner_join</a:t>
            </a:r>
            <a:r>
              <a:rPr>
                <a:solidFill>
                  <a:srgbClr val="003B4F"/>
                </a:solidFill>
                <a:latin typeface="Courier"/>
              </a:rPr>
              <a:t>(individuals_df,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(site.y, sex)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5E5E5E"/>
                </a:solidFill>
                <a:latin typeface="Courier"/>
              </a:rPr>
              <a:t># site.y = release site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(n))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Which release site + sex combination has the most capture events? Does that tell you about the animals, or about where crews spent time?</a:t>
            </a:r>
          </a:p>
          <a:p>
            <a:pPr lvl="0" indent="0">
              <a:buNone/>
            </a:pPr>
            <a:r>
              <a:rPr>
                <a:latin typeface="Courier"/>
              </a:rPr>
              <a:t>Your answer: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Recapture count per fisher</a:t>
            </a:r>
          </a:p>
          <a:p>
            <a:pPr lvl="0" indent="0" marL="0">
              <a:buNone/>
            </a:pPr>
            <a:r>
              <a:rPr b="1"/>
              <a:t>▶ Try this:</a:t>
            </a:r>
            <a:r>
              <a:rPr/>
              <a:t> how many times was each </a:t>
            </a:r>
            <a:r>
              <a:rPr i="1"/>
              <a:t>identified</a:t>
            </a:r>
            <a:r>
              <a:rPr/>
              <a:t> fisher caught?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semi_join</a:t>
            </a:r>
            <a:r>
              <a:rPr>
                <a:solidFill>
                  <a:srgbClr val="003B4F"/>
                </a:solidFill>
                <a:latin typeface="Courier"/>
              </a:rPr>
              <a:t>(individuals_df,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(animal_id, </a:t>
            </a:r>
            <a:r>
              <a:rPr>
                <a:solidFill>
                  <a:srgbClr val="657422"/>
                </a:solidFill>
                <a:latin typeface="Courier"/>
              </a:rPr>
              <a:t>sort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Most-recaptured fisher and its count:
Number of fishers caught exactly once: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Extension — out of class (~30–40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Turn this in with your worksheet. In class you joined two tables that were each incomplete on their own. Now you check </a:t>
            </a:r>
            <a:r>
              <a:rPr b="1" i="1"/>
              <a:t>how complete</a:t>
            </a:r>
            <a:r>
              <a:rPr i="1"/>
              <a:t> the join really is — and then tell me the </a:t>
            </a:r>
            <a:r>
              <a:rPr b="1" i="1"/>
              <a:t>one thing that surprised you most</a:t>
            </a:r>
            <a:r>
              <a:rPr i="1"/>
              <a:t>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Only E3 (the “most surprising thing”) is graded.</a:t>
            </a:r>
            <a:r>
              <a:rPr sz="2000"/>
              <a:t> E1 and E2 are the work that gets you there — do them, but the grade is on the write-up. E3 must be </a:t>
            </a:r>
            <a:r>
              <a:rPr sz="2000" b="1"/>
              <a:t>handwritten</a:t>
            </a:r>
            <a:r>
              <a:rPr sz="2000"/>
              <a:t>, photographed, and embedded (</a:t>
            </a:r>
            <a:r>
              <a:rPr sz="2000">
                <a:latin typeface="Courier"/>
              </a:rPr>
              <a:t>![caption](my_photo.jpg)</a:t>
            </a:r>
            <a:r>
              <a:rPr sz="2000"/>
              <a:t>).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E1 · How complete is the join? (not graded — do it anyway)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Capture events with NO matching individual (unmarked animals)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no_id &lt;- </a:t>
            </a:r>
            <a:r>
              <a:rPr>
                <a:solidFill>
                  <a:srgbClr val="4758AB"/>
                </a:solidFill>
                <a:latin typeface="Courier"/>
              </a:rPr>
              <a:t>anti_join</a:t>
            </a:r>
            <a:r>
              <a:rPr>
                <a:solidFill>
                  <a:srgbClr val="003B4F"/>
                </a:solidFill>
                <a:latin typeface="Courier"/>
              </a:rPr>
              <a:t>(captures_df, individuals_df,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(no_id)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(captures_df))   </a:t>
            </a:r>
            <a:r>
              <a:rPr>
                <a:solidFill>
                  <a:srgbClr val="5E5E5E"/>
                </a:solidFill>
                <a:latin typeface="Courier"/>
              </a:rPr>
              <a:t># % of events we can attribute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Released fishers never recaptured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anti_join</a:t>
            </a:r>
            <a:r>
              <a:rPr>
                <a:solidFill>
                  <a:srgbClr val="003B4F"/>
                </a:solidFill>
                <a:latin typeface="Courier"/>
              </a:rPr>
              <a:t>(individuals_df, captures_df,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The wrong join: no `by =` at all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(captures_df, individuals_df)        </a:t>
            </a:r>
            <a:r>
              <a:rPr>
                <a:solidFill>
                  <a:srgbClr val="5E5E5E"/>
                </a:solidFill>
                <a:latin typeface="Courier"/>
              </a:rPr>
              <a:t># what does dplyr say it joined on?</a:t>
            </a:r>
          </a:p>
          <a:p>
            <a:pPr lvl="0" indent="0" marL="0">
              <a:buNone/>
            </a:pPr>
            <a:r>
              <a:rPr/>
              <a:t>Note the attributable percentage, how many fishers were never seen again, and what column dplyr picks when you leave </a:t>
            </a:r>
            <a:r>
              <a:rPr>
                <a:latin typeface="Courier"/>
              </a:rPr>
              <a:t>by =</a:t>
            </a:r>
            <a:r>
              <a:rPr/>
              <a:t> out (and why that answer is wrong).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E2 · One more join, your choice (not graded — do it anyway)</a:t>
            </a:r>
          </a:p>
          <a:p>
            <a:pPr lvl="0" indent="0" marL="0">
              <a:buNone/>
            </a:pPr>
            <a:r>
              <a:rPr/>
              <a:t>Either: summarize the joined table a new way (mean </a:t>
            </a:r>
            <a:r>
              <a:rPr>
                <a:latin typeface="Courier"/>
              </a:rPr>
              <a:t>mass_kg</a:t>
            </a:r>
            <a:r>
              <a:rPr/>
              <a:t> by sex; capture count by month), </a:t>
            </a:r>
            <a:r>
              <a:rPr b="1"/>
              <a:t>or</a:t>
            </a:r>
            <a:r>
              <a:rPr/>
              <a:t> bring in a small table of your own (even 3–4 rows you type with </a:t>
            </a:r>
            <a:r>
              <a:rPr>
                <a:latin typeface="Courier"/>
              </a:rPr>
              <a:t>tibble()</a:t>
            </a:r>
            <a:r>
              <a:rPr/>
              <a:t> — e.g. a home-range size per </a:t>
            </a:r>
            <a:r>
              <a:rPr>
                <a:latin typeface="Courier"/>
              </a:rPr>
              <a:t>fisher_id</a:t>
            </a:r>
            <a:r>
              <a:rPr/>
              <a:t>) and join it on the key. Keep it small.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E3 · The most surprising thing — ✍️ by hand (graded)</a:t>
            </a:r>
          </a:p>
          <a:p>
            <a:pPr lvl="0" indent="0" marL="0">
              <a:buNone/>
            </a:pPr>
            <a:r>
              <a:rPr/>
              <a:t>In a short paragraph, hand-written: across everything you did in this worksheet and E1–E2, </a:t>
            </a:r>
            <a:r>
              <a:rPr b="1"/>
              <a:t>what surprised you most about joining these two tables?</a:t>
            </a:r>
            <a:r>
              <a:rPr/>
              <a:t> Be specific — name the numbers or the rows that surprised you, and say why you expected something different. “Nothing surprised me” is not an answer; if the joins went smoothly, the surprise might be how many capture events could not be tied to a known animal, or how many released fishers were never seen again.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>
                <a:latin typeface="Courier"/>
              </a:rPr>
              <a:t>by</a:t>
            </a:r>
            <a:r>
              <a:rPr b="1"/>
              <a:t> must be supplied / weird match</a:t>
            </a:r>
            <a:r>
              <a:rPr/>
              <a:t> → the key columns are named differently; use </a:t>
            </a:r>
            <a:r>
              <a:rPr>
                <a:latin typeface="Courier"/>
              </a:rPr>
              <a:t>by = c("animal_id" = "fisher_id")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 b="1"/>
              <a:t>Zero matches</a:t>
            </a:r>
            <a:r>
              <a:rPr/>
              <a:t> → check the key </a:t>
            </a:r>
            <a:r>
              <a:rPr b="1"/>
              <a:t>case</a:t>
            </a:r>
            <a:r>
              <a:rPr/>
              <a:t> (</a:t>
            </a:r>
            <a:r>
              <a:rPr>
                <a:latin typeface="Courier"/>
              </a:rPr>
              <a:t>str_to_upper()</a:t>
            </a:r>
            <a:r>
              <a:rPr/>
              <a:t> on </a:t>
            </a:r>
            <a:r>
              <a:rPr>
                <a:latin typeface="Courier"/>
              </a:rPr>
              <a:t>animal_id</a:t>
            </a:r>
            <a:r>
              <a:rPr/>
              <a:t>) — </a:t>
            </a:r>
            <a:r>
              <a:rPr>
                <a:latin typeface="Courier"/>
              </a:rPr>
              <a:t>"f07"</a:t>
            </a:r>
            <a:r>
              <a:rPr/>
              <a:t> won’t match </a:t>
            </a:r>
            <a:r>
              <a:rPr>
                <a:latin typeface="Courier"/>
              </a:rPr>
              <a:t>"F07"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 b="1"/>
              <a:t>Way too many rows after a join</a:t>
            </a:r>
            <a:r>
              <a:rPr/>
              <a:t> → you joined on </a:t>
            </a:r>
            <a:r>
              <a:rPr>
                <a:latin typeface="Courier"/>
              </a:rPr>
              <a:t>site</a:t>
            </a:r>
            <a:r>
              <a:rPr/>
              <a:t> by accident; a shared key that isn’t unique fans the rows out. Always name the real key.</a:t>
            </a:r>
          </a:p>
          <a:p>
            <a:pPr lvl="0" indent="-342900" marL="342900">
              <a:buAutoNum type="arabicPeriod"/>
            </a:pPr>
            <a:r>
              <a:rPr b="1"/>
              <a:t>dplyr announced </a:t>
            </a:r>
            <a:r>
              <a:rPr b="1">
                <a:latin typeface="Courier"/>
              </a:rPr>
              <a:t>by = join_by(site)</a:t>
            </a:r>
            <a:r>
              <a:rPr/>
              <a:t> → you forgot to name your key; both tables share a </a:t>
            </a:r>
            <a:r>
              <a:rPr>
                <a:latin typeface="Courier"/>
              </a:rPr>
              <a:t>site</a:t>
            </a:r>
            <a:r>
              <a:rPr/>
              <a:t> column that means different things.</a:t>
            </a:r>
          </a:p>
          <a:p>
            <a:pPr lvl="0" indent="-342900" marL="342900">
              <a:buAutoNum type="arabicPeriod"/>
            </a:pPr>
            <a:r>
              <a:rPr b="1"/>
              <a:t>Cheat sheet</a:t>
            </a:r>
            <a:r>
              <a:rPr/>
              <a:t> — </a:t>
            </a:r>
            <a:r>
              <a:rPr>
                <a:hlinkClick r:id="rId2"/>
              </a:rPr>
              <a:t>https://dplyr.tidyverse.org/reference/mutate-joins.html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</a:t>
            </a:r>
            <a:r>
              <a:rPr sz="2000">
                <a:latin typeface="Courier"/>
              </a:rPr>
              <a:t>fisher_individuals.csv</a:t>
            </a:r>
            <a:r>
              <a:rPr sz="2000"/>
              <a:t> and </a:t>
            </a:r>
            <a:r>
              <a:rPr sz="2000">
                <a:latin typeface="Courier"/>
              </a:rPr>
              <a:t>fisher_captures.csv</a:t>
            </a:r>
            <a:r>
              <a:rPr sz="2000"/>
              <a:t> were each incomplete on their own — one had no field history, the other had no animal attributes. </a:t>
            </a:r>
            <a:r>
              <a:rPr sz="2000">
                <a:latin typeface="Courier"/>
              </a:rPr>
              <a:t>fisher_joined.csv</a:t>
            </a:r>
            <a:r>
              <a:rPr sz="2000"/>
              <a:t> is what you get once a shared key ties them together.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End of the Joins worksheet.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Worksheet — Joins: Combining Two Fisher Monitoring Tables</dc:title>
  <dc:creator>Bill Perry</dc:creator>
  <cp:keywords/>
  <dc:description>Hands-on companion to the joins lecture. Over two days students combine a table of released fishers (fisher_individuals.csv) with a table of field capture/collar events (fisher_captures.csv) using left/inner/full joins and semi/anti joins, and build one analysis-ready table.</dc:description>
  <dcterms:created xsi:type="dcterms:W3CDTF">2026-08-27T20:05:48Z</dcterms:created>
  <dcterms:modified xsi:type="dcterms:W3CDTF">2026-08-27T20:05:48Z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2026-08-27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21</vt:lpwstr>
  </property>
  <property fmtid="{D5CDD505-2E9C-101B-9397-08002B2CF9AE}" pid="13" name="resources">
    <vt:lpwstr/>
  </property>
  <property fmtid="{D5CDD505-2E9C-101B-9397-08002B2CF9AE}" pid="14" name="subtitle">
    <vt:lpwstr>Keys, mutating joins, and filtering joins on a fisher reintroduction dataset</vt:lpwstr>
  </property>
  <property fmtid="{D5CDD505-2E9C-101B-9397-08002B2CF9AE}" pid="15" name="toc-title">
    <vt:lpwstr>Table of contents</vt:lpwstr>
  </property>
  <property fmtid="{D5CDD505-2E9C-101B-9397-08002B2CF9AE}" pid="16" name="type">
    <vt:lpwstr>activity</vt:lpwstr>
  </property>
  <property fmtid="{D5CDD505-2E9C-101B-9397-08002B2CF9AE}" pid="17" name="week">
    <vt:lpwstr>11</vt:lpwstr>
  </property>
</Properties>
</file>