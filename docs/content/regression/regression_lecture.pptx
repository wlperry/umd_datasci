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one measurement to predict another (Whitlock &amp; Schluter Ch. 17)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09–10)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Five steps</a:t>
            </a:r>
            <a:r>
              <a:rPr/>
              <a:t> — hypotheses → check normality → check variance → run the test → interpret and report</a:t>
            </a:r>
          </a:p>
          <a:p>
            <a:pPr lvl="0"/>
            <a:r>
              <a:rPr b="1"/>
              <a:t>Welch’s t-test</a:t>
            </a:r>
            <a:r>
              <a:rPr/>
              <a:t> compares the </a:t>
            </a:r>
            <a:r>
              <a:rPr b="1"/>
              <a:t>means of two groups</a:t>
            </a:r>
          </a:p>
          <a:p>
            <a:pPr lvl="0"/>
            <a:r>
              <a:rPr b="1"/>
              <a:t>Pseudoreplication</a:t>
            </a:r>
            <a:r>
              <a:rPr/>
              <a:t> — average up to the thing you actually sampled before you test</a:t>
            </a:r>
          </a:p>
          <a:p>
            <a:pPr lvl="0"/>
            <a:r>
              <a:rPr b="1"/>
              <a:t>Our leaves</a:t>
            </a:r>
            <a:r>
              <a:rPr/>
              <a:t> — mean leaf </a:t>
            </a:r>
            <a:r>
              <a:rPr b="1"/>
              <a:t>mass</a:t>
            </a:r>
            <a:r>
              <a:rPr/>
              <a:t> did not differ between the shady and sunny sides</a:t>
            </a:r>
          </a:p>
          <a:p>
            <a:pPr lvl="0"/>
            <a:r>
              <a:rPr b="1"/>
              <a:t>Our sugar maples</a:t>
            </a:r>
            <a:r>
              <a:rPr/>
              <a:t> — shady-side leaves were significantly </a:t>
            </a:r>
            <a:r>
              <a:rPr b="1"/>
              <a:t>larger in area</a:t>
            </a:r>
            <a:r>
              <a:rPr/>
              <a:t> than sunny-side leaves on the same tree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Where today comes in</a:t>
            </a:r>
          </a:p>
          <a:p>
            <a:pPr lvl="0"/>
            <a:r>
              <a:rPr sz="2000"/>
              <a:t>A t-test compares two </a:t>
            </a:r>
            <a:r>
              <a:rPr sz="2000" b="1"/>
              <a:t>groups</a:t>
            </a:r>
            <a:r>
              <a:rPr sz="2000"/>
              <a:t>.</a:t>
            </a:r>
          </a:p>
          <a:p>
            <a:pPr lvl="0"/>
            <a:r>
              <a:rPr sz="2000"/>
              <a:t>Today we ask a different question:</a:t>
            </a:r>
          </a:p>
          <a:p>
            <a:pPr lvl="1"/>
            <a:r>
              <a:rPr sz="2000"/>
              <a:t>can one </a:t>
            </a:r>
            <a:r>
              <a:rPr sz="2000" b="1"/>
              <a:t>number</a:t>
            </a:r>
            <a:r>
              <a:rPr sz="2000"/>
              <a:t> predict another number?</a:t>
            </a:r>
          </a:p>
          <a:p>
            <a:pPr lvl="1"/>
            <a:r>
              <a:rPr sz="2000"/>
              <a:t>we weighed our leaf tracings, but what we actually want is </a:t>
            </a:r>
            <a:r>
              <a:rPr sz="2000" b="1"/>
              <a:t>leaf area in cm²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Understand</a:t>
                </a:r>
                <a:r>
                  <a:rPr/>
                  <a:t> what a linear regression does: fit a straight line,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 b="1"/>
                  <a:t>See</a:t>
                </a:r>
                <a:r>
                  <a:rPr/>
                  <a:t> what a </a:t>
                </a:r>
                <a:r>
                  <a:rPr b="1"/>
                  <a:t>residual</a:t>
                </a:r>
                <a:r>
                  <a:rPr/>
                  <a:t> is, in a real plot</a:t>
                </a:r>
              </a:p>
              <a:p>
                <a:pPr lvl="0"/>
                <a:r>
                  <a:rPr b="1"/>
                  <a:t>Fit</a:t>
                </a:r>
                <a:r>
                  <a:rPr/>
                  <a:t> a model with </a:t>
                </a:r>
                <a:r>
                  <a:rPr>
                    <a:latin typeface="Courier"/>
                  </a:rPr>
                  <a:t>lm()</a:t>
                </a:r>
              </a:p>
              <a:p>
                <a:pPr lvl="0"/>
                <a:r>
                  <a:rPr b="1"/>
                  <a:t>Read and interpret</a:t>
                </a:r>
                <a:r>
                  <a:rPr/>
                  <a:t> the </a:t>
                </a:r>
                <a:r>
                  <a:rPr>
                    <a:latin typeface="Courier"/>
                  </a:rPr>
                  <a:t>summary()</a:t>
                </a:r>
                <a:r>
                  <a:rPr/>
                  <a:t> output — slope, </a:t>
                </a:r>
                <a:r>
                  <a:rPr i="1"/>
                  <a:t>p</a:t>
                </a:r>
                <a:r>
                  <a:rPr/>
                  <a:t>-value, R²</a:t>
                </a:r>
              </a:p>
              <a:p>
                <a:pPr lvl="0"/>
                <a:r>
                  <a:rPr b="1"/>
                  <a:t>Check</a:t>
                </a:r>
                <a:r>
                  <a:rPr/>
                  <a:t> the residuals the way R shows them to you</a:t>
                </a:r>
              </a:p>
              <a:p>
                <a:pPr lvl="0"/>
                <a:r>
                  <a:rPr b="1"/>
                  <a:t>Use</a:t>
                </a:r>
                <a:r>
                  <a:rPr/>
                  <a:t> </a:t>
                </a:r>
                <a:r>
                  <a:rPr>
                    <a:latin typeface="Courier"/>
                  </a:rPr>
                  <a:t>predict()</a:t>
                </a:r>
                <a:r>
                  <a:rPr/>
                  <a:t> to turn a tracing mass into a leaf area</a:t>
                </a:r>
              </a:p>
              <a:p>
                <a:pPr lvl="0"/>
                <a:r>
                  <a:rPr b="1"/>
                  <a:t>Report</a:t>
                </a:r>
                <a:r>
                  <a:rPr/>
                  <a:t> the result in a standard sentence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Tools today:</a:t>
            </a:r>
          </a:p>
          <a:p>
            <a:pPr lvl="1"/>
            <a:r>
              <a:rPr>
                <a:latin typeface="Courier"/>
              </a:rPr>
              <a:t>lm()</a:t>
            </a:r>
            <a:r>
              <a:rPr/>
              <a:t> — fit the line</a:t>
            </a:r>
          </a:p>
          <a:p>
            <a:pPr lvl="1"/>
            <a:r>
              <a:rPr>
                <a:latin typeface="Courier"/>
              </a:rPr>
              <a:t>summary()</a:t>
            </a:r>
            <a:r>
              <a:rPr/>
              <a:t> — read the result</a:t>
            </a:r>
          </a:p>
          <a:p>
            <a:pPr lvl="1"/>
            <a:r>
              <a:rPr>
                <a:latin typeface="Courier"/>
              </a:rPr>
              <a:t>plot(model)</a:t>
            </a:r>
            <a:r>
              <a:rPr/>
              <a:t> — check the residuals</a:t>
            </a:r>
          </a:p>
          <a:p>
            <a:pPr lvl="1"/>
            <a:r>
              <a:rPr>
                <a:latin typeface="Courier"/>
              </a:rPr>
              <a:t>predict()</a:t>
            </a:r>
            <a:r>
              <a:rPr/>
              <a:t> — make predictions</a:t>
            </a:r>
          </a:p>
          <a:p>
            <a:pPr lvl="1"/>
            <a:r>
              <a:rPr>
                <a:latin typeface="Courier"/>
              </a:rPr>
              <a:t>geom_smooth(method = "lm")</a:t>
            </a:r>
            <a:r>
              <a:rPr/>
              <a:t> — draw the line</a:t>
            </a:r>
          </a:p>
          <a:p>
            <a:pPr lvl="0"/>
            <a:r>
              <a:rPr b="1"/>
              <a:t>Reading:</a:t>
            </a:r>
          </a:p>
          <a:p>
            <a:pPr lvl="1"/>
            <a:r>
              <a:rPr/>
              <a:t>📖 Whitlock &amp; Schluter, Ch. 17 — </a:t>
            </a:r>
            <a:r>
              <a:rPr i="1"/>
              <a:t>Regression</a:t>
            </a:r>
          </a:p>
          <a:p>
            <a:pPr lvl="2"/>
            <a:r>
              <a:rPr/>
              <a:t>§17.1 Linear regression</a:t>
            </a:r>
          </a:p>
          <a:p>
            <a:pPr lvl="2"/>
            <a:r>
              <a:rPr/>
              <a:t>§17.3 Testing the slope</a:t>
            </a:r>
          </a:p>
          <a:p>
            <a:pPr lvl="2"/>
            <a:r>
              <a:rPr/>
              <a:t>§17.4 R²</a:t>
            </a:r>
          </a:p>
          <a:p>
            <a:pPr lvl="2"/>
            <a:r>
              <a:rPr/>
              <a:t>§17.5 Assumptions</a:t>
            </a:r>
          </a:p>
          <a:p>
            <a:pPr lvl="0"/>
            <a:r>
              <a:rPr b="1"/>
              <a:t>Today’s naming:</a:t>
            </a:r>
          </a:p>
          <a:p>
            <a:pPr lvl="1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  <a:p>
            <a:pPr lvl="1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What Regression Does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We will cover:</a:t>
                </a:r>
              </a:p>
              <a:p>
                <a:pPr lvl="0"/>
                <a:r>
                  <a:rPr/>
                  <a:t>the question regression answers,</a:t>
                </a:r>
              </a:p>
              <a:p>
                <a:pPr lvl="0"/>
                <a:r>
                  <a:rPr/>
                  <a:t>the equation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,</a:t>
                </a:r>
              </a:p>
              <a:p>
                <a:pPr lvl="0"/>
                <a:r>
                  <a:rPr/>
                  <a:t>what a </a:t>
                </a:r>
                <a:r>
                  <a:rPr b="1"/>
                  <a:t>residual</a:t>
                </a:r>
                <a:r>
                  <a:rPr/>
                  <a:t> is,</a:t>
                </a:r>
              </a:p>
              <a:p>
                <a:pPr lvl="0"/>
                <a:r>
                  <a:rPr/>
                  <a:t>what </a:t>
                </a:r>
                <a:r>
                  <a:rPr b="1"/>
                  <a:t>R²</a:t>
                </a:r>
                <a:r>
                  <a:rPr/>
                  <a:t> tells you,</a:t>
                </a:r>
              </a:p>
              <a:p>
                <a:pPr lvl="0"/>
                <a:r>
                  <a:rPr/>
                  <a:t>and the assumptions.</a:t>
                </a:r>
              </a:p>
              <a:p>
                <a:pPr lvl="0"/>
                <a:r>
                  <a:rPr/>
                  <a:t>No code in this chunk — just the idea.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Linear Regression?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Linear regression</a:t>
            </a:r>
            <a:r>
              <a:rPr/>
              <a:t> fits the best straight line through a cloud of points so you can </a:t>
            </a:r>
            <a:r>
              <a:rPr b="1"/>
              <a:t>predict</a:t>
            </a:r>
            <a:r>
              <a:rPr/>
              <a:t> one number (Y) from another number (X).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778000"/>
                <a:gridCol w="1333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plot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Explanatory 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can measure easily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x-axis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Response (Y)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actually want to know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y-axis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is usually the </a:t>
            </a:r>
            <a:r>
              <a:rPr b="1"/>
              <a:t>easy</a:t>
            </a:r>
            <a:r>
              <a:rPr/>
              <a:t> measurement. Y is the </a:t>
            </a:r>
            <a:r>
              <a:rPr b="1"/>
              <a:t>expensive</a:t>
            </a:r>
            <a:r>
              <a:rPr/>
              <a:t> one. Regression gives you an equation that converts X into Y.</a:t>
            </a:r>
          </a:p>
          <a:p>
            <a:pPr lvl="0" indent="0" marL="0">
              <a:buNone/>
            </a:pPr>
            <a:r>
              <a:rPr/>
              <a:t>📖 W&amp;S §17.1 p. 540–541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Regression vs. the t-test: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9700"/>
                <a:gridCol w="2628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two </a:t>
                      </a:r>
                      <a:r>
                        <a:rPr b="1"/>
                        <a:t>groups</a:t>
                      </a:r>
                      <a:r>
                        <a:rPr/>
                        <a:t> have different means?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X </a:t>
                      </a:r>
                      <a:r>
                        <a:rPr b="1"/>
                        <a:t>predict</a:t>
                      </a:r>
                      <a:r>
                        <a:rPr/>
                        <a:t> Y?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regression when:</a:t>
            </a:r>
          </a:p>
          <a:p>
            <a:pPr lvl="0"/>
            <a:r>
              <a:rPr/>
              <a:t>both variables are </a:t>
            </a:r>
            <a:r>
              <a:rPr b="1"/>
              <a:t>numeric</a:t>
            </a:r>
          </a:p>
          <a:p>
            <a:pPr lvl="0"/>
            <a:r>
              <a:rPr/>
              <a:t>X could reasonably predict Y</a:t>
            </a:r>
          </a:p>
          <a:p>
            <a:pPr lvl="0"/>
            <a:r>
              <a:rPr/>
              <a:t>you want an </a:t>
            </a:r>
            <a:r>
              <a:rPr b="1"/>
              <a:t>equation</a:t>
            </a:r>
            <a:r>
              <a:rPr/>
              <a:t>, not just a yes/no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Real Example from the Textbook</a:t>
            </a:r>
          </a:p>
        </p:txBody>
      </p:sp>
      <p:pic>
        <p:nvPicPr>
          <p:cNvPr descr="regression_lecture_files/figure-pptx/lion-scatt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346200"/>
            <a:ext cx="4191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Aging a wild lion is hard — you have to have watched it since it was a cub.</a:t>
            </a:r>
          </a:p>
          <a:p>
            <a:pPr lvl="0" indent="0" marL="0">
              <a:buNone/>
            </a:pPr>
            <a:r>
              <a:rPr/>
              <a:t>But a male lion’s nose </a:t>
            </a:r>
            <a:r>
              <a:rPr b="1"/>
              <a:t>darkens as it ages</a:t>
            </a:r>
            <a:r>
              <a:rPr/>
              <a:t>, and you can photograph a nose from a truck.</a:t>
            </a:r>
          </a:p>
          <a:p>
            <a:pPr lvl="0"/>
            <a:r>
              <a:rPr b="1"/>
              <a:t>X</a:t>
            </a:r>
            <a:r>
              <a:rPr/>
              <a:t> = proportion of the nose that is black — </a:t>
            </a:r>
            <a:r>
              <a:rPr i="1"/>
              <a:t>easy</a:t>
            </a:r>
          </a:p>
          <a:p>
            <a:pPr lvl="0"/>
            <a:r>
              <a:rPr b="1"/>
              <a:t>Y</a:t>
            </a:r>
            <a:r>
              <a:rPr/>
              <a:t> = age in years — </a:t>
            </a:r>
            <a:r>
              <a:rPr i="1"/>
              <a:t>what you want</a:t>
            </a:r>
          </a:p>
          <a:p>
            <a:pPr lvl="0" indent="0" marL="0">
              <a:buNone/>
            </a:pPr>
            <a:r>
              <a:rPr/>
              <a:t>Fit the line once on lions of known age, and from then on you can </a:t>
            </a:r>
            <a:r>
              <a:rPr b="1"/>
              <a:t>estimate</a:t>
            </a:r>
            <a:r>
              <a:rPr/>
              <a:t> a lion’s age from a photograph.</a:t>
            </a:r>
          </a:p>
          <a:p>
            <a:pPr lvl="0" indent="0" marL="0">
              <a:buNone/>
            </a:pPr>
            <a:r>
              <a:rPr/>
              <a:t>📖 W&amp;S §17.1, Example 17.1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Version of the Same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we want </a:t>
            </a:r>
            <a:r>
              <a:rPr b="1"/>
              <a:t>leaf area in cm²</a:t>
            </a:r>
            <a:r>
              <a:rPr/>
              <a:t>, but we don’t have a leaf-area meter. We have a balance.</a:t>
            </a:r>
          </a:p>
          <a:p>
            <a:pPr lvl="0" indent="0" marL="0">
              <a:buNone/>
            </a:pPr>
            <a:r>
              <a:rPr b="1"/>
              <a:t>The fix — a calibration curve:</a:t>
            </a:r>
          </a:p>
          <a:p>
            <a:pPr lvl="0" indent="-342900" marL="342900">
              <a:buAutoNum type="arabicPeriod"/>
            </a:pPr>
            <a:r>
              <a:rPr/>
              <a:t>Cut paper squares of </a:t>
            </a:r>
            <a:r>
              <a:rPr b="1"/>
              <a:t>known area</a:t>
            </a:r>
            <a:r>
              <a:rPr/>
              <a:t> (1, 4, 16 … 567 cm²)</a:t>
            </a:r>
          </a:p>
          <a:p>
            <a:pPr lvl="0" indent="-342900" marL="342900">
              <a:buAutoNum type="arabicPeriod"/>
            </a:pPr>
            <a:r>
              <a:rPr b="1"/>
              <a:t>Weigh</a:t>
            </a:r>
            <a:r>
              <a:rPr/>
              <a:t> each square</a:t>
            </a:r>
          </a:p>
          <a:p>
            <a:pPr lvl="0" indent="-342900" marL="342900">
              <a:buAutoNum type="arabicPeriod"/>
            </a:pPr>
            <a:r>
              <a:rPr/>
              <a:t>Fit the line: </a:t>
            </a:r>
            <a:r>
              <a:rPr b="1"/>
              <a:t>area ~ mass</a:t>
            </a:r>
          </a:p>
          <a:p>
            <a:pPr lvl="0" indent="-342900" marL="342900">
              <a:buAutoNum type="arabicPeriod"/>
            </a:pPr>
            <a:r>
              <a:rPr/>
              <a:t>Trace a leaf onto the </a:t>
            </a:r>
            <a:r>
              <a:rPr b="1"/>
              <a:t>same paper</a:t>
            </a:r>
            <a:r>
              <a:rPr/>
              <a:t> and weigh the tracing</a:t>
            </a:r>
          </a:p>
          <a:p>
            <a:pPr lvl="0" indent="-342900" marL="342900">
              <a:buAutoNum type="arabicPeriod"/>
            </a:pPr>
            <a:r>
              <a:rPr/>
              <a:t>Put the tracing mass into the equation → </a:t>
            </a:r>
            <a:r>
              <a:rPr b="1"/>
              <a:t>predicted leaf area</a:t>
            </a:r>
          </a:p>
          <a:p>
            <a:pPr lvl="0" indent="0" marL="0">
              <a:buNone/>
            </a:pPr>
            <a:r>
              <a:rPr b="1"/>
              <a:t>Why it works:</a:t>
            </a:r>
            <a:r>
              <a:rPr/>
              <a:t> paper from one stock has a constant </a:t>
            </a:r>
            <a:r>
              <a:rPr b="1"/>
              <a:t>area per gram</a:t>
            </a:r>
            <a:r>
              <a:rPr/>
              <a:t>, so mass and area move together almost perfectly.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5700"/>
                <a:gridCol w="1981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Known area (cm²)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Squares weighed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225–567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The Regression Equation</a:t></a:r></a:p></p:txBody></p:sp><mc:AlternateContent xmlns:mc="http://schemas.openxmlformats.org/markup-compatibility/2006"><mc:Choice xmlns:a14="http://schemas.microsoft.com/office/drawing/2010/main" Requires="a14"><p:sp><p:nvSpPr><p:cNvPr id="3" name="Text Placeholder 2" /><p:cNvSpPr><a:spLocks noGrp="1" /></p:cNvSpPr><p:nvPr><p:ph idx="1" type="body" /></p:nvPr></p:nvSpPr><p:spPr /><p:txBody><a:bodyPr /><a:lstStyle /><a:p><a:pPr lvl="0" indent="0" marL="0"><a:buNone /></a:pPr><a14:m><m:oMathPara xmlns:m="http://schemas.openxmlformats.org/officeDocument/2006/math"><m:oMathParaPr><m:jc m:val="center" /></m:oMathParaPr><m:oMath><m:acc><m:accPr><m:chr m:val="̂" /></m:accPr><m:e><m:r><m:t>Y</m:t></m:r></m:e></m:acc><m:r><m:rPr><m:sty m:val="p" /></m:rPr><m:t>=</m:t></m:r><m:r><m:t>a</m:t></m:r><m:r><m:rPr><m:sty m:val="p" /></m:rPr><m:t>+</m:t></m:r><m:r><m:t>b</m:t></m:r><m:r><m:t>X</m:t></m:r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800100" /><a:gridCol w="1193800" /><a:gridCol w="24384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Name</a:t></a:r></a:p></a:txBody><a:tcPr /></a:tc><a:tc><a:txBody><a:bodyPr /><a:lstStyle /><a:p><a:pPr lvl="0" indent="0" marL="0"><a:buNone /></a:pPr><a:r><a:rPr /><a:t>What it means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/m:oMath></a14:m></a:p></a:txBody></a:tc><a:tc><a:txBody><a:bodyPr /><a:lstStyle /><a:p><a:pPr lvl="0" indent="0" marL="0"><a:buNone /></a:pPr><a:r><a:rPr /><a:t>predicted Y</a:t></a:r></a:p></a:txBody></a:tc><a:tc><a:txBody><a:bodyPr /><a:lstStyle /><a:p><a:pPr lvl="0" indent="0" marL="0"><a:buNone /></a:pPr><a:r><a:rPr /><a:t>what the line says Y should be</a:t></a:r></a:p></a:txBody></a:tc></a:tr><a:tr h="0"><a:tc><a:txBody><a:bodyPr /><a:lstStyle /><a:p><a:pPr lvl="0" indent="0" marL="0"><a:buNone /></a:pPr><a:r><a:rPr i="1" /><a:t>a</a:t></a:r></a:p></a:txBody></a:tc><a:tc><a:txBody><a:bodyPr /><a:lstStyle /><a:p><a:pPr lvl="0" indent="0" marL="0"><a:buNone /></a:pPr><a:r><a:rPr b="1" /><a:t>intercept</a:t></a:r></a:p></a:txBody></a:tc><a:tc><a:txBody><a:bodyPr /><a:lstStyle /><a:p><a:pPr lvl="0" indent="0" marL="0"><a:buNone /></a:pPr><a:r><a:rPr /><a:t>Y when X = 0 — where the line crosses</a:t></a:r></a:p></a:txBody></a:tc></a:tr><a:tr h="0"><a:tc><a:txBody><a:bodyPr /><a:lstStyle /><a:p><a:pPr lvl="0" indent="0" marL="0"><a:buNone /></a:pPr><a:r><a:rPr i="1" /><a:t>b</a:t></a:r></a:p></a:txBody></a:tc><a:tc><a:txBody><a:bodyPr /><a:lstStyle /><a:p><a:pPr lvl="0" indent="0" marL="0"><a:buNone /></a:pPr><a:r><a:rPr b="1" /><a:t>slope</a:t></a:r></a:p></a:txBody></a:tc><a:tc><a:txBody><a:bodyPr /><a:lstStyle /><a:p><a:pPr lvl="0" indent="0" marL="0"><a:buNone /></a:pPr><a:r><a:rPr /><a:t>how much Y changes per 1 unit of X</a:t></a:r></a:p></a:txBody></a:tc></a:tr></a:tbl></a:graphicData></a:graphic></p:graphicFrame><mc:AlternateContent xmlns:mc="http://schemas.openxmlformats.org/markup-compatibility/2006"><mc:Choice xmlns:a14="http://schemas.microsoft.com/office/drawing/2010/main" Requires="a14"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Ours will read: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rPr><m:nor /><m:sty m:val="p" /></m:rPr><m:t>area</m:t></m:r></m:e></m:acc><m:r><m:rPr><m:sty m:val="p" /></m:rPr><m:t>=</m:t></m:r><m:r><m:t>a</m:t></m:r><m:r><m:rPr><m:sty m:val="p" /></m:rPr><m:t>+</m:t></m:r><m:r><m:t>b</m:t></m:r><m:r><m:rPr><m:sty m:val="p" /></m:rPr><m:t>×</m:t></m:r><m:r><m:rPr><m:nor /><m:sty m:val="p" /></m:rPr><m:t>mass</m:t></m:r></m:oMath></m:oMathPara></a14:m></a:p><a:p><a:pPr lvl="0" indent="0" marL="0"><a:buNone /></a:pPr><a:r><a:rPr /><a:t>📖 W&amp;S §17.1 pp. 543–545</a:t></a:r></a:p></p:txBody></p:sp></mc:Choice></mc:AlternateContent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The slope is the useful one.</a:t></a:r></a:p><a:p><a:pPr lvl="0" indent="0" marL="1270000"><a:buNone /></a:pPr><a:r><a:rPr sz="2000" i="1" /><a:t>b</a:t></a:r><a:r><a:rPr sz="2000" /><a:t> = the extra cm² you get for each extra gram of paper</a:t></a:r></a:p><a:p><a:pPr lvl="0" indent="0" marL="0"><a:buNone /></a:pPr><a:r><a:rPr /><a:t>That is just the </a:t></a:r><a:r><a:rPr b="1" /><a:t>area density</a:t></a:r><a:r><a:rPr /><a:t> of the paper stock — and it is the number that does the converting.</a:t></a:r></a:p><a:p><a:pPr lvl="0" indent="0" marL="0"><a:buNone /></a:pPr><a:r><a:rPr b="1" /><a:t>The intercept is a bookkeeping number.</a:t></a:r></a:p><a:p><a:pPr lvl="0" indent="0" marL="1270000"><a:buNone /></a:pPr><a:r><a:rPr sz="2000" i="1" /><a:t>a</a:t></a:r><a:r><a:rPr sz="2000" /><a:t> = the predicted area of a piece of paper weighing nothing</a:t></a:r></a:p><a:p><a:pPr lvl="0" indent="0" marL="0"><a:buNone /></a:pPr><a:r><a:rPr /><a:t>Physically that should be 0. A small value near zero is fine; it is measurement noise, not biology.</a:t></a:r></a:p></p:txBody></p:sp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a Residual?</a:t>
            </a:r>
          </a:p>
        </p:txBody>
      </p:sp>
      <p:pic>
        <p:nvPicPr>
          <p:cNvPr descr="regression_lecture_files/figure-pptx/lion-residual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270000"/>
            <a:ext cx="41910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residual</a:t>
                </a:r>
                <a:r>
                  <a:rPr/>
                  <a:t> is one point’s miss: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residual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observed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nor/>
                          <m:sty m:val="p"/>
                        </m:rPr>
                        <m:t>predicted</m:t>
                      </m:r>
                    </m:oMath>
                  </m:oMathPara>
                </a14:m>
              </a:p>
              <a:p>
                <a:pPr lvl="0"/>
                <a:r>
                  <a:rPr/>
                  <a:t>A point </a:t>
                </a:r>
                <a:r>
                  <a:rPr b="1"/>
                  <a:t>above</a:t>
                </a:r>
                <a:r>
                  <a:rPr/>
                  <a:t> the line → </a:t>
                </a:r>
                <a:r>
                  <a:rPr b="1"/>
                  <a:t>positive</a:t>
                </a:r>
                <a:r>
                  <a:rPr/>
                  <a:t> residual (that lion was older than its nose suggested)</a:t>
                </a:r>
              </a:p>
              <a:p>
                <a:pPr lvl="0"/>
                <a:r>
                  <a:rPr/>
                  <a:t>A point </a:t>
                </a:r>
                <a:r>
                  <a:rPr b="1"/>
                  <a:t>below</a:t>
                </a:r>
                <a:r>
                  <a:rPr/>
                  <a:t> the line → </a:t>
                </a:r>
                <a:r>
                  <a:rPr b="1"/>
                  <a:t>negative</a:t>
                </a:r>
                <a:r>
                  <a:rPr/>
                  <a:t> residual</a:t>
                </a:r>
              </a:p>
              <a:p>
                <a:pPr lvl="0"/>
                <a:r>
                  <a:rPr/>
                  <a:t>A point </a:t>
                </a:r>
                <a:r>
                  <a:rPr b="1"/>
                  <a:t>on</a:t>
                </a:r>
                <a:r>
                  <a:rPr/>
                  <a:t> the line → residual of 0</a:t>
                </a:r>
              </a:p>
              <a:p>
                <a:pPr lvl="0" indent="0" marL="0">
                  <a:buNone/>
                </a:pPr>
                <a:r>
                  <a:rPr b="1"/>
                  <a:t>The line R gives you is the one that makes those red segments as small as possible overall.</a:t>
                </a:r>
                <a:r>
                  <a:rPr/>
                  <a:t> That is all “least squares” means — and R does the work.</a:t>
                </a:r>
              </a:p>
              <a:p>
                <a:pPr lvl="0" indent="0" marL="0">
                  <a:buNone/>
                </a:pPr>
                <a:r>
                  <a:rPr/>
                  <a:t>📖 W&amp;S §17.1 p. 542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R² — How Tight Is the Fit?</a:t>
            </a:r>
          </a:p>
        </p:txBody>
      </p:sp>
      <p:pic>
        <p:nvPicPr>
          <p:cNvPr descr="regression_lecture_files/figure-pptx/r2-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78000"/>
            <a:ext cx="44323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R² runs from 0 to 1.</a:t>
            </a:r>
            <a:r>
              <a:rPr/>
              <a:t> It is the fraction of the variation in Y that the line accounts for.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302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Reads as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points sit </a:t>
                      </a:r>
                      <a:r>
                        <a:rPr b="1"/>
                        <a:t>on</a:t>
                      </a:r>
                      <a:r>
                        <a:rPr/>
                        <a:t> the line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</a:t>
                      </a:r>
                      <a:r>
                        <a:rPr b="1"/>
                        <a:t>62%</a:t>
                      </a:r>
                      <a:r>
                        <a:rPr/>
                        <a:t> of the variation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line tells you nothing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Both of these are good regressions.</a:t>
            </a:r>
            <a:r>
              <a:rPr/>
              <a:t> Nose blackness really does predict a lion’s age — just with scatter, because lions vary. Paper is manufactured to be uniform, so it has almost none.</a:t>
            </a:r>
          </a:p>
          <a:p>
            <a:pPr lvl="0" indent="0" marL="0">
              <a:buNone/>
            </a:pPr>
            <a:r>
              <a:rPr/>
              <a:t>In biology, </a:t>
            </a:r>
            <a:r>
              <a:rPr b="1"/>
              <a:t>R² of 0.3–0.7 is normal and useful</a:t>
            </a:r>
            <a:r>
              <a:rPr/>
              <a:t>. Don’t expect 0.99.</a:t>
            </a:r>
          </a:p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R² and the </a:t>
            </a:r>
            <a:r>
              <a:rPr i="1"/>
              <a:t>p</a:t>
            </a:r>
            <a:r>
              <a:rPr/>
              <a:t>-value Answer Different Questions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29337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question it answers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 i="1"/>
                        <a:t>p</a:t>
                      </a:r>
                      <a:r>
                        <a:rPr b="1"/>
                        <a:t>-value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there </a:t>
                      </a:r>
                      <a:r>
                        <a:rPr b="1"/>
                        <a:t>really</a:t>
                      </a:r>
                      <a:r>
                        <a:rPr/>
                        <a:t> a relationship, or could this slope be chance?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R²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How tightly</a:t>
                      </a:r>
                      <a:r>
                        <a:rPr/>
                        <a:t> do the points follow the line?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slope is the hypothesis test.</a:t>
            </a:r>
          </a:p>
          <a:p>
            <a:pPr lvl="0" indent="0" marL="1270000">
              <a:buNone/>
            </a:pPr>
            <a:r>
              <a:rPr sz="2000" b="1"/>
              <a:t>H₀:</a:t>
            </a:r>
            <a:r>
              <a:rPr sz="2000"/>
              <a:t> the slope is 0 — X does not predict Y</a:t>
            </a:r>
          </a:p>
          <a:p>
            <a:pPr lvl="0" indent="0" marL="1270000">
              <a:buNone/>
            </a:pPr>
            <a:r>
              <a:rPr sz="2000" b="1"/>
              <a:t>Hₐ:</a:t>
            </a:r>
            <a:r>
              <a:rPr sz="2000"/>
              <a:t> the slope is not 0 — X does predict Y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summary()</a:t>
            </a:r>
            <a:r>
              <a:rPr sz="2000"/>
              <a:t> gives you the </a:t>
            </a:r>
            <a:r>
              <a:rPr sz="2000" i="1"/>
              <a:t>p</a:t>
            </a:r>
            <a:r>
              <a:rPr sz="2000"/>
              <a:t>-value for exactly that test, and we will find it on the next few slides.</a:t>
            </a:r>
          </a:p>
          <a:p>
            <a:pPr lvl="0" indent="0" marL="0">
              <a:buNone/>
            </a:pPr>
            <a:r>
              <a:rPr/>
              <a:t>📖 W&amp;S §17.3 pp. 551–553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things need to be roughly true for the </a:t>
            </a:r>
            <a:r>
              <a:rPr i="1"/>
              <a:t>p</a:t>
            </a:r>
            <a:r>
              <a:rPr/>
              <a:t>-value and the intervals to mean anything (W&amp;S §17.5):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"/>
                <a:gridCol w="18669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you check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Linear</a:t>
                      </a:r>
                      <a:r>
                        <a:rPr/>
                        <a:t> — Y really does follow a straight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scatter plot, then </a:t>
                      </a: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 panel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Independent</a:t>
                      </a:r>
                      <a:r>
                        <a:rPr/>
                        <a:t> — one observation doesn’t depend on another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study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Equal variance</a:t>
                      </a:r>
                      <a:r>
                        <a:rPr/>
                        <a:t> — the scatter is about the same all the way along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 panels 1 and 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Normal residuals</a:t>
                      </a:r>
                      <a:r>
                        <a:rPr/>
                        <a:t> — the misses are bell-shaped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 panel 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the residuals, not the raw data.</a:t>
            </a:r>
          </a:p>
          <a:p>
            <a:pPr lvl="0" indent="0" marL="1270000">
              <a:buNone/>
            </a:pPr>
            <a:r>
              <a:rPr sz="2000"/>
              <a:t>Normality here is about the </a:t>
            </a:r>
            <a:r>
              <a:rPr sz="2000" b="1"/>
              <a:t>misses</a:t>
            </a:r>
            <a:r>
              <a:rPr sz="2000"/>
              <a:t> — the red segments — not about Y itself. Y is </a:t>
            </a:r>
            <a:r>
              <a:rPr sz="2000" i="1"/>
              <a:t>supposed</a:t>
            </a:r>
            <a:r>
              <a:rPr sz="2000"/>
              <a:t> to go up with X; of course it isn’t bell-shaped.</a:t>
            </a:r>
          </a:p>
          <a:p>
            <a:pPr lvl="0" indent="0" marL="1270000">
              <a:buNone/>
            </a:pPr>
            <a:r>
              <a:rPr sz="2000"/>
              <a:t>The good news: once you have a fitted model, </a:t>
            </a:r>
            <a:r>
              <a:rPr sz="2000">
                <a:latin typeface="Courier"/>
              </a:rPr>
              <a:t>plot()</a:t>
            </a:r>
            <a:r>
              <a:rPr sz="2000"/>
              <a:t> draws all of these for you. No extra code.</a:t>
            </a:r>
          </a:p>
          <a:p>
            <a:pPr lvl="0" indent="0" marL="0">
              <a:buNone/>
            </a:pPr>
            <a:r>
              <a:rPr/>
              <a:t>Same habit as the t-test: </a:t>
            </a:r>
            <a:r>
              <a:rPr b="1"/>
              <a:t>check → decide → report.</a:t>
            </a:r>
          </a:p>
          <a:p>
            <a:pPr lvl="0" indent="0" marL="0">
              <a:buNone/>
            </a:pPr>
            <a:r>
              <a:rPr/>
              <a:t>📖 W&amp;S §17.5 pp. 557–560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Fit It and Read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the paper data, the scatter plot, fitting with </a:t>
            </a:r>
            <a:r>
              <a:rPr>
                <a:latin typeface="Courier"/>
              </a:rPr>
              <a:t>lm()</a:t>
            </a:r>
            <a:r>
              <a:rPr/>
              <a:t>, and reading the </a:t>
            </a:r>
            <a:r>
              <a:rPr>
                <a:latin typeface="Courier"/>
              </a:rPr>
              <a:t>summary()</a:t>
            </a:r>
            <a:r>
              <a:rPr/>
              <a:t> output line by line.</a:t>
            </a:r>
          </a:p>
          <a:p>
            <a:pPr lvl="0" indent="0" marL="0">
              <a:buNone/>
            </a:pPr>
            <a:r>
              <a:rPr b="1"/>
              <a:t>🛑 After this chunk: Activity Parts 1–4</a:t>
            </a:r>
            <a:r>
              <a:rPr/>
              <a:t> (load, plot, fit, read the summary).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</a:t>
            </a:r>
            <a:r>
              <a:rPr>
                <a:solidFill>
                  <a:srgbClr val="5E5E5E"/>
                </a:solidFill>
                <a:latin typeface="Courier"/>
              </a:rPr>
              <a:t># read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dplyr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Two columns, 118 rows: </a:t>
            </a:r>
            <a:r>
              <a:rPr>
                <a:latin typeface="Courier"/>
              </a:rPr>
              <a:t>area_cm2</a:t>
            </a:r>
            <a:r>
              <a:rPr/>
              <a:t> is the </a:t>
            </a:r>
            <a:r>
              <a:rPr b="1"/>
              <a:t>known</a:t>
            </a:r>
            <a:r>
              <a:rPr/>
              <a:t> area of each square, </a:t>
            </a:r>
            <a:r>
              <a:rPr>
                <a:latin typeface="Courier"/>
              </a:rPr>
              <a:t>mass_g</a:t>
            </a:r>
            <a:r>
              <a:rPr/>
              <a:t> is what it weighed.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Always Plot It First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of area against mass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method=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scatter_plot</a:t>
            </a:r>
          </a:p>
        </p:txBody>
      </p:sp>
      <p:pic>
        <p:nvPicPr>
          <p:cNvPr descr="regression_lecture_files/figure-pptx/scatter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plain lines.</a:t>
            </a:r>
            <a:r>
              <a:rPr/>
              <a:t> </a:t>
            </a:r>
            <a:r>
              <a:rPr>
                <a:latin typeface="Courier"/>
              </a:rPr>
              <a:t>aes(x = , y = )</a:t>
            </a:r>
            <a:r>
              <a:rPr/>
              <a:t> puts the explanatory variable on x and the response on y, and </a:t>
            </a:r>
            <a:r>
              <a:rPr>
                <a:latin typeface="Courier"/>
              </a:rPr>
              <a:t>geom_point()</a:t>
            </a:r>
            <a:r>
              <a:rPr/>
              <a:t> draws the dots.</a:t>
            </a:r>
          </a:p>
          <a:p>
            <a:pPr lvl="0" indent="0" marL="0">
              <a:buNone/>
            </a:pPr>
            <a:r>
              <a:rPr b="1"/>
              <a:t>What you are looking for:</a:t>
            </a:r>
          </a:p>
          <a:p>
            <a:pPr lvl="0"/>
            <a:r>
              <a:rPr b="1"/>
              <a:t>Straight?</a:t>
            </a:r>
            <a:r>
              <a:rPr/>
              <a:t> → a line is the right tool</a:t>
            </a:r>
          </a:p>
          <a:p>
            <a:pPr lvl="0"/>
            <a:r>
              <a:rPr b="1"/>
              <a:t>Scatter the same all the way along?</a:t>
            </a:r>
          </a:p>
          <a:p>
            <a:pPr lvl="0"/>
            <a:r>
              <a:rPr b="1"/>
              <a:t>Any point way off on its own?</a:t>
            </a:r>
          </a:p>
          <a:p>
            <a:pPr lvl="0" indent="0" marL="0">
              <a:buNone/>
            </a:pPr>
            <a:r>
              <a:rPr/>
              <a:t>Here: straight, tight, nothing strange. Fit the line.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Never fit a regression you haven’t looked at. A curve, a funnel, or one wild point all change what you should do next.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 with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regression line 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(area_cm2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mass_g,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 marL="0">
              <a:buNone/>
            </a:pPr>
            <a:r>
              <a:rPr/>
              <a:t>Nothing prints. </a:t>
            </a:r>
            <a:r>
              <a:rPr>
                <a:latin typeface="Courier"/>
              </a:rPr>
              <a:t>lm()</a:t>
            </a:r>
            <a:r>
              <a:rPr/>
              <a:t> hands back a </a:t>
            </a:r>
            <a:r>
              <a:rPr b="1"/>
              <a:t>model object</a:t>
            </a:r>
            <a:r>
              <a:rPr/>
              <a:t> that is holding the answer — </a:t>
            </a:r>
            <a:r>
              <a:rPr>
                <a:latin typeface="Courier"/>
              </a:rPr>
              <a:t>summary()</a:t>
            </a:r>
            <a:r>
              <a:rPr/>
              <a:t> is what shows it to you.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formula is the whole trick: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df)</a:t>
            </a:r>
          </a:p>
          <a:p>
            <a:pPr lvl="0"/>
            <a:r>
              <a:rPr b="1"/>
              <a:t>Y</a:t>
            </a:r>
            <a:r>
              <a:rPr/>
              <a:t> — the response — goes on the </a:t>
            </a:r>
            <a:r>
              <a:rPr b="1"/>
              <a:t>left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</a:p>
          <a:p>
            <a:pPr lvl="0"/>
            <a:r>
              <a:rPr b="1"/>
              <a:t>X</a:t>
            </a:r>
            <a:r>
              <a:rPr/>
              <a:t> — the explanatory variable — goes on the </a:t>
            </a:r>
            <a:r>
              <a:rPr b="1"/>
              <a:t>right</a:t>
            </a:r>
          </a:p>
          <a:p>
            <a:pPr lvl="0"/>
            <a:r>
              <a:rPr>
                <a:latin typeface="Courier"/>
              </a:rPr>
              <a:t>~</a:t>
            </a:r>
            <a:r>
              <a:rPr/>
              <a:t> reads as </a:t>
            </a:r>
            <a:r>
              <a:rPr b="1"/>
              <a:t>“is predicted by”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area_cm2 ~ mass_g</a:t>
            </a:r>
            <a:r>
              <a:rPr/>
              <a:t> is “area is predicted by mass.”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Get the order wrong and R will still answer.</a:t>
            </a:r>
            <a:r>
              <a:rPr sz="2000"/>
              <a:t> </a:t>
            </a:r>
            <a:r>
              <a:rPr sz="2000">
                <a:latin typeface="Courier"/>
              </a:rPr>
              <a:t>lm(mass_g ~ area_cm2)</a:t>
            </a:r>
            <a:r>
              <a:rPr sz="2000"/>
              <a:t> runs fine — it just fits the question you didn’t ask.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summary()</a:t>
            </a:r>
            <a:r>
              <a:rPr/>
              <a:t> — the Whole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model ---------------------------------------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area_cm2 ~ mass_g, data = paper_df)
Residuals:
    Min      1Q  Median      3Q     Max 
-7.2774 -0.3059 -0.1221  0.2264  8.7592 
Coefficients:
            Estimate Std. Error t value Pr(&gt;|t|)    
(Intercept)   0.2792     0.1812   1.541    0.126    
mass_g      130.5234     0.1473 885.964   &lt;2e-16 ***
---
Signif. codes:  0 '***' 0.001 '**' 0.01 '*' 0.05 '.' 0.1 ' ' 1
Residual standard error: 1.764 on 116 degrees of freedom
Multiple R-squared:  0.9999,    Adjusted R-squared:  0.9999 
F-statistic: 7.849e+05 on 1 and 116 DF,  p-value: &lt; 2.2e-16</a:t>
            </a:r>
          </a:p>
          <a:p>
            <a:pPr lvl="0" indent="0" marL="0">
              <a:buNone/>
            </a:pPr>
            <a:r>
              <a:rPr/>
              <a:t>There are only </a:t>
            </a:r>
            <a:r>
              <a:rPr b="1"/>
              <a:t>four numbers</a:t>
            </a:r>
            <a:r>
              <a:rPr/>
              <a:t> in here that you need, and we will take them one at a time: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slope</a:t>
            </a:r>
            <a:r>
              <a:rPr/>
              <a:t> (</a:t>
            </a:r>
            <a:r>
              <a:rPr>
                <a:latin typeface="Courier"/>
              </a:rPr>
              <a:t>mass_g</a:t>
            </a:r>
            <a:r>
              <a:rPr/>
              <a:t> → </a:t>
            </a:r>
            <a:r>
              <a:rPr>
                <a:latin typeface="Courier"/>
              </a:rPr>
              <a:t>Estimate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intercept</a:t>
            </a:r>
            <a:r>
              <a:rPr/>
              <a:t> (</a:t>
            </a:r>
            <a:r>
              <a:rPr>
                <a:latin typeface="Courier"/>
              </a:rPr>
              <a:t>(Intercept)</a:t>
            </a:r>
            <a:r>
              <a:rPr/>
              <a:t> → </a:t>
            </a:r>
            <a:r>
              <a:rPr>
                <a:latin typeface="Courier"/>
              </a:rPr>
              <a:t>Estimate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slope’s </a:t>
            </a:r>
            <a:r>
              <a:rPr b="1" i="1"/>
              <a:t>p</a:t>
            </a:r>
            <a:r>
              <a:rPr b="1"/>
              <a:t>-value</a:t>
            </a:r>
            <a:r>
              <a:rPr/>
              <a:t> (</a:t>
            </a:r>
            <a:r>
              <a:rPr>
                <a:latin typeface="Courier"/>
              </a:rPr>
              <a:t>mass_g</a:t>
            </a:r>
            <a:r>
              <a:rPr/>
              <a:t> → </a:t>
            </a:r>
            <a:r>
              <a:rPr>
                <a:latin typeface="Courier"/>
              </a:rPr>
              <a:t>Pr(&gt;|t|)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R²</a:t>
            </a:r>
            <a:r>
              <a:rPr/>
              <a:t> (</a:t>
            </a:r>
            <a:r>
              <a:rPr>
                <a:latin typeface="Courier"/>
              </a:rPr>
              <a:t>Multiple R-squared</a:t>
            </a:r>
            <a:r>
              <a:rPr/>
              <a:t>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It — 1. The Coefficients 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Coefficients:
            Estimate Std. Error t value Pr(&gt;|t|)
(Intercept)   0.2792     0.1812   1.541    0.126
mass_g      130.5234     0.1473 885.964   &lt;2e-16</a:t>
                </a:r>
              </a:p>
              <a:p>
                <a:pPr lvl="0" indent="0" marL="0">
                  <a:buNone/>
                </a:pPr>
                <a:r>
                  <a:rPr b="1"/>
                  <a:t>The </a:t>
                </a:r>
                <a:r>
                  <a:rPr b="1">
                    <a:latin typeface="Courier"/>
                  </a:rPr>
                  <a:t>Estimate</a:t>
                </a:r>
                <a:r>
                  <a:rPr b="1"/>
                  <a:t> column is the equation.</a:t>
                </a:r>
              </a:p>
              <a:p>
                <a:pPr lvl="0"/>
                <a:r>
                  <a:rPr>
                    <a:latin typeface="Courier"/>
                  </a:rPr>
                  <a:t>(Intercept)</a:t>
                </a:r>
                <a:r>
                  <a:rPr/>
                  <a:t> = </a:t>
                </a:r>
                <a:r>
                  <a:rPr b="1"/>
                  <a:t>0.28</a:t>
                </a:r>
                <a:r>
                  <a:rPr/>
                  <a:t> → that is </a:t>
                </a:r>
                <a:r>
                  <a:rPr i="1"/>
                  <a:t>a</a:t>
                </a:r>
              </a:p>
              <a:p>
                <a:pPr lvl="0"/>
                <a:r>
                  <a:rPr>
                    <a:latin typeface="Courier"/>
                  </a:rPr>
                  <a:t>mass_g</a:t>
                </a:r>
                <a:r>
                  <a:rPr/>
                  <a:t> = </a:t>
                </a:r>
                <a:r>
                  <a:rPr b="1"/>
                  <a:t>130.52</a:t>
                </a:r>
                <a:r>
                  <a:rPr/>
                  <a:t> → that is </a:t>
                </a:r>
                <a:r>
                  <a:rPr i="1"/>
                  <a:t>b</a:t>
                </a:r>
                <a:r>
                  <a:rPr/>
                  <a:t>, the slope</a:t>
                </a:r>
              </a:p>
              <a:p>
                <a:pPr lvl="0" indent="0" marL="0">
                  <a:buNone/>
                </a:pPr>
                <a:r>
                  <a:rPr/>
                  <a:t>So the fitted line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0.28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130.52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Say the slope out loud, with units:</a:t>
            </a:r>
          </a:p>
          <a:p>
            <a:pPr lvl="0" indent="0" marL="1270000">
              <a:buNone/>
            </a:pPr>
            <a:r>
              <a:rPr sz="2000"/>
              <a:t>Every extra </a:t>
            </a:r>
            <a:r>
              <a:rPr sz="2000" b="1"/>
              <a:t>1 gram</a:t>
            </a:r>
            <a:r>
              <a:rPr sz="2000"/>
              <a:t> of this paper is another </a:t>
            </a:r>
            <a:r>
              <a:rPr sz="2000" b="1"/>
              <a:t>130.5 cm²</a:t>
            </a:r>
            <a:r>
              <a:rPr sz="2000"/>
              <a:t> of area.</a:t>
            </a:r>
          </a:p>
          <a:p>
            <a:pPr lvl="0" indent="0" marL="0">
              <a:buNone/>
            </a:pPr>
            <a:r>
              <a:rPr/>
              <a:t>That is the conversion factor we came for.</a:t>
            </a:r>
          </a:p>
          <a:p>
            <a:pPr lvl="0" indent="0" marL="0">
              <a:buNone/>
            </a:pPr>
            <a:r>
              <a:rPr b="1"/>
              <a:t>The other three columns, in one line each: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9700"/>
                <a:gridCol w="2628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Std.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uncertain that estimate 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Estimate ÷ Std. Error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Pr(&gt;|t|)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 i="1"/>
                        <a:t>p</a:t>
                      </a:r>
                      <a:r>
                        <a:rPr b="1"/>
                        <a:t>-value</a:t>
                      </a:r>
                      <a:r>
                        <a:rPr/>
                        <a:t> for that row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W&amp;S §17.3 p. 551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It — 2. The Two </a:t>
            </a:r>
            <a:r>
              <a:rPr i="1"/>
              <a:t>p</a:t>
            </a:r>
            <a:r>
              <a:rPr/>
              <a:t>-Values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(Intercept)   0.2792   ...   0.126
mass_g      130.5234   ...  &lt;2e-16</a:t>
            </a:r>
          </a:p>
          <a:p>
            <a:pPr lvl="0" indent="0" marL="0">
              <a:buNone/>
            </a:pPr>
            <a:r>
              <a:rPr b="1"/>
              <a:t>The slope row is the one that matters.</a:t>
            </a:r>
            <a:r>
              <a:rPr/>
              <a:t> </a:t>
            </a:r>
            <a:r>
              <a:rPr>
                <a:latin typeface="Courier"/>
              </a:rPr>
              <a:t>Pr(&gt;|t|)</a:t>
            </a:r>
            <a:r>
              <a:rPr/>
              <a:t> for </a:t>
            </a:r>
            <a:r>
              <a:rPr>
                <a:latin typeface="Courier"/>
              </a:rPr>
              <a:t>mass_g</a:t>
            </a:r>
            <a:r>
              <a:rPr/>
              <a:t> is </a:t>
            </a:r>
            <a:r>
              <a:rPr>
                <a:latin typeface="Courier"/>
              </a:rPr>
              <a:t>&lt;2e-16</a:t>
            </a:r>
            <a:r>
              <a:rPr/>
              <a:t> — R’s way of writing “smaller than I can print.”</a:t>
            </a:r>
          </a:p>
          <a:p>
            <a:pPr lvl="0"/>
            <a:r>
              <a:rPr b="1"/>
              <a:t>H₀:</a:t>
            </a:r>
            <a:r>
              <a:rPr/>
              <a:t> the slope is 0 → mass tells you nothing about area</a:t>
            </a:r>
          </a:p>
          <a:p>
            <a:pPr lvl="0"/>
            <a:r>
              <a:rPr i="1"/>
              <a:t>p</a:t>
            </a:r>
            <a:r>
              <a:rPr/>
              <a:t> &lt; 0.001 → </a:t>
            </a:r>
            <a:r>
              <a:rPr b="1"/>
              <a:t>reject H₀</a:t>
            </a:r>
            <a:r>
              <a:rPr/>
              <a:t>. Mass predicts area.</a:t>
            </a:r>
          </a:p>
          <a:p>
            <a:pPr lvl="0" indent="0" marL="0">
              <a:buNone/>
            </a:pPr>
            <a:r>
              <a:rPr b="1"/>
              <a:t>The intercept row:</a:t>
            </a:r>
            <a:r>
              <a:rPr/>
              <a:t> </a:t>
            </a:r>
            <a:r>
              <a:rPr i="1"/>
              <a:t>p</a:t>
            </a:r>
            <a:r>
              <a:rPr/>
              <a:t> = 0.126, so the intercept is </a:t>
            </a:r>
            <a:r>
              <a:rPr b="1"/>
              <a:t>not</a:t>
            </a:r>
            <a:r>
              <a:rPr/>
              <a:t> distinguishable from 0 — exactly what physics says it should be. A piece of paper with no mass has no area.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Which </a:t>
            </a:r>
            <a:r>
              <a:rPr sz="2000" b="1" i="1"/>
              <a:t>p</a:t>
            </a:r>
            <a:r>
              <a:rPr sz="2000" b="1"/>
              <a:t>-value do I report?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slope’s</a:t>
            </a:r>
            <a:r>
              <a:rPr sz="2000"/>
              <a:t>. That is the biological question. Nobody reports the intercept’s </a:t>
            </a:r>
            <a:r>
              <a:rPr sz="2000" i="1"/>
              <a:t>p</a:t>
            </a:r>
            <a:r>
              <a:rPr sz="2000"/>
              <a:t>-value unless zero means something special.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Never write </a:t>
            </a:r>
            <a:r>
              <a:rPr sz="2000" b="1" i="1"/>
              <a:t>p</a:t>
            </a:r>
            <a:r>
              <a:rPr sz="2000" b="1"/>
              <a:t> = 0.</a:t>
            </a:r>
            <a:r>
              <a:rPr sz="2000"/>
              <a:t> When R prints </a:t>
            </a:r>
            <a:r>
              <a:rPr sz="2000">
                <a:latin typeface="Courier"/>
              </a:rPr>
              <a:t>&lt;2e-16</a:t>
            </a:r>
            <a:r>
              <a:rPr sz="2000"/>
              <a:t>, you write </a:t>
            </a:r>
            <a:r>
              <a:rPr sz="2000" b="1" i="1"/>
              <a:t>p</a:t>
            </a:r>
            <a:r>
              <a:rPr sz="2000"/>
              <a:t> </a:t>
            </a:r>
            <a:r>
              <a:rPr sz="2000" b="1"/>
              <a:t>&lt; 0.001</a:t>
            </a:r>
            <a:r>
              <a:rPr sz="2000"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It — 3. R² and the Bottom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Residual standard error: 1.764 on 116 degrees of freedom
Multiple R-squared:  0.9999, Adjusted R-squared:  0.9999
F-statistic: 7.849e+05 on 1 and 116 DF,  p-value: &lt; 2.2e-16</a:t>
            </a:r>
          </a:p>
          <a:p>
            <a:pPr lvl="0"/>
            <a:r>
              <a:rPr b="1"/>
              <a:t>Multiple R-squared = 0.9999</a:t>
            </a:r>
            <a:r>
              <a:rPr/>
              <a:t> → mass explains </a:t>
            </a:r>
            <a:r>
              <a:rPr b="1"/>
              <a:t>99.99%</a:t>
            </a:r>
            <a:r>
              <a:rPr/>
              <a:t> of the variation in area. That is manufactured paper, not biology.</a:t>
            </a:r>
          </a:p>
          <a:p>
            <a:pPr lvl="0"/>
            <a:r>
              <a:rPr b="1"/>
              <a:t>F-statistic</a:t>
            </a:r>
            <a:r>
              <a:rPr/>
              <a:t> with </a:t>
            </a:r>
            <a:r>
              <a:rPr b="1"/>
              <a:t>1 and 116 DF</a:t>
            </a:r>
            <a:r>
              <a:rPr/>
              <a:t>, </a:t>
            </a:r>
            <a:r>
              <a:rPr i="1"/>
              <a:t>p</a:t>
            </a:r>
            <a:r>
              <a:rPr/>
              <a:t> &lt; 2.2e-16 → the overall test of the model. With one X it tells you the same thing as the slope’s </a:t>
            </a:r>
            <a:r>
              <a:rPr i="1"/>
              <a:t>p</a:t>
            </a:r>
            <a:r>
              <a:rPr/>
              <a:t>-value.</a:t>
            </a:r>
          </a:p>
          <a:p>
            <a:pPr lvl="0"/>
            <a:r>
              <a:rPr b="1"/>
              <a:t>Residual standard error = 1.76 cm²</a:t>
            </a:r>
            <a:r>
              <a:rPr/>
              <a:t> → a typical miss is about 1.8 cm².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Where the df come from:</a:t>
            </a:r>
          </a:p>
          <a:p>
            <a:pPr lvl="0"/>
            <a:r>
              <a:rPr b="1"/>
              <a:t>1</a:t>
            </a:r>
            <a:r>
              <a:rPr/>
              <a:t> = one explanatory variable</a:t>
            </a:r>
          </a:p>
          <a:p>
            <a:pPr lvl="0"/>
            <a:r>
              <a:rPr b="1"/>
              <a:t>116</a:t>
            </a:r>
            <a:r>
              <a:rPr/>
              <a:t> = 118 squares − 2 numbers we estimated (</a:t>
            </a:r>
            <a:r>
              <a:rPr i="1"/>
              <a:t>a</a:t>
            </a:r>
            <a:r>
              <a:rPr/>
              <a:t> and </a:t>
            </a:r>
            <a:r>
              <a:rPr i="1"/>
              <a:t>b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Use </a:t>
            </a:r>
            <a:r>
              <a:rPr b="1">
                <a:latin typeface="Courier"/>
              </a:rPr>
              <a:t>Adjusted R-squared</a:t>
            </a:r>
            <a:r>
              <a:rPr/>
              <a:t> once you have more than one X; with a single X, report </a:t>
            </a:r>
            <a:r>
              <a:rPr>
                <a:latin typeface="Courier"/>
              </a:rPr>
              <a:t>Multiple R-squared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R² = 0.9999 does not mean “everything is fine.”</a:t>
            </a:r>
            <a:r>
              <a:rPr sz="2000"/>
              <a:t> It means the points are close to the line. Whether the </a:t>
            </a:r>
            <a:r>
              <a:rPr sz="2000" i="1"/>
              <a:t>assumptions</a:t>
            </a:r>
            <a:r>
              <a:rPr sz="2000"/>
              <a:t> hold is a separate question — and we check it two slides from now.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11 Parts 1–4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1–4 now</a:t>
            </a:r>
          </a:p>
          <a:p>
            <a:pPr lvl="0" indent="0" marL="0">
              <a:buNone/>
            </a:pPr>
            <a:r>
              <a:rPr/>
              <a:t>Load the paper data, make the scatter plot, fit </a:t>
            </a:r>
            <a:r>
              <a:rPr>
                <a:latin typeface="Courier"/>
              </a:rPr>
              <a:t>lm(area_cm2 ~ mass_g)</a:t>
            </a:r>
            <a:r>
              <a:rPr/>
              <a:t>, and pull the slope, the </a:t>
            </a:r>
            <a:r>
              <a:rPr i="1"/>
              <a:t>p</a:t>
            </a:r>
            <a:r>
              <a:rPr/>
              <a:t>-value, and R² </a:t>
            </a:r>
            <a:r>
              <a:rPr b="1"/>
              <a:t>off the summary output</a:t>
            </a:r>
            <a:r>
              <a:rPr/>
              <a:t> — writing them in your answer boxes.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Plot It, Check It, Use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drawing the fitted line, reading </a:t>
            </a:r>
            <a:r>
              <a:rPr>
                <a:latin typeface="Courier"/>
              </a:rPr>
              <a:t>plot(model)</a:t>
            </a:r>
            <a:r>
              <a:rPr/>
              <a:t>, using </a:t>
            </a:r>
            <a:r>
              <a:rPr>
                <a:latin typeface="Courier"/>
              </a:rPr>
              <a:t>predict()</a:t>
            </a:r>
            <a:r>
              <a:rPr/>
              <a:t> on one tracing and then on a whole column, and writing the result up.</a:t>
            </a:r>
          </a:p>
          <a:p>
            <a:pPr lvl="0" indent="0" marL="0">
              <a:buNone/>
            </a:pPr>
            <a:r>
              <a:rPr b="1"/>
              <a:t>🛑 After this chunk: Activity Parts 5–9</a:t>
            </a:r>
            <a:r>
              <a:rPr/>
              <a:t> (plot the line, check the residuals, predict, report).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Draw the Line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with the fitted line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_lecture_files/figure-pptx/calibration-plain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extra line.</a:t>
            </a:r>
            <a:r>
              <a:rPr/>
              <a:t> </a:t>
            </a:r>
            <a:r>
              <a:rPr>
                <a:latin typeface="Courier"/>
              </a:rPr>
              <a:t>geom_smooth(method = "lm")</a:t>
            </a:r>
            <a:r>
              <a:rPr/>
              <a:t> fits the same regression again, just for drawing, and adds:</a:t>
            </a:r>
          </a:p>
          <a:p>
            <a:pPr lvl="0"/>
            <a:r>
              <a:rPr/>
              <a:t>the </a:t>
            </a:r>
            <a:r>
              <a:rPr b="1"/>
              <a:t>fitted line</a:t>
            </a:r>
          </a:p>
          <a:p>
            <a:pPr lvl="0"/>
            <a:r>
              <a:rPr/>
              <a:t>a grey </a:t>
            </a:r>
            <a:r>
              <a:rPr b="1"/>
              <a:t>95% confidence band</a:t>
            </a:r>
            <a:r>
              <a:rPr/>
              <a:t> around it</a:t>
            </a:r>
          </a:p>
          <a:p>
            <a:pPr lvl="0" indent="0" marL="0">
              <a:buNone/>
            </a:pPr>
            <a:r>
              <a:rPr b="1"/>
              <a:t>The band is narrowest in the middle</a:t>
            </a:r>
            <a:r>
              <a:rPr/>
              <a:t> of the data and flares at the ends — the line is pinned down best where you have the most data. Here it is so narrow you can barely see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geom_smooth()</a:t>
            </a:r>
            <a:r>
              <a:rPr sz="2000"/>
              <a:t> defaults to a wiggly curve. </a:t>
            </a:r>
            <a:r>
              <a:rPr sz="2000" b="1">
                <a:latin typeface="Courier"/>
              </a:rPr>
              <a:t>method = "lm"</a:t>
            </a:r>
            <a:r>
              <a:rPr sz="2000" b="1"/>
              <a:t> is what makes it a straight regression line.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Plot, Dressed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publication version — for reference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area (cm²)"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_lecture_files/figure-pptx/calibration-dressed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828800"/>
            <a:ext cx="44323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version you’d put in a report</a:t>
            </a:r>
            <a:r>
              <a:rPr/>
              <a:t> — and it is only two additions to the plot you already made:</a:t>
            </a:r>
          </a:p>
          <a:p>
            <a:pPr lvl="0"/>
            <a:r>
              <a:rPr>
                <a:latin typeface="Courier"/>
              </a:rPr>
              <a:t>labs()</a:t>
            </a:r>
            <a:r>
              <a:rPr/>
              <a:t> — real axis labels with units</a:t>
            </a:r>
          </a:p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drop the grey background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Don’t type this today.</a:t>
            </a:r>
            <a:r>
              <a:rPr sz="2000"/>
              <a:t> Get the plain </a:t>
            </a:r>
            <a:r>
              <a:rPr sz="2000">
                <a:latin typeface="Courier"/>
              </a:rPr>
              <a:t>geom_point() + geom_smooth(method = "lm")</a:t>
            </a:r>
            <a:r>
              <a:rPr sz="2000"/>
              <a:t> working first. Labels and themes are the last thing you add, once you know the plot is right.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the Residuals — </a:t>
            </a:r>
            <a:r>
              <a:rPr>
                <a:latin typeface="Courier"/>
              </a:rPr>
              <a:t>plot(model)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All four residual plots in one call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</p:txBody>
      </p:sp>
      <p:pic>
        <p:nvPicPr>
          <p:cNvPr descr="regression_lecture_files/figure-pptx/diagnostic-plots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" y="1270000"/>
            <a:ext cx="36322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par(mfrow = c(2, 2))</a:t>
            </a:r>
            <a:r>
              <a:rPr/>
              <a:t> just says “put the next four plots in a 2×2 grid.”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2600"/>
                <a:gridCol w="15367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Fitted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linear? equal scatter?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Q-Q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bell-shaped?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Scale-Location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equal scatter again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Leverage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one point running the show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Panel 1 is the one to look at first.</a:t>
            </a:r>
          </a:p>
          <a:p>
            <a:pPr lvl="0"/>
            <a:r>
              <a:rPr/>
              <a:t>✅ </a:t>
            </a:r>
            <a:r>
              <a:rPr b="1"/>
              <a:t>Good:</a:t>
            </a:r>
            <a:r>
              <a:rPr/>
              <a:t> a flat, shapeless cloud around 0</a:t>
            </a:r>
          </a:p>
          <a:p>
            <a:pPr lvl="0"/>
            <a:r>
              <a:rPr/>
              <a:t>❌ </a:t>
            </a:r>
            <a:r>
              <a:rPr b="1"/>
              <a:t>Curved:</a:t>
            </a:r>
            <a:r>
              <a:rPr/>
              <a:t> the relationship isn’t straight</a:t>
            </a:r>
          </a:p>
          <a:p>
            <a:pPr lvl="0"/>
            <a:r>
              <a:rPr/>
              <a:t>❌ </a:t>
            </a:r>
            <a:r>
              <a:rPr b="1"/>
              <a:t>Funnel:</a:t>
            </a:r>
            <a:r>
              <a:rPr/>
              <a:t> the scatter grows as Y grows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Our Residual Plot Is Telling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at panel 1 again. The points </a:t>
            </a:r>
            <a:r>
              <a:rPr b="1"/>
              <a:t>fan out</a:t>
            </a:r>
            <a:r>
              <a:rPr/>
              <a:t> — a 1 cm² square misses by hundredths of a cm², a 567 cm² square misses by several cm².</a:t>
            </a:r>
          </a:p>
          <a:p>
            <a:pPr lvl="0" indent="0" marL="0">
              <a:buNone/>
            </a:pPr>
            <a:r>
              <a:rPr/>
              <a:t>That is a </a:t>
            </a:r>
            <a:r>
              <a:rPr b="1"/>
              <a:t>funnel</a:t>
            </a:r>
            <a:r>
              <a:rPr/>
              <a:t>: assumption 3 (equal variance) does not hold.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big are the misses at each square size?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residual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biggest_miss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(residual)),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2
   area_cm2 biggest_miss
      &lt;dbl&gt;        &lt;dbl&gt;
 1        1         0.35
 2        4         0.59
 3       16         0.65
 4       36         0.96
 5       64         1.3 
 6      100         3.09
 7      225         2   
 8      400         7.28
 9      500         7.39
10      567  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 great R² and a bad residual plot can live together.</a:t>
            </a:r>
            <a:r>
              <a:rPr sz="2000"/>
              <a:t> R² says the points are near the line. The residual plot says the </a:t>
            </a:r>
            <a:r>
              <a:rPr sz="2000" i="1"/>
              <a:t>size of the miss</a:t>
            </a:r>
            <a:r>
              <a:rPr sz="2000"/>
              <a:t> depends on how big the square is — which it does, because a balance has percentage error, not fixed error.</a:t>
            </a:r>
          </a:p>
          <a:p>
            <a:pPr lvl="0" indent="0" marL="0">
              <a:buNone/>
            </a:pPr>
            <a:r>
              <a:rPr b="1"/>
              <a:t>So what do we do?</a:t>
            </a:r>
          </a:p>
          <a:p>
            <a:pPr lvl="0"/>
            <a:r>
              <a:rPr/>
              <a:t>For </a:t>
            </a:r>
            <a:r>
              <a:rPr b="1"/>
              <a:t>predicting a leaf tracing</a:t>
            </a:r>
            <a:r>
              <a:rPr/>
              <a:t> (0.1–0.4 g) we are down in the tight end of the line, where a typical miss is a fraction of a cm². The calibration is fine for the job.</a:t>
            </a:r>
          </a:p>
          <a:p>
            <a:pPr lvl="0"/>
            <a:r>
              <a:rPr/>
              <a:t>The </a:t>
            </a:r>
            <a:r>
              <a:rPr b="1"/>
              <a:t>confidence intervals</a:t>
            </a:r>
            <a:r>
              <a:rPr/>
              <a:t> at the big-square end are the part you shouldn’t trust.</a:t>
            </a:r>
          </a:p>
          <a:p>
            <a:pPr lvl="0"/>
            <a:r>
              <a:rPr/>
              <a:t>The proper fix — fitting on a log scale, or weighting the points — is a </a:t>
            </a:r>
            <a:r>
              <a:rPr b="1"/>
              <a:t>graduate</a:t>
            </a:r>
            <a:r>
              <a:rPr/>
              <a:t> topic. Knowing to look, and saying what you saw, is the undergraduate job.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Predict One Tracing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the area of one leaf tracing 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The tracing weighed 0.138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one_tracing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one_tracing)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1 
18.29144 </a:t>
            </a:r>
          </a:p>
          <a:p>
            <a:pPr lvl="0" indent="0" marL="0">
              <a:buNone/>
            </a:pPr>
            <a:r>
              <a:rPr/>
              <a:t>An 0.138 g tracing is about </a:t>
            </a:r>
            <a:r>
              <a:rPr b="1"/>
              <a:t>18.3 cm²</a:t>
            </a:r>
            <a:r>
              <a:rPr/>
              <a:t> of leaf.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predict()</a:t>
            </a:r>
            <a:r>
              <a:rPr b="1"/>
              <a:t> takes two things:</a:t>
            </a:r>
          </a:p>
          <a:p>
            <a:pPr lvl="0"/>
            <a:r>
              <a:rPr/>
              <a:t>the </a:t>
            </a:r>
            <a:r>
              <a:rPr b="1"/>
              <a:t>model</a:t>
            </a:r>
            <a:r>
              <a:rPr/>
              <a:t> you fitted</a:t>
            </a:r>
          </a:p>
          <a:p>
            <a:pPr lvl="0"/>
            <a:r>
              <a:rPr>
                <a:latin typeface="Courier"/>
              </a:rPr>
              <a:t>newdata =</a:t>
            </a:r>
            <a:r>
              <a:rPr/>
              <a:t> — a small data frame of the X values you want predictions for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column in </a:t>
            </a:r>
            <a:r>
              <a:rPr sz="2000" b="1">
                <a:latin typeface="Courier"/>
              </a:rPr>
              <a:t>newdata</a:t>
            </a:r>
            <a:r>
              <a:rPr sz="2000" b="1"/>
              <a:t> must have the same name as in the model.</a:t>
            </a:r>
            <a:r>
              <a:rPr sz="2000"/>
              <a:t> The model was built on </a:t>
            </a:r>
            <a:r>
              <a:rPr sz="2000">
                <a:latin typeface="Courier"/>
              </a:rPr>
              <a:t>mass_g</a:t>
            </a:r>
            <a:r>
              <a:rPr sz="2000"/>
              <a:t>, so </a:t>
            </a:r>
            <a:r>
              <a:rPr sz="2000">
                <a:latin typeface="Courier"/>
              </a:rPr>
              <a:t>newdata</a:t>
            </a:r>
            <a:r>
              <a:rPr sz="2000"/>
              <a:t> needs a column called </a:t>
            </a:r>
            <a:r>
              <a:rPr sz="2000">
                <a:latin typeface="Courier"/>
              </a:rPr>
              <a:t>mass_g</a:t>
            </a:r>
            <a:r>
              <a:rPr sz="2000"/>
              <a:t>. Call it </a:t>
            </a:r>
            <a:r>
              <a:rPr sz="2000">
                <a:latin typeface="Courier"/>
              </a:rPr>
              <a:t>mass</a:t>
            </a:r>
            <a:r>
              <a:rPr sz="2000"/>
              <a:t> and R stops with </a:t>
            </a:r>
            <a:r>
              <a:rPr sz="2000" i="1"/>
              <a:t>“object ‘mass_g’ not found.”</a:t>
            </a:r>
          </a:p>
          <a:p>
            <a:pPr lvl="0" indent="0" marL="0">
              <a:buNone/>
            </a:pPr>
            <a:r>
              <a:rPr/>
              <a:t>This beats doing the arithmetic yourself — no copying the slope, nothing to mistype.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 with an Interval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Two tracings, with 95% prediction intervals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two_tracings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two_tracings,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fit       lwr      upr
1 12.28736  8.777018 15.79771
2 18.29144 14.781578 21.80131</a:t>
            </a:r>
          </a:p>
          <a:p>
            <a:pPr lvl="0" indent="0" marL="0">
              <a:buNone/>
            </a:pPr>
            <a:r>
              <a:rPr/>
              <a:t>The 0.138 g tracing is </a:t>
            </a:r>
            <a:r>
              <a:rPr b="1"/>
              <a:t>18.3 cm²</a:t>
            </a:r>
            <a:r>
              <a:rPr/>
              <a:t>, somewhere between about </a:t>
            </a:r>
            <a:r>
              <a:rPr b="1"/>
              <a:t>14.8 and 21.8 cm²</a:t>
            </a:r>
            <a:r>
              <a:rPr/>
              <a:t>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interval = "prediction"</a:t>
            </a:r>
            <a:r>
              <a:rPr/>
              <a:t> adds two columns:</a:t>
            </a:r>
          </a:p>
          <a:p>
            <a:pPr lvl="0"/>
            <a:r>
              <a:rPr>
                <a:latin typeface="Courier"/>
              </a:rPr>
              <a:t>fit</a:t>
            </a:r>
            <a:r>
              <a:rPr/>
              <a:t> — the prediction</a:t>
            </a:r>
          </a:p>
          <a:p>
            <a:pPr lvl="0"/>
            <a:r>
              <a:rPr>
                <a:latin typeface="Courier"/>
              </a:rPr>
              <a:t>lwr</a:t>
            </a:r>
            <a:r>
              <a:rPr/>
              <a:t> and </a:t>
            </a:r>
            <a:r>
              <a:rPr>
                <a:latin typeface="Courier"/>
              </a:rPr>
              <a:t>upr</a:t>
            </a:r>
            <a:r>
              <a:rPr/>
              <a:t> — the 95% range</a:t>
            </a:r>
          </a:p>
          <a:p>
            <a:pPr lvl="0" indent="0" marL="0">
              <a:buNone/>
            </a:pPr>
            <a:r>
              <a:rPr b="1"/>
              <a:t>Two kinds of interval: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2019300"/>
                <a:gridCol w="101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interval =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Range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Width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"confidence"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average</a:t>
                      </a:r>
                      <a:r>
                        <a:rPr/>
                        <a:t> area of all tracings this heavy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narrower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"prediction"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one particular</a:t>
                      </a:r>
                      <a:r>
                        <a:rPr/>
                        <a:t> tracing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single real leaf, use </a:t>
            </a:r>
            <a:r>
              <a:rPr b="1">
                <a:latin typeface="Courier"/>
              </a:rPr>
              <a:t>"prediction"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📖 W&amp;S §17.2 pp. 548–550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Convert a Whole Column of Tracings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our leaf data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Turn every tracing mass into an area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leaf_area_cm2 =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paper_mass_g)))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(teams, shade, mass_g, paper_mass_g, leaf_area_cm2)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5
   teams shade mass_g paper_mass_g leaf_area_cm2
   &lt;chr&gt; &lt;chr&gt;  &lt;dbl&gt;        &lt;dbl&gt;         &lt;dbl&gt;
 1 12345 sunny   0.4          0.21          27.7
 2 12345 sunny   0.48         0.21          27.7
 3 12345 sunny   0.34         0.21          27.7
 4 12345 sunny   0.65         0.24          31.6
 5 12345 sunny   0.27         0.15          19.9
 6 12345 sunny   0.43         0.34          44.7
 7 12345 shady   0.39         0.29          38.1
 8 12345 shady   0.45         0.25          32.9
 9 12345 shady   0.6          0.23          30.3
10 12345 shady   0.57         0.28          36.8
# ℹ 43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payoff.</a:t>
            </a:r>
            <a:r>
              <a:rPr/>
              <a:t> </a:t>
            </a:r>
            <a:r>
              <a:rPr>
                <a:latin typeface="Courier"/>
              </a:rPr>
              <a:t>paper_mass_g</a:t>
            </a:r>
            <a:r>
              <a:rPr/>
              <a:t> was the mass of each leaf’s tracing. Now every leaf has a </a:t>
            </a:r>
            <a:r>
              <a:rPr b="1">
                <a:latin typeface="Courier"/>
              </a:rPr>
              <a:t>leaf_area_cm2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The one fiddly bit</a:t>
            </a:r>
            <a:r>
              <a:rPr/>
              <a:t> is the same rule as before: </a:t>
            </a:r>
            <a:r>
              <a:rPr>
                <a:latin typeface="Courier"/>
              </a:rPr>
              <a:t>predict()</a:t>
            </a:r>
            <a:r>
              <a:rPr/>
              <a:t> wants a column called </a:t>
            </a:r>
            <a:r>
              <a:rPr>
                <a:latin typeface="Courier"/>
              </a:rPr>
              <a:t>mass_g</a:t>
            </a:r>
            <a:r>
              <a:rPr/>
              <a:t>, so we hand it </a:t>
            </a:r>
            <a:r>
              <a:rPr>
                <a:latin typeface="Courier"/>
              </a:rPr>
              <a:t>tibble(mass_g = paper_mass_g)</a:t>
            </a:r>
            <a:r>
              <a:rPr/>
              <a:t> — our tracing masses, under the name the model knows.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</a:t>
            </a:r>
            <a:r>
              <a:rPr sz="2000" b="1">
                <a:latin typeface="Courier"/>
              </a:rPr>
              <a:t>NA</a:t>
            </a:r>
            <a:r>
              <a:rPr sz="2000" b="1"/>
              <a:t>s are honest.</a:t>
            </a:r>
            <a:r>
              <a:rPr sz="2000"/>
              <a:t> One team never weighed their tracings, so those leaves have no area. </a:t>
            </a:r>
            <a:r>
              <a:rPr sz="2000">
                <a:latin typeface="Courier"/>
              </a:rPr>
              <a:t>predict()</a:t>
            </a:r>
            <a:r>
              <a:rPr sz="2000"/>
              <a:t> passes the missing value straight through instead of inventing a number.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Was the Area Different Between Sides?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Predicted leaf area by side 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leaf_area_plot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leaf_area_cm2))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leaf_area_plot</a:t>
            </a:r>
          </a:p>
        </p:txBody>
      </p:sp>
      <p:pic>
        <p:nvPicPr>
          <p:cNvPr descr="regression_lecture_files/figure-pptx/leaf-area-plot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65300"/>
            <a:ext cx="44323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predicted area per side 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(leaf_area_cm2)),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mean_area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(leaf_area_cm2,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shade     n mean_area
  &lt;chr&gt; &lt;int&gt;     &lt;dbl&gt;
1 shady    21      36.7
2 sunny    19      36.0</a:t>
            </a:r>
          </a:p>
          <a:p>
            <a:pPr lvl="0" indent="0" marL="0">
              <a:buNone/>
            </a:pPr>
            <a:r>
              <a:rPr/>
              <a:t>About </a:t>
            </a:r>
            <a:r>
              <a:rPr b="1"/>
              <a:t>37 cm²</a:t>
            </a:r>
            <a:r>
              <a:rPr/>
              <a:t> on the shady side and </a:t>
            </a:r>
            <a:r>
              <a:rPr b="1"/>
              <a:t>36 cm²</a:t>
            </a:r>
            <a:r>
              <a:rPr/>
              <a:t> on the sunny side — the same story the t-test told us about mass, now in the units we actually wanted.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this matters.</a:t>
            </a:r>
            <a:r>
              <a:rPr sz="2000"/>
              <a:t> “Shady leaves weigh 0.02 g more” means little to a reader. “Shady leaves are about 1 cm² bigger” is a sentence an ecologist can use.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to Report a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template — fill in from your </a:t>
            </a:r>
            <a:r>
              <a:rPr b="1">
                <a:latin typeface="Courier"/>
              </a:rPr>
              <a:t>summary()</a:t>
            </a:r>
            <a:r>
              <a:rPr b="1"/>
              <a:t> output:</a:t>
            </a:r>
          </a:p>
          <a:p>
            <a:pPr lvl="0" indent="0" marL="1270000">
              <a:buNone/>
            </a:pPr>
            <a:r>
              <a:rPr sz="2000" i="1"/>
              <a:t>[What predicted what] (linear regression: F(df₁, df₂) = ___, p ___, R² = ___). The fitted equation was Y = ___ + ___ × X.</a:t>
            </a:r>
          </a:p>
          <a:p>
            <a:pPr lvl="0" indent="0" marL="0">
              <a:buNone/>
            </a:pPr>
            <a:r>
              <a:rPr b="1"/>
              <a:t>Ours:</a:t>
            </a:r>
          </a:p>
          <a:p>
            <a:pPr lvl="0" indent="0" marL="1270000">
              <a:buNone/>
            </a:pPr>
            <a:r>
              <a:rPr sz="2000" i="1"/>
              <a:t>Paper mass was a very strong predictor of paper area (linear regression: F(1, 116) = 784,900, p &lt; 0.001, R² = 0.9999). The calibration equation was area = 0.28 + 130.52 × mass. Residual scatter increased with square size, so intervals for the largest squares should be treated with caution.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Where every number comes from: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6700"/>
                <a:gridCol w="2501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 the sentence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 </a:t>
                      </a:r>
                      <a:r>
                        <a:rPr>
                          <a:latin typeface="Courier"/>
                        </a:rPr>
                        <a:t>summary()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 and both 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>
                          <a:latin typeface="Courier"/>
                        </a:rPr>
                        <a:t>F-statistic:</a:t>
                      </a:r>
                      <a:r>
                        <a:rPr/>
                        <a:t> line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that same line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Multiple R-squared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intercept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(Intercept)</a:t>
                      </a:r>
                      <a:r>
                        <a:rPr/>
                        <a:t> → </a:t>
                      </a:r>
                      <a:r>
                        <a:rPr>
                          <a:latin typeface="Courier"/>
                        </a:rPr>
                        <a:t>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slope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  <a:r>
                        <a:rPr/>
                        <a:t> → </a:t>
                      </a:r>
                      <a:r>
                        <a:rPr>
                          <a:latin typeface="Courier"/>
                        </a:rPr>
                        <a:t>Estimate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include:</a:t>
            </a:r>
            <a:r>
              <a:rPr/>
              <a:t> the test name, F with both df, </a:t>
            </a:r>
            <a:r>
              <a:rPr i="1"/>
              <a:t>p</a:t>
            </a:r>
            <a:r>
              <a:rPr/>
              <a:t>, R², and </a:t>
            </a:r>
            <a:r>
              <a:rPr b="1"/>
              <a:t>the equation</a:t>
            </a:r>
            <a:r>
              <a:rPr/>
              <a:t>. Add a line about the assumptions you checked.</a:t>
            </a:r>
          </a:p>
          <a:p>
            <a:pPr lvl="0" indent="0" marL="0">
              <a:buNone/>
            </a:pPr>
            <a:r>
              <a:rPr/>
              <a:t>📖 W&amp;S §17.3 p. 553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11 Parts 5–9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5–9 now</a:t>
            </a:r>
          </a:p>
          <a:p>
            <a:pPr lvl="0"/>
            <a:r>
              <a:rPr/>
              <a:t>Draw the line and run </a:t>
            </a:r>
            <a:r>
              <a:rPr>
                <a:latin typeface="Courier"/>
              </a:rPr>
              <a:t>plot(model)</a:t>
            </a:r>
          </a:p>
          <a:p>
            <a:pPr lvl="0"/>
            <a:r>
              <a:rPr/>
              <a:t>Predict one tracing, then convert the whole </a:t>
            </a:r>
            <a:r>
              <a:rPr>
                <a:latin typeface="Courier"/>
              </a:rPr>
              <a:t>paper_mass_g</a:t>
            </a:r>
            <a:r>
              <a:rPr/>
              <a:t> column into areas</a:t>
            </a:r>
          </a:p>
          <a:p>
            <a:pPr lvl="0"/>
            <a:r>
              <a:rPr/>
              <a:t>Write your results sentence</a:t>
            </a:r>
          </a:p>
          <a:p>
            <a:pPr lvl="0"/>
            <a:r>
              <a:rPr/>
              <a:t>Your </a:t>
            </a:r>
            <a:r>
              <a:rPr b="1"/>
              <a:t>answers</a:t>
            </a:r>
            <a:r>
              <a:rPr/>
              <a:t> in the script are what you hand in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ideas:</a:t>
                </a:r>
              </a:p>
              <a:p>
                <a:pPr lvl="0"/>
                <a:r>
                  <a:rPr/>
                  <a:t>Regression fits a line so you can </a:t>
                </a:r>
                <a:r>
                  <a:rPr b="1"/>
                  <a:t>predict Y from X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 — the </a:t>
                </a:r>
                <a:r>
                  <a:rPr b="1"/>
                  <a:t>slope</a:t>
                </a:r>
                <a:r>
                  <a:rPr/>
                  <a:t> converts X into Y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residual</a:t>
                </a:r>
                <a:r>
                  <a:rPr/>
                  <a:t> is one point’s miss: observed − predicted</a:t>
                </a:r>
              </a:p>
              <a:p>
                <a:pPr lvl="0"/>
                <a:r>
                  <a:rPr b="1"/>
                  <a:t>R²</a:t>
                </a:r>
                <a:r>
                  <a:rPr/>
                  <a:t> = how tight the fit is; </a:t>
                </a:r>
                <a:r>
                  <a:rPr b="1" i="1"/>
                  <a:t>p</a:t>
                </a:r>
                <a:r>
                  <a:rPr/>
                  <a:t> = whether the slope is real</a:t>
                </a:r>
              </a:p>
              <a:p>
                <a:pPr lvl="0"/>
                <a:r>
                  <a:rPr/>
                  <a:t>Check the </a:t>
                </a:r>
                <a:r>
                  <a:rPr b="1"/>
                  <a:t>residuals</a:t>
                </a:r>
                <a:r>
                  <a:rPr/>
                  <a:t> — and say what you saw</a:t>
                </a:r>
              </a:p>
              <a:p>
                <a:pPr lvl="0" indent="0" marL="0">
                  <a:buNone/>
                </a:pPr>
                <a:r>
                  <a:rPr b="1"/>
                  <a:t>The code:</a:t>
                </a:r>
              </a:p>
              <a:p>
                <a:pPr lvl="0"/>
                <a:r>
                  <a:rPr>
                    <a:latin typeface="Courier"/>
                  </a:rPr>
                  <a:t>lm(Y ~ X, data = df)</a:t>
                </a:r>
                <a:r>
                  <a:rPr/>
                  <a:t> — fit it</a:t>
                </a:r>
              </a:p>
              <a:p>
                <a:pPr lvl="0"/>
                <a:r>
                  <a:rPr>
                    <a:latin typeface="Courier"/>
                  </a:rPr>
                  <a:t>summary(model)</a:t>
                </a:r>
                <a:r>
                  <a:rPr/>
                  <a:t> — slope, intercept, </a:t>
                </a:r>
                <a:r>
                  <a:rPr i="1"/>
                  <a:t>p</a:t>
                </a:r>
                <a:r>
                  <a:rPr/>
                  <a:t>, R²</a:t>
                </a:r>
              </a:p>
              <a:p>
                <a:pPr lvl="0"/>
                <a:r>
                  <a:rPr>
                    <a:latin typeface="Courier"/>
                  </a:rPr>
                  <a:t>geom_smooth(method = "lm")</a:t>
                </a:r>
                <a:r>
                  <a:rPr/>
                  <a:t> — draw it</a:t>
                </a:r>
              </a:p>
              <a:p>
                <a:pPr lvl="0"/>
                <a:r>
                  <a:rPr>
                    <a:latin typeface="Courier"/>
                  </a:rPr>
                  <a:t>plot(model)</a:t>
                </a:r>
                <a:r>
                  <a:rPr/>
                  <a:t> — check it</a:t>
                </a:r>
              </a:p>
              <a:p>
                <a:pPr lvl="0"/>
                <a:r>
                  <a:rPr>
                    <a:latin typeface="Courier"/>
                  </a:rPr>
                  <a:t>predict(model, newdata = ...)</a:t>
                </a:r>
                <a:r>
                  <a:rPr/>
                  <a:t> — use it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Hand in:</a:t>
            </a:r>
            <a:r>
              <a:rPr/>
              <a:t> your finished </a:t>
            </a:r>
            <a:r>
              <a:rPr>
                <a:latin typeface="Courier"/>
              </a:rPr>
              <a:t>scripts/11_regression.R</a:t>
            </a:r>
            <a:r>
              <a:rPr/>
              <a:t> — the code is given; your </a:t>
            </a:r>
            <a:r>
              <a:rPr b="1"/>
              <a:t>answers</a:t>
            </a:r>
            <a:r>
              <a:rPr/>
              <a:t> are graded</a:t>
            </a:r>
          </a:p>
          <a:p>
            <a:pPr lvl="0" indent="0" marL="0">
              <a:buNone/>
            </a:pPr>
            <a:r>
              <a:rPr b="1"/>
              <a:t>📖 W&amp;S Ch. 17:</a:t>
            </a:r>
          </a:p>
          <a:p>
            <a:pPr lvl="0"/>
            <a:r>
              <a:rPr/>
              <a:t>§17.1 Linear regression · §17.2 Prediction</a:t>
            </a:r>
          </a:p>
          <a:p>
            <a:pPr lvl="0"/>
            <a:r>
              <a:rPr/>
              <a:t>§17.3 Testing the slope · §17.4 R²</a:t>
            </a:r>
          </a:p>
          <a:p>
            <a:pPr lvl="0"/>
            <a:r>
              <a:rPr/>
              <a:t>§17.5 Assumptions</a:t>
            </a:r>
          </a:p>
          <a:p>
            <a:pPr lvl="0" indent="0" marL="0">
              <a:buNone/>
            </a:pPr>
            <a:r>
              <a:rPr b="1"/>
              <a:t>Up next — Lecture 12:</a:t>
            </a:r>
          </a:p>
          <a:p>
            <a:pPr lvl="0"/>
            <a:r>
              <a:rPr/>
              <a:t>Pulling real climate data into R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Summarizing daily weather into yearly values</a:t>
            </a:r>
          </a:p>
          <a:p>
            <a:pPr lvl="0"/>
            <a:r>
              <a:rPr/>
              <a:t>The </a:t>
            </a: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/>
              <a:t> — temperature predicted by date</a:t>
            </a:r>
          </a:p>
          <a:p>
            <a:pPr lvl="1"/>
            <a:r>
              <a:rPr/>
              <a:t>the slope becomes a rate of change per year</a:t>
            </a:r>
          </a:p>
          <a:p>
            <a:pPr lvl="1"/>
            <a:r>
              <a:rPr/>
              <a:t>and you write that regression yourself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— Linear Regression</dc:title>
  <dc:creator>Bill Perry</dc:creator>
  <cp:keywords/>
  <dc:description>Fitting a linear regression with lm(), reading the summary() output, checking the residuals, and using predict() to turn a mass into an area.</dc:description>
  <dcterms:created xsi:type="dcterms:W3CDTF">2026-10-06T01:00:49Z</dcterms:created>
  <dcterms:modified xsi:type="dcterms:W3CDTF">2026-10-06T01:00:49Z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2026-10-05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11</vt:lpwstr>
  </property>
  <property fmtid="{D5CDD505-2E9C-101B-9397-08002B2CF9AE}" pid="13" name="resources">
    <vt:lpwstr/>
  </property>
  <property fmtid="{D5CDD505-2E9C-101B-9397-08002B2CF9AE}" pid="14" name="subtitle">
    <vt:lpwstr>Using one measurement to predict another (Whitlock &amp; Schluter Ch. 17)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