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one measurement to predict another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(Lectures 09–10)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Five steps</a:t>
            </a:r>
            <a:r>
              <a:rPr/>
              <a:t> — hypotheses → check normality → check variance → run the test → interpret and report</a:t>
            </a:r>
          </a:p>
          <a:p>
            <a:pPr lvl="0"/>
            <a:r>
              <a:rPr b="1"/>
              <a:t>Welch’s t-test</a:t>
            </a:r>
            <a:r>
              <a:rPr/>
              <a:t> compares the </a:t>
            </a:r>
            <a:r>
              <a:rPr b="1"/>
              <a:t>means of two groups</a:t>
            </a:r>
          </a:p>
          <a:p>
            <a:pPr lvl="0"/>
            <a:r>
              <a:rPr b="1"/>
              <a:t>Pseudoreplication</a:t>
            </a:r>
            <a:r>
              <a:rPr/>
              <a:t> — average up to the thing you actually sampled before you test</a:t>
            </a:r>
          </a:p>
          <a:p>
            <a:pPr lvl="0"/>
            <a:r>
              <a:rPr b="1"/>
              <a:t>Our leaves</a:t>
            </a:r>
            <a:r>
              <a:rPr/>
              <a:t> — mean leaf </a:t>
            </a:r>
            <a:r>
              <a:rPr b="1"/>
              <a:t>mass</a:t>
            </a:r>
            <a:r>
              <a:rPr/>
              <a:t> did not differ between the shady and sunny sides</a:t>
            </a:r>
          </a:p>
          <a:p>
            <a:pPr lvl="0"/>
            <a:r>
              <a:rPr b="1"/>
              <a:t>Our sugar maples</a:t>
            </a:r>
            <a:r>
              <a:rPr/>
              <a:t> — shady-side leaves were significantly </a:t>
            </a:r>
            <a:r>
              <a:rPr b="1"/>
              <a:t>larger in area</a:t>
            </a:r>
            <a:r>
              <a:rPr/>
              <a:t> than sunny-side leaves on the same tree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Where today comes in</a:t>
            </a:r>
          </a:p>
          <a:p>
            <a:pPr lvl="0"/>
            <a:r>
              <a:rPr sz="2000"/>
              <a:t>A t-test compares two </a:t>
            </a:r>
            <a:r>
              <a:rPr sz="2000" b="1"/>
              <a:t>groups</a:t>
            </a:r>
            <a:r>
              <a:rPr sz="2000"/>
              <a:t>.</a:t>
            </a:r>
          </a:p>
          <a:p>
            <a:pPr lvl="0"/>
            <a:r>
              <a:rPr sz="2000"/>
              <a:t>Today we ask a different question:</a:t>
            </a:r>
          </a:p>
          <a:p>
            <a:pPr lvl="1"/>
            <a:r>
              <a:rPr sz="2000"/>
              <a:t>can one </a:t>
            </a:r>
            <a:r>
              <a:rPr sz="2000" b="1"/>
              <a:t>number</a:t>
            </a:r>
            <a:r>
              <a:rPr sz="2000"/>
              <a:t> predict another number?</a:t>
            </a:r>
          </a:p>
          <a:p>
            <a:pPr lvl="1"/>
            <a:r>
              <a:rPr sz="2000"/>
              <a:t>we weighed our leaf tracings, but what we actually want is </a:t>
            </a:r>
            <a:r>
              <a:rPr sz="2000" b="1"/>
              <a:t>leaf area in cm²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Understand</a:t>
                </a:r>
                <a:r>
                  <a:rPr/>
                  <a:t> what a linear regression does: fit a straight line,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 b="1"/>
                  <a:t>See</a:t>
                </a:r>
                <a:r>
                  <a:rPr/>
                  <a:t> what a </a:t>
                </a:r>
                <a:r>
                  <a:rPr b="1"/>
                  <a:t>residual</a:t>
                </a:r>
                <a:r>
                  <a:rPr/>
                  <a:t> is, in a real plot</a:t>
                </a:r>
              </a:p>
              <a:p>
                <a:pPr lvl="0"/>
                <a:r>
                  <a:rPr b="1"/>
                  <a:t>Fit</a:t>
                </a:r>
                <a:r>
                  <a:rPr/>
                  <a:t> a model with </a:t>
                </a:r>
                <a:r>
                  <a:rPr>
                    <a:latin typeface="Courier"/>
                  </a:rPr>
                  <a:t>lm()</a:t>
                </a:r>
              </a:p>
              <a:p>
                <a:pPr lvl="0"/>
                <a:r>
                  <a:rPr b="1"/>
                  <a:t>Read and interpret</a:t>
                </a:r>
                <a:r>
                  <a:rPr/>
                  <a:t> the </a:t>
                </a:r>
                <a:r>
                  <a:rPr>
                    <a:latin typeface="Courier"/>
                  </a:rPr>
                  <a:t>summary()</a:t>
                </a:r>
                <a:r>
                  <a:rPr/>
                  <a:t> output — slope, </a:t>
                </a:r>
                <a:r>
                  <a:rPr i="1"/>
                  <a:t>p</a:t>
                </a:r>
                <a:r>
                  <a:rPr/>
                  <a:t>-value, R²</a:t>
                </a:r>
              </a:p>
              <a:p>
                <a:pPr lvl="0"/>
                <a:r>
                  <a:rPr b="1"/>
                  <a:t>Check</a:t>
                </a:r>
                <a:r>
                  <a:rPr/>
                  <a:t> the residuals the way R shows them to you</a:t>
                </a:r>
              </a:p>
              <a:p>
                <a:pPr lvl="0"/>
                <a:r>
                  <a:rPr b="1"/>
                  <a:t>Use</a:t>
                </a:r>
                <a:r>
                  <a:rPr/>
                  <a:t> the slope to turn a tracing mass into a leaf area</a:t>
                </a:r>
              </a:p>
              <a:p>
                <a:pPr lvl="0"/>
                <a:r>
                  <a:rPr b="1"/>
                  <a:t>Report</a:t>
                </a:r>
                <a:r>
                  <a:rPr/>
                  <a:t> the result in a standard sentence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Tools today:</a:t>
            </a:r>
          </a:p>
          <a:p>
            <a:pPr lvl="1"/>
            <a:r>
              <a:rPr>
                <a:latin typeface="Courier"/>
              </a:rPr>
              <a:t>lm()</a:t>
            </a:r>
            <a:r>
              <a:rPr/>
              <a:t> — fit the line</a:t>
            </a:r>
          </a:p>
          <a:p>
            <a:pPr lvl="1"/>
            <a:r>
              <a:rPr>
                <a:latin typeface="Courier"/>
              </a:rPr>
              <a:t>summary()</a:t>
            </a:r>
            <a:r>
              <a:rPr/>
              <a:t> — read the result</a:t>
            </a:r>
          </a:p>
          <a:p>
            <a:pPr lvl="1"/>
            <a:r>
              <a:rPr>
                <a:latin typeface="Courier"/>
              </a:rPr>
              <a:t>plot(model)</a:t>
            </a:r>
            <a:r>
              <a:rPr/>
              <a:t> — check the residuals</a:t>
            </a:r>
          </a:p>
          <a:p>
            <a:pPr lvl="1"/>
            <a:r>
              <a:rPr/>
              <a:t>reading </a:t>
            </a:r>
            <a:r>
              <a:rPr>
                <a:latin typeface="Courier"/>
              </a:rPr>
              <a:t>7.660e-03</a:t>
            </a:r>
            <a:r>
              <a:rPr/>
              <a:t> as 0.007660</a:t>
            </a:r>
          </a:p>
          <a:p>
            <a:pPr lvl="1"/>
            <a:r>
              <a:rPr>
                <a:latin typeface="Courier"/>
              </a:rPr>
              <a:t>geom_smooth(method = "lm")</a:t>
            </a:r>
            <a:r>
              <a:rPr/>
              <a:t> — draw the line</a:t>
            </a:r>
          </a:p>
          <a:p>
            <a:pPr lvl="0"/>
            <a:r>
              <a:rPr b="1"/>
              <a:t>Reading:</a:t>
            </a:r>
          </a:p>
          <a:p>
            <a:pPr lvl="1"/>
            <a:r>
              <a:rPr/>
              <a:t>📖 Whitlock &amp; Schluter, Ch. 17 — </a:t>
            </a:r>
            <a:r>
              <a:rPr i="1"/>
              <a:t>Regression</a:t>
            </a:r>
          </a:p>
          <a:p>
            <a:pPr lvl="2"/>
            <a:r>
              <a:rPr/>
              <a:t>§17.1 Linear regression</a:t>
            </a:r>
          </a:p>
          <a:p>
            <a:pPr lvl="2"/>
            <a:r>
              <a:rPr/>
              <a:t>§17.3 Testing the slope</a:t>
            </a:r>
          </a:p>
          <a:p>
            <a:pPr lvl="2"/>
            <a:r>
              <a:rPr/>
              <a:t>§17.4 R²</a:t>
            </a:r>
          </a:p>
          <a:p>
            <a:pPr lvl="2"/>
            <a:r>
              <a:rPr/>
              <a:t>§17.5 Assumptions</a:t>
            </a:r>
          </a:p>
          <a:p>
            <a:pPr lvl="0"/>
            <a:r>
              <a:rPr b="1"/>
              <a:t>Today’s naming:</a:t>
            </a:r>
          </a:p>
          <a:p>
            <a:pPr lvl="1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1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3 · What Regression Does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We will cover:</a:t>
                </a:r>
              </a:p>
              <a:p>
                <a:pPr lvl="0"/>
                <a:r>
                  <a:rPr/>
                  <a:t>the question regression answers,</a:t>
                </a:r>
              </a:p>
              <a:p>
                <a:pPr lvl="0"/>
                <a:r>
                  <a:rPr/>
                  <a:t>the equation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,</a:t>
                </a:r>
              </a:p>
              <a:p>
                <a:pPr lvl="0"/>
                <a:r>
                  <a:rPr/>
                  <a:t>what a </a:t>
                </a:r>
                <a:r>
                  <a:rPr b="1"/>
                  <a:t>residual</a:t>
                </a:r>
                <a:r>
                  <a:rPr/>
                  <a:t> is,</a:t>
                </a:r>
              </a:p>
              <a:p>
                <a:pPr lvl="0"/>
                <a:r>
                  <a:rPr/>
                  <a:t>what </a:t>
                </a:r>
                <a:r>
                  <a:rPr b="1"/>
                  <a:t>R²</a:t>
                </a:r>
                <a:r>
                  <a:rPr/>
                  <a:t> tells you,</a:t>
                </a:r>
              </a:p>
              <a:p>
                <a:pPr lvl="0"/>
                <a:r>
                  <a:rPr/>
                  <a:t>and the assumptions.</a:t>
                </a:r>
              </a:p>
              <a:p>
                <a:pPr lvl="0"/>
                <a:r>
                  <a:rPr/>
                  <a:t>No code in this chunk — just the idea.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fits the best straight line through a cloud of points so you can </a:t>
            </a:r>
            <a:r>
              <a:rPr b="1"/>
              <a:t>predict</a:t>
            </a:r>
            <a:r>
              <a:rPr/>
              <a:t> one number (Y) from another number (X).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plot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can measure easily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x-axis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actually want to know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y-axis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usually the </a:t>
            </a:r>
            <a:r>
              <a:rPr b="1"/>
              <a:t>easy</a:t>
            </a:r>
            <a:r>
              <a:rPr/>
              <a:t> measurement. Y is the </a:t>
            </a:r>
            <a:r>
              <a:rPr b="1"/>
              <a:t>expensive</a:t>
            </a:r>
            <a:r>
              <a:rPr/>
              <a:t> one. Regression gives you an equation that converts X into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Regression vs. the t-test: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</a:t>
                      </a:r>
                      <a:r>
                        <a:rPr b="1"/>
                        <a:t>groups</a:t>
                      </a:r>
                      <a:r>
                        <a:rPr/>
                        <a:t> have different means?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b="1"/>
                        <a:t>predict</a:t>
                      </a:r>
                      <a:r>
                        <a:rPr/>
                        <a:t> 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regression when:</a:t>
            </a:r>
          </a:p>
          <a:p>
            <a:pPr lvl="0"/>
            <a:r>
              <a:rPr/>
              <a:t>both variables are </a:t>
            </a:r>
            <a:r>
              <a:rPr b="1"/>
              <a:t>numeric</a:t>
            </a:r>
          </a:p>
          <a:p>
            <a:pPr lvl="0"/>
            <a:r>
              <a:rPr/>
              <a:t>X could reasonably predict Y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, not just a yes/no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Real Example from the Textbook</a:t>
            </a:r>
          </a:p>
        </p:txBody>
      </p:sp>
      <p:pic>
        <p:nvPicPr>
          <p:cNvPr descr="regression_lecture_files/figure-pptx/lion-sca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346200"/>
            <a:ext cx="41910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Aging a wild lion is hard — you have to have watched it since it was a cub.</a:t>
            </a:r>
          </a:p>
          <a:p>
            <a:pPr lvl="0" indent="0" marL="0">
              <a:buNone/>
            </a:pPr>
            <a:r>
              <a:rPr/>
              <a:t>But a male lion’s nose </a:t>
            </a:r>
            <a:r>
              <a:rPr b="1"/>
              <a:t>darkens as it ages</a:t>
            </a:r>
            <a:r>
              <a:rPr/>
              <a:t>, and you can photograph a nose from a truck.</a:t>
            </a:r>
          </a:p>
          <a:p>
            <a:pPr lvl="0"/>
            <a:r>
              <a:rPr b="1"/>
              <a:t>X</a:t>
            </a:r>
            <a:r>
              <a:rPr/>
              <a:t> = proportion of the nose that is black — </a:t>
            </a:r>
            <a:r>
              <a:rPr i="1"/>
              <a:t>easy</a:t>
            </a:r>
          </a:p>
          <a:p>
            <a:pPr lvl="0"/>
            <a:r>
              <a:rPr b="1"/>
              <a:t>Y</a:t>
            </a:r>
            <a:r>
              <a:rPr/>
              <a:t> = age in years — </a:t>
            </a:r>
            <a:r>
              <a:rPr i="1"/>
              <a:t>what you want</a:t>
            </a:r>
          </a:p>
          <a:p>
            <a:pPr lvl="0" indent="0" marL="0">
              <a:buNone/>
            </a:pPr>
            <a:r>
              <a:rPr/>
              <a:t>Fit the line once on lions of known age, and from then on you can </a:t>
            </a:r>
            <a:r>
              <a:rPr b="1"/>
              <a:t>estimate</a:t>
            </a:r>
            <a:r>
              <a:rPr/>
              <a:t> a lion’s age from a photograph.</a:t>
            </a:r>
          </a:p>
          <a:p>
            <a:pPr lvl="0" indent="0" marL="0">
              <a:buNone/>
            </a:pPr>
            <a:r>
              <a:rPr/>
              <a:t>📖 W&amp;S §17.1, Example 17.1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Version of the Same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we want </a:t>
            </a:r>
            <a:r>
              <a:rPr b="1"/>
              <a:t>leaf area in cm²</a:t>
            </a:r>
            <a:r>
              <a:rPr/>
              <a:t>, but we don’t have a leaf-area meter. We have a balance.</a:t>
            </a:r>
          </a:p>
          <a:p>
            <a:pPr lvl="0" indent="0" marL="0">
              <a:buNone/>
            </a:pPr>
            <a:r>
              <a:rPr b="1"/>
              <a:t>The fix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</a:t>
            </a:r>
          </a:p>
          <a:p>
            <a:pPr lvl="0" indent="-342900" marL="342900">
              <a:buAutoNum type="arabicPeriod"/>
            </a:pPr>
            <a:r>
              <a:rPr/>
              <a:t>Fit the line: </a:t>
            </a:r>
            <a:r>
              <a:rPr b="1"/>
              <a:t>area ~ mass</a:t>
            </a:r>
          </a:p>
          <a:p>
            <a:pPr lvl="0" indent="-342900" marL="342900">
              <a:buAutoNum type="arabicPeriod"/>
            </a:pPr>
            <a:r>
              <a:rPr/>
              <a:t>Trace a leaf onto the </a:t>
            </a:r>
            <a:r>
              <a:rPr b="1"/>
              <a:t>same paper</a:t>
            </a:r>
            <a:r>
              <a:rPr/>
              <a:t> and weigh the tracing</a:t>
            </a:r>
          </a:p>
          <a:p>
            <a:pPr lvl="0" indent="-342900" marL="342900">
              <a:buAutoNum type="arabicPeriod"/>
            </a:pPr>
            <a:r>
              <a:rPr/>
              <a:t>Put the tracing mass into the equation → </a:t>
            </a:r>
            <a:r>
              <a:rPr b="1"/>
              <a:t>predicted leaf area</a:t>
            </a:r>
          </a:p>
          <a:p>
            <a:pPr lvl="0" indent="0" marL="0">
              <a:buNone/>
            </a:pPr>
            <a:r>
              <a:rPr b="1"/>
              <a:t>Why it works:</a:t>
            </a:r>
            <a:r>
              <a:rPr/>
              <a:t> paper from one stock has a constant </a:t>
            </a:r>
            <a:r>
              <a:rPr b="1"/>
              <a:t>area per gram</a:t>
            </a:r>
            <a:r>
              <a:rPr/>
              <a:t>, so mass and area move together almost perfectly.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Squares weighed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What it means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what the line says Y should be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b="1" /><a:t>intercept</a:t></a:r></a:p></a:txBody></a:tc><a:tc><a:txBody><a:bodyPr /><a:lstStyle /><a:p><a:pPr lvl="0" indent="0" marL="0"><a:buNone /></a:pPr><a:r><a:rPr /><a:t>Y when X = 0 — where the line crosses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b="1" /><a:t>slope</a:t></a:r></a:p></a:txBody></a:tc><a:tc><a:txBody><a:bodyPr /><a:lstStyle /><a:p><a:pPr lvl="0" indent="0" marL="0"><a:buNone /></a:pPr><a:r><a:rPr /><a:t>how much Y changes per 1 unit of X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Ours will read: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</m:t></m:r></m:oMath></m:oMathPara></a14:m></a:p><a:p><a:pPr lvl="0" indent="0" marL="0"><a:buNone /></a:pPr><a:r><a:rPr /><a:t>📖 W&amp;S §17.1 pp. 543–545</a:t></a:r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The slope is the useful one.</a:t></a:r></a:p><a:p><a:pPr lvl="0" indent="0" marL="1270000"><a:buNone /></a:pPr><a:r><a:rPr sz="2000" i="1" /><a:t>b</a:t></a:r><a:r><a:rPr sz="2000" /><a:t> = the extra cm² you get for each extra gram of paper</a:t></a:r></a:p><a:p><a:pPr lvl="0" indent="0" marL="0"><a:buNone /></a:pPr><a:r><a:rPr /><a:t>That is just the </a:t></a:r><a:r><a:rPr b="1" /><a:t>area density</a:t></a:r><a:r><a:rPr /><a:t> of the paper stock — and it is the number that does the converting.</a:t></a:r></a:p><a:p><a:pPr lvl="0" indent="0" marL="0"><a:buNone /></a:pPr><a:r><a:rPr b="1" /><a:t>The intercept is a bookkeeping number.</a:t></a:r></a:p><a:p><a:pPr lvl="0" indent="0" marL="1270000"><a:buNone /></a:pPr><a:r><a:rPr sz="2000" i="1" /><a:t>a</a:t></a:r><a:r><a:rPr sz="2000" /><a:t> = the predicted area of a piece of paper weighing nothing</a:t></a:r></a:p><a:p><a:pPr lvl="0" indent="0" marL="0"><a:buNone /></a:pPr><a:r><a:rPr /><a:t>Physically that should be 0. A small value near zero is fine; it is measurement noise, not biology.</a:t></a:r></a:p></p:txBody></p:sp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a Residual?</a:t>
            </a:r>
          </a:p>
        </p:txBody>
      </p:sp>
      <p:pic>
        <p:nvPicPr>
          <p:cNvPr descr="regression_lecture_files/figure-pptx/lion-residual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270000"/>
            <a:ext cx="41910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residual</a:t>
                </a:r>
                <a:r>
                  <a:rPr/>
                  <a:t> is one point’s miss: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residual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/>
                <a:r>
                  <a:rPr/>
                  <a:t>A point </a:t>
                </a:r>
                <a:r>
                  <a:rPr b="1"/>
                  <a:t>above</a:t>
                </a:r>
                <a:r>
                  <a:rPr/>
                  <a:t> the line → </a:t>
                </a:r>
                <a:r>
                  <a:rPr b="1"/>
                  <a:t>positive</a:t>
                </a:r>
                <a:r>
                  <a:rPr/>
                  <a:t> residual (that lion was older than its nose suggested)</a:t>
                </a:r>
              </a:p>
              <a:p>
                <a:pPr lvl="0"/>
                <a:r>
                  <a:rPr/>
                  <a:t>A point </a:t>
                </a:r>
                <a:r>
                  <a:rPr b="1"/>
                  <a:t>below</a:t>
                </a:r>
                <a:r>
                  <a:rPr/>
                  <a:t> the line → </a:t>
                </a:r>
                <a:r>
                  <a:rPr b="1"/>
                  <a:t>negative</a:t>
                </a:r>
                <a:r>
                  <a:rPr/>
                  <a:t> residual</a:t>
                </a:r>
              </a:p>
              <a:p>
                <a:pPr lvl="0"/>
                <a:r>
                  <a:rPr/>
                  <a:t>A point </a:t>
                </a:r>
                <a:r>
                  <a:rPr b="1"/>
                  <a:t>on</a:t>
                </a:r>
                <a:r>
                  <a:rPr/>
                  <a:t> the line → residual of 0</a:t>
                </a:r>
              </a:p>
              <a:p>
                <a:pPr lvl="0" indent="0" marL="0">
                  <a:buNone/>
                </a:pPr>
                <a:r>
                  <a:rPr b="1"/>
                  <a:t>The line R gives you is the one that makes those red segments as small as possible overall.</a:t>
                </a:r>
                <a:r>
                  <a:rPr/>
                  <a:t> That is all “least squares” means — and R does the work.</a:t>
                </a:r>
              </a:p>
              <a:p>
                <a:pPr lvl="0" indent="0" marL="0">
                  <a:buNone/>
                </a:pPr>
                <a:r>
                  <a:rPr/>
                  <a:t>📖 W&amp;S §17.1 p. 542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Tight Is the Fit?</a:t>
            </a:r>
          </a:p>
        </p:txBody>
      </p:sp>
      <p:pic>
        <p:nvPicPr>
          <p:cNvPr descr="regression_lecture_files/figure-pptx/r2-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78000"/>
            <a:ext cx="44323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R² runs from 0 to 1.</a:t>
            </a:r>
            <a:r>
              <a:rPr/>
              <a:t> It is the fraction of the variation in Y that the line accounts for.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Reads 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points sit </a:t>
                      </a:r>
                      <a:r>
                        <a:rPr b="1"/>
                        <a:t>on</a:t>
                      </a:r>
                      <a:r>
                        <a:rPr/>
                        <a:t> the 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</a:t>
                      </a:r>
                      <a:r>
                        <a:rPr b="1"/>
                        <a:t>62%</a:t>
                      </a:r>
                      <a:r>
                        <a:rPr/>
                        <a:t> of the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line tells you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Both of these are good regressions.</a:t>
            </a:r>
            <a:r>
              <a:rPr/>
              <a:t> Nose blackness really does predict a lion’s age — just with scatter, because lions vary. Paper is manufactured to be uniform, so it has almost none.</a:t>
            </a:r>
          </a:p>
          <a:p>
            <a:pPr lvl="0" indent="0" marL="0">
              <a:buNone/>
            </a:pPr>
            <a:r>
              <a:rPr/>
              <a:t>In biology, </a:t>
            </a:r>
            <a:r>
              <a:rPr b="1"/>
              <a:t>R² of 0.3–0.7 is normal and useful</a:t>
            </a:r>
            <a:r>
              <a:rPr/>
              <a:t>. Don’t expect 0.99.</a:t>
            </a:r>
          </a:p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R² and the </a:t>
            </a:r>
            <a:r>
              <a:rPr i="1"/>
              <a:t>p</a:t>
            </a:r>
            <a:r>
              <a:rPr/>
              <a:t>-value Answer Different Questions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/>
                <a:gridCol w="2730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question it answers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i="1"/>
                        <a:t>p</a:t>
                      </a:r>
                      <a:r>
                        <a:rPr b="1"/>
                        <a:t>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there </a:t>
                      </a:r>
                      <a:r>
                        <a:rPr b="1"/>
                        <a:t>really</a:t>
                      </a:r>
                      <a:r>
                        <a:rPr/>
                        <a:t> a relationship, or could this slope be chance?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How tightly</a:t>
                      </a:r>
                      <a:r>
                        <a:rPr/>
                        <a:t> do the points follow the line?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slope is the hypothesis test.</a:t>
            </a:r>
          </a:p>
          <a:p>
            <a:pPr lvl="0" indent="0" marL="1270000">
              <a:buNone/>
            </a:pPr>
            <a:r>
              <a:rPr sz="2000" b="1"/>
              <a:t>H₀:</a:t>
            </a:r>
            <a:r>
              <a:rPr sz="2000"/>
              <a:t> the slope is 0 — X does not predict Y</a:t>
            </a:r>
          </a:p>
          <a:p>
            <a:pPr lvl="0" indent="0" marL="1270000">
              <a:buNone/>
            </a:pPr>
            <a:r>
              <a:rPr sz="2000" b="1"/>
              <a:t>Hₐ:</a:t>
            </a:r>
            <a:r>
              <a:rPr sz="2000"/>
              <a:t> the slope is not 0 — X does predict Y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summary()</a:t>
            </a:r>
            <a:r>
              <a:rPr sz="2000"/>
              <a:t> gives you the </a:t>
            </a:r>
            <a:r>
              <a:rPr sz="2000" i="1"/>
              <a:t>p</a:t>
            </a:r>
            <a:r>
              <a:rPr sz="2000"/>
              <a:t>-value for exactly that test, and we will find it on the next few slides.</a:t>
            </a:r>
          </a:p>
          <a:p>
            <a:pPr lvl="0" indent="0" marL="0">
              <a:buNone/>
            </a:pPr>
            <a:r>
              <a:rPr/>
              <a:t>📖 W&amp;S §17.3 pp. 551–553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things need to be roughly true for the </a:t>
            </a:r>
            <a:r>
              <a:rPr i="1"/>
              <a:t>p</a:t>
            </a:r>
            <a:r>
              <a:rPr/>
              <a:t>-value and the intervals to mean anything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790700"/>
                <a:gridCol w="1536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you check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</a:t>
                      </a:r>
                      <a:r>
                        <a:rPr/>
                        <a:t> — Y really does follow a straight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scatter plot, then </a:t>
                      </a:r>
                      <a:r>
                        <a:rPr>
                          <a:latin typeface="Courier"/>
                        </a:rPr>
                        <a:t>plot(model)</a:t>
                      </a:r>
                      <a:r>
                        <a:rPr/>
                        <a:t> panel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Independent</a:t>
                      </a:r>
                      <a:r>
                        <a:rPr/>
                        <a:t> — one observation doesn’t depend on another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the scatter is about the same all the way along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plot(model)</a:t>
                      </a:r>
                      <a:r>
                        <a:rPr/>
                        <a:t> panels 1 and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 residuals</a:t>
                      </a:r>
                      <a:r>
                        <a:rPr/>
                        <a:t> — the misses are bell-shaped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plot(model)</a:t>
                      </a:r>
                      <a:r>
                        <a:rPr/>
                        <a:t> panel 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the residuals, not the raw data.</a:t>
            </a:r>
          </a:p>
          <a:p>
            <a:pPr lvl="0" indent="0" marL="1270000">
              <a:buNone/>
            </a:pPr>
            <a:r>
              <a:rPr sz="2000"/>
              <a:t>Normality here is about the </a:t>
            </a:r>
            <a:r>
              <a:rPr sz="2000" b="1"/>
              <a:t>misses</a:t>
            </a:r>
            <a:r>
              <a:rPr sz="2000"/>
              <a:t> — the red segments — not about Y itself. Y is </a:t>
            </a:r>
            <a:r>
              <a:rPr sz="2000" i="1"/>
              <a:t>supposed</a:t>
            </a:r>
            <a:r>
              <a:rPr sz="2000"/>
              <a:t> to go up with X; of course it isn’t bell-shaped.</a:t>
            </a:r>
          </a:p>
          <a:p>
            <a:pPr lvl="0" indent="0" marL="1270000">
              <a:buNone/>
            </a:pPr>
            <a:r>
              <a:rPr sz="2000"/>
              <a:t>The good news: once you have a fitted model, </a:t>
            </a:r>
            <a:r>
              <a:rPr sz="2000">
                <a:latin typeface="Courier"/>
              </a:rPr>
              <a:t>plot()</a:t>
            </a:r>
            <a:r>
              <a:rPr sz="2000"/>
              <a:t> draws all of these for you. No extra code.</a:t>
            </a:r>
          </a:p>
          <a:p>
            <a:pPr lvl="0" indent="0" marL="0">
              <a:buNone/>
            </a:pPr>
            <a:r>
              <a:rPr/>
              <a:t>Same habit as the t-test: </a:t>
            </a:r>
            <a:r>
              <a:rPr b="1"/>
              <a:t>check → decide → report.</a:t>
            </a:r>
          </a:p>
          <a:p>
            <a:pPr lvl="0" indent="0" marL="0">
              <a:buNone/>
            </a:pPr>
            <a:r>
              <a:rPr/>
              <a:t>📖 W&amp;S §17.5 pp. 557–560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3 · Fit It and Read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loading the paper data, the scatter plot, fitting with </a:t>
            </a:r>
            <a:r>
              <a:rPr>
                <a:latin typeface="Courier"/>
              </a:rPr>
              <a:t>lm()</a:t>
            </a:r>
            <a:r>
              <a:rPr/>
              <a:t>, and reading the </a:t>
            </a:r>
            <a:r>
              <a:rPr>
                <a:latin typeface="Courier"/>
              </a:rPr>
              <a:t>summary()</a:t>
            </a:r>
            <a:r>
              <a:rPr/>
              <a:t> output line by line.</a:t>
            </a:r>
          </a:p>
          <a:p>
            <a:pPr lvl="0" indent="0" marL="0">
              <a:buNone/>
            </a:pPr>
            <a:r>
              <a:rPr b="1"/>
              <a:t>🛑 After this chunk: Activity Parts 1–3</a:t>
            </a:r>
            <a:r>
              <a:rPr/>
              <a:t> (the study, load, plot, fit, read the summary).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dplyr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Two columns, 118 rows: </a:t>
            </a:r>
            <a:r>
              <a:rPr>
                <a:latin typeface="Courier"/>
              </a:rPr>
              <a:t>area_cm2</a:t>
            </a:r>
            <a:r>
              <a:rPr/>
              <a:t> is the </a:t>
            </a:r>
            <a:r>
              <a:rPr b="1"/>
              <a:t>known</a:t>
            </a:r>
            <a:r>
              <a:rPr/>
              <a:t> area of each square, </a:t>
            </a:r>
            <a:r>
              <a:rPr>
                <a:latin typeface="Courier"/>
              </a:rPr>
              <a:t>mass_g</a:t>
            </a:r>
            <a:r>
              <a:rPr/>
              <a:t> is what it weighed.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Always Plot It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mass against known area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area_cm2,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scatter_plot</a:t>
            </a:r>
          </a:p>
        </p:txBody>
      </p:sp>
      <p:pic>
        <p:nvPicPr>
          <p:cNvPr descr="regression_lecture_files/figure-pptx/scatter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plain lines.</a:t>
            </a:r>
            <a:r>
              <a:rPr/>
              <a:t> </a:t>
            </a:r>
            <a:r>
              <a:rPr>
                <a:latin typeface="Courier"/>
              </a:rPr>
              <a:t>aes(x = , y = )</a:t>
            </a:r>
            <a:r>
              <a:rPr/>
              <a:t> puts the variable you </a:t>
            </a:r>
            <a:r>
              <a:rPr b="1"/>
              <a:t>set</a:t>
            </a:r>
            <a:r>
              <a:rPr/>
              <a:t> on x and the one you </a:t>
            </a:r>
            <a:r>
              <a:rPr b="1"/>
              <a:t>measured</a:t>
            </a:r>
            <a:r>
              <a:rPr/>
              <a:t> on y, and </a:t>
            </a:r>
            <a:r>
              <a:rPr>
                <a:latin typeface="Courier"/>
              </a:rPr>
              <a:t>geom_point()</a:t>
            </a:r>
            <a:r>
              <a:rPr/>
              <a:t> draws the dots.</a:t>
            </a:r>
          </a:p>
          <a:p>
            <a:pPr lvl="0" indent="0" marL="0">
              <a:buNone/>
            </a:pPr>
            <a:r>
              <a:rPr b="1"/>
              <a:t>What you are looking for:</a:t>
            </a:r>
          </a:p>
          <a:p>
            <a:pPr lvl="0"/>
            <a:r>
              <a:rPr b="1"/>
              <a:t>Straight?</a:t>
            </a:r>
            <a:r>
              <a:rPr/>
              <a:t> → a line is the right tool</a:t>
            </a:r>
          </a:p>
          <a:p>
            <a:pPr lvl="0"/>
            <a:r>
              <a:rPr b="1"/>
              <a:t>Scatter the same all the way along?</a:t>
            </a:r>
          </a:p>
          <a:p>
            <a:pPr lvl="0"/>
            <a:r>
              <a:rPr b="1"/>
              <a:t>Any point way off on its own?</a:t>
            </a:r>
          </a:p>
          <a:p>
            <a:pPr lvl="0" indent="0" marL="0">
              <a:buNone/>
            </a:pPr>
            <a:r>
              <a:rPr/>
              <a:t>Here: straight, tight, nothing strange. Fit the line.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Never fit a regression you haven’t looked at. A curve, a funnel, or one wild point all change what you should do next.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regression line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area_cm2,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 marL="0">
              <a:buNone/>
            </a:pPr>
            <a:r>
              <a:rPr/>
              <a:t>Nothing prints. </a:t>
            </a:r>
            <a:r>
              <a:rPr>
                <a:latin typeface="Courier"/>
              </a:rPr>
              <a:t>lm()</a:t>
            </a:r>
            <a:r>
              <a:rPr/>
              <a:t> hands back a </a:t>
            </a:r>
            <a:r>
              <a:rPr b="1"/>
              <a:t>model object</a:t>
            </a:r>
            <a:r>
              <a:rPr/>
              <a:t> that is holding the answer — </a:t>
            </a:r>
            <a:r>
              <a:rPr>
                <a:latin typeface="Courier"/>
              </a:rPr>
              <a:t>summary()</a:t>
            </a:r>
            <a:r>
              <a:rPr/>
              <a:t> is what shows it to you.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formula is the whole trick: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df)</a:t>
            </a:r>
          </a:p>
          <a:p>
            <a:pPr lvl="0"/>
            <a:r>
              <a:rPr b="1"/>
              <a:t>Y</a:t>
            </a:r>
            <a:r>
              <a:rPr/>
              <a:t> — the response —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0"/>
            <a:r>
              <a:rPr b="1"/>
              <a:t>X</a:t>
            </a:r>
            <a:r>
              <a:rPr/>
              <a:t> — the explanatory variable — goes on the </a:t>
            </a:r>
            <a:r>
              <a:rPr b="1"/>
              <a:t>right</a:t>
            </a:r>
          </a:p>
          <a:p>
            <a:pPr lvl="0"/>
            <a:r>
              <a:rPr>
                <a:latin typeface="Courier"/>
              </a:rPr>
              <a:t>~</a:t>
            </a:r>
            <a:r>
              <a:rPr/>
              <a:t> reads as </a:t>
            </a:r>
            <a:r>
              <a:rPr b="1"/>
              <a:t>“is predicted by”</a:t>
            </a:r>
          </a:p>
          <a:p>
            <a:pPr lvl="0" indent="0" marL="0">
              <a:buNone/>
            </a:pPr>
            <a:r>
              <a:rPr/>
              <a:t>So </a:t>
            </a:r>
            <a:r>
              <a:rPr>
                <a:latin typeface="Courier"/>
              </a:rPr>
              <a:t>mass_g ~ area_cm2</a:t>
            </a:r>
            <a:r>
              <a:rPr/>
              <a:t> is “mass is predicted by area.”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Which way round?</a:t>
            </a:r>
            <a:r>
              <a:rPr sz="2000"/>
              <a:t> We </a:t>
            </a:r>
            <a:r>
              <a:rPr sz="2000" b="1"/>
              <a:t>cut</a:t>
            </a:r>
            <a:r>
              <a:rPr sz="2000"/>
              <a:t> the areas and </a:t>
            </a:r>
            <a:r>
              <a:rPr sz="2000" b="1"/>
              <a:t>measured</a:t>
            </a:r>
            <a:r>
              <a:rPr sz="2000"/>
              <a:t> the masses, so </a:t>
            </a:r>
            <a:r>
              <a:rPr sz="2000" b="1"/>
              <a:t>mass</a:t>
            </a:r>
            <a:r>
              <a:rPr sz="2000"/>
              <a:t> is the response. </a:t>
            </a:r>
            <a:r>
              <a:rPr sz="2000">
                <a:latin typeface="Courier"/>
              </a:rPr>
              <a:t>lm(area_cm2 ~ mass_g)</a:t>
            </a:r>
            <a:r>
              <a:rPr sz="2000"/>
              <a:t> runs fine too — it just asks R to treat ten areas we chose on purpose as if they were the noisy measurement.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 — the Whole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model ---------------------------------------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mass_g ~ area_cm2, data = paper_df)
Residuals:
      Min        1Q    Median        3Q       Max 
-0.066548 -0.001774  0.000907  0.002267  0.056127 
Coefficients:
              Estimate Std. Error t value Pr(&gt;|t|)    
(Intercept) -2.058e-03  1.389e-03  -1.481    0.141    
area_cm2     7.660e-03  8.646e-06 885.964   &lt;2e-16 ***
---
Signif. codes:  0 '***' 0.001 '**' 0.01 '*' 0.05 '.' 0.1 ' ' 1
Residual standard error: 0.01351 on 116 degrees of freedom
Multiple R-squared:  0.9999,    Adjusted R-squared:  0.9999 
F-statistic: 7.849e+05 on 1 and 116 DF,  p-value: &lt; 2.2e-16</a:t>
            </a:r>
          </a:p>
          <a:p>
            <a:pPr lvl="0" indent="0" marL="0">
              <a:buNone/>
            </a:pPr>
            <a:r>
              <a:rPr/>
              <a:t>There are only </a:t>
            </a:r>
            <a:r>
              <a:rPr b="1"/>
              <a:t>four numbers</a:t>
            </a:r>
            <a:r>
              <a:rPr/>
              <a:t> in here that you need, and we will take them one at a time: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slope</a:t>
            </a:r>
            <a:r>
              <a:rPr/>
              <a:t> (</a:t>
            </a:r>
            <a:r>
              <a:rPr>
                <a:latin typeface="Courier"/>
              </a:rPr>
              <a:t>area_cm2</a:t>
            </a:r>
            <a:r>
              <a:rPr/>
              <a:t> → </a:t>
            </a:r>
            <a:r>
              <a:rPr>
                <a:latin typeface="Courier"/>
              </a:rPr>
              <a:t>Estimate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intercept</a:t>
            </a:r>
            <a:r>
              <a:rPr/>
              <a:t> (</a:t>
            </a:r>
            <a:r>
              <a:rPr>
                <a:latin typeface="Courier"/>
              </a:rPr>
              <a:t>(Intercept)</a:t>
            </a:r>
            <a:r>
              <a:rPr/>
              <a:t> → </a:t>
            </a:r>
            <a:r>
              <a:rPr>
                <a:latin typeface="Courier"/>
              </a:rPr>
              <a:t>Estimate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slope’s </a:t>
            </a:r>
            <a:r>
              <a:rPr b="1" i="1"/>
              <a:t>p</a:t>
            </a:r>
            <a:r>
              <a:rPr b="1"/>
              <a:t>-value</a:t>
            </a:r>
            <a:r>
              <a:rPr/>
              <a:t> (</a:t>
            </a:r>
            <a:r>
              <a:rPr>
                <a:latin typeface="Courier"/>
              </a:rPr>
              <a:t>area_cm2</a:t>
            </a:r>
            <a:r>
              <a:rPr/>
              <a:t> → </a:t>
            </a:r>
            <a:r>
              <a:rPr>
                <a:latin typeface="Courier"/>
              </a:rPr>
              <a:t>Pr(&gt;|t|)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R²</a:t>
            </a:r>
            <a:r>
              <a:rPr/>
              <a:t> (</a:t>
            </a:r>
            <a:r>
              <a:rPr>
                <a:latin typeface="Courier"/>
              </a:rPr>
              <a:t>Multiple R-squared</a:t>
            </a:r>
            <a:r>
              <a:rPr/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It — 1. The Coefficients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Coefficients:
              Estimate Std. Error t value Pr(&gt;|t|)
(Intercept) -2.058e-03  1.389e-03  -1.481    0.141
area_cm2     7.660e-03  8.646e-06 885.964   &lt;2e-16</a:t>
                </a:r>
              </a:p>
              <a:p>
                <a:pPr lvl="0" indent="0" marL="0">
                  <a:buNone/>
                </a:pPr>
                <a:r>
                  <a:rPr b="1"/>
                  <a:t>The </a:t>
                </a:r>
                <a:r>
                  <a:rPr b="1">
                    <a:latin typeface="Courier"/>
                  </a:rPr>
                  <a:t>Estimate</a:t>
                </a:r>
                <a:r>
                  <a:rPr b="1"/>
                  <a:t> column is the equation.</a:t>
                </a:r>
              </a:p>
              <a:p>
                <a:pPr lvl="0"/>
                <a:r>
                  <a:rPr>
                    <a:latin typeface="Courier"/>
                  </a:rPr>
                  <a:t>(Intercept)</a:t>
                </a:r>
                <a:r>
                  <a:rPr/>
                  <a:t> = </a:t>
                </a:r>
                <a:r>
                  <a:rPr b="1"/>
                  <a:t>-0.002058</a:t>
                </a:r>
                <a:r>
                  <a:rPr/>
                  <a:t> → that is </a:t>
                </a:r>
                <a:r>
                  <a:rPr i="1"/>
                  <a:t>a</a:t>
                </a:r>
              </a:p>
              <a:p>
                <a:pPr lvl="0"/>
                <a:r>
                  <a:rPr>
                    <a:latin typeface="Courier"/>
                  </a:rPr>
                  <a:t>area_cm2</a:t>
                </a:r>
                <a:r>
                  <a:rPr/>
                  <a:t> = </a:t>
                </a:r>
                <a:r>
                  <a:rPr b="1"/>
                  <a:t>0.007660</a:t>
                </a:r>
                <a:r>
                  <a:rPr/>
                  <a:t> → that is </a:t>
                </a:r>
                <a:r>
                  <a:rPr i="1"/>
                  <a:t>b</a:t>
                </a:r>
                <a:r>
                  <a:rPr/>
                  <a:t>, the slope</a:t>
                </a:r>
              </a:p>
              <a:p>
                <a:pPr lvl="0" indent="0" marL="0">
                  <a:buNone/>
                </a:pPr>
                <a:r>
                  <a:rPr b="1">
                    <a:latin typeface="Courier"/>
                  </a:rPr>
                  <a:t>7.660e-03</a:t>
                </a:r>
                <a:r>
                  <a:rPr b="1"/>
                  <a:t> means 7.660 × 10⁻³</a:t>
                </a:r>
                <a:r>
                  <a:rPr/>
                  <a:t> — move the decimal point three places left.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/>
                  <a:t>Prefer plain decimals? </a:t>
                </a:r>
                <a:r>
                  <a:rPr sz="2000">
                    <a:latin typeface="Courier"/>
                  </a:rPr>
                  <a:t>options(scipen = 999)</a:t>
                </a:r>
                <a:r>
                  <a:rPr sz="2000"/>
                  <a:t> turns scientific notation off and </a:t>
                </a:r>
                <a:r>
                  <a:rPr sz="2000">
                    <a:latin typeface="Courier"/>
                  </a:rPr>
                  <a:t>options(scipen = 0)</a:t>
                </a:r>
                <a:r>
                  <a:rPr sz="2000"/>
                  <a:t> turns it back on. We leave it on — with it off, </a:t>
                </a:r>
                <a:r>
                  <a:rPr sz="2000" i="1"/>
                  <a:t>p</a:t>
                </a:r>
                <a:r>
                  <a:rPr sz="2000"/>
                  <a:t> prints as </a:t>
                </a:r>
                <a:r>
                  <a:rPr sz="2000">
                    <a:latin typeface="Courier"/>
                  </a:rPr>
                  <a:t>&lt;0.0000000000000002</a:t>
                </a:r>
                <a:r>
                  <a:rPr sz="2000"/>
                  <a:t>.</a:t>
                </a:r>
              </a:p>
              <a:p>
                <a:pPr lvl="0" indent="0" marL="0">
                  <a:buNone/>
                </a:pPr>
                <a:r>
                  <a:rPr/>
                  <a:t>So the fitted line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mass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0.0021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0.00766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area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Say the slope out loud, with units:</a:t>
            </a:r>
          </a:p>
          <a:p>
            <a:pPr lvl="0" indent="0" marL="1270000">
              <a:buNone/>
            </a:pPr>
            <a:r>
              <a:rPr sz="2000"/>
              <a:t>Every extra </a:t>
            </a:r>
            <a:r>
              <a:rPr sz="2000" b="1"/>
              <a:t>1 cm²</a:t>
            </a:r>
            <a:r>
              <a:rPr sz="2000"/>
              <a:t> of this paper weighs another </a:t>
            </a:r>
            <a:r>
              <a:rPr sz="2000" b="1"/>
              <a:t>0.00766 g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×10,000 → 76.6 g/m²</a:t>
            </a:r>
            <a:r>
              <a:rPr sz="2000"/>
              <a:t> — the paper’s </a:t>
            </a:r>
            <a:r>
              <a:rPr sz="2000" b="1"/>
              <a:t>grammage</a:t>
            </a:r>
            <a:r>
              <a:rPr sz="2000"/>
              <a:t>, the number on the side of the ream. Copy paper is sold at 75–80 g/m², so the slope is a property you can go and check.</a:t>
            </a:r>
          </a:p>
          <a:p>
            <a:pPr lvl="0" indent="0" marL="0">
              <a:buNone/>
            </a:pPr>
            <a:r>
              <a:rPr b="1"/>
              <a:t>The other three columns, in one line each: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uncertain that estimate 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Estimate ÷ Std. Error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 i="1"/>
                        <a:t>p</a:t>
                      </a:r>
                      <a:r>
                        <a:rPr b="1"/>
                        <a:t>-value</a:t>
                      </a:r>
                      <a:r>
                        <a:rPr/>
                        <a:t> for that row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§17.3 p. 551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It — 2. The Two </a:t>
            </a:r>
            <a:r>
              <a:rPr i="1"/>
              <a:t>p</a:t>
            </a:r>
            <a:r>
              <a:rPr/>
              <a:t>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(Intercept) -2.058e-03  ...   0.141
area_cm2     7.660e-03  ...  &lt;2e-16</a:t>
            </a:r>
          </a:p>
          <a:p>
            <a:pPr lvl="0" indent="0" marL="0">
              <a:buNone/>
            </a:pPr>
            <a:r>
              <a:rPr b="1"/>
              <a:t>The slope row is the one that matters.</a:t>
            </a:r>
            <a:r>
              <a:rPr/>
              <a:t> </a:t>
            </a:r>
            <a:r>
              <a:rPr>
                <a:latin typeface="Courier"/>
              </a:rPr>
              <a:t>Pr(&gt;|t|)</a:t>
            </a:r>
            <a:r>
              <a:rPr/>
              <a:t> for </a:t>
            </a:r>
            <a:r>
              <a:rPr>
                <a:latin typeface="Courier"/>
              </a:rPr>
              <a:t>area_cm2</a:t>
            </a:r>
            <a:r>
              <a:rPr/>
              <a:t> is </a:t>
            </a:r>
            <a:r>
              <a:rPr>
                <a:latin typeface="Courier"/>
              </a:rPr>
              <a:t>&lt;2e-16</a:t>
            </a:r>
            <a:r>
              <a:rPr/>
              <a:t> — R’s way of writing “smaller than I can print.”</a:t>
            </a:r>
          </a:p>
          <a:p>
            <a:pPr lvl="0"/>
            <a:r>
              <a:rPr b="1"/>
              <a:t>H₀:</a:t>
            </a:r>
            <a:r>
              <a:rPr/>
              <a:t> the slope is 0 → area tells you nothing about mass</a:t>
            </a:r>
          </a:p>
          <a:p>
            <a:pPr lvl="0"/>
            <a:r>
              <a:rPr i="1"/>
              <a:t>p</a:t>
            </a:r>
            <a:r>
              <a:rPr/>
              <a:t> &lt; 0.001 → </a:t>
            </a:r>
            <a:r>
              <a:rPr b="1"/>
              <a:t>reject H₀</a:t>
            </a:r>
            <a:r>
              <a:rPr/>
              <a:t>. Area predicts mass.</a:t>
            </a:r>
          </a:p>
          <a:p>
            <a:pPr lvl="0" indent="0" marL="0">
              <a:buNone/>
            </a:pPr>
            <a:r>
              <a:rPr b="1"/>
              <a:t>The intercept row:</a:t>
            </a:r>
            <a:r>
              <a:rPr/>
              <a:t> </a:t>
            </a:r>
            <a:r>
              <a:rPr i="1"/>
              <a:t>p</a:t>
            </a:r>
            <a:r>
              <a:rPr/>
              <a:t> = 0.141, so the intercept is </a:t>
            </a:r>
            <a:r>
              <a:rPr b="1"/>
              <a:t>not</a:t>
            </a:r>
            <a:r>
              <a:rPr/>
              <a:t> distinguishable from 0 — exactly what physics says it should be. A piece of paper with no area has no mass.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Which </a:t>
            </a:r>
            <a:r>
              <a:rPr sz="2000" b="1" i="1"/>
              <a:t>p</a:t>
            </a:r>
            <a:r>
              <a:rPr sz="2000" b="1"/>
              <a:t>-value do I report?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 b="1"/>
              <a:t>slope’s</a:t>
            </a:r>
            <a:r>
              <a:rPr sz="2000"/>
              <a:t>. That is the biological question. Nobody reports the intercept’s </a:t>
            </a:r>
            <a:r>
              <a:rPr sz="2000" i="1"/>
              <a:t>p</a:t>
            </a:r>
            <a:r>
              <a:rPr sz="2000"/>
              <a:t>-value unless zero means something special.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Never write </a:t>
            </a:r>
            <a:r>
              <a:rPr sz="2000" b="1" i="1"/>
              <a:t>p</a:t>
            </a:r>
            <a:r>
              <a:rPr sz="2000" b="1"/>
              <a:t> = 0.</a:t>
            </a:r>
            <a:r>
              <a:rPr sz="2000"/>
              <a:t> When R prints </a:t>
            </a:r>
            <a:r>
              <a:rPr sz="2000">
                <a:latin typeface="Courier"/>
              </a:rPr>
              <a:t>&lt;2e-16</a:t>
            </a:r>
            <a:r>
              <a:rPr sz="2000"/>
              <a:t>, you write </a:t>
            </a:r>
            <a:r>
              <a:rPr sz="2000" b="1" i="1"/>
              <a:t>p</a:t>
            </a:r>
            <a:r>
              <a:rPr sz="2000"/>
              <a:t> </a:t>
            </a:r>
            <a:r>
              <a:rPr sz="2000" b="1"/>
              <a:t>&lt; 0.001</a:t>
            </a:r>
            <a:r>
              <a:rPr sz="2000"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It — 3. R² and the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Residual standard error: 0.01351 on 116 degrees of freedom
Multiple R-squared:  0.9999, Adjusted R-squared:  0.9999
F-statistic: 7.849e+05 on 1 and 116 DF,  p-value: &lt; 2.2e-16</a:t>
            </a:r>
          </a:p>
          <a:p>
            <a:pPr lvl="0"/>
            <a:r>
              <a:rPr b="1"/>
              <a:t>Multiple R-squared = 0.9999</a:t>
            </a:r>
            <a:r>
              <a:rPr/>
              <a:t> → area explains </a:t>
            </a:r>
            <a:r>
              <a:rPr b="1"/>
              <a:t>99.99%</a:t>
            </a:r>
            <a:r>
              <a:rPr/>
              <a:t> of the variation in mass. That is manufactured paper, not biology.</a:t>
            </a:r>
          </a:p>
          <a:p>
            <a:pPr lvl="0"/>
            <a:r>
              <a:rPr b="1"/>
              <a:t>F-statistic</a:t>
            </a:r>
            <a:r>
              <a:rPr/>
              <a:t> with </a:t>
            </a:r>
            <a:r>
              <a:rPr b="1"/>
              <a:t>1 and 116 DF</a:t>
            </a:r>
            <a:r>
              <a:rPr/>
              <a:t>, </a:t>
            </a:r>
            <a:r>
              <a:rPr i="1"/>
              <a:t>p</a:t>
            </a:r>
            <a:r>
              <a:rPr/>
              <a:t> &lt; 2.2e-16 → the overall test of the model. With one X it tells you the same thing as the slope’s </a:t>
            </a:r>
            <a:r>
              <a:rPr i="1"/>
              <a:t>p</a:t>
            </a:r>
            <a:r>
              <a:rPr/>
              <a:t>-value.</a:t>
            </a:r>
          </a:p>
          <a:p>
            <a:pPr lvl="0"/>
            <a:r>
              <a:rPr b="1"/>
              <a:t>Residual standard error = 0.0135 g</a:t>
            </a:r>
            <a:r>
              <a:rPr/>
              <a:t> → a typical miss is about 13 mg.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the df come from:</a:t>
            </a:r>
          </a:p>
          <a:p>
            <a:pPr lvl="0"/>
            <a:r>
              <a:rPr b="1"/>
              <a:t>1</a:t>
            </a:r>
            <a:r>
              <a:rPr/>
              <a:t> = one explanatory variable</a:t>
            </a:r>
          </a:p>
          <a:p>
            <a:pPr lvl="0"/>
            <a:r>
              <a:rPr b="1"/>
              <a:t>116</a:t>
            </a:r>
            <a:r>
              <a:rPr/>
              <a:t> = 118 squares − 2 numbers we estimated (</a:t>
            </a:r>
            <a:r>
              <a:rPr i="1"/>
              <a:t>a</a:t>
            </a:r>
            <a:r>
              <a:rPr/>
              <a:t> and </a:t>
            </a:r>
            <a:r>
              <a:rPr i="1"/>
              <a:t>b</a:t>
            </a:r>
            <a:r>
              <a:rPr/>
              <a:t>)</a:t>
            </a:r>
          </a:p>
          <a:p>
            <a:pPr lvl="0" indent="0" marL="0">
              <a:buNone/>
            </a:pPr>
            <a:r>
              <a:rPr b="1"/>
              <a:t>Use </a:t>
            </a:r>
            <a:r>
              <a:rPr b="1">
                <a:latin typeface="Courier"/>
              </a:rPr>
              <a:t>Adjusted R-squared</a:t>
            </a:r>
            <a:r>
              <a:rPr/>
              <a:t> once you have more than one X; with a single X, report </a:t>
            </a:r>
            <a:r>
              <a:rPr>
                <a:latin typeface="Courier"/>
              </a:rPr>
              <a:t>Multiple R-squared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R² = 0.9999 does not mean “everything is fine.”</a:t>
            </a:r>
            <a:r>
              <a:rPr sz="2000"/>
              <a:t> It means the points are close to the line. Whether the </a:t>
            </a:r>
            <a:r>
              <a:rPr sz="2000" i="1"/>
              <a:t>assumptions</a:t>
            </a:r>
            <a:r>
              <a:rPr sz="2000"/>
              <a:t> hold is a separate question — and we check it two slides from now.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11 Parts 1–3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1–3 now</a:t>
            </a:r>
          </a:p>
          <a:p>
            <a:pPr lvl="0" indent="0" marL="0">
              <a:buNone/>
            </a:pPr>
            <a:r>
              <a:rPr/>
              <a:t>Load the paper data, make the scatter plot, fit </a:t>
            </a:r>
            <a:r>
              <a:rPr>
                <a:latin typeface="Courier"/>
              </a:rPr>
              <a:t>lm(mass_g ~ area_cm2)</a:t>
            </a:r>
            <a:r>
              <a:rPr/>
              <a:t>, and read the slope, the </a:t>
            </a:r>
            <a:r>
              <a:rPr i="1"/>
              <a:t>p</a:t>
            </a:r>
            <a:r>
              <a:rPr/>
              <a:t>-value and R² </a:t>
            </a:r>
            <a:r>
              <a:rPr b="1"/>
              <a:t>off the summary output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3 · Plot It, Check It,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drawing the fitted line, reading </a:t>
            </a:r>
            <a:r>
              <a:rPr>
                <a:latin typeface="Courier"/>
              </a:rPr>
              <a:t>plot(model)</a:t>
            </a:r>
            <a:r>
              <a:rPr/>
              <a:t>, converting the whole column of tracings, averaging away the pseudoreplication, and the paired </a:t>
            </a:r>
            <a:r>
              <a:rPr i="1"/>
              <a:t>t</a:t>
            </a:r>
            <a:r>
              <a:rPr/>
              <a:t>-tests.</a:t>
            </a:r>
          </a:p>
          <a:p>
            <a:pPr lvl="0" indent="0" marL="0">
              <a:buNone/>
            </a:pPr>
            <a:r>
              <a:rPr b="1"/>
              <a:t>🛑 After this chunk: Activity Parts 4–7</a:t>
            </a:r>
            <a:r>
              <a:rPr/>
              <a:t> (check the residuals, convert, average, paired </a:t>
            </a:r>
            <a:r>
              <a:rPr i="1"/>
              <a:t>t</a:t>
            </a:r>
            <a:r>
              <a:rPr/>
              <a:t>-tests).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Draw the 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with the fitted line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area_cm2,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_lecture_files/figure-pptx/calibration-plain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extra line.</a:t>
            </a:r>
            <a:r>
              <a:rPr/>
              <a:t> </a:t>
            </a:r>
            <a:r>
              <a:rPr>
                <a:latin typeface="Courier"/>
              </a:rPr>
              <a:t>geom_smooth(method = "lm")</a:t>
            </a:r>
            <a:r>
              <a:rPr/>
              <a:t> fits the same regression again, just for drawing, and adds:</a:t>
            </a:r>
          </a:p>
          <a:p>
            <a:pPr lvl="0"/>
            <a:r>
              <a:rPr/>
              <a:t>the </a:t>
            </a:r>
            <a:r>
              <a:rPr b="1"/>
              <a:t>fitted line</a:t>
            </a:r>
          </a:p>
          <a:p>
            <a:pPr lvl="0"/>
            <a:r>
              <a:rPr/>
              <a:t>a grey </a:t>
            </a:r>
            <a:r>
              <a:rPr b="1"/>
              <a:t>95% confidence band</a:t>
            </a:r>
            <a:r>
              <a:rPr/>
              <a:t> around it</a:t>
            </a:r>
          </a:p>
          <a:p>
            <a:pPr lvl="0" indent="0" marL="0">
              <a:buNone/>
            </a:pPr>
            <a:r>
              <a:rPr b="1"/>
              <a:t>The band is narrowest in the middle</a:t>
            </a:r>
            <a:r>
              <a:rPr/>
              <a:t> of the data and flares at the ends — the line is pinned down best where you have the most data. Here it is so narrow you can barely see it.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geom_smooth()</a:t>
            </a:r>
            <a:r>
              <a:rPr sz="2000"/>
              <a:t> defaults to a wiggly curve. </a:t>
            </a:r>
            <a:r>
              <a:rPr sz="2000" b="1">
                <a:latin typeface="Courier"/>
              </a:rPr>
              <a:t>method = "lm"</a:t>
            </a:r>
            <a:r>
              <a:rPr sz="2000" b="1"/>
              <a:t> is what makes it a straight regression line.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Plot, Dressed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publication version — for reference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area_cm2,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area (cm²)"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_lecture_files/figure-pptx/calibration-dressed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828800"/>
            <a:ext cx="44323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version you’d put in a report</a:t>
            </a:r>
            <a:r>
              <a:rPr/>
              <a:t> — and it is only two additions to the plot you already made:</a:t>
            </a:r>
          </a:p>
          <a:p>
            <a:pPr lvl="0"/>
            <a:r>
              <a:rPr>
                <a:latin typeface="Courier"/>
              </a:rPr>
              <a:t>labs()</a:t>
            </a:r>
            <a:r>
              <a:rPr/>
              <a:t> — real axis labels with units</a:t>
            </a:r>
          </a:p>
          <a:p>
            <a:pPr lvl="0"/>
            <a:r>
              <a:rPr>
                <a:latin typeface="Courier"/>
              </a:rPr>
              <a:t>theme_minimal()</a:t>
            </a:r>
            <a:r>
              <a:rPr/>
              <a:t> — drop the grey background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Don’t type this today.</a:t>
            </a:r>
            <a:r>
              <a:rPr sz="2000"/>
              <a:t> Get the plain </a:t>
            </a:r>
            <a:r>
              <a:rPr sz="2000">
                <a:latin typeface="Courier"/>
              </a:rPr>
              <a:t>geom_point() + geom_smooth(method = "lm")</a:t>
            </a:r>
            <a:r>
              <a:rPr sz="2000"/>
              <a:t> working first. Labels and themes are the last thing you add, once you know the plot is right.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the Residuals — </a:t>
            </a:r>
            <a:r>
              <a:rPr>
                <a:latin typeface="Courier"/>
              </a:rPr>
              <a:t>plot(model)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All four residual plots in one call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(paper_model)</a:t>
            </a:r>
          </a:p>
        </p:txBody>
      </p:sp>
      <p:pic>
        <p:nvPicPr>
          <p:cNvPr descr="regression_lecture_files/figure-pptx/diagnostic-plots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270000"/>
            <a:ext cx="36322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par(mfrow = c(2, 2))</a:t>
            </a:r>
            <a:r>
              <a:rPr/>
              <a:t> just says “put the next four plots in a 2×2 grid.”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Residuals vs Fitted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linear? equal scatter?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Q-Q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residuals bell-shaped?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equal scatter again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Residuals vs Leverage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one point running the show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Panel 1 is the one to look at first.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a flat, shapeless cloud around 0</a:t>
            </a:r>
          </a:p>
          <a:p>
            <a:pPr lvl="0"/>
            <a:r>
              <a:rPr/>
              <a:t>❌ </a:t>
            </a:r>
            <a:r>
              <a:rPr b="1"/>
              <a:t>Curved:</a:t>
            </a:r>
            <a:r>
              <a:rPr/>
              <a:t> the relationship isn’t straight</a:t>
            </a:r>
          </a:p>
          <a:p>
            <a:pPr lvl="0"/>
            <a:r>
              <a:rPr/>
              <a:t>❌ </a:t>
            </a:r>
            <a:r>
              <a:rPr b="1"/>
              <a:t>Funnel:</a:t>
            </a:r>
            <a:r>
              <a:rPr/>
              <a:t> the scatter grows as Y grows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Our Residual Plot Is Telling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panel 1 again. The points </a:t>
            </a:r>
            <a:r>
              <a:rPr b="1"/>
              <a:t>fan out</a:t>
            </a:r>
            <a:r>
              <a:rPr/>
              <a:t> — a 1 cm² square misses by hundredths of a cm², a 567 cm² square misses by several cm².</a:t>
            </a:r>
          </a:p>
          <a:p>
            <a:pPr lvl="0" indent="0" marL="0">
              <a:buNone/>
            </a:pPr>
            <a:r>
              <a:rPr/>
              <a:t>That is a </a:t>
            </a:r>
            <a:r>
              <a:rPr b="1"/>
              <a:t>funnel</a:t>
            </a:r>
            <a:r>
              <a:rPr/>
              <a:t>: assumption 3 (equal variance) does not hold.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big are the misses at each square size?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residual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(paper_model))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biggest_miss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(residual)),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2
   area_cm2 biggest_miss
      &lt;dbl&gt;        &lt;dbl&gt;
 1        1         0   
 2        4         0   
 3       16         0   
 4       36         0.01
 5       64         0.01
 6      100         0.02
 7      225         0.02
 8      400         0.06
 9      500         0.06
10      567         0.07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 great R² and a bad residual plot can live together.</a:t>
            </a:r>
            <a:r>
              <a:rPr sz="2000"/>
              <a:t> R² says the points are near the line. The residual plot says the </a:t>
            </a:r>
            <a:r>
              <a:rPr sz="2000" i="1"/>
              <a:t>size of the miss</a:t>
            </a:r>
            <a:r>
              <a:rPr sz="2000"/>
              <a:t> depends on how big the square is — which it does, because a balance has percentage error, not fixed error.</a:t>
            </a:r>
          </a:p>
          <a:p>
            <a:pPr lvl="0" indent="0" marL="0">
              <a:buNone/>
            </a:pPr>
            <a:r>
              <a:rPr b="1"/>
              <a:t>So what do we do?</a:t>
            </a:r>
          </a:p>
          <a:p>
            <a:pPr lvl="0"/>
            <a:r>
              <a:rPr/>
              <a:t>For </a:t>
            </a:r>
            <a:r>
              <a:rPr b="1"/>
              <a:t>predicting a leaf tracing</a:t>
            </a:r>
            <a:r>
              <a:rPr/>
              <a:t> (0.1–0.4 g) we are down in the tight end of the line, where a typical miss is a fraction of a cm². The calibration is fine for the job.</a:t>
            </a:r>
          </a:p>
          <a:p>
            <a:pPr lvl="0"/>
            <a:r>
              <a:rPr/>
              <a:t>The </a:t>
            </a:r>
            <a:r>
              <a:rPr b="1"/>
              <a:t>confidence intervals</a:t>
            </a:r>
            <a:r>
              <a:rPr/>
              <a:t> at the big-square end are the part you shouldn’t trust.</a:t>
            </a:r>
          </a:p>
          <a:p>
            <a:pPr lvl="0"/>
            <a:r>
              <a:rPr/>
              <a:t>The proper fix — fitting on a log scale, or weighting the points — is a </a:t>
            </a:r>
            <a:r>
              <a:rPr b="1"/>
              <a:t>graduate</a:t>
            </a:r>
            <a:r>
              <a:rPr/>
              <a:t> topic. Knowing to look, and saying what you saw, is the undergraduate job.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From Tracing Mass to Leaf 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model says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area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have the </a:t>
                </a:r>
                <a:r>
                  <a:rPr b="1"/>
                  <a:t>mass</a:t>
                </a:r>
                <a:r>
                  <a:rPr/>
                  <a:t> and want the </a:t>
                </a:r>
                <a:r>
                  <a:rPr b="1"/>
                  <a:t>area</a:t>
                </a:r>
                <a:r>
                  <a:rPr/>
                  <a:t>, so rearrange: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area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mass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a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Typed off the summary(), out of sci notation --------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intercept &lt;-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0.002058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from -2.058e-03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slope     &lt;- 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0.007660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from  7.660e-03</a:t>
                </a:r>
                <a:br/>
                <a:br/>
                <a:r>
                  <a:rPr>
                    <a:solidFill>
                      <a:srgbClr val="5E5E5E"/>
                    </a:solidFill>
                    <a:latin typeface="Courier"/>
                  </a:rPr>
                  <a:t># 1 m2 = 10000 cm2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slope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10000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76.6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Type the two numbers in.</a:t>
                </a:r>
                <a:r>
                  <a:rPr/>
                  <a:t> They are right there in the Coefficients table, and the arithmetic stays in plain sight</a:t>
                </a:r>
              </a:p>
              <a:p>
                <a:pPr lvl="0"/>
                <a:r>
                  <a:rPr/>
                  <a:t>Rounding to six decimals changes </a:t>
                </a:r>
                <a:r>
                  <a:rPr b="1"/>
                  <a:t>nothing</a:t>
                </a:r>
                <a:r>
                  <a:rPr/>
                  <a:t> — same </a:t>
                </a:r>
                <a:r>
                  <a:rPr i="1"/>
                  <a:t>t</a:t>
                </a:r>
                <a:r>
                  <a:rPr/>
                  <a:t>, df and </a:t>
                </a:r>
                <a:r>
                  <a:rPr i="1"/>
                  <a:t>p</a:t>
                </a:r>
                <a:r>
                  <a:rPr/>
                  <a:t> at the end</a:t>
                </a:r>
              </a:p>
              <a:p>
                <a:pPr lvl="0"/>
                <a:r>
                  <a:rPr/>
                  <a:t>Or let R hand them to you: </a:t>
                </a:r>
                <a:r>
                  <a:rPr b="1">
                    <a:latin typeface="Courier"/>
                  </a:rPr>
                  <a:t>coef(paper_model)</a:t>
                </a:r>
                <a:r>
                  <a:rPr/>
                  <a:t>, then </a:t>
                </a:r>
                <a:r>
                  <a:rPr>
                    <a:latin typeface="Courier"/>
                  </a:rPr>
                  <a:t>[1]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[2]</a:t>
                </a:r>
                <a:r>
                  <a:rPr/>
                  <a:t> — and it prints plain decimals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×10,000 → 76.6 g/m²</a:t>
                </a:r>
                <a:r>
                  <a:rPr sz="2000"/>
                  <a:t> — the paper’s </a:t>
                </a:r>
                <a:r>
                  <a:rPr sz="2000" b="1"/>
                  <a:t>grammage</a:t>
                </a:r>
                <a:r>
                  <a:rPr sz="2000"/>
                  <a:t>, the number on the side of the ream. Copy paper is sold at 75–80 g/m², so the slope is a property you can </a:t>
                </a:r>
                <a:r>
                  <a:rPr sz="2000" b="1"/>
                  <a:t>check against the label</a:t>
                </a:r>
                <a:r>
                  <a:rPr sz="2000"/>
                  <a:t>.</a:t>
                </a:r>
              </a:p>
              <a:p>
                <a:pPr lvl="0" indent="0" marL="0">
                  <a:buNone/>
                </a:pPr>
                <a:r>
                  <a:rPr/>
                  <a:t>A tracing weighing 0.138 g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0.138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0.002058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0.007660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18.3</m:t>
                      </m:r>
                      <m:sSup>
                        <m:e>
                          <m:r>
                            <m:rPr>
                              <m:nor/>
                              <m:sty m:val="p"/>
                            </m:rPr>
                            <m:t> cm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Convert a Whole Column of Tracings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our leaf data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Every tracing mass becomes an area 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area_cm2 =</a:t>
            </a:r>
            <a:r>
              <a:rPr>
                <a:solidFill>
                  <a:srgbClr val="003B4F"/>
                </a:solidFill>
                <a:latin typeface="Courier"/>
              </a:rPr>
              <a:t> (paper_mass_g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intercept)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slope)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(teams, shade, mass_g, paper_mass_g, area_cm2)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53 × 5
   teams shade mass_g paper_mass_g area_cm2
   &lt;chr&gt; &lt;chr&gt;  &lt;dbl&gt;        &lt;dbl&gt;    &lt;dbl&gt;
 1 12345 sunny   0.4          0.21     27.7
 2 12345 sunny   0.48         0.21     27.7
 3 12345 sunny   0.34         0.21     27.7
 4 12345 sunny   0.65         0.24     31.6
 5 12345 sunny   0.27         0.15     19.9
 6 12345 sunny   0.43         0.34     44.7
 7 12345 shady   0.39         0.29     38.1
 8 12345 shady   0.45         0.25     32.9
 9 12345 shady   0.6          0.23     30.3
10 12345 shady   0.57         0.28     36.8
# ℹ 43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payoff.</a:t>
            </a:r>
            <a:r>
              <a:rPr/>
              <a:t> </a:t>
            </a:r>
            <a:r>
              <a:rPr>
                <a:latin typeface="Courier"/>
              </a:rPr>
              <a:t>paper_mass_g</a:t>
            </a:r>
            <a:r>
              <a:rPr/>
              <a:t> was the mass of each leaf’s tracing — now every leaf has an </a:t>
            </a:r>
            <a:r>
              <a:rPr b="1">
                <a:latin typeface="Courier"/>
              </a:rPr>
              <a:t>area_cm2</a:t>
            </a:r>
            <a:r>
              <a:rPr/>
              <a:t>.</a:t>
            </a:r>
          </a:p>
          <a:p>
            <a:pPr lvl="0"/>
            <a:r>
              <a:rPr/>
              <a:t>One line of arithmetic, all 53 rows at once</a:t>
            </a:r>
          </a:p>
          <a:p>
            <a:pPr lvl="0"/>
            <a:r>
              <a:rPr/>
              <a:t>No new function to learn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</a:t>
            </a:r>
            <a:r>
              <a:rPr sz="2000" b="1">
                <a:latin typeface="Courier"/>
              </a:rPr>
              <a:t>NA</a:t>
            </a:r>
            <a:r>
              <a:rPr sz="2000" b="1"/>
              <a:t>s are honest.</a:t>
            </a:r>
            <a:r>
              <a:rPr sz="2000"/>
              <a:t> One team never weighed their tracings, so those leaves have no area. R keeps the gap instead of inventing a number.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 Value per Team per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Average away the pseudoreplication 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team_df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(teams, 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area_cm2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(area_cm2,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mass_g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team_df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4
   teams              shade area_cm2 mass_g
   &lt;chr&gt;              &lt;chr&gt;    &lt;dbl&gt;  &lt;dbl&gt;
 1 12345              shady     34.0  0.448
 2 12345              sunny     29.9  0.428
 3 Oscar_Karl         shady    NaN    0.400
 4 Oscar_Karl         sunny    NaN    0.339
 5 fighting_mongooses shady     35.7  0.653
 6 fighting_mongooses sunny     32.2  0.544
 7 leaf_oglers        shady     36.3  0.588
 8 leaf_oglers        sunny     37.4  0.599
 9 still_loading      shady     42.5  0.526
10 still_loading      sunny     53.7  0.789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Six leaves off one branch are </a:t>
            </a:r>
            <a:r>
              <a:rPr b="1"/>
              <a:t>not six independent measurements</a:t>
            </a:r>
          </a:p>
          <a:p>
            <a:pPr lvl="0"/>
            <a:r>
              <a:rPr/>
              <a:t>Using all 53 is </a:t>
            </a:r>
            <a:r>
              <a:rPr b="1"/>
              <a:t>pseudoreplication</a:t>
            </a:r>
            <a:r>
              <a:rPr/>
              <a:t> — it makes </a:t>
            </a:r>
            <a:r>
              <a:rPr i="1"/>
              <a:t>p</a:t>
            </a:r>
            <a:r>
              <a:rPr/>
              <a:t> look better than the study earned</a:t>
            </a:r>
          </a:p>
          <a:p>
            <a:pPr lvl="0"/>
            <a:r>
              <a:rPr/>
              <a:t>Averaging gives each team </a:t>
            </a:r>
            <a:r>
              <a:rPr b="1"/>
              <a:t>one</a:t>
            </a:r>
            <a:r>
              <a:rPr/>
              <a:t> sunny and </a:t>
            </a:r>
            <a:r>
              <a:rPr b="1"/>
              <a:t>one</a:t>
            </a:r>
            <a:r>
              <a:rPr/>
              <a:t> shady value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met this in T-Tests II. Same tree, same pairing — now in </a:t>
            </a:r>
            <a:r>
              <a:rPr sz="2000" b="1"/>
              <a:t>cm²</a:t>
            </a:r>
            <a:r>
              <a:rPr sz="2000"/>
              <a:t> instead of grams.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Paired </a:t>
            </a:r>
            <a:r>
              <a:rPr i="1"/>
              <a:t>t</a:t>
            </a:r>
            <a:r>
              <a:rPr/>
              <a:t>-Tests on Area and Mass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row per team 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wide_df &lt;- team_df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shade,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(area_cm2, mass_g))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area_cm2_shady,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area_cm2_sunny,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mass_g_shady,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mass_g_sunny,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team measured </a:t>
            </a:r>
            <a:r>
              <a:rPr b="1"/>
              <a:t>both</a:t>
            </a:r>
            <a:r>
              <a:rPr/>
              <a:t> sides, so the team is the </a:t>
            </a:r>
            <a:r>
              <a:rPr b="1"/>
              <a:t>pair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−1.2 cm²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−0.016 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 b="1"/>
              <a:t>Neither is significant</a:t>
            </a:r>
            <a:r>
              <a:rPr/>
              <a:t> — with 5 teams there is not much power</a:t>
            </a:r>
          </a:p>
          <a:p>
            <a:pPr lvl="0"/>
            <a:r>
              <a:rPr/>
              <a:t>The </a:t>
            </a:r>
            <a:r>
              <a:rPr b="1"/>
              <a:t>area</a:t>
            </a:r>
            <a:r>
              <a:rPr/>
              <a:t> test has df = 3: one team never traced their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A real answer of “we could not detect a difference” is still an answer.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Report a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template — fill in from your </a:t>
            </a:r>
            <a:r>
              <a:rPr b="1">
                <a:latin typeface="Courier"/>
              </a:rPr>
              <a:t>summary()</a:t>
            </a:r>
            <a:r>
              <a:rPr b="1"/>
              <a:t> output:</a:t>
            </a:r>
          </a:p>
          <a:p>
            <a:pPr lvl="0" indent="0" marL="1270000">
              <a:buNone/>
            </a:pPr>
            <a:r>
              <a:rPr sz="2000" i="1"/>
              <a:t>[What predicted what] (linear regression: F(df₁, df₂) = ___, p ___, R² = ___). The fitted equation was Y = ___ + ___ × X.</a:t>
            </a:r>
          </a:p>
          <a:p>
            <a:pPr lvl="0" indent="0" marL="0">
              <a:buNone/>
            </a:pPr>
            <a:r>
              <a:rPr b="1"/>
              <a:t>Ours:</a:t>
            </a:r>
          </a:p>
          <a:p>
            <a:pPr lvl="0" indent="0" marL="1270000">
              <a:buNone/>
            </a:pPr>
            <a:r>
              <a:rPr sz="2000" i="1"/>
              <a:t>Paper area was a very strong predictor of paper mass (linear regression: F(1, 116) = 784,900, p &lt; 0.001, R² = 0.9999). The calibration equation was mass = −0.0021 + 0.00766 × area, equivalent to 76.6 g/m². Residual scatter increased with square size, so the largest squares are the least well described.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every number comes from: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the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</a:t>
                      </a:r>
                      <a:r>
                        <a:rPr>
                          <a:latin typeface="Courier"/>
                        </a:rPr>
                        <a:t>summary()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 and both 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>
                          <a:latin typeface="Courier"/>
                        </a:rPr>
                        <a:t>F-statistic:</a:t>
                      </a:r>
                      <a:r>
                        <a:rPr/>
                        <a:t> 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that same 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Multiple R-squared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Estimate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the test name, F with both df, </a:t>
            </a:r>
            <a:r>
              <a:rPr i="1"/>
              <a:t>p</a:t>
            </a:r>
            <a:r>
              <a:rPr/>
              <a:t>, R², and </a:t>
            </a:r>
            <a:r>
              <a:rPr b="1"/>
              <a:t>the equation</a:t>
            </a:r>
            <a:r>
              <a:rPr/>
              <a:t>. Add a line about the assumptions you checked.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11 Parts 4–7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4–7 now</a:t>
            </a:r>
          </a:p>
          <a:p>
            <a:pPr lvl="0"/>
            <a:r>
              <a:rPr/>
              <a:t>Run </a:t>
            </a:r>
            <a:r>
              <a:rPr>
                <a:latin typeface="Courier"/>
              </a:rPr>
              <a:t>plot(model)</a:t>
            </a:r>
            <a:r>
              <a:rPr/>
              <a:t> and say whether the assumptions are met</a:t>
            </a:r>
          </a:p>
          <a:p>
            <a:pPr lvl="0"/>
            <a:r>
              <a:rPr/>
              <a:t>Convert the whole </a:t>
            </a:r>
            <a:r>
              <a:rPr>
                <a:latin typeface="Courier"/>
              </a:rPr>
              <a:t>paper_mass_g</a:t>
            </a:r>
            <a:r>
              <a:rPr/>
              <a:t> column into areas</a:t>
            </a:r>
          </a:p>
          <a:p>
            <a:pPr lvl="0"/>
            <a:r>
              <a:rPr/>
              <a:t>Average to one value per team per side, then run both paired </a:t>
            </a:r>
            <a:r>
              <a:rPr i="1"/>
              <a:t>t</a:t>
            </a:r>
            <a:r>
              <a:rPr/>
              <a:t>-tests</a:t>
            </a:r>
          </a:p>
          <a:p>
            <a:pPr lvl="0"/>
            <a:r>
              <a:rPr/>
              <a:t>Your </a:t>
            </a:r>
            <a:r>
              <a:rPr b="1"/>
              <a:t>four answers</a:t>
            </a:r>
            <a:r>
              <a:rPr/>
              <a:t> in the script are what you hand in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ideas:</a:t>
                </a:r>
              </a:p>
              <a:p>
                <a:pPr lvl="0"/>
                <a:r>
                  <a:rPr/>
                  <a:t>Regression fits a line so you can </a:t>
                </a:r>
                <a:r>
                  <a:rPr b="1"/>
                  <a:t>predict Y from X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the </a:t>
                </a:r>
                <a:r>
                  <a:rPr b="1"/>
                  <a:t>slope</a:t>
                </a:r>
                <a:r>
                  <a:rPr/>
                  <a:t> converts X into Y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residual</a:t>
                </a:r>
                <a:r>
                  <a:rPr/>
                  <a:t> is one point’s miss: observed − predicted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= how tight the fit is; </a:t>
                </a:r>
                <a:r>
                  <a:rPr b="1" i="1"/>
                  <a:t>p</a:t>
                </a:r>
                <a:r>
                  <a:rPr/>
                  <a:t> = whether the slope is real</a:t>
                </a:r>
              </a:p>
              <a:p>
                <a:pPr lvl="0"/>
                <a:r>
                  <a:rPr/>
                  <a:t>Check the </a:t>
                </a:r>
                <a:r>
                  <a:rPr b="1"/>
                  <a:t>residuals</a:t>
                </a:r>
                <a:r>
                  <a:rPr/>
                  <a:t> — and say what you saw</a:t>
                </a:r>
              </a:p>
              <a:p>
                <a:pPr lvl="0" indent="0" marL="0">
                  <a:buNone/>
                </a:pPr>
                <a:r>
                  <a:rPr b="1"/>
                  <a:t>The code:</a:t>
                </a:r>
              </a:p>
              <a:p>
                <a:pPr lvl="0"/>
                <a:r>
                  <a:rPr>
                    <a:latin typeface="Courier"/>
                  </a:rPr>
                  <a:t>lm(Y ~ X, data = df)</a:t>
                </a:r>
                <a:r>
                  <a:rPr/>
                  <a:t> — fit it</a:t>
                </a:r>
              </a:p>
              <a:p>
                <a:pPr lvl="0"/>
                <a:r>
                  <a:rPr>
                    <a:latin typeface="Courier"/>
                  </a:rPr>
                  <a:t>summary(model)</a:t>
                </a:r>
                <a:r>
                  <a:rPr/>
                  <a:t> — slope, intercept, </a:t>
                </a:r>
                <a:r>
                  <a:rPr i="1"/>
                  <a:t>p</a:t>
                </a:r>
                <a:r>
                  <a:rPr/>
                  <a:t>, R²</a:t>
                </a:r>
              </a:p>
              <a:p>
                <a:pPr lvl="0"/>
                <a:r>
                  <a:rPr>
                    <a:latin typeface="Courier"/>
                  </a:rPr>
                  <a:t>geom_smooth(method = "lm")</a:t>
                </a:r>
                <a:r>
                  <a:rPr/>
                  <a:t> — draw it</a:t>
                </a:r>
              </a:p>
              <a:p>
                <a:pPr lvl="0"/>
                <a:r>
                  <a:rPr>
                    <a:latin typeface="Courier"/>
                  </a:rPr>
                  <a:t>plot(model)</a:t>
                </a:r>
                <a:r>
                  <a:rPr/>
                  <a:t> — check it</a:t>
                </a:r>
              </a:p>
              <a:p>
                <a:pPr lvl="0"/>
                <a:r>
                  <a:rPr>
                    <a:latin typeface="Courier"/>
                  </a:rPr>
                  <a:t>7.660e-03</a:t>
                </a:r>
                <a:r>
                  <a:rPr/>
                  <a:t> = 0.007660 — reading scientific notation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Hand in:</a:t>
            </a:r>
            <a:r>
              <a:rPr/>
              <a:t> your finished </a:t>
            </a:r>
            <a:r>
              <a:rPr>
                <a:latin typeface="Courier"/>
              </a:rPr>
              <a:t>scripts/11_regression.R</a:t>
            </a:r>
            <a:r>
              <a:rPr/>
              <a:t> — the code is given; your </a:t>
            </a:r>
            <a:r>
              <a:rPr b="1"/>
              <a:t>answers</a:t>
            </a:r>
            <a:r>
              <a:rPr/>
              <a:t> are graded</a:t>
            </a:r>
          </a:p>
          <a:p>
            <a:pPr lvl="0" indent="0" marL="0">
              <a:buNone/>
            </a:pPr>
            <a:r>
              <a:rPr b="1"/>
              <a:t>📖 W&amp;S Ch. 17:</a:t>
            </a:r>
          </a:p>
          <a:p>
            <a:pPr lvl="0"/>
            <a:r>
              <a:rPr/>
              <a:t>§17.1 Linear regression · §17.2 Prediction</a:t>
            </a:r>
          </a:p>
          <a:p>
            <a:pPr lvl="0"/>
            <a:r>
              <a:rPr/>
              <a:t>§17.3 Testing the slope · §17.4 R²</a:t>
            </a:r>
          </a:p>
          <a:p>
            <a:pPr lvl="0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Up next — Lecture 12:</a:t>
            </a:r>
          </a:p>
          <a:p>
            <a:pPr lvl="0"/>
            <a:r>
              <a:rPr/>
              <a:t>Pulling real climate data into R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Summarizing daily weather into yearly values</a:t>
            </a:r>
          </a:p>
          <a:p>
            <a:pPr lvl="0"/>
            <a:r>
              <a:rPr/>
              <a:t>The </a:t>
            </a: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/>
              <a:t> — temperature predicted by date</a:t>
            </a:r>
          </a:p>
          <a:p>
            <a:pPr lvl="1"/>
            <a:r>
              <a:rPr/>
              <a:t>the slope becomes a rate of change per year</a:t>
            </a:r>
          </a:p>
          <a:p>
            <a:pPr lvl="1"/>
            <a:r>
              <a:rPr/>
              <a:t>and you write that regression yourself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— Linear Regression</dc:title>
  <dc:creator>Bill Perry</dc:creator>
  <cp:keywords/>
  <dc:description>Fitting a linear regression with lm(), reading the summary() output, checking the residuals, and using the slope to turn a tracing mass into a leaf area.</dc:description>
  <dcterms:created xsi:type="dcterms:W3CDTF">2026-10-19T16:11:16Z</dcterms:created>
  <dcterms:modified xsi:type="dcterms:W3CDTF">2026-10-19T16:11:16Z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11</vt:lpwstr>
  </property>
  <property fmtid="{D5CDD505-2E9C-101B-9397-08002B2CF9AE}" pid="13" name="resources">
    <vt:lpwstr/>
  </property>
  <property fmtid="{D5CDD505-2E9C-101B-9397-08002B2CF9AE}" pid="14" name="subtitle">
    <vt:lpwstr>Using one measurement to predict another (Whitlock &amp; Schluter Ch. 17)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6</vt:lpwstr>
  </property>
</Properties>
</file>