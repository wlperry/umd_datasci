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9" Type="http://schemas.openxmlformats.org/officeDocument/2006/relationships/viewProps" Target="viewProps.xml" /><Relationship Id="rId3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1" Type="http://schemas.openxmlformats.org/officeDocument/2006/relationships/tableStyles" Target="tableStyles.xml" /><Relationship Id="rId4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11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07, 09–10)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Quarto</a:t>
            </a:r>
            <a:r>
              <a:rPr/>
              <a:t> — one </a:t>
            </a:r>
            <a:r>
              <a:rPr>
                <a:latin typeface="Courier"/>
              </a:rPr>
              <a:t>.qmd</a:t>
            </a:r>
            <a:r>
              <a:rPr/>
              <a:t> file holds your </a:t>
            </a:r>
            <a:r>
              <a:rPr b="1"/>
              <a:t>writing </a:t>
            </a:r>
            <a:r>
              <a:rPr b="1" i="1"/>
              <a:t>and</a:t>
            </a:r>
            <a:r>
              <a:rPr b="1"/>
              <a:t> your code</a:t>
            </a:r>
            <a:r>
              <a:rPr/>
              <a:t>, and renders to Word, HTML, or PowerPoint</a:t>
            </a:r>
          </a:p>
          <a:p>
            <a:pPr lvl="0"/>
            <a:r>
              <a:rPr b="1"/>
              <a:t>Three ingredients</a:t>
            </a:r>
            <a:r>
              <a:rPr/>
              <a:t> — YAML front matter, Markdown text, and named code chunks</a:t>
            </a:r>
          </a:p>
          <a:p>
            <a:pPr lvl="0"/>
            <a:r>
              <a:rPr b="1"/>
              <a:t>Reproducibility</a:t>
            </a:r>
            <a:r>
              <a:rPr/>
              <a:t> — numbers and figures are </a:t>
            </a:r>
            <a:r>
              <a:rPr i="1"/>
              <a:t>computed</a:t>
            </a:r>
            <a:r>
              <a:rPr/>
              <a:t>, never copied by hand; change the data, press </a:t>
            </a:r>
            <a:r>
              <a:rPr b="1"/>
              <a:t>Render</a:t>
            </a:r>
          </a:p>
          <a:p>
            <a:pPr lvl="0"/>
            <a:r>
              <a:rPr b="1"/>
              <a:t>Inline code</a:t>
            </a:r>
            <a:r>
              <a:rPr/>
              <a:t> — drop a live result straight into a sentence with </a:t>
            </a:r>
            <a:r>
              <a:rPr>
                <a:latin typeface="Courier"/>
              </a:rPr>
              <a:t>`r `</a:t>
            </a:r>
          </a:p>
          <a:p>
            <a:pPr lvl="0"/>
            <a:r>
              <a:rPr b="1"/>
              <a:t>Word reports</a:t>
            </a:r>
            <a:r>
              <a:rPr/>
              <a:t> — </a:t>
            </a:r>
            <a:r>
              <a:rPr>
                <a:latin typeface="Courier"/>
              </a:rPr>
              <a:t>format: docx</a:t>
            </a:r>
            <a:r>
              <a:rPr/>
              <a:t> with </a:t>
            </a:r>
            <a:r>
              <a:rPr>
                <a:latin typeface="Courier"/>
              </a:rPr>
              <a:t>toc</a:t>
            </a:r>
            <a:r>
              <a:rPr/>
              <a:t> and </a:t>
            </a:r>
            <a:r>
              <a:rPr>
                <a:latin typeface="Courier"/>
              </a:rPr>
              <a:t>number-sections</a:t>
            </a:r>
            <a:r>
              <a:rPr/>
              <a:t> gives a professional document</a:t>
            </a:r>
          </a:p>
          <a:p>
            <a:pPr lvl="0"/>
            <a:r>
              <a:rPr b="1"/>
              <a:t>Carried forward (Lectures 09–10)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You can now build a reproducible report. Today’s analysis — a </a:t>
            </a:r>
            <a:r>
              <a:rPr sz="2000" b="1"/>
              <a:t>calibration curve</a:t>
            </a:r>
            <a:r>
              <a:rPr sz="2000"/>
              <a:t> that converts leaf weight into a more meaningful measurement, </a:t>
            </a:r>
            <a:r>
              <a:rPr sz="2000" b="1"/>
              <a:t>leaf surface area</a:t>
            </a:r>
            <a:r>
              <a:rPr sz="2000"/>
              <a:t> (cm²) — is the perfect thing to write up in one. The activity gives you this same analysis as </a:t>
            </a:r>
            <a:r>
              <a:rPr sz="2000" i="1"/>
              <a:t>both</a:t>
            </a:r>
            <a:r>
              <a:rPr sz="2000"/>
              <a:t> a plain </a:t>
            </a:r>
            <a:r>
              <a:rPr sz="2000">
                <a:latin typeface="Courier"/>
              </a:rPr>
              <a:t>.R</a:t>
            </a:r>
            <a:r>
              <a:rPr sz="2000"/>
              <a:t> script </a:t>
            </a:r>
            <a:r>
              <a:rPr sz="2000" b="1"/>
              <a:t>and</a:t>
            </a:r>
            <a:r>
              <a:rPr sz="2000"/>
              <a:t> a Quarto report, so you can feel the difference.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A guess about the sign of the slope, or the size of R², is a claim you can be proven wrong about — and being wrong is what makes the right answer stick.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lm(area_cm2 ~ mass_g, data = paper_df)</a:t>
            </a:r>
            <a:r>
              <a:rPr sz="2000"/>
              <a:t> yourself, instead of pasting it, is what makes you actually notice which variable sits on which side of the </a:t>
            </a:r>
            <a:r>
              <a:rPr sz="2000">
                <a:latin typeface="Courier"/>
              </a:rPr>
              <a:t>~</a:t>
            </a:r>
            <a:r>
              <a:rPr sz="2000"/>
              <a:t>.</a:t>
            </a:r>
          </a:p>
          <a:p>
            <a:pPr lvl="0"/>
            <a:r>
              <a:rPr sz="2000"/>
              <a:t>Running each short chunk and then immediately applying it in the activity keeps the idea active in your head instead of letting it go stale between lecture and practice.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What Regression 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We will cover:</a:t>
                </a:r>
                <a:r>
                  <a:rPr/>
                  <a:t> the calibration idea, the equation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, least squares, R², and the four assumptions.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After this chunk: Activity Parts 1–3</a:t>
                </a:r>
                <a:r>
                  <a:rPr sz="2000"/>
                  <a:t> (load, inspect, and scatter-plot the paper data).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2565400"/>
                <a:gridCol w="812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(Lectures 09–10):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/>
                  <a:t>Squaring serves two purposes:</a:t>
                </a:r>
              </a:p>
              <a:p>
                <a:pPr lvl="1"/>
                <a:r>
                  <a:rPr/>
                  <a:t>Makes all deviations </a:t>
                </a:r>
                <a:r>
                  <a:rPr b="1"/>
                  <a:t>positive</a:t>
                </a:r>
                <a:r>
                  <a:rPr/>
                  <a:t> (no cancellation)</a:t>
                </a:r>
              </a:p>
              <a:p>
                <a:pPr lvl="1"/>
                <a:r>
                  <a:rPr/>
                  <a:t>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/>
                <a:r>
                  <a:rPr/>
                  <a:t>There is only one line that achieves this minimum — it is unique.</a:t>
                </a:r>
              </a:p>
              <a:p>
                <a:pPr lvl="0"/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    ●  ← residual (positive)
           │     |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Paper of uniform stock has constant area-per-gram. Before you see any output, predict: will R² be near </a:t>
            </a:r>
            <a:r>
              <a:rPr sz="2000" b="1"/>
              <a:t>0, 0.5, or 1</a:t>
            </a:r>
            <a:r>
              <a:rPr sz="2000"/>
              <a:t>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panels 1 &amp; 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plot(model)</a:t>
                      </a:r>
                      <a:r>
                        <a:rPr/>
                        <a:t>, panel 2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R builds these diagnostic plots for you the instant you fit a model — </a:t>
            </a:r>
            <a:r>
              <a:rPr sz="2000">
                <a:latin typeface="Courier"/>
              </a:rPr>
              <a:t>plot()</a:t>
            </a:r>
            <a:r>
              <a:rPr sz="2000"/>
              <a:t> on any </a:t>
            </a:r>
            <a:r>
              <a:rPr sz="2000">
                <a:latin typeface="Courier"/>
              </a:rPr>
              <a:t>lm</a:t>
            </a:r>
            <a:r>
              <a:rPr sz="2000"/>
              <a:t> object gives you all four in one call.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Load </a:t>
            </a:r>
            <a:r>
              <a:rPr>
                <a:latin typeface="Courier"/>
              </a:rPr>
              <a:t>paper_area_weights.xlsx</a:t>
            </a:r>
            <a:r>
              <a:rPr/>
              <a:t>, inspect it with </a:t>
            </a:r>
            <a:r>
              <a:rPr>
                <a:latin typeface="Courier"/>
              </a:rPr>
              <a:t>skim()</a:t>
            </a:r>
            <a:r>
              <a:rPr/>
              <a:t>, and make the scatter of area vs mass. Predict the shape before you plot it.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Fit the Model &amp; Read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loading the data, </a:t>
            </a:r>
            <a:r>
              <a:rPr>
                <a:latin typeface="Courier"/>
              </a:rPr>
              <a:t>lm()</a:t>
            </a:r>
            <a:r>
              <a:rPr/>
              <a:t>, and reading every line of </a:t>
            </a:r>
            <a:r>
              <a:rPr>
                <a:latin typeface="Courier"/>
              </a:rPr>
              <a:t>summary()</a:t>
            </a:r>
            <a:r>
              <a:rPr/>
              <a:t> — slope, intercept, and R².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4–7</a:t>
            </a:r>
            <a:r>
              <a:rPr sz="2000"/>
              <a:t> (fit </a:t>
            </a:r>
            <a:r>
              <a:rPr sz="2000">
                <a:latin typeface="Courier"/>
              </a:rPr>
              <a:t>lm()</a:t>
            </a:r>
            <a:r>
              <a:rPr sz="2000"/>
              <a:t>, decode </a:t>
            </a:r>
            <a:r>
              <a:rPr sz="2000">
                <a:latin typeface="Courier"/>
              </a:rPr>
              <a:t>summary()</a:t>
            </a:r>
            <a:r>
              <a:rPr sz="2000"/>
              <a:t>, pull the equation and R²).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regression_lecture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  <a:r>
              <a:rPr/>
              <a:t> — the Linear Model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area rises with mass. Before you read the output — will the slope be </a:t>
            </a:r>
            <a:r>
              <a:rPr sz="2000" b="1"/>
              <a:t>positive or negative</a:t>
            </a:r>
            <a:r>
              <a:rPr sz="2000"/>
              <a:t>? Roughly how many cm² per gram of paper?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/>
            <a:r>
              <a:rPr>
                <a:latin typeface="Courier"/>
              </a:rPr>
              <a:t>lm(Y ~ X, data = df)</a:t>
            </a:r>
          </a:p>
          <a:p>
            <a:pPr lvl="1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1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1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/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/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/>
            <a:r>
              <a:rPr/>
              <a:t>📖 W&amp;S §17.1 p. 543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R² = 0.9999 means:</a:t>
            </a:r>
          </a:p>
          <a:p>
            <a:pPr lvl="1"/>
            <a:r>
              <a:rPr/>
              <a:t>99.99% of the variation in paper area is explained by mass. The remaining 0.01% is measurement noise from the balance.</a:t>
            </a:r>
          </a:p>
          <a:p>
            <a:pPr lvl="1"/>
            <a:r>
              <a:rPr/>
              <a:t>This is expected — the relationship between mass and area in uniform paper is essentially perfect.</a:t>
            </a:r>
          </a:p>
          <a:p>
            <a:pPr lvl="1"/>
            <a:r>
              <a:rPr/>
              <a:t>In biological data, R² values of 0.3–0.7 are common and meaningful.</a:t>
            </a:r>
          </a:p>
          <a:p>
            <a:pPr lvl="1"/>
            <a:r>
              <a:rPr/>
              <a:t>📖 W&amp;S §17.4 p. 555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4–7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lm(area_cm2 ~ mass_g)</a:t>
            </a:r>
            <a:r>
              <a:rPr/>
              <a:t>, decode the </a:t>
            </a:r>
            <a:r>
              <a:rPr>
                <a:latin typeface="Courier"/>
              </a:rPr>
              <a:t>summary()</a:t>
            </a:r>
            <a:r>
              <a:rPr/>
              <a:t> table, and pull the slope, intercept, and R². Predict each number before it prints.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Visualize &amp; Check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the calibration curve with its CI band, and the four base R diagnostic plots + Shapiro-Wilk on the residuals.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8–10</a:t>
            </a:r>
            <a:r>
              <a:rPr sz="2000"/>
              <a:t> (plot the curve; check </a:t>
            </a:r>
            <a:r>
              <a:rPr sz="2000">
                <a:latin typeface="Courier"/>
              </a:rPr>
              <a:t>plot(model)</a:t>
            </a:r>
            <a:r>
              <a:rPr sz="2000"/>
              <a:t> and Shapiro-Wilk).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regression_lecture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the Base R Diagnostic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plot()</a:t>
            </a:r>
            <a:r>
              <a:rPr sz="2000"/>
              <a:t> on a fitted model gives you four panels at once. One of them is a QQ plot — what do you predict the other three will show?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plot() on an lm object gives all four diagnostics 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</p:txBody>
      </p:sp>
      <p:pic>
        <p:nvPicPr>
          <p:cNvPr descr="regression_lecture_files/figure-pptx/diagnostic-plots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1270000"/>
            <a:ext cx="33020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extra code needed.</a:t>
            </a:r>
            <a:r>
              <a:rPr/>
              <a:t> Once you have a fitted </a:t>
            </a:r>
            <a:r>
              <a:rPr>
                <a:latin typeface="Courier"/>
              </a:rPr>
              <a:t>lm</a:t>
            </a:r>
            <a:r>
              <a:rPr/>
              <a:t> object, </a:t>
            </a:r>
            <a:r>
              <a:rPr>
                <a:latin typeface="Courier"/>
              </a:rPr>
              <a:t>plot()</a:t>
            </a:r>
            <a:r>
              <a:rPr/>
              <a:t> already knows how to diagnose it.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Fitted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linearity, equal variance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Q-Q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normality of residuals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Scale-Location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equal variance (another view)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Residuals vs Leverage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influential points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✅ </a:t>
            </a:r>
            <a:r>
              <a:rPr b="1"/>
              <a:t>Good:</a:t>
            </a:r>
            <a:r>
              <a:rPr/>
              <a:t> panel 1 &amp; 3 show a random flat cloud; panel 2 tracks the dashed line</a:t>
            </a:r>
          </a:p>
          <a:p>
            <a:pPr lvl="0"/>
            <a:r>
              <a:rPr/>
              <a:t>❌ </a:t>
            </a:r>
            <a:r>
              <a:rPr b="1"/>
              <a:t>Bad:</a:t>
            </a:r>
            <a:r>
              <a:rPr/>
              <a:t> a curve or funnel in panel 1, or points curving away at the ends of panel 2</a:t>
            </a:r>
          </a:p>
          <a:p>
            <a:pPr lvl="0" indent="0" marL="0">
              <a:buNone/>
            </a:pPr>
            <a:r>
              <a:rPr/>
              <a:t>📖 W&amp;S §17.5 p. 557–560 (Figures 17.5-1, 17.5-4)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Confirming Normality — Shapiro-Wilk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/>
            <a:r>
              <a:rPr/>
              <a:t>Use this as a </a:t>
            </a:r>
            <a:r>
              <a:rPr b="1"/>
              <a:t>formal companion</a:t>
            </a:r>
            <a:r>
              <a:rPr/>
              <a:t> to panel 2 of the diagnostic plot — not a replacement for looking at it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8–10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Plot the calibration curve, then run </a:t>
            </a:r>
            <a:r>
              <a:rPr>
                <a:latin typeface="Courier"/>
              </a:rPr>
              <a:t>plot(model)</a:t>
            </a:r>
            <a:r>
              <a:rPr/>
              <a:t> and Shapiro-Wilk on the residuals. Predict each diagnostic before you run it.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Predict &amp; Report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turning a tracing mass into a predicted area, </a:t>
            </a:r>
            <a:r>
              <a:rPr>
                <a:latin typeface="Courier"/>
              </a:rPr>
              <a:t>predict()</a:t>
            </a:r>
            <a:r>
              <a:rPr/>
              <a:t> with confidence vs prediction intervals, and writing the results paragraph.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11–12</a:t>
            </a:r>
            <a:r>
              <a:rPr sz="2000"/>
              <a:t> (predict leaf area; write the results paragraph).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The sunny tracing weighs 0.092 g, the shady 0.138 g. Before running — which predicts the </a:t>
            </a:r>
            <a:r>
              <a:rPr sz="2000" b="1"/>
              <a:t>larger</a:t>
            </a:r>
            <a:r>
              <a:rPr sz="2000"/>
              <a:t> area, and does that match “shady leaves are bigger”?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confirmed result from Lectures 09–10 — shady leaves are significantly heavier and, now, larger in area too!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predict()</a:t>
            </a:r>
            <a:r>
              <a:rPr/>
              <a:t> needs the </a:t>
            </a:r>
            <a:r>
              <a:rPr b="1"/>
              <a:t>exact</a:t>
            </a:r>
            <a:r>
              <a:rPr/>
              <a:t> predictor column name. I’ll get it wrong: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mass_g, but I typed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eval(predvars, data, env) :
  object 'mass_g' not found</a:t>
            </a:r>
          </a:p>
          <a:p>
            <a:pPr lvl="0" indent="0" marL="0">
              <a:buNone/>
            </a:pPr>
            <a:r>
              <a:rPr/>
              <a:t>The fix — match the model’s variable name exactly: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new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predict()</a:t>
            </a:r>
            <a:r>
              <a:rPr sz="2000"/>
              <a:t> looks for the same column names the model was built on. </a:t>
            </a:r>
            <a:r>
              <a:rPr sz="2000" i="1"/>
              <a:t>“object ‘mass_g’ not found”</a:t>
            </a:r>
            <a:r>
              <a:rPr sz="2000"/>
              <a:t> means your </a:t>
            </a:r>
            <a:r>
              <a:rPr sz="2000">
                <a:latin typeface="Courier"/>
              </a:rPr>
              <a:t>newdata</a:t>
            </a:r>
            <a:r>
              <a:rPr sz="2000"/>
              <a:t> is missing that column — almost always a typo. This is the #1 </a:t>
            </a:r>
            <a:r>
              <a:rPr sz="2000">
                <a:latin typeface="Courier"/>
              </a:rPr>
              <a:t>predict()</a:t>
            </a:r>
            <a:r>
              <a:rPr sz="2000"/>
              <a:t> mistake.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 </a:t>
            </a:r>
            <a:r>
              <a:rPr>
                <a:solidFill>
                  <a:srgbClr val="657422"/>
                </a:solidFill>
                <a:latin typeface="Courier"/>
              </a:rPr>
              <a:t>newdata =</a:t>
            </a:r>
            <a:r>
              <a:rPr>
                <a:solidFill>
                  <a:srgbClr val="003B4F"/>
                </a:solidFill>
                <a:latin typeface="Courier"/>
              </a:rPr>
              <a:t> new_masses,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F-statistic and both df</a:t>
            </a:r>
          </a:p>
          <a:p>
            <a:pPr lvl="0"/>
            <a:r>
              <a:rPr i="1"/>
              <a:t>p</a:t>
            </a:r>
            <a:r>
              <a:rPr/>
              <a:t>-value (never “p = 0.000” — write “p &lt; 0.001”)</a:t>
            </a:r>
          </a:p>
          <a:p>
            <a:pPr lvl="0"/>
            <a:r>
              <a:rPr/>
              <a:t>R²</a:t>
            </a:r>
          </a:p>
          <a:p>
            <a:pPr lvl="0"/>
            <a:r>
              <a:rPr/>
              <a:t>The actual equation</a:t>
            </a:r>
          </a:p>
          <a:p>
            <a:pPr lvl="0"/>
            <a:r>
              <a:rPr/>
              <a:t>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11–12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Predict leaf area from tracing mass, compare confidence vs prediction intervals, and write your results paragraph. Predict the numbers before they print.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plot(model)</a:t>
                </a:r>
                <a:r>
                  <a:rPr/>
                  <a:t> — all four diagnostic plots in one call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12:</a:t>
            </a:r>
          </a:p>
          <a:p>
            <a:pPr lvl="0"/>
            <a:r>
              <a:rPr/>
              <a:t>Downloading real climate data straight into R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Summarizing daily data to reveal long-term trends</a:t>
            </a:r>
          </a:p>
          <a:p>
            <a:pPr lvl="0"/>
            <a:r>
              <a:rPr/>
              <a:t>Reusing </a:t>
            </a:r>
            <a:r>
              <a:rPr>
                <a:latin typeface="Courier"/>
              </a:rPr>
              <a:t>lm()</a:t>
            </a:r>
            <a:r>
              <a:rPr/>
              <a:t> to estimate a rate of change over time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11 — Linear Regression</dc:title>
  <dc:creator>Bill Perry</dc:creator>
  <cp:keywords/>
  <dc:description>How to fit a linear regression, test its assumptions, interpret the model output, and calculate predictions.</dc:description>
  <dcterms:created xsi:type="dcterms:W3CDTF">2026-09-03T14:16:16Z</dcterms:created>
  <dcterms:modified xsi:type="dcterms:W3CDTF">2026-09-03T14:16:16Z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2026-09-03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11</vt:lpwstr>
  </property>
  <property fmtid="{D5CDD505-2E9C-101B-9397-08002B2CF9AE}" pid="13" name="resources">
    <vt:lpwstr/>
  </property>
  <property fmtid="{D5CDD505-2E9C-101B-9397-08002B2CF9AE}" pid="14" name="subtitle">
    <vt:lpwstr>Predicting leaf area from paper tracing mass (Whitlock &amp; Schluter Ch. 17)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