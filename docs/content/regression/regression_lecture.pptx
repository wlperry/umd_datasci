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the slope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/>
              <a:t>reading </a:t>
            </a:r>
            <a:r>
              <a:rPr>
                <a:latin typeface="Courier"/>
              </a:rPr>
              <a:t>7.660e-03</a:t>
            </a:r>
            <a:r>
              <a:rPr/>
              <a:t> as 0.007660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27305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790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(the study, 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mass against known area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variable you </a:t>
            </a:r>
            <a:r>
              <a:rPr b="1"/>
              <a:t>set</a:t>
            </a:r>
            <a:r>
              <a:rPr/>
              <a:t> on x and the one you </a:t>
            </a:r>
            <a:r>
              <a:rPr b="1"/>
              <a:t>measured</a:t>
            </a:r>
            <a:r>
              <a:rPr/>
              <a:t>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mass_g ~ area_cm2</a:t>
            </a:r>
            <a:r>
              <a:rPr/>
              <a:t> is “mass is predicted by area.”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Which way round?</a:t>
            </a:r>
            <a:r>
              <a:rPr sz="2000"/>
              <a:t> We </a:t>
            </a:r>
            <a:r>
              <a:rPr sz="2000" b="1"/>
              <a:t>cut</a:t>
            </a:r>
            <a:r>
              <a:rPr sz="2000"/>
              <a:t> the areas and </a:t>
            </a:r>
            <a:r>
              <a:rPr sz="2000" b="1"/>
              <a:t>measured</a:t>
            </a:r>
            <a:r>
              <a:rPr sz="2000"/>
              <a:t> the masses, so </a:t>
            </a:r>
            <a:r>
              <a:rPr sz="2000" b="1"/>
              <a:t>mass</a:t>
            </a:r>
            <a:r>
              <a:rPr sz="2000"/>
              <a:t> is the response. </a:t>
            </a:r>
            <a:r>
              <a:rPr sz="2000">
                <a:latin typeface="Courier"/>
              </a:rPr>
              <a:t>lm(area_cm2 ~ mass_g)</a:t>
            </a:r>
            <a:r>
              <a:rPr sz="2000"/>
              <a:t> runs fine too — it just asks R to treat ten areas we chose on purpose as if they were the noisy measurement.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mass_g ~ area_cm2, data = paper_df)
Residuals:
      Min        1Q    Median        3Q       Max 
-0.066548 -0.001774  0.000907  0.002267  0.056127 
Coefficients:
              Estimate Std. Error t value Pr(&gt;|t|)    
(Intercept) -2.058e-03  1.389e-03  -1.481    0.141    
area_cm2     7.660e-03  8.646e-06 885.964   &lt;2e-16 ***
---
Signif. codes:  0 '***' 0.001 '**' 0.01 '*' 0.05 '.' 0.1 ' ' 1
Residual standard error: 0.01351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  Estimate Std. Error t value Pr(&gt;|t|)
(Intercept) -2.058e-03  1.389e-03  -1.481    0.141
area_cm2     7.660e-03  8.646e-06 885.964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-0.002058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area_cm2</a:t>
                </a:r>
                <a:r>
                  <a:rPr/>
                  <a:t> = </a:t>
                </a:r>
                <a:r>
                  <a:rPr b="1"/>
                  <a:t>0.007660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 b="1">
                    <a:latin typeface="Courier"/>
                  </a:rPr>
                  <a:t>7.660e-03</a:t>
                </a:r>
                <a:r>
                  <a:rPr b="1"/>
                  <a:t> means 7.660 × 10⁻³</a:t>
                </a:r>
                <a:r>
                  <a:rPr/>
                  <a:t> — move the decimal point three places left.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Prefer plain decimals? </a:t>
                </a:r>
                <a:r>
                  <a:rPr sz="2000">
                    <a:latin typeface="Courier"/>
                  </a:rPr>
                  <a:t>options(scipen = 999)</a:t>
                </a:r>
                <a:r>
                  <a:rPr sz="2000"/>
                  <a:t> turns scientific notation off and </a:t>
                </a:r>
                <a:r>
                  <a:rPr sz="2000">
                    <a:latin typeface="Courier"/>
                  </a:rPr>
                  <a:t>options(scipen = 0)</a:t>
                </a:r>
                <a:r>
                  <a:rPr sz="2000"/>
                  <a:t> turns it back on. We leave it on — with it off, </a:t>
                </a:r>
                <a:r>
                  <a:rPr sz="2000" i="1"/>
                  <a:t>p</a:t>
                </a:r>
                <a:r>
                  <a:rPr sz="2000"/>
                  <a:t> prints as </a:t>
                </a:r>
                <a:r>
                  <a:rPr sz="2000">
                    <a:latin typeface="Courier"/>
                  </a:rPr>
                  <a:t>&lt;0.0000000000000002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0.0021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0.00766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cm²</a:t>
            </a:r>
            <a:r>
              <a:rPr sz="2000"/>
              <a:t> of this paper weighs another </a:t>
            </a:r>
            <a:r>
              <a:rPr sz="2000" b="1"/>
              <a:t>0.00766 g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×10,000 → 76.6 g/m²</a:t>
            </a:r>
            <a:r>
              <a:rPr sz="2000"/>
              <a:t> — the paper’s </a:t>
            </a:r>
            <a:r>
              <a:rPr sz="2000" b="1"/>
              <a:t>grammage</a:t>
            </a:r>
            <a:r>
              <a:rPr sz="2000"/>
              <a:t>, the number on the side of the ream. Copy paper is sold at 75–80 g/m², so the slope is a property you can go and check.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-2.058e-03  ...   0.141
area_cm2     7.660e-03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area_cm2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area tells you nothing about mass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Area predicts mass.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0.141,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area has no mass.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0.01351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area explains </a:t>
            </a:r>
            <a:r>
              <a:rPr b="1"/>
              <a:t>99.99%</a:t>
            </a:r>
            <a:r>
              <a:rPr/>
              <a:t> of the variation in mass.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0.0135 g</a:t>
            </a:r>
            <a:r>
              <a:rPr/>
              <a:t> → a typical miss is about 13 mg.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lm(mass_g ~ area_cm2)</a:t>
            </a:r>
            <a:r>
              <a:rPr/>
              <a:t>, and read the slope, the </a:t>
            </a:r>
            <a:r>
              <a:rPr i="1"/>
              <a:t>p</a:t>
            </a:r>
            <a:r>
              <a:rPr/>
              <a:t>-value and R² </a:t>
            </a:r>
            <a:r>
              <a:rPr b="1"/>
              <a:t>off the summary output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converting the whole column of tracings, averaging away the pseudoreplication, and the paired </a:t>
            </a:r>
            <a:r>
              <a:rPr i="1"/>
              <a:t>t</a:t>
            </a:r>
            <a:r>
              <a:rPr/>
              <a:t>-tests.</a:t>
            </a:r>
          </a:p>
          <a:p>
            <a:pPr lvl="0" indent="0" marL="0">
              <a:buNone/>
            </a:pPr>
            <a:r>
              <a:rPr b="1"/>
              <a:t>🛑 After this chunk: Activity Parts 4–7</a:t>
            </a:r>
            <a:r>
              <a:rPr/>
              <a:t> (check the residuals, convert, average, paired </a:t>
            </a:r>
            <a:r>
              <a:rPr i="1"/>
              <a:t>t</a:t>
            </a:r>
            <a:r>
              <a:rPr/>
              <a:t>-tests).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   
 2        4         0   
 3       16         0   
 4       36         0.01
 5       64         0.01
 6      100         0.02
 7      225         0.02
 8      400         0.06
 9      500         0.06
10      567         0.07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Tracing Mass to Leaf Area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model says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 the </a:t>
                </a:r>
                <a:r>
                  <a:rPr b="1"/>
                  <a:t>mass</a:t>
                </a:r>
                <a:r>
                  <a:rPr/>
                  <a:t> and want the </a:t>
                </a:r>
                <a:r>
                  <a:rPr b="1"/>
                  <a:t>area</a:t>
                </a:r>
                <a:r>
                  <a:rPr/>
                  <a:t>, so rearrange: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area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a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Typed off the summary(), out of sci notation --------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intercept &lt;-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0.002058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-2.058e-03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    &lt;- 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0.007660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 7.660e-03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1 m2 = 10000 cm2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10000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76.6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Type the two numbers in.</a:t>
                </a:r>
                <a:r>
                  <a:rPr/>
                  <a:t> They are right there in the Coefficients table, and the arithmetic stays in plain sight</a:t>
                </a:r>
              </a:p>
              <a:p>
                <a:pPr lvl="0"/>
                <a:r>
                  <a:rPr/>
                  <a:t>Rounding to six decimals changes </a:t>
                </a:r>
                <a:r>
                  <a:rPr b="1"/>
                  <a:t>nothing</a:t>
                </a:r>
                <a:r>
                  <a:rPr/>
                  <a:t> — same </a:t>
                </a:r>
                <a:r>
                  <a:rPr i="1"/>
                  <a:t>t</a:t>
                </a:r>
                <a:r>
                  <a:rPr/>
                  <a:t>, df and </a:t>
                </a:r>
                <a:r>
                  <a:rPr i="1"/>
                  <a:t>p</a:t>
                </a:r>
                <a:r>
                  <a:rPr/>
                  <a:t> at the end</a:t>
                </a:r>
              </a:p>
              <a:p>
                <a:pPr lvl="0"/>
                <a:r>
                  <a:rPr/>
                  <a:t>Or let R hand them to you: </a:t>
                </a:r>
                <a:r>
                  <a:rPr b="1">
                    <a:latin typeface="Courier"/>
                  </a:rPr>
                  <a:t>coef(paper_model)</a:t>
                </a:r>
                <a:r>
                  <a:rPr/>
                  <a:t>, then </a:t>
                </a:r>
                <a:r>
                  <a:rPr>
                    <a:latin typeface="Courier"/>
                  </a:rPr>
                  <a:t>[1]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[2]</a:t>
                </a:r>
                <a:r>
                  <a:rPr/>
                  <a:t> — and it prints plain decimals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×10,000 → 76.6 g/m²</a:t>
                </a:r>
                <a:r>
                  <a:rPr sz="2000"/>
                  <a:t> — the paper’s </a:t>
                </a:r>
                <a:r>
                  <a:rPr sz="2000" b="1"/>
                  <a:t>grammage</a:t>
                </a:r>
                <a:r>
                  <a:rPr sz="2000"/>
                  <a:t>, the number on the side of the ream. Copy paper is sold at 75–80 g/m², so the slope is a property you can </a:t>
                </a:r>
                <a:r>
                  <a:rPr sz="2000" b="1"/>
                  <a:t>check against the label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tracing weighing 0.138 g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0.138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0.002058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0.007660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18.3</m:t>
                      </m:r>
                      <m:sSup>
                        <m:e>
                          <m:r>
                            <m:rPr>
                              <m:nor/>
                              <m:sty m:val="p"/>
                            </m:rPr>
                            <m:t> cm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 tracing mass becomes an area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(paper_mass_g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intercept)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slope)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area_cm2
   &lt;chr&gt; &lt;chr&gt;  &lt;dbl&gt;        &lt;dbl&gt;    &lt;dbl&gt;
 1 12345 sunny   0.4          0.21     27.7
 2 12345 sunny   0.48         0.21     27.7
 3 12345 sunny   0.34         0.21     27.7
 4 12345 sunny   0.65         0.24     31.6
 5 12345 sunny   0.27         0.15     19.9
 6 12345 sunny   0.43         0.34     44.7
 7 12345 shady   0.39         0.29     38.1
 8 12345 shady   0.45         0.25     32.9
 9 12345 shady   0.6          0.23     30.3
10 12345 shady   0.57         0.28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 — now every leaf has an </a:t>
            </a:r>
            <a:r>
              <a:rPr b="1">
                <a:latin typeface="Courier"/>
              </a:rPr>
              <a:t>area_cm2</a:t>
            </a:r>
            <a:r>
              <a:rPr/>
              <a:t>.</a:t>
            </a:r>
          </a:p>
          <a:p>
            <a:pPr lvl="0"/>
            <a:r>
              <a:rPr/>
              <a:t>One line of arithmetic, all 53 rows at once</a:t>
            </a:r>
          </a:p>
          <a:p>
            <a:pPr lvl="0"/>
            <a:r>
              <a:rPr/>
              <a:t>No new function to learn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R keeps the gap instead of inventing a number.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Value per Team per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away the pseudoreplication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team_df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mass_g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4
   teams              shade area_cm2 mass_g
   &lt;chr&gt;              &lt;chr&gt;    &lt;dbl&gt;  &lt;dbl&gt;
 1 12345              shady     34.0  0.448
 2 12345              sunny     29.9  0.428
 3 Oscar_Karl         shady    NaN    0.400
 4 Oscar_Karl         sunny    NaN    0.339
 5 fighting_mongooses shady     35.7  0.653
 6 fighting_mongooses sunny     32.2  0.544
 7 leaf_oglers        shady     36.3  0.588
 8 leaf_oglers        sunny     37.4  0.599
 9 still_loading      shady     42.5  0.526
10 still_loading      sunny     53.7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Six leaves off one branch are </a:t>
            </a:r>
            <a:r>
              <a:rPr b="1"/>
              <a:t>not six independent measurements</a:t>
            </a:r>
          </a:p>
          <a:p>
            <a:pPr lvl="0"/>
            <a:r>
              <a:rPr/>
              <a:t>Using all 53 is </a:t>
            </a:r>
            <a:r>
              <a:rPr b="1"/>
              <a:t>pseudoreplication</a:t>
            </a:r>
            <a:r>
              <a:rPr/>
              <a:t> — it makes </a:t>
            </a:r>
            <a:r>
              <a:rPr i="1"/>
              <a:t>p</a:t>
            </a:r>
            <a:r>
              <a:rPr/>
              <a:t> look better than the study earned</a:t>
            </a:r>
          </a:p>
          <a:p>
            <a:pPr lvl="0"/>
            <a:r>
              <a:rPr/>
              <a:t>Averaging gives each team </a:t>
            </a:r>
            <a:r>
              <a:rPr b="1"/>
              <a:t>one</a:t>
            </a:r>
            <a:r>
              <a:rPr/>
              <a:t> sunny and </a:t>
            </a:r>
            <a:r>
              <a:rPr b="1"/>
              <a:t>one</a:t>
            </a:r>
            <a:r>
              <a:rPr/>
              <a:t> shady value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met this in T-Tests II. Same tree, same pairing — now in </a:t>
            </a:r>
            <a:r>
              <a:rPr sz="2000" b="1"/>
              <a:t>cm²</a:t>
            </a:r>
            <a:r>
              <a:rPr sz="2000"/>
              <a:t> instead of grams.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</a:t>
            </a:r>
            <a:r>
              <a:rPr i="1"/>
              <a:t>t</a:t>
            </a:r>
            <a:r>
              <a:rPr/>
              <a:t>-Tests on Area and Mass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team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wide_df &lt;- team_df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(area_cm2, mass_g))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team measured </a:t>
            </a:r>
            <a:r>
              <a:rPr b="1"/>
              <a:t>both</a:t>
            </a:r>
            <a:r>
              <a:rPr/>
              <a:t> sides, so the team is the </a:t>
            </a:r>
            <a:r>
              <a:rPr b="1"/>
              <a:t>pair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800100"/>
                <a:gridCol w="800100"/>
                <a:gridCol w="800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−1.2 cm²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−0.016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Neither is significant</a:t>
            </a:r>
            <a:r>
              <a:rPr/>
              <a:t> — with 5 teams there is not much power</a:t>
            </a:r>
          </a:p>
          <a:p>
            <a:pPr lvl="0"/>
            <a:r>
              <a:rPr/>
              <a:t>The </a:t>
            </a:r>
            <a:r>
              <a:rPr b="1"/>
              <a:t>area</a:t>
            </a:r>
            <a:r>
              <a:rPr/>
              <a:t> test has df = 3: one team never traced their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real answer of “we could not detect a difference” is still an answer.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area was a very strong predictor of paper mass (linear regression: F(1, 116) = 784,900, p &lt; 0.001, R² = 0.9999). The calibration equation was mass = −0.0021 + 0.00766 × area, equivalent to 76.6 g/m². Residual scatter increased with square size, so the largest squares are the least well described.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4–7 now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plot(model)</a:t>
            </a:r>
            <a:r>
              <a:rPr/>
              <a:t> and say whether the assumptions are met</a:t>
            </a:r>
          </a:p>
          <a:p>
            <a:pPr lvl="0"/>
            <a:r>
              <a:rPr/>
              <a:t>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Average to one value per team per side, then run both paired </a:t>
            </a:r>
            <a:r>
              <a:rPr i="1"/>
              <a:t>t</a:t>
            </a:r>
            <a:r>
              <a:rPr/>
              <a:t>-tests</a:t>
            </a:r>
          </a:p>
          <a:p>
            <a:pPr lvl="0"/>
            <a:r>
              <a:rPr/>
              <a:t>Your </a:t>
            </a:r>
            <a:r>
              <a:rPr b="1"/>
              <a:t>four 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7.660e-03</a:t>
                </a:r>
                <a:r>
                  <a:rPr/>
                  <a:t> = 0.007660 — reading scientific notation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the slope to turn a tracing mass into a leaf area.</dc:description>
  <dcterms:created xsi:type="dcterms:W3CDTF">2026-10-20T00:52:29Z</dcterms:created>
  <dcterms:modified xsi:type="dcterms:W3CDTF">2026-10-20T00:52:29Z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