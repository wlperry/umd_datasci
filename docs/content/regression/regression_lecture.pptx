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07, 09–10)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(Lectures 09–10)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guess about the sign of the slope, or the size of R², is a claim you can be proven wrong about — and being wrong is what makes the right answer stick.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lm(area_cm2 ~ mass_g, data = paper_df)</a:t>
            </a:r>
            <a:r>
              <a:rPr sz="2000"/>
              <a:t> yourself, instead of pasting it, is what makes you actually notice which variable sits on which side of the </a:t>
            </a:r>
            <a:r>
              <a:rPr sz="2000">
                <a:latin typeface="Courier"/>
              </a:rPr>
              <a:t>~</a:t>
            </a:r>
            <a:r>
              <a:rPr sz="2000"/>
              <a:t>.</a:t>
            </a:r>
          </a:p>
          <a:p>
            <a:pPr lvl="0"/>
            <a:r>
              <a:rPr sz="2000"/>
              <a:t>Running each short chunk and then immediately applying it in the activity keeps the idea active in your head instead of letting it go stale between lecture and practice.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Regression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We will cover:</a:t>
                </a:r>
                <a:r>
                  <a:rPr/>
                  <a:t> the calibration idea, 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 least squares, R², and the four assumptions.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After this chunk: Activity Parts 1–3</a:t>
                </a:r>
                <a:r>
                  <a:rPr sz="2000"/>
                  <a:t> (load, inspect, and scatter-plot the paper data).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(Lectures 09–10):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Paper of uniform stock has constant area-per-gram. Before you see any output, predict: will R² be near </a:t>
            </a:r>
            <a:r>
              <a:rPr sz="2000" b="1"/>
              <a:t>0, 0.5, or 1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panels 1 &amp; 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2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R builds these diagnostic plots for you the instant you fit a model — </a:t>
            </a:r>
            <a:r>
              <a:rPr sz="2000">
                <a:latin typeface="Courier"/>
              </a:rPr>
              <a:t>plot()</a:t>
            </a:r>
            <a:r>
              <a:rPr sz="2000"/>
              <a:t> on any </a:t>
            </a:r>
            <a:r>
              <a:rPr sz="2000">
                <a:latin typeface="Courier"/>
              </a:rPr>
              <a:t>lm</a:t>
            </a:r>
            <a:r>
              <a:rPr sz="2000"/>
              <a:t> object gives you all four in one call.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paper_area_weights.xlsx</a:t>
            </a:r>
            <a:r>
              <a:rPr/>
              <a:t>, inspect it with </a:t>
            </a:r>
            <a:r>
              <a:rPr>
                <a:latin typeface="Courier"/>
              </a:rPr>
              <a:t>skim()</a:t>
            </a:r>
            <a:r>
              <a:rPr/>
              <a:t>, and make the scatter of area vs mass. Predict the shape before you plot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Fit the Model &amp;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data, </a:t>
            </a:r>
            <a:r>
              <a:rPr>
                <a:latin typeface="Courier"/>
              </a:rPr>
              <a:t>lm()</a:t>
            </a:r>
            <a:r>
              <a:rPr/>
              <a:t>, and reading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and R².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_lecture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  <a:r>
              <a:rPr/>
              <a:t> — the Linear Model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area rises with mass. Before you read the output — will the slope be </a:t>
            </a:r>
            <a:r>
              <a:rPr sz="2000" b="1"/>
              <a:t>positive or negative</a:t>
            </a:r>
            <a:r>
              <a:rPr sz="2000"/>
              <a:t>? Roughly how many cm² per gram of paper?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lm(area_cm2 ~ mass_g)</a:t>
            </a:r>
            <a:r>
              <a:rPr/>
              <a:t>, decode the </a:t>
            </a:r>
            <a:r>
              <a:rPr>
                <a:latin typeface="Courier"/>
              </a:rPr>
              <a:t>summary()</a:t>
            </a:r>
            <a:r>
              <a:rPr/>
              <a:t> table, and pull the slope, intercept, and R². Predict each number before it prints.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Visualize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calibration curve with its CI band, and the four base R diagnostic plots + Shapiro-Wilk on the residuals.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8–10</a:t>
            </a:r>
            <a:r>
              <a:rPr sz="2000"/>
              <a:t> (plot the curve; check </a:t>
            </a:r>
            <a:r>
              <a:rPr sz="2000">
                <a:latin typeface="Courier"/>
              </a:rPr>
              <a:t>plot(model)</a:t>
            </a:r>
            <a:r>
              <a:rPr sz="2000"/>
              <a:t> and Shapiro-Wilk).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the Base R Diagnostic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plot()</a:t>
            </a:r>
            <a:r>
              <a:rPr sz="2000"/>
              <a:t> on a fitted model gives you four panels at once. One of them is a QQ plot — what do you predict the other three will show?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plot() on an lm object gives all four diagnostics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</p:txBody>
      </p:sp>
      <p:pic>
        <p:nvPicPr>
          <p:cNvPr descr="regression_lecture_files/figure-pptx/diagnostic-plo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extra code needed.</a:t>
            </a:r>
            <a:r>
              <a:rPr/>
              <a:t> Once you have a fitted </a:t>
            </a:r>
            <a:r>
              <a:rPr>
                <a:latin typeface="Courier"/>
              </a:rPr>
              <a:t>lm</a:t>
            </a:r>
            <a:r>
              <a:rPr/>
              <a:t> object, </a:t>
            </a:r>
            <a:r>
              <a:rPr>
                <a:latin typeface="Courier"/>
              </a:rPr>
              <a:t>plot()</a:t>
            </a:r>
            <a:r>
              <a:rPr/>
              <a:t> already knows how to diagnose it.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Fitted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linearity, equal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Q-Q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normality of residuals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variance (another view)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Leverage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influential points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panel 1 &amp; 3 show a random flat cloud; panel 2 tracks the dashed line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a curve or funnel in panel 1, or points curving away at the ends of panel 2</a:t>
            </a:r>
          </a:p>
          <a:p>
            <a:pPr lvl="0" indent="0" marL="0">
              <a:buNone/>
            </a:pPr>
            <a:r>
              <a:rPr/>
              <a:t>📖 W&amp;S §17.5 p. 557–560 (Figures 17.5-1, 17.5-4)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Confirming Normality — Shapiro-Wilk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/>
            <a:r>
              <a:rPr/>
              <a:t>Use this as a </a:t>
            </a:r>
            <a:r>
              <a:rPr b="1"/>
              <a:t>formal companion</a:t>
            </a:r>
            <a:r>
              <a:rPr/>
              <a:t> to panel 2 of the diagnostic plot — not a replacement for looking at it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the calibration curve, then run </a:t>
            </a:r>
            <a:r>
              <a:rPr>
                <a:latin typeface="Courier"/>
              </a:rPr>
              <a:t>plot(model)</a:t>
            </a:r>
            <a:r>
              <a:rPr/>
              <a:t> and Shapiro-Wilk on the residuals. Predict each diagnostic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Predict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turning a tracing mass into a predicted area, </a:t>
            </a:r>
            <a:r>
              <a:rPr>
                <a:latin typeface="Courier"/>
              </a:rPr>
              <a:t>predict()</a:t>
            </a:r>
            <a:r>
              <a:rPr/>
              <a:t> with confidence vs prediction intervals, and writing the results paragraph.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11–12</a:t>
            </a:r>
            <a:r>
              <a:rPr sz="2000"/>
              <a:t> (predict leaf area; write the results paragraph).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sunny tracing weighs 0.092 g, the shady 0.138 g. Before running — which predicts the </a:t>
            </a:r>
            <a:r>
              <a:rPr sz="2000" b="1"/>
              <a:t>larger</a:t>
            </a:r>
            <a:r>
              <a:rPr sz="2000"/>
              <a:t> area, and does that match “shady leaves are bigger”?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confirmed result from Lectures 09–10 — shady leaves are significantly heavier and, now, larger in area too!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predict()</a:t>
            </a:r>
            <a:r>
              <a:rPr/>
              <a:t> needs the </a:t>
            </a:r>
            <a:r>
              <a:rPr b="1"/>
              <a:t>exact</a:t>
            </a:r>
            <a:r>
              <a:rPr/>
              <a:t> predictor column name. I’ll get it wrong: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mass_g, but I typed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eval(predvars, data, env) :
  object 'mass_g' not found</a:t>
            </a:r>
          </a:p>
          <a:p>
            <a:pPr lvl="0" indent="0" marL="0">
              <a:buNone/>
            </a:pPr>
            <a:r>
              <a:rPr/>
              <a:t>The fix — match the model’s variable name exactly: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predict()</a:t>
            </a:r>
            <a:r>
              <a:rPr sz="2000"/>
              <a:t> looks for the same column names the model was built on. </a:t>
            </a:r>
            <a:r>
              <a:rPr sz="2000" i="1"/>
              <a:t>“object ‘mass_g’ not found”</a:t>
            </a:r>
            <a:r>
              <a:rPr sz="2000"/>
              <a:t> means your </a:t>
            </a:r>
            <a:r>
              <a:rPr sz="2000">
                <a:latin typeface="Courier"/>
              </a:rPr>
              <a:t>newdata</a:t>
            </a:r>
            <a:r>
              <a:rPr sz="2000"/>
              <a:t> is missing that column — almost always a typo. This is the #1 </a:t>
            </a:r>
            <a:r>
              <a:rPr sz="2000">
                <a:latin typeface="Courier"/>
              </a:rPr>
              <a:t>predict()</a:t>
            </a:r>
            <a:r>
              <a:rPr sz="2000"/>
              <a:t> mistake.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F-statistic and both df</a:t>
            </a:r>
          </a:p>
          <a:p>
            <a:pPr lvl="0"/>
            <a:r>
              <a:rPr i="1"/>
              <a:t>p</a:t>
            </a:r>
            <a:r>
              <a:rPr/>
              <a:t>-value (never “p = 0.000” — write “p &lt; 0.001”)</a:t>
            </a:r>
          </a:p>
          <a:p>
            <a:pPr lvl="0"/>
            <a:r>
              <a:rPr/>
              <a:t>R²</a:t>
            </a:r>
          </a:p>
          <a:p>
            <a:pPr lvl="0"/>
            <a:r>
              <a:rPr/>
              <a:t>The actual equation</a:t>
            </a:r>
          </a:p>
          <a:p>
            <a:pPr lvl="0"/>
            <a:r>
              <a:rPr/>
              <a:t>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11–12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 leaf area from tracing mass, compare confidence vs prediction intervals, and write your results paragraph. Predict the numbers before they print.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plot(model)</a:t>
                </a:r>
                <a:r>
                  <a:rPr/>
                  <a:t> — all four diagnostic plots in one call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12:</a:t>
            </a:r>
          </a:p>
          <a:p>
            <a:pPr lvl="0"/>
            <a:r>
              <a:rPr/>
              <a:t>Downloading real climate data straight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data to reveal long-term trends</a:t>
            </a:r>
          </a:p>
          <a:p>
            <a:pPr lvl="0"/>
            <a:r>
              <a:rPr/>
              <a:t>Reusing </a:t>
            </a:r>
            <a:r>
              <a:rPr>
                <a:latin typeface="Courier"/>
              </a:rPr>
              <a:t>lm()</a:t>
            </a:r>
            <a:r>
              <a:rPr/>
              <a:t> to estimate a rate of change over time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— Linear Regression</dc:title>
  <dc:creator>Bill Perry</dc:creator>
  <cp:keywords/>
  <dc:description>How to fit a linear regression, test its assumptions, interpret the model output, and calculate predictions.</dc:description>
  <dcterms:created xsi:type="dcterms:W3CDTF">2026-09-24T01:21:21Z</dcterms:created>
  <dcterms:modified xsi:type="dcterms:W3CDTF">2026-09-24T01:21:21Z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Predicting leaf area from paper tracing mass (Whitlock &amp; Schluter Ch. 17)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