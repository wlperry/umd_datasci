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script.R" TargetMode="External" /><Relationship Id="rId3" Type="http://schemas.openxmlformats.org/officeDocument/2006/relationships/hyperlink" Target="regression_analysis_report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regression_analysis_report.qmd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calibration curve to predict leaf area from paper tracing mass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— Predicting Leaf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Worksheets 07, 09–10</a:t>
            </a:r>
          </a:p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writing </a:t>
            </a:r>
            <a:r>
              <a:rPr i="1"/>
              <a:t>and</a:t>
            </a:r>
            <a:r>
              <a:rPr/>
              <a:t> your code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uniquely </a:t>
            </a:r>
            <a:r>
              <a:rPr b="1"/>
              <a:t>named</a:t>
            </a:r>
            <a:r>
              <a:rPr/>
              <a:t> code chunks</a:t>
            </a:r>
          </a:p>
          <a:p>
            <a:pPr lvl="0"/>
            <a:r>
              <a:rPr b="1"/>
              <a:t>Reproducibility</a:t>
            </a:r>
            <a:r>
              <a:rPr/>
              <a:t> — every number and figure is </a:t>
            </a:r>
            <a:r>
              <a:rPr i="1"/>
              <a:t>computed</a:t>
            </a:r>
            <a:r>
              <a:rPr/>
              <a:t>, never copied by hand</a:t>
            </a:r>
          </a:p>
          <a:p>
            <a:pPr lvl="0"/>
            <a:r>
              <a:rPr b="1"/>
              <a:t>Inline code</a:t>
            </a:r>
            <a:r>
              <a:rPr/>
              <a:t> — a live result drops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Carried forward (Worksheets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/>
            <a:r>
              <a:rPr b="1"/>
              <a:t>But:</a:t>
            </a:r>
            <a:r>
              <a:rPr/>
              <a:t> weight in grams tells us about </a:t>
            </a:r>
            <a:r>
              <a:rPr i="1"/>
              <a:t>mass</a:t>
            </a:r>
            <a:r>
              <a:rPr/>
              <a:t> — not directly about </a:t>
            </a:r>
            <a:r>
              <a:rPr i="1"/>
              <a:t>leaf surface area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inspect the paper calibration data</a:t>
            </a:r>
          </a:p>
          <a:p>
            <a:pPr lvl="0" indent="-342900" marL="342900">
              <a:buAutoNum type="arabicPeriod"/>
            </a:pPr>
            <a:r>
              <a:rPr/>
              <a:t>Make a scatter plot and visually assess linearity</a:t>
            </a:r>
          </a:p>
          <a:p>
            <a:pPr lvl="0" indent="-342900" marL="342900">
              <a:buAutoNum type="arabicPeriod"/>
            </a:pPr>
            <a:r>
              <a:rPr/>
              <a:t>Fit a linear regression with </a:t>
            </a:r>
            <a:r>
              <a:rPr>
                <a:latin typeface="Courier"/>
              </a:rPr>
              <a:t>lm()</a:t>
            </a:r>
            <a:r>
              <a:rPr/>
              <a:t> and read every line of </a:t>
            </a:r>
            <a:r>
              <a:rPr>
                <a:latin typeface="Courier"/>
              </a:rPr>
              <a:t>summary()</a:t>
            </a:r>
          </a:p>
          <a:p>
            <a:pPr lvl="0" indent="-342900" marL="342900">
              <a:buAutoNum type="arabicPeriod"/>
            </a:pPr>
            <a:r>
              <a:rPr/>
              <a:t>Extract slope, intercept, and R² from the model</a:t>
            </a:r>
          </a:p>
          <a:p>
            <a:pPr lvl="0" indent="-342900" marL="342900">
              <a:buAutoNum type="arabicPeriod"/>
            </a:pPr>
            <a:r>
              <a:rPr/>
              <a:t>Check all four regression assumptions (linearity, equal variance, normality of residuals)</a:t>
            </a:r>
          </a:p>
          <a:p>
            <a:pPr lvl="0" indent="-342900" marL="342900">
              <a:buAutoNum type="arabicPeriod"/>
            </a:pPr>
            <a:r>
              <a:rPr/>
              <a:t>Use the calibration equation to </a:t>
            </a:r>
            <a:r>
              <a:rPr b="1"/>
              <a:t>predict leaf area</a:t>
            </a:r>
            <a:r>
              <a:rPr/>
              <a:t> from a tracing mass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predict()</a:t>
            </a:r>
            <a:r>
              <a:rPr/>
              <a:t> with confidence and prediction intervals</a:t>
            </a:r>
          </a:p>
          <a:p>
            <a:pPr lvl="0" indent="-342900" marL="342900">
              <a:buAutoNum type="arabicPeriod"/>
            </a:pPr>
            <a:r>
              <a:rPr/>
              <a:t>Write a complete results paragraph following W&amp;S Chapter 17 conventions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each part in order. Type the code into a new R script in Positron and run it line by line.</a:t>
            </a:r>
          </a:p>
          <a:p>
            <a:pPr lvl="1"/>
            <a:r>
              <a:rPr sz="2000"/>
              <a:t>Code 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1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1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print. Then type the code in yourself rather than pasting it.</a:t>
            </a:r>
          </a:p>
          <a:p>
            <a:pPr lvl="0" indent="0" marL="1270000">
              <a:buNone/>
            </a:pPr>
            <a:r>
              <a:rPr sz="2000"/>
              <a:t>A regression handout has a lot of numbers in it — slope, intercept, R², a t-value, a p-value — and it’s tempting to just read them off the screen. Committing to a guess about one of them first (is R² closer to 0.5 or 1? is the slope positive?) gives you a reason to actually look at the output instead of skimming past it. Typing the formula by hand also has a side benefit: it’s how you catch that you flipped </a:t>
            </a:r>
            <a:r>
              <a:rPr sz="2000">
                <a:latin typeface="Courier"/>
              </a:rPr>
              <a:t>area_cm2 ~ mass_g</a:t>
            </a:r>
            <a:r>
              <a:rPr sz="2000"/>
              <a:t> backwards, or typed </a:t>
            </a:r>
            <a:r>
              <a:rPr sz="2000">
                <a:latin typeface="Courier"/>
              </a:rPr>
              <a:t>newdata</a:t>
            </a:r>
            <a:r>
              <a:rPr sz="2000"/>
              <a:t> with the wrong column name — mistakes that copy-paste would have hidden.</a:t>
            </a:r>
          </a:p>
          <a:p>
            <a:pPr lvl="0" indent="0" marL="1270000">
              <a:buNone/>
            </a:pPr>
            <a:r>
              <a:rPr sz="2000" b="1"/>
              <a:t>📂 The same analysis, two ways — download both and compare</a:t>
            </a:r>
          </a:p>
          <a:p>
            <a:pPr lvl="0" indent="0" marL="1270000">
              <a:buNone/>
            </a:pPr>
            <a:r>
              <a:rPr sz="2000"/>
              <a:t>Today you get to </a:t>
            </a:r>
            <a:r>
              <a:rPr sz="2000" i="1"/>
              <a:t>feel</a:t>
            </a:r>
            <a:r>
              <a:rPr sz="2000"/>
              <a:t> the difference the Quarto intro talked about. These two files do the </a:t>
            </a:r>
            <a:r>
              <a:rPr sz="2000" b="1"/>
              <a:t>exact same regression</a:t>
            </a:r>
            <a:r>
              <a:rPr sz="2000"/>
              <a:t> — one as a plain script, one as a report:</a:t>
            </a:r>
          </a:p>
          <a:p>
            <a:pPr lvl="0"/>
            <a:r>
              <a:rPr sz="2000" b="1">
                <a:hlinkClick r:id="rId2"/>
                <a:latin typeface="Courier"/>
              </a:rPr>
              <a:t>regression_analysis_script.R</a:t>
            </a:r>
            <a:r>
              <a:rPr sz="2000"/>
              <a:t> — the analysis as a classic </a:t>
            </a:r>
            <a:r>
              <a:rPr sz="2000" b="1"/>
              <a:t>R script</a:t>
            </a:r>
            <a:r>
              <a:rPr sz="2000"/>
              <a:t>. Great for </a:t>
            </a:r>
            <a:r>
              <a:rPr sz="2000" i="1"/>
              <a:t>running</a:t>
            </a:r>
            <a:r>
              <a:rPr sz="2000"/>
              <a:t> the numbers. To share results you would copy them into a document by hand.</a:t>
            </a:r>
          </a:p>
          <a:p>
            <a:pPr lvl="0"/>
            <a:r>
              <a:rPr sz="2000" b="1">
                <a:hlinkClick r:id="rId3"/>
                <a:latin typeface="Courier"/>
              </a:rPr>
              <a:t>regression_analysis_report.qmd</a:t>
            </a:r>
            <a:r>
              <a:rPr sz="2000"/>
              <a:t> — the analysis as a </a:t>
            </a:r>
            <a:r>
              <a:rPr sz="2000" b="1"/>
              <a:t>Quarto report</a:t>
            </a:r>
            <a:r>
              <a:rPr sz="2000"/>
              <a:t>. Same code, but wrapped in writing, with figures and numbers that render straight into a Word document.</a:t>
            </a:r>
          </a:p>
          <a:p>
            <a:pPr lvl="0" indent="0" marL="1270000">
              <a:buNone/>
            </a:pPr>
            <a:r>
              <a:rPr sz="2000"/>
              <a:t>Open them </a:t>
            </a:r>
            <a:r>
              <a:rPr sz="2000" b="1"/>
              <a:t>side by side</a:t>
            </a:r>
            <a:r>
              <a:rPr sz="2000"/>
              <a:t> in Positron. As you work through this worksheet, notice which one you would rather hand in.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Set up the data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paper data, inspect it, and make the scatter plot.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Libraries</a:t>
            </a:r>
          </a:p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dataset overview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calibration dataset</a:t>
            </a:r>
          </a:p>
          <a:p>
            <a:pPr lvl="0" indent="0" marL="0">
              <a:buNone/>
            </a:pPr>
            <a:r>
              <a:rPr/>
              <a:t>The file </a:t>
            </a:r>
            <a:r>
              <a:rPr>
                <a:latin typeface="Courier"/>
              </a:rPr>
              <a:t>paper_area_weights.xlsx</a:t>
            </a:r>
            <a:r>
              <a:rPr/>
              <a:t> contains 118 paper squares of </a:t>
            </a:r>
            <a:r>
              <a:rPr b="1"/>
              <a:t>known area</a:t>
            </a:r>
            <a:r>
              <a:rPr/>
              <a:t> (1–567 cm²) with their measured masses in grams. We will fit a regression to convert mass → area, then apply it to leaf tracings.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Run </a:t>
            </a:r>
            <a:r>
              <a:rPr>
                <a:latin typeface="Courier"/>
              </a:rPr>
              <a:t>dim(paper_df)</a:t>
            </a:r>
            <a:r>
              <a:rPr/>
              <a:t>. How many rows and columns does the dataset have?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Rows:
Columns:
Column names and their roles:
  area_cm2 →  (response / explanatory / circle one)
  mass_g   →  (response / explanatory / circle one)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Inspect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with skim 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were measured at each area level?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max_mass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(mass_g), 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table from the output above: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  mean mass (g)
--------   -------------
1
4
16
64
100
400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Is there a clear pattern — as area increases, what happens to mass? Is this what you expected from your knowledge of paper?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First scatter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— check the relationship visually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scatter_09_plot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scatter_09_plot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the relationship. Is it linear? Is the variance (spread of points) roughly constant across the range of mass values?</a:t>
            </a:r>
          </a:p>
          <a:p>
            <a:pPr lvl="0" indent="0">
              <a:buNone/>
            </a:pPr>
            <a:r>
              <a:rPr>
                <a:latin typeface="Courier"/>
              </a:rPr>
              <a:t>Shape of relationship (linear / curved):
Variance (constant / increases / decreases with X):
Any obvious outliers?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this study, which variable is the explanatory (X) and which is the response (Y)? Why does that direction make sense for our goal of predicting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Explanatory (X):
Response (Y):
Reason for this direction: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You could measure leaf area directly with a planimeter or a scanner, but a balance is what’s sitting on the lab bench. That’s the whole point of a calibration curve — trade a hard measurement (area) for an easy one (mass) once you’ve established that the two move together.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read the model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4–7: 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Fit the regression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area rises with mass.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 — will the slope be positive or negative, and roughly how many cm² per gram?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linear model 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lm(response ~ predictor, data = data_frame)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summary — every number matters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the Coefficients table output here:</a:t>
            </a:r>
          </a:p>
          <a:p>
            <a:pPr lvl="0" indent="0">
              <a:buNone/>
            </a:pPr>
            <a:r>
              <a:rPr>
                <a:latin typeface="Courier"/>
              </a:rPr>
              <a:t>Paste the Coefficients section of the summary() output: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Decode the </a:t>
            </a:r>
            <a:r>
              <a:rPr>
                <a:latin typeface="Courier"/>
              </a:rPr>
              <a:t>summary()</a:t>
            </a:r>
            <a:r>
              <a:rPr/>
              <a:t> output line by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Match each piece of output to its meaning. Fill in the blanks:</a:t>
            </a:r>
          </a:p>
          <a:p>
            <a:pPr lvl="0" indent="0">
              <a:buNone/>
            </a:pPr>
            <a:r>
              <a:rPr>
                <a:latin typeface="Courier"/>
              </a:rPr>
              <a:t>(Intercept) estimate = _____
  → This is "a" in Ŷ = a + bX.
    It is the predicted area when mass = _____.
    Does this make physical sense? (a piece of paper with zero mass has zero area)  Y / N
mass_g estimate = _____
  → This is "b" (the slope).
    It means: for every additional 1 gram of paper, area increases by _____ cm².
    Biologically, 1 gram of this paper stock has _____ cm² of surface area.
Std. Error for mass_g = _____
  → The uncertainty in the slope estimate.
t value for mass_g = _____
  → slope / SE.  This tests H₀: β = _____.
Pr(&gt;|t|) for mass_g = _____
  → The p-value for the slope test. Is it significant at α = 0.05?  Y / N
Multiple R-squared = _____
  → _____ % of the variation in area is explained by mass.
F-statistic = _____  on _____ and _____ df
  → Overall test of the model.  p = _____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§17.3 p. 551–553:</a:t>
            </a:r>
            <a:r>
              <a:rPr sz="2000"/>
              <a:t> The slope is tested with a t-statistic: t = b / SE_b, with df = n − 2. If H₀: β = 0 is rejected, mass significantly predicts area.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Extract the calibration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intercept and slope from the model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calibration equation for predicting area from mass:</a:t>
            </a:r>
          </a:p>
          <a:p>
            <a:pPr lvl="0" indent="0">
              <a:buNone/>
            </a:pPr>
            <a:r>
              <a:rPr>
                <a:latin typeface="Courier"/>
              </a:rPr>
              <a:t>area_cm2 = _____ × mass_g + 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the equation by hand to predict the area of a paper tracing that weighs 0.120 g. Show your work:</a:t>
            </a:r>
          </a:p>
          <a:p>
            <a:pPr lvl="0" indent="0">
              <a:buNone/>
            </a:pPr>
            <a:r>
              <a:rPr>
                <a:latin typeface="Courier"/>
              </a:rPr>
              <a:t>area = _____ × 0.120 + _____
     = _____  cm²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Extract and interpret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For uniform paper, predict R² — near 0, 0.5, or 1? Write your guess before you run it.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R-squared from the model summary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R² = 0.9999 mean in plain language for our calibration?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ecology, you might see regression results with R² = 0.45. Is that a useful result? What does it mean?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§17.4 p. 555:</a:t>
            </a:r>
            <a:r>
              <a:rPr sz="2000"/>
              <a:t> </a:t>
            </a:r>
            <a:r>
              <a:rPr sz="2000" i="1"/>
              <a:t>“R² measures the fraction of variation in Y that is explained by X.”</a:t>
            </a:r>
            <a:r>
              <a:rPr sz="2000"/>
              <a:t> A high R² indicates a tight fit; a low R² indicates high scatter around the line — but a low R² does not mean the relationship is not real or useful.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Visualize &amp; check assumptions </a:t>
            </a:r>
            <a:r>
              <a:rPr sz="2000" b="1" i="1"/>
              <a:t>(after lecture Chunk 3)</a:t>
            </a:r>
          </a:p>
          <a:p>
            <a:pPr lvl="0" indent="0" marL="1270000">
              <a:buNone/>
            </a:pPr>
            <a:r>
              <a:rPr sz="2000"/>
              <a:t>Parts 8–10: plot the curve, then check the residual and QQ/Shapiro assumptions.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Plot the calibration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Regression line with 95% confidence band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Where is the shaded confidence band </a:t>
            </a:r>
            <a:r>
              <a:rPr i="1"/>
              <a:t>narrowest</a:t>
            </a:r>
            <a:r>
              <a:rPr/>
              <a:t>? Where is it </a:t>
            </a:r>
            <a:r>
              <a:rPr i="1"/>
              <a:t>widest</a:t>
            </a:r>
            <a:r>
              <a:rPr/>
              <a:t>? Why does the width vary?</a:t>
            </a:r>
          </a:p>
          <a:p>
            <a:pPr lvl="0" indent="0">
              <a:buNone/>
            </a:pPr>
            <a:r>
              <a:rPr>
                <a:latin typeface="Courier"/>
              </a:rPr>
              <a:t>Narrowest at:
Widest at:
Why it varies: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Save the plot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"figures/paper_calibration_curve.png"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calibration_plot,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four panels at once. One is a QQ plot of the residuals — what do you predict the other three will show?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panel 1 (Residuals vs Fitted). Do the points form a random cloud around zero, or is there a pattern?</a:t>
            </a:r>
          </a:p>
          <a:p>
            <a:pPr lvl="0" indent="0">
              <a:buNone/>
            </a:pPr>
            <a:r>
              <a:rPr>
                <a:latin typeface="Courier"/>
              </a:rPr>
              <a:t>Pattern or random cloud?:
Any evidence of non-linearity (curved pattern)?  Y / N
Any evidence of unequal variance (funnel shape in panel 1 or 3)?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 funnel shape (residuals getting larger at higher fitted values) means variance is </a:t>
            </a:r>
            <a:r>
              <a:rPr sz="2000" i="1"/>
              <a:t>not</a:t>
            </a:r>
            <a:r>
              <a:rPr sz="2000"/>
              <a:t> constant — a violation of the equal variance assumption. A curved pattern means the relationship is not linear.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§17.5 p. 559 (Figure 17.5-4):</a:t>
            </a:r>
            <a:r>
              <a:rPr sz="2000"/>
              <a:t> </a:t>
            </a:r>
            <a:r>
              <a:rPr sz="2000" i="1"/>
              <a:t>“A residual plot should show a roughly symmetric cloud of points with no pattern.”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Shapiro-Wilk result:</a:t>
            </a:r>
          </a:p>
          <a:p>
            <a:pPr lvl="0" indent="0">
              <a:buNone/>
            </a:pPr>
            <a:r>
              <a:rPr>
                <a:latin typeface="Courier"/>
              </a:rPr>
              <a:t>W = _____   p = _____
Decision (normal / not normal):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Shapiro-Wilk decision agree with what panel 2 (Normal Q-Q) of </a:t>
            </a:r>
            <a:r>
              <a:rPr>
                <a:latin typeface="Courier"/>
              </a:rPr>
              <a:t>plot(paper_lm_model)</a:t>
            </a:r>
            <a:r>
              <a:rPr/>
              <a:t> showed you?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 important distinction — in regression, normality is checked on the </a:t>
            </a:r>
            <a:r>
              <a:rPr b="1"/>
              <a:t>residuals</a:t>
            </a:r>
            <a:r>
              <a:rPr/>
              <a:t>, not on Y or X directly. Why does that matter?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Predict &amp; report </a:t>
            </a:r>
            <a:r>
              <a:rPr sz="2000" b="1" i="1"/>
              <a:t>(after lecture Chunk 4)</a:t>
            </a:r>
          </a:p>
          <a:p>
            <a:pPr lvl="0" indent="0" marL="1270000">
              <a:buNone/>
            </a:pPr>
            <a:r>
              <a:rPr sz="2000"/>
              <a:t>Parts 11–12: predict leaf area from tracing mass, then write the results paragraph.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sunny tracing 0.092 g, shady 0.138 g. Which predicts the larger area? Does that match “shady leaves are bigger”? Predict before running.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1 — Direct calculation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Direct calculation using the calibration equation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sunny leaf tracing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g — example shady leaf tracing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 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the shady leaf have a larger predicted area? In Worksheets 09–10 we found shady leaves were significantly </a:t>
            </a:r>
            <a:r>
              <a:rPr i="1"/>
              <a:t>heavier</a:t>
            </a:r>
            <a:r>
              <a:rPr/>
              <a:t>. Does a larger predicted area match that finding? What does this tell you about the relationship between leaf weight and leaf area?</a:t>
            </a:r>
          </a:p>
          <a:p>
            <a:pPr lvl="0" indent="0">
              <a:buNone/>
            </a:pPr>
            <a:r>
              <a:rPr>
                <a:latin typeface="Courier"/>
              </a:rPr>
              <a:t>Sunny predicted area:
Shady predicted area:
Larger side:
Does larger area match the heavier weight from Worksheets 09–10?  Y / N
What does this tell you about the relationship between weight and area in leaves?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 2 — Using </a:t>
            </a:r>
            <a:r>
              <a:rPr b="1">
                <a:latin typeface="Courier"/>
              </a:rPr>
              <a:t>predict()</a:t>
            </a:r>
            <a:r>
              <a:rPr b="1"/>
              <a:t> with intervals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95% confidence interval for the MEAN area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95% prediction interval for a SINGLE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.before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prediction interval is wider than the confidence interval. In your own words, explain why — what additional source of uncertainty does a prediction interval capture?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549:</a:t>
            </a:r>
            <a:r>
              <a:rPr sz="2000"/>
              <a:t> </a:t>
            </a:r>
            <a:r>
              <a:rPr sz="2000" i="1"/>
              <a:t>“Confidence bands measure the precision of the predicted mean Y for each value of X. Prediction intervals measure the precision of the predicted single Y-values for each X.”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Write a scientific results paragraph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complete results paragraph using the information below. Follow the format from Lecture 11.</a:t>
            </a:r>
          </a:p>
          <a:p>
            <a:pPr lvl="0" indent="0" marL="0">
              <a:buNone/>
            </a:pPr>
            <a:r>
              <a:rPr b="1"/>
              <a:t>Information to include:</a:t>
            </a:r>
          </a:p>
          <a:p>
            <a:pPr lvl="0"/>
            <a:r>
              <a:rPr/>
              <a:t>What the regression tested</a:t>
            </a:r>
          </a:p>
          <a:p>
            <a:pPr lvl="0"/>
            <a:r>
              <a:rPr/>
              <a:t>F-statistic, df₁, df₂, and p-value (from the F-statistic line in </a:t>
            </a:r>
            <a:r>
              <a:rPr>
                <a:latin typeface="Courier"/>
              </a:rPr>
              <a:t>summary()</a:t>
            </a:r>
            <a:r>
              <a:rPr/>
              <a:t>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calibration equation (slope and intercept)</a:t>
            </a:r>
          </a:p>
          <a:p>
            <a:pPr lvl="0"/>
            <a:r>
              <a:rPr/>
              <a:t>95% confidence interval for the slope (use </a:t>
            </a:r>
            <a:r>
              <a:rPr>
                <a:latin typeface="Courier"/>
              </a:rPr>
              <a:t>confint(paper_lm_model)</a:t>
            </a:r>
            <a:r>
              <a:rPr/>
              <a:t>)</a:t>
            </a:r>
          </a:p>
          <a:p>
            <a:pPr lvl="0"/>
            <a:r>
              <a:rPr/>
              <a:t>Brief mention of assumption checks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the 95% CI for the slope 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Write your results paragraph here:</a:t>
            </a:r>
          </a:p>
          <a:p>
            <a:pPr lvl="0" indent="0" marL="1270000">
              <a:buNone/>
            </a:pPr>
            <a:r>
              <a:rPr sz="2000" b="1"/>
              <a:t>✍️ Now put it in a report</a:t>
            </a:r>
          </a:p>
          <a:p>
            <a:pPr lvl="0" indent="0" marL="1270000">
              <a:buNone/>
            </a:pPr>
            <a:r>
              <a:rPr sz="2000"/>
              <a:t>Open </a:t>
            </a:r>
            <a:r>
              <a:rPr sz="2000" b="1">
                <a:hlinkClick r:id="rId2"/>
                <a:latin typeface="Courier"/>
              </a:rPr>
              <a:t>regression_analysis_report.qmd</a:t>
            </a:r>
            <a:r>
              <a:rPr sz="2000"/>
              <a:t>. Its Discussion section already pulls the slope, R², and </a:t>
            </a:r>
            <a:r>
              <a:rPr sz="2000" i="1"/>
              <a:t>p</a:t>
            </a:r>
            <a:r>
              <a:rPr sz="2000"/>
              <a:t>-value into the sentences with inline code. Paste your results paragraph in, press </a:t>
            </a:r>
            <a:r>
              <a:rPr sz="2000" b="1"/>
              <a:t>Render</a:t>
            </a:r>
            <a:r>
              <a:rPr sz="2000"/>
              <a:t>, and you have a Word document — no numbers copied by hand.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Identify the response (Y) and explanatory (X) variables for a regression problem</a:t>
            </a:r>
          </a:p>
          <a:p>
            <a:pPr lvl="0"/>
            <a:r>
              <a:rPr/>
              <a:t>☐ Make a scatter plot and assess linearity visually</a:t>
            </a:r>
          </a:p>
          <a:p>
            <a:pPr lvl="0"/>
            <a:r>
              <a:rPr/>
              <a:t>☐ Fit a linear regression with </a:t>
            </a:r>
            <a:r>
              <a:rPr>
                <a:latin typeface="Courier"/>
              </a:rPr>
              <a:t>lm(Y ~ X, data)</a:t>
            </a:r>
            <a:r>
              <a:rPr/>
              <a:t> and call </a:t>
            </a:r>
            <a:r>
              <a:rPr>
                <a:latin typeface="Courier"/>
              </a:rPr>
              <a:t>summary()</a:t>
            </a:r>
          </a:p>
          <a:p>
            <a:pPr lvl="0"/>
            <a:r>
              <a:rPr/>
              <a:t>☐ Extract slope, intercept, and R² from the model</a:t>
            </a:r>
          </a:p>
          <a:p>
            <a:pPr lvl="0"/>
            <a:r>
              <a:rPr/>
              <a:t>☐ Interpret slope, intercept, t-value, p-value, and R² in biological terms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plot(model)</a:t>
            </a:r>
            <a:r>
              <a:rPr/>
              <a:t> and read all four diagnostic panels</a:t>
            </a:r>
          </a:p>
          <a:p>
            <a:pPr lvl="0"/>
            <a:r>
              <a:rPr/>
              <a:t>☐ Check the residuals vs fitted panel for linearity and equal variance</a:t>
            </a:r>
          </a:p>
          <a:p>
            <a:pPr lvl="0"/>
            <a:r>
              <a:rPr/>
              <a:t>☐ Check the Normal Q-Q panel and Shapiro-Wilk on </a:t>
            </a:r>
            <a:r>
              <a:rPr b="1"/>
              <a:t>residuals</a:t>
            </a:r>
            <a:r>
              <a:rPr/>
              <a:t> for normality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coef(model)</a:t>
            </a:r>
            <a:r>
              <a:rPr/>
              <a:t> to write the prediction equation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predict(model, newdata, interval = "prediction")</a:t>
            </a:r>
            <a:r>
              <a:rPr/>
              <a:t> for predictions with uncertainty</a:t>
            </a:r>
          </a:p>
          <a:p>
            <a:pPr lvl="0"/>
            <a:r>
              <a:rPr/>
              <a:t>☐ Write a complete scientific results paragraph with F, df, p, R², and equation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run from top to bottom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push deeper.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Explore the fit at each area group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well does the model fit within each area group?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predicted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mean_resid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(residual),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max_abs_resid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(residual)),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the residuals larger at bigger area values? What does that pattern (or lack of it) tell you about the equal-variance assumption?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Prediction for a real leaf tracing</a:t>
            </a:r>
          </a:p>
          <a:p>
            <a:pPr lvl="0" indent="0" marL="0">
              <a:buNone/>
            </a:pPr>
            <a:r>
              <a:rPr/>
              <a:t>Suppose you traced a leaf onto the same type of paper used in the calibration, cut it out, and weighed it. The tracing weighs </a:t>
            </a:r>
            <a:r>
              <a:rPr b="1"/>
              <a:t>0.175 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area for your leaf tracing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my_tracing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0.175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my_tracing,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predicted leaf area? What is the 95% prediction interval? How confident are you in this prediction?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
95% prediction interval:  _____ to _____ cm²
Confidence in prediction: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Extrapolation warning</a:t>
            </a:r>
          </a:p>
          <a:p>
            <a:pPr lvl="0" indent="0" marL="0">
              <a:buNone/>
            </a:pPr>
            <a:r>
              <a:rPr/>
              <a:t>The calibration data ranges from 1 to 567 cm². Suppose a very large leaf tracing weighs 5.2 g.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Would you trust a prediction for a tracing mass of 5.2 g? Why or why not? (Hint: what is the largest mass in the calibration data?)</a:t>
            </a:r>
          </a:p>
          <a:p>
            <a:pPr lvl="0" indent="0">
              <a:buNone/>
            </a:pPr>
            <a:r>
              <a:rPr>
                <a:latin typeface="Courier"/>
              </a:rPr>
              <a:t>Max mass in calibration data:
Is 5.2 g within the calibration range?  Y / N
Should you predict at 5.2 g?  Y / N
Why:</a:t>
            </a:r>
          </a:p>
          <a:p>
            <a:pPr lvl="0" indent="0" marL="1270000">
              <a:buNone/>
            </a:pPr>
            <a:r>
              <a:rPr sz="2000"/>
              <a:t>📖 </a:t>
            </a:r>
            <a:r>
              <a:rPr sz="2000" b="1"/>
              <a:t>Whitlock &amp; Schluter §17.2 p. 550:</a:t>
            </a:r>
            <a:r>
              <a:rPr sz="2000"/>
              <a:t> </a:t>
            </a:r>
            <a:r>
              <a:rPr sz="2000" i="1"/>
              <a:t>“Extrapolation is the prediction of Y at values of X beyond the range of X-values in the data. Extrapolation is problematic because there is no way to ensure the relationship between X and Y continues to be linear.”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 to Worksheets 09–10</a:t>
            </a:r>
          </a:p>
          <a:p>
            <a:pPr lvl="0" indent="0" marL="0">
              <a:buNone/>
            </a:pPr>
            <a:r>
              <a:rPr/>
              <a:t>In Worksheets 09–10 you ran a Welch’s t-test comparing leaf </a:t>
            </a:r>
            <a:r>
              <a:rPr b="1"/>
              <a:t>weight</a:t>
            </a:r>
            <a:r>
              <a:rPr/>
              <a:t> (grams) between sunny and shady sides and found a significant difference (</a:t>
            </a:r>
            <a:r>
              <a:rPr i="1"/>
              <a:t>p</a:t>
            </a:r>
            <a:r>
              <a:rPr/>
              <a:t> &lt; 0.001). Now you have a calibration curve that converts tracing weight to </a:t>
            </a:r>
            <a:r>
              <a:rPr b="1"/>
              <a:t>area</a:t>
            </a:r>
            <a:r>
              <a:rPr/>
              <a:t> (cm²) — a more biologically meaningful measurement. You could use the regression equation as a </a:t>
            </a:r>
            <a:r>
              <a:rPr>
                <a:latin typeface="Courier"/>
              </a:rPr>
              <a:t>mutate()</a:t>
            </a:r>
            <a:r>
              <a:rPr/>
              <a:t> step to add predicted area to a leaf data frame, then redo the t-test on </a:t>
            </a:r>
            <a:r>
              <a:rPr i="1"/>
              <a:t>area</a:t>
            </a:r>
            <a:r>
              <a:rPr/>
              <a:t> rather than weight.</a:t>
            </a:r>
          </a:p>
          <a:p>
            <a:pPr lvl="0" indent="0" marL="0">
              <a:buNone/>
            </a:pPr>
            <a:r>
              <a:rPr b="1"/>
              <a:t>▶ Sketch the code (do not necessarily run it — you would need actual tracing masses):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you WOULD apply the calibration to the leaf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(assuming trace_df has columns: side, tracing_mass_g)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trace_df &lt;- trace_df %&gt;%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mutate(predicted_area_cm2 = b_slope * tracing_mass_g + a_intercept)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t.test(predicted_area_cm2 ~ side, data = trace_df,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var.equal = FALSE, alternative = "two.sided")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advantage of working in units of </a:t>
            </a:r>
            <a:r>
              <a:rPr b="1"/>
              <a:t>area</a:t>
            </a:r>
            <a:r>
              <a:rPr/>
              <a:t> (cm²) rather than raw </a:t>
            </a:r>
            <a:r>
              <a:rPr b="1"/>
              <a:t>weight</a:t>
            </a:r>
            <a:r>
              <a:rPr/>
              <a:t> (g) when comparing sunny vs. shady leaves?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 after this worksheet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figures/
├── paper_calibration_curve.png     ← from Part 8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lm()</a:t>
            </a:r>
            <a:r>
              <a:rPr b="1"/>
              <a:t> error:</a:t>
            </a:r>
            <a:r>
              <a:rPr/>
              <a:t> the formula must be </a:t>
            </a:r>
            <a:r>
              <a:rPr>
                <a:latin typeface="Courier"/>
              </a:rPr>
              <a:t>lm(Y ~ X, data)</a:t>
            </a:r>
            <a:r>
              <a:rPr/>
              <a:t> — response on the left, predictor on the right. Check column names with </a:t>
            </a:r>
            <a:r>
              <a:rPr>
                <a:latin typeface="Courier"/>
              </a:rPr>
              <a:t>names(paper_df)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coef()</a:t>
            </a:r>
            <a:r>
              <a:rPr b="1"/>
              <a:t> gives two values:</a:t>
            </a:r>
            <a:r>
              <a:rPr/>
              <a:t> </a:t>
            </a:r>
            <a:r>
              <a:rPr>
                <a:latin typeface="Courier"/>
              </a:rPr>
              <a:t>coef(model)[1]</a:t>
            </a:r>
            <a:r>
              <a:rPr/>
              <a:t> is the intercept, </a:t>
            </a:r>
            <a:r>
              <a:rPr>
                <a:latin typeface="Courier"/>
              </a:rPr>
              <a:t>coef(model)[2]</a:t>
            </a:r>
            <a:r>
              <a:rPr/>
              <a:t> is the slope for the first predictor.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residuals()</a:t>
            </a:r>
            <a:r>
              <a:rPr b="1"/>
              <a:t> vs raw data:</a:t>
            </a:r>
            <a:r>
              <a:rPr/>
              <a:t> always apply </a:t>
            </a:r>
            <a:r>
              <a:rPr>
                <a:latin typeface="Courier"/>
              </a:rPr>
              <a:t>shapiro.test()</a:t>
            </a:r>
            <a:r>
              <a:rPr/>
              <a:t> and </a:t>
            </a:r>
            <a:r>
              <a:rPr>
                <a:latin typeface="Courier"/>
              </a:rPr>
              <a:t>plot(model)</a:t>
            </a:r>
            <a:r>
              <a:rPr/>
              <a:t> to the fitted model — the residuals they check come from </a:t>
            </a:r>
            <a:r>
              <a:rPr>
                <a:latin typeface="Courier"/>
              </a:rPr>
              <a:t>residuals(model)</a:t>
            </a:r>
            <a:r>
              <a:rPr/>
              <a:t>, not the raw Y column.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predict()</a:t>
            </a:r>
            <a:r>
              <a:rPr b="1"/>
              <a:t> needs a tibble:</a:t>
            </a:r>
            <a:r>
              <a:rPr/>
              <a:t> </a:t>
            </a:r>
            <a:r>
              <a:rPr>
                <a:latin typeface="Courier"/>
              </a:rPr>
              <a:t>newdata</a:t>
            </a:r>
            <a:r>
              <a:rPr/>
              <a:t> must be a data frame or tibble with the exact same column name as the predictor (</a:t>
            </a:r>
            <a:r>
              <a:rPr>
                <a:latin typeface="Courier"/>
              </a:rPr>
              <a:t>mass_g</a:t>
            </a:r>
            <a:r>
              <a:rPr/>
              <a:t>). A typo here is the most common error.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geom_smooth(se = TRUE)</a:t>
            </a:r>
            <a:r>
              <a:rPr b="1"/>
              <a:t> shows confidence band, not prediction interval.</a:t>
            </a:r>
            <a:r>
              <a:rPr/>
              <a:t> For prediction intervals, use </a:t>
            </a:r>
            <a:r>
              <a:rPr>
                <a:latin typeface="Courier"/>
              </a:rPr>
              <a:t>predict()</a:t>
            </a:r>
            <a:r>
              <a:rPr/>
              <a:t> manually.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Plot it, fit it, check the residuals, interpret the coefficients, then predict — you followed those same five steps for this one calibration curve, and you’ll follow them again, mostly unchanged, the first time you run an ANOVA next module.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11. Next: Worksheet 12 — downloading and summarizing real climate data.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11 — Linear Regression</dc:title>
  <dc:creator>Bill Perry</dc:creator>
  <cp:keywords/>
  <dc:description>Doing linear regressions and plotting</dc:description>
  <dcterms:created xsi:type="dcterms:W3CDTF">2026-08-27T17:12:44Z</dcterms:created>
  <dcterms:modified xsi:type="dcterms:W3CDTF">2026-08-27T17:12:44Z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Building a calibration curve to predict leaf area from paper tracing mass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6</vt:lpwstr>
  </property>
</Properties>
</file>