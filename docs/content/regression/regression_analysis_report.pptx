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Calibration Curve: Predicting Leaf Area from Mass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analysis as regression_analysis_script.R — but as a report</a:t>
            </a:r>
            <a:br/>
            <a:br/>
            <a:r>
              <a:rPr/>
              <a:t>Your Name Here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estimate leaf surface area without a leaf-area meter, we built a </a:t>
            </a:r>
            <a:r>
              <a:rPr b="1"/>
              <a:t>calibration curve</a:t>
            </a:r>
            <a:r>
              <a:rPr/>
              <a:t>. Paper of uniform stock has a constant area-per-gram, so the </a:t>
            </a:r>
            <a:r>
              <a:rPr b="1"/>
              <a:t>mass</a:t>
            </a:r>
            <a:r>
              <a:rPr/>
              <a:t> of a paper square is a near-perfect linear predictor of its </a:t>
            </a:r>
            <a:r>
              <a:rPr b="1"/>
              <a:t>area</a:t>
            </a:r>
            <a:r>
              <a:rPr/>
              <a:t>. Once we know that relationship, we can trace a leaf onto the same paper, weigh the tracing, and convert its mass to area.</a:t>
            </a:r>
          </a:p>
          <a:p>
            <a:pPr lvl="0"/>
            <a:r>
              <a:rPr b="1"/>
              <a:t>Explanatory variable (X):</a:t>
            </a:r>
            <a:r>
              <a:rPr/>
              <a:t> paper mass (g) — easy to measure on a balance</a:t>
            </a:r>
          </a:p>
          <a:p>
            <a:pPr lvl="0"/>
            <a:r>
              <a:rPr b="1"/>
              <a:t>Response variable (Y):</a:t>
            </a:r>
            <a:r>
              <a:rPr/>
              <a:t> paper area (cm²) — what we want to predict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weighed 118 paper squares of known area (1–567 cm²) and fit a simple linear regression, </a:t>
            </a:r>
            <a:r>
              <a:rPr>
                <a:latin typeface="Courier"/>
              </a:rPr>
              <a:t>area_cm2 ~ mass_g</a:t>
            </a:r>
            <a:r>
              <a:rPr/>
              <a:t>, with </a:t>
            </a:r>
            <a:r>
              <a:rPr>
                <a:latin typeface="Courier"/>
              </a:rPr>
              <a:t>lm()</a:t>
            </a:r>
            <a:r>
              <a:rPr/>
              <a:t>. We checked the four regression assumptions using base R’s diagnostic plots for a fitted model, with a Shapiro–Wilk test on the residuals as a formal companion. All work was done in R with the tidyverse; this report was written in Quarto so every number and figure below is computed directly from the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Paper mass was an extremely strong predictor of paper area. The overall model fit, coefficients, and </a:t>
            </a:r>
            <a:r>
              <a:rPr i="1"/>
              <a:t>p</a:t>
            </a:r>
            <a:r>
              <a:rPr/>
              <a:t>-values are shown in the two tables below.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R-squared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 (model)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 (residual)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0.9999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784932.9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1. Overall fit of the calibration regression.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Std.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0.1261386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886.0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0.0000000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2. Calibration equation coefficients. The </a:t>
            </a:r>
            <a:r>
              <a:rPr>
                <a:latin typeface="Courier"/>
              </a:rPr>
              <a:t>mass_g</a:t>
            </a:r>
            <a:r>
              <a:rPr/>
              <a:t> estimate is the area gained per additional gram of paper; </a:t>
            </a:r>
            <a:r>
              <a:rPr>
                <a:latin typeface="Courier"/>
              </a:rPr>
              <a:t>(Intercept)</a:t>
            </a:r>
            <a:r>
              <a:rPr/>
              <a:t> is the fitted area at zero mass.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calibration equation off Table 2: predicted area equals the </a:t>
            </a:r>
            <a:r>
              <a:rPr>
                <a:latin typeface="Courier"/>
              </a:rPr>
              <a:t>(Intercept)</a:t>
            </a:r>
            <a:r>
              <a:rPr/>
              <a:t> estimate plus the </a:t>
            </a:r>
            <a:r>
              <a:rPr>
                <a:latin typeface="Courier"/>
              </a:rPr>
              <a:t>mass_g</a:t>
            </a:r>
            <a:r>
              <a:rPr/>
              <a:t> estimate times paper mass. In words, every additional gram of paper corresponds to about the </a:t>
            </a:r>
            <a:r>
              <a:rPr>
                <a:latin typeface="Courier"/>
              </a:rPr>
              <a:t>mass_g</a:t>
            </a:r>
            <a:r>
              <a:rPr/>
              <a:t> estimate in cm² of area.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Every number in Tables 1 and 2 is computed from the data when the document renders — nothing was typed by hand. Change the data file and re-render, and the tables update themselves. That is the difference from the </a:t>
            </a:r>
            <a:r>
              <a:rPr sz="2000">
                <a:latin typeface="Courier"/>
              </a:rPr>
              <a:t>.R</a:t>
            </a:r>
            <a:r>
              <a:rPr sz="2000"/>
              <a:t> script, where you would copy each number into Word yourself.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calibration curve</a:t>
            </a:r>
          </a:p>
        </p:txBody>
      </p:sp>
      <p:pic>
        <p:nvPicPr>
          <p:cNvPr descr="regression_analysis_report_files/figure-pptx/calibratio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40100" y="2819400"/>
            <a:ext cx="2336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 Paper area vs. mass with the least-squares line and 95% confidence band.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checks</a:t>
            </a:r>
          </a:p>
        </p:txBody>
      </p:sp>
      <p:pic>
        <p:nvPicPr>
          <p:cNvPr descr="regression_analysis_report_files/figure-pptx/diagnostic-plots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340100" y="2819400"/>
            <a:ext cx="2336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2. Base R diagnostic plots for the fitted model — residuals vs. fitted, normal Q-Q, scale-location, and residuals vs. leverage. A random band with no funnel or curve in panel 1 supports linearity and equal variance.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2600"/>
                <a:gridCol w="3022600"/>
                <a:gridCol w="30226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9.42496e-15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Shapiro-Wilk normality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3. Shapiro–Wilk normality test on the regression residuals.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Shapiro–Wilk result is in Table 3. Read </a:t>
            </a:r>
            <a:r>
              <a:rPr i="1"/>
              <a:t>W</a:t>
            </a:r>
            <a:r>
              <a:rPr/>
              <a:t> and its </a:t>
            </a:r>
            <a:r>
              <a:rPr i="1"/>
              <a:t>p</a:t>
            </a:r>
            <a:r>
              <a:rPr/>
              <a:t>-value there, then compare that verdict with the normal Q-Q panel of Figure 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Predicting leaf area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Mass (g)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Predicted area (cm²)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sunny-side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shady-side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18.3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4. Predicted leaf area for two example paper tracings, from the calibration equation.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4 applies the calibration equation to two example tracings. The heavier shady-side tracing has the larger predicted area — consistent with our earlier finding that shady leaves are larger.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Write one short paragraph here.</a:t>
            </a:r>
            <a:r>
              <a:rPr/>
              <a:t> Did the calibration fit well (look at R² and Figure 1)? Did the residual plot and Shapiro–Wilk support the assumptions? Why is working in </a:t>
            </a:r>
            <a:r>
              <a:rPr b="1"/>
              <a:t>area</a:t>
            </a:r>
            <a:r>
              <a:rPr/>
              <a:t> (cm²) more biologically meaningful than raw </a:t>
            </a:r>
            <a:r>
              <a:rPr b="1"/>
              <a:t>mass</a:t>
            </a:r>
            <a:r>
              <a:rPr/>
              <a:t> (g) when comparing sunny and shady leaves? This is where you paste the results paragraph you drafted in the worksheet.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Whitlock, M. &amp; Schluter, D. </a:t>
            </a:r>
            <a:r>
              <a:rPr i="1"/>
              <a:t>The Analysis of Biological Data</a:t>
            </a:r>
            <a:r>
              <a:rPr/>
              <a:t> (2nd ed.), Ch. 17.</a:t>
            </a:r>
          </a:p>
          <a:p>
            <a:pPr lvl="0"/>
            <a:r>
              <a:rPr/>
              <a:t>Wickham, H. </a:t>
            </a:r>
            <a:r>
              <a:rPr i="1"/>
              <a:t>R for Data Science (2nd ed.)</a:t>
            </a:r>
            <a:r>
              <a:rPr/>
              <a:t> — </a:t>
            </a:r>
            <a:r>
              <a:rPr>
                <a:hlinkClick r:id="rId2"/>
              </a:rPr>
              <a:t>https://r4ds.hadley.nz/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 Calibration Curve: Predicting Leaf Area from Mass</dc:title>
  <dc:creator>Your Name Here</dc:creator>
  <cp:keywords/>
  <dcterms:created xsi:type="dcterms:W3CDTF">2026-08-27T17:12:47Z</dcterms:created>
  <dcterms:modified xsi:type="dcterms:W3CDTF">2026-08-27T17:12:47Z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2026-08-27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The same analysis as regression_analysis_script.R — but as a report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