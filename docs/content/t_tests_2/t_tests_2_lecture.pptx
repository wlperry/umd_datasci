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and fix it by averaging</a:t>
            </a:r>
          </a:p>
          <a:p>
            <a:pPr lvl="0"/>
            <a:r>
              <a:rPr b="1"/>
              <a:t>Check the assumptions</a:t>
            </a:r>
            <a:r>
              <a:rPr/>
              <a:t>, then 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the same data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Read, Decide,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output, the reject / fail-to-reject decision, and a results sentence — on the leaf data from last time.</a:t>
            </a:r>
          </a:p>
          <a:p>
            <a:pPr lvl="0" indent="0" marL="0">
              <a:buNone/>
            </a:pPr>
            <a:r>
              <a:rPr b="1"/>
              <a:t>🛑 After this chunk: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Run the leaf t-test, decode each line, state your decision, and write the results sentence.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Sugar Maple: Check, Then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sugar maple design, pseudoreplication, checking assumptions </a:t>
            </a:r>
            <a:r>
              <a:rPr b="1"/>
              <a:t>before</a:t>
            </a:r>
            <a:r>
              <a:rPr/>
              <a:t> each test, the two-sample t-test, and the paired t-test.</a:t>
            </a:r>
          </a:p>
          <a:p>
            <a:pPr lvl="0" indent="0" marL="0">
              <a:buNone/>
            </a:pPr>
            <a:r>
              <a:rPr b="1"/>
              <a:t>🛑 After this chunk: Activity Parts 3–6.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Two things about this design matter.</a:t>
            </a:r>
            <a:r>
              <a:rPr/>
              <a:t> One is a problem; the other is an opportunity.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2 leaves from the sunny side of tree 3 share the same tree, soil, water, and light. They are </a:t>
            </a:r>
            <a:r>
              <a:rPr b="1"/>
              <a:t>not independent</a:t>
            </a:r>
            <a:r>
              <a:rPr/>
              <a:t> — they are closer to one measurement taken twice.</a:t>
            </a:r>
          </a:p>
          <a:p>
            <a:pPr lvl="0" indent="0" marL="0">
              <a:buNone/>
            </a:pPr>
            <a:r>
              <a:rPr/>
              <a:t>Treating all 32 leaves as independent is </a:t>
            </a:r>
            <a:r>
              <a:rPr b="1"/>
              <a:t>pseudoreplication</a:t>
            </a:r>
            <a:r>
              <a:rPr/>
              <a:t> — it pretends we have more information than we do.</a:t>
            </a:r>
          </a:p>
          <a:p>
            <a:pPr lvl="0" indent="0" marL="0">
              <a:buNone/>
            </a:pPr>
            <a:r>
              <a:rPr b="1"/>
              <a:t>Fix:</a:t>
            </a:r>
            <a:r>
              <a:rPr/>
              <a:t> average the leaves so each </a:t>
            </a:r>
            <a:r>
              <a:rPr b="1"/>
              <a:t>tree × side</a:t>
            </a:r>
            <a:r>
              <a:rPr/>
              <a:t> is one value.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many data points do we really have?</a:t>
            </a:r>
          </a:p>
          <a:p>
            <a:pPr lvl="0" indent="0" marL="1270000">
              <a:buNone/>
            </a:pPr>
            <a:r>
              <a:rPr sz="2000"/>
              <a:t>Not 32 leaves. </a:t>
            </a:r>
            <a:r>
              <a:rPr sz="2000" b="1"/>
              <a:t>8 trees</a:t>
            </a:r>
            <a:r>
              <a:rPr sz="2000"/>
              <a:t>, each measured on two sides → 8 sunny values and 8 shady values.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group_by(tree, side)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is the pattern you already use — now with two grouping columns. </a:t>
            </a:r>
            <a:r>
              <a:rPr sz="2000">
                <a:latin typeface="Courier"/>
              </a:rPr>
              <a:t>.groups = "drop"</a:t>
            </a:r>
            <a:r>
              <a:rPr sz="2000"/>
              <a:t> just tidies up the result.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43100"/>
            <a:ext cx="4038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92300"/>
            <a:ext cx="44323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sunny and shady leaves were not matched tree-by-tree, so a two-sample test was the right one there.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3–6 now</a:t>
            </a:r>
          </a:p>
          <a:p>
            <a:pPr lvl="0" indent="0" marL="0">
              <a:buNone/>
            </a:pPr>
            <a:r>
              <a:rPr/>
              <a:t>Average the sugar maple leaves per tree, check the assumptions, run the two-sample and paired t-tests, and compare.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Show It, Report It, and the Backup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figure that shows a paired result, the results sentence, and the rank-based tests to use when normality fails.</a:t>
            </a:r>
          </a:p>
          <a:p>
            <a:pPr lvl="0" indent="0" marL="0">
              <a:buNone/>
            </a:pPr>
            <a:r>
              <a:rPr b="1"/>
              <a:t>🛑 After this chunk: Activity Parts 7–8, then Part B.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7–8,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7–8, then start Part B</a:t>
            </a:r>
          </a:p>
          <a:p>
            <a:pPr lvl="0" indent="0" marL="0">
              <a:buNone/>
            </a:pPr>
            <a:r>
              <a:rPr/>
              <a:t>Make the results plot, write the sentences,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leaves from one tree-side aren’t independent — average them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2026-09-29T13:28:40Z</dcterms:created>
  <dcterms:modified xsi:type="dcterms:W3CDTF">2026-09-29T13:28:40Z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