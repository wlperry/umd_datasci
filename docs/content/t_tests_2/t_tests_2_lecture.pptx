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· </a:t>
                </a:r>
                <a:r>
                  <a:rPr b="1"/>
                  <a:t>Hₐ: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(two-tailed, α = 0.05)</a:t>
                </a:r>
              </a:p>
              <a:p>
                <a:pPr lvl="0"/>
                <a:r>
                  <a:rPr b="1"/>
                  <a:t>Normality checked</a:t>
                </a:r>
                <a:r>
                  <a:rPr/>
                  <a:t> — histogram + Shapiro-Wilk, both sides roughly bell-shaped for n = 10</a:t>
                </a:r>
              </a:p>
              <a:p>
                <a:pPr lvl="0"/>
                <a:r>
                  <a:rPr b="1"/>
                  <a:t>Variance checked</a:t>
                </a:r>
                <a:r>
                  <a:rPr/>
                  <a:t> — Levene’s test run (we use Welch’s either way)</a:t>
                </a:r>
              </a:p>
              <a:p>
                <a:pPr lvl="0"/>
                <a:r>
                  <a:rPr b="1"/>
                  <a:t>Decision:</a:t>
                </a:r>
                <a:r>
                  <a:rPr/>
                  <a:t> proceed with Welch’s two-sample t-test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 from Lecture 09</a:t>
                </a:r>
              </a:p>
              <a:p>
                <a:pPr lvl="0" indent="0" marL="1270000">
                  <a:buNone/>
                </a:pPr>
                <a:r>
                  <a:rPr sz="2000"/>
                  <a:t>Every box is checked. Today we actually run the test, decode what R hands back, and turn it into a sentence a reader can trust.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Decide</a:t>
            </a:r>
            <a:r>
              <a:rPr/>
              <a:t>: reject or fail to reject H₀</a:t>
            </a:r>
          </a:p>
          <a:p>
            <a:pPr lvl="0"/>
            <a:r>
              <a:rPr b="1"/>
              <a:t>Visualize</a:t>
            </a:r>
            <a:r>
              <a:rPr/>
              <a:t> the result with the test statistics embedded</a:t>
            </a:r>
          </a:p>
          <a:p>
            <a:pPr lvl="0"/>
            <a:r>
              <a:rPr b="1"/>
              <a:t>Report</a:t>
            </a:r>
            <a:r>
              <a:rPr/>
              <a:t> results in proper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have a complete, reportable t-test result and a publication-style figure to go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/>
              <a:t>Guessing “above or below 0.05” before you see </a:t>
            </a:r>
            <a:r>
              <a:rPr sz="2000">
                <a:latin typeface="Courier"/>
              </a:rPr>
              <a:t>t.test()</a:t>
            </a:r>
            <a:r>
              <a:rPr sz="2000"/>
              <a:t> output forces you to reason about the test instead of just reading a number off the screen — that habit is what makes a p-value meaningful instead of magic.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Quick Recap of Our Assumption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Rerun the assumption checks quickly for reference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groups: roughly normal (Lecture 09)</a:t>
            </a:r>
          </a:p>
          <a:p>
            <a:pPr lvl="0"/>
            <a:r>
              <a:rPr/>
              <a:t>Levene’s: recorded, but </a:t>
            </a:r>
            <a:r>
              <a:rPr b="1"/>
              <a:t>does not change our test choice</a:t>
            </a:r>
          </a:p>
          <a:p>
            <a:pPr lvl="0"/>
            <a:r>
              <a:rPr/>
              <a:t>We proceed with </a:t>
            </a:r>
            <a:r>
              <a:rPr b="1"/>
              <a:t>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If your Worksheet 09 numbers don’t match exactly, that’s fine — small rounding differences don’t change the conclusion.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&amp; Interpret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(run, decode, decide).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Run the test, decode t / df / p / CI, and state your decision in formal language. Predict the p-value first.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writing a scientific results sentence.</a:t>
            </a:r>
          </a:p>
          <a:p>
            <a:pPr lvl="0" indent="0" marL="0">
              <a:buNone/>
            </a:pPr>
            <a:r>
              <a:rPr b="1"/>
              <a:t>🛑 After this chunk: Activity Parts 4–5</a:t>
            </a:r>
            <a:r>
              <a:rPr/>
              <a:t> (plot and the results sentence).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</p:txBody>
      </p:sp>
      <p:pic>
        <p:nvPicPr>
          <p:cNvPr descr="t_tests_2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df_val,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plot to the figures folder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plot is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10 — Parts 4–5</a:t>
            </a:r>
          </a:p>
          <a:p>
            <a:pPr lvl="0" indent="0" marL="0">
              <a:buNone/>
            </a:pPr>
            <a:r>
              <a:rPr/>
              <a:t>Build the figure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Steps 4–5 of the five-step framework — run, interpret,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/>
            <a:r>
              <a:rPr/>
              <a:t>A results sentence needs: test name, t, df, </a:t>
            </a:r>
            <a:r>
              <a:rPr i="1"/>
              <a:t>p</a:t>
            </a:r>
            <a:r>
              <a:rPr/>
              <a:t>, means ± SE, units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</a:t>
            </a:r>
            <a:r>
              <a:rPr>
                <a:latin typeface="Courier"/>
              </a:rPr>
              <a:t>labs(subtitle = )</a:t>
            </a:r>
            <a:r>
              <a:rPr/>
              <a:t>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Running &amp; Reporting the Test</dc:title>
  <dc:creator>Bill Perry</dc:creator>
  <cp:keywords/>
  <dc:description>Running Welch’s two-sample t-test, decoding every line of the output, making a formal decision, and writing a proper scientific results sentence.</dc:description>
  <dcterms:created xsi:type="dcterms:W3CDTF">2026-09-04T20:07:06Z</dcterms:created>
  <dcterms:modified xsi:type="dcterms:W3CDTF">2026-09-04T20:07:06Z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