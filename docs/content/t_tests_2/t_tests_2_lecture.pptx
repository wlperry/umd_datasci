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— T-Tests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Welch’s t-test, reading the output,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09 — T-Tests I)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H₀: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· </a:t>
                </a:r>
                <a:r>
                  <a:rPr b="1"/>
                  <a:t>Hₐ: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≠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(two-tailed, α = 0.05)</a:t>
                </a:r>
              </a:p>
              <a:p>
                <a:pPr lvl="0"/>
                <a:r>
                  <a:rPr b="1"/>
                  <a:t>Normality checked</a:t>
                </a:r>
                <a:r>
                  <a:rPr/>
                  <a:t> — histogram + Shapiro-Wilk, roughly bell-shaped for ~25 per group</a:t>
                </a:r>
              </a:p>
              <a:p>
                <a:pPr lvl="0"/>
                <a:r>
                  <a:rPr b="1"/>
                  <a:t>Variance checked</a:t>
                </a:r>
                <a:r>
                  <a:rPr/>
                  <a:t> — Levene’s test run (we use Welch’s either way)</a:t>
                </a:r>
              </a:p>
              <a:p>
                <a:pPr lvl="0"/>
                <a:r>
                  <a:rPr b="1"/>
                  <a:t>Decision:</a:t>
                </a:r>
                <a:r>
                  <a:rPr/>
                  <a:t> proceed with Welch’s two-sample t-test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Key idea from Lecture 09</a:t>
                </a:r>
              </a:p>
              <a:p>
                <a:pPr lvl="0" indent="0" marL="1270000">
                  <a:buNone/>
                </a:pPr>
                <a:r>
                  <a:rPr sz="2000"/>
                  <a:t>Every box is checked. Today we actually run the test, decode what R hands back, and turn it into a sentence a reader can trust.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Decide</a:t>
            </a:r>
            <a:r>
              <a:rPr/>
              <a:t>: reject or fail to reject H₀</a:t>
            </a:r>
          </a:p>
          <a:p>
            <a:pPr lvl="0"/>
            <a:r>
              <a:rPr b="1"/>
              <a:t>Visualize</a:t>
            </a:r>
            <a:r>
              <a:rPr/>
              <a:t> the result with the test statistics embedded</a:t>
            </a:r>
          </a:p>
          <a:p>
            <a:pPr lvl="0"/>
            <a:r>
              <a:rPr b="1"/>
              <a:t>Report</a:t>
            </a:r>
            <a:r>
              <a:rPr/>
              <a:t> results in proper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have a complete, reportable t-test result and a publication-style figure to go with it — whatever the test says.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/>
              <a:t>Guessing “above or below 0.05” before you see </a:t>
            </a:r>
            <a:r>
              <a:rPr sz="2000">
                <a:latin typeface="Courier"/>
              </a:rPr>
              <a:t>t.test()</a:t>
            </a:r>
            <a:r>
              <a:rPr sz="2000"/>
              <a:t> output forces you to reason about the test instead of just reading a number off the screen — that habit is what makes a p-value meaningful instead of magic.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Quick Recap of Our Assumption Checks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Rerun the assumption checks quickly for reference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(sd_mass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shade     n mean_mass sd_mass se_mass
  &lt;chr&gt; &lt;int&gt;     &lt;dbl&gt;   &lt;dbl&gt;   &lt;dbl&gt;
1 shady    28     0.523   0.148   0.028
2 sunny    25     0.505   0.21    0.042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 Pr(&gt;F)  
group  1  2.9667 0.09105 .
      51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Both groups: roughly normal (Lecture 09)</a:t>
            </a:r>
          </a:p>
          <a:p>
            <a:pPr lvl="0"/>
            <a:r>
              <a:rPr/>
              <a:t>Levene’s: recorded, but </a:t>
            </a:r>
            <a:r>
              <a:rPr b="1"/>
              <a:t>does not change our test choice</a:t>
            </a:r>
          </a:p>
          <a:p>
            <a:pPr lvl="0"/>
            <a:r>
              <a:rPr/>
              <a:t>We proceed with </a:t>
            </a:r>
            <a:r>
              <a:rPr b="1"/>
              <a:t>Welch’s</a:t>
            </a:r>
            <a:r>
              <a:rPr/>
              <a:t> (</a:t>
            </a:r>
            <a:r>
              <a:rPr>
                <a:latin typeface="Courier"/>
              </a:rPr>
              <a:t>var.equal = FALSE</a:t>
            </a:r>
            <a:r>
              <a:rPr/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If your Activity 09 numbers don’t match exactly, that’s fine — small rounding differences don’t change the conclusion.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&amp; Interpret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running Welch’s </a:t>
            </a:r>
            <a:r>
              <a:rPr>
                <a:latin typeface="Courier"/>
              </a:rPr>
              <a:t>t.test()</a:t>
            </a:r>
            <a:r>
              <a:rPr/>
              <a:t>, reading every line of the output, and making a formal reject / fail-to-reject decision.</a:t>
            </a:r>
          </a:p>
          <a:p>
            <a:pPr lvl="0" indent="0" marL="0">
              <a:buNone/>
            </a:pPr>
            <a:r>
              <a:rPr b="1"/>
              <a:t>🛑 After this chunk: Activity Parts 1–3</a:t>
            </a:r>
            <a:r>
              <a:rPr/>
              <a:t> (run, decode, decide).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Run the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Write down a guess for the </a:t>
            </a:r>
            <a:r>
              <a:rPr sz="2000" i="1"/>
              <a:t>p</a:t>
            </a:r>
            <a:r>
              <a:rPr sz="2000"/>
              <a:t>-value before you run </a:t>
            </a:r>
            <a:r>
              <a:rPr sz="2000">
                <a:latin typeface="Courier"/>
              </a:rPr>
              <a:t>t.test()</a:t>
            </a:r>
            <a:r>
              <a:rPr sz="2000"/>
              <a:t> — above or below 0.05? Then see how close you were.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6700"/>
                <a:gridCol w="2501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 ~ shade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</a:t>
                      </a:r>
                      <a:r>
                        <a:rPr>
                          <a:latin typeface="Courier"/>
                        </a:rPr>
                        <a:t>mass_g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shade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decode each line of the output on the next slide.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0.356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42.53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0.724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-0.084 to 0.12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0.523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0.505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768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</a:t>
            </a:r>
            <a:r>
              <a:rPr b="1"/>
              <a:t>95% CI includes zero</a:t>
            </a:r>
            <a:r>
              <a:rPr/>
              <a:t>, “no difference” is one of the plausible values — consistent with a </a:t>
            </a:r>
            <a:r>
              <a:rPr i="1"/>
              <a:t>p</a:t>
            </a:r>
            <a:r>
              <a:rPr/>
              <a:t> above 0.05.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if/else: R checks the condition and runs one of two blocks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learn these formally in the functions lecture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mean leaf mass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no evidence that mean leaf mass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0.724 &gt;= α = 0.05 
Decision: FAIL TO REJECT H₀
Conclusion: no evidence that mean leaf mass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the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at least this large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H₀; otherwise we fail to reject it.</a:t>
            </a:r>
          </a:p>
          <a:p>
            <a:pPr lvl="0" indent="0" marL="0">
              <a:buNone/>
            </a:pPr>
            <a:r>
              <a:rPr b="1"/>
              <a:t>What “fail to reject” does NOT mean:</a:t>
            </a:r>
          </a:p>
          <a:p>
            <a:pPr lvl="0"/>
            <a:r>
              <a:rPr/>
              <a:t>It is </a:t>
            </a:r>
            <a:r>
              <a:rPr b="1"/>
              <a:t>not</a:t>
            </a:r>
            <a:r>
              <a:rPr/>
              <a:t> proof that H₀ is true</a:t>
            </a:r>
          </a:p>
          <a:p>
            <a:pPr lvl="0"/>
            <a:r>
              <a:rPr/>
              <a:t>It means this sample did not provide enough evidence of a difference</a:t>
            </a:r>
          </a:p>
          <a:p>
            <a:pPr lvl="0"/>
            <a:r>
              <a:rPr/>
              <a:t>Report the effect size (difference in means) and CI alongside </a:t>
            </a:r>
            <a:r>
              <a:rPr i="1"/>
              <a:t>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Run the test, decode t / df / p / CI, and state your decision in formal language. Predict the p-value first.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Visualize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embedding the test result in a boxplot and writing a scientific results sentence.</a:t>
            </a:r>
          </a:p>
          <a:p>
            <a:pPr lvl="0" indent="0" marL="0">
              <a:buNone/>
            </a:pPr>
            <a:r>
              <a:rPr b="1"/>
              <a:t>🛑 After this chunk: Activity Parts 4–5</a:t>
            </a:r>
            <a:r>
              <a:rPr/>
              <a:t> (plot and the results sentence).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</a:t>
            </a:r>
          </a:p>
        </p:txBody>
      </p:sp>
      <p:pic>
        <p:nvPicPr>
          <p:cNvPr descr="t_tests_2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pulls t and p directly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subtitle saves you from copying numbers by hand — and avoids typos in your report.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results sentence from the model object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heavier &lt;-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])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lighter &lt;-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(heavier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(heavier, </a:t>
            </a:r>
            <a:r>
              <a:rPr>
                <a:solidFill>
                  <a:srgbClr val="20794D"/>
                </a:solidFill>
                <a:latin typeface="Courier"/>
              </a:rPr>
              <a:t>"-side leaves were significantly heavier than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lighter, </a:t>
            </a:r>
            <a:r>
              <a:rPr>
                <a:solidFill>
                  <a:srgbClr val="20794D"/>
                </a:solidFill>
                <a:latin typeface="Courier"/>
              </a:rPr>
              <a:t>"-side leaves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leaf mass did not differ significantly between sides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Mean leaf mass did not differ significantly between sides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 df_val, </a:t>
            </a:r>
            <a:r>
              <a:rPr>
                <a:solidFill>
                  <a:srgbClr val="20794D"/>
                </a:solidFill>
                <a:latin typeface="Courier"/>
              </a:rPr>
              <a:t>") = "</a:t>
            </a:r>
            <a:r>
              <a:rPr>
                <a:solidFill>
                  <a:srgbClr val="003B4F"/>
                </a:solidFill>
                <a:latin typeface="Courier"/>
              </a:rPr>
              <a:t>, t_val,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 p_val2,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(Welch's t-test: t(42.5) = 0.36, p = 0.72).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se_mass[recap_df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"g,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se_mass[recap_df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0.523 ± 0.028 g,  sunny = 0.505 ± 0.042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 with units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non-significant</a:t>
            </a:r>
            <a:r>
              <a:rPr/>
              <a:t> result is still a result — report it plainly (“did not differ significantly”), never as “proved there is no difference.”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the plot to the figures folder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"figures/leaf_mass_boxplot_ttest.png"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leaf_box_10_plot,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plot is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10 — Parts 4–5</a:t>
            </a:r>
          </a:p>
          <a:p>
            <a:pPr lvl="0" indent="0" marL="0">
              <a:buNone/>
            </a:pPr>
            <a:r>
              <a:rPr/>
              <a:t>Build the figure with the statistics embedded in the subtitle, then write your results sentence. Predict what the subtitle will say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Steps 4–5 of the five-step framework — run, interpret,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/>
            <a:r>
              <a:rPr/>
              <a:t>A results sentence needs: test name, t, df, </a:t>
            </a:r>
            <a:r>
              <a:rPr i="1"/>
              <a:t>p</a:t>
            </a:r>
            <a:r>
              <a:rPr/>
              <a:t>, means ± SE, units</a:t>
            </a:r>
          </a:p>
          <a:p>
            <a:pPr lvl="0"/>
            <a:r>
              <a:rPr/>
              <a:t>A non-significant result is reported plainly — not as proof of “no difference”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>
                <a:latin typeface="Courier"/>
              </a:rPr>
              <a:t>paste0(...)</a:t>
            </a:r>
            <a:r>
              <a:rPr/>
              <a:t> in </a:t>
            </a:r>
            <a:r>
              <a:rPr>
                <a:latin typeface="Courier"/>
              </a:rPr>
              <a:t>labs(subtitle = )</a:t>
            </a:r>
            <a:r>
              <a:rPr/>
              <a:t> — embed test statistics in figures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11:</a:t>
            </a:r>
          </a:p>
          <a:p>
            <a:pPr lvl="0"/>
            <a:r>
              <a:rPr/>
              <a:t>Linear regression — predicting leaf area from paper tracing mass</a:t>
            </a:r>
          </a:p>
          <a:p>
            <a:pPr lvl="0"/>
            <a:r>
              <a:rPr/>
              <a:t>Building a calibration curve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R², residuals, and assumption checking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— T-Tests II: Running &amp; Reporting the Test</dc:title>
  <dc:creator>Bill Perry</dc:creator>
  <cp:keywords/>
  <dc:description>Running Welch’s two-sample t-test, decoding every line of the output, making a formal decision, and writing a proper scientific results sentence.</dc:description>
  <dcterms:created xsi:type="dcterms:W3CDTF">2026-09-15T02:12:59Z</dcterms:created>
  <dcterms:modified xsi:type="dcterms:W3CDTF">2026-09-15T02:12:59Z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Running Welch’s t-test, reading the output,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