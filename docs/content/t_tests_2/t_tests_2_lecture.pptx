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— T-Tests II: Running &amp; Reporting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Welch’s t-test, reading the output, and writing it up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09 — T-Tests I)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H₀: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s</m:t>
                        </m:r>
                        <m:r>
                          <m:t>h</m:t>
                        </m:r>
                        <m:r>
                          <m:t>a</m:t>
                        </m:r>
                        <m:r>
                          <m:t>d</m:t>
                        </m:r>
                        <m:r>
                          <m:t>y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s</m:t>
                        </m:r>
                        <m:r>
                          <m:t>u</m:t>
                        </m:r>
                        <m:r>
                          <m:t>n</m:t>
                        </m:r>
                        <m:r>
                          <m:t>n</m:t>
                        </m:r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· </a:t>
                </a:r>
                <a:r>
                  <a:rPr b="1"/>
                  <a:t>Hₐ: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s</m:t>
                        </m:r>
                        <m:r>
                          <m:t>h</m:t>
                        </m:r>
                        <m:r>
                          <m:t>a</m:t>
                        </m:r>
                        <m:r>
                          <m:t>d</m:t>
                        </m:r>
                        <m:r>
                          <m:t>y</m:t>
                        </m:r>
                      </m:sub>
                    </m:sSub>
                    <m:r>
                      <m:rPr>
                        <m:sty m:val="p"/>
                      </m:rPr>
                      <m:t>≠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s</m:t>
                        </m:r>
                        <m:r>
                          <m:t>u</m:t>
                        </m:r>
                        <m:r>
                          <m:t>n</m:t>
                        </m:r>
                        <m:r>
                          <m:t>n</m:t>
                        </m:r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(two-tailed, α = 0.05)</a:t>
                </a:r>
              </a:p>
              <a:p>
                <a:pPr lvl="0"/>
                <a:r>
                  <a:rPr b="1"/>
                  <a:t>Normality checked</a:t>
                </a:r>
                <a:r>
                  <a:rPr/>
                  <a:t> — histogram + Shapiro-Wilk, roughly bell-shaped for ~25 per group</a:t>
                </a:r>
              </a:p>
              <a:p>
                <a:pPr lvl="0"/>
                <a:r>
                  <a:rPr b="1"/>
                  <a:t>Variance checked</a:t>
                </a:r>
                <a:r>
                  <a:rPr/>
                  <a:t> — Levene’s test run (we use Welch’s either way)</a:t>
                </a:r>
              </a:p>
              <a:p>
                <a:pPr lvl="0"/>
                <a:r>
                  <a:rPr b="1"/>
                  <a:t>Decision:</a:t>
                </a:r>
                <a:r>
                  <a:rPr/>
                  <a:t> proceed with Welch’s two-sample t-test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✅ Key idea from Lecture 09</a:t>
                </a:r>
              </a:p>
              <a:p>
                <a:pPr lvl="0" indent="0" marL="1270000">
                  <a:buNone/>
                </a:pPr>
                <a:r>
                  <a:rPr sz="2000"/>
                  <a:t>Every box is checked. Today we actually run the test, decode what R hands back, and turn it into a sentence a reader can trust.</a:t>
                </a:r>
              </a:p>
            </p:txBody>
          </p:sp>
        </mc:Choice>
      </mc:AlternateContent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Run</a:t>
            </a:r>
            <a:r>
              <a:rPr/>
              <a:t> Welch’s two-sample t-test in R</a:t>
            </a:r>
          </a:p>
          <a:p>
            <a:pPr lvl="0"/>
            <a:r>
              <a:rPr b="1"/>
              <a:t>Read</a:t>
            </a:r>
            <a:r>
              <a:rPr/>
              <a:t> every line of the </a:t>
            </a:r>
            <a:r>
              <a:rPr>
                <a:latin typeface="Courier"/>
              </a:rPr>
              <a:t>t.test()</a:t>
            </a:r>
            <a:r>
              <a:rPr/>
              <a:t> output</a:t>
            </a:r>
          </a:p>
          <a:p>
            <a:pPr lvl="0"/>
            <a:r>
              <a:rPr b="1"/>
              <a:t>Decide</a:t>
            </a:r>
            <a:r>
              <a:rPr/>
              <a:t>: reject or fail to reject H₀</a:t>
            </a:r>
          </a:p>
          <a:p>
            <a:pPr lvl="0"/>
            <a:r>
              <a:rPr b="1"/>
              <a:t>Visualize</a:t>
            </a:r>
            <a:r>
              <a:rPr/>
              <a:t> the result with the test statistics embedded</a:t>
            </a:r>
          </a:p>
          <a:p>
            <a:pPr lvl="0"/>
            <a:r>
              <a:rPr b="1"/>
              <a:t>Report</a:t>
            </a:r>
            <a:r>
              <a:rPr/>
              <a:t> results in proper scientific writing format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have a complete, reportable t-test result and a publication-style figure to go with it — whatever the test says.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</a:p>
          <a:p>
            <a:pPr lvl="0" indent="0" marL="0">
              <a:buNone/>
            </a:pPr>
            <a:r>
              <a:rPr/>
              <a:t>Both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 b="1"/>
              <a:t>Today’s naming:</a:t>
            </a:r>
          </a:p>
          <a:p>
            <a:pPr lvl="0"/>
            <a:r>
              <a:rPr/>
              <a:t>test objects → </a:t>
            </a:r>
            <a:r>
              <a:rPr>
                <a:latin typeface="Courier"/>
              </a:rPr>
              <a:t>_model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 into your R script.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 indent="0" marL="1270000">
              <a:buNone/>
            </a:pPr>
            <a:r>
              <a:rPr sz="2000"/>
              <a:t>Guessing “above or below 0.05” before you see </a:t>
            </a:r>
            <a:r>
              <a:rPr sz="2000">
                <a:latin typeface="Courier"/>
              </a:rPr>
              <a:t>t.test()</a:t>
            </a:r>
            <a:r>
              <a:rPr sz="2000"/>
              <a:t> output forces you to reason about the test instead of just reading a number off the screen — that habit is what makes a p-value meaningful instead of magic.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</a:t>
            </a:r>
            <a:r>
              <a:rPr>
                <a:solidFill>
                  <a:srgbClr val="5E5E5E"/>
                </a:solidFill>
                <a:latin typeface="Courier"/>
              </a:rPr>
              <a:t># Levene's test for variance equality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leaf data from the data folder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Quick Recap of Our Assumption Checks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Rerun the assumption checks quickly for reference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(sd_mass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shade     n mean_mass sd_mass se_mass
  &lt;chr&gt; &lt;int&gt;     &lt;dbl&gt;   &lt;dbl&gt;   &lt;dbl&gt;
1 shady    28     0.523   0.148   0.028
2 sunny    25     0.505   0.21    0.042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 Pr(&gt;F)  
group  1  2.9667 0.09105 .
      51                  
---
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Both groups: roughly normal (Lecture 09)</a:t>
            </a:r>
          </a:p>
          <a:p>
            <a:pPr lvl="0"/>
            <a:r>
              <a:rPr/>
              <a:t>Levene’s: recorded, but </a:t>
            </a:r>
            <a:r>
              <a:rPr b="1"/>
              <a:t>does not change our test choice</a:t>
            </a:r>
          </a:p>
          <a:p>
            <a:pPr lvl="0"/>
            <a:r>
              <a:rPr/>
              <a:t>We proceed with </a:t>
            </a:r>
            <a:r>
              <a:rPr b="1"/>
              <a:t>Welch’s</a:t>
            </a:r>
            <a:r>
              <a:rPr/>
              <a:t> (</a:t>
            </a:r>
            <a:r>
              <a:rPr>
                <a:latin typeface="Courier"/>
              </a:rPr>
              <a:t>var.equal = FALSE</a:t>
            </a:r>
            <a:r>
              <a:rPr/>
              <a:t>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If your Activity 09 numbers don’t match exactly, that’s fine — small rounding differences don’t change the conclusion.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Run &amp; Interpret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running Welch’s </a:t>
            </a:r>
            <a:r>
              <a:rPr>
                <a:latin typeface="Courier"/>
              </a:rPr>
              <a:t>t.test()</a:t>
            </a:r>
            <a:r>
              <a:rPr/>
              <a:t>, reading every line of the output, and making a formal reject / fail-to-reject decision.</a:t>
            </a:r>
          </a:p>
          <a:p>
            <a:pPr lvl="0" indent="0" marL="0">
              <a:buNone/>
            </a:pPr>
            <a:r>
              <a:rPr b="1"/>
              <a:t>🛑 After this chunk: Activity Parts 1–3</a:t>
            </a:r>
            <a:r>
              <a:rPr/>
              <a:t> (run, decode, decide).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 — Run the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Write down a guess for the </a:t>
            </a:r>
            <a:r>
              <a:rPr sz="2000" i="1"/>
              <a:t>p</a:t>
            </a:r>
            <a:r>
              <a:rPr sz="2000"/>
              <a:t>-value before you run </a:t>
            </a:r>
            <a:r>
              <a:rPr sz="2000">
                <a:latin typeface="Courier"/>
              </a:rPr>
              <a:t>t.test()</a:t>
            </a:r>
            <a:r>
              <a:rPr sz="2000"/>
              <a:t> — above or below 0.05? Then see how close you were.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two-sample t-test — unequal variance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5E5E5E"/>
                </a:solidFill>
                <a:latin typeface="Courier"/>
              </a:rPr>
              <a:t># formula: response ~ grouping variable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# Welch's — no pooled variance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two-tailed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leaf_ttest_model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shade
t = 0.35579, df = 42.527, p-value = 0.7238
alternative hypothesis: true difference in means between group shady and group sunny is not equal to 0
95 percent confidence interval:
 -0.08392774  0.11987117
sample estimates:
mean in group shady mean in group sunny 
          0.5230357           0.5050640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arguments: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36700"/>
                <a:gridCol w="2501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mass_g ~ shade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compare </a:t>
                      </a:r>
                      <a:r>
                        <a:rPr>
                          <a:latin typeface="Courier"/>
                        </a:rPr>
                        <a:t>mass_g</a:t>
                      </a:r>
                      <a:r>
                        <a:rPr/>
                        <a:t> between levels of </a:t>
                      </a:r>
                      <a:r>
                        <a:rPr>
                          <a:latin typeface="Courier"/>
                        </a:rPr>
                        <a:t>shade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var.equal =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Welch’s correction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alternative = "two.sided"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two-tailed test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result is a model object. We decode each line of the output on the next slide.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</a:t>
            </a:r>
            <a:r>
              <a:rPr>
                <a:latin typeface="Courier"/>
              </a:rPr>
              <a:t>t.test()</a:t>
            </a:r>
            <a:r>
              <a:rPr/>
              <a:t> Output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individual values from the model object 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"t-statistic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t-statistic  : 0.356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"df (Welch)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df (Welch)   : 42.53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"p-value   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p-value      : 0.724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"95% CI       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95% CI       : -0.084 to 0.12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shady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shady   : 0.523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sunny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sunny   : 0.505 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 by line: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/>
                <a:gridCol w="2768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calculated t-statistic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Welch-Satterthwaite df (non-integer is normal!)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p-value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probability of this result if H₀ is true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95% CI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plausible range for the true difference in means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mean of shady/sunny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two group means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</a:t>
            </a:r>
            <a:r>
              <a:rPr b="1"/>
              <a:t>95% CI includes zero</a:t>
            </a:r>
            <a:r>
              <a:rPr/>
              <a:t>, “no difference” is one of the plausible values — consistent with a </a:t>
            </a:r>
            <a:r>
              <a:rPr i="1"/>
              <a:t>p</a:t>
            </a:r>
            <a:r>
              <a:rPr/>
              <a:t> above 0.05.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5 — Make a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State the decision formally --------------------------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if/else: R checks the condition and runs one of two blocks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We will learn these formally in the functions lecture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 &lt;- 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alpha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br/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(p_val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alpha)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"&lt; α ="</a:t>
            </a:r>
            <a:r>
              <a:rPr>
                <a:solidFill>
                  <a:srgbClr val="003B4F"/>
                </a:solidFill>
                <a:latin typeface="Courier"/>
              </a:rPr>
              <a:t>, alpha,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"Decision: REJECT H₀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"Conclusion: mean leaf mass differs between sides.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 </a:t>
            </a:r>
            <a:r>
              <a:rPr b="1">
                <a:solidFill>
                  <a:srgbClr val="003B4F"/>
                </a:solidFill>
                <a:latin typeface="Courier"/>
              </a:rPr>
              <a:t>else</a:t>
            </a:r>
            <a:r>
              <a:rPr>
                <a:solidFill>
                  <a:srgbClr val="003B4F"/>
                </a:solidFill>
                <a:latin typeface="Courier"/>
              </a:rPr>
              <a:t>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"&gt;= α ="</a:t>
            </a:r>
            <a:r>
              <a:rPr>
                <a:solidFill>
                  <a:srgbClr val="003B4F"/>
                </a:solidFill>
                <a:latin typeface="Courier"/>
              </a:rPr>
              <a:t>, alpha,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"Decision: FAIL TO REJECT H₀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"Conclusion: no evidence that mean leaf mass differs between sides.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p = 0.724 &gt;= α = 0.05 
Decision: FAIL TO REJECT H₀
Conclusion: no evidence that mean leaf mass differs between sides.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What the p-value means:</a:t>
            </a:r>
          </a:p>
          <a:p>
            <a:pPr lvl="0" indent="0" marL="1270000">
              <a:buNone/>
            </a:pPr>
            <a:r>
              <a:rPr sz="2000"/>
              <a:t>If H₀ were true (no real difference), we would get a t-statistic at least this large </a:t>
            </a:r>
            <a:r>
              <a:rPr sz="2000">
                <a:latin typeface="Courier"/>
              </a:rPr>
              <a:t>p</a:t>
            </a:r>
            <a:r>
              <a:rPr sz="2000"/>
              <a:t> × 100% of the time just by chance.</a:t>
            </a:r>
          </a:p>
          <a:p>
            <a:pPr lvl="0" indent="0" marL="1270000">
              <a:buNone/>
            </a:pPr>
            <a:r>
              <a:rPr sz="2000"/>
              <a:t>We set α = 0.05 </a:t>
            </a:r>
            <a:r>
              <a:rPr sz="2000" i="1"/>
              <a:t>before</a:t>
            </a:r>
            <a:r>
              <a:rPr sz="2000"/>
              <a:t> the test. If </a:t>
            </a:r>
            <a:r>
              <a:rPr sz="2000" i="1"/>
              <a:t>p</a:t>
            </a:r>
            <a:r>
              <a:rPr sz="2000"/>
              <a:t> &lt; α, we reject H₀; otherwise we fail to reject it.</a:t>
            </a:r>
          </a:p>
          <a:p>
            <a:pPr lvl="0" indent="0" marL="0">
              <a:buNone/>
            </a:pPr>
            <a:r>
              <a:rPr b="1"/>
              <a:t>What “fail to reject” does NOT mean:</a:t>
            </a:r>
          </a:p>
          <a:p>
            <a:pPr lvl="0"/>
            <a:r>
              <a:rPr/>
              <a:t>It is </a:t>
            </a:r>
            <a:r>
              <a:rPr b="1"/>
              <a:t>not</a:t>
            </a:r>
            <a:r>
              <a:rPr/>
              <a:t> proof that H₀ is true</a:t>
            </a:r>
          </a:p>
          <a:p>
            <a:pPr lvl="0"/>
            <a:r>
              <a:rPr/>
              <a:t>It means this sample did not provide enough evidence of a difference</a:t>
            </a:r>
          </a:p>
          <a:p>
            <a:pPr lvl="0"/>
            <a:r>
              <a:rPr/>
              <a:t>Report the effect size (difference in means) and CI alongside </a:t>
            </a:r>
            <a:r>
              <a:rPr i="1"/>
              <a:t>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10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1–3 now</a:t>
            </a:r>
          </a:p>
          <a:p>
            <a:pPr lvl="0" indent="0" marL="0">
              <a:buNone/>
            </a:pPr>
            <a:r>
              <a:rPr/>
              <a:t>Run the test, decode t / df / p / CI, and state your decision in formal language. Predict the p-value first.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Visualize &amp;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embedding the test result in a boxplot and writing a scientific results sentence.</a:t>
            </a:r>
          </a:p>
          <a:p>
            <a:pPr lvl="0" indent="0" marL="0">
              <a:buNone/>
            </a:pPr>
            <a:r>
              <a:rPr b="1"/>
              <a:t>🛑 After this chunk: Activity Parts 4–5</a:t>
            </a:r>
            <a:r>
              <a:rPr/>
              <a:t> (plot and the results sentence).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Visualize the Result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Final boxplot with all points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leaf_box_10_plot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by 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"Welch's t-test: t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", p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leaf_box_10_plot</a:t>
            </a:r>
          </a:p>
        </p:txBody>
      </p:sp>
      <p:pic>
        <p:nvPicPr>
          <p:cNvPr descr="t_tests_2_lecture_files/figure-pptx/boxplot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Including the test result in the figure:</a:t>
            </a:r>
          </a:p>
          <a:p>
            <a:pPr lvl="0"/>
            <a:r>
              <a:rPr>
                <a:latin typeface="Courier"/>
              </a:rPr>
              <a:t>subtitle</a:t>
            </a:r>
            <a:r>
              <a:rPr/>
              <a:t> pulls t and p directly from the model object</a:t>
            </a:r>
          </a:p>
          <a:p>
            <a:pPr lvl="0"/>
            <a:r>
              <a:rPr/>
              <a:t>R fills in the actual numbers automatically</a:t>
            </a:r>
          </a:p>
          <a:p>
            <a:pPr lvl="0"/>
            <a:r>
              <a:rPr/>
              <a:t>If you re-run with new data, the subtitle updates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Embedding test statistics in the plot subtitle saves you from copying numbers by hand — and avoids typos in your report.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Results in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Build the results sentence from the model object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t_val 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df_val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p_val2 &lt;-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heavier &lt;- </a:t>
            </a:r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])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else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lighter &lt;- </a:t>
            </a:r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(heavier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else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Results sentence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Results sentence ---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(heavier, </a:t>
            </a:r>
            <a:r>
              <a:rPr>
                <a:solidFill>
                  <a:srgbClr val="20794D"/>
                </a:solidFill>
                <a:latin typeface="Courier"/>
              </a:rPr>
              <a:t>"-side leaves were significantly heavier than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lighter, </a:t>
            </a:r>
            <a:r>
              <a:rPr>
                <a:solidFill>
                  <a:srgbClr val="20794D"/>
                </a:solidFill>
                <a:latin typeface="Courier"/>
              </a:rPr>
              <a:t>"-side leaves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 </a:t>
            </a:r>
            <a:r>
              <a:rPr b="1">
                <a:solidFill>
                  <a:srgbClr val="003B4F"/>
                </a:solidFill>
                <a:latin typeface="Courier"/>
              </a:rPr>
              <a:t>else</a:t>
            </a:r>
            <a:r>
              <a:rPr>
                <a:solidFill>
                  <a:srgbClr val="003B4F"/>
                </a:solidFill>
                <a:latin typeface="Courier"/>
              </a:rPr>
              <a:t>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leaf mass did not differ significantly between sides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Mean leaf mass did not differ significantly between sides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"(Welch's t-test: t("</a:t>
            </a:r>
            <a:r>
              <a:rPr>
                <a:solidFill>
                  <a:srgbClr val="003B4F"/>
                </a:solidFill>
                <a:latin typeface="Courier"/>
              </a:rPr>
              <a:t>, df_val, </a:t>
            </a:r>
            <a:r>
              <a:rPr>
                <a:solidFill>
                  <a:srgbClr val="20794D"/>
                </a:solidFill>
                <a:latin typeface="Courier"/>
              </a:rPr>
              <a:t>") = "</a:t>
            </a:r>
            <a:r>
              <a:rPr>
                <a:solidFill>
                  <a:srgbClr val="003B4F"/>
                </a:solidFill>
                <a:latin typeface="Courier"/>
              </a:rPr>
              <a:t>, t_val, </a:t>
            </a:r>
            <a:r>
              <a:rPr>
                <a:solidFill>
                  <a:srgbClr val="20794D"/>
                </a:solidFill>
                <a:latin typeface="Courier"/>
              </a:rPr>
              <a:t>", p = "</a:t>
            </a:r>
            <a:r>
              <a:rPr>
                <a:solidFill>
                  <a:srgbClr val="003B4F"/>
                </a:solidFill>
                <a:latin typeface="Courier"/>
              </a:rPr>
              <a:t>, p_val2, </a:t>
            </a:r>
            <a:r>
              <a:rPr>
                <a:solidFill>
                  <a:srgbClr val="20794D"/>
                </a:solidFill>
                <a:latin typeface="Courier"/>
              </a:rPr>
              <a:t>").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(Welch's t-test: t(42.5) = 0.36, p = 0.72).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"Mean ± SE: shady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"±"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se_mass[recap_df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"g,  sunny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"±"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se_mass[recap_df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± SE: shady = 0.523 ± 0.028 g,  sunny = 0.505 ± 0.042 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format:</a:t>
            </a:r>
          </a:p>
          <a:p>
            <a:pPr lvl="0" indent="0" marL="1270000">
              <a:buNone/>
            </a:pPr>
            <a:r>
              <a:rPr sz="2000" i="1"/>
              <a:t>“[Finding] (Welch’s t-test: t(df) = X.XX, p = X.XXX; mean ± SE: group1 = X.X ± X.X units, group2 = X.X ± X.X units).”</a:t>
            </a:r>
          </a:p>
          <a:p>
            <a:pPr lvl="0" indent="0" marL="0">
              <a:buNone/>
            </a:pPr>
            <a:r>
              <a:rPr b="1"/>
              <a:t>Always include:</a:t>
            </a:r>
          </a:p>
          <a:p>
            <a:pPr lvl="0"/>
            <a:r>
              <a:rPr/>
              <a:t>Test type (Welch’s t-test)</a:t>
            </a:r>
          </a:p>
          <a:p>
            <a:pPr lvl="0"/>
            <a:r>
              <a:rPr/>
              <a:t>t-statistic and df</a:t>
            </a:r>
          </a:p>
          <a:p>
            <a:pPr lvl="0"/>
            <a:r>
              <a:rPr/>
              <a:t>Exact </a:t>
            </a:r>
            <a:r>
              <a:rPr i="1"/>
              <a:t>p</a:t>
            </a:r>
            <a:r>
              <a:rPr/>
              <a:t>-value (or &lt; 0.001)</a:t>
            </a:r>
          </a:p>
          <a:p>
            <a:pPr lvl="0"/>
            <a:r>
              <a:rPr/>
              <a:t>Group means ± SE with units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b="1"/>
              <a:t>non-significant</a:t>
            </a:r>
            <a:r>
              <a:rPr/>
              <a:t> result is still a result — report it plainly (“did not differ significantly”), never as “proved there is no difference.”</a:t>
            </a:r>
          </a:p>
          <a:p>
            <a:pPr lvl="0" indent="0" marL="0">
              <a:buNone/>
            </a:pPr>
            <a:r>
              <a:rPr b="1"/>
              <a:t>Never report</a:t>
            </a:r>
            <a:r>
              <a:rPr/>
              <a:t> “p = 0.000” — write “p &lt; 0.001” instead.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Save Your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Save the plot to the figures folder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"figures/leaf_mass_boxplot_ttest.png"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leaf_box_10_plot,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plot is now in your </a:t>
            </a:r>
            <a:r>
              <a:rPr>
                <a:latin typeface="Courier"/>
              </a:rPr>
              <a:t>figures/</a:t>
            </a:r>
            <a:r>
              <a:rPr/>
              <a:t> folder with the test statistics embedded in the subtitle — ready for a lab report or paper.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dpi = 300</a:t>
            </a:r>
            <a:r>
              <a:rPr sz="2000"/>
              <a:t> is publication quality. Use it for any figure that will appear in a paper, poster, or formal report.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10 Parts 4–5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10 — Parts 4–5</a:t>
            </a:r>
          </a:p>
          <a:p>
            <a:pPr lvl="0" indent="0" marL="0">
              <a:buNone/>
            </a:pPr>
            <a:r>
              <a:rPr/>
              <a:t>Build the figure with the statistics embedded in the subtitle, then write your results sentence. Predict what the subtitle will say before you run it.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Steps 4–5 of the five-step framework — run, interpret, report</a:t>
            </a:r>
          </a:p>
          <a:p>
            <a:pPr lvl="0"/>
            <a:r>
              <a:rPr b="1"/>
              <a:t>Reading output</a:t>
            </a:r>
            <a:r>
              <a:rPr/>
              <a:t> — t, df, </a:t>
            </a:r>
            <a:r>
              <a:rPr i="1"/>
              <a:t>p</a:t>
            </a:r>
            <a:r>
              <a:rPr/>
              <a:t>, CI, group means</a:t>
            </a:r>
          </a:p>
          <a:p>
            <a:pPr lvl="0"/>
            <a:r>
              <a:rPr/>
              <a:t>A results sentence needs: test name, t, df, </a:t>
            </a:r>
            <a:r>
              <a:rPr i="1"/>
              <a:t>p</a:t>
            </a:r>
            <a:r>
              <a:rPr/>
              <a:t>, means ± SE, units</a:t>
            </a:r>
          </a:p>
          <a:p>
            <a:pPr lvl="0"/>
            <a:r>
              <a:rPr/>
              <a:t>A non-significant result is reported plainly — not as proof of “no difference”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t.test(y ~ group, data, var.equal = FALSE, alternative = "two.sided")</a:t>
            </a:r>
          </a:p>
          <a:p>
            <a:pPr lvl="0"/>
            <a:r>
              <a:rPr>
                <a:latin typeface="Courier"/>
              </a:rPr>
              <a:t>model$statistic</a:t>
            </a:r>
            <a:r>
              <a:rPr/>
              <a:t>, </a:t>
            </a:r>
            <a:r>
              <a:rPr>
                <a:latin typeface="Courier"/>
              </a:rPr>
              <a:t>model$p.value</a:t>
            </a:r>
            <a:r>
              <a:rPr/>
              <a:t>, </a:t>
            </a:r>
            <a:r>
              <a:rPr>
                <a:latin typeface="Courier"/>
              </a:rPr>
              <a:t>model$conf.int</a:t>
            </a:r>
            <a:r>
              <a:rPr/>
              <a:t> — extract results</a:t>
            </a:r>
          </a:p>
          <a:p>
            <a:pPr lvl="0"/>
            <a:r>
              <a:rPr>
                <a:latin typeface="Courier"/>
              </a:rPr>
              <a:t>paste0(...)</a:t>
            </a:r>
            <a:r>
              <a:rPr/>
              <a:t> in </a:t>
            </a:r>
            <a:r>
              <a:rPr>
                <a:latin typeface="Courier"/>
              </a:rPr>
              <a:t>labs(subtitle = )</a:t>
            </a:r>
            <a:r>
              <a:rPr/>
              <a:t> — embed test statistics in figures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</a:p>
          <a:p>
            <a:pPr lvl="0" indent="0" marL="0">
              <a:buNone/>
            </a:pPr>
            <a:r>
              <a:rPr b="1"/>
              <a:t>Up next — Lecture 11:</a:t>
            </a:r>
          </a:p>
          <a:p>
            <a:pPr lvl="0"/>
            <a:r>
              <a:rPr/>
              <a:t>Linear regression — predicting leaf area from paper tracing mass</a:t>
            </a:r>
          </a:p>
          <a:p>
            <a:pPr lvl="0"/>
            <a:r>
              <a:rPr/>
              <a:t>Building a calibration curve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/>
              <a:t>R², residuals, and assumption checking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— T-Tests II: Running &amp; Reporting the Test</dc:title>
  <dc:creator>Bill Perry</dc:creator>
  <cp:keywords/>
  <dc:description>Running Welch’s two-sample t-test, decoding every line of the output, making a formal decision, and writing a proper scientific results sentence.</dc:description>
  <dcterms:created xsi:type="dcterms:W3CDTF">2026-09-22T01:41:43Z</dcterms:created>
  <dcterms:modified xsi:type="dcterms:W3CDTF">2026-09-22T01:41:43Z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2026-09-21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10</vt:lpwstr>
  </property>
  <property fmtid="{D5CDD505-2E9C-101B-9397-08002B2CF9AE}" pid="13" name="resources">
    <vt:lpwstr/>
  </property>
  <property fmtid="{D5CDD505-2E9C-101B-9397-08002B2CF9AE}" pid="14" name="subtitle">
    <vt:lpwstr>Running Welch’s t-test, reading the output, and writing it up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5</vt:lpwstr>
  </property>
</Properties>
</file>