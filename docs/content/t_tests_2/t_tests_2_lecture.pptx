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— T-Tests II: Two-Sample vs. Paired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output, the power of pairing, and rank-based tests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09 — T-Tests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Five steps:</a:t>
            </a:r>
            <a:r>
              <a:rPr/>
              <a:t> hypotheses → normality → variance → run → report</a:t>
            </a:r>
          </a:p>
          <a:p>
            <a:pPr lvl="0"/>
            <a:r>
              <a:rPr b="1"/>
              <a:t>Normality:</a:t>
            </a:r>
            <a:r>
              <a:rPr/>
              <a:t> stacked histograms, box plot + </a:t>
            </a:r>
            <a:r>
              <a:rPr b="1"/>
              <a:t>QQ plot</a:t>
            </a:r>
            <a:r>
              <a:rPr/>
              <a:t>, Shapiro-Wilk</a:t>
            </a:r>
          </a:p>
          <a:p>
            <a:pPr lvl="0"/>
            <a:r>
              <a:rPr b="1"/>
              <a:t>Variance:</a:t>
            </a:r>
            <a:r>
              <a:rPr/>
              <a:t> Levene’s — we use </a:t>
            </a:r>
            <a:r>
              <a:rPr b="1"/>
              <a:t>Welch’s</a:t>
            </a:r>
            <a:r>
              <a:rPr/>
              <a:t> either way</a:t>
            </a:r>
          </a:p>
          <a:p>
            <a:pPr lvl="0"/>
            <a:r>
              <a:rPr b="1"/>
              <a:t>Leaf data:</a:t>
            </a:r>
            <a:r>
              <a:rPr/>
              <a:t> assumptions OK, ran Welch’s t-test — no significant difference</a:t>
            </a:r>
          </a:p>
          <a:p>
            <a:pPr lvl="0"/>
            <a:r>
              <a:rPr b="1"/>
              <a:t>Homework:</a:t>
            </a:r>
            <a:r>
              <a:rPr/>
              <a:t> checked the assumptions for the </a:t>
            </a:r>
            <a:r>
              <a:rPr b="1"/>
              <a:t>sugar maple</a:t>
            </a:r>
            <a:r>
              <a:rPr/>
              <a:t> leaves</a:t>
            </a:r>
          </a:p>
          <a:p>
            <a:pPr lvl="0" indent="0" marL="0">
              <a:buNone/>
            </a:pPr>
            <a:r>
              <a:rPr b="1"/>
              <a:t>Today we go back and ask a harder question: did we even have 53 leaves’ worth of information?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for today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 i="1"/>
              <a:t>design</a:t>
            </a:r>
            <a:r>
              <a:rPr sz="2000"/>
              <a:t> of a study decides which test is right. The same numbers can give two very different answers depending on whether you respect how they were collected.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Read</a:t>
            </a:r>
            <a:r>
              <a:rPr/>
              <a:t> the </a:t>
            </a:r>
            <a:r>
              <a:rPr>
                <a:latin typeface="Courier"/>
              </a:rPr>
              <a:t>t.test()</a:t>
            </a:r>
            <a:r>
              <a:rPr/>
              <a:t> output and make a decision (steps 4–5)</a:t>
            </a:r>
          </a:p>
          <a:p>
            <a:pPr lvl="0"/>
            <a:r>
              <a:rPr b="1"/>
              <a:t>Write</a:t>
            </a:r>
            <a:r>
              <a:rPr/>
              <a:t> a results sentence</a:t>
            </a:r>
          </a:p>
          <a:p>
            <a:pPr lvl="0"/>
            <a:r>
              <a:rPr/>
              <a:t>Run a </a:t>
            </a:r>
            <a:r>
              <a:rPr b="1"/>
              <a:t>two-sample</a:t>
            </a:r>
            <a:r>
              <a:rPr/>
              <a:t> and a </a:t>
            </a:r>
            <a:r>
              <a:rPr b="1"/>
              <a:t>paired</a:t>
            </a:r>
            <a:r>
              <a:rPr/>
              <a:t> t-test on our leaf data</a:t>
            </a:r>
          </a:p>
          <a:p>
            <a:pPr lvl="0"/>
            <a:r>
              <a:rPr/>
              <a:t>Spot </a:t>
            </a:r>
            <a:r>
              <a:rPr b="1"/>
              <a:t>pseudoreplication</a:t>
            </a:r>
            <a:r>
              <a:rPr/>
              <a:t> — and fix it with </a:t>
            </a:r>
            <a:r>
              <a:rPr b="1"/>
              <a:t>one </a:t>
            </a:r>
            <a:r>
              <a:rPr b="1">
                <a:latin typeface="Courier"/>
              </a:rPr>
              <a:t>summarize()</a:t>
            </a:r>
            <a:r>
              <a:rPr b="1"/>
              <a:t> at the top</a:t>
            </a:r>
            <a:r>
              <a:rPr/>
              <a:t>, then </a:t>
            </a:r>
            <a:r>
              <a:rPr b="1"/>
              <a:t>rerun the same code</a:t>
            </a:r>
          </a:p>
          <a:p>
            <a:pPr lvl="0"/>
            <a:r>
              <a:rPr/>
              <a:t>See how much the answer moves when you do</a:t>
            </a:r>
          </a:p>
          <a:p>
            <a:pPr lvl="0"/>
            <a:r>
              <a:rPr b="1"/>
              <a:t>Check the assumptions</a:t>
            </a:r>
            <a:r>
              <a:rPr/>
              <a:t>, then test the sugar maples the same way</a:t>
            </a:r>
          </a:p>
          <a:p>
            <a:pPr lvl="0"/>
            <a:r>
              <a:rPr/>
              <a:t>See </a:t>
            </a:r>
            <a:r>
              <a:rPr b="1"/>
              <a:t>why pairing adds power</a:t>
            </a:r>
          </a:p>
          <a:p>
            <a:pPr lvl="0"/>
            <a:r>
              <a:rPr b="1"/>
              <a:t>Plot</a:t>
            </a:r>
            <a:r>
              <a:rPr/>
              <a:t> a paired result</a:t>
            </a:r>
          </a:p>
          <a:p>
            <a:pPr lvl="0"/>
            <a:r>
              <a:rPr/>
              <a:t>Know the </a:t>
            </a:r>
            <a:r>
              <a:rPr b="1"/>
              <a:t>rank-based</a:t>
            </a:r>
            <a:r>
              <a:rPr/>
              <a:t> backups: Mann-Whitney U and Wilcoxon signed-rank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tools today:</a:t>
            </a:r>
          </a:p>
          <a:p>
            <a:pPr lvl="0"/>
            <a:r>
              <a:rPr>
                <a:latin typeface="Courier"/>
              </a:rPr>
              <a:t>t.test(..., paired = TRUE)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— a sneak peek</a:t>
            </a:r>
          </a:p>
          <a:p>
            <a:pPr lvl="0"/>
            <a:r>
              <a:rPr>
                <a:latin typeface="Courier"/>
              </a:rPr>
              <a:t>row_number()</a:t>
            </a:r>
            <a:r>
              <a:rPr/>
              <a:t> — numbering rows within a group</a:t>
            </a:r>
          </a:p>
          <a:p>
            <a:pPr lvl="0"/>
            <a:r>
              <a:rPr>
                <a:latin typeface="Courier"/>
              </a:rPr>
              <a:t>scales::pvalue()</a:t>
            </a:r>
            <a:r>
              <a:rPr/>
              <a:t> — tidy p-values for plots</a:t>
            </a:r>
          </a:p>
          <a:p>
            <a:pPr lvl="0"/>
            <a:r>
              <a:rPr>
                <a:latin typeface="Courier"/>
              </a:rPr>
              <a:t>wilcox.test()</a:t>
            </a:r>
            <a:r>
              <a:rPr/>
              <a:t> — rank-based tests</a:t>
            </a:r>
          </a:p>
          <a:p>
            <a:pPr lvl="0" indent="0" marL="0">
              <a:buNone/>
            </a:pPr>
            <a:r>
              <a:rPr b="1"/>
              <a:t>Reading:</a:t>
            </a:r>
          </a:p>
          <a:p>
            <a:pPr lvl="0"/>
            <a:r>
              <a:rPr/>
              <a:t>📖 Whitlock &amp; Schluter, Ch. 12 — </a:t>
            </a:r>
            <a:r>
              <a:rPr i="1"/>
              <a:t>Comparing two means</a:t>
            </a:r>
          </a:p>
          <a:p>
            <a:pPr lvl="0"/>
            <a:r>
              <a:rPr/>
              <a:t>📖 Whitlock &amp; Schluter, Ch. 13 — </a:t>
            </a:r>
            <a:r>
              <a:rPr i="1"/>
              <a:t>Handling violations of assumptions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 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</a:t>
            </a:r>
            <a:r>
              <a:rPr>
                <a:solidFill>
                  <a:srgbClr val="5E5E5E"/>
                </a:solidFill>
                <a:latin typeface="Courier"/>
              </a:rPr>
              <a:t># Levene's test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both data sets 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maple_df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"data/2026_09_02_sugar_maple_leaf_area.xlsx"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2 · The t-Test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the </a:t>
            </a:r>
            <a:r>
              <a:rPr>
                <a:latin typeface="Courier"/>
              </a:rPr>
              <a:t>t.test()</a:t>
            </a:r>
            <a:r>
              <a:rPr/>
              <a:t> code on the leaf data from last time — every line of the output, the decision, and a results sentence. Then we run the </a:t>
            </a:r>
            <a:r>
              <a:rPr b="1"/>
              <a:t>paired</a:t>
            </a:r>
            <a:r>
              <a:rPr/>
              <a:t> test on the same leaves, discover the data are </a:t>
            </a:r>
            <a:r>
              <a:rPr b="1"/>
              <a:t>pseudoreplicated</a:t>
            </a:r>
            <a:r>
              <a:rPr/>
              <a:t>, fix it with </a:t>
            </a:r>
            <a:r>
              <a:rPr b="1"/>
              <a:t>one </a:t>
            </a:r>
            <a:r>
              <a:rPr b="1">
                <a:latin typeface="Courier"/>
              </a:rPr>
              <a:t>summarize()</a:t>
            </a:r>
            <a:r>
              <a:rPr b="1"/>
              <a:t> at the top</a:t>
            </a:r>
            <a:r>
              <a:rPr/>
              <a:t>, and rerun the exact same code.</a:t>
            </a:r>
          </a:p>
          <a:p>
            <a:pPr lvl="0" indent="0" marL="0">
              <a:buNone/>
            </a:pPr>
            <a:r>
              <a:rPr b="1"/>
              <a:t>🛑 After this chunk: Activity Parts 1–6.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 — Run the Test (again)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on the leaf data 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shade
t = 0.35579, df = 42.527, p-value = 0.7238
alternative hypothesis: true difference in means between group shady and group sunny is not equal to 0
95 percent confidence interval:
 -0.08392774  0.11987117
sample estimates:
mean in group shady mean in group sunny 
          0.5230357           0.5050640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it top to bottom: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tells you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 between means ÷ noise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 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degrees of freedom (Welch’s gives decimals — that’s normal)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 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often you’d see a gap this big if H₀ were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95 percent confidence interval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range for the </a:t>
                      </a:r>
                      <a:r>
                        <a:rPr b="1"/>
                        <a:t>true difference</a:t>
                      </a:r>
                      <a:r>
                        <a:rPr/>
                        <a:t> in means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in group 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two group means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Make a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rule</a:t>
            </a:r>
            <a:r>
              <a:rPr/>
              <a:t> (set </a:t>
            </a:r>
            <a:r>
              <a:rPr i="1"/>
              <a:t>before</a:t>
            </a:r>
            <a:r>
              <a:rPr/>
              <a:t> the test): α = 0.05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/>
                <a:gridCol w="13335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 &lt; 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Reject</a:t>
                      </a:r>
                      <a:r>
                        <a:rPr/>
                        <a:t> H₀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means differ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 ≥ 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Fail to reject</a:t>
                      </a:r>
                      <a:r>
                        <a:rPr/>
                        <a:t> H₀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evidence the means differ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Leaf data:</a:t>
            </a:r>
            <a:r>
              <a:rPr/>
              <a:t> </a:t>
            </a:r>
            <a:r>
              <a:rPr i="1"/>
              <a:t>p</a:t>
            </a:r>
            <a:r>
              <a:rPr/>
              <a:t> is far above 0.05 → </a:t>
            </a:r>
            <a:r>
              <a:rPr b="1"/>
              <a:t>fail to reject H₀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confidence interval tells the same story: it runs from </a:t>
            </a:r>
            <a:r>
              <a:rPr b="1"/>
              <a:t>below zero to above zero</a:t>
            </a:r>
            <a:r>
              <a:rPr/>
              <a:t>, so “no difference” is a plausible value.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“Fail to reject” is not “proved equal.”</a:t>
            </a:r>
          </a:p>
          <a:p>
            <a:pPr lvl="0" indent="0" marL="1270000">
              <a:buNone/>
            </a:pPr>
            <a:r>
              <a:rPr sz="2000"/>
              <a:t>It means </a:t>
            </a:r>
            <a:r>
              <a:rPr sz="2000" i="1"/>
              <a:t>this sample</a:t>
            </a:r>
            <a:r>
              <a:rPr sz="2000"/>
              <a:t> did not give enough evidence of a difference. Maybe there is none — or maybe we had too few leaves, or too much noise, to see it.</a:t>
            </a:r>
          </a:p>
          <a:p>
            <a:pPr lvl="0" indent="0" marL="1270000">
              <a:buNone/>
            </a:pPr>
            <a:r>
              <a:rPr sz="2000"/>
              <a:t>Keep that second possibility in mind — it is the whole story of the next few slides.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5 — Report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the numbers for the sentence out of the model 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  =</a:t>
            </a:r>
            <a:r>
              <a:rPr>
                <a:solidFill>
                  <a:srgbClr val="003B4F"/>
                </a:solidFill>
                <a:latin typeface="Courier"/>
              </a:rPr>
              <a:t>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  =</a:t>
            </a:r>
            <a:r>
              <a:rPr>
                <a:solidFill>
                  <a:srgbClr val="003B4F"/>
                </a:solidFill>
                <a:latin typeface="Courier"/>
              </a:rPr>
              <a:t>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 × 3
      t    df     p
  &lt;dbl&gt; &lt;dbl&gt; &lt;dbl&gt;
1 0.356  42.5 0.724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leaf_model$statistic</a:t>
            </a:r>
            <a:r>
              <a:rPr/>
              <a:t>, </a:t>
            </a:r>
            <a:r>
              <a:rPr>
                <a:latin typeface="Courier"/>
              </a:rPr>
              <a:t>$parameter</a:t>
            </a:r>
            <a:r>
              <a:rPr/>
              <a:t>, </a:t>
            </a:r>
            <a:r>
              <a:rPr>
                <a:latin typeface="Courier"/>
              </a:rPr>
              <a:t>$p.value</a:t>
            </a:r>
            <a:r>
              <a:rPr/>
              <a:t> — the </a:t>
            </a:r>
            <a:r>
              <a:rPr>
                <a:latin typeface="Courier"/>
              </a:rPr>
              <a:t>$</a:t>
            </a:r>
            <a:r>
              <a:rPr/>
              <a:t> pulls one piece out of the result, so you never retype numbers by hand.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template:</a:t>
            </a:r>
          </a:p>
          <a:p>
            <a:pPr lvl="0" indent="0" marL="1270000">
              <a:buNone/>
            </a:pPr>
            <a:r>
              <a:rPr sz="2000" i="1"/>
              <a:t>[Finding] (Welch’s t-test: t(df) = X.XX, p = X.XX).</a:t>
            </a:r>
          </a:p>
          <a:p>
            <a:pPr lvl="0" indent="0" marL="0">
              <a:buNone/>
            </a:pPr>
            <a:r>
              <a:rPr b="1"/>
              <a:t>Our leaves:</a:t>
            </a:r>
          </a:p>
          <a:p>
            <a:pPr lvl="0" indent="0" marL="1270000">
              <a:buNone/>
            </a:pPr>
            <a:r>
              <a:rPr sz="2000" i="1"/>
              <a:t>Mean leaf mass did not differ significantly between shady and sunny sides (Welch’s t-test: t(42.5) = 0.36, p = 0.72).</a:t>
            </a:r>
          </a:p>
          <a:p>
            <a:pPr lvl="0"/>
            <a:r>
              <a:rPr/>
              <a:t>Test name, t, df, and exact </a:t>
            </a:r>
            <a:r>
              <a:rPr i="1"/>
              <a:t>p</a:t>
            </a:r>
          </a:p>
          <a:p>
            <a:pPr lvl="0"/>
            <a:r>
              <a:rPr/>
              <a:t>Never write “p = 0.000” — write “p &lt; 0.001”</a:t>
            </a:r>
          </a:p>
          <a:p>
            <a:pPr lvl="0"/>
            <a:r>
              <a:rPr/>
              <a:t>A non-significant result is still a result — report it plainly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Wait — Where Did These Leaves Come From?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leaves did each team turn in?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(teams, 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shade,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3
  teams              shady sunny
  &lt;chr&gt;              &lt;int&gt; &lt;int&gt;
1 12345                  6     6
2 Oscar_Karl             6     6
3 fighting_mongooses     6     6
4 leaf_oglers            6     4
5 still_loading          4    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5 teams</a:t>
            </a:r>
            <a:r>
              <a:rPr/>
              <a:t>, not 53 independent leaves</a:t>
            </a:r>
          </a:p>
          <a:p>
            <a:pPr lvl="0"/>
            <a:r>
              <a:rPr/>
              <a:t>Each team went to </a:t>
            </a:r>
            <a:r>
              <a:rPr b="1"/>
              <a:t>one tree</a:t>
            </a:r>
            <a:r>
              <a:rPr/>
              <a:t> and picked leaves off the </a:t>
            </a:r>
            <a:r>
              <a:rPr b="1"/>
              <a:t>sunny</a:t>
            </a:r>
            <a:r>
              <a:rPr/>
              <a:t> side and the </a:t>
            </a:r>
            <a:r>
              <a:rPr b="1"/>
              <a:t>shady</a:t>
            </a:r>
            <a:r>
              <a:rPr/>
              <a:t> side of that tree</a:t>
            </a:r>
          </a:p>
          <a:p>
            <a:pPr lvl="0"/>
            <a:r>
              <a:rPr/>
              <a:t>So every team contributes a sunny </a:t>
            </a:r>
            <a:r>
              <a:rPr i="1"/>
              <a:t>and</a:t>
            </a:r>
            <a:r>
              <a:rPr/>
              <a:t> a shady value — the two sides are </a:t>
            </a:r>
            <a:r>
              <a:rPr b="1"/>
              <a:t>matched within a team</a:t>
            </a:r>
          </a:p>
          <a:p>
            <a:pPr lvl="0" indent="0" marL="0">
              <a:buNone/>
            </a:pPr>
            <a:r>
              <a:rPr b="1"/>
              <a:t>Two consequences.</a:t>
            </a:r>
            <a:r>
              <a:rPr/>
              <a:t> The data are </a:t>
            </a:r>
            <a:r>
              <a:rPr b="1"/>
              <a:t>paired</a:t>
            </a:r>
            <a:r>
              <a:rPr/>
              <a:t>, and they are </a:t>
            </a:r>
            <a:r>
              <a:rPr b="1"/>
              <a:t>pseudoreplicated</a:t>
            </a:r>
            <a:r>
              <a:rPr/>
              <a:t>. Let’s take them one at a time.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Pairing Hiding in the Leaf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paired test needs the two groups </a:t>
            </a:r>
            <a:r>
              <a:rPr b="1"/>
              <a:t>side by side in one row</a:t>
            </a:r>
            <a:r>
              <a:rPr/>
              <a:t>, so we reshape: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Number the leaves within each team and side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leaf_wide_df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(teams, 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leaf_n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row_number</a:t>
            </a:r>
            <a:r>
              <a:rPr>
                <a:solidFill>
                  <a:srgbClr val="003B4F"/>
                </a:solidFill>
                <a:latin typeface="Courier"/>
              </a:rPr>
              <a:t>())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(teams, leaf_n, shade,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shade,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 =</a:t>
            </a:r>
            <a:r>
              <a:rPr>
                <a:solidFill>
                  <a:srgbClr val="003B4F"/>
                </a:solidFill>
                <a:latin typeface="Courier"/>
              </a:rPr>
              <a:t> shady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sunny)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leaf_wide_df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5
  teams leaf_n sunny shady    diff
  &lt;chr&gt;  &lt;int&gt; &lt;dbl&gt; &lt;dbl&gt;   &lt;dbl&gt;
1 12345      1  0.4   0.39 -0.0100
2 12345      2  0.48  0.45 -0.0300
3 12345      3  0.34  0.6   0.26  
4 12345      4  0.65  0.57 -0.0800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row_number()</a:t>
            </a:r>
            <a:r>
              <a:rPr/>
              <a:t> numbers the leaves </a:t>
            </a:r>
            <a:r>
              <a:rPr b="1"/>
              <a:t>1, 2, 3…</a:t>
            </a:r>
            <a:r>
              <a:rPr/>
              <a:t> inside each team and side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then puts the shady and sunny leaf with the same number in the </a:t>
            </a:r>
            <a:r>
              <a:rPr b="1"/>
              <a:t>same row</a:t>
            </a:r>
          </a:p>
          <a:p>
            <a:pPr lvl="0"/>
            <a:r>
              <a:rPr>
                <a:latin typeface="Courier"/>
              </a:rPr>
              <a:t>diff</a:t>
            </a:r>
            <a:r>
              <a:rPr/>
              <a:t> is the shady − sunny gap for that row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Look at what we just did.</a:t>
            </a:r>
            <a:r>
              <a:rPr sz="2000"/>
              <a:t> We paired shady leaf #1 with sunny leaf #1 because they happen to share a number. There is </a:t>
            </a:r>
            <a:r>
              <a:rPr sz="2000" b="1"/>
              <a:t>no reason</a:t>
            </a:r>
            <a:r>
              <a:rPr sz="2000"/>
              <a:t> those two leaves belong together — they’re just two leaves off the same tree.</a:t>
            </a:r>
          </a:p>
          <a:p>
            <a:pPr lvl="0" indent="0" marL="1270000">
              <a:buNone/>
            </a:pPr>
            <a:r>
              <a:rPr sz="2000"/>
              <a:t>Hold that thought.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Paired t-Test on Every 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Paired t-test on all the leaves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leaf_paired_model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(leaf_wide_df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leaf_wide_df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leaf_paired_model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leaf_wide_df$shady and leaf_wide_df$sunny
t = 0.58003, df = 24, p-value = 0.5673
alternative hypothesis: true mean difference is not equal to 0
95 percent confidence interval:
 -0.05746912  0.10239712
sample estimates:
mean difference 
       0.022464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 ran it without complaint.</a:t>
            </a:r>
          </a:p>
          <a:p>
            <a:pPr lvl="0"/>
            <a:r>
              <a:rPr/>
              <a:t>It got </a:t>
            </a:r>
            <a:r>
              <a:rPr i="1"/>
              <a:t>p</a:t>
            </a:r>
            <a:r>
              <a:rPr/>
              <a:t> = 0.57 — no difference</a:t>
            </a:r>
          </a:p>
          <a:p>
            <a:pPr lvl="0"/>
            <a:r>
              <a:rPr>
                <a:latin typeface="Courier"/>
              </a:rPr>
              <a:t>df</a:t>
            </a:r>
            <a:r>
              <a:rPr/>
              <a:t> = 24, so it thinks it has </a:t>
            </a:r>
            <a:r>
              <a:rPr b="1"/>
              <a:t>25 pairs</a:t>
            </a:r>
            <a:r>
              <a:rPr/>
              <a:t> of information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Two teams turned in </a:t>
            </a:r>
            <a:r>
              <a:rPr sz="2000" b="1"/>
              <a:t>uneven</a:t>
            </a:r>
            <a:r>
              <a:rPr sz="2000"/>
              <a:t> numbers of leaves (4 shady / 3 sunny). Those leftover leaves had no partner to pair with, so </a:t>
            </a:r>
            <a:r>
              <a:rPr sz="2000">
                <a:latin typeface="Courier"/>
              </a:rPr>
              <a:t>t.test()</a:t>
            </a:r>
            <a:r>
              <a:rPr sz="2000"/>
              <a:t> </a:t>
            </a:r>
            <a:r>
              <a:rPr sz="2000" b="1"/>
              <a:t>silently dropped 3 of them</a:t>
            </a:r>
            <a:r>
              <a:rPr sz="2000"/>
              <a:t>. It never warns you.</a:t>
            </a:r>
          </a:p>
          <a:p>
            <a:pPr lvl="0" indent="0" marL="0">
              <a:buNone/>
            </a:pPr>
            <a:r>
              <a:rPr b="1"/>
              <a:t>R will answer any question you ask it — including a meaningless one.</a:t>
            </a:r>
            <a:r>
              <a:rPr/>
              <a:t> Our job is to ask the right one.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Problem: Pseudoreplication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6 shady leaves from team </a:t>
            </a:r>
            <a:r>
              <a:rPr>
                <a:latin typeface="Courier"/>
              </a:rPr>
              <a:t>Oscar_Karl</a:t>
            </a:r>
            <a:r>
              <a:rPr/>
              <a:t> all came off </a:t>
            </a:r>
            <a:r>
              <a:rPr b="1"/>
              <a:t>one tree</a:t>
            </a:r>
            <a:r>
              <a:rPr/>
              <a:t>. They share that tree’s soil, water, light, age, and genetics. They are </a:t>
            </a:r>
            <a:r>
              <a:rPr b="1"/>
              <a:t>not independent</a:t>
            </a:r>
            <a:r>
              <a:rPr/>
              <a:t> — they are closer to </a:t>
            </a:r>
            <a:r>
              <a:rPr b="1"/>
              <a:t>one measurement taken six times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Treating all 53 leaves as independent is </a:t>
            </a:r>
            <a:r>
              <a:rPr b="1"/>
              <a:t>pseudoreplication</a:t>
            </a:r>
            <a:r>
              <a:rPr/>
              <a:t>: it pretends we have far more information than we collected.</a:t>
            </a:r>
          </a:p>
          <a:p>
            <a:pPr lvl="0" indent="0" marL="0">
              <a:buNone/>
            </a:pPr>
            <a:r>
              <a:rPr b="1"/>
              <a:t>Count the real replicates.</a:t>
            </a:r>
            <a:r>
              <a:rPr/>
              <a:t> We did not sample 53 trees. We sampled </a:t>
            </a:r>
            <a:r>
              <a:rPr b="1"/>
              <a:t>5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60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the test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actually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 + 25 leaves, df = 42.5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+ 5 teams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 “pairs”, df = 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pairs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Why this is serious.</a:t>
            </a:r>
            <a:r>
              <a:rPr sz="2000"/>
              <a:t> </a:t>
            </a:r>
            <a:r>
              <a:rPr sz="2000">
                <a:latin typeface="Courier"/>
              </a:rPr>
              <a:t>df</a:t>
            </a:r>
            <a:r>
              <a:rPr sz="2000"/>
              <a:t> drives the </a:t>
            </a:r>
            <a:r>
              <a:rPr sz="2000" i="1"/>
              <a:t>p</a:t>
            </a:r>
            <a:r>
              <a:rPr sz="2000"/>
              <a:t>-value. Inflate your </a:t>
            </a:r>
            <a:r>
              <a:rPr sz="2000">
                <a:latin typeface="Courier"/>
              </a:rPr>
              <a:t>df</a:t>
            </a:r>
            <a:r>
              <a:rPr sz="2000"/>
              <a:t> and every </a:t>
            </a:r>
            <a:r>
              <a:rPr sz="2000" i="1"/>
              <a:t>p</a:t>
            </a:r>
            <a:r>
              <a:rPr sz="2000"/>
              <a:t>-value you report is too small — you will claim differences that your data cannot support.</a:t>
            </a:r>
          </a:p>
          <a:p>
            <a:pPr lvl="0" indent="0" marL="1270000">
              <a:buNone/>
            </a:pPr>
            <a:r>
              <a:rPr sz="2000"/>
              <a:t>Here both tests said “no difference,” so nothing went wrong </a:t>
            </a:r>
            <a:r>
              <a:rPr sz="2000" i="1"/>
              <a:t>this time</a:t>
            </a:r>
            <a:r>
              <a:rPr sz="2000"/>
              <a:t>. That is luck, not method.</a:t>
            </a:r>
          </a:p>
          <a:p>
            <a:pPr lvl="0" indent="0" marL="0">
              <a:buNone/>
            </a:pPr>
            <a:r>
              <a:rPr b="1"/>
              <a:t>The fix is one line</a:t>
            </a:r>
            <a:r>
              <a:rPr/>
              <a:t>, and it is a line you already know: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Fix: One </a:t>
            </a:r>
            <a:r>
              <a:rPr>
                <a:latin typeface="Courier"/>
              </a:rPr>
              <a:t>summarize()</a:t>
            </a:r>
            <a:r>
              <a:rPr/>
              <a:t> at the 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 back to where you </a:t>
            </a:r>
            <a:r>
              <a:rPr b="1"/>
              <a:t>loaded</a:t>
            </a:r>
            <a:r>
              <a:rPr/>
              <a:t> the data and add the averaging step to the end of the chain. Keep the </a:t>
            </a:r>
            <a:r>
              <a:rPr b="1"/>
              <a:t>same name</a:t>
            </a:r>
            <a:r>
              <a:rPr/>
              <a:t>, </a:t>
            </a:r>
            <a:r>
              <a:rPr>
                <a:latin typeface="Courier"/>
              </a:rPr>
              <a:t>leaf_df</a:t>
            </a:r>
            <a:r>
              <a:rPr/>
              <a:t>, and the </a:t>
            </a:r>
            <a:r>
              <a:rPr b="1"/>
              <a:t>same column name</a:t>
            </a:r>
            <a:r>
              <a:rPr/>
              <a:t>, </a:t>
            </a:r>
            <a:r>
              <a:rPr>
                <a:latin typeface="Courier"/>
              </a:rPr>
              <a:t>mass_g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and average each team's side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(teams, 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teams              shade mass_g
   &lt;chr&gt;              &lt;chr&gt;  &lt;dbl&gt;
 1 12345              shady  0.448
 2 12345              sunny  0.428
 3 Oscar_Karl         shady  0.400
 4 Oscar_Karl         sunny  0.339
 5 fighting_mongooses shady  0.653
 6 fighting_mongooses sunny  0.544
 7 leaf_oglers        shady  0.588
 8 leaf_oglers        sunny  0.599
 9 still_loading      shady  0.526
10 still_loading      sunny  0.789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value per team per side. 10 rows — 5 teams × 2 sides.</a:t>
            </a:r>
          </a:p>
          <a:p>
            <a:pPr lvl="0"/>
            <a:r>
              <a:rPr>
                <a:latin typeface="Courier"/>
              </a:rPr>
              <a:t>group_by(teams, shade)</a:t>
            </a:r>
            <a:r>
              <a:rPr/>
              <a:t> — two grouping columns, the pattern from Summary Statistics</a:t>
            </a:r>
          </a:p>
          <a:p>
            <a:pPr lvl="0"/>
            <a:r>
              <a:rPr>
                <a:latin typeface="Courier"/>
              </a:rPr>
              <a:t>mass_g = mean(mass_g)</a:t>
            </a:r>
            <a:r>
              <a:rPr/>
              <a:t> — reusing the name means </a:t>
            </a:r>
            <a:r>
              <a:rPr b="1"/>
              <a:t>every line of code below keeps working</a:t>
            </a:r>
          </a:p>
          <a:p>
            <a:pPr lvl="0"/>
            <a:r>
              <a:rPr>
                <a:latin typeface="Courier"/>
              </a:rPr>
              <a:t>.groups = "drop"</a:t>
            </a:r>
            <a:r>
              <a:rPr/>
              <a:t> tidies up afterwards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This is how real analysis works.</a:t>
            </a:r>
            <a:r>
              <a:rPr sz="2000"/>
              <a:t> You don’t write a new script. You go back to the top, fix how the data are built, and </a:t>
            </a:r>
            <a:r>
              <a:rPr sz="2000" b="1"/>
              <a:t>rerun everything</a:t>
            </a:r>
            <a:r>
              <a:rPr sz="2000"/>
              <a:t> — because the code below never cared how many rows came in.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Rerun the Same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a copy of the pseudoreplicated results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pseudo_2s     &lt;- leaf_model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pseudo_paired &lt;- leaf_paired_model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Exactly the same two-sample code as before 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Exactly the same reshape + paired code as before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leaf_wide_df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(teams, 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leaf_n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row_number</a:t>
            </a:r>
            <a:r>
              <a:rPr>
                <a:solidFill>
                  <a:srgbClr val="003B4F"/>
                </a:solidFill>
                <a:latin typeface="Courier"/>
              </a:rPr>
              <a:t>())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(teams, leaf_n, shade,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shade,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mass_g)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 =</a:t>
            </a:r>
            <a:r>
              <a:rPr>
                <a:solidFill>
                  <a:srgbClr val="003B4F"/>
                </a:solidFill>
                <a:latin typeface="Courier"/>
              </a:rPr>
              <a:t> shady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sunny)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leaf_paired_model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(leaf_wide_df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leaf_wide_df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leaf_wide_df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5
  teams              leaf_n shady sunny    diff
  &lt;chr&gt;               &lt;int&gt; &lt;dbl&gt; &lt;dbl&gt;   &lt;dbl&gt;
1 12345                   1 0.448 0.428  0.0200
2 Oscar_Karl              1 0.400 0.339  0.0612
3 fighting_mongooses      1 0.653 0.544  0.110 
4 leaf_oglers             1 0.588 0.599 -0.0102
5 still_loading           1 0.526 0.789 -0.263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 one character of the test code changed.</a:t>
            </a:r>
            <a:r>
              <a:rPr/>
              <a:t> We only changed what </a:t>
            </a:r>
            <a:r>
              <a:rPr>
                <a:latin typeface="Courier"/>
              </a:rPr>
              <a:t>leaf_df</a:t>
            </a:r>
            <a:r>
              <a:rPr/>
              <a:t> </a:t>
            </a:r>
            <a:r>
              <a:rPr i="1"/>
              <a:t>is</a:t>
            </a:r>
            <a:r>
              <a:rPr/>
              <a:t> — the two </a:t>
            </a:r>
            <a:r>
              <a:rPr>
                <a:latin typeface="Courier"/>
              </a:rPr>
              <a:t>pseudo_</a:t>
            </a:r>
            <a:r>
              <a:rPr/>
              <a:t> lines just park the old results so we can put them side by side in a moment.</a:t>
            </a:r>
          </a:p>
          <a:p>
            <a:pPr lvl="0"/>
            <a:r>
              <a:rPr/>
              <a:t>Each team now has a single row per side, so </a:t>
            </a:r>
            <a:r>
              <a:rPr>
                <a:latin typeface="Courier"/>
              </a:rPr>
              <a:t>row_number()</a:t>
            </a:r>
            <a:r>
              <a:rPr/>
              <a:t> is just 1 everywhere and </a:t>
            </a:r>
            <a:r>
              <a:rPr>
                <a:latin typeface="Courier"/>
              </a:rPr>
              <a:t>pivot_wider()</a:t>
            </a:r>
            <a:r>
              <a:rPr/>
              <a:t> gives </a:t>
            </a:r>
            <a:r>
              <a:rPr b="1"/>
              <a:t>5 clean pairs</a:t>
            </a:r>
            <a:r>
              <a:rPr/>
              <a:t> — one per team</a:t>
            </a:r>
          </a:p>
          <a:p>
            <a:pPr lvl="0"/>
            <a:r>
              <a:rPr/>
              <a:t>Nothing gets silently dropped now</a:t>
            </a:r>
          </a:p>
          <a:p>
            <a:pPr lvl="0"/>
            <a:r>
              <a:rPr>
                <a:latin typeface="Courier"/>
              </a:rPr>
              <a:t>diff</a:t>
            </a:r>
            <a:r>
              <a:rPr/>
              <a:t> is finally a real quantity: </a:t>
            </a:r>
            <a:r>
              <a:rPr b="1"/>
              <a:t>this team’s shady side minus this team’s sunny side</a:t>
            </a:r>
          </a:p>
          <a:p>
            <a:pPr lvl="0" indent="0" marL="0">
              <a:buNone/>
            </a:pPr>
            <a:r>
              <a:rPr/>
              <a:t>Look at </a:t>
            </a:r>
            <a:r>
              <a:rPr>
                <a:latin typeface="Courier"/>
              </a:rPr>
              <a:t>still_loading</a:t>
            </a:r>
            <a:r>
              <a:rPr/>
              <a:t>: a difference of </a:t>
            </a:r>
            <a:r>
              <a:rPr b="1"/>
              <a:t>−0.26 g</a:t>
            </a:r>
            <a:r>
              <a:rPr/>
              <a:t>, far bigger than anyone else’s.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Leaves, Four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all four results out of the four models 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analysis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"Two-sample, every leaf"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20794D"/>
                </a:solidFill>
                <a:latin typeface="Courier"/>
              </a:rPr>
              <a:t>"Paired, every leaf"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20794D"/>
                </a:solidFill>
                <a:latin typeface="Courier"/>
              </a:rPr>
              <a:t>"Two-sample, team means"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20794D"/>
                </a:solidFill>
                <a:latin typeface="Courier"/>
              </a:rPr>
              <a:t>"Paired, team means"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(pseudo_2s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pseudo_paired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leaf_paired_model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(pseudo_2s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pseudo_paired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leaf_paired_model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(pseudo_2s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pseudo_paired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leaf_model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leaf_paired_model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p, \(x)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4
  analysis                    t    df     p
  &lt;chr&gt;                   &lt;dbl&gt; &lt;dbl&gt; &lt;dbl&gt;
1 Two-sample, every leaf  0.356 42.5  0.724
2 Paired, every leaf      0.58  24    0.567
3 Two-sample, team means -0.184  6.52 0.86 
4 Paired, team means     -0.254  4    0.812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things to notice.</a:t>
            </a:r>
          </a:p>
          <a:p>
            <a:pPr lvl="0" indent="0" marL="0">
              <a:buNone/>
            </a:pPr>
            <a:r>
              <a:rPr b="1"/>
              <a:t>1. The </a:t>
            </a:r>
            <a:r>
              <a:rPr b="1">
                <a:latin typeface="Courier"/>
              </a:rPr>
              <a:t>df</a:t>
            </a:r>
            <a:r>
              <a:rPr b="1"/>
              <a:t> collapse.</a:t>
            </a:r>
            <a:r>
              <a:rPr/>
              <a:t> 42.5 → 6.5. We did not lose data; we stopped </a:t>
            </a:r>
            <a:r>
              <a:rPr b="1"/>
              <a:t>double-counting</a:t>
            </a:r>
            <a:r>
              <a:rPr/>
              <a:t> it.</a:t>
            </a:r>
          </a:p>
          <a:p>
            <a:pPr lvl="0" indent="0" marL="0">
              <a:buNone/>
            </a:pPr>
            <a:r>
              <a:rPr b="1"/>
              <a:t>2. The difference changes sign.</a:t>
            </a:r>
            <a:r>
              <a:rPr/>
              <a:t> Shady leaves looked </a:t>
            </a:r>
            <a:r>
              <a:rPr i="1"/>
              <a:t>heavier</a:t>
            </a:r>
            <a:r>
              <a:rPr/>
              <a:t> (+0.018 g) with every leaf, and </a:t>
            </a:r>
            <a:r>
              <a:rPr i="1"/>
              <a:t>lighter</a:t>
            </a:r>
            <a:r>
              <a:rPr/>
              <a:t> (−0.016 g) once we averaged.</a:t>
            </a:r>
          </a:p>
          <a:p>
            <a:pPr lvl="0" indent="0" marL="0">
              <a:buNone/>
            </a:pPr>
            <a:r>
              <a:rPr/>
              <a:t>Why? Teams turned in </a:t>
            </a:r>
            <a:r>
              <a:rPr b="1"/>
              <a:t>uneven</a:t>
            </a:r>
            <a:r>
              <a:rPr/>
              <a:t> numbers of leaves. A team with 6 shady leaves counted six times in the raw mean, a team with 4 counted four times. Averaging first gives </a:t>
            </a:r>
            <a:r>
              <a:rPr b="1"/>
              <a:t>every team one equal vote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Pseudoreplication does not just break your </a:t>
            </a:r>
            <a:r>
              <a:rPr sz="2000" b="1" i="1"/>
              <a:t>p</a:t>
            </a:r>
            <a:r>
              <a:rPr sz="2000" b="1"/>
              <a:t>-value — it can point the difference the wrong way.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10 Parts 1–6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1–6 now</a:t>
            </a:r>
          </a:p>
          <a:p>
            <a:pPr lvl="0" indent="0" marL="0">
              <a:buNone/>
            </a:pPr>
            <a:r>
              <a:rPr/>
              <a:t>Run the two-sample and paired tests on every leaf, then add the </a:t>
            </a:r>
            <a:r>
              <a:rPr>
                <a:latin typeface="Courier"/>
              </a:rPr>
              <a:t>summarize()</a:t>
            </a:r>
            <a:r>
              <a:rPr/>
              <a:t> to the top of your data-loading chain and rerun the same code. Compare the four answers.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2 · The Maple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workflow, better data.</a:t>
            </a:r>
            <a:r>
              <a:rPr/>
              <a:t> We apply the same </a:t>
            </a:r>
            <a:r>
              <a:rPr>
                <a:latin typeface="Courier"/>
              </a:rPr>
              <a:t>summarize()</a:t>
            </a:r>
            <a:r>
              <a:rPr/>
              <a:t> step to the sugar maple leaves, check the assumptions, run the </a:t>
            </a:r>
            <a:r>
              <a:rPr b="1"/>
              <a:t>two-sample</a:t>
            </a:r>
            <a:r>
              <a:rPr/>
              <a:t> and the </a:t>
            </a:r>
            <a:r>
              <a:rPr b="1"/>
              <a:t>paired</a:t>
            </a:r>
            <a:r>
              <a:rPr/>
              <a:t> t-test, see </a:t>
            </a:r>
            <a:r>
              <a:rPr b="1"/>
              <a:t>why pairing adds power</a:t>
            </a:r>
            <a:r>
              <a:rPr/>
              <a:t>, plot and report the paired result, and meet the rank-based backups.</a:t>
            </a:r>
          </a:p>
          <a:p>
            <a:pPr lvl="0" indent="0" marL="0">
              <a:buNone/>
            </a:pPr>
            <a:r>
              <a:rPr b="1"/>
              <a:t>🛑 After this chunk: Activity Parts 7–12, then Part B.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Sugar Maple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leaves from each tree and side?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(tree,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 tree side      n
  &lt;dbl&gt; &lt;chr&gt; &lt;int&gt;
1     1 shady     2
2     1 sunny     2
3     2 shady     2
4     2 sunny     2
5     3 shady     2
6     3 sunny    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8 trees</a:t>
            </a:r>
          </a:p>
          <a:p>
            <a:pPr lvl="0"/>
            <a:r>
              <a:rPr/>
              <a:t>From </a:t>
            </a:r>
            <a:r>
              <a:rPr b="1"/>
              <a:t>each tree</a:t>
            </a:r>
            <a:r>
              <a:rPr/>
              <a:t>: 2 leaves from the </a:t>
            </a:r>
            <a:r>
              <a:rPr b="1"/>
              <a:t>sunny</a:t>
            </a:r>
            <a:r>
              <a:rPr/>
              <a:t> side and 2 from the </a:t>
            </a:r>
            <a:r>
              <a:rPr b="1"/>
              <a:t>shady</a:t>
            </a:r>
            <a:r>
              <a:rPr/>
              <a:t> side</a:t>
            </a:r>
          </a:p>
          <a:p>
            <a:pPr lvl="0"/>
            <a:r>
              <a:rPr/>
              <a:t>32 leaves in total</a:t>
            </a:r>
          </a:p>
          <a:p>
            <a:pPr lvl="0" indent="0" marL="0">
              <a:buNone/>
            </a:pPr>
            <a:r>
              <a:rPr/>
              <a:t>In class we test </a:t>
            </a:r>
            <a:r>
              <a:rPr b="1"/>
              <a:t>leaf area</a:t>
            </a:r>
            <a:r>
              <a:rPr/>
              <a:t> (</a:t>
            </a:r>
            <a:r>
              <a:rPr>
                <a:latin typeface="Courier"/>
              </a:rPr>
              <a:t>total_area_cm2</a:t>
            </a:r>
            <a:r>
              <a:rPr/>
              <a:t>). Your hand-in does the same for </a:t>
            </a:r>
            <a:r>
              <a:rPr b="1"/>
              <a:t>leaf mass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Same structure as our leaf data — but designed on purpose.</a:t>
            </a:r>
          </a:p>
          <a:p>
            <a:pPr lvl="0" indent="0" marL="1270000">
              <a:buNone/>
            </a:pPr>
            <a:r>
              <a:rPr sz="2000"/>
              <a:t>Leaves inside a tree-side, so it needs the </a:t>
            </a:r>
            <a:r>
              <a:rPr sz="2000" b="1"/>
              <a:t>same </a:t>
            </a:r>
            <a:r>
              <a:rPr sz="2000" b="1">
                <a:latin typeface="Courier"/>
              </a:rPr>
              <a:t>summarize()</a:t>
            </a:r>
            <a:r>
              <a:rPr sz="2000" b="1"/>
              <a:t> step</a:t>
            </a:r>
            <a:r>
              <a:rPr sz="2000"/>
              <a:t>. The difference: it is </a:t>
            </a:r>
            <a:r>
              <a:rPr sz="2000" b="1"/>
              <a:t>perfectly balanced</a:t>
            </a:r>
            <a:r>
              <a:rPr sz="2000"/>
              <a:t> — exactly 2 leaves everywhere, 8 trees, nothing uneven and nothing missing.</a:t>
            </a:r>
          </a:p>
          <a:p>
            <a:pPr lvl="0" indent="0" marL="1270000">
              <a:buNone/>
            </a:pPr>
            <a:r>
              <a:rPr sz="2000"/>
              <a:t>So no team gets an unfair vote, and the pairing is </a:t>
            </a:r>
            <a:r>
              <a:rPr sz="2000" b="1"/>
              <a:t>real</a:t>
            </a:r>
            <a:r>
              <a:rPr sz="2000"/>
              <a:t> by design: both sides come off the </a:t>
            </a:r>
            <a:r>
              <a:rPr sz="2000" b="1"/>
              <a:t>same tree</a:t>
            </a:r>
            <a:r>
              <a:rPr sz="2000"/>
              <a:t>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1: The Same </a:t>
            </a:r>
            <a:r>
              <a:rPr>
                <a:latin typeface="Courier"/>
              </a:rPr>
              <a:t>summarize()</a:t>
            </a:r>
            <a:r>
              <a:rPr/>
              <a:t>, One More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leaves off the sunny side of tree 3 share that tree’s soil, water, and light — </a:t>
            </a:r>
            <a:r>
              <a:rPr b="1"/>
              <a:t>not independent</a:t>
            </a:r>
            <a:r>
              <a:rPr/>
              <a:t>, exactly like our 6 leaves per team. So we start where we now always start: </a:t>
            </a:r>
            <a:r>
              <a:rPr b="1"/>
              <a:t>average up to the real replicate.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Average the 2 leaves per tree and side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maple_tree_df &lt;- maple_df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(tree, 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area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(total_area_cm2),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 tree side   area
  &lt;dbl&gt; &lt;chr&gt; &lt;dbl&gt;
1     1 shady  136.
2     1 sunny  106.
3     2 shady  200.
4     2 sunny  159.</a:t>
            </a:r>
          </a:p>
          <a:p>
            <a:pPr lvl="0" indent="0" marL="0">
              <a:buNone/>
            </a:pPr>
            <a:r>
              <a:rPr b="1"/>
              <a:t>32 leaves → 16 rows.</a:t>
            </a:r>
            <a:r>
              <a:rPr/>
              <a:t> The real replicate is the </a:t>
            </a:r>
            <a:r>
              <a:rPr b="1"/>
              <a:t>tree</a:t>
            </a:r>
            <a:r>
              <a:rPr/>
              <a:t>, so we get 8 shady values and 8 sunny values.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The habit, not the trick.</a:t>
            </a:r>
          </a:p>
          <a:p>
            <a:pPr lvl="0" indent="0" marL="1270000">
              <a:buNone/>
            </a:pPr>
            <a:r>
              <a:rPr sz="2000"/>
              <a:t>Ask this of </a:t>
            </a:r>
            <a:r>
              <a:rPr sz="2000" b="1"/>
              <a:t>every</a:t>
            </a:r>
            <a:r>
              <a:rPr sz="2000"/>
              <a:t> data set before you test it:</a:t>
            </a:r>
          </a:p>
          <a:p>
            <a:pPr lvl="0" indent="0" marL="1270000">
              <a:buNone/>
            </a:pPr>
            <a:r>
              <a:rPr sz="2000" i="1"/>
              <a:t>What is the thing I actually sampled, and is there exactly one row per one of those?</a:t>
            </a:r>
          </a:p>
          <a:p>
            <a:pPr lvl="0" indent="0" marL="1270000">
              <a:buNone/>
            </a:pPr>
            <a:r>
              <a:rPr sz="2000"/>
              <a:t>Here: 8 trees sampled, so 8 values per side. Same two-column </a:t>
            </a:r>
            <a:r>
              <a:rPr sz="2000">
                <a:latin typeface="Courier"/>
              </a:rPr>
              <a:t>group_by()</a:t>
            </a:r>
            <a:r>
              <a:rPr sz="2000"/>
              <a:t>, same </a:t>
            </a:r>
            <a:r>
              <a:rPr sz="2000">
                <a:latin typeface="Courier"/>
              </a:rPr>
              <a:t>summarize()</a:t>
            </a:r>
            <a:r>
              <a:rPr sz="2000"/>
              <a:t>, same </a:t>
            </a:r>
            <a:r>
              <a:rPr sz="2000">
                <a:latin typeface="Courier"/>
              </a:rPr>
              <a:t>.groups = "drop"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Because this design is </a:t>
            </a:r>
            <a:r>
              <a:rPr b="1"/>
              <a:t>balanced</a:t>
            </a:r>
            <a:r>
              <a:rPr/>
              <a:t>, averaging won’t flip anything the way it did for our leaves — every tree already had an equal say. Here averaging buys us something different: an </a:t>
            </a:r>
            <a:r>
              <a:rPr b="1"/>
              <a:t>honest </a:t>
            </a:r>
            <a:r>
              <a:rPr b="1">
                <a:latin typeface="Courier"/>
              </a:rPr>
              <a:t>df</a:t>
            </a:r>
            <a:r>
              <a:rPr/>
              <a:t>, and a clean shot at the pairing.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Two-Sample Test — Check the Assumptions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lecture you checked all 32 leaves. We now test the </a:t>
            </a:r>
            <a:r>
              <a:rPr b="1"/>
              <a:t>tree means</a:t>
            </a:r>
            <a:r>
              <a:rPr/>
              <a:t>, so we check </a:t>
            </a:r>
            <a:r>
              <a:rPr i="1"/>
              <a:t>those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Normality of each side (tree means)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shapiro_p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(area)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side  shapiro_p
  &lt;chr&gt;     &lt;dbl&gt;
1 shady     0.338
2 sunny     0.316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Equal spread? -----------------------------------------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(area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maple_tree_df)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0.4965 0.4926
      14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two-sample t-test needs:</a:t>
            </a:r>
          </a:p>
          <a:p>
            <a:pPr lvl="0"/>
            <a:r>
              <a:rPr/>
              <a:t>each group roughly </a:t>
            </a:r>
            <a:r>
              <a:rPr b="1"/>
              <a:t>normal</a:t>
            </a:r>
            <a:r>
              <a:rPr/>
              <a:t> → Shapiro </a:t>
            </a:r>
            <a:r>
              <a:rPr i="1"/>
              <a:t>p</a:t>
            </a:r>
            <a:r>
              <a:rPr/>
              <a:t> &gt; 0.05 on both sides ✅</a:t>
            </a:r>
          </a:p>
          <a:p>
            <a:pPr lvl="0"/>
            <a:r>
              <a:rPr/>
              <a:t>(equal spread — Welch’s doesn’t need it, but good to know) → Levene </a:t>
            </a:r>
            <a:r>
              <a:rPr i="1"/>
              <a:t>p</a:t>
            </a:r>
            <a:r>
              <a:rPr/>
              <a:t> &gt; 0.05 ✅</a:t>
            </a:r>
          </a:p>
          <a:p>
            <a:pPr lvl="0" indent="0" marL="0">
              <a:buNone/>
            </a:pPr>
            <a:r>
              <a:rPr b="1"/>
              <a:t>Decision:</a:t>
            </a:r>
            <a:r>
              <a:rPr/>
              <a:t> a two-sample t-test is OK. </a:t>
            </a:r>
            <a:r>
              <a:rPr i="1"/>
              <a:t>Now</a:t>
            </a:r>
            <a:r>
              <a:rPr/>
              <a:t> we run it.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→ decide → test.</a:t>
            </a:r>
            <a:r>
              <a:rPr sz="2000"/>
              <a:t> Never the other way round.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Two-Sample t-Test on the Tree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Shady trees average bigger leaves. With only 8 trees per side, will the two-sample test be significant?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on the 8 tree means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maple_2s_model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(area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maple_tree_df,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maple_2s_model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area by side
t = 2.2017, df = 13.426, p-value = 0.04573
alternative hypothesis: true difference in means between group shady and group sunny is not equal to 0
95 percent confidence interval:
  0.9668576 87.2303924
sample estimates:
mean in group shady mean in group sunny 
           198.3656            154.2669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Box plot of the tree means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leaf area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t_tests_2_lecture_files/figure-pptx/maple-box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2095500"/>
            <a:ext cx="40386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Just barely significant</a:t>
            </a:r>
            <a:r>
              <a:rPr/>
              <a:t> — </a:t>
            </a:r>
            <a:r>
              <a:rPr i="1"/>
              <a:t>p</a:t>
            </a:r>
            <a:r>
              <a:rPr/>
              <a:t> only just under 0.05. The boxes still overlap a lot; a couple of different trees and we would have missed it. Is this the best we can do?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Pairing Is Hiding in Plain Sight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line per tree: sunny -&gt; shady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tree))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scale_x_discrete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limits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leaf area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t_tests_2_lecture_files/figure-pptx/slop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689100"/>
            <a:ext cx="44323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16 numbers — but now each </a:t>
            </a:r>
            <a:r>
              <a:rPr b="1"/>
              <a:t>line is one tree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Every line goes up.</a:t>
            </a:r>
            <a:r>
              <a:rPr/>
              <a:t> On </a:t>
            </a:r>
            <a:r>
              <a:rPr i="1"/>
              <a:t>every</a:t>
            </a:r>
            <a:r>
              <a:rPr/>
              <a:t> tree, the shady side has bigger leaves.</a:t>
            </a:r>
          </a:p>
          <a:p>
            <a:pPr lvl="0" indent="0" marL="0">
              <a:buNone/>
            </a:pPr>
            <a:r>
              <a:rPr/>
              <a:t>So why was the two-sample test such a close call?</a:t>
            </a:r>
          </a:p>
          <a:p>
            <a:pPr lvl="0"/>
            <a:r>
              <a:rPr/>
              <a:t>Some trees just have </a:t>
            </a:r>
            <a:r>
              <a:rPr b="1"/>
              <a:t>big leaves</a:t>
            </a:r>
            <a:r>
              <a:rPr/>
              <a:t> and some have </a:t>
            </a:r>
            <a:r>
              <a:rPr b="1"/>
              <a:t>small leaves</a:t>
            </a:r>
          </a:p>
          <a:p>
            <a:pPr lvl="0"/>
            <a:r>
              <a:rPr/>
              <a:t>That </a:t>
            </a:r>
            <a:r>
              <a:rPr b="1"/>
              <a:t>tree-to-tree</a:t>
            </a:r>
            <a:r>
              <a:rPr/>
              <a:t> difference is large compared with the shade effect</a:t>
            </a:r>
          </a:p>
          <a:p>
            <a:pPr lvl="0"/>
            <a:r>
              <a:rPr/>
              <a:t>The two-sample test lumps it all into the “noise” — and the signal nearly drowns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group = tree</a:t>
            </a:r>
            <a:r>
              <a:rPr/>
              <a:t> tells ggplot which points to join with a line. </a:t>
            </a:r>
            <a:r>
              <a:rPr>
                <a:latin typeface="Courier"/>
              </a:rPr>
              <a:t>scale_x_discrete(limits = )</a:t>
            </a:r>
            <a:r>
              <a:rPr/>
              <a:t> puts sunny on the left.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Paired Test — Step 1: One Row per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paired test compares the two sides </a:t>
            </a:r>
            <a:r>
              <a:rPr b="1"/>
              <a:t>within each tree</a:t>
            </a:r>
            <a:r>
              <a:rPr/>
              <a:t>, so tree-to-tree differences cancel out.</a:t>
            </a:r>
          </a:p>
          <a:p>
            <a:pPr lvl="0" indent="0" marL="0">
              <a:buNone/>
            </a:pPr>
            <a:r>
              <a:rPr/>
              <a:t>First, put each tree on </a:t>
            </a:r>
            <a:r>
              <a:rPr b="1"/>
              <a:t>one row</a:t>
            </a:r>
            <a:r>
              <a:rPr/>
              <a:t> with a sunny and a shady column, and compute the difference: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row per tree + the shady - sunny difference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maple_wide_df &lt;- 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area)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diff =</a:t>
            </a:r>
            <a:r>
              <a:rPr>
                <a:solidFill>
                  <a:srgbClr val="003B4F"/>
                </a:solidFill>
                <a:latin typeface="Courier"/>
              </a:rPr>
              <a:t> shady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sunny)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maple_wide_df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4
   tree shady sunny  diff
  &lt;dbl&gt; &lt;dbl&gt; &lt;dbl&gt; &lt;dbl&gt;
1     1  136.  106.  30.1
2     2  200.  159.  41.5
3     3  250.  197.  52.5
4     4  191.  165.  26.2
5     5  249.  180.  68.9
6     6  239.  191.  48.0
7     7  159.  114.  45.2
8     8  163.  123.  40.3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is a sneak peek — you’ll learn it properly in the Pivoting lecture.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</a:t>
            </a:r>
            <a:r>
              <a:rPr/>
              <a:t> (</a:t>
            </a:r>
            <a:r>
              <a:rPr>
                <a:latin typeface="Courier"/>
              </a:rPr>
              <a:t>maple_tree_df</a:t>
            </a:r>
            <a:r>
              <a:rPr/>
              <a:t>) — one row per tree </a:t>
            </a:r>
            <a:r>
              <a:rPr i="1"/>
              <a:t>and</a:t>
            </a:r>
            <a:r>
              <a:rPr/>
              <a:t> side (16 rows)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409700"/>
                <a:gridCol w="1612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After</a:t>
            </a:r>
            <a:r>
              <a:rPr/>
              <a:t> (</a:t>
            </a:r>
            <a:r>
              <a:rPr>
                <a:latin typeface="Courier"/>
              </a:rPr>
              <a:t>maple_wide_df</a:t>
            </a:r>
            <a:r>
              <a:rPr/>
              <a:t>) — one row per tree (8 rows)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1092200"/>
                <a:gridCol w="1092200"/>
                <a:gridCol w="105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…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names_from = side</a:t>
            </a:r>
            <a:r>
              <a:rPr/>
              <a:t> → the new column names</a:t>
            </a:r>
          </a:p>
          <a:p>
            <a:pPr lvl="0"/>
            <a:r>
              <a:rPr>
                <a:latin typeface="Courier"/>
              </a:rPr>
              <a:t>values_from = area</a:t>
            </a:r>
            <a:r>
              <a:rPr/>
              <a:t> → what goes in them</a:t>
            </a:r>
          </a:p>
          <a:p>
            <a:pPr lvl="0" indent="0" marL="0">
              <a:buNone/>
            </a:pPr>
            <a:r>
              <a:rPr b="1"/>
              <a:t>Look at </a:t>
            </a:r>
            <a:r>
              <a:rPr b="1">
                <a:latin typeface="Courier"/>
              </a:rPr>
              <a:t>diff</a:t>
            </a:r>
            <a:r>
              <a:rPr b="1"/>
              <a:t>: every tree is positive.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Paired Test — Step 2: Check the Assumption First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the 8 differences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maple_wide_df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diff))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pic>
        <p:nvPicPr>
          <p:cNvPr descr="t_tests_2_lecture_files/figure-pptx/diff-qq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2032000"/>
            <a:ext cx="4432300" cy="17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on the differences 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(maple_wide_df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diff)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maple_wide_df$diff
W = 0.95881, p-value = 0.7987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paired test needs the differences to be roughly normal</a:t>
            </a:r>
            <a:r>
              <a:rPr/>
              <a:t> — not each side.</a:t>
            </a:r>
          </a:p>
          <a:p>
            <a:pPr lvl="0"/>
            <a:r>
              <a:rPr/>
              <a:t>QQ plot: dots near the line ✅</a:t>
            </a:r>
          </a:p>
          <a:p>
            <a:pPr lvl="0"/>
            <a:r>
              <a:rPr/>
              <a:t>Shapiro-Wilk: </a:t>
            </a:r>
            <a:r>
              <a:rPr i="1"/>
              <a:t>p</a:t>
            </a:r>
            <a:r>
              <a:rPr/>
              <a:t> &gt; 0.05 ✅</a:t>
            </a:r>
          </a:p>
          <a:p>
            <a:pPr lvl="0" indent="0" marL="0">
              <a:buNone/>
            </a:pPr>
            <a:r>
              <a:rPr b="1"/>
              <a:t>No Levene’s test</a:t>
            </a:r>
            <a:r>
              <a:rPr/>
              <a:t> — there is only one set of numbers (the differences), so there is no second spread to compare.</a:t>
            </a:r>
          </a:p>
          <a:p>
            <a:pPr lvl="0" indent="0" marL="0">
              <a:buNone/>
            </a:pPr>
            <a:r>
              <a:rPr b="1"/>
              <a:t>Decision:</a:t>
            </a:r>
            <a:r>
              <a:rPr/>
              <a:t> a paired t-test is OK. </a:t>
            </a:r>
            <a:r>
              <a:rPr i="1"/>
              <a:t>Now</a:t>
            </a:r>
            <a:r>
              <a:rPr/>
              <a:t> we run it.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Paired Test — Step 3: Run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Every line went up. Will the paired </a:t>
            </a:r>
            <a:r>
              <a:rPr sz="2000" i="1"/>
              <a:t>p</a:t>
            </a:r>
            <a:r>
              <a:rPr sz="2000"/>
              <a:t> be bigger or smaller than the two-sample </a:t>
            </a:r>
            <a:r>
              <a:rPr sz="2000" i="1"/>
              <a:t>p</a:t>
            </a:r>
            <a:r>
              <a:rPr sz="2000"/>
              <a:t>?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Paired t-test: shady vs. sunny on the SAME tree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maple_paired_model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(maple_wide_df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maple_wide_df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maple_paired_model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Paired t-test
data:  maple_wide_df$shady and maple_wide_df$sunny
t = 9.3808, df = 7, p-value = 3.255e-05
alternative hypothesis: true mean difference is not equal to 0
95 percent confidence interval:
 32.98271 55.21454
sample estimates:
mean difference 
       44.09862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Overwhelmingly significant</a:t>
            </a:r>
            <a:r>
              <a:rPr/>
              <a:t> — </a:t>
            </a:r>
            <a:r>
              <a:rPr i="1"/>
              <a:t>p</a:t>
            </a:r>
            <a:r>
              <a:rPr/>
              <a:t> is more than a thousand times smaller. Same trees, same numbers.</a:t>
            </a:r>
          </a:p>
          <a:p>
            <a:pPr lvl="0"/>
            <a:r>
              <a:rPr>
                <a:latin typeface="Courier"/>
              </a:rPr>
              <a:t>paired = TRUE</a:t>
            </a:r>
            <a:r>
              <a:rPr/>
              <a:t> matches row 1 with row 1, row 2 with row 2 …</a:t>
            </a:r>
          </a:p>
          <a:p>
            <a:pPr lvl="0"/>
            <a:r>
              <a:rPr/>
              <a:t>The order sets the sign: </a:t>
            </a:r>
            <a:r>
              <a:rPr b="1"/>
              <a:t>shady − sunny</a:t>
            </a:r>
            <a:r>
              <a:rPr/>
              <a:t>. Positive = shady is bigger.</a:t>
            </a:r>
          </a:p>
          <a:p>
            <a:pPr lvl="0"/>
            <a:r>
              <a:rPr>
                <a:latin typeface="Courier"/>
              </a:rPr>
              <a:t>mean difference</a:t>
            </a:r>
            <a:r>
              <a:rPr/>
              <a:t> = the average of the </a:t>
            </a:r>
            <a:r>
              <a:rPr>
                <a:latin typeface="Courier"/>
              </a:rPr>
              <a:t>diff</a:t>
            </a:r>
            <a:r>
              <a:rPr/>
              <a:t> column</a:t>
            </a:r>
          </a:p>
          <a:p>
            <a:pPr lvl="0"/>
            <a:r>
              <a:rPr b="1"/>
              <a:t>df = 7</a:t>
            </a:r>
            <a:r>
              <a:rPr/>
              <a:t> — 8 trees → 8 differences → 8 − 1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Why not </a:t>
            </a:r>
            <a:r>
              <a:rPr sz="2000" b="1">
                <a:latin typeface="Courier"/>
              </a:rPr>
              <a:t>area ~ side</a:t>
            </a:r>
            <a:r>
              <a:rPr sz="2000" b="1"/>
              <a:t> here?</a:t>
            </a:r>
          </a:p>
          <a:p>
            <a:pPr lvl="0" indent="0" marL="1270000">
              <a:buNone/>
            </a:pPr>
            <a:r>
              <a:rPr sz="2000"/>
              <a:t>R does not allow </a:t>
            </a:r>
            <a:r>
              <a:rPr sz="2000">
                <a:latin typeface="Courier"/>
              </a:rPr>
              <a:t>paired = TRUE</a:t>
            </a:r>
            <a:r>
              <a:rPr sz="2000"/>
              <a:t> with a formula. That’s why we made the wide table first.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Same Data, Two Answers — Why Pairing Adds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Put the two results side by side 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test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"Two-sample (Welch)"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"Paired"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(maple_2s_model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df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(maple_2s_model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(maple_2s_model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4
  test                   t    df         p
  &lt;chr&gt;              &lt;dbl&gt; &lt;dbl&gt;     &lt;dbl&gt;
1 Two-sample (Welch)  2.20  13.4 0.0457   
2 Paired              9.38   7   0.0000326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16 numbers. Same difference in means.</a:t>
            </a:r>
          </a:p>
          <a:p>
            <a:pPr lvl="0"/>
            <a:r>
              <a:rPr b="1"/>
              <a:t>Two-sample:</a:t>
            </a:r>
            <a:r>
              <a:rPr/>
              <a:t> noise = tree-to-tree variation </a:t>
            </a:r>
            <a:r>
              <a:rPr b="1"/>
              <a:t>plus</a:t>
            </a:r>
            <a:r>
              <a:rPr/>
              <a:t> the shade effect’s wobble → big noise, small </a:t>
            </a:r>
            <a:r>
              <a:rPr i="1"/>
              <a:t>t</a:t>
            </a:r>
          </a:p>
          <a:p>
            <a:pPr lvl="0"/>
            <a:r>
              <a:rPr b="1"/>
              <a:t>Paired:</a:t>
            </a:r>
            <a:r>
              <a:rPr/>
              <a:t> subtracting within each tree removes its size, soil, water, age → small noise, big </a:t>
            </a:r>
            <a:r>
              <a:rPr i="1"/>
              <a:t>t</a:t>
            </a:r>
          </a:p>
          <a:p>
            <a:pPr lvl="0" indent="0" marL="0">
              <a:buNone/>
            </a:pPr>
            <a:r>
              <a:rPr/>
              <a:t>The paired test even has </a:t>
            </a:r>
            <a:r>
              <a:rPr b="1"/>
              <a:t>fewer df</a:t>
            </a:r>
            <a:r>
              <a:rPr/>
              <a:t> (7 vs. about 13) — and still wins easily, because the noise it removed mattered far more.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design picks the test.</a:t>
            </a:r>
            <a:r>
              <a:rPr sz="2000"/>
              <a:t> Both sides were measured on the same tree, so the data are paired. The two-sample test answers a question our design never asked.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Is Data Paired?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600"/>
                <a:gridCol w="4546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paired (two-sample) 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 and shady side of the </a:t>
                      </a:r>
                      <a:r>
                        <a:rPr b="1"/>
                        <a:t>same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Sunny leaves from some trees, shady from </a:t>
                      </a:r>
                      <a:r>
                        <a:rPr b="1"/>
                        <a:t>other</a:t>
                      </a:r>
                      <a:r>
                        <a:rPr/>
                        <a:t> trees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Before and after</a:t>
                      </a:r>
                      <a:r>
                        <a:rPr/>
                        <a:t> on the same 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Fish from two different lakes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Left and right leg of the same person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groups of different people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Twins split between two treatments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Randomly assigned to two groups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Ask:</a:t>
            </a:r>
            <a:r>
              <a:rPr/>
              <a:t> does each value in group 1 have a </a:t>
            </a:r>
            <a:r>
              <a:rPr b="1"/>
              <a:t>natural partner</a:t>
            </a:r>
            <a:r>
              <a:rPr/>
              <a:t> in group 2? If yes → paired.</a:t>
            </a:r>
          </a:p>
          <a:p>
            <a:pPr lvl="0" indent="0" marL="0">
              <a:buNone/>
            </a:pPr>
            <a:r>
              <a:rPr b="1"/>
              <a:t>Our class leaf data</a:t>
            </a:r>
            <a:r>
              <a:rPr/>
              <a:t> — each team sampled both sides of </a:t>
            </a:r>
            <a:r>
              <a:rPr b="1"/>
              <a:t>their own tree</a:t>
            </a:r>
            <a:r>
              <a:rPr/>
              <a:t>, so those data are paired too. That is why the paired test was the honest one there as well, once we had averaged each team’s side down to one value.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Plotting a Paired Result — Build the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Label with the paired test result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paired_label &lt;-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"Paired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", df = "</a:t>
            </a:r>
            <a:r>
              <a:rPr>
                <a:solidFill>
                  <a:srgbClr val="003B4F"/>
                </a:solidFill>
                <a:latin typeface="Courier"/>
              </a:rPr>
              <a:t>, 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20794D"/>
                </a:solidFill>
                <a:latin typeface="Courier"/>
              </a:rPr>
              <a:t>",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scales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pvalue</a:t>
            </a:r>
            <a:r>
              <a:rPr>
                <a:solidFill>
                  <a:srgbClr val="003B4F"/>
                </a:solidFill>
                <a:latin typeface="Courier"/>
              </a:rPr>
              <a:t>(maple_paired_model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add_p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paired_label</a:t>
            </a:r>
          </a:p>
          <a:p>
            <a:pPr lvl="0" indent="0">
              <a:buNone/>
            </a:pPr>
            <a:r>
              <a:rPr>
                <a:latin typeface="Courier"/>
              </a:rPr>
              <a:t>[1] "Paired t-test: t = 9.38, df = 7, p&lt;0.001"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put the test result </a:t>
            </a:r>
            <a:r>
              <a:rPr b="1"/>
              <a:t>on the figure</a:t>
            </a:r>
            <a:r>
              <a:rPr/>
              <a:t>, pulled straight from the model — no retyping numbers.</a:t>
            </a:r>
          </a:p>
          <a:p>
            <a:pPr lvl="0"/>
            <a:r>
              <a:rPr>
                <a:latin typeface="Courier"/>
              </a:rPr>
              <a:t>paste0()</a:t>
            </a:r>
            <a:r>
              <a:rPr/>
              <a:t> glues text and numbers into one piece of text</a:t>
            </a:r>
          </a:p>
          <a:p>
            <a:pPr lvl="0"/>
            <a:r>
              <a:rPr>
                <a:latin typeface="Courier"/>
              </a:rPr>
              <a:t>maple_paired_model$statistic</a:t>
            </a:r>
            <a:r>
              <a:rPr/>
              <a:t> → t, </a:t>
            </a:r>
            <a:r>
              <a:rPr>
                <a:latin typeface="Courier"/>
              </a:rPr>
              <a:t>$parameter</a:t>
            </a:r>
            <a:r>
              <a:rPr/>
              <a:t> → df</a:t>
            </a:r>
          </a:p>
          <a:p>
            <a:pPr lvl="0"/>
            <a:r>
              <a:rPr>
                <a:latin typeface="Courier"/>
              </a:rPr>
              <a:t>scales::pvalue(..., add_p = TRUE)</a:t>
            </a:r>
            <a:r>
              <a:rPr/>
              <a:t> writes “p&lt;0.001” instead of an ugly </a:t>
            </a:r>
            <a:r>
              <a:rPr>
                <a:latin typeface="Courier"/>
              </a:rPr>
              <a:t>3.3e-05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Plotting a Paired Result — the Figure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Each tree in grey + mean ± SE in color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maple_results_plot &lt;- maple_tree_df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tree),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scale_x_discrete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limits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leaf area (cm²)"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paired_label)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maple_results_plot</a:t>
            </a:r>
          </a:p>
        </p:txBody>
      </p:sp>
      <p:pic>
        <p:nvPicPr>
          <p:cNvPr descr="t_tests_2_lecture_files/figure-pptx/result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21000" y="2819400"/>
            <a:ext cx="3162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box plot hides the pairing. This shows </a:t>
            </a:r>
            <a:r>
              <a:rPr b="1"/>
              <a:t>both</a:t>
            </a:r>
            <a:r>
              <a:rPr/>
              <a:t>: </a:t>
            </a:r>
            <a:r>
              <a:rPr b="1"/>
              <a:t>grey lines</a:t>
            </a:r>
            <a:r>
              <a:rPr/>
              <a:t> — every tree’s rise; </a:t>
            </a:r>
            <a:r>
              <a:rPr b="1"/>
              <a:t>green mean ± SE</a:t>
            </a:r>
            <a:r>
              <a:rPr/>
              <a:t> — the overall answer. </a:t>
            </a:r>
            <a:r>
              <a:rPr>
                <a:latin typeface="Courier"/>
              </a:rPr>
              <a:t>aes(group = tree)</a:t>
            </a:r>
            <a:r>
              <a:rPr/>
              <a:t> sits only in </a:t>
            </a:r>
            <a:r>
              <a:rPr>
                <a:latin typeface="Courier"/>
              </a:rPr>
              <a:t>geom_line()</a:t>
            </a:r>
            <a:r>
              <a:rPr/>
              <a:t>, so the green layers average over all trees.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Save the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the results plot ---------------------------------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"figures/maple_paired_plot.png"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maple_results_plot,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Goes into your </a:t>
            </a:r>
            <a:r>
              <a:rPr>
                <a:latin typeface="Courier"/>
              </a:rPr>
              <a:t>figures/</a:t>
            </a:r>
            <a:r>
              <a:rPr/>
              <a:t> folder</a:t>
            </a:r>
          </a:p>
          <a:p>
            <a:pPr lvl="0"/>
            <a:r>
              <a:rPr>
                <a:latin typeface="Courier"/>
              </a:rPr>
              <a:t>dpi = 300</a:t>
            </a:r>
            <a:r>
              <a:rPr/>
              <a:t> is publication quality</a:t>
            </a:r>
          </a:p>
          <a:p>
            <a:pPr lvl="0"/>
            <a:r>
              <a:rPr/>
              <a:t>The subtitle updates itself if the data change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Reporting a Paired Result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template:</a:t>
            </a:r>
          </a:p>
          <a:p>
            <a:pPr lvl="0" indent="0" marL="1270000">
              <a:buNone/>
            </a:pPr>
            <a:r>
              <a:rPr sz="2000" i="1"/>
              <a:t>[Finding] (paired t-test: t(df) = X.XX, p = X.XXX; mean difference = X.X units).</a:t>
            </a:r>
          </a:p>
          <a:p>
            <a:pPr lvl="0" indent="0" marL="0">
              <a:buNone/>
            </a:pPr>
            <a:r>
              <a:rPr b="1"/>
              <a:t>Our sugar maples:</a:t>
            </a:r>
          </a:p>
          <a:p>
            <a:pPr lvl="0" indent="0" marL="1270000">
              <a:buNone/>
            </a:pPr>
            <a:r>
              <a:rPr sz="2000" i="1"/>
              <a:t>Shady-side leaves were significantly larger than sunny-side leaves on the same tree (paired t-test: t(7) = 9.38, p &lt; 0.001; mean difference = 44.1 cm²).</a:t>
            </a:r>
          </a:p>
          <a:p>
            <a:pPr lvl="0" indent="0" marL="0">
              <a:buNone/>
            </a:pPr>
            <a:r>
              <a:rPr b="1"/>
              <a:t>For the two-sample version</a:t>
            </a:r>
            <a:r>
              <a:rPr/>
              <a:t>, the test name changes and there’s no “mean difference” — give the two means instead.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Where each number comes from: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2425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the sentence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the output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t(7)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=</a:t>
                      </a:r>
                      <a:r>
                        <a:rPr/>
                        <a:t> and </a:t>
                      </a:r>
                      <a:r>
                        <a:rPr>
                          <a:latin typeface="Courier"/>
                        </a:rPr>
                        <a:t>df =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&lt; 0.001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 =</a:t>
                      </a:r>
                      <a:r>
                        <a:rPr/>
                        <a:t> (tiny)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difference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difference</a:t>
                      </a:r>
                      <a:r>
                        <a:rPr/>
                        <a:t> at the bottom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Always say which test</a:t>
            </a:r>
            <a:r>
              <a:rPr/>
              <a:t> — “t-test” alone doesn’t tell the reader whether the data were paired.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Backup Plan: Rank-Based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the QQ plot and Shapiro-Wilk say the data are </a:t>
            </a:r>
            <a:r>
              <a:rPr b="1"/>
              <a:t>clearly not normal</a:t>
            </a:r>
            <a:r>
              <a:rPr/>
              <a:t>, use a test on </a:t>
            </a:r>
            <a:r>
              <a:rPr b="1"/>
              <a:t>ranks</a:t>
            </a:r>
            <a:r>
              <a:rPr/>
              <a:t> instead — the smallest value becomes 1, the next 2, and so on.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Mann-Whitney U: two-sample partner 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(area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maple_tree_df)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rank sum exact test
data:  area by side
W = 50, p-value = 0.06496
alternative hypothesis: true location shift is not equal to 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Wilcoxon signed-rank: paired partner 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wilcox.test</a:t>
            </a:r>
            <a:r>
              <a:rPr>
                <a:solidFill>
                  <a:srgbClr val="003B4F"/>
                </a:solidFill>
                <a:latin typeface="Courier"/>
              </a:rPr>
              <a:t>(maple_wide_df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shady, maple_wide_df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sunny,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paired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
    Wilcoxon signed rank exact test
data:  maple_wide_df$shady and maple_wide_df$sunny
V = 36, p-value = 0.007813
alternative hypothesis: true location shift is not equal to 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Ranks ignore how far apart values are — an outlier is just “the biggest”</a:t>
            </a:r>
          </a:p>
          <a:p>
            <a:pPr lvl="0"/>
            <a:r>
              <a:rPr/>
              <a:t>No normality needed</a:t>
            </a:r>
          </a:p>
          <a:p>
            <a:pPr lvl="0"/>
            <a:r>
              <a:rPr/>
              <a:t>R calls both </a:t>
            </a:r>
            <a:r>
              <a:rPr>
                <a:latin typeface="Courier"/>
              </a:rPr>
              <a:t>wilcox.test()</a:t>
            </a:r>
            <a:r>
              <a:rPr/>
              <a:t>; the statistic is </a:t>
            </a:r>
            <a:r>
              <a:rPr b="1"/>
              <a:t>W</a:t>
            </a:r>
            <a:r>
              <a:rPr/>
              <a:t> or </a:t>
            </a:r>
            <a:r>
              <a:rPr b="1"/>
              <a:t>V</a:t>
            </a:r>
            <a:r>
              <a:rPr/>
              <a:t>, not </a:t>
            </a:r>
            <a:r>
              <a:rPr i="1"/>
              <a:t>t</a:t>
            </a:r>
          </a:p>
          <a:p>
            <a:pPr lvl="0" indent="0" marL="0">
              <a:buNone/>
            </a:pPr>
            <a:r>
              <a:rPr b="1"/>
              <a:t>Look what happened:</a:t>
            </a:r>
          </a:p>
          <a:p>
            <a:pPr lvl="0"/>
            <a:r>
              <a:rPr b="1"/>
              <a:t>Mann-Whitney just misses</a:t>
            </a:r>
            <a:r>
              <a:rPr/>
              <a:t> (</a:t>
            </a:r>
            <a:r>
              <a:rPr i="1"/>
              <a:t>p</a:t>
            </a:r>
            <a:r>
              <a:rPr/>
              <a:t> a little above 0.05) where the two-sample t-test just made it — the power you give up by using ranks</a:t>
            </a:r>
          </a:p>
          <a:p>
            <a:pPr lvl="0"/>
            <a:r>
              <a:rPr b="1"/>
              <a:t>Signed-rank still finds the effect.</a:t>
            </a:r>
            <a:r>
              <a:rPr/>
              <a:t> V = 36 is the biggest possible for 8 trees — every tree went the same way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a Test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09600"/>
          <a:ext cx="9080500" cy="391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/>
                <a:gridCol w="3175000"/>
                <a:gridCol w="3175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roughly </a:t>
                      </a:r>
                      <a:r>
                        <a:rPr b="1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clearly </a:t>
                      </a:r>
                      <a:r>
                        <a:rPr b="1"/>
                        <a:t>not normal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Two independent groups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Welch’s two-sample 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Mann-Whitney 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Paired</a:t>
                      </a:r>
                      <a:r>
                        <a:rPr/>
                        <a:t> (natural partners)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 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Wilcoxon signed-rank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Design first:</a:t>
            </a:r>
            <a:r>
              <a:rPr/>
              <a:t> paired or independent?</a:t>
            </a:r>
          </a:p>
          <a:p>
            <a:pPr lvl="0" indent="-342900" marL="342900">
              <a:buAutoNum type="arabicPeriod"/>
            </a:pPr>
            <a:r>
              <a:rPr b="1"/>
              <a:t>Check the assumptions:</a:t>
            </a:r>
            <a:r>
              <a:rPr/>
              <a:t> each group (two-sample) or the </a:t>
            </a:r>
            <a:r>
              <a:rPr b="1"/>
              <a:t>differences</a:t>
            </a:r>
            <a:r>
              <a:rPr/>
              <a:t> (paired)</a:t>
            </a:r>
          </a:p>
          <a:p>
            <a:pPr lvl="0" indent="-342900" marL="342900">
              <a:buAutoNum type="arabicPeriod"/>
            </a:pPr>
            <a:r>
              <a:rPr b="1"/>
              <a:t>Then</a:t>
            </a:r>
            <a:r>
              <a:rPr/>
              <a:t> run the test you chose — and say why in your report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Normal enough? Use the t-test.</a:t>
            </a:r>
            <a:r>
              <a:rPr sz="2000"/>
              <a:t> It uses the actual measurements, so it has more power. Rank tests are the backup, not the default.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10 Parts 7–12, then 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7–12 now, then start Part B</a:t>
            </a:r>
          </a:p>
          <a:p>
            <a:pPr lvl="0" indent="0" marL="0">
              <a:buNone/>
            </a:pPr>
            <a:r>
              <a:rPr/>
              <a:t>Average the sugar maple leaves per tree and side, check the assumptions, run the two-sample and the paired t-test, compare them, make the results plot, write the sentences, and run the rank-based tests. Then Part B: the whole workflow on sugar maple </a:t>
            </a:r>
            <a:r>
              <a:rPr b="1"/>
              <a:t>leaf mass</a:t>
            </a:r>
            <a:r>
              <a:rPr/>
              <a:t> — that is what you hand in.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Read</a:t>
            </a:r>
            <a:r>
              <a:rPr/>
              <a:t> </a:t>
            </a:r>
            <a:r>
              <a:rPr>
                <a:latin typeface="Courier"/>
              </a:rPr>
              <a:t>t.test()</a:t>
            </a:r>
            <a:r>
              <a:rPr/>
              <a:t> output: t, df, </a:t>
            </a:r>
            <a:r>
              <a:rPr i="1"/>
              <a:t>p</a:t>
            </a:r>
            <a:r>
              <a:rPr/>
              <a:t>, CI, means → decide → report</a:t>
            </a:r>
          </a:p>
          <a:p>
            <a:pPr lvl="0"/>
            <a:r>
              <a:rPr b="1"/>
              <a:t>Pseudoreplication:</a:t>
            </a:r>
            <a:r>
              <a:rPr/>
              <a:t> many leaves from one tree-side are </a:t>
            </a:r>
            <a:r>
              <a:rPr b="1"/>
              <a:t>not</a:t>
            </a:r>
            <a:r>
              <a:rPr/>
              <a:t> many data points — they inflate </a:t>
            </a:r>
            <a:r>
              <a:rPr>
                <a:latin typeface="Courier"/>
              </a:rPr>
              <a:t>df</a:t>
            </a:r>
            <a:r>
              <a:rPr/>
              <a:t>, and with uneven sampling they can flip the difference’s </a:t>
            </a:r>
            <a:r>
              <a:rPr b="1"/>
              <a:t>sign</a:t>
            </a:r>
          </a:p>
          <a:p>
            <a:pPr lvl="0"/>
            <a:r>
              <a:rPr b="1"/>
              <a:t>The fix is one </a:t>
            </a:r>
            <a:r>
              <a:rPr b="1">
                <a:latin typeface="Courier"/>
              </a:rPr>
              <a:t>summarize()</a:t>
            </a:r>
            <a:r>
              <a:rPr b="1"/>
              <a:t> at the top</a:t>
            </a:r>
            <a:r>
              <a:rPr/>
              <a:t> — same </a:t>
            </a:r>
            <a:r>
              <a:rPr>
                <a:latin typeface="Courier"/>
              </a:rPr>
              <a:t>leaf_df</a:t>
            </a:r>
            <a:r>
              <a:rPr/>
              <a:t>, same </a:t>
            </a:r>
            <a:r>
              <a:rPr>
                <a:latin typeface="Courier"/>
              </a:rPr>
              <a:t>mass_g</a:t>
            </a:r>
            <a:r>
              <a:rPr/>
              <a:t>, rerun everything below unchanged</a:t>
            </a:r>
          </a:p>
          <a:p>
            <a:pPr lvl="0"/>
            <a:r>
              <a:rPr b="1"/>
              <a:t>Check → decide → test:</a:t>
            </a:r>
            <a:r>
              <a:rPr/>
              <a:t> each group for two-sample, the </a:t>
            </a:r>
            <a:r>
              <a:rPr b="1"/>
              <a:t>differences</a:t>
            </a:r>
            <a:r>
              <a:rPr/>
              <a:t> for paired</a:t>
            </a:r>
          </a:p>
          <a:p>
            <a:pPr lvl="0"/>
            <a:r>
              <a:rPr b="1"/>
              <a:t>Paired vs. two-sample:</a:t>
            </a:r>
            <a:r>
              <a:rPr/>
              <a:t> the design decides — pairing removes tree-to-tree noise</a:t>
            </a:r>
          </a:p>
          <a:p>
            <a:pPr lvl="0"/>
            <a:r>
              <a:rPr b="1"/>
              <a:t>Show it:</a:t>
            </a:r>
            <a:r>
              <a:rPr/>
              <a:t> lines per tree + mean ± SE, with the test in the subtitle</a:t>
            </a:r>
          </a:p>
          <a:p>
            <a:pPr lvl="0"/>
            <a:r>
              <a:rPr b="1"/>
              <a:t>Backup:</a:t>
            </a:r>
            <a:r>
              <a:rPr/>
              <a:t> Mann-Whitney U (two-sample), Wilcoxon signed-rank (paired)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t.test(y ~ group, data, var.equal = FALSE)</a:t>
            </a:r>
          </a:p>
          <a:p>
            <a:pPr lvl="0"/>
            <a:r>
              <a:rPr>
                <a:latin typeface="Courier"/>
              </a:rPr>
              <a:t>t.test(a, b, paired = TRUE)</a:t>
            </a:r>
          </a:p>
          <a:p>
            <a:pPr lvl="0"/>
            <a:r>
              <a:rPr>
                <a:latin typeface="Courier"/>
              </a:rPr>
              <a:t>group_by(id, group) %&gt;% summarize()</a:t>
            </a:r>
            <a:r>
              <a:rPr/>
              <a:t> — kill pseudoreplication</a:t>
            </a:r>
          </a:p>
          <a:p>
            <a:pPr lvl="0"/>
            <a:r>
              <a:rPr>
                <a:latin typeface="Courier"/>
              </a:rPr>
              <a:t>pivot_wider(names_from, values_from)</a:t>
            </a:r>
          </a:p>
          <a:p>
            <a:pPr lvl="0"/>
            <a:r>
              <a:rPr>
                <a:latin typeface="Courier"/>
              </a:rPr>
              <a:t>geom_line(aes(group = tree))</a:t>
            </a:r>
          </a:p>
          <a:p>
            <a:pPr lvl="0"/>
            <a:r>
              <a:rPr>
                <a:latin typeface="Courier"/>
              </a:rPr>
              <a:t>wilcox.test()</a:t>
            </a:r>
          </a:p>
          <a:p>
            <a:pPr lvl="0" indent="0" marL="0">
              <a:buNone/>
            </a:pPr>
            <a:r>
              <a:rPr b="1"/>
              <a:t>Up next — Lecture 11:</a:t>
            </a:r>
            <a:r>
              <a:rPr/>
              <a:t> linear regression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— T-Tests II: Two-Sample vs. Paired</dc:title>
  <dc:creator>Bill Perry</dc:creator>
  <cp:keywords/>
  <dc:description>Reading and reporting t.test() output, then the sugar maple data: averaging pseudoreplicates, two-sample vs. paired t-tests (and why pairing adds power), and the rank-based partners Mann-Whitney U and Wilcoxon signed-rank.</dc:description>
  <dcterms:created xsi:type="dcterms:W3CDTF">2026-10-19T16:11:25Z</dcterms:created>
  <dcterms:modified xsi:type="dcterms:W3CDTF">2026-10-19T16:11:25Z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2026-10-19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10</vt:lpwstr>
  </property>
  <property fmtid="{D5CDD505-2E9C-101B-9397-08002B2CF9AE}" pid="13" name="resources">
    <vt:lpwstr/>
  </property>
  <property fmtid="{D5CDD505-2E9C-101B-9397-08002B2CF9AE}" pid="14" name="subtitle">
    <vt:lpwstr>Reading the output, the power of pairing, and rank-based tests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5</vt:lpwstr>
  </property>
</Properties>
</file>