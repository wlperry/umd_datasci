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10 -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10: Running &amp; Reporting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09</a:t>
            </a:r>
          </a:p>
          <a:p>
            <a:pPr lvl="0"/>
            <a:r>
              <a:rPr/>
              <a:t>Stated H₀ and Hₐ formally (two-tailed, α = 0.05)</a:t>
            </a:r>
          </a:p>
          <a:p>
            <a:pPr lvl="0"/>
            <a:r>
              <a:rPr/>
              <a:t>Checked normality with a histogram and Shapiro-Wilk</a:t>
            </a:r>
          </a:p>
          <a:p>
            <a:pPr lvl="0"/>
            <a:r>
              <a:rPr/>
              <a:t>Checked variance with Levene’s test</a:t>
            </a:r>
          </a:p>
          <a:p>
            <a:pPr lvl="0"/>
            <a:r>
              <a:rPr/>
              <a:t>Decided: proceed with Welch’s t-test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Run a Welch’s two-sample t-test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 indent="-342900" marL="342900">
              <a:buAutoNum type="arabicPeriod"/>
            </a:pPr>
            <a:r>
              <a:rPr/>
              <a:t>Read and decode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 indent="-342900" marL="342900">
              <a:buAutoNum type="arabicPeriod"/>
            </a:pPr>
            <a:r>
              <a:rPr/>
              <a:t>Make a formal statistical decision and state a conclusion</a:t>
            </a:r>
          </a:p>
          <a:p>
            <a:pPr lvl="0" indent="-342900" marL="342900">
              <a:buAutoNum type="arabicPeriod"/>
            </a:pPr>
            <a:r>
              <a:rPr/>
              <a:t>Write a results sentence in proper scientific format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 — the steps build on each other. Type the code into your script in Positron and run it line by line.</a:t>
            </a:r>
          </a:p>
          <a:p>
            <a:pPr lvl="0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 something.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 if you finish early.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Run &amp; interpret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run the test, decode the output, and decide.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data, and recap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the script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and rerun last lecture's checks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From Worksheet 09, what was your decision about normality and variance? Were you clear to proceed with Welch’s?</a:t>
            </a:r>
          </a:p>
          <a:p>
            <a:pPr lvl="0" indent="0">
              <a:buNone/>
            </a:pPr>
            <a:r>
              <a:rPr>
                <a:latin typeface="Courier"/>
              </a:rPr>
              <a:t>Normality decision:
Variance (Levene's) decision:
Proceed with Welch's?  Y / 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now — above or below 0.05? Then run </a:t>
            </a:r>
            <a:r>
              <a:rPr sz="2000">
                <a:latin typeface="Courier"/>
              </a:rPr>
              <a:t>t.test()</a:t>
            </a:r>
            <a:r>
              <a:rPr sz="2000"/>
              <a:t> and see how close you were.</a:t>
            </a:r>
          </a:p>
          <a:p>
            <a:pPr lvl="0" indent="0" marL="0">
              <a:buNone/>
            </a:pPr>
            <a:r>
              <a:rPr/>
              <a:t>Now that we have checked our assumptions, we can run the test.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   </a:t>
            </a:r>
            <a:r>
              <a:rPr>
                <a:solidFill>
                  <a:srgbClr val="5E5E5E"/>
                </a:solidFill>
                <a:latin typeface="Courier"/>
              </a:rPr>
              <a:t>#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full output below: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or write the t.test() output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Decode the output and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to extract individual values: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specific values from the model object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CI: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meaning: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= _____
  → This is large/small (circle one) because the difference in means
    is large/small relative to the variability (circle one).
df = _____
  → This is a non-integer. Why? (hint: Welch-Satterthwaite equation)
p-value = _____
  → In plain language, this means: if H₀ were true, the probability
    of seeing a t-statistic this extreme just by chance is _____.
95% CI = _____ to _____ g
  → This CI is for the ________________ (the true difference in means).
    It does / does not include zero (circle one).
    What does it mean when the CI excludes zero?
Mean shady = _____ g
Mean sunny = _____ 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State your decision and conclusion. Use the formal language of hypothesis testing.</a:t>
            </a:r>
          </a:p>
          <a:p>
            <a:pPr lvl="0" indent="0">
              <a:buNone/>
            </a:pPr>
            <a:r>
              <a:rPr>
                <a:latin typeface="Courier"/>
              </a:rPr>
              <a:t>Our p-value:
Our α:
Decision (circle one):   REJECT H₀   /   FAIL TO REJECT H₀
In one sentence, what does this mean biologically?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We never say “H₀ is true” or “H₀ is false.” We say “we reject H₀” (evidence was strong enough) or “we fail to reject H₀” (evidence was not strong enough). Statistics gives us a decision rule, not certainty.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Visualize &amp; report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4–5: build the figure with the statistics embedded, then write the results sentence.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Visualize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Boxplot with test statistics in the subtitle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with t and p embedded in subtitle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</a:t>
            </a:r>
            <a:r>
              <a:rPr>
                <a:latin typeface="Courier"/>
              </a:rPr>
              <a:t>subtitle</a:t>
            </a:r>
            <a:r>
              <a:rPr/>
              <a:t> line uses </a:t>
            </a:r>
            <a:r>
              <a:rPr>
                <a:latin typeface="Courier"/>
              </a:rPr>
              <a:t>paste0()</a:t>
            </a:r>
            <a:r>
              <a:rPr/>
              <a:t> to build the label from the model object. What happens to the subtitle if you re-run this with different data? Why is this better than typing the numbers yourself?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Write a scientific results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sentence as you would in a lab report or paper. Include:</a:t>
            </a:r>
          </a:p>
          <a:p>
            <a:pPr lvl="0"/>
            <a:r>
              <a:rPr/>
              <a:t>Which group was larger</a:t>
            </a:r>
          </a:p>
          <a:p>
            <a:pPr lvl="0"/>
            <a:r>
              <a:rPr/>
              <a:t>The word “significantly” (if appropriate)</a:t>
            </a:r>
          </a:p>
          <a:p>
            <a:pPr lvl="0"/>
            <a:r>
              <a:rPr/>
              <a:t>Test name, t-statistic, df, and </a:t>
            </a:r>
            <a:r>
              <a:rPr i="1"/>
              <a:t>p</a:t>
            </a:r>
            <a:r>
              <a:rPr/>
              <a:t>-value in parentheses</a:t>
            </a:r>
          </a:p>
          <a:p>
            <a:pPr lvl="0"/>
            <a:r>
              <a:rPr/>
              <a:t>Mean ± SE for both groups with units</a:t>
            </a:r>
          </a:p>
          <a:p>
            <a:pPr lvl="0" indent="0" marL="0">
              <a:buNone/>
            </a:pPr>
            <a:r>
              <a:rPr/>
              <a:t>Use this template:</a:t>
            </a:r>
          </a:p>
          <a:p>
            <a:pPr lvl="0" indent="0">
              <a:buNone/>
            </a:pPr>
            <a:r>
              <a:rPr>
                <a:latin typeface="Courier"/>
              </a:rPr>
              <a:t>"[Group] leaves were significantly [heavier / lighter] than [group] leaves
(Welch's two-sample t-test: t(___) = ___, p = ___).
Mean ± SE: [side 1] = ___ ± ___ g, [side 2] = ___ ± ___ g."</a:t>
            </a:r>
          </a:p>
          <a:p>
            <a:pPr lvl="0" indent="0" marL="0">
              <a:buNone/>
            </a:pPr>
            <a:r>
              <a:rPr/>
              <a:t>Write your sentence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results sentence: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Never write </a:t>
            </a:r>
            <a:r>
              <a:rPr sz="2000">
                <a:latin typeface="Courier"/>
              </a:rPr>
              <a:t>p = 0.000</a:t>
            </a:r>
            <a:r>
              <a:rPr sz="2000"/>
              <a:t>. Write </a:t>
            </a:r>
            <a:r>
              <a:rPr sz="2000">
                <a:latin typeface="Courier"/>
              </a:rPr>
              <a:t>p &lt; 0.001</a:t>
            </a:r>
            <a:r>
              <a:rPr sz="2000"/>
              <a:t> instead. A </a:t>
            </a:r>
            <a:r>
              <a:rPr sz="2000" i="1"/>
              <a:t>p</a:t>
            </a:r>
            <a:r>
              <a:rPr sz="2000"/>
              <a:t>-value is never exactly zero — it is just too small to display at three decimal places.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/>
              <a:t>☐ Extract t, df, p-value, CI, and group means from the model object</a:t>
            </a:r>
          </a:p>
          <a:p>
            <a:pPr lvl="0"/>
            <a:r>
              <a:rPr/>
              <a:t>☐ Make a formal reject / fail-to-reject decision at α = 0.05</a:t>
            </a:r>
          </a:p>
          <a:p>
            <a:pPr lvl="0"/>
            <a:r>
              <a:rPr/>
              <a:t>☐ Build a figure with the test statistics embedded in the subtitle</a:t>
            </a:r>
          </a:p>
          <a:p>
            <a:pPr lvl="0"/>
            <a:r>
              <a:rPr/>
              <a:t>☐ Write a complete results sentence in scientific format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your entire script from top to bottom with </a:t>
            </a:r>
            <a:r>
              <a:rPr b="1"/>
              <a:t>Ctrl/Cmd + Shift + Enter</a:t>
            </a:r>
            <a:r>
              <a:rPr/>
              <a:t>. Does it run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a second variable: </a:t>
            </a:r>
            <a:r>
              <a:rPr b="1">
                <a:latin typeface="Courier"/>
              </a:rPr>
              <a:t>height_cm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same t-test pipeline for height_cm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Stats recap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(height_cm)),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(height_cm,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2. Shapiro-Wilk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3. Levene's test for height_cm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4. Welch's t-test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leaf height also significantly different between sides? Fill in the results: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   df = _____   p = _____
Decision:
One-sentence conclusion: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Change the confidence level</a:t>
            </a:r>
          </a:p>
          <a:p>
            <a:pPr lvl="0" indent="0" marL="0">
              <a:buNone/>
            </a:pPr>
            <a:r>
              <a:rPr/>
              <a:t>By default </a:t>
            </a:r>
            <a:r>
              <a:rPr>
                <a:latin typeface="Courier"/>
              </a:rPr>
              <a:t>t.test()</a:t>
            </a:r>
            <a:r>
              <a:rPr/>
              <a:t> reports a 95% CI (</a:t>
            </a:r>
            <a:r>
              <a:rPr>
                <a:latin typeface="Courier"/>
              </a:rPr>
              <a:t>conf.level = 0.95</a:t>
            </a:r>
            <a:r>
              <a:rPr/>
              <a:t>). Try 99%: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weight t-test with 99% confidence interval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conf.level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99% CI instead of 95%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did the 99% CI compare to the 95% CI? Why is the 99% CI wider?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was: _____ to _____
99% CI was: _____ to _____
Why wider: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</a:t>
            </a:r>
            <a:r>
              <a:rPr>
                <a:latin typeface="Courier"/>
              </a:rPr>
              <a:t>figures/</a:t>
            </a:r>
            <a:r>
              <a:rPr/>
              <a:t> folder should contain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project/
├── data/
│   └── 2026_06_25_tree_experiment_raw_data.xlsx
├── figures/
│   ├── leaf_weight_mean_se.png            &lt;- from Worksheet 03 (GGPlot I)
│   └── leaf_weight_boxplot_ttest.png      &lt;- from this worksheet
└── scripts/
    └── 10_leaf_ttest.R                    &lt;- your script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t.test()</a:t>
            </a:r>
            <a:r>
              <a:rPr b="1"/>
              <a:t> formula:</a:t>
            </a:r>
            <a:r>
              <a:rPr/>
              <a:t> the grouping variable goes on the </a:t>
            </a:r>
            <a:r>
              <a:rPr i="1"/>
              <a:t>right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  <a:r>
              <a:rPr/>
              <a:t> and must have exactly </a:t>
            </a:r>
            <a:r>
              <a:rPr b="1"/>
              <a:t>two levels</a:t>
            </a:r>
            <a:r>
              <a:rPr/>
              <a:t>. Check with </a:t>
            </a:r>
            <a:r>
              <a:rPr>
                <a:latin typeface="Courier"/>
              </a:rPr>
              <a:t>unique(tree_df$side)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Notice that nothing in the five-step sequence — hypotheses → normality → variance → test → report — was specific to leaf weight or to comparing exactly two sides. Swap in three species instead of two, and it’s the same sequence you’ll run for ANOVA next.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10. Next: Worksheet 11 — regression.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10 - T-Tests II: Running &amp; Reporting the Test</dc:title>
  <dc:creator>Bill Perry</dc:creator>
  <cp:keywords/>
  <dc:description>Hands-on companion to T-Tests II: run a Welch’s two-sample t-test in R, decode the output, make a decision, and write up the results.</dc:description>
  <dcterms:created xsi:type="dcterms:W3CDTF">2026-08-27T17:12:58Z</dcterms:created>
  <dcterms:modified xsi:type="dcterms:W3CDTF">2026-08-27T17:12:58Z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5</vt:lpwstr>
  </property>
</Properties>
</file>