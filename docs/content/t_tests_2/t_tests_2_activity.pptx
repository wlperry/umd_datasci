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— T-Tests II: Running, Reporting &amp; Extension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Welch’s t-test, reading the output, and writing it up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In-class Activity 10: Running &amp; Reporting the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the T-Tests I worksheet</a:t>
            </a:r>
          </a:p>
          <a:p>
            <a:pPr lvl="0"/>
            <a:r>
              <a:rPr/>
              <a:t>Stated H₀ and Hₐ formally (two-tailed, α = 0.05)</a:t>
            </a:r>
          </a:p>
          <a:p>
            <a:pPr lvl="0"/>
            <a:r>
              <a:rPr/>
              <a:t>Checked normality with a histogram and Shapiro-Wilk</a:t>
            </a:r>
          </a:p>
          <a:p>
            <a:pPr lvl="0"/>
            <a:r>
              <a:rPr/>
              <a:t>Checked variance with Levene’s test</a:t>
            </a:r>
          </a:p>
          <a:p>
            <a:pPr lvl="0"/>
            <a:r>
              <a:rPr/>
              <a:t>Decided: proceed with Welch’s t-test (</a:t>
            </a:r>
            <a:r>
              <a:rPr>
                <a:latin typeface="Courier"/>
              </a:rPr>
              <a:t>var.equal = FALSE</a:t>
            </a:r>
            <a:r>
              <a:rPr/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Run a Welch’s two-sample t-test (</a:t>
            </a:r>
            <a:r>
              <a:rPr>
                <a:latin typeface="Courier"/>
              </a:rPr>
              <a:t>var.equal = FALSE</a:t>
            </a:r>
            <a:r>
              <a:rPr/>
              <a:t>, two-tailed)</a:t>
            </a:r>
          </a:p>
          <a:p>
            <a:pPr lvl="0" indent="-342900" marL="342900">
              <a:buAutoNum type="arabicPeriod"/>
            </a:pPr>
            <a:r>
              <a:rPr/>
              <a:t>Read and decode every line of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  <a:p>
            <a:pPr lvl="0" indent="-342900" marL="342900">
              <a:buAutoNum type="arabicPeriod"/>
            </a:pPr>
            <a:r>
              <a:rPr/>
              <a:t>Make a formal statistical decision and state a conclusion</a:t>
            </a:r>
          </a:p>
          <a:p>
            <a:pPr lvl="0" indent="-342900" marL="342900">
              <a:buAutoNum type="arabicPeriod"/>
            </a:pPr>
            <a:r>
              <a:rPr/>
              <a:t>Write a results sentence in proper scientific format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each part in order — the steps build on each other. Type the code into your script in Positron and run it line by line.</a:t>
            </a:r>
          </a:p>
          <a:p>
            <a:pPr lvl="0"/>
            <a:r>
              <a:rPr sz="2000"/>
              <a:t>Code 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0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 something.</a:t>
            </a:r>
          </a:p>
          <a:p>
            <a:pPr lvl="0"/>
            <a:r>
              <a:rPr sz="2000"/>
              <a:t>The </a:t>
            </a:r>
            <a:r>
              <a:rPr sz="2000" b="1"/>
              <a:t>Extension</a:t>
            </a:r>
            <a:r>
              <a:rPr sz="2000"/>
              <a:t> at the end is done out of class (~30–40 min) and turned in with the worksheet.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Run &amp; interpret </a:t>
            </a:r>
            <a:r>
              <a:rPr sz="2000" b="1" i="1"/>
              <a:t>(after lecture Chunk 1)</a:t>
            </a:r>
          </a:p>
          <a:p>
            <a:pPr lvl="0" indent="0" marL="1270000">
              <a:buNone/>
            </a:pPr>
            <a:r>
              <a:rPr sz="2000"/>
              <a:t>Parts 1–3: run the test, decode the output, and decide.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data, and recap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the script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</a:t>
            </a:r>
            <a:r>
              <a:rPr>
                <a:solidFill>
                  <a:srgbClr val="5E5E5E"/>
                </a:solidFill>
                <a:latin typeface="Courier"/>
              </a:rPr>
              <a:t># Levene's test for variance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and rerun last lecture's checks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recap_df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recap_df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From the T-Tests I worksheet, what was your decision about normality and variance? Were you clear to proceed with Welch’s?</a:t>
            </a:r>
          </a:p>
          <a:p>
            <a:pPr lvl="0" indent="0">
              <a:buNone/>
            </a:pPr>
            <a:r>
              <a:rPr>
                <a:latin typeface="Courier"/>
              </a:rPr>
              <a:t>Normality decision:
Variance (Levene's) decision:
Proceed with Welch's?  Y / 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Run the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Write down a guess for the </a:t>
            </a:r>
            <a:r>
              <a:rPr sz="2000" i="1"/>
              <a:t>p</a:t>
            </a:r>
            <a:r>
              <a:rPr sz="2000"/>
              <a:t>-value now — above or below 0.05? Then run </a:t>
            </a:r>
            <a:r>
              <a:rPr sz="2000">
                <a:latin typeface="Courier"/>
              </a:rPr>
              <a:t>t.test()</a:t>
            </a:r>
            <a:r>
              <a:rPr sz="2000"/>
              <a:t> and see how close you were.</a:t>
            </a:r>
          </a:p>
          <a:p>
            <a:pPr lvl="0" indent="0" marL="0">
              <a:buNone/>
            </a:pPr>
            <a:r>
              <a:rPr/>
              <a:t>Now that we have checked our assumptions, we can run the test.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         </a:t>
            </a:r>
            <a:r>
              <a:rPr>
                <a:solidFill>
                  <a:srgbClr val="5E5E5E"/>
                </a:solidFill>
                <a:latin typeface="Courier"/>
              </a:rPr>
              <a:t># response ~ grouping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       =</a:t>
            </a:r>
            <a:r>
              <a:rPr>
                <a:solidFill>
                  <a:srgbClr val="003B4F"/>
                </a:solidFill>
                <a:latin typeface="Courier"/>
              </a:rPr>
              <a:t> 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var.equal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Welch's — no pooled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two-tailed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leaf_ttest_model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Copy the full output below:</a:t>
            </a:r>
          </a:p>
          <a:p>
            <a:pPr lvl="0" indent="0">
              <a:buNone/>
            </a:pPr>
            <a:r>
              <a:rPr>
                <a:latin typeface="Courier"/>
              </a:rPr>
              <a:t>Paste or write the t.test() output here: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Decode the output and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to extract individual values: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specific values from the model object 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"df (Welch):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"p-value: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 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"95% CI: 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shady: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sunny: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Match each piece of output to its meaning: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 = _____
  → This is large/small (circle one) because the difference in means
    is large/small relative to the variability (circle one).
df = _____
  → This is a non-integer. Why? (hint: Welch-Satterthwaite equation)
p-value = _____
  → In plain language, this means: if H₀ were true, the probability
    of seeing a t-statistic this extreme just by chance is _____.
95% CI = _____ to _____ g
  → This CI is for the ________________ (the true difference in means).
    It does / does not include zero (circle one).
    What does it mean when the CI excludes zero?
Mean shady = _____ g
Mean sunny = _____ g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State your decision and conclusion. Use the formal language of hypothesis testing.</a:t>
            </a:r>
          </a:p>
          <a:p>
            <a:pPr lvl="0" indent="0">
              <a:buNone/>
            </a:pPr>
            <a:r>
              <a:rPr>
                <a:latin typeface="Courier"/>
              </a:rPr>
              <a:t>Our p-value:
Our α:
Decision (circle one):   REJECT H₀   /   FAIL TO REJECT H₀
In one sentence, what does this mean biologically?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We never say “H₀ is true” or “H₀ is false.” We say “we reject H₀” (evidence was strong enough) or “we fail to reject H₀” (evidence was not strong enough). Statistics gives us a decision rule, not certainty.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Visualize &amp; report </a:t>
            </a:r>
            <a:r>
              <a:rPr sz="2000" b="1" i="1"/>
              <a:t>(after lecture Chunk 2)</a:t>
            </a:r>
          </a:p>
          <a:p>
            <a:pPr lvl="0" indent="0" marL="1270000">
              <a:buNone/>
            </a:pPr>
            <a:r>
              <a:rPr sz="2000"/>
              <a:t>Parts 4–5: build the figure with the statistics embedded, then write the results sentence.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Visualize 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Boxplot with test statistics in the subtitle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Boxplot with t and p embedded in subtitle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leaf_box_10_plot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"Welch's t-test: t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", p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leaf_box_10_plot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The </a:t>
            </a:r>
            <a:r>
              <a:rPr>
                <a:latin typeface="Courier"/>
              </a:rPr>
              <a:t>subtitle</a:t>
            </a:r>
            <a:r>
              <a:rPr/>
              <a:t> line uses </a:t>
            </a:r>
            <a:r>
              <a:rPr>
                <a:latin typeface="Courier"/>
              </a:rPr>
              <a:t>paste0()</a:t>
            </a:r>
            <a:r>
              <a:rPr/>
              <a:t> to build the label from the model object. What happens to the subtitle if you re-run this with different data? Why is this better than typing the numbers yourself?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Save the plot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"figures/leaf_weight_boxplot_ttest.png"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leaf_box_10_plot,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Write a scientific results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complete results sentence as you would in a lab report or paper. Include:</a:t>
            </a:r>
          </a:p>
          <a:p>
            <a:pPr lvl="0"/>
            <a:r>
              <a:rPr/>
              <a:t>Which group was larger</a:t>
            </a:r>
          </a:p>
          <a:p>
            <a:pPr lvl="0"/>
            <a:r>
              <a:rPr/>
              <a:t>The word “significantly” (if appropriate)</a:t>
            </a:r>
          </a:p>
          <a:p>
            <a:pPr lvl="0"/>
            <a:r>
              <a:rPr/>
              <a:t>Test name, t-statistic, df, and </a:t>
            </a:r>
            <a:r>
              <a:rPr i="1"/>
              <a:t>p</a:t>
            </a:r>
            <a:r>
              <a:rPr/>
              <a:t>-value in parentheses</a:t>
            </a:r>
          </a:p>
          <a:p>
            <a:pPr lvl="0"/>
            <a:r>
              <a:rPr/>
              <a:t>Mean ± SE for both groups with units</a:t>
            </a:r>
          </a:p>
          <a:p>
            <a:pPr lvl="0" indent="0" marL="0">
              <a:buNone/>
            </a:pPr>
            <a:r>
              <a:rPr/>
              <a:t>Use this template:</a:t>
            </a:r>
          </a:p>
          <a:p>
            <a:pPr lvl="0" indent="0">
              <a:buNone/>
            </a:pPr>
            <a:r>
              <a:rPr>
                <a:latin typeface="Courier"/>
              </a:rPr>
              <a:t>"[Group] leaves were significantly [heavier / lighter] than [group] leaves
(Welch's two-sample t-test: t(___) = ___, p = ___).
Mean ± SE: [side 1] = ___ ± ___ g, [side 2] = ___ ± ___ g."</a:t>
            </a:r>
          </a:p>
          <a:p>
            <a:pPr lvl="0" indent="0" marL="0">
              <a:buNone/>
            </a:pPr>
            <a:r>
              <a:rPr/>
              <a:t>Write your sentence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Your results sentence: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Never write </a:t>
            </a:r>
            <a:r>
              <a:rPr sz="2000">
                <a:latin typeface="Courier"/>
              </a:rPr>
              <a:t>p = 0.000</a:t>
            </a:r>
            <a:r>
              <a:rPr sz="2000"/>
              <a:t>. Write </a:t>
            </a:r>
            <a:r>
              <a:rPr sz="2000">
                <a:latin typeface="Courier"/>
              </a:rPr>
              <a:t>p &lt; 0.001</a:t>
            </a:r>
            <a:r>
              <a:rPr sz="2000"/>
              <a:t> instead. A </a:t>
            </a:r>
            <a:r>
              <a:rPr sz="2000" i="1"/>
              <a:t>p</a:t>
            </a:r>
            <a:r>
              <a:rPr sz="2000"/>
              <a:t>-value is never exactly zero — it is just too small to display at three decimal places.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Run </a:t>
            </a:r>
            <a:r>
              <a:rPr>
                <a:latin typeface="Courier"/>
              </a:rPr>
              <a:t>t.test(y ~ group, data, var.equal = FALSE, alternative = "two.sided")</a:t>
            </a:r>
          </a:p>
          <a:p>
            <a:pPr lvl="0"/>
            <a:r>
              <a:rPr/>
              <a:t>☐ Extract t, df, p-value, CI, and group means from the model object</a:t>
            </a:r>
          </a:p>
          <a:p>
            <a:pPr lvl="0"/>
            <a:r>
              <a:rPr/>
              <a:t>☐ Make a formal reject / fail-to-reject decision at α = 0.05</a:t>
            </a:r>
          </a:p>
          <a:p>
            <a:pPr lvl="0"/>
            <a:r>
              <a:rPr/>
              <a:t>☐ Build a figure with the test statistics embedded in the subtitle</a:t>
            </a:r>
          </a:p>
          <a:p>
            <a:pPr lvl="0"/>
            <a:r>
              <a:rPr/>
              <a:t>☐ Write a complete results sentence in scientific format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Run your entire script from top to bottom with </a:t>
            </a:r>
            <a:r>
              <a:rPr b="1"/>
              <a:t>Ctrl/Cmd + Shift + Enter</a:t>
            </a:r>
            <a:r>
              <a:rPr/>
              <a:t>. Does it run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Extension — out of class (~30–40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Turn this in with your worksheet. In class we ran a </a:t>
            </a:r>
            <a:r>
              <a:rPr b="1" i="1"/>
              <a:t>two-tailed</a:t>
            </a:r>
            <a:r>
              <a:rPr i="1"/>
              <a:t> test on leaf weight. The extension changes two things: a </a:t>
            </a:r>
            <a:r>
              <a:rPr b="1" i="1"/>
              <a:t>new variable you choose</a:t>
            </a:r>
            <a:r>
              <a:rPr i="1"/>
              <a:t> and a </a:t>
            </a:r>
            <a:r>
              <a:rPr b="1" i="1"/>
              <a:t>one-tailed (directional) hypothesis</a:t>
            </a:r>
            <a:r>
              <a:rPr i="1"/>
              <a:t> — which behaves differently and is easy to misuse.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The prediction and explanation in </a:t>
            </a:r>
            <a:r>
              <a:rPr sz="2000" b="1"/>
              <a:t>E2 and E3 must be handwritten</a:t>
            </a:r>
            <a:r>
              <a:rPr sz="2000"/>
              <a:t> on paper, photographed, and embedded in your submission (</a:t>
            </a:r>
            <a:r>
              <a:rPr sz="2000">
                <a:latin typeface="Courier"/>
              </a:rPr>
              <a:t>![caption](my_photo.jpg)</a:t>
            </a:r>
            <a:r>
              <a:rPr sz="2000"/>
              <a:t>). Typed answers to E2/E3 get </a:t>
            </a:r>
            <a:r>
              <a:rPr sz="2000" b="1"/>
              <a:t>at most half credit, even if correct</a:t>
            </a:r>
            <a:r>
              <a:rPr sz="2000"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E1 · A directional test on a new variable (3 pts)</a:t>
            </a:r>
          </a:p>
          <a:p>
            <a:pPr lvl="0" indent="0" marL="0">
              <a:buNone/>
            </a:pPr>
            <a:r>
              <a:rPr/>
              <a:t>Pick </a:t>
            </a:r>
            <a:r>
              <a:rPr b="1"/>
              <a:t>one</a:t>
            </a:r>
            <a:r>
              <a:rPr/>
              <a:t> variable you did </a:t>
            </a:r>
            <a:r>
              <a:rPr b="1"/>
              <a:t>not</a:t>
            </a:r>
            <a:r>
              <a:rPr/>
              <a:t> test in class: </a:t>
            </a:r>
            <a:r>
              <a:rPr>
                <a:latin typeface="Courier"/>
              </a:rPr>
              <a:t>height_cm</a:t>
            </a:r>
            <a:r>
              <a:rPr/>
              <a:t> or </a:t>
            </a:r>
            <a:r>
              <a:rPr>
                <a:latin typeface="Courier"/>
              </a:rPr>
              <a:t>width_cm</a:t>
            </a:r>
            <a:r>
              <a:rPr/>
              <a:t>. Write down which you picked and, </a:t>
            </a:r>
            <a:r>
              <a:rPr i="1"/>
              <a:t>before running anything</a:t>
            </a:r>
            <a:r>
              <a:rPr/>
              <a:t>, a </a:t>
            </a:r>
            <a:r>
              <a:rPr b="1"/>
              <a:t>directional</a:t>
            </a:r>
            <a:r>
              <a:rPr/>
              <a:t> hypothesis — e.g. “shady leaves are </a:t>
            </a:r>
            <a:r>
              <a:rPr b="1"/>
              <a:t>larger</a:t>
            </a:r>
            <a:r>
              <a:rPr/>
              <a:t>”, i.e. Hₐ: μ_shady &gt; μ_sunny.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Replace ___ with "height_cm" or "width_cm".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alternative is "greater"/"less" for the FIRST group alphabetically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("shady" comes before "sunny"), so "shady larger" = "greater".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one_tail_model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___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       =</a:t>
            </a:r>
            <a:r>
              <a:rPr>
                <a:solidFill>
                  <a:srgbClr val="003B4F"/>
                </a:solidFill>
                <a:latin typeface="Courier"/>
              </a:rPr>
              <a:t> 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var.equal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"greater"</a:t>
            </a:r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&lt;- directional; change if your Ha points the other way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one_tail_model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For comparison, the two-tailed version of the SAME test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(___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Record:</a:t>
            </a:r>
          </a:p>
          <a:p>
            <a:pPr lvl="0" indent="0">
              <a:buNone/>
            </a:pPr>
            <a:r>
              <a:rPr>
                <a:latin typeface="Courier"/>
              </a:rPr>
              <a:t>Variable chosen:
Directional Ha (in symbols):
One-tailed p-value:
Two-tailed p-value:
Ratio (two-tailed / one-tailed) ≈
Decision at alpha = 0.05: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E2 · Predict, then check — ✍️ by hand (3 pts)</a:t>
            </a:r>
          </a:p>
          <a:p>
            <a:pPr lvl="0" indent="0" marL="0">
              <a:buNone/>
            </a:pPr>
            <a:r>
              <a:rPr b="1"/>
              <a:t>Before running E1</a:t>
            </a:r>
            <a:r>
              <a:rPr/>
              <a:t>, on paper:</a:t>
            </a:r>
          </a:p>
          <a:p>
            <a:pPr lvl="0" indent="-342900" marL="342900">
              <a:buAutoNum type="arabicPeriod"/>
            </a:pPr>
            <a:r>
              <a:rPr/>
              <a:t>Predict the relationship between the one-tailed and two-tailed </a:t>
            </a:r>
            <a:r>
              <a:rPr i="1"/>
              <a:t>p</a:t>
            </a:r>
            <a:r>
              <a:rPr/>
              <a:t>-values for the same data. Which is smaller, and roughly by how much?</a:t>
            </a:r>
          </a:p>
          <a:p>
            <a:pPr lvl="0" indent="-342900" marL="342900">
              <a:buAutoNum type="arabicPeriod"/>
            </a:pPr>
            <a:r>
              <a:rPr/>
              <a:t>Predict whether your chosen variable will differ significantly between sides, and why.</a:t>
            </a:r>
          </a:p>
          <a:p>
            <a:pPr lvl="0" indent="0" marL="0">
              <a:buNone/>
            </a:pPr>
            <a:r>
              <a:rPr/>
              <a:t>Then run E1 and, by hand, write your actual one- and two-tailed </a:t>
            </a:r>
            <a:r>
              <a:rPr i="1"/>
              <a:t>p</a:t>
            </a:r>
            <a:r>
              <a:rPr/>
              <a:t>-values and whether your predictions held.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E3 · Explain it — ✍️ by hand, with YOUR numbers (3 pts)</a:t>
            </a:r>
          </a:p>
          <a:p>
            <a:pPr lvl="0" indent="0" marL="0">
              <a:buNone/>
            </a:pPr>
            <a:r>
              <a:rPr/>
              <a:t>Using your real output:</a:t>
            </a:r>
          </a:p>
          <a:p>
            <a:pPr lvl="0" indent="-342900" marL="342900">
              <a:buAutoNum type="arabicPeriod"/>
            </a:pPr>
            <a:r>
              <a:rPr/>
              <a:t>Explain </a:t>
            </a:r>
            <a:r>
              <a:rPr i="1"/>
              <a:t>why</a:t>
            </a:r>
            <a:r>
              <a:rPr/>
              <a:t> the one-tailed </a:t>
            </a:r>
            <a:r>
              <a:rPr i="1"/>
              <a:t>p</a:t>
            </a:r>
            <a:r>
              <a:rPr/>
              <a:t>-value is (about) half the two-tailed one — in terms of where the rejection region sits on the </a:t>
            </a:r>
            <a:r>
              <a:rPr i="1"/>
              <a:t>t</a:t>
            </a:r>
            <a:r>
              <a:rPr/>
              <a:t> distribution.</a:t>
            </a:r>
          </a:p>
          <a:p>
            <a:pPr lvl="0" indent="-342900" marL="342900">
              <a:buAutoNum type="arabicPeriod"/>
            </a:pPr>
            <a:r>
              <a:rPr/>
              <a:t>A one-tailed test is only legitimate if the direction was chosen </a:t>
            </a:r>
            <a:r>
              <a:rPr b="1"/>
              <a:t>before</a:t>
            </a:r>
            <a:r>
              <a:rPr/>
              <a:t> seeing the data. Explain, in plain language, what goes wrong if a researcher runs a two-tailed test, sees </a:t>
            </a:r>
            <a:r>
              <a:rPr i="1"/>
              <a:t>p</a:t>
            </a:r>
            <a:r>
              <a:rPr/>
              <a:t> = 0.08, and then switches to the one-tailed test that “works”.</a:t>
            </a:r>
          </a:p>
          <a:p>
            <a:pPr lvl="0" indent="-342900" marL="342900">
              <a:buAutoNum type="arabicPeriod"/>
            </a:pPr>
            <a:r>
              <a:rPr/>
              <a:t>If your one-tailed result is significant but the two-tailed result is not, which would you report in a paper, and why?</a:t>
            </a:r>
          </a:p>
          <a:p>
            <a:pPr lvl="0" indent="0" marL="1270000">
              <a:buNone/>
            </a:pPr>
            <a:r>
              <a:rPr sz="2000"/>
              <a:t>Optional, no points: rerun E1 with </a:t>
            </a:r>
            <a:r>
              <a:rPr sz="2000">
                <a:latin typeface="Courier"/>
              </a:rPr>
              <a:t>conf.level = 0.99</a:t>
            </a:r>
            <a:r>
              <a:rPr sz="2000"/>
              <a:t> and note how the CI changes — and why a one-tailed </a:t>
            </a:r>
            <a:r>
              <a:rPr sz="2000">
                <a:latin typeface="Courier"/>
              </a:rPr>
              <a:t>t.test()</a:t>
            </a:r>
            <a:r>
              <a:rPr sz="2000"/>
              <a:t> reports a </a:t>
            </a:r>
            <a:r>
              <a:rPr sz="2000" b="1"/>
              <a:t>one-sided</a:t>
            </a:r>
            <a:r>
              <a:rPr sz="2000"/>
              <a:t> CI (</a:t>
            </a:r>
            <a:r>
              <a:rPr sz="2000">
                <a:latin typeface="Courier"/>
              </a:rPr>
              <a:t>-Inf</a:t>
            </a:r>
            <a:r>
              <a:rPr sz="2000"/>
              <a:t> or </a:t>
            </a:r>
            <a:r>
              <a:rPr sz="2000">
                <a:latin typeface="Courier"/>
              </a:rPr>
              <a:t>Inf</a:t>
            </a:r>
            <a:r>
              <a:rPr sz="2000"/>
              <a:t> at one end).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finished </a:t>
            </a:r>
            <a:r>
              <a:rPr>
                <a:latin typeface="Courier"/>
              </a:rPr>
              <a:t>figures/</a:t>
            </a:r>
            <a:r>
              <a:rPr/>
              <a:t> folder should contain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project/
├── data/
│   └── 2026_06_25_tree_experiment_raw_data.xlsx
├── figures/
│   ├── leaf_weight_mean_se.png            &lt;- from Worksheet 03 (GGPlot I)
│   └── leaf_weight_boxplot_ttest.png      &lt;- from this worksheet
└── scripts/
    └── 10_leaf_ttest.R                    &lt;- your script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t.test()</a:t>
            </a:r>
            <a:r>
              <a:rPr b="1"/>
              <a:t> formula:</a:t>
            </a:r>
            <a:r>
              <a:rPr/>
              <a:t> the grouping variable goes on the </a:t>
            </a:r>
            <a:r>
              <a:rPr i="1"/>
              <a:t>right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  <a:r>
              <a:rPr/>
              <a:t> and must have exactly </a:t>
            </a:r>
            <a:r>
              <a:rPr b="1"/>
              <a:t>two levels</a:t>
            </a:r>
            <a:r>
              <a:rPr/>
              <a:t>. Check with </a:t>
            </a:r>
            <a:r>
              <a:rPr>
                <a:latin typeface="Courier"/>
              </a:rPr>
              <a:t>unique(tree_df$side)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class, Canvas,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Notice that nothing in the five-step sequence — hypotheses → normality → variance → test → report — was specific to leaf weight or to comparing exactly two sides. Swap in three species instead of two, and it’s the same sequence you’ll run for ANOVA next.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the T-Tests II worksheet. Next: regression.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— T-Tests II: Running, Reporting &amp; Extension</dc:title>
  <dc:creator>Bill Perry</dc:creator>
  <cp:keywords/>
  <dc:description>Hands-on companion to T-Tests II: run a Welch’s two-sample t-test in R, decode the output, make a decision, and write up the results.</dc:description>
  <dcterms:created xsi:type="dcterms:W3CDTF">2026-08-27T20:06:36Z</dcterms:created>
  <dcterms:modified xsi:type="dcterms:W3CDTF">2026-08-27T20:06:36Z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10</vt:lpwstr>
  </property>
  <property fmtid="{D5CDD505-2E9C-101B-9397-08002B2CF9AE}" pid="13" name="resources">
    <vt:lpwstr/>
  </property>
  <property fmtid="{D5CDD505-2E9C-101B-9397-08002B2CF9AE}" pid="14" name="subtitle">
    <vt:lpwstr>Running Welch’s t-test, reading the output, and writing it up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5</vt:lpwstr>
  </property>
</Properties>
</file>