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studio.github.io/cheatsheets/factors.pdf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10 — Factors: Ordering and Cleaning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Reorder, rename, and lump penguin categories with forcats — for cleaner plots and models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Factors — Taking Control of Categorical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ANOVA worksheet</a:t>
            </a:r>
          </a:p>
          <a:p>
            <a:pPr lvl="0"/>
            <a:r>
              <a:rPr/>
              <a:t>Fit a one-way ANOVA on penguin body mass by species</a:t>
            </a:r>
          </a:p>
          <a:p>
            <a:pPr lvl="0"/>
            <a:r>
              <a:rPr/>
              <a:t>Found all three species differ; Gentoo heaviest</a:t>
            </a:r>
          </a:p>
          <a:p>
            <a:pPr lvl="0"/>
            <a:r>
              <a:rPr/>
              <a:t>Every plot showed species in </a:t>
            </a:r>
            <a:r>
              <a:rPr b="1"/>
              <a:t>alphabetical</a:t>
            </a:r>
            <a:r>
              <a:rPr/>
              <a:t> order — today we fix that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Inspect factors and their levels</a:t>
            </a:r>
          </a:p>
          <a:p>
            <a:pPr lvl="0" indent="-342900" marL="342900">
              <a:buAutoNum type="arabicPeriod"/>
            </a:pPr>
            <a:r>
              <a:rPr/>
              <a:t>Reorder levels for readable bar charts and boxplots</a:t>
            </a:r>
          </a:p>
          <a:p>
            <a:pPr lvl="0" indent="-342900" marL="342900">
              <a:buAutoNum type="arabicPeriod"/>
            </a:pPr>
            <a:r>
              <a:rPr/>
              <a:t>Rename, collapse, and lump levels</a:t>
            </a:r>
          </a:p>
          <a:p>
            <a:pPr lvl="0" indent="-342900" marL="342900">
              <a:buAutoNum type="arabicPeriod"/>
            </a:pPr>
            <a:r>
              <a:rPr/>
              <a:t>Set the reference group for an ANOVA and drop unused levels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</a:t>
            </a:r>
            <a:r>
              <a:rPr sz="2000" i="1"/>
              <a:t>predict</a:t>
            </a:r>
            <a:r>
              <a:rPr sz="2000"/>
              <a:t> the order the plot will use or the output you’ll see. Then type the code yourself. With factors the whole game is the </a:t>
            </a:r>
            <a:r>
              <a:rPr sz="2000" i="1"/>
              <a:t>order of the levels</a:t>
            </a:r>
            <a:r>
              <a:rPr sz="2000"/>
              <a:t> — predicting it first is how you learn to control it, and typing builds the muscle memory for the </a:t>
            </a:r>
            <a:r>
              <a:rPr sz="2000">
                <a:latin typeface="Courier"/>
              </a:rPr>
              <a:t>fct_</a:t>
            </a:r>
            <a:r>
              <a:rPr sz="2000"/>
              <a:t> family.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What a factor is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penguins and inspect their factors.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line to use a different dataset later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forcats</a:t>
            </a:r>
            <a:r>
              <a:rPr sz="2000"/>
              <a:t> loads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you do NOT need a separate </a:t>
            </a:r>
            <a:r>
              <a:rPr sz="2000">
                <a:latin typeface="Courier"/>
              </a:rPr>
              <a:t>library(forcats)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is it a factor?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</a:t>
            </a:r>
            <a:r>
              <a:rPr>
                <a:solidFill>
                  <a:srgbClr val="5E5E5E"/>
                </a:solidFill>
                <a:latin typeface="Courier"/>
              </a:rPr>
              <a:t># the ordered levels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# count per level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Is species a factor?  Y / N
Levels, in order:
Which species has the most rows?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the same three lines on </a:t>
            </a:r>
            <a:r>
              <a:rPr>
                <a:latin typeface="Courier"/>
              </a:rPr>
              <a:t>island</a:t>
            </a:r>
            <a:r>
              <a:rPr/>
              <a:t>. How many levels does it have, and what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island levels: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See the default (alphabetical)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In what order will the three species bars appear if you give no ordering instruction?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is alphabetical rarely the order you actually want?</a:t>
            </a:r>
          </a:p>
          <a:p>
            <a:pPr lvl="0" indent="0">
              <a:buNone/>
            </a:pPr>
            <a:r>
              <a:rPr>
                <a:latin typeface="Courier"/>
              </a:rPr>
              <a:t>Order shown:
Why alphabetical is a poor default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Reorder for readable plots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reorder bars and boxplots by frequency and by value.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Order bars by frequency with </a:t>
            </a:r>
            <a:r>
              <a:rPr>
                <a:latin typeface="Courier"/>
              </a:rPr>
              <a:t>fct_infreq()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Most common species first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</a:t>
            </a:r>
            <a:r>
              <a:rPr>
                <a:latin typeface="Courier"/>
              </a:rPr>
              <a:t>fct_rev()</a:t>
            </a:r>
            <a:r>
              <a:rPr/>
              <a:t> to flip it to least-common-first. Write the one changed line.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mutate() line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Order a boxplot by value with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We’ll order species by their median body mass. Which species ends up last (heaviest)?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order did the species come out in? Does the plot read more clearly than the alphabetical one?</a:t>
            </a:r>
          </a:p>
          <a:p>
            <a:pPr lvl="0" indent="0">
              <a:buNone/>
            </a:pPr>
            <a:r>
              <a:rPr>
                <a:latin typeface="Courier"/>
              </a:rPr>
              <a:t>New order (lightest -&gt; heaviest):
Clearer?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.fun = median</a:t>
            </a:r>
            <a:r>
              <a:rPr/>
              <a:t> to </a:t>
            </a:r>
            <a:r>
              <a:rPr>
                <a:latin typeface="Courier"/>
              </a:rPr>
              <a:t>.fun = mean</a:t>
            </a:r>
            <a:r>
              <a:rPr/>
              <a:t>. Did the order change? Why might mean and median give the same order here?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 ordered ranking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biggest bar on top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fct_rev()</a:t>
            </a:r>
            <a:r>
              <a:rPr/>
              <a:t> do here? Remove it and describe what changes.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now inspect and reorder factors. Day 2 covers renaming, lumping, and models.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Rename, collapse, lump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clean up level labels.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Rename levels with </a:t>
            </a:r>
            <a:r>
              <a:rPr>
                <a:latin typeface="Courier"/>
              </a:rPr>
              <a:t>fct_recode()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report-ready names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fct_recode()</a:t>
            </a:r>
            <a:r>
              <a:rPr/>
              <a:t>, which name goes on the left — the new one or the old one?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Collapse and lump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(collapse species into size groups):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 marL="0">
              <a:buNone/>
            </a:pPr>
            <a:r>
              <a:rPr b="1"/>
              <a:t>▶ Run this (lump islands, keep the top 2):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After lumping, what is the third island called, and how many rows landed in it?</a:t>
            </a:r>
          </a:p>
          <a:p>
            <a:pPr lvl="0" indent="0">
              <a:buNone/>
            </a:pPr>
            <a:r>
              <a:rPr>
                <a:latin typeface="Courier"/>
              </a:rPr>
              <a:t>Lumped level name:
n in that level: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The </a:t>
            </a:r>
            <a:r>
              <a:rPr>
                <a:latin typeface="Courier"/>
              </a:rPr>
              <a:t>as.numeric()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years</a:t>
            </a:r>
            <a:r>
              <a:rPr sz="2000"/>
              <a:t> below is a factor holding “2010”, “2011”, “2012”. What will </a:t>
            </a:r>
            <a:r>
              <a:rPr sz="2000">
                <a:latin typeface="Courier"/>
              </a:rPr>
              <a:t>as.numeric(years)</a:t>
            </a:r>
            <a:r>
              <a:rPr sz="2000"/>
              <a:t> return?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                 </a:t>
            </a:r>
            <a:r>
              <a:rPr>
                <a:solidFill>
                  <a:srgbClr val="5E5E5E"/>
                </a:solidFill>
                <a:latin typeface="Courier"/>
              </a:rPr>
              <a:t># what comes out?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   </a:t>
            </a:r>
            <a:r>
              <a:rPr>
                <a:solidFill>
                  <a:srgbClr val="5E5E5E"/>
                </a:solidFill>
                <a:latin typeface="Courier"/>
              </a:rPr>
              <a:t># and this?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the difference in one sentence.</a:t>
            </a:r>
          </a:p>
          <a:p>
            <a:pPr lvl="0" indent="0">
              <a:buNone/>
            </a:pPr>
            <a:r>
              <a:rPr>
                <a:latin typeface="Courier"/>
              </a:rPr>
              <a:t>as.numeric(years) gave:
as.numeric(as.character(years)) gave:
Why they differ: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 factor is stored as integer </a:t>
            </a:r>
            <a:r>
              <a:rPr sz="2000" b="1"/>
              <a:t>codes</a:t>
            </a:r>
            <a:r>
              <a:rPr sz="2000"/>
              <a:t> with a labels table. </a:t>
            </a:r>
            <a:r>
              <a:rPr sz="2000">
                <a:latin typeface="Courier"/>
              </a:rPr>
              <a:t>as.numeric()</a:t>
            </a:r>
            <a:r>
              <a:rPr sz="2000"/>
              <a:t> returns the codes — always go through </a:t>
            </a:r>
            <a:r>
              <a:rPr sz="2000">
                <a:latin typeface="Courier"/>
              </a:rPr>
              <a:t>as.character()</a:t>
            </a:r>
            <a:r>
              <a:rPr sz="2000"/>
              <a:t> first when a factor holds real numbers.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Factors in models &amp; cleanup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set the reference, drop ghosts, build the final figure.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Set the ANOVA reference with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If we make Gentoo the reference group instead of Adelie, will the overall ANOVA </a:t>
            </a:r>
            <a:r>
              <a:rPr sz="2000" i="1"/>
              <a:t>p</a:t>
            </a:r>
            <a:r>
              <a:rPr sz="2000"/>
              <a:t>-value change, or only the coefficients?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Gentoo the reference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two coefficient sets.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 (Intercept) represents now:
Did the coefficients change?  Y / N
Would the overall F-test / p-value change?  Y / 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Drop unused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 — does the level disappear?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Gentoo still listed?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now?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does </a:t>
            </a:r>
            <a:r>
              <a:rPr>
                <a:latin typeface="Courier"/>
              </a:rPr>
              <a:t>filter()</a:t>
            </a:r>
            <a:r>
              <a:rPr/>
              <a:t> leave the level behind, and what problem would that “ghost” level cause in a boxplot?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Put it all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-----------------------------------------------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"figures/penguin_mass_by_species_ordered.png"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fct_</a:t>
            </a:r>
            <a:r>
              <a:rPr/>
              <a:t> functions are doing the work in this figure, and what does each one do?</a:t>
            </a:r>
          </a:p>
          <a:p>
            <a:pPr lvl="0" indent="0">
              <a:buNone/>
            </a:pPr>
            <a:r>
              <a:rPr>
                <a:latin typeface="Courier"/>
              </a:rPr>
              <a:t>Function 1:                 does:
Function 2:                 does: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what a factor is and why level order matters</a:t>
            </a:r>
          </a:p>
          <a:p>
            <a:pPr lvl="0"/>
            <a:r>
              <a:rPr/>
              <a:t>☐ 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☐ Reorder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☐ Rename with </a:t>
            </a:r>
            <a:r>
              <a:rPr>
                <a:latin typeface="Courier"/>
              </a:rPr>
              <a:t>fct_recode()</a:t>
            </a:r>
            <a:r>
              <a:rPr/>
              <a:t>, merge with </a:t>
            </a:r>
            <a:r>
              <a:rPr>
                <a:latin typeface="Courier"/>
              </a:rPr>
              <a:t>fct_collapse()</a:t>
            </a:r>
            <a:r>
              <a:rPr/>
              <a:t>, lump with </a:t>
            </a:r>
            <a:r>
              <a:rPr>
                <a:latin typeface="Courier"/>
              </a:rPr>
              <a:t>fct_lump_n()</a:t>
            </a:r>
          </a:p>
          <a:p>
            <a:pPr lvl="0"/>
            <a:r>
              <a:rPr/>
              <a:t>☐ Set a model reference with </a:t>
            </a:r>
            <a:r>
              <a:rPr>
                <a:latin typeface="Courier"/>
              </a:rPr>
              <a:t>fct_relevel()</a:t>
            </a:r>
            <a:r>
              <a:rPr/>
              <a:t> and drop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as.numeric()</a:t>
            </a:r>
            <a:r>
              <a:rPr/>
              <a:t> on a factor is a trap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Reorder within groups on a line plot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fct_reorder2: order legend to match the line ends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fct_reorder2</a:t>
            </a:r>
            <a:r>
              <a:rPr>
                <a:solidFill>
                  <a:srgbClr val="003B4F"/>
                </a:solidFill>
                <a:latin typeface="Courier"/>
              </a:rPr>
              <a:t>(species, year, mean_mass))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does </a:t>
            </a:r>
            <a:r>
              <a:rPr>
                <a:latin typeface="Courier"/>
              </a:rPr>
              <a:t>fct_reorder2()</a:t>
            </a:r>
            <a:r>
              <a:rPr/>
              <a:t> decide the legend order, and why is that nice for line plots?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own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If you swap penguins for your project data, which categorical column would you turn into an ordered factor, and what would you order it by?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"fct_reorder"</a:t>
            </a:r>
            <a:r>
              <a:rPr/>
              <a:t> → </a:t>
            </a:r>
            <a:r>
              <a:rPr>
                <a:latin typeface="Courier"/>
              </a:rPr>
              <a:t>library(tidyverse)</a:t>
            </a:r>
            <a:r>
              <a:rPr/>
              <a:t> (forcats is inside it).</a:t>
            </a:r>
          </a:p>
          <a:p>
            <a:pPr lvl="0" indent="-342900" marL="342900">
              <a:buAutoNum type="arabicPeriod"/>
            </a:pPr>
            <a:r>
              <a:rPr b="1"/>
              <a:t>Reordering “didn’t work”</a:t>
            </a:r>
            <a:r>
              <a:rPr/>
              <a:t> → you must reorder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 and then plot the result; reordering a copy doesn’t change the original.</a:t>
            </a:r>
          </a:p>
          <a:p>
            <a:pPr lvl="0" indent="-342900" marL="342900">
              <a:buAutoNum type="arabicPeriod"/>
            </a:pPr>
            <a:r>
              <a:rPr b="1"/>
              <a:t>A blank gap on the axis</a:t>
            </a:r>
            <a:r>
              <a:rPr/>
              <a:t> → a ghost level from </a:t>
            </a:r>
            <a:r>
              <a:rPr>
                <a:latin typeface="Courier"/>
              </a:rPr>
              <a:t>filter()</a:t>
            </a:r>
            <a:r>
              <a:rPr/>
              <a:t>; add </a:t>
            </a:r>
            <a:r>
              <a:rPr>
                <a:latin typeface="Courier"/>
              </a:rPr>
              <a:t>fct_drop()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numbers from a factor</a:t>
            </a:r>
            <a:r>
              <a:rPr/>
              <a:t> → you hit the </a:t>
            </a:r>
            <a:r>
              <a:rPr>
                <a:latin typeface="Courier"/>
              </a:rPr>
              <a:t>as.numeric()</a:t>
            </a:r>
            <a:r>
              <a:rPr/>
              <a:t> trap; use </a:t>
            </a:r>
            <a:r>
              <a:rPr>
                <a:latin typeface="Courier"/>
              </a:rPr>
              <a:t>as.numeric(as.character(x))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fct_recode</a:t>
            </a:r>
            <a:r>
              <a:rPr b="1"/>
              <a:t> did nothing</a:t>
            </a:r>
            <a:r>
              <a:rPr/>
              <a:t> → check the OLD name spelling; unknown old names are silently ignored.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https://rstudio.github.io/cheatsheets/factors.pdf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factors are how you make categorical variables behave — in plots and in models. Reorder for the reader, relabel for the report, relevel for the baseline.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10. Next: Worksheet 11 — joins, combining your data with a second table.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10 — Factors: Ordering and Cleaning Categorical Data</dc:title>
  <dc:creator>Bill Perry</dc:creator>
  <cp:keywords/>
  <dc:description>Hands-on companion to the factors lecture. Over two days students inspect the penguin factors, reorder them for readable plots, rename and lump levels, set the ANOVA reference with fct_relevel(), drop unused levels, and dodge the as.numeric() trap.</dc:description>
  <dcterms:created xsi:type="dcterms:W3CDTF">2026-07-05T19:40:15Z</dcterms:created>
  <dcterms:modified xsi:type="dcterms:W3CDTF">2026-07-05T19:40:15Z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10</vt:lpwstr>
  </property>
  <property fmtid="{D5CDD505-2E9C-101B-9397-08002B2CF9AE}" pid="14" name="resources">
    <vt:lpwstr/>
  </property>
  <property fmtid="{D5CDD505-2E9C-101B-9397-08002B2CF9AE}" pid="15" name="subtitle">
    <vt:lpwstr>Reorder, rename, and lump penguin categories with forcats — for cleaner plots and models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5</vt:lpwstr>
  </property>
</Properties>
</file>