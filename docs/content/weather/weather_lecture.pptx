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~25,000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 ID,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NOAA station data (Duluth)</a:t>
            </a:r>
          </a:p>
          <a:p>
            <a:pPr lvl="0"/>
            <a:r>
              <a:rPr>
                <a:latin typeface="Courier"/>
              </a:rPr>
              <a:t>nasapower</a:t>
            </a:r>
            <a:r>
              <a:rPr/>
              <a:t> — data by lat/long (another source)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1"/>
            <a:r>
              <a:rPr/>
              <a:t>it warns GSOD </a:t>
            </a:r>
            <a:r>
              <a:rPr b="1"/>
              <a:t>retired in Aug 2025</a:t>
            </a:r>
            <a:r>
              <a:rPr/>
              <a:t> — expected; the archive still works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</a:t>
            </a:r>
            <a:r>
              <a:rPr b="1"/>
              <a:t>1948–2025</a:t>
            </a:r>
          </a:p>
          <a:p>
            <a:pPr lvl="1"/>
            <a:r>
              <a:rPr b="1"/>
              <a:t>1965–1972 missing</a:t>
            </a:r>
            <a:r>
              <a:rPr/>
              <a:t> — a hole in the GSOD archive due to a data issues</a:t>
            </a:r>
          </a:p>
          <a:p>
            <a:pPr lvl="1"/>
            <a:r>
              <a:rPr/>
              <a:t>so you get </a:t>
            </a:r>
            <a:r>
              <a:rPr b="1"/>
              <a:t>70</a:t>
            </a:r>
            <a:r>
              <a:rPr/>
              <a:t> years, not 78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70 years × 365 days ≈ </a:t>
            </a:r>
            <a:r>
              <a:rPr b="1"/>
              <a:t>25,000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NOAA station data - Duluth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(nasapower) </a:t>
            </a:r>
            <a:r>
              <a:rPr>
                <a:solidFill>
                  <a:srgbClr val="5E5E5E"/>
                </a:solidFill>
                <a:latin typeface="Courier"/>
              </a:rPr>
              <a:t># NASA data by lat/long - another source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the whole Duluth record, 1948-2025 ----------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get_GSOD()</a:t>
            </a:r>
            <a:r>
              <a:rPr/>
              <a:t> takes a </a:t>
            </a:r>
            <a:r>
              <a:rPr b="1"/>
              <a:t>year range</a:t>
            </a:r>
            <a:r>
              <a:rPr/>
              <a:t> and a </a:t>
            </a:r>
            <a:r>
              <a:rPr b="1"/>
              <a:t>station</a:t>
            </a:r>
          </a:p>
          <a:p>
            <a:pPr lvl="1"/>
            <a:r>
              <a:rPr>
                <a:latin typeface="Courier"/>
              </a:rPr>
              <a:t>1948:2025</a:t>
            </a:r>
            <a:r>
              <a:rPr/>
              <a:t> is a vector — “every year in this range”</a:t>
            </a:r>
          </a:p>
          <a:p>
            <a:pPr lvl="1"/>
            <a:r>
              <a:rPr/>
              <a:t>years NOAA doesn’t have are </a:t>
            </a:r>
            <a:r>
              <a:rPr b="1"/>
              <a:t>skipped</a:t>
            </a:r>
            <a:r>
              <a:rPr/>
              <a:t>, so you get </a:t>
            </a:r>
            <a:r>
              <a:rPr b="1"/>
              <a:t>70</a:t>
            </a:r>
            <a:r>
              <a:rPr/>
              <a:t>, not 78</a:t>
            </a:r>
          </a:p>
          <a:p>
            <a:pPr lvl="1"/>
            <a:r>
              <a:rPr/>
              <a:t>it takes a minute; 70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~25,000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69 times</a:t>
            </a:r>
          </a:p>
          <a:p>
            <a:pPr lvl="0"/>
            <a:r>
              <a:rPr/>
              <a:t>~25,000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25,000 rows become 69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69 points instead of 25,000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~78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0.34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finding the station ID for a city you choose, and testing its warming rate against Duluth’s.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70 years × 2 seasons = 140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0.022 °C/year</a:t>
            </a:r>
          </a:p>
          <a:p>
            <a:pPr lvl="0"/>
            <a:r>
              <a:rPr/>
              <a:t>×10 → about </a:t>
            </a:r>
            <a:r>
              <a:rPr b="1"/>
              <a:t>0.21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0.037 °C/year</a:t>
            </a:r>
          </a:p>
          <a:p>
            <a:pPr lvl="0"/>
            <a:r>
              <a:rPr/>
              <a:t>×10 → about </a:t>
            </a:r>
            <a:r>
              <a:rPr b="1"/>
              <a:t>0.34 °C per decade</a:t>
            </a:r>
          </a:p>
          <a:p>
            <a:pPr lvl="0"/>
            <a:r>
              <a:rPr i="1"/>
              <a:t>p</a:t>
            </a:r>
            <a:r>
              <a:rPr/>
              <a:t> = 0.001 → real</a:t>
            </a:r>
          </a:p>
          <a:p>
            <a:pPr lvl="0" indent="0" marL="0">
              <a:buNone/>
            </a:pPr>
            <a:r>
              <a:rPr b="1"/>
              <a:t>Winter is warming about 1.6×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2025 (linear regression: slope = 0.027 °C yr⁻¹, equivalent to 0.27 °C per decade; F(1, 68) = 34.3, p &lt; 0.001, R² = 0.34). Winter warmed roughly 1.6 times faster than summer (0.34 vs 0.21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GSOD Has — Any Country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station, and the years it covers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load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system.file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"extdata"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"isd_history.rda"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package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"GSODR"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stations_df &lt;- isd_history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(country_name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"ICELAND"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begin_year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(begin,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end_year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(end,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(begin_year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1970</a:t>
            </a:r>
            <a:r>
              <a:rPr>
                <a:solidFill>
                  <a:srgbClr val="003B4F"/>
                </a:solidFill>
                <a:latin typeface="Courier"/>
              </a:rPr>
              <a:t>, end_year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(stnid, name, begin_year, end_year)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(stations_df,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Key: &lt;stnid&gt;
          stnid                       name begin_year end_year
         &lt;char&gt;                     &lt;char&gt;      &lt;int&gt;    &lt;int&gt;
1: 040050-99999                 BOLUNGAVIK       1952     2025
2: 040180-16201 KEFLAVIK NAVAL AIR STATION       1942     2025
3: 040340-99999                STAFHOLTSEY       1949    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GSODR</a:t>
            </a:r>
            <a:r>
              <a:rPr/>
              <a:t> ships a table of </a:t>
            </a:r>
            <a:r>
              <a:rPr b="1"/>
              <a:t>every station on Earth</a:t>
            </a:r>
            <a:r>
              <a:rPr/>
              <a:t> with the years each covers</a:t>
            </a:r>
          </a:p>
          <a:p>
            <a:pPr lvl="0"/>
            <a:r>
              <a:rPr/>
              <a:t>Put your country in the filter, </a:t>
            </a:r>
            <a:r>
              <a:rPr b="1"/>
              <a:t>in CAPITALS</a:t>
            </a:r>
          </a:p>
          <a:p>
            <a:pPr lvl="1"/>
            <a:r>
              <a:rPr/>
              <a:t>Australia </a:t>
            </a:r>
            <a:r>
              <a:rPr b="1"/>
              <a:t>151</a:t>
            </a:r>
            <a:r>
              <a:rPr/>
              <a:t> long-record stations, India 138, Brazil 49, Kenya 19</a:t>
            </a:r>
          </a:p>
          <a:p>
            <a:pPr lvl="0"/>
            <a:r>
              <a:rPr b="1">
                <a:latin typeface="Courier"/>
              </a:rPr>
              <a:t>stnid</a:t>
            </a:r>
            <a:r>
              <a:rPr/>
              <a:t> goes into </a:t>
            </a:r>
            <a:r>
              <a:rPr>
                <a:latin typeface="Courier"/>
              </a:rPr>
              <a:t>get_GSOD()</a:t>
            </a:r>
            <a:r>
              <a:rPr/>
              <a:t>; </a:t>
            </a:r>
            <a:r>
              <a:rPr>
                <a:latin typeface="Courier"/>
              </a:rPr>
              <a:t>begin_year</a:t>
            </a:r>
            <a:r>
              <a:rPr/>
              <a:t> tells you where to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This is the route with the </a:t>
            </a:r>
            <a:r>
              <a:rPr sz="2000" b="1"/>
              <a:t>longest records</a:t>
            </a:r>
            <a:r>
              <a:rPr sz="2000"/>
              <a:t> — some reach back to the </a:t>
            </a:r>
            <a:r>
              <a:rPr sz="2000" b="1"/>
              <a:t>1930s</a:t>
            </a:r>
            <a:r>
              <a:rPr sz="2000"/>
              <a:t>. The cost is gaps, like Duluth’s.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city, from the SAME package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1966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(city_df)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Take two things out of </a:t>
            </a:r>
            <a:r>
              <a:rPr>
                <a:latin typeface="Courier"/>
              </a:rPr>
              <a:t>stations_df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stnid</a:t>
            </a:r>
            <a:r>
              <a:rPr/>
              <a:t> — that is the station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begin_year</a:t>
            </a:r>
            <a:r>
              <a:rPr/>
              <a:t> — where the range starts</a:t>
            </a:r>
          </a:p>
          <a:p>
            <a:pPr lvl="0"/>
            <a:r>
              <a:rPr/>
              <a:t>Same package, same call as Duluth</a:t>
            </a:r>
          </a:p>
          <a:p>
            <a:pPr lvl="1"/>
            <a:r>
              <a:rPr/>
              <a:t>back come the </a:t>
            </a:r>
            <a:r>
              <a:rPr b="1"/>
              <a:t>same columns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temp</a:t>
            </a:r>
            <a:r>
              <a:rPr/>
              <a:t>, already lower case</a:t>
            </a:r>
          </a:p>
          <a:p>
            <a:pPr lvl="1"/>
            <a:r>
              <a:rPr b="1"/>
              <a:t>nothing to rename</a:t>
            </a:r>
          </a:p>
          <a:p>
            <a:pPr lvl="0"/>
            <a:r>
              <a:rPr/>
              <a:t>Stations outside the US are </a:t>
            </a:r>
            <a:r>
              <a:rPr b="1"/>
              <a:t>gappier</a:t>
            </a:r>
          </a:p>
          <a:p>
            <a:pPr lvl="1"/>
            <a:r>
              <a:rPr/>
              <a:t>far fewer years than you asked for? pick another</a:t>
            </a:r>
          </a:p>
          <a:p>
            <a:pPr lvl="1"/>
            <a:r>
              <a:rPr/>
              <a:t>a capital or major airport is safest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the Station,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thing that changes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station =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one station ID</a:t>
            </a:r>
            <a:r>
              <a:rPr/>
              <a:t> names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Southern hemisphere?</a:t>
            </a:r>
            <a:r>
              <a:rPr sz="2000"/>
              <a:t>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Another Source Worth Knowing — NASA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 station - just lon and lat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get_power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community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lonlat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51.51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"T2M"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"1981-01-01"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"2024-12-31"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temporal_api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"daily"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mm,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t2m)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(power_df)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16071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Not</a:t>
            </a:r>
            <a:r>
              <a:rPr/>
              <a:t> what you use for the homework — but a station is not the only way</a:t>
            </a:r>
          </a:p>
          <a:p>
            <a:pPr lvl="0"/>
            <a:r>
              <a:rPr b="1">
                <a:latin typeface="Courier"/>
              </a:rPr>
              <a:t>nasapower</a:t>
            </a:r>
            <a:r>
              <a:rPr b="1"/>
              <a:t> needs only coordinates</a:t>
            </a:r>
          </a:p>
          <a:p>
            <a:pPr lvl="1"/>
            <a:r>
              <a:rPr/>
              <a:t>anywhere on Earth, </a:t>
            </a:r>
            <a:r>
              <a:rPr b="1"/>
              <a:t>1981 to now, no gaps</a:t>
            </a:r>
          </a:p>
          <a:p>
            <a:pPr lvl="1"/>
            <a:r>
              <a:rPr/>
              <a:t>watch the order: </a:t>
            </a:r>
            <a:r>
              <a:rPr b="1"/>
              <a:t>longitude first</a:t>
            </a:r>
          </a:p>
          <a:p>
            <a:pPr lvl="1"/>
            <a:r>
              <a:rPr/>
              <a:t>a modelled </a:t>
            </a:r>
            <a:r>
              <a:rPr b="1"/>
              <a:t>~50 km grid cell</a:t>
            </a:r>
            <a:r>
              <a:rPr/>
              <a:t>, not a station</a:t>
            </a:r>
          </a:p>
          <a:p>
            <a:pPr lvl="0"/>
            <a:r>
              <a:rPr/>
              <a:t>Columns come back </a:t>
            </a:r>
            <a:r>
              <a:rPr>
                <a:latin typeface="Courier"/>
              </a:rPr>
              <a:t>MM</a:t>
            </a:r>
            <a:r>
              <a:rPr/>
              <a:t> and </a:t>
            </a:r>
            <a:r>
              <a:rPr>
                <a:latin typeface="Courier"/>
              </a:rPr>
              <a:t>T2M</a:t>
            </a:r>
          </a:p>
          <a:p>
            <a:pPr lvl="1"/>
            <a:r>
              <a:rPr>
                <a:latin typeface="Courier"/>
              </a:rPr>
              <a:t>rename()</a:t>
            </a:r>
            <a:r>
              <a:rPr/>
              <a:t> is needed here</a:t>
            </a:r>
          </a:p>
          <a:p>
            <a:pPr lvl="1"/>
            <a:r>
              <a:rPr/>
              <a:t>the small translation every new source needs</a:t>
            </a:r>
          </a:p>
          <a:p>
            <a:pPr lvl="0"/>
            <a:r>
              <a:rPr b="1"/>
              <a:t>GSOD for the homework</a:t>
            </a:r>
            <a:r>
              <a:rPr/>
              <a:t> — the longer record is the point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Stack the Two Places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later of the two start years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start_year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(dlh_year_df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(city_year_df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Label each one BEFORE you stack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duluth_labeled_df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city_labeled_df &lt;- city_year_df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"my_city"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both_df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(duluth_labeled_df,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city_labeled_df)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places came from </a:t>
            </a:r>
            <a:r>
              <a:rPr b="1">
                <a:latin typeface="Courier"/>
              </a:rPr>
              <a:t>GSODR</a:t>
            </a:r>
            <a:r>
              <a:rPr/>
              <a:t>, so the columns already match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puts one frame </a:t>
            </a:r>
            <a:r>
              <a:rPr b="1"/>
              <a:t>underneath</a:t>
            </a:r>
            <a:r>
              <a:rPr/>
              <a:t> the other</a:t>
            </a:r>
          </a:p>
          <a:p>
            <a:pPr lvl="1"/>
            <a:r>
              <a:rPr/>
              <a:t>it matches columns by </a:t>
            </a:r>
            <a:r>
              <a:rPr b="1"/>
              <a:t>name</a:t>
            </a:r>
          </a:p>
          <a:p>
            <a:pPr lvl="1"/>
            <a:r>
              <a:rPr/>
              <a:t>same names in both → no renaming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station</a:t>
            </a:r>
            <a:r>
              <a:rPr/>
              <a:t> column is the trick</a:t>
            </a:r>
          </a:p>
          <a:p>
            <a:pPr lvl="1"/>
            <a:r>
              <a:rPr/>
              <a:t>stacking alone loses </a:t>
            </a:r>
            <a:r>
              <a:rPr b="1"/>
              <a:t>where each row came from</a:t>
            </a:r>
          </a:p>
          <a:p>
            <a:pPr lvl="1"/>
            <a:r>
              <a:rPr/>
              <a:t>so you label </a:t>
            </a:r>
            <a:r>
              <a:rPr b="1"/>
              <a:t>before</a:t>
            </a:r>
            <a:r>
              <a:rPr/>
              <a:t> you stack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Compare the years they </a:t>
            </a:r>
            <a:r>
              <a:rPr sz="2000" b="1"/>
              <a:t>share</a:t>
            </a:r>
            <a:r>
              <a:rPr sz="2000"/>
              <a:t> — or a difference in </a:t>
            </a:r>
            <a:r>
              <a:rPr sz="2000" b="1"/>
              <a:t>place</a:t>
            </a:r>
            <a:r>
              <a:rPr sz="2000"/>
              <a:t> is mixed up with a difference in </a:t>
            </a:r>
            <a:r>
              <a:rPr sz="2000" b="1"/>
              <a:t>years</a:t>
            </a:r>
            <a:r>
              <a:rPr sz="2000"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Are the Two Slopes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slope per station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station,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both_df)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(slope_model)</a:t>
            </a:r>
          </a:p>
          <a:p>
            <a:pPr lvl="0" indent="0" marL="0">
              <a:buNone/>
            </a:pPr>
            <a:r>
              <a:rPr/>
              <a:t>Your city and Duluth gave different numbers. </a:t>
            </a:r>
            <a:r>
              <a:rPr b="1"/>
              <a:t>Different-looking slopes are not always different slopes.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year * station</a:t>
            </a:r>
            <a:r>
              <a:rPr/>
              <a:t> fits a </a:t>
            </a:r>
            <a:r>
              <a:rPr b="1"/>
              <a:t>separate slope</a:t>
            </a:r>
            <a:r>
              <a:rPr/>
              <a:t> for each place</a:t>
            </a:r>
          </a:p>
          <a:p>
            <a:pPr lvl="0"/>
            <a:r>
              <a:rPr/>
              <a:t>Read the </a:t>
            </a:r>
            <a:r>
              <a:rPr b="1">
                <a:latin typeface="Courier"/>
              </a:rPr>
              <a:t>year:stationmy_city</a:t>
            </a:r>
            <a:r>
              <a:rPr/>
              <a:t> row</a:t>
            </a:r>
          </a:p>
          <a:p>
            <a:pPr lvl="1"/>
            <a:r>
              <a:rPr>
                <a:latin typeface="Courier"/>
              </a:rPr>
              <a:t>Estimate</a:t>
            </a:r>
            <a:r>
              <a:rPr/>
              <a:t> — how much your slope </a:t>
            </a:r>
            <a:r>
              <a:rPr b="1"/>
              <a:t>differs</a:t>
            </a:r>
          </a:p>
          <a:p>
            <a:pPr lvl="1"/>
            <a:r>
              <a:rPr>
                <a:latin typeface="Courier"/>
              </a:rPr>
              <a:t>Pr(&gt;|t|)</a:t>
            </a:r>
            <a:r>
              <a:rPr/>
              <a:t> — is that difference real?</a:t>
            </a:r>
          </a:p>
          <a:p>
            <a:pPr lvl="0"/>
            <a:r>
              <a:rPr/>
              <a:t>This is a </a:t>
            </a:r>
            <a:r>
              <a:rPr b="1"/>
              <a:t>t-test on two slopes</a:t>
            </a:r>
            <a:r>
              <a:rPr/>
              <a:t>, in the same two columns you have read all class</a:t>
            </a:r>
          </a:p>
          <a:p>
            <a:pPr lvl="1"/>
            <a:r>
              <a:rPr i="1"/>
              <a:t>p</a:t>
            </a:r>
            <a:r>
              <a:rPr/>
              <a:t> &lt; 0.05 → rates </a:t>
            </a:r>
            <a:r>
              <a:rPr b="1"/>
              <a:t>really differ</a:t>
            </a:r>
          </a:p>
          <a:p>
            <a:pPr lvl="1"/>
            <a:r>
              <a:rPr i="1"/>
              <a:t>p</a:t>
            </a:r>
            <a:r>
              <a:rPr/>
              <a:t> &gt; 0.05 → </a:t>
            </a:r>
            <a:r>
              <a:rPr b="1"/>
              <a:t>cannot tell them apart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Your city’s slope = </a:t>
            </a:r>
            <a:r>
              <a:rPr sz="2000">
                <a:latin typeface="Courier"/>
              </a:rPr>
              <a:t>year</a:t>
            </a:r>
            <a:r>
              <a:rPr sz="2000"/>
              <a:t> </a:t>
            </a:r>
            <a:r>
              <a:rPr sz="2000" b="1"/>
              <a:t>+</a:t>
            </a:r>
            <a:r>
              <a:rPr sz="2000"/>
              <a:t> </a:t>
            </a:r>
            <a:r>
              <a:rPr sz="2000">
                <a:latin typeface="Courier"/>
              </a:rPr>
              <a:t>year:stationmy_city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Find the GSOD station for a city you choose — the analysis is your homework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makes the slope a </a:t>
            </a:r>
            <a:r>
              <a:rPr b="1"/>
              <a:t>rate of change</a:t>
            </a:r>
            <a:r>
              <a:rPr/>
              <a:t> — ×10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~1.6×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Duluth and your city, by station ID</a:t>
            </a:r>
          </a:p>
          <a:p>
            <a:pPr lvl="0"/>
            <a:r>
              <a:rPr>
                <a:latin typeface="Courier"/>
              </a:rPr>
              <a:t>isd_history</a:t>
            </a:r>
            <a:r>
              <a:rPr/>
              <a:t> — find a station in any country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— stack two places into one frame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, </a:t>
            </a:r>
            <a:r>
              <a:rPr>
                <a:latin typeface="Courier"/>
              </a:rPr>
              <a:t>lm(temp ~ year * station)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homework — your own city’s warming rate and how it compares with Duluth’s.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/>
            <a:r>
              <a:rPr/>
              <a:t>NASA POWER — </a:t>
            </a:r>
            <a:r>
              <a:rPr>
                <a:latin typeface="Courier"/>
              </a:rPr>
              <a:t>power.larc.nasa.gov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2026-10-19T16:11:29Z</dcterms:created>
  <dcterms:modified xsi:type="dcterms:W3CDTF">2026-10-19T16:11:29Z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