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6" Type="http://schemas.openxmlformats.org/officeDocument/2006/relationships/viewProps" Target="viewProps.xml" /><Relationship Id="rId3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8" Type="http://schemas.openxmlformats.org/officeDocument/2006/relationships/tableStyles" Target="tableStyles.xml" /><Relationship Id="rId3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data-transform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3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12 — Real Climate Data in R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How fast is your city warming? (regression on time)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2026-10-22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Where we left off (Lecture 11 — Regression)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>
                <a:latin typeface="Courier"/>
              </a:rPr>
              <a:t>lm(Y ~ X, data = df)</a:t>
            </a:r>
            <a:r>
              <a:rPr/>
              <a:t> fits a straight line through a cloud of points</a:t>
            </a:r>
          </a:p>
          <a:p>
            <a:pPr lvl="0"/>
            <a:r>
              <a:rPr b="1">
                <a:latin typeface="Courier"/>
              </a:rPr>
              <a:t>summary(model)</a:t>
            </a:r>
            <a:r>
              <a:rPr/>
              <a:t> gives you:</a:t>
            </a:r>
          </a:p>
          <a:p>
            <a:pPr lvl="1"/>
            <a:r>
              <a:rPr/>
              <a:t>the </a:t>
            </a:r>
            <a:r>
              <a:rPr b="1"/>
              <a:t>slope</a:t>
            </a:r>
            <a:r>
              <a:rPr/>
              <a:t> — how much Y changes per 1 unit of X</a:t>
            </a:r>
          </a:p>
          <a:p>
            <a:pPr lvl="1"/>
            <a:r>
              <a:rPr/>
              <a:t>its </a:t>
            </a:r>
            <a:r>
              <a:rPr b="1" i="1"/>
              <a:t>p</a:t>
            </a:r>
            <a:r>
              <a:rPr b="1"/>
              <a:t>-value</a:t>
            </a:r>
            <a:r>
              <a:rPr/>
              <a:t> — is that slope real, or could it be chance?</a:t>
            </a:r>
          </a:p>
          <a:p>
            <a:pPr lvl="1"/>
            <a:r>
              <a:rPr b="1"/>
              <a:t>R²</a:t>
            </a:r>
            <a:r>
              <a:rPr/>
              <a:t> — how tightly the points follow the line</a:t>
            </a:r>
          </a:p>
          <a:p>
            <a:pPr lvl="0"/>
            <a:r>
              <a:rPr b="1">
                <a:latin typeface="Courier"/>
              </a:rPr>
              <a:t>geom_smooth(method = "lm")</a:t>
            </a:r>
            <a:r>
              <a:rPr/>
              <a:t> draws the line</a:t>
            </a:r>
          </a:p>
          <a:p>
            <a:pPr lvl="0"/>
            <a:r>
              <a:rPr b="1">
                <a:latin typeface="Courier"/>
              </a:rPr>
              <a:t>plot(model)</a:t>
            </a:r>
            <a:r>
              <a:rPr/>
              <a:t> checks the residuals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Where today comes in</a:t>
            </a:r>
          </a:p>
          <a:p>
            <a:pPr lvl="0"/>
            <a:r>
              <a:rPr sz="2000"/>
              <a:t>Last time X was </a:t>
            </a:r>
            <a:r>
              <a:rPr sz="2000" b="1"/>
              <a:t>paper mass</a:t>
            </a:r>
            <a:r>
              <a:rPr sz="2000"/>
              <a:t> and the slope converted grams into cm²</a:t>
            </a:r>
          </a:p>
          <a:p>
            <a:pPr lvl="0"/>
            <a:r>
              <a:rPr sz="2000"/>
              <a:t>Today X is </a:t>
            </a:r>
            <a:r>
              <a:rPr sz="2000" b="1"/>
              <a:t>time</a:t>
            </a:r>
          </a:p>
          <a:p>
            <a:pPr lvl="1"/>
            <a:r>
              <a:rPr sz="2000"/>
              <a:t>the slope becomes a </a:t>
            </a:r>
            <a:r>
              <a:rPr sz="2000" b="1"/>
              <a:t>rate of change</a:t>
            </a:r>
            <a:r>
              <a:rPr sz="2000"/>
              <a:t> — degrees per year</a:t>
            </a:r>
          </a:p>
          <a:p>
            <a:pPr lvl="1"/>
            <a:r>
              <a:rPr sz="2000"/>
              <a:t>and that is exactly what a “warming rate” is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Goals for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Download</a:t>
            </a:r>
            <a:r>
              <a:rPr/>
              <a:t> real weather station data from inside R — no Excel, no copy-paste</a:t>
            </a:r>
          </a:p>
          <a:p>
            <a:pPr lvl="0"/>
            <a:r>
              <a:rPr b="1"/>
              <a:t>Clean</a:t>
            </a:r>
            <a:r>
              <a:rPr/>
              <a:t> the names with </a:t>
            </a:r>
            <a:r>
              <a:rPr>
                <a:latin typeface="Courier"/>
              </a:rPr>
              <a:t>janitor</a:t>
            </a:r>
            <a:r>
              <a:rPr/>
              <a:t> so the code stays easy to type</a:t>
            </a:r>
          </a:p>
          <a:p>
            <a:pPr lvl="0"/>
            <a:r>
              <a:rPr b="1"/>
              <a:t>Summarize</a:t>
            </a:r>
            <a:r>
              <a:rPr/>
              <a:t> ~25,000 daily records into one mean per year</a:t>
            </a:r>
          </a:p>
          <a:p>
            <a:pPr lvl="0"/>
            <a:r>
              <a:rPr b="1"/>
              <a:t>Fit</a:t>
            </a:r>
            <a:r>
              <a:rPr/>
              <a:t> </a:t>
            </a:r>
            <a:r>
              <a:rPr>
                <a:latin typeface="Courier"/>
              </a:rPr>
              <a:t>lm(temp ~ year)</a:t>
            </a:r>
            <a:r>
              <a:rPr/>
              <a:t> and read the warming rate straight off </a:t>
            </a:r>
            <a:r>
              <a:rPr>
                <a:latin typeface="Courier"/>
              </a:rPr>
              <a:t>summary()</a:t>
            </a:r>
          </a:p>
          <a:p>
            <a:pPr lvl="0"/>
            <a:r>
              <a:rPr b="1"/>
              <a:t>Split by season</a:t>
            </a:r>
            <a:r>
              <a:rPr/>
              <a:t> — is winter warming faster than summer?</a:t>
            </a:r>
          </a:p>
          <a:p>
            <a:pPr lvl="0"/>
            <a:r>
              <a:rPr b="1"/>
              <a:t>Find a station for a city you choose</a:t>
            </a:r>
            <a:r>
              <a:rPr/>
              <a:t> and run the whole thing again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Where this is going</a:t>
            </a:r>
          </a:p>
          <a:p>
            <a:pPr lvl="0"/>
            <a:r>
              <a:rPr sz="2000"/>
              <a:t>The analysis is the same four lines every time</a:t>
            </a:r>
          </a:p>
          <a:p>
            <a:pPr lvl="0"/>
            <a:r>
              <a:rPr sz="2000"/>
              <a:t>Change the station ID, and it is a new city</a:t>
            </a:r>
          </a:p>
          <a:p>
            <a:pPr lvl="0"/>
            <a:r>
              <a:rPr sz="2000"/>
              <a:t>That is your out-of-class extension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Tools today:</a:t>
            </a:r>
          </a:p>
          <a:p>
            <a:pPr lvl="0"/>
            <a:r>
              <a:rPr>
                <a:latin typeface="Courier"/>
              </a:rPr>
              <a:t>GSODR</a:t>
            </a:r>
            <a:r>
              <a:rPr/>
              <a:t> — NOAA station data (Duluth)</a:t>
            </a:r>
          </a:p>
          <a:p>
            <a:pPr lvl="0"/>
            <a:r>
              <a:rPr>
                <a:latin typeface="Courier"/>
              </a:rPr>
              <a:t>nasapower</a:t>
            </a:r>
            <a:r>
              <a:rPr/>
              <a:t> — data by lat/long (another source)</a:t>
            </a:r>
          </a:p>
          <a:p>
            <a:pPr lvl="0"/>
            <a:r>
              <a:rPr>
                <a:latin typeface="Courier"/>
              </a:rPr>
              <a:t>janitor</a:t>
            </a:r>
            <a:r>
              <a:rPr/>
              <a:t> — </a:t>
            </a:r>
            <a:r>
              <a:rPr>
                <a:latin typeface="Courier"/>
              </a:rPr>
              <a:t>clean_names()</a:t>
            </a:r>
          </a:p>
          <a:p>
            <a:pPr lvl="0"/>
            <a:r>
              <a:rPr>
                <a:latin typeface="Courier"/>
              </a:rPr>
              <a:t>tidyverse</a:t>
            </a:r>
            <a:r>
              <a:rPr/>
              <a:t> — summarize and plot</a:t>
            </a:r>
          </a:p>
          <a:p>
            <a:pPr lvl="0"/>
            <a:r>
              <a:rPr>
                <a:latin typeface="Courier"/>
              </a:rPr>
              <a:t>lm()</a:t>
            </a:r>
            <a:r>
              <a:rPr/>
              <a:t> — the slope is the answer</a:t>
            </a:r>
          </a:p>
          <a:p>
            <a:pPr lvl="0" indent="0" marL="0">
              <a:buNone/>
            </a:pPr>
            <a:r>
              <a:rPr b="1"/>
              <a:t>Reading:</a:t>
            </a:r>
          </a:p>
          <a:p>
            <a:pPr lvl="0"/>
            <a:r>
              <a:rPr/>
              <a:t>📖 R for Data Science 2e</a:t>
            </a:r>
          </a:p>
          <a:p>
            <a:pPr lvl="1"/>
            <a:r>
              <a:rPr>
                <a:hlinkClick r:id="rId2"/>
              </a:rPr>
              <a:t>Ch. 3 Data transformation</a:t>
            </a:r>
          </a:p>
          <a:p>
            <a:pPr lvl="0"/>
            <a:r>
              <a:rPr/>
              <a:t>📖 Whitlock &amp; Schluter Ch. 17 — Regression</a:t>
            </a:r>
          </a:p>
          <a:p>
            <a:pPr lvl="0" indent="0" marL="0">
              <a:buNone/>
            </a:pPr>
            <a:r>
              <a:rPr b="1"/>
              <a:t>Naming conventions:</a:t>
            </a:r>
          </a:p>
          <a:p>
            <a:pPr lvl="0"/>
            <a:r>
              <a:rPr/>
              <a:t>data frames → </a:t>
            </a:r>
            <a:r>
              <a:rPr>
                <a:latin typeface="Courier"/>
              </a:rPr>
              <a:t>_df</a:t>
            </a:r>
          </a:p>
          <a:p>
            <a:pPr lvl="0"/>
            <a:r>
              <a:rPr/>
              <a:t>plots → </a:t>
            </a:r>
            <a:r>
              <a:rPr>
                <a:latin typeface="Courier"/>
              </a:rPr>
              <a:t>_plot</a:t>
            </a:r>
          </a:p>
          <a:p>
            <a:pPr lvl="0"/>
            <a:r>
              <a:rPr/>
              <a:t>models → </a:t>
            </a:r>
            <a:r>
              <a:rPr>
                <a:latin typeface="Courier"/>
              </a:rPr>
              <a:t>_model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🧩 Chunk 1 of 3 · The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We will cover:</a:t>
            </a:r>
            <a:r>
              <a:rPr/>
              <a:t> where the data comes from, why the slope of a regression on time </a:t>
            </a:r>
            <a:r>
              <a:rPr i="1"/>
              <a:t>is</a:t>
            </a:r>
            <a:r>
              <a:rPr/>
              <a:t> a warming rate, and why you have to summarize before you can see it. No code in this chunk.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Where Does This Data Come From?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GSOD</a:t>
            </a:r>
            <a:r>
              <a:rPr/>
              <a:t> = Global Surface Summary of the Day, run by </a:t>
            </a:r>
            <a:r>
              <a:rPr b="1"/>
              <a:t>NOAA</a:t>
            </a:r>
          </a:p>
          <a:p>
            <a:pPr lvl="1"/>
            <a:r>
              <a:rPr/>
              <a:t>daily weather from thousands of stations worldwide</a:t>
            </a:r>
          </a:p>
          <a:p>
            <a:pPr lvl="1"/>
            <a:r>
              <a:rPr/>
              <a:t>many records reach back to the </a:t>
            </a:r>
            <a:r>
              <a:rPr b="1"/>
              <a:t>1940s</a:t>
            </a:r>
          </a:p>
          <a:p>
            <a:pPr lvl="1"/>
            <a:r>
              <a:rPr/>
              <a:t>free, and no account needed</a:t>
            </a:r>
          </a:p>
          <a:p>
            <a:pPr lvl="0"/>
            <a:r>
              <a:rPr/>
              <a:t>The </a:t>
            </a:r>
            <a:r>
              <a:rPr b="1">
                <a:latin typeface="Courier"/>
              </a:rPr>
              <a:t>GSODR</a:t>
            </a:r>
            <a:r>
              <a:rPr/>
              <a:t> package pulls it straight into R</a:t>
            </a:r>
          </a:p>
          <a:p>
            <a:pPr lvl="1"/>
            <a:r>
              <a:rPr/>
              <a:t>you give it a </a:t>
            </a:r>
            <a:r>
              <a:rPr b="1"/>
              <a:t>station ID</a:t>
            </a:r>
            <a:r>
              <a:rPr/>
              <a:t> and a range of </a:t>
            </a:r>
            <a:r>
              <a:rPr b="1"/>
              <a:t>years</a:t>
            </a:r>
          </a:p>
          <a:p>
            <a:pPr lvl="1"/>
            <a:r>
              <a:rPr/>
              <a:t>it hands back a data frame</a:t>
            </a:r>
          </a:p>
          <a:p>
            <a:pPr lvl="1"/>
            <a:r>
              <a:rPr/>
              <a:t>it warns GSOD </a:t>
            </a:r>
            <a:r>
              <a:rPr b="1"/>
              <a:t>retired in Aug 2025</a:t>
            </a:r>
            <a:r>
              <a:rPr/>
              <a:t> — expected; the archive still works</a:t>
            </a:r>
          </a:p>
          <a:p>
            <a:pPr lvl="0" indent="0" marL="0">
              <a:buNone/>
            </a:pPr>
            <a:r>
              <a:rPr b="1"/>
              <a:t>Our station to start:</a:t>
            </a:r>
          </a:p>
          <a:p>
            <a:pPr lvl="0"/>
            <a:r>
              <a:rPr/>
              <a:t>Duluth International Airport</a:t>
            </a:r>
          </a:p>
          <a:p>
            <a:pPr lvl="0"/>
            <a:r>
              <a:rPr/>
              <a:t>Station ID </a:t>
            </a:r>
            <a:r>
              <a:rPr b="1">
                <a:latin typeface="Courier"/>
              </a:rPr>
              <a:t>727450-14913</a:t>
            </a:r>
          </a:p>
          <a:p>
            <a:pPr lvl="0"/>
            <a:r>
              <a:rPr/>
              <a:t>Daily records </a:t>
            </a:r>
            <a:r>
              <a:rPr b="1"/>
              <a:t>1948–2025</a:t>
            </a:r>
          </a:p>
          <a:p>
            <a:pPr lvl="1"/>
            <a:r>
              <a:rPr b="1"/>
              <a:t>1965–1972 missing</a:t>
            </a:r>
            <a:r>
              <a:rPr/>
              <a:t> — a hole in the GSOD archive due to a data issues</a:t>
            </a:r>
          </a:p>
          <a:p>
            <a:pPr lvl="1"/>
            <a:r>
              <a:rPr/>
              <a:t>so you get </a:t>
            </a:r>
            <a:r>
              <a:rPr b="1"/>
              <a:t>70</a:t>
            </a:r>
            <a:r>
              <a:rPr/>
              <a:t> years, not 78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/>
              <a:t>Why this matters:</a:t>
            </a:r>
          </a:p>
          <a:p>
            <a:pPr lvl="1"/>
            <a:r>
              <a:rPr/>
              <a:t>this is the same messy, real-world data you will meet in your own project</a:t>
            </a:r>
          </a:p>
          <a:p>
            <a:pPr lvl="1"/>
            <a:r>
              <a:rPr/>
              <a:t>the workflow — download → summarize → model — is the one you will reuse all term</a:t>
            </a:r>
          </a:p>
          <a:p>
            <a:pPr lvl="0"/>
            <a:r>
              <a:rPr b="1"/>
              <a:t>And it is yours to reuse:</a:t>
            </a:r>
          </a:p>
          <a:p>
            <a:pPr lvl="1"/>
            <a:r>
              <a:rPr/>
              <a:t>every city with a long station record can be run through the exact same code</a:t>
            </a:r>
          </a:p>
          <a:p>
            <a:pPr lvl="1"/>
            <a:r>
              <a:rPr/>
              <a:t>you will pick one later today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The Slope </a:t>
            </a:r>
            <a:r>
              <a:rPr i="1"/>
              <a:t>Is</a:t>
            </a:r>
            <a:r>
              <a:rPr/>
              <a:t> the Warming Rate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Last lecture: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̂"/>
                        </m:accPr>
                        <m:e>
                          <m:r>
                            <m:rPr>
                              <m:nor/>
                              <m:sty m:val="p"/>
                            </m:rPr>
                            <m:t>area</m:t>
                          </m:r>
                        </m:e>
                      </m:acc>
                      <m:r>
                        <m:rPr>
                          <m:sty m:val="p"/>
                        </m:rPr>
                        <m:t>=</m:t>
                      </m:r>
                      <m:r>
                        <m:t>a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b</m:t>
                      </m:r>
                      <m:r>
                        <m:rPr>
                          <m:sty m:val="p"/>
                        </m:rPr>
                        <m:t>×</m:t>
                      </m:r>
                      <m:r>
                        <m:rPr>
                          <m:nor/>
                          <m:sty m:val="p"/>
                        </m:rPr>
                        <m:t>mass</m:t>
                      </m:r>
                    </m:oMath>
                  </m:oMathPara>
                </a14:m>
              </a:p>
              <a:p>
                <a:pPr lvl="0"/>
                <a:r>
                  <a:rPr i="1"/>
                  <a:t>b</a:t>
                </a:r>
                <a:r>
                  <a:rPr/>
                  <a:t> was </a:t>
                </a:r>
                <a:r>
                  <a:rPr b="1"/>
                  <a:t>cm² per gram</a:t>
                </a:r>
                <a:r>
                  <a:rPr/>
                  <a:t> — a conversion factor</a:t>
                </a:r>
              </a:p>
              <a:p>
                <a:pPr lvl="0" indent="0" marL="0">
                  <a:buNone/>
                </a:pPr>
                <a:r>
                  <a:rPr/>
                  <a:t>Today: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̂"/>
                        </m:accPr>
                        <m:e>
                          <m:r>
                            <m:rPr>
                              <m:nor/>
                              <m:sty m:val="p"/>
                            </m:rPr>
                            <m:t>temp</m:t>
                          </m:r>
                        </m:e>
                      </m:acc>
                      <m:r>
                        <m:rPr>
                          <m:sty m:val="p"/>
                        </m:rPr>
                        <m:t>=</m:t>
                      </m:r>
                      <m:r>
                        <m:t>a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b</m:t>
                      </m:r>
                      <m:r>
                        <m:rPr>
                          <m:sty m:val="p"/>
                        </m:rPr>
                        <m:t>×</m:t>
                      </m:r>
                      <m:r>
                        <m:rPr>
                          <m:nor/>
                          <m:sty m:val="p"/>
                        </m:rPr>
                        <m:t>year</m:t>
                      </m:r>
                    </m:oMath>
                  </m:oMathPara>
                </a14:m>
              </a:p>
              <a:p>
                <a:pPr lvl="0"/>
                <a:r>
                  <a:rPr i="1"/>
                  <a:t>b</a:t>
                </a:r>
                <a:r>
                  <a:rPr/>
                  <a:t> is </a:t>
                </a:r>
                <a:r>
                  <a:rPr b="1"/>
                  <a:t>°C per year</a:t>
                </a:r>
                <a:r>
                  <a:rPr/>
                  <a:t> — a </a:t>
                </a:r>
                <a:r>
                  <a:rPr b="1"/>
                  <a:t>rate of change</a:t>
                </a:r>
              </a:p>
              <a:p>
                <a:pPr lvl="0" indent="0" marL="0">
                  <a:buNone/>
                </a:pPr>
                <a:r>
                  <a:rPr b="1"/>
                  <a:t>Nothing about the code changes.</a:t>
                </a:r>
                <a:r>
                  <a:rPr/>
                  <a:t> Only what X means.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/>
              <a:t>Reading the slope:</a:t>
            </a:r>
          </a:p>
          <a:p>
            <a:pPr lvl="1"/>
            <a:r>
              <a:rPr i="1"/>
              <a:t>b</a:t>
            </a:r>
            <a:r>
              <a:rPr/>
              <a:t> </a:t>
            </a:r>
            <a:r>
              <a:rPr b="1"/>
              <a:t>positive</a:t>
            </a:r>
            <a:r>
              <a:rPr/>
              <a:t> → warming</a:t>
            </a:r>
          </a:p>
          <a:p>
            <a:pPr lvl="1"/>
            <a:r>
              <a:rPr i="1"/>
              <a:t>b</a:t>
            </a:r>
            <a:r>
              <a:rPr/>
              <a:t> </a:t>
            </a:r>
            <a:r>
              <a:rPr b="1"/>
              <a:t>negative</a:t>
            </a:r>
            <a:r>
              <a:rPr/>
              <a:t> → cooling</a:t>
            </a:r>
          </a:p>
          <a:p>
            <a:pPr lvl="1"/>
            <a:r>
              <a:rPr i="1"/>
              <a:t>b</a:t>
            </a:r>
            <a:r>
              <a:rPr/>
              <a:t> near 0 → no trend</a:t>
            </a:r>
          </a:p>
          <a:p>
            <a:pPr lvl="0"/>
            <a:r>
              <a:rPr b="1"/>
              <a:t>Make it human:</a:t>
            </a:r>
            <a:r>
              <a:rPr/>
              <a:t> °C per year is a tiny number</a:t>
            </a:r>
          </a:p>
          <a:p>
            <a:pPr lvl="1"/>
            <a:r>
              <a:rPr b="1"/>
              <a:t>multiply it by 10</a:t>
            </a:r>
            <a:r>
              <a:rPr/>
              <a:t> → °C </a:t>
            </a:r>
            <a:r>
              <a:rPr b="1"/>
              <a:t>per decade</a:t>
            </a:r>
          </a:p>
          <a:p>
            <a:pPr lvl="1"/>
            <a:r>
              <a:rPr/>
              <a:t>0.027 °C/year → about </a:t>
            </a:r>
            <a:r>
              <a:rPr b="1"/>
              <a:t>0.27 °C per decade</a:t>
            </a:r>
          </a:p>
          <a:p>
            <a:pPr lvl="0"/>
            <a:r>
              <a:rPr b="1"/>
              <a:t>The </a:t>
            </a:r>
            <a:r>
              <a:rPr b="1" i="1"/>
              <a:t>p</a:t>
            </a:r>
            <a:r>
              <a:rPr b="1"/>
              <a:t>-value still does the same job</a:t>
            </a:r>
          </a:p>
          <a:p>
            <a:pPr lvl="1"/>
            <a:r>
              <a:rPr/>
              <a:t>H₀: the slope is 0 — no trend at all</a:t>
            </a:r>
          </a:p>
          <a:p>
            <a:pPr lvl="1"/>
            <a:r>
              <a:rPr/>
              <a:t>small </a:t>
            </a:r>
            <a:r>
              <a:rPr i="1"/>
              <a:t>p</a:t>
            </a:r>
            <a:r>
              <a:rPr/>
              <a:t> → the trend is real, not chance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Why You Must Summarize First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/>
            <a:r>
              <a:rPr/>
              <a:t>A station reports </a:t>
            </a:r>
            <a:r>
              <a:rPr b="1"/>
              <a:t>one row per day</a:t>
            </a:r>
          </a:p>
          <a:p>
            <a:pPr lvl="1"/>
            <a:r>
              <a:rPr/>
              <a:t>70 years × 365 days ≈ </a:t>
            </a:r>
            <a:r>
              <a:rPr b="1"/>
              <a:t>25,000 rows</a:t>
            </a:r>
          </a:p>
          <a:p>
            <a:pPr lvl="0"/>
            <a:r>
              <a:rPr/>
              <a:t>Every one of those days carries the </a:t>
            </a:r>
            <a:r>
              <a:rPr b="1"/>
              <a:t>seasonal cycle</a:t>
            </a:r>
          </a:p>
          <a:p>
            <a:pPr lvl="1"/>
            <a:r>
              <a:rPr/>
              <a:t>January is 30 °C colder than July, every single year</a:t>
            </a:r>
          </a:p>
          <a:p>
            <a:pPr lvl="1"/>
            <a:r>
              <a:rPr/>
              <a:t>that swing is enormous compared with a few tenths of a degree of warming</a:t>
            </a:r>
          </a:p>
          <a:p>
            <a:pPr lvl="0"/>
            <a:r>
              <a:rPr/>
              <a:t>So the trend you want is </a:t>
            </a:r>
            <a:r>
              <a:rPr b="1"/>
              <a:t>buried</a:t>
            </a:r>
            <a:r>
              <a:rPr/>
              <a:t> in the noise you don’t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3200"/>
                <a:gridCol w="1473200"/>
                <a:gridCol w="147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Summary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group_by()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Rows left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Daily (raw)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~25,000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Yearly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year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69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Summarizing is not throwing data away.</a:t>
            </a:r>
          </a:p>
          <a:p>
            <a:pPr lvl="0"/>
            <a:r>
              <a:rPr sz="2000"/>
              <a:t>It is choosing </a:t>
            </a:r>
            <a:r>
              <a:rPr sz="2000" b="1"/>
              <a:t>which question</a:t>
            </a:r>
            <a:r>
              <a:rPr sz="2000"/>
              <a:t> you are answering</a:t>
            </a:r>
          </a:p>
          <a:p>
            <a:pPr lvl="0"/>
            <a:r>
              <a:rPr sz="2000"/>
              <a:t>Want to study a heat wave? Use </a:t>
            </a:r>
            <a:r>
              <a:rPr sz="2000" b="1"/>
              <a:t>daily</a:t>
            </a:r>
          </a:p>
          <a:p>
            <a:pPr lvl="0"/>
            <a:r>
              <a:rPr sz="2000"/>
              <a:t>Want to study climate? Use </a:t>
            </a:r>
            <a:r>
              <a:rPr sz="2000" b="1"/>
              <a:t>yearly</a:t>
            </a:r>
          </a:p>
          <a:p>
            <a:pPr lvl="0"/>
            <a:r>
              <a:rPr/>
              <a:t>One </a:t>
            </a:r>
            <a:r>
              <a:rPr>
                <a:latin typeface="Courier"/>
              </a:rPr>
              <a:t>group_by(year) %&gt;% summarize()</a:t>
            </a:r>
            <a:r>
              <a:rPr/>
              <a:t> — the same two lines from Summary Statistics</a:t>
            </a:r>
          </a:p>
          <a:p>
            <a:pPr lvl="0"/>
            <a:r>
              <a:rPr/>
              <a:t>That is the whole fix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🧩 Chunk 2 of 3 · Duluth’s Warming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We will cover:</a:t>
            </a:r>
            <a:r>
              <a:rPr/>
              <a:t> downloading the Duluth record, cleaning the names, summarizing to yearly means, and fitting </a:t>
            </a:r>
            <a:r>
              <a:rPr>
                <a:latin typeface="Courier"/>
              </a:rPr>
              <a:t>lm(temp ~ year)</a:t>
            </a:r>
            <a:r>
              <a:rPr/>
              <a:t>.</a:t>
            </a:r>
          </a:p>
          <a:p>
            <a:pPr lvl="0" indent="0" marL="0">
              <a:buNone/>
            </a:pPr>
            <a:r>
              <a:rPr b="1"/>
              <a:t>🛑 After this chunk: Activity Parts 1–5</a:t>
            </a:r>
            <a:r>
              <a:rPr/>
              <a:t> (download, summarize, plot, fit, read the slope).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Load Libraries and Download the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packages at the top -----------------------------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 </a:t>
            </a:r>
            <a:r>
              <a:rPr>
                <a:solidFill>
                  <a:srgbClr val="5E5E5E"/>
                </a:solidFill>
                <a:latin typeface="Courier"/>
              </a:rPr>
              <a:t># dplyr + ggplot2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(janitor) </a:t>
            </a:r>
            <a:r>
              <a:rPr>
                <a:solidFill>
                  <a:srgbClr val="5E5E5E"/>
                </a:solidFill>
                <a:latin typeface="Courier"/>
              </a:rPr>
              <a:t># clean_names()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(GSODR) </a:t>
            </a:r>
            <a:r>
              <a:rPr>
                <a:solidFill>
                  <a:srgbClr val="5E5E5E"/>
                </a:solidFill>
                <a:latin typeface="Courier"/>
              </a:rPr>
              <a:t># NOAA station data - Duluth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(nasapower) </a:t>
            </a:r>
            <a:r>
              <a:rPr>
                <a:solidFill>
                  <a:srgbClr val="5E5E5E"/>
                </a:solidFill>
                <a:latin typeface="Courier"/>
              </a:rPr>
              <a:t># NASA data by lat/long - another source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Download the whole Duluth record, 1948-2025 ----------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duluth_df &lt;- </a:t>
            </a:r>
            <a:r>
              <a:rPr>
                <a:solidFill>
                  <a:srgbClr val="4758AB"/>
                </a:solidFill>
                <a:latin typeface="Courier"/>
              </a:rPr>
              <a:t>get_GSOD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years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1948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2025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station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"727450-14913"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clean_names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get_GSOD()</a:t>
            </a:r>
            <a:r>
              <a:rPr/>
              <a:t> takes </a:t>
            </a:r>
            <a:r>
              <a:rPr b="1"/>
              <a:t>years</a:t>
            </a:r>
            <a:r>
              <a:rPr/>
              <a:t> and a </a:t>
            </a:r>
            <a:r>
              <a:rPr b="1"/>
              <a:t>station</a:t>
            </a:r>
            <a:r>
              <a:rPr/>
              <a:t> and goes and gets the data</a:t>
            </a:r>
          </a:p>
          <a:p>
            <a:pPr lvl="1"/>
            <a:r>
              <a:rPr>
                <a:latin typeface="Courier"/>
              </a:rPr>
              <a:t>get_GSOD()</a:t>
            </a:r>
            <a:r>
              <a:rPr/>
              <a:t> takes a </a:t>
            </a:r>
            <a:r>
              <a:rPr b="1"/>
              <a:t>year range</a:t>
            </a:r>
            <a:r>
              <a:rPr/>
              <a:t> and a </a:t>
            </a:r>
            <a:r>
              <a:rPr b="1"/>
              <a:t>station</a:t>
            </a:r>
          </a:p>
          <a:p>
            <a:pPr lvl="1"/>
            <a:r>
              <a:rPr>
                <a:latin typeface="Courier"/>
              </a:rPr>
              <a:t>1948:2025</a:t>
            </a:r>
            <a:r>
              <a:rPr/>
              <a:t> is a vector — “every year in this range”</a:t>
            </a:r>
          </a:p>
          <a:p>
            <a:pPr lvl="1"/>
            <a:r>
              <a:rPr/>
              <a:t>years NOAA doesn’t have are </a:t>
            </a:r>
            <a:r>
              <a:rPr b="1"/>
              <a:t>skipped</a:t>
            </a:r>
            <a:r>
              <a:rPr/>
              <a:t>, so you get </a:t>
            </a:r>
            <a:r>
              <a:rPr b="1"/>
              <a:t>70</a:t>
            </a:r>
            <a:r>
              <a:rPr/>
              <a:t>, not 78</a:t>
            </a:r>
          </a:p>
          <a:p>
            <a:pPr lvl="1"/>
            <a:r>
              <a:rPr/>
              <a:t>it takes a minute; 70 years of daily data is a lot</a:t>
            </a:r>
          </a:p>
          <a:p>
            <a:pPr lvl="0"/>
            <a:r>
              <a:rPr b="1">
                <a:latin typeface="Courier"/>
              </a:rPr>
              <a:t>clean_names()</a:t>
            </a:r>
            <a:r>
              <a:rPr b="1"/>
              <a:t> is the important habit here</a:t>
            </a:r>
          </a:p>
          <a:p>
            <a:pPr lvl="1"/>
            <a:r>
              <a:rPr/>
              <a:t>NOAA ships columns as </a:t>
            </a:r>
            <a:r>
              <a:rPr>
                <a:latin typeface="Courier"/>
              </a:rPr>
              <a:t>TEMP</a:t>
            </a:r>
            <a:r>
              <a:rPr/>
              <a:t>, </a:t>
            </a:r>
            <a:r>
              <a:rPr>
                <a:latin typeface="Courier"/>
              </a:rPr>
              <a:t>YEARMODA</a:t>
            </a:r>
            <a:r>
              <a:rPr/>
              <a:t>, </a:t>
            </a:r>
            <a:r>
              <a:rPr>
                <a:latin typeface="Courier"/>
              </a:rPr>
              <a:t>MXSPD</a:t>
            </a:r>
          </a:p>
          <a:p>
            <a:pPr lvl="1"/>
            <a:r>
              <a:rPr/>
              <a:t>R is case-sensitive, so </a:t>
            </a:r>
            <a:r>
              <a:rPr>
                <a:latin typeface="Courier"/>
              </a:rPr>
              <a:t>temp</a:t>
            </a:r>
            <a:r>
              <a:rPr/>
              <a:t> would error</a:t>
            </a:r>
          </a:p>
          <a:p>
            <a:pPr lvl="1"/>
            <a:r>
              <a:rPr>
                <a:latin typeface="Courier"/>
              </a:rPr>
              <a:t>clean_names()</a:t>
            </a:r>
            <a:r>
              <a:rPr/>
              <a:t> makes everything lower case and snake case, once, at the top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Clean the names as you load the data, and you never think about capitals again.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Did We Get?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How big is it, and what is in it? --------------------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dim</a:t>
            </a:r>
            <a:r>
              <a:rPr>
                <a:solidFill>
                  <a:srgbClr val="003B4F"/>
                </a:solidFill>
                <a:latin typeface="Courier"/>
              </a:rPr>
              <a:t>(duluth_df)</a:t>
            </a:r>
          </a:p>
          <a:p>
            <a:pPr lvl="0" indent="0">
              <a:buNone/>
            </a:pPr>
            <a:r>
              <a:rPr>
                <a:latin typeface="Courier"/>
              </a:rPr>
              <a:t>[1] 25441    47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names</a:t>
            </a:r>
            <a:r>
              <a:rPr>
                <a:solidFill>
                  <a:srgbClr val="003B4F"/>
                </a:solidFill>
                <a:latin typeface="Courier"/>
              </a:rPr>
              <a:t>(duluth_df)[</a:t>
            </a:r>
            <a:r>
              <a:rPr>
                <a:solidFill>
                  <a:srgbClr val="AD0000"/>
                </a:solidFill>
                <a:latin typeface="Courier"/>
              </a:rPr>
              <a:t>13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18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</a:p>
          <a:p>
            <a:pPr lvl="0" indent="0">
              <a:buNone/>
            </a:pPr>
            <a:r>
              <a:rPr>
                <a:latin typeface="Courier"/>
              </a:rPr>
              <a:t>[1] "yearmoda" "year"     "month"    "day"      "yday"     "temp"   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/>
              <a:t>~25,000 rows</a:t>
            </a:r>
            <a:r>
              <a:rPr/>
              <a:t> — one per day</a:t>
            </a:r>
          </a:p>
          <a:p>
            <a:pPr lvl="0"/>
            <a:r>
              <a:rPr b="1"/>
              <a:t>47 columns</a:t>
            </a:r>
            <a:r>
              <a:rPr/>
              <a:t> — temperature, dew point, wind, precipitation, flags…</a:t>
            </a:r>
          </a:p>
          <a:p>
            <a:pPr lvl="0"/>
            <a:r>
              <a:rPr/>
              <a:t>The handful we care about:</a:t>
            </a:r>
          </a:p>
          <a:p>
            <a:pPr lvl="1"/>
            <a:r>
              <a:rPr>
                <a:latin typeface="Courier"/>
              </a:rPr>
              <a:t>yearmoda</a:t>
            </a:r>
            <a:r>
              <a:rPr/>
              <a:t> — the date</a:t>
            </a:r>
          </a:p>
          <a:p>
            <a:pPr lvl="1"/>
            <a:r>
              <a:rPr>
                <a:latin typeface="Courier"/>
              </a:rPr>
              <a:t>year</a:t>
            </a:r>
            <a:r>
              <a:rPr/>
              <a:t>, </a:t>
            </a:r>
            <a:r>
              <a:rPr>
                <a:latin typeface="Courier"/>
              </a:rPr>
              <a:t>month</a:t>
            </a:r>
            <a:r>
              <a:rPr/>
              <a:t>, </a:t>
            </a:r>
            <a:r>
              <a:rPr>
                <a:latin typeface="Courier"/>
              </a:rPr>
              <a:t>day</a:t>
            </a:r>
          </a:p>
          <a:p>
            <a:pPr lvl="1"/>
            <a:r>
              <a:rPr>
                <a:latin typeface="Courier"/>
              </a:rPr>
              <a:t>temp</a:t>
            </a:r>
            <a:r>
              <a:rPr/>
              <a:t> — daily mean temperature in °C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names(df)</a:t>
            </a:r>
            <a:r>
              <a:rPr sz="2000"/>
              <a:t> is how you find out what a downloaded data set actually calls things. Always look before you type.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Trim to What We Need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Keep only the columns we actually use 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dlh_df &lt;- duluth_df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(name, yearmoda, year, month, temp)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(dlh_df,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                   name   yearmoda  year month  temp
                         &lt;char&gt;     &lt;Date&gt; &lt;int&gt; &lt;int&gt; &lt;num&gt;
1: DULUTH INTERNATIONAL AIRPORT 1948-01-01  1948     1  -8.2
2: DULUTH INTERNATIONAL AIRPORT 1948-01-02  1948     1  -4.1
3: DULUTH INTERNATIONAL AIRPORT 1948-01-03  1948     1  -8.4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47 columns is more than anyone needs to look at</a:t>
            </a:r>
          </a:p>
          <a:p>
            <a:pPr lvl="0"/>
            <a:r>
              <a:rPr>
                <a:latin typeface="Courier"/>
              </a:rPr>
              <a:t>select()</a:t>
            </a:r>
            <a:r>
              <a:rPr/>
              <a:t> keeps the five that answer our question</a:t>
            </a:r>
          </a:p>
          <a:p>
            <a:pPr lvl="0"/>
            <a:r>
              <a:rPr/>
              <a:t>Same </a:t>
            </a:r>
            <a:r>
              <a:rPr>
                <a:latin typeface="Courier"/>
              </a:rPr>
              <a:t>select()</a:t>
            </a:r>
            <a:r>
              <a:rPr/>
              <a:t> from the Wrangling lecture — just on a much wider real file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Trim early. Every later line is easier to read when the data frame has 5 columns instead of 47.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Look at the Raw Daily Data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Every single daily temperature 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raw_temp_plot &lt;- dlh_df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yearmoda,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temp))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raw_temp_plot</a:t>
            </a:r>
          </a:p>
        </p:txBody>
      </p:sp>
      <p:pic>
        <p:nvPicPr>
          <p:cNvPr descr="weather_lecture_files/figure-pptx/raw-plot-1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2070100"/>
            <a:ext cx="4432300" cy="170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/>
            <a:r>
              <a:rPr/>
              <a:t>A solid band about </a:t>
            </a:r>
            <a:r>
              <a:rPr b="1"/>
              <a:t>60 °C tall</a:t>
            </a:r>
            <a:r>
              <a:rPr/>
              <a:t> — that is summer vs winter, repeated 69 times</a:t>
            </a:r>
          </a:p>
          <a:p>
            <a:pPr lvl="0"/>
            <a:r>
              <a:rPr/>
              <a:t>~25,000 points on top of each other</a:t>
            </a:r>
          </a:p>
          <a:p>
            <a:pPr lvl="0"/>
            <a:r>
              <a:rPr/>
              <a:t>Any warming trend is in there, but it is a </a:t>
            </a:r>
            <a:r>
              <a:rPr b="1"/>
              <a:t>fraction of a degree</a:t>
            </a:r>
            <a:r>
              <a:rPr/>
              <a:t> against a 60 °C swing</a:t>
            </a:r>
          </a:p>
          <a:p>
            <a:pPr lvl="0" indent="0" marL="0">
              <a:buNone/>
            </a:pPr>
            <a:r>
              <a:rPr b="1"/>
              <a:t>So you cannot see it.</a:t>
            </a:r>
            <a:r>
              <a:rPr/>
              <a:t> That is not a plotting problem — it is a summarizing problem.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Summarize to One Mean per Year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Mean temperature per year ----------------------------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dlh_year_df &lt;- dlh_df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(year)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temp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(temp,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(dlh_year_df,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3 × 2
   year  temp
  &lt;int&gt; &lt;dbl&gt;
1  1948  3.76
2  1949  4.10
3  1950  1.60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group_by(year)</a:t>
            </a:r>
            <a:r>
              <a:rPr/>
              <a:t> — one group per year</a:t>
            </a:r>
          </a:p>
          <a:p>
            <a:pPr lvl="0"/>
            <a:r>
              <a:rPr>
                <a:latin typeface="Courier"/>
              </a:rPr>
              <a:t>summarize(temp = mean(temp))</a:t>
            </a:r>
            <a:r>
              <a:rPr/>
              <a:t> — one number per group</a:t>
            </a:r>
          </a:p>
          <a:p>
            <a:pPr lvl="0"/>
            <a:r>
              <a:rPr b="1"/>
              <a:t>25,000 rows become 69</a:t>
            </a:r>
          </a:p>
          <a:p>
            <a:pPr lvl="0"/>
            <a:r>
              <a:rPr>
                <a:latin typeface="Courier"/>
              </a:rPr>
              <a:t>na.rm = TRUE</a:t>
            </a:r>
            <a:r>
              <a:rPr/>
              <a:t> ignores days the station missed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Reusing the name </a:t>
            </a:r>
            <a:r>
              <a:rPr sz="2000">
                <a:latin typeface="Courier"/>
              </a:rPr>
              <a:t>temp</a:t>
            </a:r>
            <a:r>
              <a:rPr sz="2000"/>
              <a:t> on the left means every line below keeps working — the same trick from T-Tests II.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Plot the Yearly Means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Yearly means with the regression line 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yearly_temp_plot &lt;- dlh_year_df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year,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temp))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geom_smooth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"lm"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yearly_temp_plot</a:t>
            </a:r>
          </a:p>
        </p:txBody>
      </p:sp>
      <p:pic>
        <p:nvPicPr>
          <p:cNvPr descr="weather_lecture_files/figure-pptx/yearly-plot-1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2006600"/>
            <a:ext cx="4432300" cy="184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/>
            <a:r>
              <a:rPr b="1"/>
              <a:t>Now you can see it.</a:t>
            </a:r>
            <a:r>
              <a:rPr/>
              <a:t> The line clearly rises</a:t>
            </a:r>
          </a:p>
          <a:p>
            <a:pPr lvl="0"/>
            <a:r>
              <a:rPr/>
              <a:t>69 points instead of 25,000 — and the story is </a:t>
            </a:r>
            <a:r>
              <a:rPr i="1"/>
              <a:t>clearer</a:t>
            </a:r>
            <a:r>
              <a:rPr/>
              <a:t>, not weaker</a:t>
            </a:r>
          </a:p>
          <a:p>
            <a:pPr lvl="0"/>
            <a:r>
              <a:rPr/>
              <a:t>Still plenty of scatter: single years are weather, the line is climate</a:t>
            </a:r>
          </a:p>
          <a:p>
            <a:pPr lvl="0"/>
            <a:r>
              <a:rPr/>
              <a:t>Exactly the same </a:t>
            </a:r>
            <a:r>
              <a:rPr>
                <a:latin typeface="Courier"/>
              </a:rPr>
              <a:t>geom_smooth(method = "lm")</a:t>
            </a:r>
            <a:r>
              <a:rPr/>
              <a:t> as the Regression lecture</a:t>
            </a:r>
          </a:p>
          <a:p>
            <a:pPr lvl="0" indent="0" marL="0">
              <a:buNone/>
            </a:pPr>
            <a:r>
              <a:rPr b="1"/>
              <a:t>But “it looks like it goes up” is not a result.</a:t>
            </a:r>
            <a:r>
              <a:rPr/>
              <a:t> We need the number.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Fit the Trend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Temperature predicted by year 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dlh_year_model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(temp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year,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dlh_year_df)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(dlh_year_model)</a:t>
            </a:r>
          </a:p>
          <a:p>
            <a:pPr lvl="0" indent="0">
              <a:buNone/>
            </a:pPr>
            <a:r>
              <a:rPr>
                <a:latin typeface="Courier"/>
              </a:rPr>
              <a:t>
Call:
lm(formula = temp ~ year, data = dlh_year_df)
Residuals:
     Min       1Q   Median       3Q      Max 
-1.99794 -0.51059  0.00688  0.49950  1.90458 
Coefficients:
              Estimate Std. Error t value Pr(&gt;|t|)    
(Intercept) -49.096842   9.119103  -5.384 9.77e-07 ***
year          0.026872   0.004585   5.860 1.49e-07 ***
---
Signif. codes:  0 '***' 0.001 '**' 0.01 '*' 0.05 '.' 0.1 ' ' 1
Residual standard error: 0.8774 on 68 degrees of freedom
Multiple R-squared:  0.3356,    Adjusted R-squared:  0.3258 
F-statistic: 34.34 on 1 and 68 DF,  p-value: 1.489e-07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lm(temp ~ year)</a:t>
            </a:r>
            <a:r>
              <a:rPr/>
              <a:t> reads “</a:t>
            </a:r>
            <a:r>
              <a:rPr b="1"/>
              <a:t>temperature is predicted by year</a:t>
            </a:r>
            <a:r>
              <a:rPr/>
              <a:t>”</a:t>
            </a:r>
          </a:p>
          <a:p>
            <a:pPr lvl="0"/>
            <a:r>
              <a:rPr/>
              <a:t>Y on the left, X on the right — same as always</a:t>
            </a:r>
          </a:p>
          <a:p>
            <a:pPr lvl="0"/>
            <a:r>
              <a:rPr/>
              <a:t>The three numbers you want are all in this output:</a:t>
            </a:r>
          </a:p>
          <a:p>
            <a:pPr lvl="1"/>
            <a:r>
              <a:rPr/>
              <a:t>the </a:t>
            </a:r>
            <a:r>
              <a:rPr b="1"/>
              <a:t>slope</a:t>
            </a:r>
            <a:r>
              <a:rPr/>
              <a:t> (</a:t>
            </a:r>
            <a:r>
              <a:rPr>
                <a:latin typeface="Courier"/>
              </a:rPr>
              <a:t>year</a:t>
            </a:r>
            <a:r>
              <a:rPr/>
              <a:t> → </a:t>
            </a:r>
            <a:r>
              <a:rPr>
                <a:latin typeface="Courier"/>
              </a:rPr>
              <a:t>Estimate</a:t>
            </a:r>
            <a:r>
              <a:rPr/>
              <a:t>)</a:t>
            </a:r>
          </a:p>
          <a:p>
            <a:pPr lvl="1"/>
            <a:r>
              <a:rPr/>
              <a:t>its </a:t>
            </a:r>
            <a:r>
              <a:rPr b="1" i="1"/>
              <a:t>p</a:t>
            </a:r>
            <a:r>
              <a:rPr b="1"/>
              <a:t>-value</a:t>
            </a:r>
            <a:r>
              <a:rPr/>
              <a:t> (</a:t>
            </a:r>
            <a:r>
              <a:rPr>
                <a:latin typeface="Courier"/>
              </a:rPr>
              <a:t>year</a:t>
            </a:r>
            <a:r>
              <a:rPr/>
              <a:t> → </a:t>
            </a:r>
            <a:r>
              <a:rPr>
                <a:latin typeface="Courier"/>
              </a:rPr>
              <a:t>Pr(&gt;|t|)</a:t>
            </a:r>
            <a:r>
              <a:rPr/>
              <a:t>)</a:t>
            </a:r>
          </a:p>
          <a:p>
            <a:pPr lvl="1"/>
            <a:r>
              <a:rPr b="1"/>
              <a:t>R²</a:t>
            </a:r>
            <a:r>
              <a:rPr/>
              <a:t> (</a:t>
            </a:r>
            <a:r>
              <a:rPr>
                <a:latin typeface="Courier"/>
              </a:rPr>
              <a:t>Multiple R-squared</a:t>
            </a:r>
            <a:r>
              <a:rPr/>
              <a:t>)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Reading the Warming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Look at the </a:t>
            </a:r>
            <a:r>
              <a:rPr b="1">
                <a:latin typeface="Courier"/>
              </a:rPr>
              <a:t>year</a:t>
            </a:r>
            <a:r>
              <a:rPr b="1"/>
              <a:t> row of the Coefficients table.</a:t>
            </a:r>
          </a:p>
          <a:p>
            <a:pPr lvl="0"/>
            <a:r>
              <a:rPr b="1">
                <a:latin typeface="Courier"/>
              </a:rPr>
              <a:t>Estimate</a:t>
            </a:r>
            <a:r>
              <a:rPr b="1"/>
              <a:t> ≈ 0.027</a:t>
            </a:r>
            <a:r>
              <a:rPr/>
              <a:t> — that is the slope</a:t>
            </a:r>
          </a:p>
          <a:p>
            <a:pPr lvl="1"/>
            <a:r>
              <a:rPr/>
              <a:t>units: </a:t>
            </a:r>
            <a:r>
              <a:rPr b="1"/>
              <a:t>°C per year</a:t>
            </a:r>
          </a:p>
          <a:p>
            <a:pPr lvl="1"/>
            <a:r>
              <a:rPr/>
              <a:t>positive → Duluth is </a:t>
            </a:r>
            <a:r>
              <a:rPr b="1"/>
              <a:t>warming</a:t>
            </a:r>
          </a:p>
          <a:p>
            <a:pPr lvl="1"/>
            <a:r>
              <a:rPr/>
              <a:t>×10 → about </a:t>
            </a:r>
            <a:r>
              <a:rPr b="1"/>
              <a:t>0.27 °C per decade</a:t>
            </a:r>
          </a:p>
          <a:p>
            <a:pPr lvl="1"/>
            <a:r>
              <a:rPr/>
              <a:t>over ~78 years → roughly </a:t>
            </a:r>
            <a:r>
              <a:rPr b="1"/>
              <a:t>2 °C</a:t>
            </a:r>
          </a:p>
          <a:p>
            <a:pPr lvl="0"/>
            <a:r>
              <a:rPr b="1">
                <a:latin typeface="Courier"/>
              </a:rPr>
              <a:t>Pr(&gt;|t|)</a:t>
            </a:r>
            <a:r>
              <a:rPr b="1"/>
              <a:t> is tiny</a:t>
            </a:r>
            <a:r>
              <a:rPr/>
              <a:t> (far below 0.001)</a:t>
            </a:r>
          </a:p>
          <a:p>
            <a:pPr lvl="1"/>
            <a:r>
              <a:rPr/>
              <a:t>the warming is </a:t>
            </a:r>
            <a:r>
              <a:rPr b="1"/>
              <a:t>real</a:t>
            </a:r>
            <a:r>
              <a:rPr/>
              <a:t>, not year-to-year luck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>
                <a:latin typeface="Courier"/>
              </a:rPr>
              <a:t>Multiple R-squared</a:t>
            </a:r>
            <a:r>
              <a:rPr b="1"/>
              <a:t> ≈ 0.34</a:t>
            </a:r>
          </a:p>
          <a:p>
            <a:pPr lvl="1"/>
            <a:r>
              <a:rPr/>
              <a:t>year explains about </a:t>
            </a:r>
            <a:r>
              <a:rPr b="1"/>
              <a:t>a third</a:t>
            </a:r>
            <a:r>
              <a:rPr/>
              <a:t> of the variation in annual temperature</a:t>
            </a:r>
          </a:p>
          <a:p>
            <a:pPr lvl="1"/>
            <a:r>
              <a:rPr/>
              <a:t>the other two thirds is </a:t>
            </a:r>
            <a:r>
              <a:rPr b="1"/>
              <a:t>weather</a:t>
            </a:r>
            <a:r>
              <a:rPr/>
              <a:t> — some years are just cold</a:t>
            </a:r>
          </a:p>
          <a:p>
            <a:pPr lvl="1"/>
            <a:r>
              <a:rPr/>
              <a:t>a modest R² next to a rock-solid </a:t>
            </a:r>
            <a:r>
              <a:rPr i="1"/>
              <a:t>p</a:t>
            </a:r>
            <a:r>
              <a:rPr/>
              <a:t> is completely normal in climate data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The intercept looks absurd — about −49 °C.</a:t>
            </a:r>
          </a:p>
          <a:p>
            <a:pPr lvl="0"/>
            <a:r>
              <a:rPr sz="2000"/>
              <a:t>That is the predicted temperature at “year 0”</a:t>
            </a:r>
          </a:p>
          <a:p>
            <a:pPr lvl="0"/>
            <a:r>
              <a:rPr sz="2000"/>
              <a:t>Year 0 is 2,000 years outside the data</a:t>
            </a:r>
          </a:p>
          <a:p>
            <a:pPr lvl="0"/>
            <a:r>
              <a:rPr sz="2000"/>
              <a:t>The intercept is bookkeeping; the </a:t>
            </a:r>
            <a:r>
              <a:rPr sz="2000" b="1"/>
              <a:t>slope</a:t>
            </a:r>
            <a:r>
              <a:rPr sz="2000"/>
              <a:t> is the science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→ ACTIVITY 12 Parts 1–5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🛑 Do Activity Parts 1–5 now</a:t>
            </a:r>
          </a:p>
          <a:p>
            <a:pPr lvl="0"/>
            <a:r>
              <a:rPr/>
              <a:t>Download the Duluth record and </a:t>
            </a:r>
            <a:r>
              <a:rPr>
                <a:latin typeface="Courier"/>
              </a:rPr>
              <a:t>clean_names()</a:t>
            </a:r>
            <a:r>
              <a:rPr/>
              <a:t> it</a:t>
            </a:r>
          </a:p>
          <a:p>
            <a:pPr lvl="0"/>
            <a:r>
              <a:rPr/>
              <a:t>Trim the columns and plot the raw daily data</a:t>
            </a:r>
          </a:p>
          <a:p>
            <a:pPr lvl="0"/>
            <a:r>
              <a:rPr/>
              <a:t>Summarize to one mean per year and plot it</a:t>
            </a:r>
          </a:p>
          <a:p>
            <a:pPr lvl="0"/>
            <a:r>
              <a:rPr/>
              <a:t>Fit </a:t>
            </a:r>
            <a:r>
              <a:rPr>
                <a:latin typeface="Courier"/>
              </a:rPr>
              <a:t>lm(temp ~ year)</a:t>
            </a:r>
            <a:r>
              <a:rPr/>
              <a:t> and read the slope, </a:t>
            </a:r>
            <a:r>
              <a:rPr i="1"/>
              <a:t>p</a:t>
            </a:r>
            <a:r>
              <a:rPr/>
              <a:t>, and R² off </a:t>
            </a:r>
            <a:r>
              <a:rPr>
                <a:latin typeface="Courier"/>
              </a:rPr>
              <a:t>summary()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🧩 Chunk 3 of 3 · Seasons, and Your Own 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We will cover:</a:t>
            </a:r>
            <a:r>
              <a:rPr/>
              <a:t> labelling each day with a season, fitting a separate model for summer and winter, finding the station ID for a city you choose, and testing its warming rate against Duluth’s.</a:t>
            </a:r>
          </a:p>
          <a:p>
            <a:pPr lvl="0" indent="0" marL="0">
              <a:buNone/>
            </a:pPr>
            <a:r>
              <a:rPr b="1"/>
              <a:t>🛑 After this chunk: Activity Parts 6–10</a:t>
            </a:r>
            <a:r>
              <a:rPr/>
              <a:t> (seasons, two models, your own city).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 Better Question — Which Season Is Warming?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The annual mean says Duluth warmed about </a:t>
            </a:r>
            <a:r>
              <a:rPr b="1"/>
              <a:t>0.27 °C per decade</a:t>
            </a:r>
          </a:p>
          <a:p>
            <a:pPr lvl="0"/>
            <a:r>
              <a:rPr/>
              <a:t>But an annual mean </a:t>
            </a:r>
            <a:r>
              <a:rPr b="1"/>
              <a:t>hides which part of the year moved</a:t>
            </a:r>
          </a:p>
          <a:p>
            <a:pPr lvl="0"/>
            <a:r>
              <a:rPr/>
              <a:t>That distinction is the biologically interesting one:</a:t>
            </a:r>
          </a:p>
          <a:p>
            <a:pPr lvl="1"/>
            <a:r>
              <a:rPr b="1"/>
              <a:t>ice-out dates</a:t>
            </a:r>
            <a:r>
              <a:rPr/>
              <a:t> and </a:t>
            </a:r>
            <a:r>
              <a:rPr b="1"/>
              <a:t>frozen soil</a:t>
            </a:r>
            <a:r>
              <a:rPr/>
              <a:t> depend on </a:t>
            </a:r>
            <a:r>
              <a:rPr i="1"/>
              <a:t>winter</a:t>
            </a:r>
          </a:p>
          <a:p>
            <a:pPr lvl="1"/>
            <a:r>
              <a:rPr b="1"/>
              <a:t>heat stress</a:t>
            </a:r>
            <a:r>
              <a:rPr/>
              <a:t> and </a:t>
            </a:r>
            <a:r>
              <a:rPr b="1"/>
              <a:t>drought</a:t>
            </a:r>
            <a:r>
              <a:rPr/>
              <a:t> depend on </a:t>
            </a:r>
            <a:r>
              <a:rPr i="1"/>
              <a:t>summer</a:t>
            </a:r>
          </a:p>
          <a:p>
            <a:pPr lvl="1"/>
            <a:r>
              <a:rPr b="1"/>
              <a:t>growing season length</a:t>
            </a:r>
            <a:r>
              <a:rPr/>
              <a:t> depends on the shoulders</a:t>
            </a:r>
          </a:p>
          <a:p>
            <a:pPr lvl="0" indent="0" marL="0">
              <a:buNone/>
            </a:pPr>
            <a:r>
              <a:rPr b="1"/>
              <a:t>The plan — three steps you already know: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mutate()</a:t>
            </a:r>
            <a:r>
              <a:rPr/>
              <a:t> + </a:t>
            </a:r>
            <a:r>
              <a:rPr>
                <a:latin typeface="Courier"/>
              </a:rPr>
              <a:t>case_when()</a:t>
            </a:r>
            <a:r>
              <a:rPr/>
              <a:t> to label each day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group_by(year, season)</a:t>
            </a:r>
            <a:r>
              <a:rPr/>
              <a:t> + </a:t>
            </a:r>
            <a:r>
              <a:rPr>
                <a:latin typeface="Courier"/>
              </a:rPr>
              <a:t>summarize()</a:t>
            </a:r>
          </a:p>
          <a:p>
            <a:pPr lvl="0" indent="-342900" marL="342900">
              <a:buAutoNum type="arabicPeriod"/>
            </a:pPr>
            <a:r>
              <a:rPr/>
              <a:t>One </a:t>
            </a:r>
            <a:r>
              <a:rPr>
                <a:latin typeface="Courier"/>
              </a:rPr>
              <a:t>lm()</a:t>
            </a:r>
            <a:r>
              <a:rPr/>
              <a:t> per season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⚠️ Seasons are not months — they are hemispheres.</a:t>
            </a:r>
          </a:p>
          <a:p>
            <a:pPr lvl="0"/>
            <a:r>
              <a:rPr sz="2000"/>
              <a:t>June–August is </a:t>
            </a:r>
            <a:r>
              <a:rPr sz="2000" b="1"/>
              <a:t>summer</a:t>
            </a:r>
            <a:r>
              <a:rPr sz="2000"/>
              <a:t> north of the equator</a:t>
            </a:r>
          </a:p>
          <a:p>
            <a:pPr lvl="0"/>
            <a:r>
              <a:rPr sz="2000"/>
              <a:t>June–August is </a:t>
            </a:r>
            <a:r>
              <a:rPr sz="2000" b="1"/>
              <a:t>winter</a:t>
            </a:r>
            <a:r>
              <a:rPr sz="2000"/>
              <a:t> south of it</a:t>
            </a:r>
          </a:p>
          <a:p>
            <a:pPr lvl="0"/>
            <a:r>
              <a:rPr sz="2000"/>
              <a:t>If you pick Melbourne, Santiago or Cape Town later, you must </a:t>
            </a:r>
            <a:r>
              <a:rPr sz="2000" b="1"/>
              <a:t>swap the labels</a:t>
            </a:r>
          </a:p>
          <a:p>
            <a:pPr lvl="0"/>
            <a:r>
              <a:rPr/>
              <a:t>A station’s </a:t>
            </a:r>
            <a:r>
              <a:rPr>
                <a:latin typeface="Courier"/>
              </a:rPr>
              <a:t>latitude</a:t>
            </a:r>
            <a:r>
              <a:rPr/>
              <a:t> column tells you which hemisphere you are in</a:t>
            </a:r>
          </a:p>
          <a:p>
            <a:pPr lvl="1"/>
            <a:r>
              <a:rPr/>
              <a:t>positive → northern</a:t>
            </a:r>
          </a:p>
          <a:p>
            <a:pPr lvl="1"/>
            <a:r>
              <a:rPr/>
              <a:t>negative → southern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Label Each Day with a Season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Northern hemisphere seasons --------------------------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SOUTHERN hemisphere: swap summer and winter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dlh_season_df &lt;- dlh_df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season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case_when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month </a:t>
            </a:r>
            <a:r>
              <a:rPr>
                <a:solidFill>
                  <a:srgbClr val="5E5E5E"/>
                </a:solidFill>
                <a:latin typeface="Courier"/>
              </a:rPr>
              <a:t>%in%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8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"summer"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month </a:t>
            </a:r>
            <a:r>
              <a:rPr>
                <a:solidFill>
                  <a:srgbClr val="5E5E5E"/>
                </a:solidFill>
                <a:latin typeface="Courier"/>
              </a:rPr>
              <a:t>%in%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"winter"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"shoulder"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Did it work? -----------------------------------------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dlh_season_df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count</a:t>
            </a:r>
            <a:r>
              <a:rPr>
                <a:solidFill>
                  <a:srgbClr val="003B4F"/>
                </a:solidFill>
                <a:latin typeface="Courier"/>
              </a:rPr>
              <a:t>(season)</a:t>
            </a:r>
          </a:p>
          <a:p>
            <a:pPr lvl="0" indent="0">
              <a:buNone/>
            </a:pPr>
            <a:r>
              <a:rPr>
                <a:latin typeface="Courier"/>
              </a:rPr>
              <a:t>     season     n
     &lt;char&gt; &lt;int&gt;
1: shoulder 12718
2:   summer  6436
3:   winter  6287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case_when()</a:t>
            </a:r>
            <a:r>
              <a:rPr/>
              <a:t> reads top to bottom: </a:t>
            </a:r>
            <a:r>
              <a:rPr i="1"/>
              <a:t>condition</a:t>
            </a:r>
            <a:r>
              <a:rPr/>
              <a:t> </a:t>
            </a:r>
            <a:r>
              <a:rPr>
                <a:latin typeface="Courier"/>
              </a:rPr>
              <a:t>~</a:t>
            </a:r>
            <a:r>
              <a:rPr/>
              <a:t> </a:t>
            </a:r>
            <a:r>
              <a:rPr i="1"/>
              <a:t>answer</a:t>
            </a:r>
          </a:p>
          <a:p>
            <a:pPr lvl="1"/>
            <a:r>
              <a:rPr/>
              <a:t>the </a:t>
            </a:r>
            <a:r>
              <a:rPr b="1"/>
              <a:t>first</a:t>
            </a:r>
            <a:r>
              <a:rPr/>
              <a:t> matching line wins</a:t>
            </a:r>
          </a:p>
          <a:p>
            <a:pPr lvl="0"/>
            <a:r>
              <a:rPr>
                <a:latin typeface="Courier"/>
              </a:rPr>
              <a:t>month %in% c(6, 7, 8)</a:t>
            </a:r>
            <a:r>
              <a:rPr/>
              <a:t> = “is month 6, 7 or 8?”</a:t>
            </a:r>
          </a:p>
          <a:p>
            <a:pPr lvl="0"/>
            <a:r>
              <a:rPr>
                <a:latin typeface="Courier"/>
              </a:rPr>
              <a:t>TRUE ~ "shoulder"</a:t>
            </a:r>
            <a:r>
              <a:rPr/>
              <a:t> is the catch-all for everything left over — spring and fall</a:t>
            </a:r>
          </a:p>
          <a:p>
            <a:pPr lvl="0"/>
            <a:r>
              <a:rPr>
                <a:latin typeface="Courier"/>
              </a:rPr>
              <a:t>count()</a:t>
            </a:r>
            <a:r>
              <a:rPr/>
              <a:t> is the check: roughly a quarter of the days in each of summer and winter, half in the shoulder</a:t>
            </a:r>
          </a:p>
          <a:p>
            <a:pPr lvl="0" indent="0" marL="0">
              <a:buNone/>
            </a:pPr>
            <a:r>
              <a:rPr/>
              <a:t>📖 R4DS §3.4 — </a:t>
            </a:r>
            <a:r>
              <a:rPr>
                <a:latin typeface="Courier"/>
              </a:rPr>
              <a:t>case_when()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Summarize by Year </a:t>
            </a:r>
            <a:r>
              <a:rPr i="1"/>
              <a:t>and</a:t>
            </a:r>
            <a:r>
              <a:rPr/>
              <a:t> Season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Drop the shoulder, then one mean per year per season 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season_year_df &lt;- dlh_season_df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(season </a:t>
            </a:r>
            <a:r>
              <a:rPr>
                <a:solidFill>
                  <a:srgbClr val="5E5E5E"/>
                </a:solidFill>
                <a:latin typeface="Courier"/>
              </a:rPr>
              <a:t>!=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"shoulder"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(year, season)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temp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(temp,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657422"/>
                </a:solidFill>
                <a:latin typeface="Courier"/>
              </a:rPr>
              <a:t>.groups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"drop"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(season_year_df,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4 × 3
   year season  temp
  &lt;int&gt; &lt;chr&gt;  &lt;dbl&gt;
1  1948 summer  17.4
2  1948 winter -12.6
3  1949 summer  18.4
4  1949 winter -11.4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filter(season != "shoulder")</a:t>
            </a:r>
            <a:r>
              <a:rPr/>
              <a:t> — </a:t>
            </a:r>
            <a:r>
              <a:rPr>
                <a:latin typeface="Courier"/>
              </a:rPr>
              <a:t>!=</a:t>
            </a:r>
            <a:r>
              <a:rPr/>
              <a:t> means “is not”</a:t>
            </a:r>
          </a:p>
          <a:p>
            <a:pPr lvl="1"/>
            <a:r>
              <a:rPr/>
              <a:t>keeps only the two extremes</a:t>
            </a:r>
          </a:p>
          <a:p>
            <a:pPr lvl="0"/>
            <a:r>
              <a:rPr>
                <a:latin typeface="Courier"/>
              </a:rPr>
              <a:t>group_by(year, season)</a:t>
            </a:r>
            <a:r>
              <a:rPr/>
              <a:t> — </a:t>
            </a:r>
            <a:r>
              <a:rPr b="1"/>
              <a:t>two</a:t>
            </a:r>
            <a:r>
              <a:rPr/>
              <a:t> grouping columns</a:t>
            </a:r>
          </a:p>
          <a:p>
            <a:pPr lvl="1"/>
            <a:r>
              <a:rPr/>
              <a:t>one row per year </a:t>
            </a:r>
            <a:r>
              <a:rPr b="1"/>
              <a:t>per season</a:t>
            </a:r>
          </a:p>
          <a:p>
            <a:pPr lvl="1"/>
            <a:r>
              <a:rPr/>
              <a:t>70 years × 2 seasons = 140 rows</a:t>
            </a:r>
          </a:p>
          <a:p>
            <a:pPr lvl="0"/>
            <a:r>
              <a:rPr>
                <a:latin typeface="Courier"/>
              </a:rPr>
              <a:t>.groups = "drop"</a:t>
            </a:r>
            <a:r>
              <a:rPr/>
              <a:t> tidies up afterwards</a:t>
            </a:r>
          </a:p>
          <a:p>
            <a:pPr lvl="0" indent="0" marL="0">
              <a:buNone/>
            </a:pPr>
            <a:r>
              <a:rPr/>
              <a:t>This is the same two-column </a:t>
            </a:r>
            <a:r>
              <a:rPr>
                <a:latin typeface="Courier"/>
              </a:rPr>
              <a:t>group_by()</a:t>
            </a:r>
            <a:r>
              <a:rPr/>
              <a:t> from T-Tests II.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Plot Both Seasons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One line per season ----------------------------------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season_temp_plot &lt;- season_year_df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year,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temp,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season))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geom_smooth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"lm"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season_temp_plot</a:t>
            </a:r>
          </a:p>
        </p:txBody>
      </p:sp>
      <p:pic>
        <p:nvPicPr>
          <p:cNvPr descr="weather_lecture_files/figure-pptx/season-plot-1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2032000"/>
            <a:ext cx="4432300" cy="1778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color = season</a:t>
            </a:r>
            <a:r>
              <a:rPr/>
              <a:t> inside </a:t>
            </a:r>
            <a:r>
              <a:rPr>
                <a:latin typeface="Courier"/>
              </a:rPr>
              <a:t>aes()</a:t>
            </a:r>
            <a:r>
              <a:rPr/>
              <a:t> does two jobs at once:</a:t>
            </a:r>
          </a:p>
          <a:p>
            <a:pPr lvl="1"/>
            <a:r>
              <a:rPr/>
              <a:t>colors the points by season</a:t>
            </a:r>
          </a:p>
          <a:p>
            <a:pPr lvl="1"/>
            <a:r>
              <a:rPr/>
              <a:t>makes </a:t>
            </a:r>
            <a:r>
              <a:rPr>
                <a:latin typeface="Courier"/>
              </a:rPr>
              <a:t>geom_smooth()</a:t>
            </a:r>
            <a:r>
              <a:rPr/>
              <a:t> fit </a:t>
            </a:r>
            <a:r>
              <a:rPr b="1"/>
              <a:t>a separate line per season</a:t>
            </a:r>
          </a:p>
          <a:p>
            <a:pPr lvl="0"/>
            <a:r>
              <a:rPr/>
              <a:t>Two bands, far apart — winter near −11 °C, summer near 18 °C</a:t>
            </a:r>
          </a:p>
          <a:p>
            <a:pPr lvl="0"/>
            <a:r>
              <a:rPr b="1"/>
              <a:t>Don’t compare the heights. Compare the steepness.</a:t>
            </a:r>
          </a:p>
          <a:p>
            <a:pPr lvl="1"/>
            <a:r>
              <a:rPr/>
              <a:t>the height is just “winter is cold”</a:t>
            </a:r>
          </a:p>
          <a:p>
            <a:pPr lvl="1"/>
            <a:r>
              <a:rPr/>
              <a:t>the </a:t>
            </a:r>
            <a:r>
              <a:rPr b="1"/>
              <a:t>slope</a:t>
            </a:r>
            <a:r>
              <a:rPr/>
              <a:t> is the warming rate</a:t>
            </a:r>
          </a:p>
          <a:p>
            <a:pPr lvl="0"/>
            <a:r>
              <a:rPr/>
              <a:t>Winter’s line looks steeper — but we need the numbers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 Model for Summer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Summer only ------------------------------------------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summer_df &lt;- season_year_df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(season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"summer"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summer_model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(temp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year,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summer_df)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(summer_model)</a:t>
            </a:r>
          </a:p>
          <a:p>
            <a:pPr lvl="0" indent="0">
              <a:buNone/>
            </a:pPr>
            <a:r>
              <a:rPr>
                <a:latin typeface="Courier"/>
              </a:rPr>
              <a:t>
Call:
lm(formula = temp ~ year, data = summer_df)
Residuals:
    Min      1Q  Median      3Q     Max 
-2.6841 -0.7543  0.1585  0.6622  2.1918 
Coefficients:
              Estimate Std. Error t value Pr(&gt;|t|)    
(Intercept) -24.267149  10.815992  -2.244 0.028116 *  
year          0.021059   0.005439   3.872 0.000245 ***
---
Signif. codes:  0 '***' 0.001 '**' 0.01 '*' 0.05 '.' 0.1 ' ' 1
Residual standard error: 1.041 on 68 degrees of freedom
Multiple R-squared:  0.1807,    Adjusted R-squared:  0.1686 
F-statistic: 14.99 on 1 and 68 DF,  p-value: 0.0002448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filter()</a:t>
            </a:r>
            <a:r>
              <a:rPr/>
              <a:t> first, then the </a:t>
            </a:r>
            <a:r>
              <a:rPr b="1"/>
              <a:t>same </a:t>
            </a:r>
            <a:r>
              <a:rPr b="1">
                <a:latin typeface="Courier"/>
              </a:rPr>
              <a:t>lm()</a:t>
            </a:r>
            <a:r>
              <a:rPr b="1"/>
              <a:t> as before</a:t>
            </a:r>
          </a:p>
          <a:p>
            <a:pPr lvl="0"/>
            <a:r>
              <a:rPr/>
              <a:t>Two small models are far easier to read than one complicated one</a:t>
            </a:r>
          </a:p>
          <a:p>
            <a:pPr lvl="0" indent="0" marL="0">
              <a:buNone/>
            </a:pPr>
            <a:r>
              <a:rPr b="1"/>
              <a:t>Summer slope ≈ 0.022 °C/year</a:t>
            </a:r>
          </a:p>
          <a:p>
            <a:pPr lvl="0"/>
            <a:r>
              <a:rPr/>
              <a:t>×10 → about </a:t>
            </a:r>
            <a:r>
              <a:rPr b="1"/>
              <a:t>0.21 °C per decade</a:t>
            </a:r>
          </a:p>
          <a:p>
            <a:pPr lvl="0"/>
            <a:r>
              <a:rPr i="1"/>
              <a:t>p</a:t>
            </a:r>
            <a:r>
              <a:rPr/>
              <a:t> = 0.0002 → real</a:t>
            </a:r>
          </a:p>
          <a:p>
            <a:pPr lvl="0" indent="0" marL="0">
              <a:buNone/>
            </a:pPr>
            <a:r>
              <a:rPr/>
              <a:t>Now do exactly the same thing for winter.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 Model for Winter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Winter only ------------------------------------------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winter_df &lt;- season_year_df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(season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"winter"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winter_model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(temp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year,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winter_df)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(winter_model)</a:t>
            </a:r>
          </a:p>
          <a:p>
            <a:pPr lvl="0" indent="0">
              <a:buNone/>
            </a:pPr>
            <a:r>
              <a:rPr>
                <a:latin typeface="Courier"/>
              </a:rPr>
              <a:t>
Call:
lm(formula = temp ~ year, data = winter_df)
Residuals:
    Min      1Q  Median      3Q     Max 
-3.5398 -1.3901  0.0164  1.1662  4.0695 
Coefficients:
             Estimate Std. Error t value Pr(&gt;|t|)    
(Intercept) -78.24857   20.10231  -3.893 0.000229 ***
year          0.03417    0.01011   3.380 0.001202 ** 
---
Signif. codes:  0 '***' 0.001 '**' 0.01 '*' 0.05 '.' 0.1 ' ' 1
Residual standard error: 1.934 on 68 degrees of freedom
Multiple R-squared:  0.1439,    Adjusted R-squared:  0.1313 
F-statistic: 11.43 on 1 and 68 DF,  p-value: 0.001202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Winter slope ≈ 0.037 °C/year</a:t>
            </a:r>
          </a:p>
          <a:p>
            <a:pPr lvl="0"/>
            <a:r>
              <a:rPr/>
              <a:t>×10 → about </a:t>
            </a:r>
            <a:r>
              <a:rPr b="1"/>
              <a:t>0.34 °C per decade</a:t>
            </a:r>
          </a:p>
          <a:p>
            <a:pPr lvl="0"/>
            <a:r>
              <a:rPr i="1"/>
              <a:t>p</a:t>
            </a:r>
            <a:r>
              <a:rPr/>
              <a:t> = 0.001 → real</a:t>
            </a:r>
          </a:p>
          <a:p>
            <a:pPr lvl="0" indent="0" marL="0">
              <a:buNone/>
            </a:pPr>
            <a:r>
              <a:rPr b="1"/>
              <a:t>Winter is warming about 1.6× as fast as summer.</a:t>
            </a:r>
          </a:p>
          <a:p>
            <a:pPr lvl="0"/>
            <a:r>
              <a:rPr/>
              <a:t>This is the expected pattern across the northern continents</a:t>
            </a:r>
          </a:p>
          <a:p>
            <a:pPr lvl="0"/>
            <a:r>
              <a:rPr/>
              <a:t>Fewer extreme-cold nights, shorter ice seasons, earlier thaw</a:t>
            </a:r>
          </a:p>
          <a:p>
            <a:pPr lvl="0"/>
            <a:r>
              <a:rPr/>
              <a:t>The annual mean — 0.27 °C/decade — sat right between the two and told you neither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Reading Two Models Side by Side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Both slopes come straight off the </a:t>
            </a:r>
            <a:r>
              <a:rPr>
                <a:latin typeface="Courier"/>
              </a:rPr>
              <a:t>year</a:t>
            </a:r>
            <a:r>
              <a:rPr/>
              <a:t> row of each </a:t>
            </a:r>
            <a:r>
              <a:rPr>
                <a:latin typeface="Courier"/>
              </a:rPr>
              <a:t>summary()</a:t>
            </a:r>
            <a:r>
              <a:rPr/>
              <a:t>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4900"/>
                <a:gridCol w="1104900"/>
                <a:gridCol w="1104900"/>
                <a:gridCol w="1104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Slope (°C/yr)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×10 (°C/decade)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p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Annual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0.027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0.0000003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Summer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0.021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0.0002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Winter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0.034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0.0012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Winter’s slope has a </a:t>
            </a:r>
            <a:r>
              <a:rPr b="1"/>
              <a:t>bigger standard error</a:t>
            </a:r>
            <a:r>
              <a:rPr/>
              <a:t> too — winters are more variable than summers</a:t>
            </a:r>
          </a:p>
          <a:p>
            <a:pPr lvl="0"/>
            <a:r>
              <a:rPr/>
              <a:t>A bigger </a:t>
            </a:r>
            <a:r>
              <a:rPr i="1"/>
              <a:t>p</a:t>
            </a:r>
            <a:r>
              <a:rPr/>
              <a:t> with a bigger slope is not a contradiction; it is noisier data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How to write it up:</a:t>
            </a:r>
          </a:p>
          <a:p>
            <a:pPr lvl="0" indent="0" marL="1270000">
              <a:buNone/>
            </a:pPr>
            <a:r>
              <a:rPr sz="2000" i="1"/>
              <a:t>Mean annual temperature at Duluth rose significantly from 1948 to 2025 (linear regression: slope = 0.027 °C yr⁻¹, equivalent to 0.27 °C per decade; F(1, 68) = 34.3, p &lt; 0.001, R² = 0.34). Winter warmed roughly 1.6 times faster than summer (0.34 vs 0.21 °C per decade).</a:t>
            </a:r>
          </a:p>
          <a:p>
            <a:pPr lvl="0"/>
            <a:r>
              <a:rPr/>
              <a:t>Give the slope </a:t>
            </a:r>
            <a:r>
              <a:rPr b="1"/>
              <a:t>with units</a:t>
            </a:r>
          </a:p>
          <a:p>
            <a:pPr lvl="0"/>
            <a:r>
              <a:rPr/>
              <a:t>Convert to </a:t>
            </a:r>
            <a:r>
              <a:rPr b="1"/>
              <a:t>per decade</a:t>
            </a:r>
            <a:r>
              <a:rPr/>
              <a:t> so a reader can feel it</a:t>
            </a:r>
          </a:p>
          <a:p>
            <a:pPr lvl="0"/>
            <a:r>
              <a:rPr/>
              <a:t>Report </a:t>
            </a:r>
            <a:r>
              <a:rPr i="1"/>
              <a:t>p</a:t>
            </a:r>
            <a:r>
              <a:rPr/>
              <a:t> and R² the same way as any regression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GSOD Has — Any Country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Every station, and the years it covers 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load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system.file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"extdata"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"isd_history.rda"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</a:t>
            </a:r>
            <a:r>
              <a:rPr>
                <a:solidFill>
                  <a:srgbClr val="657422"/>
                </a:solidFill>
                <a:latin typeface="Courier"/>
              </a:rPr>
              <a:t>package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"GSODR"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stations_df &lt;- isd_history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clean_names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(country_name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"ICELAND"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begin_year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as.integer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str_sub</a:t>
            </a:r>
            <a:r>
              <a:rPr>
                <a:solidFill>
                  <a:srgbClr val="003B4F"/>
                </a:solidFill>
                <a:latin typeface="Courier"/>
              </a:rPr>
              <a:t>(begin,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</a:t>
            </a:r>
            <a:r>
              <a:rPr>
                <a:solidFill>
                  <a:srgbClr val="657422"/>
                </a:solidFill>
                <a:latin typeface="Courier"/>
              </a:rPr>
              <a:t>end_year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as.integer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str_sub</a:t>
            </a:r>
            <a:r>
              <a:rPr>
                <a:solidFill>
                  <a:srgbClr val="003B4F"/>
                </a:solidFill>
                <a:latin typeface="Courier"/>
              </a:rPr>
              <a:t>(end,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(begin_year </a:t>
            </a:r>
            <a:r>
              <a:rPr>
                <a:solidFill>
                  <a:srgbClr val="5E5E5E"/>
                </a:solidFill>
                <a:latin typeface="Courier"/>
              </a:rPr>
              <a:t>&lt;=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1970</a:t>
            </a:r>
            <a:r>
              <a:rPr>
                <a:solidFill>
                  <a:srgbClr val="003B4F"/>
                </a:solidFill>
                <a:latin typeface="Courier"/>
              </a:rPr>
              <a:t>, end_year </a:t>
            </a:r>
            <a:r>
              <a:rPr>
                <a:solidFill>
                  <a:srgbClr val="5E5E5E"/>
                </a:solidFill>
                <a:latin typeface="Courier"/>
              </a:rPr>
              <a:t>&gt;=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2025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(stnid, name, begin_year, end_year)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(stations_df,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Key: &lt;stnid&gt;
          stnid                       name begin_year end_year
         &lt;char&gt;                     &lt;char&gt;      &lt;int&gt;    &lt;int&gt;
1: 040050-99999                 BOLUNGAVIK       1952     2025
2: 040180-16201 KEFLAVIK NAVAL AIR STATION       1942     2025
3: 040340-99999                STAFHOLTSEY       1949     2025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GSODR</a:t>
            </a:r>
            <a:r>
              <a:rPr/>
              <a:t> ships a table of </a:t>
            </a:r>
            <a:r>
              <a:rPr b="1"/>
              <a:t>every station on Earth</a:t>
            </a:r>
            <a:r>
              <a:rPr/>
              <a:t> with the years each covers</a:t>
            </a:r>
          </a:p>
          <a:p>
            <a:pPr lvl="0"/>
            <a:r>
              <a:rPr/>
              <a:t>Put your country in the filter, </a:t>
            </a:r>
            <a:r>
              <a:rPr b="1"/>
              <a:t>in CAPITALS</a:t>
            </a:r>
          </a:p>
          <a:p>
            <a:pPr lvl="1"/>
            <a:r>
              <a:rPr/>
              <a:t>Australia </a:t>
            </a:r>
            <a:r>
              <a:rPr b="1"/>
              <a:t>151</a:t>
            </a:r>
            <a:r>
              <a:rPr/>
              <a:t> long-record stations, India 138, Brazil 49, Kenya 19</a:t>
            </a:r>
          </a:p>
          <a:p>
            <a:pPr lvl="0"/>
            <a:r>
              <a:rPr b="1">
                <a:latin typeface="Courier"/>
              </a:rPr>
              <a:t>stnid</a:t>
            </a:r>
            <a:r>
              <a:rPr/>
              <a:t> goes into </a:t>
            </a:r>
            <a:r>
              <a:rPr>
                <a:latin typeface="Courier"/>
              </a:rPr>
              <a:t>get_GSOD()</a:t>
            </a:r>
            <a:r>
              <a:rPr/>
              <a:t>; </a:t>
            </a:r>
            <a:r>
              <a:rPr>
                <a:latin typeface="Courier"/>
              </a:rPr>
              <a:t>begin_year</a:t>
            </a:r>
            <a:r>
              <a:rPr/>
              <a:t> tells you where to start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This is the route with the </a:t>
            </a:r>
            <a:r>
              <a:rPr sz="2000" b="1"/>
              <a:t>longest records</a:t>
            </a:r>
            <a:r>
              <a:rPr sz="2000"/>
              <a:t> — some reach back to the </a:t>
            </a:r>
            <a:r>
              <a:rPr sz="2000" b="1"/>
              <a:t>1930s</a:t>
            </a:r>
            <a:r>
              <a:rPr sz="2000"/>
              <a:t>. The cost is gaps, like Duluth’s.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Now Do It for Your 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Your city, from the SAME package 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city_df &lt;- </a:t>
            </a:r>
            <a:r>
              <a:rPr>
                <a:solidFill>
                  <a:srgbClr val="4758AB"/>
                </a:solidFill>
                <a:latin typeface="Courier"/>
              </a:rPr>
              <a:t>get_GSOD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years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1966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2025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</a:t>
            </a:r>
            <a:r>
              <a:rPr>
                <a:solidFill>
                  <a:srgbClr val="657422"/>
                </a:solidFill>
                <a:latin typeface="Courier"/>
              </a:rPr>
              <a:t>station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"959360-99999"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clean_names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dim</a:t>
            </a:r>
            <a:r>
              <a:rPr>
                <a:solidFill>
                  <a:srgbClr val="003B4F"/>
                </a:solidFill>
                <a:latin typeface="Courier"/>
              </a:rPr>
              <a:t>(city_df)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Take two things out of </a:t>
            </a:r>
            <a:r>
              <a:rPr>
                <a:latin typeface="Courier"/>
              </a:rPr>
              <a:t>stations_df</a:t>
            </a:r>
          </a:p>
          <a:p>
            <a:pPr lvl="1"/>
            <a:r>
              <a:rPr/>
              <a:t>the </a:t>
            </a:r>
            <a:r>
              <a:rPr b="1">
                <a:latin typeface="Courier"/>
              </a:rPr>
              <a:t>stnid</a:t>
            </a:r>
            <a:r>
              <a:rPr/>
              <a:t> — that is the station</a:t>
            </a:r>
          </a:p>
          <a:p>
            <a:pPr lvl="1"/>
            <a:r>
              <a:rPr/>
              <a:t>the </a:t>
            </a:r>
            <a:r>
              <a:rPr b="1">
                <a:latin typeface="Courier"/>
              </a:rPr>
              <a:t>begin_year</a:t>
            </a:r>
            <a:r>
              <a:rPr/>
              <a:t> — where the range starts</a:t>
            </a:r>
          </a:p>
          <a:p>
            <a:pPr lvl="0"/>
            <a:r>
              <a:rPr/>
              <a:t>Same package, same call as Duluth</a:t>
            </a:r>
          </a:p>
          <a:p>
            <a:pPr lvl="1"/>
            <a:r>
              <a:rPr/>
              <a:t>back come the </a:t>
            </a:r>
            <a:r>
              <a:rPr b="1"/>
              <a:t>same columns</a:t>
            </a:r>
          </a:p>
          <a:p>
            <a:pPr lvl="1"/>
            <a:r>
              <a:rPr>
                <a:latin typeface="Courier"/>
              </a:rPr>
              <a:t>year</a:t>
            </a:r>
            <a:r>
              <a:rPr/>
              <a:t>, </a:t>
            </a:r>
            <a:r>
              <a:rPr>
                <a:latin typeface="Courier"/>
              </a:rPr>
              <a:t>month</a:t>
            </a:r>
            <a:r>
              <a:rPr/>
              <a:t>, </a:t>
            </a:r>
            <a:r>
              <a:rPr>
                <a:latin typeface="Courier"/>
              </a:rPr>
              <a:t>temp</a:t>
            </a:r>
            <a:r>
              <a:rPr/>
              <a:t>, already lower case</a:t>
            </a:r>
          </a:p>
          <a:p>
            <a:pPr lvl="1"/>
            <a:r>
              <a:rPr b="1"/>
              <a:t>nothing to rename</a:t>
            </a:r>
          </a:p>
          <a:p>
            <a:pPr lvl="0"/>
            <a:r>
              <a:rPr/>
              <a:t>Stations outside the US are </a:t>
            </a:r>
            <a:r>
              <a:rPr b="1"/>
              <a:t>gappier</a:t>
            </a:r>
          </a:p>
          <a:p>
            <a:pPr lvl="1"/>
            <a:r>
              <a:rPr/>
              <a:t>far fewer years than you asked for? pick another</a:t>
            </a:r>
          </a:p>
          <a:p>
            <a:pPr lvl="1"/>
            <a:r>
              <a:rPr/>
              <a:t>a capital or major airport is safest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Swap the Station, Get a New 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The ONLY thing that changes 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station = </a:t>
            </a:r>
            <a:r>
              <a:rPr>
                <a:solidFill>
                  <a:srgbClr val="20794D"/>
                </a:solidFill>
                <a:latin typeface="Courier"/>
              </a:rPr>
              <a:t>"959360-99999"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Everything below is identical 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city_year_df &lt;- city_df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(year)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temp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(temp,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city_model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(temp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year,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city_year_df)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(city_model)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That is the whole point of today</a:t>
            </a:r>
          </a:p>
          <a:p>
            <a:pPr lvl="1"/>
            <a:r>
              <a:rPr b="1"/>
              <a:t>one station ID</a:t>
            </a:r>
            <a:r>
              <a:rPr/>
              <a:t> names the place</a:t>
            </a:r>
          </a:p>
          <a:p>
            <a:pPr lvl="1"/>
            <a:r>
              <a:rPr/>
              <a:t>the rest of the analysis never changes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Southern hemisphere?</a:t>
            </a:r>
            <a:r>
              <a:rPr sz="2000"/>
              <a:t> Swap the season labels in </a:t>
            </a:r>
            <a:r>
              <a:rPr sz="2000">
                <a:latin typeface="Courier"/>
              </a:rPr>
              <a:t>case_when()</a:t>
            </a:r>
            <a:r>
              <a:rPr sz="2000"/>
              <a:t>:</a:t>
            </a:r>
          </a:p>
          <a:p>
            <a:pPr lvl="0"/>
            <a:r>
              <a:rPr sz="2000">
                <a:latin typeface="Courier"/>
              </a:rPr>
              <a:t>month %in% c(12, 1, 2)</a:t>
            </a:r>
            <a:r>
              <a:rPr sz="2000"/>
              <a:t> → </a:t>
            </a:r>
            <a:r>
              <a:rPr sz="2000" b="1"/>
              <a:t>summer</a:t>
            </a:r>
          </a:p>
          <a:p>
            <a:pPr lvl="0"/>
            <a:r>
              <a:rPr sz="2000">
                <a:latin typeface="Courier"/>
              </a:rPr>
              <a:t>month %in% c(6, 7, 8)</a:t>
            </a:r>
            <a:r>
              <a:rPr sz="2000"/>
              <a:t> → </a:t>
            </a:r>
            <a:r>
              <a:rPr sz="2000" b="1"/>
              <a:t>winter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Another Source Worth Knowing — NASA POWER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No station - just lon and lat 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power_df &lt;- </a:t>
            </a:r>
            <a:r>
              <a:rPr>
                <a:solidFill>
                  <a:srgbClr val="4758AB"/>
                </a:solidFill>
                <a:latin typeface="Courier"/>
              </a:rPr>
              <a:t>get_power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community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"ag"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lonlat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AD0000"/>
                </a:solidFill>
                <a:latin typeface="Courier"/>
              </a:rPr>
              <a:t>0.13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51.51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pars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"T2M"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dates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"1981-01-01"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"2024-12-31"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temporal_api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"daily"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clean_names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rename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month =</a:t>
            </a:r>
            <a:r>
              <a:rPr>
                <a:solidFill>
                  <a:srgbClr val="003B4F"/>
                </a:solidFill>
                <a:latin typeface="Courier"/>
              </a:rPr>
              <a:t> mm, </a:t>
            </a:r>
            <a:r>
              <a:rPr>
                <a:solidFill>
                  <a:srgbClr val="657422"/>
                </a:solidFill>
                <a:latin typeface="Courier"/>
              </a:rPr>
              <a:t>temp =</a:t>
            </a:r>
            <a:r>
              <a:rPr>
                <a:solidFill>
                  <a:srgbClr val="003B4F"/>
                </a:solidFill>
                <a:latin typeface="Courier"/>
              </a:rPr>
              <a:t> t2m)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dim</a:t>
            </a:r>
            <a:r>
              <a:rPr>
                <a:solidFill>
                  <a:srgbClr val="003B4F"/>
                </a:solidFill>
                <a:latin typeface="Courier"/>
              </a:rPr>
              <a:t>(power_df)</a:t>
            </a:r>
          </a:p>
          <a:p>
            <a:pPr lvl="0" indent="0">
              <a:buNone/>
            </a:pPr>
            <a:r>
              <a:rPr>
                <a:latin typeface="Courier"/>
              </a:rPr>
              <a:t>[1] 16071     8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/>
              <a:t>Not</a:t>
            </a:r>
            <a:r>
              <a:rPr/>
              <a:t> what you use for the homework — but a station is not the only way</a:t>
            </a:r>
          </a:p>
          <a:p>
            <a:pPr lvl="0"/>
            <a:r>
              <a:rPr b="1">
                <a:latin typeface="Courier"/>
              </a:rPr>
              <a:t>nasapower</a:t>
            </a:r>
            <a:r>
              <a:rPr b="1"/>
              <a:t> needs only coordinates</a:t>
            </a:r>
          </a:p>
          <a:p>
            <a:pPr lvl="1"/>
            <a:r>
              <a:rPr/>
              <a:t>anywhere on Earth, </a:t>
            </a:r>
            <a:r>
              <a:rPr b="1"/>
              <a:t>1981 to now, no gaps</a:t>
            </a:r>
          </a:p>
          <a:p>
            <a:pPr lvl="1"/>
            <a:r>
              <a:rPr/>
              <a:t>watch the order: </a:t>
            </a:r>
            <a:r>
              <a:rPr b="1"/>
              <a:t>longitude first</a:t>
            </a:r>
          </a:p>
          <a:p>
            <a:pPr lvl="1"/>
            <a:r>
              <a:rPr/>
              <a:t>a modelled </a:t>
            </a:r>
            <a:r>
              <a:rPr b="1"/>
              <a:t>~50 km grid cell</a:t>
            </a:r>
            <a:r>
              <a:rPr/>
              <a:t>, not a station</a:t>
            </a:r>
          </a:p>
          <a:p>
            <a:pPr lvl="0"/>
            <a:r>
              <a:rPr/>
              <a:t>Columns come back </a:t>
            </a:r>
            <a:r>
              <a:rPr>
                <a:latin typeface="Courier"/>
              </a:rPr>
              <a:t>MM</a:t>
            </a:r>
            <a:r>
              <a:rPr/>
              <a:t> and </a:t>
            </a:r>
            <a:r>
              <a:rPr>
                <a:latin typeface="Courier"/>
              </a:rPr>
              <a:t>T2M</a:t>
            </a:r>
          </a:p>
          <a:p>
            <a:pPr lvl="1"/>
            <a:r>
              <a:rPr>
                <a:latin typeface="Courier"/>
              </a:rPr>
              <a:t>rename()</a:t>
            </a:r>
            <a:r>
              <a:rPr/>
              <a:t> is needed here</a:t>
            </a:r>
          </a:p>
          <a:p>
            <a:pPr lvl="1"/>
            <a:r>
              <a:rPr/>
              <a:t>the small translation every new source needs</a:t>
            </a:r>
          </a:p>
          <a:p>
            <a:pPr lvl="0"/>
            <a:r>
              <a:rPr b="1"/>
              <a:t>GSOD for the homework</a:t>
            </a:r>
            <a:r>
              <a:rPr/>
              <a:t> — the longer record is the point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Stack the Two Places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The later of the two start years 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start_year &lt;- </a:t>
            </a:r>
            <a:r>
              <a:rPr>
                <a:solidFill>
                  <a:srgbClr val="4758AB"/>
                </a:solidFill>
                <a:latin typeface="Courier"/>
              </a:rPr>
              <a:t>max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min</a:t>
            </a:r>
            <a:r>
              <a:rPr>
                <a:solidFill>
                  <a:srgbClr val="003B4F"/>
                </a:solidFill>
                <a:latin typeface="Courier"/>
              </a:rPr>
              <a:t>(dlh_year_df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year),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</a:t>
            </a:r>
            <a:r>
              <a:rPr>
                <a:solidFill>
                  <a:srgbClr val="4758AB"/>
                </a:solidFill>
                <a:latin typeface="Courier"/>
              </a:rPr>
              <a:t>min</a:t>
            </a:r>
            <a:r>
              <a:rPr>
                <a:solidFill>
                  <a:srgbClr val="003B4F"/>
                </a:solidFill>
                <a:latin typeface="Courier"/>
              </a:rPr>
              <a:t>(city_year_df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year))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Label each one BEFORE you stack 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duluth_labeled_df &lt;- dlh_year_df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(year </a:t>
            </a:r>
            <a:r>
              <a:rPr>
                <a:solidFill>
                  <a:srgbClr val="5E5E5E"/>
                </a:solidFill>
                <a:latin typeface="Courier"/>
              </a:rPr>
              <a:t>&gt;=</a:t>
            </a:r>
            <a:r>
              <a:rPr>
                <a:solidFill>
                  <a:srgbClr val="003B4F"/>
                </a:solidFill>
                <a:latin typeface="Courier"/>
              </a:rPr>
              <a:t> start_year)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station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"duluth"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city_labeled_df &lt;- city_year_df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(year </a:t>
            </a:r>
            <a:r>
              <a:rPr>
                <a:solidFill>
                  <a:srgbClr val="5E5E5E"/>
                </a:solidFill>
                <a:latin typeface="Courier"/>
              </a:rPr>
              <a:t>&gt;=</a:t>
            </a:r>
            <a:r>
              <a:rPr>
                <a:solidFill>
                  <a:srgbClr val="003B4F"/>
                </a:solidFill>
                <a:latin typeface="Courier"/>
              </a:rPr>
              <a:t> start_year)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station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"my_city"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both_df &lt;- </a:t>
            </a:r>
            <a:r>
              <a:rPr>
                <a:solidFill>
                  <a:srgbClr val="4758AB"/>
                </a:solidFill>
                <a:latin typeface="Courier"/>
              </a:rPr>
              <a:t>bind_rows</a:t>
            </a:r>
            <a:r>
              <a:rPr>
                <a:solidFill>
                  <a:srgbClr val="003B4F"/>
                </a:solidFill>
                <a:latin typeface="Courier"/>
              </a:rPr>
              <a:t>(duluth_labeled_df,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city_labeled_df)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Both places came from </a:t>
            </a:r>
            <a:r>
              <a:rPr b="1">
                <a:latin typeface="Courier"/>
              </a:rPr>
              <a:t>GSODR</a:t>
            </a:r>
            <a:r>
              <a:rPr/>
              <a:t>, so the columns already match</a:t>
            </a:r>
          </a:p>
          <a:p>
            <a:pPr lvl="0"/>
            <a:r>
              <a:rPr>
                <a:latin typeface="Courier"/>
              </a:rPr>
              <a:t>bind_rows()</a:t>
            </a:r>
            <a:r>
              <a:rPr/>
              <a:t> puts one frame </a:t>
            </a:r>
            <a:r>
              <a:rPr b="1"/>
              <a:t>underneath</a:t>
            </a:r>
            <a:r>
              <a:rPr/>
              <a:t> the other</a:t>
            </a:r>
          </a:p>
          <a:p>
            <a:pPr lvl="1"/>
            <a:r>
              <a:rPr/>
              <a:t>it matches columns by </a:t>
            </a:r>
            <a:r>
              <a:rPr b="1"/>
              <a:t>name</a:t>
            </a:r>
          </a:p>
          <a:p>
            <a:pPr lvl="1"/>
            <a:r>
              <a:rPr/>
              <a:t>same names in both → no renaming</a:t>
            </a:r>
          </a:p>
          <a:p>
            <a:pPr lvl="0"/>
            <a:r>
              <a:rPr/>
              <a:t>The </a:t>
            </a:r>
            <a:r>
              <a:rPr b="1">
                <a:latin typeface="Courier"/>
              </a:rPr>
              <a:t>station</a:t>
            </a:r>
            <a:r>
              <a:rPr/>
              <a:t> column is the trick</a:t>
            </a:r>
          </a:p>
          <a:p>
            <a:pPr lvl="1"/>
            <a:r>
              <a:rPr/>
              <a:t>stacking alone loses </a:t>
            </a:r>
            <a:r>
              <a:rPr b="1"/>
              <a:t>where each row came from</a:t>
            </a:r>
          </a:p>
          <a:p>
            <a:pPr lvl="1"/>
            <a:r>
              <a:rPr/>
              <a:t>so you label </a:t>
            </a:r>
            <a:r>
              <a:rPr b="1"/>
              <a:t>before</a:t>
            </a:r>
            <a:r>
              <a:rPr/>
              <a:t> you stack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/>
              <a:t>Compare the years they </a:t>
            </a:r>
            <a:r>
              <a:rPr sz="2000" b="1"/>
              <a:t>share</a:t>
            </a:r>
            <a:r>
              <a:rPr sz="2000"/>
              <a:t> — or a difference in </a:t>
            </a:r>
            <a:r>
              <a:rPr sz="2000" b="1"/>
              <a:t>place</a:t>
            </a:r>
            <a:r>
              <a:rPr sz="2000"/>
              <a:t> is mixed up with a difference in </a:t>
            </a:r>
            <a:r>
              <a:rPr sz="2000" b="1"/>
              <a:t>years</a:t>
            </a:r>
            <a:r>
              <a:rPr sz="2000"/>
              <a:t>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Are the Two Slopes Different?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One slope per station 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slope_model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(temp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year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station,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both_df)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(slope_model)</a:t>
            </a:r>
          </a:p>
          <a:p>
            <a:pPr lvl="0" indent="0" marL="0">
              <a:buNone/>
            </a:pPr>
            <a:r>
              <a:rPr/>
              <a:t>Your city and Duluth gave different numbers. </a:t>
            </a:r>
            <a:r>
              <a:rPr b="1"/>
              <a:t>Different-looking slopes are not always different slopes.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year * station</a:t>
            </a:r>
            <a:r>
              <a:rPr/>
              <a:t> fits a </a:t>
            </a:r>
            <a:r>
              <a:rPr b="1"/>
              <a:t>separate slope</a:t>
            </a:r>
            <a:r>
              <a:rPr/>
              <a:t> for each place</a:t>
            </a:r>
          </a:p>
          <a:p>
            <a:pPr lvl="0"/>
            <a:r>
              <a:rPr/>
              <a:t>Read the </a:t>
            </a:r>
            <a:r>
              <a:rPr b="1">
                <a:latin typeface="Courier"/>
              </a:rPr>
              <a:t>year:stationmy_city</a:t>
            </a:r>
            <a:r>
              <a:rPr/>
              <a:t> row</a:t>
            </a:r>
          </a:p>
          <a:p>
            <a:pPr lvl="1"/>
            <a:r>
              <a:rPr>
                <a:latin typeface="Courier"/>
              </a:rPr>
              <a:t>Estimate</a:t>
            </a:r>
            <a:r>
              <a:rPr/>
              <a:t> — how much your slope </a:t>
            </a:r>
            <a:r>
              <a:rPr b="1"/>
              <a:t>differs</a:t>
            </a:r>
          </a:p>
          <a:p>
            <a:pPr lvl="1"/>
            <a:r>
              <a:rPr>
                <a:latin typeface="Courier"/>
              </a:rPr>
              <a:t>Pr(&gt;|t|)</a:t>
            </a:r>
            <a:r>
              <a:rPr/>
              <a:t> — is that difference real?</a:t>
            </a:r>
          </a:p>
          <a:p>
            <a:pPr lvl="0"/>
            <a:r>
              <a:rPr/>
              <a:t>This is a </a:t>
            </a:r>
            <a:r>
              <a:rPr b="1"/>
              <a:t>t-test on two slopes</a:t>
            </a:r>
            <a:r>
              <a:rPr/>
              <a:t>, in the same two columns you have read all class</a:t>
            </a:r>
          </a:p>
          <a:p>
            <a:pPr lvl="1"/>
            <a:r>
              <a:rPr i="1"/>
              <a:t>p</a:t>
            </a:r>
            <a:r>
              <a:rPr/>
              <a:t> &lt; 0.05 → rates </a:t>
            </a:r>
            <a:r>
              <a:rPr b="1"/>
              <a:t>really differ</a:t>
            </a:r>
          </a:p>
          <a:p>
            <a:pPr lvl="1"/>
            <a:r>
              <a:rPr i="1"/>
              <a:t>p</a:t>
            </a:r>
            <a:r>
              <a:rPr/>
              <a:t> &gt; 0.05 → </a:t>
            </a:r>
            <a:r>
              <a:rPr b="1"/>
              <a:t>cannot tell them apart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Your city’s slope = </a:t>
            </a:r>
            <a:r>
              <a:rPr sz="2000">
                <a:latin typeface="Courier"/>
              </a:rPr>
              <a:t>year</a:t>
            </a:r>
            <a:r>
              <a:rPr sz="2000"/>
              <a:t> </a:t>
            </a:r>
            <a:r>
              <a:rPr sz="2000" b="1"/>
              <a:t>+</a:t>
            </a:r>
            <a:r>
              <a:rPr sz="2000"/>
              <a:t> </a:t>
            </a:r>
            <a:r>
              <a:rPr sz="2000">
                <a:latin typeface="Courier"/>
              </a:rPr>
              <a:t>year:stationmy_city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→ ACTIVITY 12 Parts 6–10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🛑 Do Activity Parts 6–10 now</a:t>
            </a:r>
          </a:p>
          <a:p>
            <a:pPr lvl="0"/>
            <a:r>
              <a:rPr/>
              <a:t>Label the seasons with </a:t>
            </a:r>
            <a:r>
              <a:rPr>
                <a:latin typeface="Courier"/>
              </a:rPr>
              <a:t>case_when()</a:t>
            </a:r>
            <a:r>
              <a:rPr/>
              <a:t> and summarize by year and season</a:t>
            </a:r>
          </a:p>
          <a:p>
            <a:pPr lvl="0"/>
            <a:r>
              <a:rPr/>
              <a:t>Plot both seasons, then fit a model for each</a:t>
            </a:r>
          </a:p>
          <a:p>
            <a:pPr lvl="0"/>
            <a:r>
              <a:rPr/>
              <a:t>Write the warming rates in °C per decade</a:t>
            </a:r>
          </a:p>
          <a:p>
            <a:pPr lvl="0"/>
            <a:r>
              <a:rPr/>
              <a:t>Find the GSOD station for a city you choose — the analysis is your homework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We Learned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ideas:</a:t>
            </a:r>
          </a:p>
          <a:p>
            <a:pPr lvl="0"/>
            <a:r>
              <a:rPr/>
              <a:t>A regression </a:t>
            </a:r>
            <a:r>
              <a:rPr b="1"/>
              <a:t>on time</a:t>
            </a:r>
            <a:r>
              <a:rPr/>
              <a:t> makes the slope a </a:t>
            </a:r>
            <a:r>
              <a:rPr b="1"/>
              <a:t>rate of change</a:t>
            </a:r>
            <a:r>
              <a:rPr/>
              <a:t> — ×10 per decade</a:t>
            </a:r>
          </a:p>
          <a:p>
            <a:pPr lvl="0"/>
            <a:r>
              <a:rPr/>
              <a:t>Raw daily data </a:t>
            </a:r>
            <a:r>
              <a:rPr b="1"/>
              <a:t>hides</a:t>
            </a:r>
            <a:r>
              <a:rPr/>
              <a:t> the trend; </a:t>
            </a:r>
            <a:r>
              <a:rPr>
                <a:latin typeface="Courier"/>
              </a:rPr>
              <a:t>group_by(year) %&gt;% summarize()</a:t>
            </a:r>
            <a:r>
              <a:rPr/>
              <a:t> is the fix</a:t>
            </a:r>
          </a:p>
          <a:p>
            <a:pPr lvl="0"/>
            <a:r>
              <a:rPr/>
              <a:t>An </a:t>
            </a:r>
            <a:r>
              <a:rPr b="1"/>
              <a:t>annual mean hides which season moved</a:t>
            </a:r>
            <a:r>
              <a:rPr/>
              <a:t> — Duluth’s winter warms ~1.6× faster</a:t>
            </a:r>
          </a:p>
          <a:p>
            <a:pPr lvl="0"/>
            <a:r>
              <a:rPr/>
              <a:t>Seasons are set by </a:t>
            </a:r>
            <a:r>
              <a:rPr b="1"/>
              <a:t>hemisphere</a:t>
            </a:r>
            <a:r>
              <a:rPr/>
              <a:t>, not by month number</a:t>
            </a:r>
          </a:p>
          <a:p>
            <a:pPr lvl="0"/>
            <a:r>
              <a:rPr/>
              <a:t>A modest </a:t>
            </a:r>
            <a:r>
              <a:rPr b="1"/>
              <a:t>R² with a tiny </a:t>
            </a:r>
            <a:r>
              <a:rPr b="1" i="1"/>
              <a:t>p</a:t>
            </a:r>
            <a:r>
              <a:rPr/>
              <a:t> is normal — real trend, weather scatter</a:t>
            </a:r>
          </a:p>
          <a:p>
            <a:pPr lvl="0" indent="0" marL="0">
              <a:buNone/>
            </a:pPr>
            <a:r>
              <a:rPr b="1"/>
              <a:t>The code:</a:t>
            </a:r>
          </a:p>
          <a:p>
            <a:pPr lvl="0"/>
            <a:r>
              <a:rPr>
                <a:latin typeface="Courier"/>
              </a:rPr>
              <a:t>get_GSOD()</a:t>
            </a:r>
            <a:r>
              <a:rPr/>
              <a:t> — Duluth and your city, by station ID</a:t>
            </a:r>
          </a:p>
          <a:p>
            <a:pPr lvl="0"/>
            <a:r>
              <a:rPr>
                <a:latin typeface="Courier"/>
              </a:rPr>
              <a:t>isd_history</a:t>
            </a:r>
            <a:r>
              <a:rPr/>
              <a:t> — find a station in any country</a:t>
            </a:r>
          </a:p>
          <a:p>
            <a:pPr lvl="0"/>
            <a:r>
              <a:rPr>
                <a:latin typeface="Courier"/>
              </a:rPr>
              <a:t>bind_rows()</a:t>
            </a:r>
            <a:r>
              <a:rPr/>
              <a:t> — stack two places into one frame</a:t>
            </a:r>
          </a:p>
          <a:p>
            <a:pPr lvl="0"/>
            <a:r>
              <a:rPr>
                <a:latin typeface="Courier"/>
              </a:rPr>
              <a:t>clean_names()</a:t>
            </a:r>
            <a:r>
              <a:rPr/>
              <a:t> — lower-case names, once</a:t>
            </a:r>
          </a:p>
          <a:p>
            <a:pPr lvl="0"/>
            <a:r>
              <a:rPr>
                <a:latin typeface="Courier"/>
              </a:rPr>
              <a:t>group_by()</a:t>
            </a:r>
            <a:r>
              <a:rPr/>
              <a:t> + </a:t>
            </a:r>
            <a:r>
              <a:rPr>
                <a:latin typeface="Courier"/>
              </a:rPr>
              <a:t>summarize()</a:t>
            </a:r>
            <a:r>
              <a:rPr/>
              <a:t> — the right level</a:t>
            </a:r>
          </a:p>
          <a:p>
            <a:pPr lvl="0"/>
            <a:r>
              <a:rPr>
                <a:latin typeface="Courier"/>
              </a:rPr>
              <a:t>case_when()</a:t>
            </a:r>
            <a:r>
              <a:rPr/>
              <a:t> — build the season</a:t>
            </a:r>
          </a:p>
          <a:p>
            <a:pPr lvl="0"/>
            <a:r>
              <a:rPr>
                <a:latin typeface="Courier"/>
              </a:rPr>
              <a:t>lm(temp ~ year)</a:t>
            </a:r>
            <a:r>
              <a:rPr/>
              <a:t>, </a:t>
            </a:r>
            <a:r>
              <a:rPr>
                <a:latin typeface="Courier"/>
              </a:rPr>
              <a:t>lm(temp ~ year * station)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Hand in:</a:t>
            </a:r>
            <a:r>
              <a:rPr/>
              <a:t> your finished activity script, plus the homework — your own city’s warming rate and how it compares with Duluth’s.</a:t>
            </a:r>
          </a:p>
          <a:p>
            <a:pPr lvl="0" indent="0" marL="0">
              <a:buNone/>
            </a:pPr>
            <a:r>
              <a:rPr b="1"/>
              <a:t>References:</a:t>
            </a:r>
          </a:p>
          <a:p>
            <a:pPr lvl="0"/>
            <a:r>
              <a:rPr/>
              <a:t>📖 R4DS Ch. 3 — Data transformation</a:t>
            </a:r>
          </a:p>
          <a:p>
            <a:pPr lvl="0"/>
            <a:r>
              <a:rPr/>
              <a:t>📖 W&amp;S Ch. 17 — Regression</a:t>
            </a:r>
          </a:p>
          <a:p>
            <a:pPr lvl="0"/>
            <a:r>
              <a:rPr/>
              <a:t>NOAA GSOD — </a:t>
            </a:r>
            <a:r>
              <a:rPr>
                <a:latin typeface="Courier"/>
              </a:rPr>
              <a:t>ncei.noaa.gov</a:t>
            </a:r>
          </a:p>
          <a:p>
            <a:pPr lvl="0"/>
            <a:r>
              <a:rPr/>
              <a:t>NASA POWER — </a:t>
            </a:r>
            <a:r>
              <a:rPr>
                <a:latin typeface="Courier"/>
              </a:rPr>
              <a:t>power.larc.nasa.gov</a:t>
            </a:r>
          </a:p>
          <a:p>
            <a:pPr lvl="0" indent="0" marL="0">
              <a:buNone/>
            </a:pPr>
            <a:r>
              <a:rPr b="1"/>
              <a:t>Up next:</a:t>
            </a:r>
          </a:p>
          <a:p>
            <a:pPr lvl="0"/>
            <a:r>
              <a:rPr/>
              <a:t>The </a:t>
            </a:r>
            <a:r>
              <a:rPr b="1"/>
              <a:t>final project</a:t>
            </a:r>
            <a:r>
              <a:rPr/>
              <a:t> — the same pipeline, on data you choose</a:t>
            </a:r>
          </a:p>
          <a:p>
            <a:pPr lvl="0"/>
            <a:r>
              <a:rPr/>
              <a:t>Download → clean → summarize → plot → model → report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12 — Real Climate Data in R</dc:title>
  <dc:creator>Bill Perry</dc:creator>
  <cp:keywords/>
  <dc:description>Download real weather station data from inside R, summarize it to yearly means, and use lm() to estimate a warming rate in degrees per decade — for Duluth, for each season, and for a city you choose.</dc:description>
  <dcterms:created xsi:type="dcterms:W3CDTF">2026-10-22T13:13:53Z</dcterms:created>
  <dcterms:modified xsi:type="dcterms:W3CDTF">2026-10-22T13:13:53Z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date">
    <vt:lpwstr>2026-10-22</vt:lpwstr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order">
    <vt:lpwstr>12</vt:lpwstr>
  </property>
  <property fmtid="{D5CDD505-2E9C-101B-9397-08002B2CF9AE}" pid="13" name="resources">
    <vt:lpwstr/>
  </property>
  <property fmtid="{D5CDD505-2E9C-101B-9397-08002B2CF9AE}" pid="14" name="subtitle">
    <vt:lpwstr>How fast is your city warming? (regression on time)</vt:lpwstr>
  </property>
  <property fmtid="{D5CDD505-2E9C-101B-9397-08002B2CF9AE}" pid="15" name="toc-title">
    <vt:lpwstr>Table of contents</vt:lpwstr>
  </property>
  <property fmtid="{D5CDD505-2E9C-101B-9397-08002B2CF9AE}" pid="16" name="type">
    <vt:lpwstr>lecture</vt:lpwstr>
  </property>
  <property fmtid="{D5CDD505-2E9C-101B-9397-08002B2CF9AE}" pid="17" name="week">
    <vt:lpwstr>6</vt:lpwstr>
  </property>
</Properties>
</file>