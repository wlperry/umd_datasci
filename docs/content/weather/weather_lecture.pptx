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your brain to </a:t>
            </a:r>
            <a:r>
              <a:rPr sz="2000" i="1"/>
              <a:t>retrieve</a:t>
            </a:r>
            <a:r>
              <a:rPr sz="2000"/>
              <a:t> what it knows — the gap between guess and answer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the finger-memory and error-spotting that copy-paste skips.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a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Download &amp; Explore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GSOD data comes from, downloading it with </a:t>
            </a:r>
            <a:r>
              <a:rPr>
                <a:latin typeface="Courier"/>
              </a:rPr>
              <a:t>get_GSOD()</a:t>
            </a:r>
            <a:r>
              <a:rPr/>
              <a:t>, trimming columns, and plotting the raw daily record.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(download, trim, and raw-plot the Duluth data).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"727450-14913", "7274…
$ NAME             &lt;chr&gt; "DULUTH INTERNATIONAL AIRPORT", "DULUTH INTERNATIONAL…
$ CTRY             &lt;chr&gt; "US", "US", "US", "US", "US", "US", "US", "US", "US",…
$ COUNTRY_NAME     &lt;chr&gt; "UNITED STATES", "UNITED STATES", "UNITED STATES", "U…
$ ISO2C            &lt;chr&gt; "US", "US", "US", "US", "US", "US", "US", "US", "US",…
$ ISO3C            &lt;chr&gt; "USA", "USA", "USA", "USA", "USA", "USA", "USA", "USA…
$ STATE            &lt;chr&gt; "MN", "MN", "MN", "MN", "MN", "MN", "MN", "MN", "MN",…
$ LATITUDE         &lt;dbl&gt; 46.844, 46.844, 46.844, 46.844, 46.844, 46.844, 46.84…
$ LONGITUDE        &lt;dbl&gt; -92.187, -92.187, -92.187, -92.187, -92.187, -92.187,…
$ ELEVATION        &lt;dbl&gt; 436.8, 436.8, 436.8, 436.8, 436.8, 436.8, 436.8, 436.…
$ BEGIN            &lt;int&gt; 19480101, 19480101, 19480101, 19480101, 19480101, 194…
$ END              &lt;int&gt; 20250827, 20250827, 20250827, 20250827, 20250827, 202…
$ YEARMODA         &lt;date&gt; 1948-01-01, 1948-01-02, 1948-01-03, 1948-01-04, 1948…
$ YEAR             &lt;int&gt; 1948, 1948, 1948, 1948, 1948, 1948, 1948, 1948, 1948,…
$ MONTH            &lt;int&gt; 1, 1, 1, 1, 1, 1, 1, 1, 1, 1, 1, 1, 1, 1, 1, 1, 1, 1,…
$ DAY              &lt;int&gt; 1, 2, 3, 4, 5, 6, 7, 8, 9, 10, 11, 12, 13, 14, 15, 16…
$ YDAY             &lt;int&gt; 1, 2, 3, 4, 5, 6, 7, 8, 9, 10, 11, 12, 13, 14, 15, 16…
$ TEMP             &lt;dbl&gt; -8.2, -4.1, -8.4, -6.5, -2.9, -7.8, -8.8, -4.0, -5.8,…
$ TEMP_ATTRIBUTES  &lt;int&gt; 18, 24, 24, 24, 24, 24, 24, 24, 24, 24, 24, 24, 24, 2…
$ DEWP             &lt;dbl&gt; -9.9, -6.5, -10.8, -8.8, -5.9, -12.2, -13.2, -5.8, -6…
$ DEWP_ATTRIBUTES  &lt;int&gt; 18, 24, 24, 24, 24, 24, 24, 24, 24, 24, 24, 24, 24, 2…
$ SLP              &lt;dbl&gt; 1019.8, 1011.1, 1010.0, 1016.8, 1016.3, 1019.3, 1015.…
$ SLP_ATTRIBUTES   &lt;int&gt; 18, 24, 24, 24, 24, 24, 24, 24, 24, 24, 24, 24, 24, 2…
$ STP              &lt;dbl&gt; 965.3, 958.0, 956.6, 963.1, 962.9, 965.6, 961.8, 957.…
$ STP_ATTRIBUTES   &lt;int&gt; 18, 24, 24, 24, 24, 24, 24, 24, 24, 23, 24, 24, 24, 2…
$ VISIB            &lt;dbl&gt; 22.0, 22.7, 18.0, 22.4, 23.2, 24.0, 23.7, 15.0, 16.6,…
$ VISIB_ATTRIBUTES &lt;int&gt; 18, 24, 24, 24, 24, 24, 24, 24, 24, 24, 24, 24, 24, 2…
$ WDSP             &lt;dbl&gt; 4.4, 4.3, 3.0, 4.9, 6.4, 8.3, 3.8, 2.8, 5.9, 2.7, 5.5…
$ WDSP_ATTRIBUTES  &lt;int&gt; 18, 24, 24, 24, 24, 24, 24, 24, 24, 24, 24, 24, 24, 2…
$ MXSPD            &lt;dbl&gt; 8.2, 8.8, 7.2, 8.2, 11.8, 11.8, 7.2, 6.2, 11.8, 5.2, …
$ GUST             &lt;dbl&gt; NA, NA, NA, NA, NA, NA, NA, NA, NA, NA, NA, NA, NA, N…
$ MAX              &lt;dbl&gt; -3.1, -2.0, -5.4, -1.5, 1.3, -1.7, -2.6, -2.0, -2.2, …
$ MAX_ATTRIBUTES   &lt;chr&gt; NA, NA, NA, NA, NA, "*", NA, NA, "*", NA, NA, "*", "*…
$ MIN              &lt;dbl&gt; -15.6, -8.7, -12.8, -9.8, -7.0, -15.4, -15.0, -6.5, -…
$ MIN_ATTRIBUTES   &lt;chr&gt; "*", NA, "*", NA, NA, NA, "*", NA, NA, "*", "*", NA, …
$ PRCP             &lt;dbl&gt; 0.00, 0.00, 0.00, 0.00, 0.00, 0.00, 0.00, 7.87, 0.00,…
$ PRCP_ATTRIBUTES  &lt;chr&gt; "G", "G", "G", "G", "G", "G", "G", "G", "G", "G", "G"…
$ SNDP             &lt;dbl&gt; 279.4, 279.4, 279.4, 279.4, 248.9, 248.9, 248.9, 248.…
$ I_FOG            &lt;dbl&gt; 0, 1, 1, 1, 0, 0, 0, 0, 0, 0, 1, 0, 0, 0, 0, 0, 0, 0,…
$ I_RAIN_DRIZZLE   &lt;dbl&gt; 0, 0, 0, 0, 0, 0, 0, 1, 1, 0, 0, 0, 0, 0, 0, 0, 0, 0,…
$ I_SNOW_ICE       &lt;dbl&gt; 1, 1, 1, 1, 1, 0, 0, 1, 1, 0, 1, 1, 1, 0, 1, 0, 0, 1,…
$ I_HAIL           &lt;dbl&gt; 0, 0, 0, 0, 0, 0, 0, 0, 0, 0, 0, 0, 0, 0, 0, 0, 0, 0,…
$ I_THUNDER        &lt;dbl&gt; 0, 0, 0, 0, 0, 0, 0, 0, 0, 0, 0, 0, 0, 0, 0, 0, 0, 0,…
$ I_TORNADO_FUNNEL &lt;dbl&gt; 0, 0, 0, 0, 0, 0, 0, 0, 0, 0, 0, 0, 0, 0, 0, 0, 0, 0,…
$ EA               &lt;dbl&gt; 0.3, 0.4, 0.3, 0.3, 0.4, 0.2, 0.2, 0.4, 0.4, 0.1, 0.3…
$ ES               &lt;dbl&gt; 0.3, 0.5, 0.3, 0.4, 0.5, 0.3, 0.3, 0.5, 0.4, 0.1, 0.3…
$ RH               &lt;dbl&gt; 87.5, 83.4, 82.8, 83.7, 79.8, 70.7, 70.5, 87.3, 91.9,…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MXSPD,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 MONTH   DAY  TEMP
         &lt;char&gt;                       &lt;char&gt;     &lt;Date&gt; &lt;int&gt; &lt;int&gt; &lt;int&gt; &lt;num&gt;
1: 727450-14913 DULUTH INTERNATIONAL AIRPORT 1948-01-01  1948     1     1  -8.2
2: 727450-14913 DULUTH INTERNATIONAL AIRPORT 1948-01-02  1948     1     2  -4.1
3: 727450-14913 DULUTH INTERNATIONAL AIRPORT 1948-01-03  1948     1     3  -8.4
4: 727450-14913 DULUTH INTERNATIONAL AIRPORT 1948-01-04  1948     1     4  -6.5
5: 727450-14913 DULUTH INTERNATIONAL AIRPORT 1948-01-05  1948     1     5  -2.9
6: 727450-14913 DULUTH INTERNATIONAL AIRPORT 1948-01-06  1948     1     6  -7.8
   MXSPD  PRCP I_SNOW_ICE
   &lt;num&gt; &lt;num&gt;      &lt;num&gt;
1:   8.2     0          1
2:   8.8     0          1
3:   7.2     0          1
4:   8.2     0          1
5:  11.8     0          1
6: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NOAA’s column names are UPPERCASE. I’ll forget that: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TEMP, but I type temp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`select()`:
! Can't select columns that don't exist.
✖ Column `temp` doesn't exist.</a:t>
            </a:r>
          </a:p>
          <a:p>
            <a:pPr lvl="0" indent="0" marL="0">
              <a:buNone/>
            </a:pPr>
            <a:r>
              <a:rPr/>
              <a:t>The fix — match the exact case: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   </a:t>
            </a:r>
            <a:r>
              <a:rPr>
                <a:solidFill>
                  <a:srgbClr val="5E5E5E"/>
                </a:solidFill>
                <a:latin typeface="Courier"/>
              </a:rPr>
              <a:t># names(dlh_temp_df) shows the real names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R is </a:t>
            </a:r>
            <a:r>
              <a:rPr sz="2000" b="1"/>
              <a:t>case-sensitive</a:t>
            </a:r>
            <a:r>
              <a:rPr sz="2000"/>
              <a:t> — </a:t>
            </a:r>
            <a:r>
              <a:rPr sz="2000">
                <a:latin typeface="Courier"/>
              </a:rPr>
              <a:t>temp</a:t>
            </a:r>
            <a:r>
              <a:rPr sz="2000"/>
              <a:t> ≠ </a:t>
            </a:r>
            <a:r>
              <a:rPr sz="2000">
                <a:latin typeface="Courier"/>
              </a:rPr>
              <a:t>TEMP</a:t>
            </a:r>
            <a:r>
              <a:rPr sz="2000"/>
              <a:t>. When a column “doesn’t exist,” run </a:t>
            </a:r>
            <a:r>
              <a:rPr sz="2000">
                <a:latin typeface="Courier"/>
              </a:rPr>
              <a:t>names(df)</a:t>
            </a:r>
            <a:r>
              <a:rPr sz="2000"/>
              <a:t> and check capitalization. Downloaded data rarely uses the names you’d guess.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plots ~28,000 daily points. Before you see it — will a long-term </a:t>
            </a:r>
            <a:r>
              <a:rPr sz="2000" i="1"/>
              <a:t>warming</a:t>
            </a:r>
            <a:r>
              <a:rPr sz="2000"/>
              <a:t> trend be visible, or will something else dominate the picture?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lecture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the Duluth record with </a:t>
            </a:r>
            <a:r>
              <a:rPr>
                <a:latin typeface="Courier"/>
              </a:rPr>
              <a:t>get_GSOD()</a:t>
            </a:r>
            <a:r>
              <a:rPr/>
              <a:t>, trim to the columns you need, and plot the raw daily temperatures. Predict what the raw plot will look like before you run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Summarize to Reveal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summarizing helps, and </a:t>
            </a:r>
            <a:r>
              <a:rPr>
                <a:latin typeface="Courier"/>
              </a:rPr>
              <a:t>group_by() %&gt;% summarize()</a:t>
            </a:r>
            <a:r>
              <a:rPr/>
              <a:t> at the monthly and yearly levels — watching the story get clearer.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4–5</a:t>
            </a:r>
            <a:r>
              <a:rPr sz="2000"/>
              <a:t> (summarize by month, then by year).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weather_lecture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lecture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daily data to monthly and yearly means, and plot each. Predict how many rows each summary has, and what trend appears,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Model the Rate of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reusing </a:t>
            </a:r>
            <a:r>
              <a:rPr>
                <a:latin typeface="Courier"/>
              </a:rPr>
              <a:t>lm(TEMP ~ YEAR)</a:t>
            </a:r>
            <a:r>
              <a:rPr/>
              <a:t> to estimate the warming slope, and converting it to °C per decade.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6</a:t>
            </a:r>
            <a:r>
              <a:rPr sz="2000"/>
              <a:t> (fit the trend model and read the slope).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Duluth is warming, will the slope of </a:t>
            </a:r>
            <a:r>
              <a:rPr sz="2000">
                <a:latin typeface="Courier"/>
              </a:rPr>
              <a:t>TEMP ~ YEAR</a:t>
            </a:r>
            <a:r>
              <a:rPr sz="2000"/>
              <a:t> be </a:t>
            </a:r>
            <a:r>
              <a:rPr sz="2000" b="1"/>
              <a:t>positive or negative</a:t>
            </a:r>
            <a:r>
              <a:rPr sz="2000"/>
              <a:t>? Guess the size too — closer to 0.02 or 2 °C per year?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lm(TEMP ~ YEAR)</a:t>
            </a:r>
            <a:r>
              <a:rPr/>
              <a:t> on the yearly means, pull the slope, and convert it to °C per decade. Predict the sign and rough size before you run </a:t>
            </a:r>
            <a:r>
              <a:rPr>
                <a:latin typeface="Courier"/>
              </a:rPr>
              <a:t>summary()</a:t>
            </a:r>
            <a:r>
              <a:rPr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Seasons — Is Winter Warming Faster?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building a season with </a:t>
            </a:r>
            <a:r>
              <a:rPr>
                <a:latin typeface="Courier"/>
              </a:rPr>
              <a:t>case_when()</a:t>
            </a:r>
            <a:r>
              <a:rPr/>
              <a:t>, summarizing by year within season, plotting both, and fitting a separate </a:t>
            </a:r>
            <a:r>
              <a:rPr>
                <a:latin typeface="Courier"/>
              </a:rPr>
              <a:t>lm()</a:t>
            </a:r>
            <a:r>
              <a:rPr/>
              <a:t> per season to compare rates.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7–11</a:t>
            </a:r>
            <a:r>
              <a:rPr sz="2000"/>
              <a:t> (season variable, per-season models, and the results paragraph).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case_when()</a:t>
            </a:r>
            <a:r>
              <a:rPr sz="2000"/>
              <a:t> labels each day summer / winter / shoulder. Before the </a:t>
            </a:r>
            <a:r>
              <a:rPr sz="2000">
                <a:latin typeface="Courier"/>
              </a:rPr>
              <a:t>count()</a:t>
            </a:r>
            <a:r>
              <a:rPr sz="2000"/>
              <a:t> runs — which category will have the </a:t>
            </a:r>
            <a:r>
              <a:rPr sz="2000" b="1"/>
              <a:t>most</a:t>
            </a:r>
            <a:r>
              <a:rPr sz="2000"/>
              <a:t> rows, and why?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lecture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which season warms faster in Duluth, </a:t>
            </a:r>
            <a:r>
              <a:rPr sz="2000" b="1"/>
              <a:t>summer or winter</a:t>
            </a:r>
            <a:r>
              <a:rPr sz="2000"/>
              <a:t>? Write your guess before the two slopes print.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season variable, summarize and plot both seasons, fit a model for each, and write your results paragraph. Predict which season warms faster before you run the models.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Homework: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this entire workflow: download → raw plot → summarize → model the trend</a:t>
            </a:r>
          </a:p>
          <a:p>
            <a:pPr lvl="0"/>
            <a:r>
              <a:rPr/>
              <a:t>Build your own summer vs. winter </a:t>
            </a:r>
            <a:r>
              <a:rPr>
                <a:latin typeface="Courier"/>
              </a:rPr>
              <a:t>case_when()</a:t>
            </a:r>
            <a:r>
              <a:rPr/>
              <a:t> comparison</a:t>
            </a:r>
          </a:p>
          <a:p>
            <a:pPr lvl="0"/>
            <a:r>
              <a:rPr/>
              <a:t>Write a short results paragraph comparing your city’s warming rate to Duluth’s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Real Climate Data in R</dc:title>
  <dc:creator>Bill Perry</dc:creator>
  <cp:keywords/>
  <dc:description>How to use API (auto program interface) to download and ssummarize weather data.</dc:description>
  <dcterms:created xsi:type="dcterms:W3CDTF">2026-07-05T19:53:37Z</dcterms:created>
  <dcterms:modified xsi:type="dcterms:W3CDTF">2026-07-05T19:53:37Z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7</vt:lpwstr>
  </property>
  <property fmtid="{D5CDD505-2E9C-101B-9397-08002B2CF9AE}" pid="14" name="resources">
    <vt:lpwstr/>
  </property>
  <property fmtid="{D5CDD505-2E9C-101B-9397-08002B2CF9AE}" pid="15" name="subtitle">
    <vt:lpwstr>Downloading, summarizing, and modeling Duluth weather station data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4</vt:lpwstr>
  </property>
</Properties>
</file>