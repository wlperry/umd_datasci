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fast is your city warming? (regression on time)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11 — Regression)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X, data = df)</a:t>
            </a:r>
            <a:r>
              <a:rPr/>
              <a:t> fits a straight line through a cloud of points</a:t>
            </a:r>
          </a:p>
          <a:p>
            <a:pPr lvl="0"/>
            <a:r>
              <a:rPr b="1">
                <a:latin typeface="Courier"/>
              </a:rPr>
              <a:t>summary(model)</a:t>
            </a:r>
            <a:r>
              <a:rPr/>
              <a:t> gives you: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— how much Y changes per 1 unit of X</a:t>
            </a:r>
          </a:p>
          <a:p>
            <a:pPr lvl="1"/>
            <a:r>
              <a:rPr/>
              <a:t>its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— is that slope real, or could it be chance?</a:t>
            </a:r>
          </a:p>
          <a:p>
            <a:pPr lvl="1"/>
            <a:r>
              <a:rPr b="1"/>
              <a:t>R²</a:t>
            </a:r>
            <a:r>
              <a:rPr/>
              <a:t> — how tightly the points follow the line</a:t>
            </a:r>
          </a:p>
          <a:p>
            <a:pPr lvl="0"/>
            <a:r>
              <a:rPr b="1">
                <a:latin typeface="Courier"/>
              </a:rPr>
              <a:t>geom_smooth(method = "lm")</a:t>
            </a:r>
            <a:r>
              <a:rPr/>
              <a:t> draws the line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checks the residuals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Where today comes in</a:t>
            </a:r>
          </a:p>
          <a:p>
            <a:pPr lvl="0"/>
            <a:r>
              <a:rPr sz="2000"/>
              <a:t>Last time X was </a:t>
            </a:r>
            <a:r>
              <a:rPr sz="2000" b="1"/>
              <a:t>paper mass</a:t>
            </a:r>
            <a:r>
              <a:rPr sz="2000"/>
              <a:t> and the slope converted grams into cm²</a:t>
            </a:r>
          </a:p>
          <a:p>
            <a:pPr lvl="0"/>
            <a:r>
              <a:rPr sz="2000"/>
              <a:t>Today X is </a:t>
            </a:r>
            <a:r>
              <a:rPr sz="2000" b="1"/>
              <a:t>time</a:t>
            </a:r>
          </a:p>
          <a:p>
            <a:pPr lvl="1"/>
            <a:r>
              <a:rPr sz="2000"/>
              <a:t>the slope becomes a </a:t>
            </a:r>
            <a:r>
              <a:rPr sz="2000" b="1"/>
              <a:t>rate of change</a:t>
            </a:r>
            <a:r>
              <a:rPr sz="2000"/>
              <a:t> — degrees per year</a:t>
            </a:r>
          </a:p>
          <a:p>
            <a:pPr lvl="1"/>
            <a:r>
              <a:rPr sz="2000"/>
              <a:t>and that is exactly what a “warming rate” is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Download</a:t>
            </a:r>
            <a:r>
              <a:rPr/>
              <a:t> real weather station data from inside R — no Excel, no copy-paste</a:t>
            </a:r>
          </a:p>
          <a:p>
            <a:pPr lvl="0"/>
            <a:r>
              <a:rPr b="1"/>
              <a:t>Clean</a:t>
            </a:r>
            <a:r>
              <a:rPr/>
              <a:t> the names with </a:t>
            </a:r>
            <a:r>
              <a:rPr>
                <a:latin typeface="Courier"/>
              </a:rPr>
              <a:t>janitor</a:t>
            </a:r>
            <a:r>
              <a:rPr/>
              <a:t> so the code stays easy to type</a:t>
            </a:r>
          </a:p>
          <a:p>
            <a:pPr lvl="0"/>
            <a:r>
              <a:rPr b="1"/>
              <a:t>Summarize</a:t>
            </a:r>
            <a:r>
              <a:rPr/>
              <a:t> ~28,000 daily records into one mean per year</a:t>
            </a:r>
          </a:p>
          <a:p>
            <a:pPr lvl="0"/>
            <a:r>
              <a:rPr b="1"/>
              <a:t>Fit</a:t>
            </a:r>
            <a:r>
              <a:rPr/>
              <a:t> </a:t>
            </a:r>
            <a:r>
              <a:rPr>
                <a:latin typeface="Courier"/>
              </a:rPr>
              <a:t>lm(temp ~ year)</a:t>
            </a:r>
            <a:r>
              <a:rPr/>
              <a:t> and read the warming rate straight off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 b="1"/>
              <a:t>Split by season</a:t>
            </a:r>
            <a:r>
              <a:rPr/>
              <a:t> — is winter warming faster than summer?</a:t>
            </a:r>
          </a:p>
          <a:p>
            <a:pPr lvl="0"/>
            <a:r>
              <a:rPr b="1"/>
              <a:t>Find a station for a city you choose</a:t>
            </a:r>
            <a:r>
              <a:rPr/>
              <a:t> and run the whole thing again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is going</a:t>
            </a:r>
          </a:p>
          <a:p>
            <a:pPr lvl="0"/>
            <a:r>
              <a:rPr sz="2000"/>
              <a:t>The analysis is the same four lines every time</a:t>
            </a:r>
          </a:p>
          <a:p>
            <a:pPr lvl="0"/>
            <a:r>
              <a:rPr sz="2000"/>
              <a:t>Change the station, and it is a new city</a:t>
            </a:r>
          </a:p>
          <a:p>
            <a:pPr lvl="0"/>
            <a:r>
              <a:rPr sz="2000"/>
              <a:t>That is your out-of-class extension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janitor</a:t>
            </a:r>
            <a:r>
              <a:rPr/>
              <a:t> —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— summarize and plot</a:t>
            </a:r>
          </a:p>
          <a:p>
            <a:pPr lvl="0"/>
            <a:r>
              <a:rPr>
                <a:latin typeface="Courier"/>
              </a:rPr>
              <a:t>lm()</a:t>
            </a:r>
            <a:r>
              <a:rPr/>
              <a:t> — the slope is the answer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R for Data Science 2e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0"/>
            <a:r>
              <a:rPr/>
              <a:t>📖 Whitlock &amp; Schluter Ch. 17 — Regression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data comes from, why the slope of a regression on time </a:t>
            </a:r>
            <a:r>
              <a:rPr i="1"/>
              <a:t>is</a:t>
            </a:r>
            <a:r>
              <a:rPr/>
              <a:t> a warming rate, and why you have to summarize before you can see it. No code in this chunk.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GSOD</a:t>
            </a:r>
            <a:r>
              <a:rPr/>
              <a:t> = Global Surface Summary of the Day, run by </a:t>
            </a:r>
            <a:r>
              <a:rPr b="1"/>
              <a:t>NOAA</a:t>
            </a:r>
          </a:p>
          <a:p>
            <a:pPr lvl="1"/>
            <a:r>
              <a:rPr/>
              <a:t>daily weather from thousands of stations worldwide</a:t>
            </a:r>
          </a:p>
          <a:p>
            <a:pPr lvl="1"/>
            <a:r>
              <a:rPr/>
              <a:t>many records reach back to the </a:t>
            </a:r>
            <a:r>
              <a:rPr b="1"/>
              <a:t>1940s</a:t>
            </a:r>
          </a:p>
          <a:p>
            <a:pPr lvl="1"/>
            <a:r>
              <a:rPr/>
              <a:t>free, and no account needed</a:t>
            </a:r>
          </a:p>
          <a:p>
            <a:pPr lvl="0"/>
            <a:r>
              <a:rPr/>
              <a:t>The </a:t>
            </a:r>
            <a:r>
              <a:rPr b="1">
                <a:latin typeface="Courier"/>
              </a:rPr>
              <a:t>GSODR</a:t>
            </a:r>
            <a:r>
              <a:rPr/>
              <a:t> package pulls it straight into R</a:t>
            </a:r>
          </a:p>
          <a:p>
            <a:pPr lvl="1"/>
            <a:r>
              <a:rPr/>
              <a:t>you give it a </a:t>
            </a:r>
            <a:r>
              <a:rPr b="1"/>
              <a:t>station ID</a:t>
            </a:r>
            <a:r>
              <a:rPr/>
              <a:t> and a range of </a:t>
            </a:r>
            <a:r>
              <a:rPr b="1"/>
              <a:t>years</a:t>
            </a:r>
          </a:p>
          <a:p>
            <a:pPr lvl="1"/>
            <a:r>
              <a:rPr/>
              <a:t>it hands back a data frame</a:t>
            </a:r>
          </a:p>
          <a:p>
            <a:pPr lvl="0" indent="0" marL="0">
              <a:buNone/>
            </a:pPr>
            <a:r>
              <a:rPr b="1"/>
              <a:t>Our station to start: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 b="1">
                <a:latin typeface="Courier"/>
              </a:rPr>
              <a:t>727450-14913</a:t>
            </a:r>
          </a:p>
          <a:p>
            <a:pPr lvl="0"/>
            <a:r>
              <a:rPr/>
              <a:t>Daily records since </a:t>
            </a:r>
            <a:r>
              <a:rPr b="1"/>
              <a:t>1948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this matters:</a:t>
            </a:r>
          </a:p>
          <a:p>
            <a:pPr lvl="1"/>
            <a:r>
              <a:rPr/>
              <a:t>this is the same messy, real-world data you will meet in your own project</a:t>
            </a:r>
          </a:p>
          <a:p>
            <a:pPr lvl="1"/>
            <a:r>
              <a:rPr/>
              <a:t>the workflow — download → summarize → model — is the one you will reuse all term</a:t>
            </a:r>
          </a:p>
          <a:p>
            <a:pPr lvl="0"/>
            <a:r>
              <a:rPr b="1"/>
              <a:t>And it is yours to reuse:</a:t>
            </a:r>
          </a:p>
          <a:p>
            <a:pPr lvl="1"/>
            <a:r>
              <a:rPr/>
              <a:t>every city with a long station record can be run through the exact same code</a:t>
            </a:r>
          </a:p>
          <a:p>
            <a:pPr lvl="1"/>
            <a:r>
              <a:rPr/>
              <a:t>you will pick one later today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Slope </a:t>
            </a:r>
            <a:r>
              <a:rPr i="1"/>
              <a:t>Is</a:t>
            </a:r>
            <a:r>
              <a:rPr/>
              <a:t> the Warming Rate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Last lecture: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</m:oMath>
                  </m:oMathPara>
                </a14:m>
              </a:p>
              <a:p>
                <a:pPr lvl="0"/>
                <a:r>
                  <a:rPr i="1"/>
                  <a:t>b</a:t>
                </a:r>
                <a:r>
                  <a:rPr/>
                  <a:t> was </a:t>
                </a:r>
                <a:r>
                  <a:rPr b="1"/>
                  <a:t>cm² per gram</a:t>
                </a:r>
                <a:r>
                  <a:rPr/>
                  <a:t> — a conversion factor</a:t>
                </a:r>
              </a:p>
              <a:p>
                <a:pPr lvl="0" indent="0" marL="0">
                  <a:buNone/>
                </a:pPr>
                <a:r>
                  <a:rPr/>
                  <a:t>Today: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temp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year</m:t>
                      </m:r>
                    </m:oMath>
                  </m:oMathPara>
                </a14:m>
              </a:p>
              <a:p>
                <a:pPr lvl="0"/>
                <a:r>
                  <a:rPr i="1"/>
                  <a:t>b</a:t>
                </a:r>
                <a:r>
                  <a:rPr/>
                  <a:t> is </a:t>
                </a:r>
                <a:r>
                  <a:rPr b="1"/>
                  <a:t>°C per year</a:t>
                </a:r>
                <a:r>
                  <a:rPr/>
                  <a:t> — a </a:t>
                </a:r>
                <a:r>
                  <a:rPr b="1"/>
                  <a:t>rate of change</a:t>
                </a:r>
              </a:p>
              <a:p>
                <a:pPr lvl="0" indent="0" marL="0">
                  <a:buNone/>
                </a:pPr>
                <a:r>
                  <a:rPr b="1"/>
                  <a:t>Nothing about the code changes.</a:t>
                </a:r>
                <a:r>
                  <a:rPr/>
                  <a:t> Only what X means.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Reading the slope:</a:t>
            </a:r>
          </a:p>
          <a:p>
            <a:pPr lvl="1"/>
            <a:r>
              <a:rPr i="1"/>
              <a:t>b</a:t>
            </a:r>
            <a:r>
              <a:rPr/>
              <a:t> </a:t>
            </a:r>
            <a:r>
              <a:rPr b="1"/>
              <a:t>positive</a:t>
            </a:r>
            <a:r>
              <a:rPr/>
              <a:t> → warming</a:t>
            </a:r>
          </a:p>
          <a:p>
            <a:pPr lvl="1"/>
            <a:r>
              <a:rPr i="1"/>
              <a:t>b</a:t>
            </a:r>
            <a:r>
              <a:rPr/>
              <a:t> </a:t>
            </a:r>
            <a:r>
              <a:rPr b="1"/>
              <a:t>negative</a:t>
            </a:r>
            <a:r>
              <a:rPr/>
              <a:t> → cooling</a:t>
            </a:r>
          </a:p>
          <a:p>
            <a:pPr lvl="1"/>
            <a:r>
              <a:rPr i="1"/>
              <a:t>b</a:t>
            </a:r>
            <a:r>
              <a:rPr/>
              <a:t> near 0 → no trend</a:t>
            </a:r>
          </a:p>
          <a:p>
            <a:pPr lvl="0"/>
            <a:r>
              <a:rPr b="1"/>
              <a:t>Make it human:</a:t>
            </a:r>
            <a:r>
              <a:rPr/>
              <a:t> °C per year is a tiny number</a:t>
            </a:r>
          </a:p>
          <a:p>
            <a:pPr lvl="1"/>
            <a:r>
              <a:rPr b="1"/>
              <a:t>multiply it by 10</a:t>
            </a:r>
            <a:r>
              <a:rPr/>
              <a:t> → °C </a:t>
            </a:r>
            <a:r>
              <a:rPr b="1"/>
              <a:t>per decade</a:t>
            </a:r>
          </a:p>
          <a:p>
            <a:pPr lvl="1"/>
            <a:r>
              <a:rPr/>
              <a:t>0.027 °C/year → about </a:t>
            </a:r>
            <a:r>
              <a:rPr b="1"/>
              <a:t>0.27 °C per decade</a:t>
            </a:r>
          </a:p>
          <a:p>
            <a:pPr lvl="0"/>
            <a:r>
              <a:rPr b="1"/>
              <a:t>The </a:t>
            </a:r>
            <a:r>
              <a:rPr b="1" i="1"/>
              <a:t>p</a:t>
            </a:r>
            <a:r>
              <a:rPr b="1"/>
              <a:t>-value still does the same job</a:t>
            </a:r>
          </a:p>
          <a:p>
            <a:pPr lvl="1"/>
            <a:r>
              <a:rPr/>
              <a:t>H₀: the slope is 0 — no trend at all</a:t>
            </a:r>
          </a:p>
          <a:p>
            <a:pPr lvl="1"/>
            <a:r>
              <a:rPr/>
              <a:t>small </a:t>
            </a:r>
            <a:r>
              <a:rPr i="1"/>
              <a:t>p</a:t>
            </a:r>
            <a:r>
              <a:rPr/>
              <a:t> → the trend is real, not chance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You Must Summarize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 station reports </a:t>
            </a:r>
            <a:r>
              <a:rPr b="1"/>
              <a:t>one row per day</a:t>
            </a:r>
          </a:p>
          <a:p>
            <a:pPr lvl="1"/>
            <a:r>
              <a:rPr/>
              <a:t>78 years × 365 days ≈ </a:t>
            </a:r>
            <a:r>
              <a:rPr b="1"/>
              <a:t>28,000 rows</a:t>
            </a:r>
          </a:p>
          <a:p>
            <a:pPr lvl="0"/>
            <a:r>
              <a:rPr/>
              <a:t>Every one of those days carries the </a:t>
            </a:r>
            <a:r>
              <a:rPr b="1"/>
              <a:t>seasonal cycle</a:t>
            </a:r>
          </a:p>
          <a:p>
            <a:pPr lvl="1"/>
            <a:r>
              <a:rPr/>
              <a:t>January is 30 °C colder than July, every single year</a:t>
            </a:r>
          </a:p>
          <a:p>
            <a:pPr lvl="1"/>
            <a:r>
              <a:rPr/>
              <a:t>that swing is enormous compared with a few tenths of a degree of warming</a:t>
            </a:r>
          </a:p>
          <a:p>
            <a:pPr lvl="0"/>
            <a:r>
              <a:rPr/>
              <a:t>So the trend you want is </a:t>
            </a:r>
            <a:r>
              <a:rPr b="1"/>
              <a:t>buried</a:t>
            </a:r>
            <a:r>
              <a:rPr/>
              <a:t> in the noise you don’t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/>
                <a:gridCol w="1333500"/>
                <a:gridCol w="1333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left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throwing data away.</a:t>
            </a:r>
          </a:p>
          <a:p>
            <a:pPr lvl="0"/>
            <a:r>
              <a:rPr sz="2000"/>
              <a:t>It is choosing </a:t>
            </a:r>
            <a:r>
              <a:rPr sz="2000" b="1"/>
              <a:t>which question</a:t>
            </a:r>
            <a:r>
              <a:rPr sz="2000"/>
              <a:t> you are answering</a:t>
            </a:r>
          </a:p>
          <a:p>
            <a:pPr lvl="0"/>
            <a:r>
              <a:rPr sz="2000"/>
              <a:t>Want to study a heat wave? Use </a:t>
            </a:r>
            <a:r>
              <a:rPr sz="2000" b="1"/>
              <a:t>daily</a:t>
            </a:r>
          </a:p>
          <a:p>
            <a:pPr lvl="0"/>
            <a:r>
              <a:rPr sz="2000"/>
              <a:t>Want to study climate? Use </a:t>
            </a:r>
            <a:r>
              <a:rPr sz="2000" b="1"/>
              <a:t>yearly</a:t>
            </a:r>
          </a:p>
          <a:p>
            <a:pPr lvl="0"/>
            <a:r>
              <a:rPr/>
              <a:t>One </a:t>
            </a:r>
            <a:r>
              <a:rPr>
                <a:latin typeface="Courier"/>
              </a:rPr>
              <a:t>group_by(year) %&gt;% summarize()</a:t>
            </a:r>
            <a:r>
              <a:rPr/>
              <a:t> — the same two lines from Summary Statistics</a:t>
            </a:r>
          </a:p>
          <a:p>
            <a:pPr lvl="0"/>
            <a:r>
              <a:rPr/>
              <a:t>That is the whole fix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Duluth’s Warming 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downloading the Duluth record, cleaning the names, summarizing to yearly means, and fitting </a:t>
            </a:r>
            <a:r>
              <a:rPr>
                <a:latin typeface="Courier"/>
              </a:rPr>
              <a:t>lm(temp ~ year)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1–5</a:t>
            </a:r>
            <a:r>
              <a:rPr/>
              <a:t> (download, summarize, plot, fit, read the slope).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dplyr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    </a:t>
            </a:r>
            <a:r>
              <a:rPr>
                <a:solidFill>
                  <a:srgbClr val="5E5E5E"/>
                </a:solidFill>
                <a:latin typeface="Courier"/>
              </a:rPr>
              <a:t>#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weather, 1948-2025 -------------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clean_names() makes every column lower case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readRDS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"duluth_cached.rds"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STUB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get_GSOD()</a:t>
            </a:r>
            <a:r>
              <a:rPr/>
              <a:t> takes </a:t>
            </a:r>
            <a:r>
              <a:rPr b="1"/>
              <a:t>years</a:t>
            </a:r>
            <a:r>
              <a:rPr/>
              <a:t> and a </a:t>
            </a:r>
            <a:r>
              <a:rPr b="1"/>
              <a:t>station</a:t>
            </a:r>
            <a:r>
              <a:rPr/>
              <a:t> and goes and gets the data</a:t>
            </a:r>
          </a:p>
          <a:p>
            <a:pPr lvl="1"/>
            <a:r>
              <a:rPr>
                <a:latin typeface="Courier"/>
              </a:rPr>
              <a:t>1948:2025</a:t>
            </a:r>
            <a:r>
              <a:rPr/>
              <a:t> is a vector — “every year in this range”</a:t>
            </a:r>
          </a:p>
          <a:p>
            <a:pPr lvl="1"/>
            <a:r>
              <a:rPr/>
              <a:t>it takes a minute; 78 years of daily data is a lot</a:t>
            </a:r>
          </a:p>
          <a:p>
            <a:pPr lvl="0"/>
            <a:r>
              <a:rPr b="1">
                <a:latin typeface="Courier"/>
              </a:rPr>
              <a:t>clean_names()</a:t>
            </a:r>
            <a:r>
              <a:rPr b="1"/>
              <a:t> is the important habit here</a:t>
            </a:r>
          </a:p>
          <a:p>
            <a:pPr lvl="1"/>
            <a:r>
              <a:rPr/>
              <a:t>NOAA ships columns as </a:t>
            </a:r>
            <a:r>
              <a:rPr>
                <a:latin typeface="Courier"/>
              </a:rPr>
              <a:t>TEMP</a:t>
            </a:r>
            <a:r>
              <a:rPr/>
              <a:t>, </a:t>
            </a:r>
            <a:r>
              <a:rPr>
                <a:latin typeface="Courier"/>
              </a:rPr>
              <a:t>YEARMODA</a:t>
            </a:r>
            <a:r>
              <a:rPr/>
              <a:t>, </a:t>
            </a:r>
            <a:r>
              <a:rPr>
                <a:latin typeface="Courier"/>
              </a:rPr>
              <a:t>MXSPD</a:t>
            </a:r>
          </a:p>
          <a:p>
            <a:pPr lvl="1"/>
            <a:r>
              <a:rPr/>
              <a:t>R is case-sensitive, so </a:t>
            </a:r>
            <a:r>
              <a:rPr>
                <a:latin typeface="Courier"/>
              </a:rPr>
              <a:t>temp</a:t>
            </a:r>
            <a:r>
              <a:rPr/>
              <a:t> would error</a:t>
            </a:r>
          </a:p>
          <a:p>
            <a:pPr lvl="1"/>
            <a:r>
              <a:rPr>
                <a:latin typeface="Courier"/>
              </a:rPr>
              <a:t>clean_names()</a:t>
            </a:r>
            <a:r>
              <a:rPr/>
              <a:t> makes everything lower case and snake case, once, at the top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Clean the names as you load the data, and you never think about capitals again.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Did We Get?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big is it, and what is in it? 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25441    47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(duluth_df)[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latin typeface="Courier"/>
              </a:rPr>
              <a:t>[1] "yearmoda" "year"     "month"    "day"      "yday"    
[6] "temp"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~28,000 rows</a:t>
            </a:r>
            <a:r>
              <a:rPr/>
              <a:t> — one per day</a:t>
            </a:r>
          </a:p>
          <a:p>
            <a:pPr lvl="0"/>
            <a:r>
              <a:rPr b="1"/>
              <a:t>47 columns</a:t>
            </a:r>
            <a:r>
              <a:rPr/>
              <a:t> — temperature, dew point, wind, precipitation, flags…</a:t>
            </a:r>
          </a:p>
          <a:p>
            <a:pPr lvl="0"/>
            <a:r>
              <a:rPr/>
              <a:t>The handful we care about:</a:t>
            </a:r>
          </a:p>
          <a:p>
            <a:pPr lvl="1"/>
            <a:r>
              <a:rPr>
                <a:latin typeface="Courier"/>
              </a:rPr>
              <a:t>yearmoda</a:t>
            </a:r>
            <a:r>
              <a:rPr/>
              <a:t> — the date</a:t>
            </a:r>
          </a:p>
          <a:p>
            <a:pPr lvl="1"/>
            <a:r>
              <a:rPr>
                <a:latin typeface="Courier"/>
              </a:rPr>
              <a:t>year</a:t>
            </a:r>
            <a:r>
              <a:rPr/>
              <a:t>, </a:t>
            </a:r>
            <a:r>
              <a:rPr>
                <a:latin typeface="Courier"/>
              </a:rPr>
              <a:t>month</a:t>
            </a:r>
            <a:r>
              <a:rPr/>
              <a:t>, </a:t>
            </a:r>
            <a:r>
              <a:rPr>
                <a:latin typeface="Courier"/>
              </a:rPr>
              <a:t>day</a:t>
            </a:r>
          </a:p>
          <a:p>
            <a:pPr lvl="1"/>
            <a:r>
              <a:rPr>
                <a:latin typeface="Courier"/>
              </a:rPr>
              <a:t>temp</a:t>
            </a:r>
            <a:r>
              <a:rPr/>
              <a:t> — daily mean temperature in °C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names(df)</a:t>
            </a:r>
            <a:r>
              <a:rPr sz="2000"/>
              <a:t> is how you find out what a downloaded data set actually calls things. Always look before you type.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use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(name, yearmoda, year, month, temp)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        name   yearmoda  year month  temp
                         &lt;char&gt;     &lt;Date&gt; &lt;int&gt; &lt;int&gt; &lt;num&gt;
1: DULUTH INTERNATIONAL AIRPORT 1948-01-01  1948     1  -8.2
2: DULUTH INTERNATIONAL AIRPORT 1948-01-02  1948     1  -4.1
3: DULUTH INTERNATIONAL AIRPORT 1948-01-03  1948     1  -8.4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47 columns is more than anyone needs to look at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keeps the five that answer our question</a:t>
            </a:r>
          </a:p>
          <a:p>
            <a:pPr lvl="0"/>
            <a:r>
              <a:rPr/>
              <a:t>Same </a:t>
            </a:r>
            <a:r>
              <a:rPr>
                <a:latin typeface="Courier"/>
              </a:rPr>
              <a:t>select()</a:t>
            </a:r>
            <a:r>
              <a:rPr/>
              <a:t> from the Wrangling lecture — just on a much wider real file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Trim early. Every later line is easier to read when the data frame has 5 columns instead of 47.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single daily temperature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70100"/>
            <a:ext cx="4432300" cy="170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solid band about </a:t>
            </a:r>
            <a:r>
              <a:rPr b="1"/>
              <a:t>60 °C tall</a:t>
            </a:r>
            <a:r>
              <a:rPr/>
              <a:t> — that is summer vs winter, repeated 78 times</a:t>
            </a:r>
          </a:p>
          <a:p>
            <a:pPr lvl="0"/>
            <a:r>
              <a:rPr/>
              <a:t>~28,000 points on top of each other</a:t>
            </a:r>
          </a:p>
          <a:p>
            <a:pPr lvl="0"/>
            <a:r>
              <a:rPr/>
              <a:t>Any warming trend is in there, but it is a </a:t>
            </a:r>
            <a:r>
              <a:rPr b="1"/>
              <a:t>fraction of a degree</a:t>
            </a:r>
            <a:r>
              <a:rPr/>
              <a:t> against a 60 °C swing</a:t>
            </a:r>
          </a:p>
          <a:p>
            <a:pPr lvl="0" indent="0" marL="0">
              <a:buNone/>
            </a:pPr>
            <a:r>
              <a:rPr b="1"/>
              <a:t>So you cannot see it.</a:t>
            </a:r>
            <a:r>
              <a:rPr/>
              <a:t> That is not a plotting problem — it is a summarizing problem.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to One Mean per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 year  temp
  &lt;int&gt; &lt;dbl&gt;
1  1948  3.76
2  1949  4.10
3  1950  1.60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group_by(year)</a:t>
            </a:r>
            <a:r>
              <a:rPr/>
              <a:t> — one group per year</a:t>
            </a:r>
          </a:p>
          <a:p>
            <a:pPr lvl="0"/>
            <a:r>
              <a:rPr>
                <a:latin typeface="Courier"/>
              </a:rPr>
              <a:t>summarize(temp = mean(temp))</a:t>
            </a:r>
            <a:r>
              <a:rPr/>
              <a:t> — one number per group</a:t>
            </a:r>
          </a:p>
          <a:p>
            <a:pPr lvl="0"/>
            <a:r>
              <a:rPr b="1"/>
              <a:t>28,000 rows become 78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ignores days the station missed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Reusing the name </a:t>
            </a:r>
            <a:r>
              <a:rPr sz="2000">
                <a:latin typeface="Courier"/>
              </a:rPr>
              <a:t>temp</a:t>
            </a:r>
            <a:r>
              <a:rPr sz="2000"/>
              <a:t> on the left means every line below keeps working — the same trick from T-Tests II.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Yearly 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Yearly means with the regression line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Now you can see it.</a:t>
            </a:r>
            <a:r>
              <a:rPr/>
              <a:t> The line clearly rises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Still plenty of scatter: single years are weather, the line is climate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geom_smooth(method = "lm")</a:t>
            </a:r>
            <a:r>
              <a:rPr/>
              <a:t> as the Regression lecture</a:t>
            </a:r>
          </a:p>
          <a:p>
            <a:pPr lvl="0" indent="0" marL="0">
              <a:buNone/>
            </a:pPr>
            <a:r>
              <a:rPr b="1"/>
              <a:t>But “it looks like it goes up” is not a result.</a:t>
            </a:r>
            <a:r>
              <a:rPr/>
              <a:t> We need the number.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Temperature predicted by year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(dlh_year_model)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lm(temp ~ year)</a:t>
            </a:r>
            <a:r>
              <a:rPr/>
              <a:t> reads “</a:t>
            </a:r>
            <a:r>
              <a:rPr b="1"/>
              <a:t>temperature is predicted by year</a:t>
            </a:r>
            <a:r>
              <a:rPr/>
              <a:t>”</a:t>
            </a:r>
          </a:p>
          <a:p>
            <a:pPr lvl="0"/>
            <a:r>
              <a:rPr/>
              <a:t>Y on the left, X on the right — same as always</a:t>
            </a:r>
          </a:p>
          <a:p>
            <a:pPr lvl="0"/>
            <a:r>
              <a:rPr/>
              <a:t>The three numbers you want are all in this output: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(</a:t>
            </a:r>
            <a:r>
              <a:rPr>
                <a:latin typeface="Courier"/>
              </a:rPr>
              <a:t>year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1"/>
            <a:r>
              <a:rPr/>
              <a:t>its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(</a:t>
            </a:r>
            <a:r>
              <a:rPr>
                <a:latin typeface="Courier"/>
              </a:rPr>
              <a:t>year</a:t>
            </a:r>
            <a:r>
              <a:rPr/>
              <a:t> → </a:t>
            </a:r>
            <a:r>
              <a:rPr>
                <a:latin typeface="Courier"/>
              </a:rPr>
              <a:t>Pr(&gt;|t|)</a:t>
            </a:r>
            <a:r>
              <a:rPr/>
              <a:t>)</a:t>
            </a:r>
          </a:p>
          <a:p>
            <a:pPr lvl="1"/>
            <a:r>
              <a:rPr b="1"/>
              <a:t>R²</a:t>
            </a:r>
            <a:r>
              <a:rPr/>
              <a:t> (</a:t>
            </a:r>
            <a:r>
              <a:rPr>
                <a:latin typeface="Courier"/>
              </a:rPr>
              <a:t>Multiple R-squared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Warming 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Look at the </a:t>
            </a:r>
            <a:r>
              <a:rPr b="1">
                <a:latin typeface="Courier"/>
              </a:rPr>
              <a:t>year</a:t>
            </a:r>
            <a:r>
              <a:rPr b="1"/>
              <a:t> row of the Coefficients table.</a:t>
            </a:r>
          </a:p>
          <a:p>
            <a:pPr lvl="0"/>
            <a:r>
              <a:rPr b="1">
                <a:latin typeface="Courier"/>
              </a:rPr>
              <a:t>Estimate</a:t>
            </a:r>
            <a:r>
              <a:rPr b="1"/>
              <a:t> ≈ 0.027</a:t>
            </a:r>
            <a:r>
              <a:rPr/>
              <a:t> — that is the slope</a:t>
            </a:r>
          </a:p>
          <a:p>
            <a:pPr lvl="1"/>
            <a:r>
              <a:rPr/>
              <a:t>units: </a:t>
            </a:r>
            <a:r>
              <a:rPr b="1"/>
              <a:t>°C per year</a:t>
            </a:r>
          </a:p>
          <a:p>
            <a:pPr lvl="1"/>
            <a:r>
              <a:rPr/>
              <a:t>positive → Duluth is </a:t>
            </a:r>
            <a:r>
              <a:rPr b="1"/>
              <a:t>warming</a:t>
            </a:r>
          </a:p>
          <a:p>
            <a:pPr lvl="1"/>
            <a:r>
              <a:rPr/>
              <a:t>×10 → about </a:t>
            </a:r>
            <a:r>
              <a:rPr b="1"/>
              <a:t>0.27 °C per decade</a:t>
            </a:r>
          </a:p>
          <a:p>
            <a:pPr lvl="1"/>
            <a:r>
              <a:rPr/>
              <a:t>over ~78 years → roughly </a:t>
            </a:r>
            <a:r>
              <a:rPr b="1"/>
              <a:t>2 °C</a:t>
            </a:r>
          </a:p>
          <a:p>
            <a:pPr lvl="0"/>
            <a:r>
              <a:rPr b="1">
                <a:latin typeface="Courier"/>
              </a:rPr>
              <a:t>Pr(&gt;|t|)</a:t>
            </a:r>
            <a:r>
              <a:rPr b="1"/>
              <a:t> is tiny</a:t>
            </a:r>
            <a:r>
              <a:rPr/>
              <a:t> (far below 0.001)</a:t>
            </a:r>
          </a:p>
          <a:p>
            <a:pPr lvl="1"/>
            <a:r>
              <a:rPr/>
              <a:t>the warming is </a:t>
            </a:r>
            <a:r>
              <a:rPr b="1"/>
              <a:t>real</a:t>
            </a:r>
            <a:r>
              <a:rPr/>
              <a:t>, not year-to-year luck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Multiple R-squared</a:t>
            </a:r>
            <a:r>
              <a:rPr b="1"/>
              <a:t> ≈ 0.34</a:t>
            </a:r>
          </a:p>
          <a:p>
            <a:pPr lvl="1"/>
            <a:r>
              <a:rPr/>
              <a:t>year explains about </a:t>
            </a:r>
            <a:r>
              <a:rPr b="1"/>
              <a:t>a third</a:t>
            </a:r>
            <a:r>
              <a:rPr/>
              <a:t> of the variation in annual temperature</a:t>
            </a:r>
          </a:p>
          <a:p>
            <a:pPr lvl="1"/>
            <a:r>
              <a:rPr/>
              <a:t>the other two thirds is </a:t>
            </a:r>
            <a:r>
              <a:rPr b="1"/>
              <a:t>weather</a:t>
            </a:r>
            <a:r>
              <a:rPr/>
              <a:t> — some years are just cold</a:t>
            </a:r>
          </a:p>
          <a:p>
            <a:pPr lvl="1"/>
            <a:r>
              <a:rPr/>
              <a:t>a modest R² next to a rock-solid </a:t>
            </a:r>
            <a:r>
              <a:rPr i="1"/>
              <a:t>p</a:t>
            </a:r>
            <a:r>
              <a:rPr/>
              <a:t> is completely normal in climate data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intercept looks absurd — about −49 °C.</a:t>
            </a:r>
          </a:p>
          <a:p>
            <a:pPr lvl="0"/>
            <a:r>
              <a:rPr sz="2000"/>
              <a:t>That is the predicted temperature at “year 0”</a:t>
            </a:r>
          </a:p>
          <a:p>
            <a:pPr lvl="0"/>
            <a:r>
              <a:rPr sz="2000"/>
              <a:t>Year 0 is 2,000 years outside the data</a:t>
            </a:r>
          </a:p>
          <a:p>
            <a:pPr lvl="0"/>
            <a:r>
              <a:rPr sz="2000"/>
              <a:t>The intercept is bookkeeping; the </a:t>
            </a:r>
            <a:r>
              <a:rPr sz="2000" b="1"/>
              <a:t>slope</a:t>
            </a:r>
            <a:r>
              <a:rPr sz="2000"/>
              <a:t> is the science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12 Parts 1–5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1–5 now</a:t>
            </a:r>
          </a:p>
          <a:p>
            <a:pPr lvl="0"/>
            <a:r>
              <a:rPr/>
              <a:t>Download the Duluth record and </a:t>
            </a:r>
            <a:r>
              <a:rPr>
                <a:latin typeface="Courier"/>
              </a:rPr>
              <a:t>clean_names()</a:t>
            </a:r>
            <a:r>
              <a:rPr/>
              <a:t> it</a:t>
            </a:r>
          </a:p>
          <a:p>
            <a:pPr lvl="0"/>
            <a:r>
              <a:rPr/>
              <a:t>Trim the columns and plot the raw daily data</a:t>
            </a:r>
          </a:p>
          <a:p>
            <a:pPr lvl="0"/>
            <a:r>
              <a:rPr/>
              <a:t>Summarize to one mean per year and plot it</a:t>
            </a:r>
          </a:p>
          <a:p>
            <a:pPr lvl="0"/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and read the slope, </a:t>
            </a:r>
            <a:r>
              <a:rPr i="1"/>
              <a:t>p</a:t>
            </a:r>
            <a:r>
              <a:rPr/>
              <a:t>, and R² off </a:t>
            </a:r>
            <a:r>
              <a:rPr>
                <a:latin typeface="Courier"/>
              </a:rPr>
              <a:t>summary()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Seasons, and Your Own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labelling each day with a season, fitting a separate model for summer and winter, and finding the station ID for a city you choose.</a:t>
            </a:r>
          </a:p>
          <a:p>
            <a:pPr lvl="0" indent="0" marL="0">
              <a:buNone/>
            </a:pPr>
            <a:r>
              <a:rPr b="1"/>
              <a:t>🛑 After this chunk: Activity Parts 6–10</a:t>
            </a:r>
            <a:r>
              <a:rPr/>
              <a:t> (seasons, two models, your own city).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Better Question — Which Season Is Warming?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annual mean says Duluth warmed about </a:t>
            </a:r>
            <a:r>
              <a:rPr b="1"/>
              <a:t>0.27 °C per decade</a:t>
            </a:r>
          </a:p>
          <a:p>
            <a:pPr lvl="0"/>
            <a:r>
              <a:rPr/>
              <a:t>But an annual mean </a:t>
            </a:r>
            <a:r>
              <a:rPr b="1"/>
              <a:t>hides which part of the year moved</a:t>
            </a:r>
          </a:p>
          <a:p>
            <a:pPr lvl="0"/>
            <a:r>
              <a:rPr/>
              <a:t>That distinction is the biologically interesting one:</a:t>
            </a:r>
          </a:p>
          <a:p>
            <a:pPr lvl="1"/>
            <a:r>
              <a:rPr b="1"/>
              <a:t>ice-out dates</a:t>
            </a:r>
            <a:r>
              <a:rPr/>
              <a:t> and </a:t>
            </a:r>
            <a:r>
              <a:rPr b="1"/>
              <a:t>frozen soil</a:t>
            </a:r>
            <a:r>
              <a:rPr/>
              <a:t> depend on </a:t>
            </a:r>
            <a:r>
              <a:rPr i="1"/>
              <a:t>winter</a:t>
            </a:r>
          </a:p>
          <a:p>
            <a:pPr lvl="1"/>
            <a:r>
              <a:rPr b="1"/>
              <a:t>heat stress</a:t>
            </a:r>
            <a:r>
              <a:rPr/>
              <a:t> and </a:t>
            </a:r>
            <a:r>
              <a:rPr b="1"/>
              <a:t>drought</a:t>
            </a:r>
            <a:r>
              <a:rPr/>
              <a:t> depend on </a:t>
            </a:r>
            <a:r>
              <a:rPr i="1"/>
              <a:t>summer</a:t>
            </a:r>
          </a:p>
          <a:p>
            <a:pPr lvl="1"/>
            <a:r>
              <a:rPr b="1"/>
              <a:t>growing season length</a:t>
            </a:r>
            <a:r>
              <a:rPr/>
              <a:t> depends on the shoulders</a:t>
            </a:r>
          </a:p>
          <a:p>
            <a:pPr lvl="0" indent="0" marL="0">
              <a:buNone/>
            </a:pPr>
            <a:r>
              <a:rPr b="1"/>
              <a:t>The plan — three steps you already know: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mutate()</a:t>
            </a:r>
            <a:r>
              <a:rPr/>
              <a:t> + </a:t>
            </a:r>
            <a:r>
              <a:rPr>
                <a:latin typeface="Courier"/>
              </a:rPr>
              <a:t>case_when()</a:t>
            </a:r>
            <a:r>
              <a:rPr/>
              <a:t> to label each day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group_by(year, season)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-342900" marL="342900">
              <a:buAutoNum type="arabicPeriod"/>
            </a:pPr>
            <a:r>
              <a:rPr/>
              <a:t>One </a:t>
            </a:r>
            <a:r>
              <a:rPr>
                <a:latin typeface="Courier"/>
              </a:rPr>
              <a:t>lm()</a:t>
            </a:r>
            <a:r>
              <a:rPr/>
              <a:t> per season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Seasons are not months — they are hemispheres.</a:t>
            </a:r>
          </a:p>
          <a:p>
            <a:pPr lvl="0"/>
            <a:r>
              <a:rPr sz="2000"/>
              <a:t>June–August is </a:t>
            </a:r>
            <a:r>
              <a:rPr sz="2000" b="1"/>
              <a:t>summer</a:t>
            </a:r>
            <a:r>
              <a:rPr sz="2000"/>
              <a:t> north of the equator</a:t>
            </a:r>
          </a:p>
          <a:p>
            <a:pPr lvl="0"/>
            <a:r>
              <a:rPr sz="2000"/>
              <a:t>June–August is </a:t>
            </a:r>
            <a:r>
              <a:rPr sz="2000" b="1"/>
              <a:t>winter</a:t>
            </a:r>
            <a:r>
              <a:rPr sz="2000"/>
              <a:t> south of it</a:t>
            </a:r>
          </a:p>
          <a:p>
            <a:pPr lvl="0"/>
            <a:r>
              <a:rPr sz="2000"/>
              <a:t>If you pick Melbourne, Santiago or Cape Town later, you must </a:t>
            </a:r>
            <a:r>
              <a:rPr sz="2000" b="1"/>
              <a:t>swap the labels</a:t>
            </a:r>
          </a:p>
          <a:p>
            <a:pPr lvl="0"/>
            <a:r>
              <a:rPr/>
              <a:t>A station’s </a:t>
            </a:r>
            <a:r>
              <a:rPr>
                <a:latin typeface="Courier"/>
              </a:rPr>
              <a:t>latitude</a:t>
            </a:r>
            <a:r>
              <a:rPr/>
              <a:t> column tells you which hemisphere you are in</a:t>
            </a:r>
          </a:p>
          <a:p>
            <a:pPr lvl="1"/>
            <a:r>
              <a:rPr/>
              <a:t>positive → northern</a:t>
            </a:r>
          </a:p>
          <a:p>
            <a:pPr lvl="1"/>
            <a:r>
              <a:rPr/>
              <a:t>negative → southern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Label Each Day with a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Northern hemisphere seasons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SOUTHERN hemisphere: swap summer and winter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Did it work?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case_when()</a:t>
            </a:r>
            <a:r>
              <a:rPr/>
              <a:t> reads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answer</a:t>
            </a:r>
          </a:p>
          <a:p>
            <a:pPr lvl="1"/>
            <a:r>
              <a:rPr/>
              <a:t>the </a:t>
            </a:r>
            <a:r>
              <a:rPr b="1"/>
              <a:t>first</a:t>
            </a:r>
            <a:r>
              <a:rPr/>
              <a:t> matching line wins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= “is month 6, 7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is the catch-all for everything left over — spring and fall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is the check: roughly a quarter of the days in each of summer and winter, half in the shoulder</a:t>
            </a:r>
          </a:p>
          <a:p>
            <a:pPr lvl="0" indent="0" marL="0">
              <a:buNone/>
            </a:pPr>
            <a:r>
              <a:rPr/>
              <a:t>📖 R4DS §3.4 — </a:t>
            </a:r>
            <a:r>
              <a:rPr>
                <a:latin typeface="Courier"/>
              </a:rPr>
              <a:t>case_when()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by Year </a:t>
            </a:r>
            <a:r>
              <a:rPr i="1"/>
              <a:t>and</a:t>
            </a:r>
            <a:r>
              <a:rPr/>
              <a:t>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shoulder, then one mean per year per season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 year season  temp
  &lt;int&gt; &lt;chr&gt;  &lt;dbl&gt;
1  1948 summer  17.4
2  1948 winter -12.6
3  1949 summer  18.4
4  1949 winter -11.4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filter(season != "shoulder")</a:t>
            </a:r>
            <a:r>
              <a:rPr/>
              <a:t> — </a:t>
            </a:r>
            <a:r>
              <a:rPr>
                <a:latin typeface="Courier"/>
              </a:rPr>
              <a:t>!=</a:t>
            </a:r>
            <a:r>
              <a:rPr/>
              <a:t> means “is not”</a:t>
            </a:r>
          </a:p>
          <a:p>
            <a:pPr lvl="1"/>
            <a:r>
              <a:rPr/>
              <a:t>keeps only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</a:t>
            </a:r>
            <a:r>
              <a:rPr b="1"/>
              <a:t>two</a:t>
            </a:r>
            <a:r>
              <a:rPr/>
              <a:t> grouping columns</a:t>
            </a:r>
          </a:p>
          <a:p>
            <a:pPr lvl="1"/>
            <a:r>
              <a:rPr/>
              <a:t>one row per year </a:t>
            </a:r>
            <a:r>
              <a:rPr b="1"/>
              <a:t>per season</a:t>
            </a:r>
          </a:p>
          <a:p>
            <a:pPr lvl="1"/>
            <a:r>
              <a:rPr/>
              <a:t>78 years × 2 seasons ≈ 156 rows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tidies up afterwards</a:t>
            </a:r>
          </a:p>
          <a:p>
            <a:pPr lvl="0" indent="0" marL="0">
              <a:buNone/>
            </a:pPr>
            <a:r>
              <a:rPr/>
              <a:t>This is the same two-column </a:t>
            </a:r>
            <a:r>
              <a:rPr>
                <a:latin typeface="Courier"/>
              </a:rPr>
              <a:t>group_by()</a:t>
            </a:r>
            <a:r>
              <a:rPr/>
              <a:t> from T-Tests II.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line per season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season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does two jobs at once:</a:t>
            </a:r>
          </a:p>
          <a:p>
            <a:pPr lvl="1"/>
            <a:r>
              <a:rPr/>
              <a:t>colors the points by season</a:t>
            </a:r>
          </a:p>
          <a:p>
            <a:pPr lvl="1"/>
            <a:r>
              <a:rPr/>
              <a:t>makes </a:t>
            </a:r>
            <a:r>
              <a:rPr>
                <a:latin typeface="Courier"/>
              </a:rPr>
              <a:t>geom_smooth()</a:t>
            </a:r>
            <a:r>
              <a:rPr/>
              <a:t> fit </a:t>
            </a:r>
            <a:r>
              <a:rPr b="1"/>
              <a:t>a separate line per season</a:t>
            </a:r>
          </a:p>
          <a:p>
            <a:pPr lvl="0"/>
            <a:r>
              <a:rPr/>
              <a:t>Two bands, far apart — winter near −11 °C, summer near 18 °C</a:t>
            </a:r>
          </a:p>
          <a:p>
            <a:pPr lvl="0"/>
            <a:r>
              <a:rPr b="1"/>
              <a:t>Don’t compare the heights. Compare the steepness.</a:t>
            </a:r>
          </a:p>
          <a:p>
            <a:pPr lvl="1"/>
            <a:r>
              <a:rPr/>
              <a:t>the height is just “winter is cold”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is the warming rate</a:t>
            </a:r>
          </a:p>
          <a:p>
            <a:pPr lvl="0"/>
            <a:r>
              <a:rPr/>
              <a:t>Winter’s line looks steeper — but we need the numbers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Model for Summer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 only 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(summer_model)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summer_df)
Residuals:
    Min      1Q  Median      3Q     Max 
-2.6841 -0.7543  0.1585  0.6622  2.1918 
Coefficients:
              Estimate Std. Error t value Pr(&gt;|t|)    
(Intercept) -24.267149  10.815992  -2.244 0.028116 *  
year          0.021059   0.005439   3.872 0.000245 ***
---
Signif. codes:  0 '***' 0.001 '**' 0.01 '*' 0.05 '.' 0.1 ' ' 1
Residual standard error: 1.041 on 68 degrees of freedom
Multiple R-squared:  0.1807,    Adjusted R-squared:  0.1686 
F-statistic: 14.99 on 1 and 68 DF,  p-value: 0.0002448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first, then the </a:t>
            </a: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as before</a:t>
            </a:r>
          </a:p>
          <a:p>
            <a:pPr lvl="0"/>
            <a:r>
              <a:rPr/>
              <a:t>Two small models are far easier to read than one complicated one</a:t>
            </a:r>
          </a:p>
          <a:p>
            <a:pPr lvl="0" indent="0" marL="0">
              <a:buNone/>
            </a:pPr>
            <a:r>
              <a:rPr b="1"/>
              <a:t>Summer slope ≈ 0.021 °C/year</a:t>
            </a:r>
          </a:p>
          <a:p>
            <a:pPr lvl="0"/>
            <a:r>
              <a:rPr/>
              <a:t>×10 → about </a:t>
            </a:r>
            <a:r>
              <a:rPr b="1"/>
              <a:t>0.21 °C per decade</a:t>
            </a:r>
          </a:p>
          <a:p>
            <a:pPr lvl="0"/>
            <a:r>
              <a:rPr i="1"/>
              <a:t>p</a:t>
            </a:r>
            <a:r>
              <a:rPr/>
              <a:t> = 0.0002 → real</a:t>
            </a:r>
          </a:p>
          <a:p>
            <a:pPr lvl="0" indent="0" marL="0">
              <a:buNone/>
            </a:pPr>
            <a:r>
              <a:rPr/>
              <a:t>Now do exactly the same thing for winter.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Model for Winter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 only 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(winter_model)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winter_df)
Residuals:
    Min      1Q  Median      3Q     Max 
-3.5398 -1.3901  0.0164  1.1662  4.0695 
Coefficients:
             Estimate Std. Error t value Pr(&gt;|t|)    
(Intercept) -78.24857   20.10231  -3.893 0.000229 ***
year          0.03417    0.01011   3.380 0.001202 ** 
---
Signif. codes:  0 '***' 0.001 '**' 0.01 '*' 0.05 '.' 0.1 ' ' 1
Residual standard error: 1.934 on 68 degrees of freedom
Multiple R-squared:  0.1439,    Adjusted R-squared:  0.1313 
F-statistic: 11.43 on 1 and 68 DF,  p-value: 0.001202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Winter slope ≈ 0.034 °C/year</a:t>
            </a:r>
          </a:p>
          <a:p>
            <a:pPr lvl="0"/>
            <a:r>
              <a:rPr/>
              <a:t>×10 → about </a:t>
            </a:r>
            <a:r>
              <a:rPr b="1"/>
              <a:t>0.34 °C per decade</a:t>
            </a:r>
          </a:p>
          <a:p>
            <a:pPr lvl="0"/>
            <a:r>
              <a:rPr i="1"/>
              <a:t>p</a:t>
            </a:r>
            <a:r>
              <a:rPr/>
              <a:t> = 0.001 → real</a:t>
            </a:r>
          </a:p>
          <a:p>
            <a:pPr lvl="0" indent="0" marL="0">
              <a:buNone/>
            </a:pPr>
            <a:r>
              <a:rPr b="1"/>
              <a:t>Winter is warming about 1.6× as fast as summer.</a:t>
            </a:r>
          </a:p>
          <a:p>
            <a:pPr lvl="0"/>
            <a:r>
              <a:rPr/>
              <a:t>This is the expected pattern across the northern continents</a:t>
            </a:r>
          </a:p>
          <a:p>
            <a:pPr lvl="0"/>
            <a:r>
              <a:rPr/>
              <a:t>Fewer extreme-cold nights, shorter ice seasons, earlier thaw</a:t>
            </a:r>
          </a:p>
          <a:p>
            <a:pPr lvl="0"/>
            <a:r>
              <a:rPr/>
              <a:t>The annual mean — 0.27 °C/decade — sat right between the two and told you neither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Two Models Side by Side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slopes come straight off the </a:t>
            </a:r>
            <a:r>
              <a:rPr>
                <a:latin typeface="Courier"/>
              </a:rPr>
              <a:t>year</a:t>
            </a:r>
            <a:r>
              <a:rPr/>
              <a:t> row of each </a:t>
            </a:r>
            <a:r>
              <a:rPr>
                <a:latin typeface="Courier"/>
              </a:rPr>
              <a:t>summary()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244600"/>
                <a:gridCol w="97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Slope (°C/yr)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×10 (°C/decade)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Winter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Winter’s slope has a </a:t>
            </a:r>
            <a:r>
              <a:rPr b="1"/>
              <a:t>bigger standard error</a:t>
            </a:r>
            <a:r>
              <a:rPr/>
              <a:t> too — winters are more variable than summers</a:t>
            </a:r>
          </a:p>
          <a:p>
            <a:pPr lvl="0"/>
            <a:r>
              <a:rPr/>
              <a:t>A bigger </a:t>
            </a:r>
            <a:r>
              <a:rPr i="1"/>
              <a:t>p</a:t>
            </a:r>
            <a:r>
              <a:rPr/>
              <a:t> with a bigger slope is not a contradiction; it is noisier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write it up:</a:t>
            </a:r>
          </a:p>
          <a:p>
            <a:pPr lvl="0" indent="0" marL="1270000">
              <a:buNone/>
            </a:pPr>
            <a:r>
              <a:rPr sz="2000" i="1"/>
              <a:t>Mean annual temperature at Duluth rose significantly from 1948 to 2025 (linear regression: slope = 0.027 °C yr⁻¹, equivalent to 0.27 °C per decade; F(1, 68) = 34.3, p &lt; 0.001, R² = 0.34). Winter warmed roughly 1.6 times faster than summer (0.34 vs 0.21 °C per decade).</a:t>
            </a:r>
          </a:p>
          <a:p>
            <a:pPr lvl="0"/>
            <a:r>
              <a:rPr/>
              <a:t>Give the slope </a:t>
            </a:r>
            <a:r>
              <a:rPr b="1"/>
              <a:t>with units</a:t>
            </a:r>
          </a:p>
          <a:p>
            <a:pPr lvl="0"/>
            <a:r>
              <a:rPr/>
              <a:t>Convert to </a:t>
            </a:r>
            <a:r>
              <a:rPr b="1"/>
              <a:t>per decade</a:t>
            </a:r>
            <a:r>
              <a:rPr/>
              <a:t> so a reader can feel it</a:t>
            </a:r>
          </a:p>
          <a:p>
            <a:pPr lvl="0"/>
            <a:r>
              <a:rPr/>
              <a:t>Report </a:t>
            </a:r>
            <a:r>
              <a:rPr i="1"/>
              <a:t>p</a:t>
            </a:r>
            <a:r>
              <a:rPr/>
              <a:t> and R² the same way as any regression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Do It for Your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stations near a place you care about 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Duluth is 46.84 N, -92.19 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nearest_stations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46.84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92.19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(stnid, name, begin, end)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 begin      end
         &lt;char&gt;                       &lt;char&gt;    &lt;int&gt;    &lt;int&gt;
1: 727450-14913 DULUTH INTERNATIONAL AIRPORT 19480101 20250827
2: 999999-14913 DULUTH WILLIAMSN-JOHNSN MUNI 19650101 19721231
3: 997269-99999                       DULUTH 20080101 20081231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nearest_stations()</a:t>
            </a:r>
            <a:r>
              <a:rPr/>
              <a:t> takes a </a:t>
            </a:r>
            <a:r>
              <a:rPr b="1"/>
              <a:t>latitude</a:t>
            </a:r>
            <a:r>
              <a:rPr/>
              <a:t>, a </a:t>
            </a:r>
            <a:r>
              <a:rPr b="1"/>
              <a:t>longitude</a:t>
            </a:r>
            <a:r>
              <a:rPr/>
              <a:t>, and a radius in km</a:t>
            </a:r>
          </a:p>
          <a:p>
            <a:pPr lvl="0"/>
            <a:r>
              <a:rPr/>
              <a:t>Look up your city’s lat/long in any search engine</a:t>
            </a:r>
          </a:p>
          <a:p>
            <a:pPr lvl="1"/>
            <a:r>
              <a:rPr b="1"/>
              <a:t>south</a:t>
            </a:r>
            <a:r>
              <a:rPr/>
              <a:t> of the equator → negative latitude</a:t>
            </a:r>
          </a:p>
          <a:p>
            <a:pPr lvl="1"/>
            <a:r>
              <a:rPr b="1"/>
              <a:t>west</a:t>
            </a:r>
            <a:r>
              <a:rPr/>
              <a:t> of Greenwich → negative longitude</a:t>
            </a:r>
          </a:p>
          <a:p>
            <a:pPr lvl="0"/>
            <a:r>
              <a:rPr/>
              <a:t>Then read the table:</a:t>
            </a:r>
          </a:p>
          <a:p>
            <a:pPr lvl="1"/>
            <a:r>
              <a:rPr b="1">
                <a:latin typeface="Courier"/>
              </a:rPr>
              <a:t>stnid</a:t>
            </a:r>
            <a:r>
              <a:rPr/>
              <a:t> is what you paste into </a:t>
            </a:r>
            <a:r>
              <a:rPr>
                <a:latin typeface="Courier"/>
              </a:rPr>
              <a:t>get_GSOD()</a:t>
            </a:r>
          </a:p>
          <a:p>
            <a:pPr lvl="1"/>
            <a:r>
              <a:rPr b="1">
                <a:latin typeface="Courier"/>
              </a:rPr>
              <a:t>begin</a:t>
            </a:r>
            <a:r>
              <a:rPr/>
              <a:t> and </a:t>
            </a:r>
            <a:r>
              <a:rPr b="1">
                <a:latin typeface="Courier"/>
              </a:rPr>
              <a:t>end</a:t>
            </a:r>
            <a:r>
              <a:rPr/>
              <a:t> tell you the years available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Pick a station with a long record.</a:t>
            </a:r>
            <a:r>
              <a:rPr sz="2000"/>
              <a:t> A trend needs decades — aim for a </a:t>
            </a:r>
            <a:r>
              <a:rPr sz="2000">
                <a:latin typeface="Courier"/>
              </a:rPr>
              <a:t>begin</a:t>
            </a:r>
            <a:r>
              <a:rPr sz="2000"/>
              <a:t> date of 1970 or earlier.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Swap One Line, Get a New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ONLY line that changes 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city_df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1973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"948660-99999"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Everything below is identical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city_year_df &lt;- city_df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city_model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city_year_df)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(city_model)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That is the whole point of today</a:t>
            </a:r>
          </a:p>
          <a:p>
            <a:pPr lvl="1"/>
            <a:r>
              <a:rPr b="1"/>
              <a:t>one line</a:t>
            </a:r>
            <a:r>
              <a:rPr/>
              <a:t> names the place</a:t>
            </a:r>
          </a:p>
          <a:p>
            <a:pPr lvl="1"/>
            <a:r>
              <a:rPr/>
              <a:t>the rest of the analysis never changes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years =</a:t>
            </a:r>
            <a:r>
              <a:rPr/>
              <a:t> range your station actually has — don’t ask for years before </a:t>
            </a:r>
            <a:r>
              <a:rPr>
                <a:latin typeface="Courier"/>
              </a:rPr>
              <a:t>begin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If your city is in the southern hemisphere</a:t>
            </a:r>
            <a:r>
              <a:rPr sz="2000"/>
              <a:t>, swap the season labels in </a:t>
            </a:r>
            <a:r>
              <a:rPr sz="2000">
                <a:latin typeface="Courier"/>
              </a:rPr>
              <a:t>case_when()</a:t>
            </a:r>
            <a:r>
              <a:rPr sz="2000"/>
              <a:t>:</a:t>
            </a:r>
          </a:p>
          <a:p>
            <a:pPr lvl="0"/>
            <a:r>
              <a:rPr sz="2000">
                <a:latin typeface="Courier"/>
              </a:rPr>
              <a:t>month %in% c(12, 1, 2)</a:t>
            </a:r>
            <a:r>
              <a:rPr sz="2000"/>
              <a:t> → </a:t>
            </a:r>
            <a:r>
              <a:rPr sz="2000" b="1"/>
              <a:t>summer</a:t>
            </a:r>
          </a:p>
          <a:p>
            <a:pPr lvl="0"/>
            <a:r>
              <a:rPr sz="2000">
                <a:latin typeface="Courier"/>
              </a:rPr>
              <a:t>month %in% c(6, 7, 8)</a:t>
            </a:r>
            <a:r>
              <a:rPr sz="2000"/>
              <a:t> → </a:t>
            </a:r>
            <a:r>
              <a:rPr sz="2000" b="1"/>
              <a:t>winter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12 Parts 6–10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6–10 now</a:t>
            </a:r>
          </a:p>
          <a:p>
            <a:pPr lvl="0"/>
            <a:r>
              <a:rPr/>
              <a:t>Label the seasons with </a:t>
            </a:r>
            <a:r>
              <a:rPr>
                <a:latin typeface="Courier"/>
              </a:rPr>
              <a:t>case_when()</a:t>
            </a:r>
            <a:r>
              <a:rPr/>
              <a:t> and summarize by year and season</a:t>
            </a:r>
          </a:p>
          <a:p>
            <a:pPr lvl="0"/>
            <a:r>
              <a:rPr/>
              <a:t>Plot both seasons, then fit a model for each</a:t>
            </a:r>
          </a:p>
          <a:p>
            <a:pPr lvl="0"/>
            <a:r>
              <a:rPr/>
              <a:t>Write the warming rates in °C per decade</a:t>
            </a:r>
          </a:p>
          <a:p>
            <a:pPr lvl="0"/>
            <a:r>
              <a:rPr/>
              <a:t>Find the station for a city you choose — that is your Extension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ideas:</a:t>
            </a:r>
          </a:p>
          <a:p>
            <a:pPr lvl="0"/>
            <a:r>
              <a:rPr/>
              <a:t>A regression </a:t>
            </a:r>
            <a:r>
              <a:rPr b="1"/>
              <a:t>on time</a:t>
            </a:r>
            <a:r>
              <a:rPr/>
              <a:t> turns a slope into a </a:t>
            </a:r>
            <a:r>
              <a:rPr b="1"/>
              <a:t>rate of change</a:t>
            </a:r>
            <a:r>
              <a:rPr/>
              <a:t> — ×10 for per decade</a:t>
            </a:r>
          </a:p>
          <a:p>
            <a:pPr lvl="0"/>
            <a:r>
              <a:rPr/>
              <a:t>Raw daily data </a:t>
            </a:r>
            <a:r>
              <a:rPr b="1"/>
              <a:t>hides</a:t>
            </a:r>
            <a:r>
              <a:rPr/>
              <a:t> the trend; </a:t>
            </a:r>
            <a:r>
              <a:rPr>
                <a:latin typeface="Courier"/>
              </a:rPr>
              <a:t>group_by(year) %&gt;% summarize()</a:t>
            </a:r>
            <a:r>
              <a:rPr/>
              <a:t> is the fix</a:t>
            </a:r>
          </a:p>
          <a:p>
            <a:pPr lvl="0"/>
            <a:r>
              <a:rPr/>
              <a:t>An </a:t>
            </a:r>
            <a:r>
              <a:rPr b="1"/>
              <a:t>annual mean hides which season moved</a:t>
            </a:r>
            <a:r>
              <a:rPr/>
              <a:t> — Duluth’s winter warms ~1.6× faster</a:t>
            </a:r>
          </a:p>
          <a:p>
            <a:pPr lvl="0"/>
            <a:r>
              <a:rPr/>
              <a:t>Seasons are set by </a:t>
            </a:r>
            <a:r>
              <a:rPr b="1"/>
              <a:t>hemisphere</a:t>
            </a:r>
            <a:r>
              <a:rPr/>
              <a:t>, not by month number</a:t>
            </a:r>
          </a:p>
          <a:p>
            <a:pPr lvl="0"/>
            <a:r>
              <a:rPr/>
              <a:t>A modest </a:t>
            </a:r>
            <a:r>
              <a:rPr b="1"/>
              <a:t>R² with a tiny </a:t>
            </a:r>
            <a:r>
              <a:rPr b="1" i="1"/>
              <a:t>p</a:t>
            </a:r>
            <a:r>
              <a:rPr/>
              <a:t> is normal — real trend, weather scatter</a:t>
            </a:r>
          </a:p>
          <a:p>
            <a:pPr lvl="0" indent="0" marL="0">
              <a:buNone/>
            </a:pPr>
            <a:r>
              <a:rPr b="1"/>
              <a:t>The code:</a:t>
            </a:r>
          </a:p>
          <a:p>
            <a:pPr lvl="0"/>
            <a:r>
              <a:rPr>
                <a:latin typeface="Courier"/>
              </a:rPr>
              <a:t>get_GSOD(years =, station =)</a:t>
            </a:r>
            <a:r>
              <a:rPr/>
              <a:t> and </a:t>
            </a:r>
            <a:r>
              <a:rPr>
                <a:latin typeface="Courier"/>
              </a:rPr>
              <a:t>nearest_stations()</a:t>
            </a:r>
          </a:p>
          <a:p>
            <a:pPr lvl="0"/>
            <a:r>
              <a:rPr>
                <a:latin typeface="Courier"/>
              </a:rPr>
              <a:t>clean_names()</a:t>
            </a:r>
            <a:r>
              <a:rPr/>
              <a:t> — lower-case names, once, at the top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to the right level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build the season</a:t>
            </a:r>
          </a:p>
          <a:p>
            <a:pPr lvl="0"/>
            <a:r>
              <a:rPr>
                <a:latin typeface="Courier"/>
              </a:rPr>
              <a:t>lm(temp ~ year)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 — the rate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Hand in:</a:t>
            </a:r>
            <a:r>
              <a:rPr/>
              <a:t> your finished activity script, plus the warming rate you found for </a:t>
            </a:r>
            <a:r>
              <a:rPr b="1"/>
              <a:t>your own city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W&amp;S Ch. 17 — Regression</a:t>
            </a:r>
          </a:p>
          <a:p>
            <a:pPr lvl="0"/>
            <a:r>
              <a:rPr/>
              <a:t>NOAA GSOD — </a:t>
            </a:r>
            <a:r>
              <a:rPr>
                <a:latin typeface="Courier"/>
              </a:rPr>
              <a:t>ncei.noaa.gov</a:t>
            </a:r>
          </a:p>
          <a:p>
            <a:pPr lvl="0" indent="0" marL="0">
              <a:buNone/>
            </a:pPr>
            <a:r>
              <a:rPr b="1"/>
              <a:t>Up next:</a:t>
            </a:r>
          </a:p>
          <a:p>
            <a:pPr lvl="0"/>
            <a:r>
              <a:rPr/>
              <a:t>The </a:t>
            </a:r>
            <a:r>
              <a:rPr b="1"/>
              <a:t>final project</a:t>
            </a:r>
            <a:r>
              <a:rPr/>
              <a:t> — the same pipeline, on data you choose</a:t>
            </a:r>
          </a:p>
          <a:p>
            <a:pPr lvl="0"/>
            <a:r>
              <a:rPr/>
              <a:t>Download → clean → summarize → plot → model →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— Real Climate Data in R</dc:title>
  <dc:creator>Bill Perry</dc:creator>
  <cp:keywords/>
  <dc:description>Download real weather station data from inside R, summarize it to yearly means, and use lm() to estimate a warming rate in degrees per decade — for Duluth, for each season, and for a city you choose.</dc:description>
  <dcterms:created xsi:type="dcterms:W3CDTF">2026-10-06T01:45:48Z</dcterms:created>
  <dcterms:modified xsi:type="dcterms:W3CDTF">2026-10-06T01:45:48Z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How fast is your city warming? (regression on time)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