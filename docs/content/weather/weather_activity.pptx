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o/resources/cheatsheets/"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Worksheet 06 — Real Climate Data in 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Downloading, summarizing, and modeling Duluth weather station data</a:t>
            </a:r>
            <a:br/>
            <a:br/>
            <a:r>
              <a:rPr/>
              <a:t>Bill Perry</a:t>
            </a:r>
          </a:p>
        </p:txBody>
      </p:sp>
      <p:sp>
        <p:nvSpPr>
          <p:cNvPr id="4" name="Date Placeholder 3"/>
          <p:cNvSpPr>
            <a:spLocks noGrp="1"/>
          </p:cNvSpPr>
          <p:nvPr>
            <p:ph idx="10" sz="half" type="dt"/>
          </p:nvPr>
        </p:nvSpPr>
        <p:spPr/>
        <p:txBody>
          <a:bodyPr/>
          <a:lstStyle/>
          <a:p>
            <a:pPr lvl="0" indent="0" marL="0">
              <a:buNone/>
            </a:pPr>
            <a:r>
              <a:rPr/>
              <a:t>2026-08-27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Downloading and Summarizing Climate Data</a:t>
            </a:r>
          </a:p>
        </p:txBody>
      </p:sp>
      <p:sp>
        <p:nvSpPr>
          <p:cNvPr id="3" name="Content Placeholder 2"/>
          <p:cNvSpPr>
            <a:spLocks noGrp="1"/>
          </p:cNvSpPr>
          <p:nvPr>
            <p:ph idx="1"/>
          </p:nvPr>
        </p:nvSpPr>
        <p:spPr/>
        <p:txBody>
          <a:bodyPr/>
          <a:lstStyle/>
          <a:p>
            <a:pPr lvl="0" indent="0" marL="0">
              <a:spcBef>
                <a:spcPts val="3000"/>
              </a:spcBef>
              <a:buNone/>
            </a:pPr>
            <a:r>
              <a:rPr b="1"/>
              <a:t>Recap from Worksheet 05</a:t>
            </a:r>
          </a:p>
          <a:p>
            <a:pPr lvl="0"/>
            <a:r>
              <a:rPr b="1"/>
              <a:t>Loaded</a:t>
            </a:r>
            <a:r>
              <a:rPr/>
              <a:t> the paper calibration data and made a scatter plot</a:t>
            </a:r>
          </a:p>
          <a:p>
            <a:pPr lvl="0"/>
            <a:r>
              <a:rPr b="1"/>
              <a:t>Fit</a:t>
            </a:r>
            <a:r>
              <a:rPr/>
              <a:t> a linear regression with </a:t>
            </a:r>
            <a:r>
              <a:rPr>
                <a:latin typeface="Courier"/>
              </a:rPr>
              <a:t>lm(area_cm2 ~ mass_g, data = paper_df)</a:t>
            </a:r>
          </a:p>
          <a:p>
            <a:pPr lvl="0"/>
            <a:r>
              <a:rPr b="1"/>
              <a:t>Read</a:t>
            </a:r>
            <a:r>
              <a:rPr/>
              <a:t> every line of </a:t>
            </a:r>
            <a:r>
              <a:rPr>
                <a:latin typeface="Courier"/>
              </a:rPr>
              <a:t>summary()</a:t>
            </a:r>
            <a:r>
              <a:rPr/>
              <a:t> — slope, intercept, R², p-value</a:t>
            </a:r>
          </a:p>
          <a:p>
            <a:pPr lvl="0"/>
            <a:r>
              <a:rPr b="1"/>
              <a:t>Checked assumptions</a:t>
            </a:r>
            <a:r>
              <a:rPr/>
              <a:t> — residual vs. fitted plot, QQ plot, Shapiro-Wilk on residuals</a:t>
            </a:r>
          </a:p>
          <a:p>
            <a:pPr lvl="0"/>
            <a:r>
              <a:rPr b="1"/>
              <a:t>Predicted</a:t>
            </a:r>
            <a:r>
              <a:rPr/>
              <a:t> leaf area from tracing mass using </a:t>
            </a:r>
            <a:r>
              <a:rPr>
                <a:latin typeface="Courier"/>
              </a:rPr>
              <a:t>predict()</a:t>
            </a:r>
            <a:r>
              <a:rPr/>
              <a:t> with confidence and prediction intervals</a:t>
            </a:r>
          </a:p>
          <a:p>
            <a:pPr lvl="0" indent="0" marL="0">
              <a:spcBef>
                <a:spcPts val="3000"/>
              </a:spcBef>
              <a:buNone/>
            </a:pPr>
            <a:r>
              <a:rPr b="1"/>
              <a:t>Today’s Objectives</a:t>
            </a:r>
          </a:p>
          <a:p>
            <a:pPr lvl="0" indent="-342900" marL="342900">
              <a:buAutoNum type="arabicPeriod"/>
            </a:pPr>
            <a:r>
              <a:rPr/>
              <a:t>Download real NOAA weather data directly into R using </a:t>
            </a:r>
            <a:r>
              <a:rPr>
                <a:latin typeface="Courier"/>
              </a:rPr>
              <a:t>GSODR</a:t>
            </a:r>
          </a:p>
          <a:p>
            <a:pPr lvl="0" indent="-342900" marL="342900">
              <a:buAutoNum type="arabicPeriod"/>
            </a:pPr>
            <a:r>
              <a:rPr/>
              <a:t>Explore the raw daily data and see why it’s hard to read</a:t>
            </a:r>
          </a:p>
          <a:p>
            <a:pPr lvl="0" indent="-342900" marL="342900">
              <a:buAutoNum type="arabicPeriod"/>
            </a:pPr>
            <a:r>
              <a:rPr/>
              <a:t>Summarize the data by month and by year using </a:t>
            </a:r>
            <a:r>
              <a:rPr>
                <a:latin typeface="Courier"/>
              </a:rPr>
              <a:t>group_by()</a:t>
            </a:r>
            <a:r>
              <a:rPr/>
              <a:t> + </a:t>
            </a:r>
            <a:r>
              <a:rPr>
                <a:latin typeface="Courier"/>
              </a:rPr>
              <a:t>summarize()</a:t>
            </a:r>
          </a:p>
          <a:p>
            <a:pPr lvl="0" indent="-342900" marL="342900">
              <a:buAutoNum type="arabicPeriod"/>
            </a:pPr>
            <a:r>
              <a:rPr/>
              <a:t>Plot the raw data and each summary level side by side</a:t>
            </a:r>
          </a:p>
          <a:p>
            <a:pPr lvl="0" indent="-342900" marL="342900">
              <a:buAutoNum type="arabicPeriod"/>
            </a:pPr>
            <a:r>
              <a:rPr/>
              <a:t>Fit a regression (</a:t>
            </a:r>
            <a:r>
              <a:rPr>
                <a:latin typeface="Courier"/>
              </a:rPr>
              <a:t>lm()</a:t>
            </a:r>
            <a:r>
              <a:rPr/>
              <a:t>) to estimate the </a:t>
            </a:r>
            <a:r>
              <a:rPr b="1"/>
              <a:t>rate of temperature change</a:t>
            </a:r>
            <a:r>
              <a:rPr/>
              <a:t> over time</a:t>
            </a:r>
          </a:p>
          <a:p>
            <a:pPr lvl="0" indent="-342900" marL="342900">
              <a:buAutoNum type="arabicPeriod"/>
            </a:pPr>
            <a:r>
              <a:rPr/>
              <a:t>Use </a:t>
            </a:r>
            <a:r>
              <a:rPr>
                <a:latin typeface="Courier"/>
              </a:rPr>
              <a:t>case_when()</a:t>
            </a:r>
            <a:r>
              <a:rPr/>
              <a:t> to build a summer vs. winter season variable</a:t>
            </a:r>
          </a:p>
          <a:p>
            <a:pPr lvl="0" indent="-342900" marL="342900">
              <a:buAutoNum type="arabicPeriod"/>
            </a:pPr>
            <a:r>
              <a:rPr/>
              <a:t>Fit separate models for each season and compare warming rates</a:t>
            </a:r>
          </a:p>
          <a:p>
            <a:pPr lvl="0" indent="-342900" marL="342900">
              <a:buAutoNum type="arabicPeriod"/>
            </a:pPr>
            <a:r>
              <a:rPr/>
              <a:t>Interpret a real long-term climate trend in your own words</a:t>
            </a:r>
          </a:p>
          <a:p>
            <a:pPr lvl="0" indent="0" marL="0">
              <a:spcBef>
                <a:spcPts val="3000"/>
              </a:spcBef>
              <a:buNone/>
            </a:pPr>
            <a:r>
              <a:rPr sz="2000" b="1"/>
              <a:t>How to use this worksheet</a:t>
            </a:r>
          </a:p>
          <a:p>
            <a:pPr lvl="0"/>
            <a:r>
              <a:rPr sz="2000"/>
              <a:t>Work through each part in order. Type the code into a new R script in Positron and run it line by line.</a:t>
            </a:r>
          </a:p>
          <a:p>
            <a:pPr lvl="1"/>
            <a:r>
              <a:rPr sz="2000"/>
              <a:t>Code blocks marked </a:t>
            </a:r>
            <a:r>
              <a:rPr sz="2000" b="1"/>
              <a:t>▶ Run this</a:t>
            </a:r>
            <a:r>
              <a:rPr sz="2000"/>
              <a:t> should be executed as written.</a:t>
            </a:r>
          </a:p>
          <a:p>
            <a:pPr lvl="1"/>
            <a:r>
              <a:rPr sz="2000"/>
              <a:t>Blocks marked </a:t>
            </a:r>
            <a:r>
              <a:rPr sz="2000" b="1"/>
              <a:t>✏️ Your turn</a:t>
            </a:r>
            <a:r>
              <a:rPr sz="2000"/>
              <a:t> ask you to write, modify, or interpret.</a:t>
            </a:r>
          </a:p>
          <a:p>
            <a:pPr lvl="1"/>
            <a:r>
              <a:rPr sz="2000"/>
              <a:t>The </a:t>
            </a:r>
            <a:r>
              <a:rPr sz="2000" b="1"/>
              <a:t>Going further</a:t>
            </a:r>
            <a:r>
              <a:rPr sz="2000"/>
              <a:t> section is optional.</a:t>
            </a:r>
          </a:p>
          <a:p>
            <a:pPr lvl="0" indent="0" marL="1270000">
              <a:buNone/>
            </a:pPr>
            <a:r>
              <a:rPr sz="2000" b="1"/>
              <a:t>🔮 Predict before you run — and type, don’t paste</a:t>
            </a:r>
          </a:p>
          <a:p>
            <a:pPr lvl="0" indent="0" marL="1270000">
              <a:buNone/>
            </a:pPr>
            <a:r>
              <a:rPr sz="2000"/>
              <a:t>Before each </a:t>
            </a:r>
            <a:r>
              <a:rPr sz="2000" b="1"/>
              <a:t>▶ Run this</a:t>
            </a:r>
            <a:r>
              <a:rPr sz="2000"/>
              <a:t> block, cover the output and </a:t>
            </a:r>
            <a:r>
              <a:rPr sz="2000" i="1"/>
              <a:t>predict</a:t>
            </a:r>
            <a:r>
              <a:rPr sz="2000"/>
              <a:t> what R will print. Then type the code yourself.</a:t>
            </a:r>
          </a:p>
          <a:p>
            <a:pPr lvl="0" indent="0" marL="1270000">
              <a:buNone/>
            </a:pPr>
            <a:r>
              <a:rPr sz="2000"/>
              <a:t>Committing to a guess — how many rows survive a </a:t>
            </a:r>
            <a:r>
              <a:rPr sz="2000">
                <a:latin typeface="Courier"/>
              </a:rPr>
              <a:t>group_by()</a:t>
            </a:r>
            <a:r>
              <a:rPr sz="2000"/>
              <a:t>, which sign the slope will have, which season wins — gives you something to be right or wrong about, and being wrong is what you’ll actually remember. Typing the code instead of pasting it also slows you down just enough to catch the errors this dataset is full of: a lowercase </a:t>
            </a:r>
            <a:r>
              <a:rPr sz="2000">
                <a:latin typeface="Courier"/>
              </a:rPr>
              <a:t>temp</a:t>
            </a:r>
            <a:r>
              <a:rPr sz="2000"/>
              <a:t> where NOAA wants </a:t>
            </a:r>
            <a:r>
              <a:rPr sz="2000">
                <a:latin typeface="Courier"/>
              </a:rPr>
              <a:t>TEMP</a:t>
            </a:r>
            <a:r>
              <a:rPr sz="2000"/>
              <a:t>, an </a:t>
            </a:r>
            <a:r>
              <a:rPr sz="2000">
                <a:latin typeface="Courier"/>
              </a:rPr>
              <a:t>==</a:t>
            </a:r>
            <a:r>
              <a:rPr sz="2000"/>
              <a:t> where you needed </a:t>
            </a:r>
            <a:r>
              <a:rPr sz="2000">
                <a:latin typeface="Courier"/>
              </a:rPr>
              <a:t>%in%</a:t>
            </a:r>
            <a:r>
              <a:rPr sz="2000"/>
              <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1 — Download &amp; explore raw data </a:t>
            </a:r>
            <a:r>
              <a:rPr sz="2000" b="1" i="1"/>
              <a:t>(after lecture Chunk 1)</a:t>
            </a:r>
          </a:p>
          <a:p>
            <a:pPr lvl="0" indent="0" marL="1270000">
              <a:buNone/>
            </a:pPr>
            <a:r>
              <a:rPr sz="2000"/>
              <a:t>Parts 1–3: download the Duluth record, trim the columns, and plot the raw daily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Load libraries and download the data</a:t>
            </a:r>
          </a:p>
        </p:txBody>
      </p:sp>
      <p:sp>
        <p:nvSpPr>
          <p:cNvPr id="3" name="Content Placeholder 2"/>
          <p:cNvSpPr>
            <a:spLocks noGrp="1"/>
          </p:cNvSpPr>
          <p:nvPr>
            <p:ph idx="1"/>
          </p:nvPr>
        </p:nvSpPr>
        <p:spPr/>
        <p:txBody>
          <a:bodyPr/>
          <a:lstStyle/>
          <a:p>
            <a:pPr lvl="0" indent="0" marL="0">
              <a:spcBef>
                <a:spcPts val="3000"/>
              </a:spcBef>
              <a:buNone/>
            </a:pPr>
            <a:r>
              <a:rPr b="1"/>
              <a:t>Libraries</a:t>
            </a:r>
          </a:p>
          <a:p>
            <a:pPr lvl="0" indent="0" marL="0">
              <a:buNone/>
            </a:pPr>
            <a:r>
              <a:rPr b="1"/>
              <a:t>▶ Run this at the top of your script:</a:t>
            </a:r>
          </a:p>
          <a:p>
            <a:pPr lvl="0" indent="0">
              <a:buNone/>
            </a:pPr>
            <a:r>
              <a:rPr>
                <a:solidFill>
                  <a:srgbClr val="5E5E5E"/>
                </a:solidFill>
                <a:latin typeface="Courier"/>
              </a:rPr>
              <a:t># Load packages at the top — always ----------------------</a:t>
            </a:r>
            <a:br/>
            <a:r>
              <a:rPr>
                <a:solidFill>
                  <a:srgbClr val="4758AB"/>
                </a:solidFill>
                <a:latin typeface="Courier"/>
              </a:rPr>
              <a:t>library</a:t>
            </a:r>
            <a:r>
              <a:rPr>
                <a:solidFill>
                  <a:srgbClr val="003B4F"/>
                </a:solidFill>
                <a:latin typeface="Courier"/>
              </a:rPr>
              <a:t>(tidyverse)   </a:t>
            </a:r>
            <a:r>
              <a:rPr>
                <a:solidFill>
                  <a:srgbClr val="5E5E5E"/>
                </a:solidFill>
                <a:latin typeface="Courier"/>
              </a:rPr>
              <a:t># data manipulation + ggplot2</a:t>
            </a:r>
            <a:br/>
            <a:r>
              <a:rPr>
                <a:solidFill>
                  <a:srgbClr val="4758AB"/>
                </a:solidFill>
                <a:latin typeface="Courier"/>
              </a:rPr>
              <a:t>library</a:t>
            </a:r>
            <a:r>
              <a:rPr>
                <a:solidFill>
                  <a:srgbClr val="003B4F"/>
                </a:solidFill>
                <a:latin typeface="Courier"/>
              </a:rPr>
              <a:t>(GSODR)        </a:t>
            </a:r>
            <a:r>
              <a:rPr>
                <a:solidFill>
                  <a:srgbClr val="5E5E5E"/>
                </a:solidFill>
                <a:latin typeface="Courier"/>
              </a:rPr>
              <a:t># download NOAA weather station data</a:t>
            </a:r>
          </a:p>
          <a:p>
            <a:pPr lvl="0" indent="0" marL="0">
              <a:spcBef>
                <a:spcPts val="3000"/>
              </a:spcBef>
              <a:buNone/>
            </a:pPr>
            <a:r>
              <a:rPr b="1"/>
              <a:t>Download Duluth’s weather record</a:t>
            </a:r>
          </a:p>
          <a:p>
            <a:pPr lvl="0" indent="0" marL="0">
              <a:buNone/>
            </a:pPr>
            <a:r>
              <a:rPr/>
              <a:t>We will use the Duluth International Airport station (</a:t>
            </a:r>
            <a:r>
              <a:rPr>
                <a:latin typeface="Courier"/>
              </a:rPr>
              <a:t>727450-14913</a:t>
            </a:r>
            <a:r>
              <a:rPr/>
              <a:t>), which has daily records back to 1948.</a:t>
            </a:r>
          </a:p>
          <a:p>
            <a:pPr lvl="0" indent="0" marL="0">
              <a:buNone/>
            </a:pPr>
            <a:r>
              <a:rPr b="1"/>
              <a:t>▶ Run this (this may take a minute — it’s downloading real data):</a:t>
            </a:r>
          </a:p>
          <a:p>
            <a:pPr lvl="0" indent="0">
              <a:buNone/>
            </a:pPr>
            <a:r>
              <a:rPr>
                <a:solidFill>
                  <a:srgbClr val="5E5E5E"/>
                </a:solidFill>
                <a:latin typeface="Courier"/>
              </a:rPr>
              <a:t># Download daily Duluth weather data, 1948-2025 ----------</a:t>
            </a:r>
            <a:br/>
            <a:r>
              <a:rPr>
                <a:solidFill>
                  <a:srgbClr val="003B4F"/>
                </a:solidFill>
                <a:latin typeface="Courier"/>
              </a:rPr>
              <a:t>duluth_df &lt;- </a:t>
            </a:r>
            <a:r>
              <a:rPr>
                <a:solidFill>
                  <a:srgbClr val="4758AB"/>
                </a:solidFill>
                <a:latin typeface="Courier"/>
              </a:rPr>
              <a:t>get_GSOD</a:t>
            </a:r>
            <a:r>
              <a:rPr>
                <a:solidFill>
                  <a:srgbClr val="003B4F"/>
                </a:solidFill>
                <a:latin typeface="Courier"/>
              </a:rPr>
              <a:t>(</a:t>
            </a:r>
            <a:r>
              <a:rPr>
                <a:solidFill>
                  <a:srgbClr val="657422"/>
                </a:solidFill>
                <a:latin typeface="Courier"/>
              </a:rPr>
              <a:t>years =</a:t>
            </a:r>
            <a:r>
              <a:rPr>
                <a:solidFill>
                  <a:srgbClr val="003B4F"/>
                </a:solidFill>
                <a:latin typeface="Courier"/>
              </a:rPr>
              <a:t> </a:t>
            </a:r>
            <a:r>
              <a:rPr>
                <a:solidFill>
                  <a:srgbClr val="AD0000"/>
                </a:solidFill>
                <a:latin typeface="Courier"/>
              </a:rPr>
              <a:t>1948</a:t>
            </a:r>
            <a:r>
              <a:rPr>
                <a:solidFill>
                  <a:srgbClr val="5E5E5E"/>
                </a:solidFill>
                <a:latin typeface="Courier"/>
              </a:rPr>
              <a:t>:</a:t>
            </a:r>
            <a:r>
              <a:rPr>
                <a:solidFill>
                  <a:srgbClr val="AD0000"/>
                </a:solidFill>
                <a:latin typeface="Courier"/>
              </a:rPr>
              <a:t>2025</a:t>
            </a:r>
            <a:r>
              <a:rPr>
                <a:solidFill>
                  <a:srgbClr val="003B4F"/>
                </a:solidFill>
                <a:latin typeface="Courier"/>
              </a:rPr>
              <a:t>,</a:t>
            </a:r>
            <a:br/>
            <a:r>
              <a:rPr>
                <a:solidFill>
                  <a:srgbClr val="003B4F"/>
                </a:solidFill>
                <a:latin typeface="Courier"/>
              </a:rPr>
              <a:t>                       </a:t>
            </a:r>
            <a:r>
              <a:rPr>
                <a:solidFill>
                  <a:srgbClr val="657422"/>
                </a:solidFill>
                <a:latin typeface="Courier"/>
              </a:rPr>
              <a:t>station =</a:t>
            </a:r>
            <a:r>
              <a:rPr>
                <a:solidFill>
                  <a:srgbClr val="003B4F"/>
                </a:solidFill>
                <a:latin typeface="Courier"/>
              </a:rPr>
              <a:t> </a:t>
            </a:r>
            <a:r>
              <a:rPr>
                <a:solidFill>
                  <a:srgbClr val="20794D"/>
                </a:solidFill>
                <a:latin typeface="Courier"/>
              </a:rPr>
              <a:t>"727450-14913"</a:t>
            </a:r>
            <a:r>
              <a:rPr>
                <a:solidFill>
                  <a:srgbClr val="003B4F"/>
                </a:solidFill>
                <a:latin typeface="Courier"/>
              </a:rPr>
              <a:t>)</a:t>
            </a:r>
          </a:p>
          <a:p>
            <a:pPr lvl="0" indent="0" marL="0">
              <a:buNone/>
            </a:pPr>
            <a:r>
              <a:rPr/>
              <a:t>✏️ </a:t>
            </a:r>
            <a:r>
              <a:rPr b="1"/>
              <a:t>Your turn:</a:t>
            </a:r>
            <a:r>
              <a:rPr/>
              <a:t> Run </a:t>
            </a:r>
            <a:r>
              <a:rPr>
                <a:latin typeface="Courier"/>
              </a:rPr>
              <a:t>dim(duluth_df)</a:t>
            </a:r>
            <a:r>
              <a:rPr/>
              <a:t> and </a:t>
            </a:r>
            <a:r>
              <a:rPr>
                <a:latin typeface="Courier"/>
              </a:rPr>
              <a:t>glimpse(duluth_df)</a:t>
            </a:r>
            <a:r>
              <a:rPr/>
              <a:t>. How many rows and columns does the raw download have?</a:t>
            </a:r>
          </a:p>
          <a:p>
            <a:pPr lvl="0" indent="0">
              <a:buNone/>
            </a:pPr>
            <a:r>
              <a:rPr>
                <a:solidFill>
                  <a:srgbClr val="5E5E5E"/>
                </a:solidFill>
                <a:latin typeface="Courier"/>
              </a:rPr>
              <a:t># Write your code here:</a:t>
            </a:r>
          </a:p>
          <a:p>
            <a:pPr lvl="0" indent="0">
              <a:buNone/>
            </a:pPr>
            <a:r>
              <a:rPr>
                <a:latin typeface="Courier"/>
              </a:rPr>
              <a:t>Rows:
Columns:
What does one row represent (a year? a month? a 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Trim to the columns we need</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Keep only the columns we actually need -------------------</a:t>
            </a:r>
            <a:br/>
            <a:r>
              <a:rPr>
                <a:solidFill>
                  <a:srgbClr val="003B4F"/>
                </a:solidFill>
                <a:latin typeface="Courier"/>
              </a:rPr>
              <a:t>dlh_temp_df &lt;- duluth_df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br/>
            <a:r>
              <a:rPr>
                <a:solidFill>
                  <a:srgbClr val="003B4F"/>
                </a:solidFill>
                <a:latin typeface="Courier"/>
              </a:rPr>
              <a:t>    STNID, NAME, YEARMODA,</a:t>
            </a:r>
            <a:br/>
            <a:r>
              <a:rPr>
                <a:solidFill>
                  <a:srgbClr val="003B4F"/>
                </a:solidFill>
                <a:latin typeface="Courier"/>
              </a:rPr>
              <a:t>    YEAR, MONTH, DAY,</a:t>
            </a:r>
            <a:br/>
            <a:r>
              <a:rPr>
                <a:solidFill>
                  <a:srgbClr val="003B4F"/>
                </a:solidFill>
                <a:latin typeface="Courier"/>
              </a:rPr>
              <a:t>    TEMP, MXSPD, PRCP, I_SNOW_ICE</a:t>
            </a:r>
            <a:br/>
            <a:r>
              <a:rPr>
                <a:solidFill>
                  <a:srgbClr val="003B4F"/>
                </a:solidFill>
                <a:latin typeface="Courier"/>
              </a:rPr>
              <a:t>  )</a:t>
            </a:r>
            <a:br/>
            <a:br/>
            <a:r>
              <a:rPr>
                <a:solidFill>
                  <a:srgbClr val="4758AB"/>
                </a:solidFill>
                <a:latin typeface="Courier"/>
              </a:rPr>
              <a:t>head</a:t>
            </a:r>
            <a:r>
              <a:rPr>
                <a:solidFill>
                  <a:srgbClr val="003B4F"/>
                </a:solidFill>
                <a:latin typeface="Courier"/>
              </a:rPr>
              <a:t>(dlh_temp_df)</a:t>
            </a:r>
          </a:p>
          <a:p>
            <a:pPr lvl="0" indent="0" marL="0">
              <a:buNone/>
            </a:pPr>
            <a:r>
              <a:rPr/>
              <a:t>✏️ </a:t>
            </a:r>
            <a:r>
              <a:rPr b="1"/>
              <a:t>Your turn:</a:t>
            </a:r>
            <a:r>
              <a:rPr/>
              <a:t> Why do we use </a:t>
            </a:r>
            <a:r>
              <a:rPr>
                <a:latin typeface="Courier"/>
              </a:rPr>
              <a:t>select()</a:t>
            </a:r>
            <a:r>
              <a:rPr/>
              <a:t> here instead of just working with the full </a:t>
            </a:r>
            <a:r>
              <a:rPr>
                <a:latin typeface="Courier"/>
              </a:rPr>
              <a:t>duluth_df</a:t>
            </a:r>
            <a:r>
              <a:rPr/>
              <a:t>? (Hint: how many columns did </a:t>
            </a:r>
            <a:r>
              <a:rPr>
                <a:latin typeface="Courier"/>
              </a:rPr>
              <a:t>get_GSOD()</a:t>
            </a:r>
            <a:r>
              <a:rPr/>
              <a:t> actually return?)</a:t>
            </a:r>
          </a:p>
          <a:p>
            <a:pPr lvl="0" indent="0">
              <a:buNone/>
            </a:pPr>
            <a:r>
              <a:rPr>
                <a:latin typeface="Courier"/>
              </a:rPr>
              <a:t>Your answer: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Plot the raw daily data</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this plots ~28,000 daily points. Before you run it — will a warming trend be visible, or will something else dominate? Write your guess.</a:t>
            </a:r>
          </a:p>
          <a:p>
            <a:pPr lvl="0" indent="0" marL="0">
              <a:buNone/>
            </a:pPr>
            <a:r>
              <a:rPr b="1"/>
              <a:t>▶ Run this:</a:t>
            </a:r>
          </a:p>
          <a:p>
            <a:pPr lvl="0" indent="0">
              <a:buNone/>
            </a:pPr>
            <a:r>
              <a:rPr>
                <a:solidFill>
                  <a:srgbClr val="5E5E5E"/>
                </a:solidFill>
                <a:latin typeface="Courier"/>
              </a:rPr>
              <a:t># Plot every single daily temperature -----------------------</a:t>
            </a:r>
            <a:br/>
            <a:r>
              <a:rPr>
                <a:solidFill>
                  <a:srgbClr val="003B4F"/>
                </a:solidFill>
                <a:latin typeface="Courier"/>
              </a:rPr>
              <a:t>raw_temp_plot &lt;- dlh_temp_df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YEARMODA, </a:t>
            </a:r>
            <a:r>
              <a:rPr>
                <a:solidFill>
                  <a:srgbClr val="657422"/>
                </a:solidFill>
                <a:latin typeface="Courier"/>
              </a:rPr>
              <a:t>y =</a:t>
            </a:r>
            <a:r>
              <a:rPr>
                <a:solidFill>
                  <a:srgbClr val="003B4F"/>
                </a:solidFill>
                <a:latin typeface="Courier"/>
              </a:rPr>
              <a:t> TEMP))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"Duluth Daily Mean Temperature, 1948–2025"</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"Date"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"Temperature (°C)"</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raw_temp_plot</a:t>
            </a:r>
          </a:p>
          <a:p>
            <a:pPr lvl="0" indent="0" marL="0">
              <a:buNone/>
            </a:pPr>
            <a:r>
              <a:rPr/>
              <a:t>✏️ </a:t>
            </a:r>
            <a:r>
              <a:rPr b="1"/>
              <a:t>Your turn:</a:t>
            </a:r>
            <a:r>
              <a:rPr/>
              <a:t> Describe what you see. Can you tell whether Duluth is warming over time just by looking at this plot? Why or why not?</a:t>
            </a:r>
          </a:p>
          <a:p>
            <a:pPr lvl="0" indent="0">
              <a:buNone/>
            </a:pPr>
            <a:r>
              <a:rPr>
                <a:latin typeface="Courier"/>
              </a:rPr>
              <a:t>What dominates the plot (seasonal cycle / long-term trend / both)?
Can you see a clear warming trend?  Y / N
Why or why not:</a:t>
            </a:r>
          </a:p>
          <a:p>
            <a:pPr lvl="0" indent="0" marL="1270000">
              <a:buNone/>
            </a:pPr>
            <a:r>
              <a:rPr sz="2000"/>
              <a:t>💡 </a:t>
            </a:r>
            <a:r>
              <a:rPr sz="2000" b="1"/>
              <a:t>Key idea:</a:t>
            </a:r>
            <a:r>
              <a:rPr sz="2000"/>
              <a:t> The seasonal swing between a Duluth summer and a Duluth winter is roughly 30°C. A warming trend of a few tenths of a degree per decade is real, but at this scale it’s buried under swings a hundred times larger — that’s why we have to summarize before we can see 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2 — Summarize to reveal the trend </a:t>
            </a:r>
            <a:r>
              <a:rPr sz="2000" b="1" i="1"/>
              <a:t>(after lecture Chunk 2)</a:t>
            </a:r>
          </a:p>
          <a:p>
            <a:pPr lvl="0" indent="0" marL="1270000">
              <a:buNone/>
            </a:pPr>
            <a:r>
              <a:rPr sz="2000"/>
              <a:t>Parts 4–5: collapse the daily data to monthly and yearly means.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Summarize by month</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Mean temperature per year-month ----------------------------</a:t>
            </a:r>
            <a:br/>
            <a:r>
              <a:rPr>
                <a:solidFill>
                  <a:srgbClr val="003B4F"/>
                </a:solidFill>
                <a:latin typeface="Courier"/>
              </a:rPr>
              <a:t>dlh_month_df &lt;- dlh_temp_df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MONTH)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YEARMODA =</a:t>
            </a:r>
            <a:r>
              <a:rPr>
                <a:solidFill>
                  <a:srgbClr val="003B4F"/>
                </a:solidFill>
                <a:latin typeface="Courier"/>
              </a:rPr>
              <a:t> </a:t>
            </a:r>
            <a:r>
              <a:rPr>
                <a:solidFill>
                  <a:srgbClr val="4758AB"/>
                </a:solidFill>
                <a:latin typeface="Courier"/>
              </a:rPr>
              <a:t>first</a:t>
            </a:r>
            <a:r>
              <a:rPr>
                <a:solidFill>
                  <a:srgbClr val="003B4F"/>
                </a:solidFill>
                <a:latin typeface="Courier"/>
              </a:rPr>
              <a:t>(YEARMODA),</a:t>
            </a:r>
            <a:br/>
            <a:r>
              <a:rPr>
                <a:solidFill>
                  <a:srgbClr val="003B4F"/>
                </a:solidFill>
                <a:latin typeface="Courier"/>
              </a:rPr>
              <a:t>    </a:t>
            </a:r>
            <a:r>
              <a:rPr>
                <a:solidFill>
                  <a:srgbClr val="657422"/>
                </a:solidFill>
                <a:latin typeface="Courier"/>
              </a:rPr>
              <a:t>TEMP     =</a:t>
            </a:r>
            <a:r>
              <a:rPr>
                <a:solidFill>
                  <a:srgbClr val="003B4F"/>
                </a:solidFill>
                <a:latin typeface="Courier"/>
              </a:rPr>
              <a:t> </a:t>
            </a:r>
            <a:r>
              <a:rPr>
                <a:solidFill>
                  <a:srgbClr val="4758AB"/>
                </a:solidFill>
                <a:latin typeface="Courier"/>
              </a:rPr>
              <a:t>mean</a:t>
            </a:r>
            <a:r>
              <a:rPr>
                <a:solidFill>
                  <a:srgbClr val="003B4F"/>
                </a:solidFill>
                <a:latin typeface="Courier"/>
              </a:rPr>
              <a:t>(TEMP,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br/>
            <a:br/>
            <a:r>
              <a:rPr>
                <a:solidFill>
                  <a:srgbClr val="4758AB"/>
                </a:solidFill>
                <a:latin typeface="Courier"/>
              </a:rPr>
              <a:t>head</a:t>
            </a:r>
            <a:r>
              <a:rPr>
                <a:solidFill>
                  <a:srgbClr val="003B4F"/>
                </a:solidFill>
                <a:latin typeface="Courier"/>
              </a:rPr>
              <a:t>(dlh_month_df)</a:t>
            </a:r>
          </a:p>
          <a:p>
            <a:pPr lvl="0" indent="0">
              <a:buNone/>
            </a:pPr>
            <a:r>
              <a:rPr>
                <a:solidFill>
                  <a:srgbClr val="5E5E5E"/>
                </a:solidFill>
                <a:latin typeface="Courier"/>
              </a:rPr>
              <a:t># Plot the monthly means --------------------------------------</a:t>
            </a:r>
            <a:br/>
            <a:r>
              <a:rPr>
                <a:solidFill>
                  <a:srgbClr val="003B4F"/>
                </a:solidFill>
                <a:latin typeface="Courier"/>
              </a:rPr>
              <a:t>month_temp_plot &lt;- dlh_month_df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YEARMODA, </a:t>
            </a:r>
            <a:r>
              <a:rPr>
                <a:solidFill>
                  <a:srgbClr val="657422"/>
                </a:solidFill>
                <a:latin typeface="Courier"/>
              </a:rPr>
              <a:t>y =</a:t>
            </a:r>
            <a:r>
              <a:rPr>
                <a:solidFill>
                  <a:srgbClr val="003B4F"/>
                </a:solidFill>
                <a:latin typeface="Courier"/>
              </a:rPr>
              <a:t> TEMP))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0.4</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"Duluth Monthly Mean Temperature"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"Date"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"Temperature (°C)"</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month_temp_plot</a:t>
            </a:r>
          </a:p>
          <a:p>
            <a:pPr lvl="0" indent="0" marL="0">
              <a:buNone/>
            </a:pPr>
            <a:r>
              <a:rPr/>
              <a:t>✏️ </a:t>
            </a:r>
            <a:r>
              <a:rPr b="1"/>
              <a:t>Your turn:</a:t>
            </a:r>
            <a:r>
              <a:rPr/>
              <a:t> How many rows does </a:t>
            </a:r>
            <a:r>
              <a:rPr>
                <a:latin typeface="Courier"/>
              </a:rPr>
              <a:t>dlh_month_df</a:t>
            </a:r>
            <a:r>
              <a:rPr/>
              <a:t> have compared to </a:t>
            </a:r>
            <a:r>
              <a:rPr>
                <a:latin typeface="Courier"/>
              </a:rPr>
              <a:t>dlh_temp_df</a:t>
            </a:r>
            <a:r>
              <a:rPr/>
              <a:t>? What pattern is now visible that wasn’t visible in the raw daily plot?</a:t>
            </a:r>
          </a:p>
          <a:p>
            <a:pPr lvl="0" indent="0">
              <a:buNone/>
            </a:pPr>
            <a:r>
              <a:rPr>
                <a:latin typeface="Courier"/>
              </a:rPr>
              <a:t>Rows in dlh_temp_df (daily):
Rows in dlh_month_df (monthly):
New pattern now visible: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Summarize by year</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Mean temperature per year ------------------------------------</a:t>
            </a:r>
            <a:br/>
            <a:r>
              <a:rPr>
                <a:solidFill>
                  <a:srgbClr val="003B4F"/>
                </a:solidFill>
                <a:latin typeface="Courier"/>
              </a:rPr>
              <a:t>dlh_year_df &lt;- dlh_temp_df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YEARMODA =</a:t>
            </a:r>
            <a:r>
              <a:rPr>
                <a:solidFill>
                  <a:srgbClr val="003B4F"/>
                </a:solidFill>
                <a:latin typeface="Courier"/>
              </a:rPr>
              <a:t> </a:t>
            </a:r>
            <a:r>
              <a:rPr>
                <a:solidFill>
                  <a:srgbClr val="4758AB"/>
                </a:solidFill>
                <a:latin typeface="Courier"/>
              </a:rPr>
              <a:t>first</a:t>
            </a:r>
            <a:r>
              <a:rPr>
                <a:solidFill>
                  <a:srgbClr val="003B4F"/>
                </a:solidFill>
                <a:latin typeface="Courier"/>
              </a:rPr>
              <a:t>(YEARMODA),</a:t>
            </a:r>
            <a:br/>
            <a:r>
              <a:rPr>
                <a:solidFill>
                  <a:srgbClr val="003B4F"/>
                </a:solidFill>
                <a:latin typeface="Courier"/>
              </a:rPr>
              <a:t>    </a:t>
            </a:r>
            <a:r>
              <a:rPr>
                <a:solidFill>
                  <a:srgbClr val="657422"/>
                </a:solidFill>
                <a:latin typeface="Courier"/>
              </a:rPr>
              <a:t>TEMP     =</a:t>
            </a:r>
            <a:r>
              <a:rPr>
                <a:solidFill>
                  <a:srgbClr val="003B4F"/>
                </a:solidFill>
                <a:latin typeface="Courier"/>
              </a:rPr>
              <a:t> </a:t>
            </a:r>
            <a:r>
              <a:rPr>
                <a:solidFill>
                  <a:srgbClr val="4758AB"/>
                </a:solidFill>
                <a:latin typeface="Courier"/>
              </a:rPr>
              <a:t>mean</a:t>
            </a:r>
            <a:r>
              <a:rPr>
                <a:solidFill>
                  <a:srgbClr val="003B4F"/>
                </a:solidFill>
                <a:latin typeface="Courier"/>
              </a:rPr>
              <a:t>(TEMP,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br/>
            <a:br/>
            <a:r>
              <a:rPr>
                <a:solidFill>
                  <a:srgbClr val="4758AB"/>
                </a:solidFill>
                <a:latin typeface="Courier"/>
              </a:rPr>
              <a:t>head</a:t>
            </a:r>
            <a:r>
              <a:rPr>
                <a:solidFill>
                  <a:srgbClr val="003B4F"/>
                </a:solidFill>
                <a:latin typeface="Courier"/>
              </a:rPr>
              <a:t>(dlh_year_df)</a:t>
            </a:r>
          </a:p>
          <a:p>
            <a:pPr lvl="0" indent="0">
              <a:buNone/>
            </a:pPr>
            <a:r>
              <a:rPr>
                <a:solidFill>
                  <a:srgbClr val="003B4F"/>
                </a:solidFill>
                <a:latin typeface="Courier"/>
              </a:rPr>
              <a:t>yearly_temp_plot &lt;- dlh_year_df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 </a:t>
            </a:r>
            <a:r>
              <a:rPr>
                <a:solidFill>
                  <a:srgbClr val="657422"/>
                </a:solidFill>
                <a:latin typeface="Courier"/>
              </a:rPr>
              <a:t>y =</a:t>
            </a:r>
            <a:r>
              <a:rPr>
                <a:solidFill>
                  <a:srgbClr val="003B4F"/>
                </a:solidFill>
                <a:latin typeface="Courier"/>
              </a:rPr>
              <a:t> TEMP))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"firebrick"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"Duluth Annual Mean Temperature, 1948–2025"</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Temp (°C)"</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yearly_temp_plot</a:t>
            </a:r>
          </a:p>
          <a:p>
            <a:pPr lvl="0" indent="0" marL="0">
              <a:buNone/>
            </a:pPr>
            <a:r>
              <a:rPr/>
              <a:t>✏️ </a:t>
            </a:r>
            <a:r>
              <a:rPr b="1"/>
              <a:t>Your turn:</a:t>
            </a:r>
            <a:r>
              <a:rPr/>
              <a:t> Fill in the table comparing all three levels of summary:</a:t>
            </a:r>
          </a:p>
          <a:p>
            <a:pPr lvl="0" indent="0">
              <a:buNone/>
            </a:pPr>
            <a:r>
              <a:rPr>
                <a:latin typeface="Courier"/>
              </a:rPr>
              <a:t>Level      Rows     What it shows clearly      What it hides
--------   ------   -------------------------  -------------------------
Daily                
Monthly              
Yearly               </a:t>
            </a:r>
          </a:p>
          <a:p>
            <a:pPr lvl="0" indent="0" marL="0">
              <a:buNone/>
            </a:pPr>
            <a:r>
              <a:rPr/>
              <a:t>✏️ </a:t>
            </a:r>
            <a:r>
              <a:rPr b="1"/>
              <a:t>Your turn:</a:t>
            </a:r>
            <a:r>
              <a:rPr/>
              <a:t> Which summary level would you use if you wanted to know about a single extreme heat wave? Which would you use to study climate change? Explain why they’re different.</a:t>
            </a:r>
          </a:p>
          <a:p>
            <a:pPr lvl="0" indent="0">
              <a:buNone/>
            </a:pPr>
            <a:r>
              <a:rPr>
                <a:latin typeface="Courier"/>
              </a:rPr>
              <a:t>Best level for a single heat wave:
Best level for climate change:
Why they're different: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3 — Model the rate of change </a:t>
            </a:r>
            <a:r>
              <a:rPr sz="2000" b="1" i="1"/>
              <a:t>(after lecture Chunk 3)</a:t>
            </a:r>
          </a:p>
          <a:p>
            <a:pPr lvl="0" indent="0" marL="1270000">
              <a:buNone/>
            </a:pPr>
            <a:r>
              <a:rPr sz="2000"/>
              <a:t>Part 6: fit </a:t>
            </a:r>
            <a:r>
              <a:rPr sz="2000">
                <a:latin typeface="Courier"/>
              </a:rPr>
              <a:t>lm(TEMP ~ YEAR)</a:t>
            </a:r>
            <a:r>
              <a:rPr sz="2000"/>
              <a:t> and read the warming slope.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Model the rate of change with </a:t>
            </a:r>
            <a:r>
              <a:rPr>
                <a:latin typeface="Courier"/>
              </a:rPr>
              <a:t>lm()</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will the slope of </a:t>
            </a:r>
            <a:r>
              <a:rPr sz="2000">
                <a:latin typeface="Courier"/>
              </a:rPr>
              <a:t>TEMP ~ YEAR</a:t>
            </a:r>
            <a:r>
              <a:rPr sz="2000"/>
              <a:t> be positive or negative? Roughly how many °C per decade? Guess before you run </a:t>
            </a:r>
            <a:r>
              <a:rPr sz="2000">
                <a:latin typeface="Courier"/>
              </a:rPr>
              <a:t>summary()</a:t>
            </a:r>
            <a:r>
              <a:rPr sz="2000"/>
              <a:t>.</a:t>
            </a:r>
          </a:p>
          <a:p>
            <a:pPr lvl="0" indent="0" marL="0">
              <a:buNone/>
            </a:pPr>
            <a:r>
              <a:rPr b="1"/>
              <a:t>▶ Run this:</a:t>
            </a:r>
          </a:p>
          <a:p>
            <a:pPr lvl="0" indent="0">
              <a:buNone/>
            </a:pPr>
            <a:r>
              <a:rPr>
                <a:solidFill>
                  <a:srgbClr val="5E5E5E"/>
                </a:solidFill>
                <a:latin typeface="Courier"/>
              </a:rPr>
              <a:t># Fit a regression: TEMP predicted by YEAR ----------------------</a:t>
            </a:r>
            <a:br/>
            <a:r>
              <a:rPr>
                <a:solidFill>
                  <a:srgbClr val="003B4F"/>
                </a:solidFill>
                <a:latin typeface="Courier"/>
              </a:rPr>
              <a:t>yearly_temp_model &lt;- </a:t>
            </a:r>
            <a:r>
              <a:rPr>
                <a:solidFill>
                  <a:srgbClr val="4758AB"/>
                </a:solidFill>
                <a:latin typeface="Courier"/>
              </a:rPr>
              <a:t>lm</a:t>
            </a:r>
            <a:r>
              <a:rPr>
                <a:solidFill>
                  <a:srgbClr val="003B4F"/>
                </a:solidFill>
                <a:latin typeface="Courier"/>
              </a:rPr>
              <a:t>(TEMP </a:t>
            </a:r>
            <a:r>
              <a:rPr>
                <a:solidFill>
                  <a:srgbClr val="5E5E5E"/>
                </a:solidFill>
                <a:latin typeface="Courier"/>
              </a:rPr>
              <a:t>~</a:t>
            </a:r>
            <a:r>
              <a:rPr>
                <a:solidFill>
                  <a:srgbClr val="003B4F"/>
                </a:solidFill>
                <a:latin typeface="Courier"/>
              </a:rPr>
              <a:t> YEAR, </a:t>
            </a:r>
            <a:r>
              <a:rPr>
                <a:solidFill>
                  <a:srgbClr val="657422"/>
                </a:solidFill>
                <a:latin typeface="Courier"/>
              </a:rPr>
              <a:t>data =</a:t>
            </a:r>
            <a:r>
              <a:rPr>
                <a:solidFill>
                  <a:srgbClr val="003B4F"/>
                </a:solidFill>
                <a:latin typeface="Courier"/>
              </a:rPr>
              <a:t> dlh_year_df)</a:t>
            </a:r>
            <a:br/>
            <a:br/>
            <a:r>
              <a:rPr>
                <a:solidFill>
                  <a:srgbClr val="4758AB"/>
                </a:solidFill>
                <a:latin typeface="Courier"/>
              </a:rPr>
              <a:t>summary</a:t>
            </a:r>
            <a:r>
              <a:rPr>
                <a:solidFill>
                  <a:srgbClr val="003B4F"/>
                </a:solidFill>
                <a:latin typeface="Courier"/>
              </a:rPr>
              <a:t>(yearly_temp_model)</a:t>
            </a:r>
          </a:p>
          <a:p>
            <a:pPr lvl="0" indent="0" marL="0">
              <a:buNone/>
            </a:pPr>
            <a:r>
              <a:rPr/>
              <a:t>✏️ </a:t>
            </a:r>
            <a:r>
              <a:rPr b="1"/>
              <a:t>Your turn:</a:t>
            </a:r>
            <a:r>
              <a:rPr/>
              <a:t> This is the exact same </a:t>
            </a:r>
            <a:r>
              <a:rPr>
                <a:latin typeface="Courier"/>
              </a:rPr>
              <a:t>lm()</a:t>
            </a:r>
            <a:r>
              <a:rPr/>
              <a:t> syntax from Worksheet 05. Fill in what X and Y are in this new context:</a:t>
            </a:r>
          </a:p>
          <a:p>
            <a:pPr lvl="0" indent="0">
              <a:buNone/>
            </a:pPr>
            <a:r>
              <a:rPr>
                <a:latin typeface="Courier"/>
              </a:rPr>
              <a:t>Worksheet 05:  X = mass_g       Y = area_cm2
Worksheet 06:  X = _____        Y = _____</a:t>
            </a:r>
          </a:p>
          <a:p>
            <a:pPr lvl="0" indent="0" marL="0">
              <a:buNone/>
            </a:pPr>
            <a:r>
              <a:rPr b="1"/>
              <a:t>▶ Run this:</a:t>
            </a:r>
          </a:p>
          <a:p>
            <a:pPr lvl="0" indent="0">
              <a:buNone/>
            </a:pPr>
            <a:r>
              <a:rPr>
                <a:solidFill>
                  <a:srgbClr val="5E5E5E"/>
                </a:solidFill>
                <a:latin typeface="Courier"/>
              </a:rPr>
              <a:t># Pull the slope and convert to °C per decade --------------------</a:t>
            </a:r>
            <a:br/>
            <a:r>
              <a:rPr>
                <a:solidFill>
                  <a:srgbClr val="003B4F"/>
                </a:solidFill>
                <a:latin typeface="Courier"/>
              </a:rPr>
              <a:t>yearly_intercept &lt;- </a:t>
            </a:r>
            <a:r>
              <a:rPr>
                <a:solidFill>
                  <a:srgbClr val="4758AB"/>
                </a:solidFill>
                <a:latin typeface="Courier"/>
              </a:rPr>
              <a:t>coef</a:t>
            </a:r>
            <a:r>
              <a:rPr>
                <a:solidFill>
                  <a:srgbClr val="003B4F"/>
                </a:solidFill>
                <a:latin typeface="Courier"/>
              </a:rPr>
              <a:t>(yearly_temp_model)[</a:t>
            </a:r>
            <a:r>
              <a:rPr>
                <a:solidFill>
                  <a:srgbClr val="AD0000"/>
                </a:solidFill>
                <a:latin typeface="Courier"/>
              </a:rPr>
              <a:t>1</a:t>
            </a:r>
            <a:r>
              <a:rPr>
                <a:solidFill>
                  <a:srgbClr val="003B4F"/>
                </a:solidFill>
                <a:latin typeface="Courier"/>
              </a:rPr>
              <a:t>]</a:t>
            </a:r>
            <a:br/>
            <a:r>
              <a:rPr>
                <a:solidFill>
                  <a:srgbClr val="003B4F"/>
                </a:solidFill>
                <a:latin typeface="Courier"/>
              </a:rPr>
              <a:t>yearly_slope     &lt;- </a:t>
            </a:r>
            <a:r>
              <a:rPr>
                <a:solidFill>
                  <a:srgbClr val="4758AB"/>
                </a:solidFill>
                <a:latin typeface="Courier"/>
              </a:rPr>
              <a:t>coef</a:t>
            </a:r>
            <a:r>
              <a:rPr>
                <a:solidFill>
                  <a:srgbClr val="003B4F"/>
                </a:solidFill>
                <a:latin typeface="Courier"/>
              </a:rPr>
              <a:t>(yearly_temp_model)[</a:t>
            </a:r>
            <a:r>
              <a:rPr>
                <a:solidFill>
                  <a:srgbClr val="AD0000"/>
                </a:solidFill>
                <a:latin typeface="Courier"/>
              </a:rPr>
              <a:t>2</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"Slope (b)      ="</a:t>
            </a:r>
            <a:r>
              <a:rPr>
                <a:solidFill>
                  <a:srgbClr val="003B4F"/>
                </a:solidFill>
                <a:latin typeface="Courier"/>
              </a:rPr>
              <a:t>, </a:t>
            </a:r>
            <a:r>
              <a:rPr>
                <a:solidFill>
                  <a:srgbClr val="4758AB"/>
                </a:solidFill>
                <a:latin typeface="Courier"/>
              </a:rPr>
              <a:t>round</a:t>
            </a:r>
            <a:r>
              <a:rPr>
                <a:solidFill>
                  <a:srgbClr val="003B4F"/>
                </a:solidFill>
                <a:latin typeface="Courier"/>
              </a:rPr>
              <a:t>(yearly_slope, </a:t>
            </a:r>
            <a:r>
              <a:rPr>
                <a:solidFill>
                  <a:srgbClr val="AD0000"/>
                </a:solidFill>
                <a:latin typeface="Courier"/>
              </a:rPr>
              <a:t>4</a:t>
            </a:r>
            <a:r>
              <a:rPr>
                <a:solidFill>
                  <a:srgbClr val="003B4F"/>
                </a:solidFill>
                <a:latin typeface="Courier"/>
              </a:rPr>
              <a:t>), </a:t>
            </a:r>
            <a:r>
              <a:rPr>
                <a:solidFill>
                  <a:srgbClr val="20794D"/>
                </a:solidFill>
                <a:latin typeface="Courier"/>
              </a:rPr>
              <a:t>"°C/year</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"Warming rate   ="</a:t>
            </a:r>
            <a:r>
              <a:rPr>
                <a:solidFill>
                  <a:srgbClr val="003B4F"/>
                </a:solidFill>
                <a:latin typeface="Courier"/>
              </a:rPr>
              <a:t>, </a:t>
            </a:r>
            <a:r>
              <a:rPr>
                <a:solidFill>
                  <a:srgbClr val="4758AB"/>
                </a:solidFill>
                <a:latin typeface="Courier"/>
              </a:rPr>
              <a:t>round</a:t>
            </a:r>
            <a:r>
              <a:rPr>
                <a:solidFill>
                  <a:srgbClr val="003B4F"/>
                </a:solidFill>
                <a:latin typeface="Courier"/>
              </a:rPr>
              <a:t>(yearly_slope </a:t>
            </a:r>
            <a:r>
              <a:rPr>
                <a:solidFill>
                  <a:srgbClr val="5E5E5E"/>
                </a:solidFill>
                <a:latin typeface="Courier"/>
              </a:rPr>
              <a:t>*</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"°C per decade</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Report the results from your </a:t>
            </a:r>
            <a:r>
              <a:rPr>
                <a:latin typeface="Courier"/>
              </a:rPr>
              <a:t>summary()</a:t>
            </a:r>
            <a:r>
              <a:rPr/>
              <a:t> output:</a:t>
            </a:r>
          </a:p>
          <a:p>
            <a:pPr lvl="0" indent="0">
              <a:buNone/>
            </a:pPr>
            <a:r>
              <a:rPr>
                <a:latin typeface="Courier"/>
              </a:rPr>
              <a:t>Slope (b) =
p-value for the slope =
R-squared =
Warming rate in °C per decade =
Is the warming trend statistically significant at α = 0.05?  Y / N</a:t>
            </a:r>
          </a:p>
          <a:p>
            <a:pPr lvl="0" indent="0" marL="1270000">
              <a:buNone/>
            </a:pPr>
            <a:r>
              <a:rPr sz="2000"/>
              <a:t>📖 </a:t>
            </a:r>
            <a:r>
              <a:rPr sz="2000" b="1"/>
              <a:t>Whitlock &amp; Schluter §17.3:</a:t>
            </a:r>
            <a:r>
              <a:rPr sz="2000"/>
              <a:t> the slope’s p-value tests H₀: β = 0. A significant slope means temperature is changing systematically with year — not just by chance.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sz="2000" b="1"/>
              <a:t>🧩 Chunk 4 — Seasons: is winter warming faster? </a:t>
            </a:r>
            <a:r>
              <a:rPr sz="2000" b="1" i="1"/>
              <a:t>(after lecture Chunk 4)</a:t>
            </a:r>
          </a:p>
          <a:p>
            <a:pPr lvl="0" indent="0" marL="1270000">
              <a:buNone/>
            </a:pPr>
            <a:r>
              <a:rPr sz="2000"/>
              <a:t>Parts 7–11: build the season variable, model each season, and write the results paragraph.</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Build a season variable with </a:t>
            </a:r>
            <a:r>
              <a:rPr>
                <a:latin typeface="Courier"/>
              </a:rPr>
              <a:t>case_when()</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which season category (summer / winter / shoulder) will have the most rows in the </a:t>
            </a:r>
            <a:r>
              <a:rPr sz="2000">
                <a:latin typeface="Courier"/>
              </a:rPr>
              <a:t>count()</a:t>
            </a:r>
            <a:r>
              <a:rPr sz="2000"/>
              <a:t>? Predict before running.</a:t>
            </a:r>
          </a:p>
          <a:p>
            <a:pPr lvl="0" indent="0" marL="0">
              <a:buNone/>
            </a:pPr>
            <a:r>
              <a:rPr/>
              <a:t>We now ask a sharper question: </a:t>
            </a:r>
            <a:r>
              <a:rPr b="1"/>
              <a:t>is winter warming at the same rate as summer?</a:t>
            </a:r>
          </a:p>
          <a:p>
            <a:pPr lvl="0" indent="0" marL="0">
              <a:buNone/>
            </a:pPr>
            <a:r>
              <a:rPr b="1"/>
              <a:t>▶ Run this:</a:t>
            </a:r>
          </a:p>
          <a:p>
            <a:pPr lvl="0" indent="0">
              <a:buNone/>
            </a:pPr>
            <a:r>
              <a:rPr>
                <a:solidFill>
                  <a:srgbClr val="5E5E5E"/>
                </a:solidFill>
                <a:latin typeface="Courier"/>
              </a:rPr>
              <a:t># Label each day as summer, winter, or shoulder season -------------</a:t>
            </a:r>
            <a:br/>
            <a:r>
              <a:rPr>
                <a:solidFill>
                  <a:srgbClr val="003B4F"/>
                </a:solidFill>
                <a:latin typeface="Courier"/>
              </a:rPr>
              <a:t>dlh_season_df &lt;- dlh_temp_df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MONTH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"summer"</a:t>
            </a:r>
            <a:r>
              <a:rPr>
                <a:solidFill>
                  <a:srgbClr val="003B4F"/>
                </a:solidFill>
                <a:latin typeface="Courier"/>
              </a:rPr>
              <a:t>,</a:t>
            </a:r>
            <a:br/>
            <a:r>
              <a:rPr>
                <a:solidFill>
                  <a:srgbClr val="003B4F"/>
                </a:solidFill>
                <a:latin typeface="Courier"/>
              </a:rPr>
              <a:t>      MONTH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12</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"winter"</a:t>
            </a:r>
            <a:r>
              <a:rPr>
                <a:solidFill>
                  <a:srgbClr val="003B4F"/>
                </a:solidFill>
                <a:latin typeface="Courier"/>
              </a:rPr>
              <a:t>,</a:t>
            </a:r>
            <a:b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"shoulder"</a:t>
            </a:r>
            <a:br/>
            <a:r>
              <a:rPr>
                <a:solidFill>
                  <a:srgbClr val="003B4F"/>
                </a:solidFill>
                <a:latin typeface="Courier"/>
              </a:rPr>
              <a:t>    )</a:t>
            </a:r>
            <a:br/>
            <a:r>
              <a:rPr>
                <a:solidFill>
                  <a:srgbClr val="003B4F"/>
                </a:solidFill>
                <a:latin typeface="Courier"/>
              </a:rPr>
              <a:t>  )</a:t>
            </a:r>
            <a:br/>
            <a:br/>
            <a:r>
              <a:rPr>
                <a:solidFill>
                  <a:srgbClr val="5E5E5E"/>
                </a:solidFill>
                <a:latin typeface="Courier"/>
              </a:rPr>
              <a:t># Quick check - did it work? -----------------------------------------</a:t>
            </a:r>
            <a:br/>
            <a:r>
              <a:rPr>
                <a:solidFill>
                  <a:srgbClr val="003B4F"/>
                </a:solidFill>
                <a:latin typeface="Courier"/>
              </a:rPr>
              <a:t>dlh_season_df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(season)</a:t>
            </a:r>
          </a:p>
          <a:p>
            <a:pPr lvl="0" indent="0" marL="0">
              <a:buNone/>
            </a:pPr>
            <a:r>
              <a:rPr/>
              <a:t>✏️ </a:t>
            </a:r>
            <a:r>
              <a:rPr b="1"/>
              <a:t>Your turn:</a:t>
            </a:r>
            <a:r>
              <a:rPr/>
              <a:t> How many rows fall into each season category? Does the count roughly make sense given there are 12 months and 3 are assigned to summer, 3 to winter?</a:t>
            </a:r>
          </a:p>
          <a:p>
            <a:pPr lvl="0" indent="0">
              <a:buNone/>
            </a:pPr>
            <a:r>
              <a:rPr>
                <a:latin typeface="Courier"/>
              </a:rPr>
              <a:t>n(summer):
n(winter):
n(shoulder):
Does this make sense?  Y / N</a:t>
            </a:r>
          </a:p>
          <a:p>
            <a:pPr lvl="0" indent="0" marL="0">
              <a:buNone/>
            </a:pPr>
            <a:r>
              <a:rPr/>
              <a:t>✏️ </a:t>
            </a:r>
            <a:r>
              <a:rPr b="1"/>
              <a:t>Your turn:</a:t>
            </a:r>
            <a:r>
              <a:rPr/>
              <a:t> In your own words, explain what each line of the </a:t>
            </a:r>
            <a:r>
              <a:rPr>
                <a:latin typeface="Courier"/>
              </a:rPr>
              <a:t>case_when()</a:t>
            </a:r>
            <a:r>
              <a:rPr/>
              <a:t> is doing. What does </a:t>
            </a:r>
            <a:r>
              <a:rPr>
                <a:latin typeface="Courier"/>
              </a:rPr>
              <a:t>TRUE ~ "shoulder"</a:t>
            </a:r>
            <a:r>
              <a:rPr/>
              <a:t> mean?</a:t>
            </a:r>
          </a:p>
          <a:p>
            <a:pPr lvl="0" indent="0">
              <a:buNone/>
            </a:pPr>
            <a:r>
              <a:rPr>
                <a:latin typeface="Courier"/>
              </a:rPr>
              <a:t>What MONTH %in% c(6, 7, 8) ~ "summer" does:
What TRUE ~ "shoulder" does: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Summarize each season by year</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Keep only summer and winter, then summarize by year ----------------</a:t>
            </a:r>
            <a:br/>
            <a:r>
              <a:rPr>
                <a:solidFill>
                  <a:srgbClr val="003B4F"/>
                </a:solidFill>
                <a:latin typeface="Courier"/>
              </a:rPr>
              <a:t>season_year_df &lt;- dlh_season_df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(season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"summer"</a:t>
            </a:r>
            <a:r>
              <a:rPr>
                <a:solidFill>
                  <a:srgbClr val="003B4F"/>
                </a:solidFill>
                <a:latin typeface="Courier"/>
              </a:rPr>
              <a:t>, </a:t>
            </a:r>
            <a:r>
              <a:rPr>
                <a:solidFill>
                  <a:srgbClr val="20794D"/>
                </a:solidFill>
                <a:latin typeface="Courier"/>
              </a:rPr>
              <a:t>"winter"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season)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TEMP =</a:t>
            </a:r>
            <a:r>
              <a:rPr>
                <a:solidFill>
                  <a:srgbClr val="003B4F"/>
                </a:solidFill>
                <a:latin typeface="Courier"/>
              </a:rPr>
              <a:t> </a:t>
            </a:r>
            <a:r>
              <a:rPr>
                <a:solidFill>
                  <a:srgbClr val="4758AB"/>
                </a:solidFill>
                <a:latin typeface="Courier"/>
              </a:rPr>
              <a:t>mean</a:t>
            </a:r>
            <a:r>
              <a:rPr>
                <a:solidFill>
                  <a:srgbClr val="003B4F"/>
                </a:solidFill>
                <a:latin typeface="Courier"/>
              </a:rPr>
              <a:t>(TEMP,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br/>
            <a:br/>
            <a:r>
              <a:rPr>
                <a:solidFill>
                  <a:srgbClr val="4758AB"/>
                </a:solidFill>
                <a:latin typeface="Courier"/>
              </a:rPr>
              <a:t>head</a:t>
            </a:r>
            <a:r>
              <a:rPr>
                <a:solidFill>
                  <a:srgbClr val="003B4F"/>
                </a:solidFill>
                <a:latin typeface="Courier"/>
              </a:rPr>
              <a:t>(season_year_df)</a:t>
            </a:r>
          </a:p>
          <a:p>
            <a:pPr lvl="0" indent="0" marL="0">
              <a:buNone/>
            </a:pPr>
            <a:r>
              <a:rPr/>
              <a:t>✏️ </a:t>
            </a:r>
            <a:r>
              <a:rPr b="1"/>
              <a:t>Your turn:</a:t>
            </a:r>
            <a:r>
              <a:rPr/>
              <a:t> What does </a:t>
            </a:r>
            <a:r>
              <a:rPr>
                <a:latin typeface="Courier"/>
              </a:rPr>
              <a:t>group_by(YEAR, season)</a:t>
            </a:r>
            <a:r>
              <a:rPr/>
              <a:t> do differently from </a:t>
            </a:r>
            <a:r>
              <a:rPr>
                <a:latin typeface="Courier"/>
              </a:rPr>
              <a:t>group_by(YEAR)</a:t>
            </a:r>
            <a:r>
              <a:rPr/>
              <a:t> alone? Why do we need both?</a:t>
            </a:r>
          </a:p>
          <a:p>
            <a:pPr lvl="0" indent="0">
              <a:buNone/>
            </a:pPr>
            <a:r>
              <a:rPr>
                <a:latin typeface="Courier"/>
              </a:rPr>
              <a:t>Your answer: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Plot both seasons together</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5E5E5E"/>
                </a:solidFill>
                <a:latin typeface="Courier"/>
              </a:rPr>
              <a:t># Plot both seasons with separate trend lines --------------------------</a:t>
            </a:r>
            <a:br/>
            <a:r>
              <a:rPr>
                <a:solidFill>
                  <a:srgbClr val="003B4F"/>
                </a:solidFill>
                <a:latin typeface="Courier"/>
              </a:rPr>
              <a:t>season_temp_plot &lt;- season_year_df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 </a:t>
            </a:r>
            <a:r>
              <a:rPr>
                <a:solidFill>
                  <a:srgbClr val="657422"/>
                </a:solidFill>
                <a:latin typeface="Courier"/>
              </a:rPr>
              <a:t>y =</a:t>
            </a:r>
            <a:r>
              <a:rPr>
                <a:solidFill>
                  <a:srgbClr val="003B4F"/>
                </a:solidFill>
                <a:latin typeface="Courier"/>
              </a:rPr>
              <a:t> TEMP, </a:t>
            </a:r>
            <a:r>
              <a:rPr>
                <a:solidFill>
                  <a:srgbClr val="657422"/>
                </a:solidFill>
                <a:latin typeface="Courier"/>
              </a:rPr>
              <a:t>color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1.8</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br/>
            <a:r>
              <a:rPr>
                <a:solidFill>
                  <a:srgbClr val="003B4F"/>
                </a:solidFill>
                <a:latin typeface="Courier"/>
              </a:rPr>
              <a:t>    </a:t>
            </a:r>
            <a:r>
              <a:rPr>
                <a:solidFill>
                  <a:srgbClr val="20794D"/>
                </a:solidFill>
                <a:latin typeface="Courier"/>
              </a:rPr>
              <a:t>"summer"</a:t>
            </a:r>
            <a:r>
              <a:rPr>
                <a:solidFill>
                  <a:srgbClr val="003B4F"/>
                </a:solidFill>
                <a:latin typeface="Courier"/>
              </a:rPr>
              <a:t> = </a:t>
            </a:r>
            <a:r>
              <a:rPr>
                <a:solidFill>
                  <a:srgbClr val="20794D"/>
                </a:solidFill>
                <a:latin typeface="Courier"/>
              </a:rPr>
              <a:t>"firebrick"</a:t>
            </a:r>
            <a:r>
              <a:rPr>
                <a:solidFill>
                  <a:srgbClr val="003B4F"/>
                </a:solidFill>
                <a:latin typeface="Courier"/>
              </a:rPr>
              <a:t>,</a:t>
            </a:r>
            <a:br/>
            <a:r>
              <a:rPr>
                <a:solidFill>
                  <a:srgbClr val="003B4F"/>
                </a:solidFill>
                <a:latin typeface="Courier"/>
              </a:rPr>
              <a:t>    </a:t>
            </a:r>
            <a:r>
              <a:rPr>
                <a:solidFill>
                  <a:srgbClr val="20794D"/>
                </a:solidFill>
                <a:latin typeface="Courier"/>
              </a:rPr>
              <a:t>"winter"</a:t>
            </a:r>
            <a:r>
              <a:rPr>
                <a:solidFill>
                  <a:srgbClr val="003B4F"/>
                </a:solidFill>
                <a:latin typeface="Courier"/>
              </a:rPr>
              <a:t> = </a:t>
            </a:r>
            <a:r>
              <a:rPr>
                <a:solidFill>
                  <a:srgbClr val="20794D"/>
                </a:solidFill>
                <a:latin typeface="Courier"/>
              </a:rPr>
              <a:t>"darkblue"</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"Duluth Summer vs. Winter Temperature Trends"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Temp (°C)"</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season_temp_plot</a:t>
            </a:r>
          </a:p>
          <a:p>
            <a:pPr lvl="0" indent="0" marL="0">
              <a:buNone/>
            </a:pPr>
            <a:r>
              <a:rPr/>
              <a:t>✏️ </a:t>
            </a:r>
            <a:r>
              <a:rPr b="1"/>
              <a:t>Your turn:</a:t>
            </a:r>
            <a:r>
              <a:rPr/>
              <a:t> Just from looking at the plot, which trend line looks steeper — summer or winter? Make a prediction before you run the models in the next part.</a:t>
            </a:r>
          </a:p>
          <a:p>
            <a:pPr lvl="0" indent="0">
              <a:buNone/>
            </a:pPr>
            <a:r>
              <a:rPr>
                <a:latin typeface="Courier"/>
              </a:rPr>
              <a:t>Visual prediction — steeper 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Fit a separate model for each season</a:t>
            </a:r>
          </a:p>
        </p:txBody>
      </p:sp>
      <p:sp>
        <p:nvSpPr>
          <p:cNvPr id="3" name="Content Placeholder 2"/>
          <p:cNvSpPr>
            <a:spLocks noGrp="1"/>
          </p:cNvSpPr>
          <p:nvPr>
            <p:ph idx="1"/>
          </p:nvPr>
        </p:nvSpPr>
        <p:spPr/>
        <p:txBody>
          <a:bodyPr/>
          <a:lstStyle/>
          <a:p>
            <a:pPr lvl="0" indent="0" marL="1270000">
              <a:buNone/>
            </a:pPr>
            <a:r>
              <a:rPr sz="2000"/>
              <a:t>🔮 </a:t>
            </a:r>
            <a:r>
              <a:rPr sz="2000" b="1"/>
              <a:t>Predict first:</a:t>
            </a:r>
            <a:r>
              <a:rPr sz="2000"/>
              <a:t> commit now — which season warms faster, summer or winter? Write your guess before the two slopes print.</a:t>
            </a:r>
          </a:p>
          <a:p>
            <a:pPr lvl="0" indent="0" marL="0">
              <a:buNone/>
            </a:pPr>
            <a:r>
              <a:rPr b="1"/>
              <a:t>▶ Run this:</a:t>
            </a:r>
          </a:p>
          <a:p>
            <a:pPr lvl="0" indent="0">
              <a:buNone/>
            </a:pPr>
            <a:r>
              <a:rPr>
                <a:solidFill>
                  <a:srgbClr val="5E5E5E"/>
                </a:solidFill>
                <a:latin typeface="Courier"/>
              </a:rPr>
              <a:t># Summer-only model -------------------------------------------------</a:t>
            </a:r>
            <a:br/>
            <a:r>
              <a:rPr>
                <a:solidFill>
                  <a:srgbClr val="003B4F"/>
                </a:solidFill>
                <a:latin typeface="Courier"/>
              </a:rPr>
              <a:t>summer_df &lt;- season_year_df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(season </a:t>
            </a:r>
            <a:r>
              <a:rPr>
                <a:solidFill>
                  <a:srgbClr val="5E5E5E"/>
                </a:solidFill>
                <a:latin typeface="Courier"/>
              </a:rPr>
              <a:t>==</a:t>
            </a:r>
            <a:r>
              <a:rPr>
                <a:solidFill>
                  <a:srgbClr val="003B4F"/>
                </a:solidFill>
                <a:latin typeface="Courier"/>
              </a:rPr>
              <a:t> </a:t>
            </a:r>
            <a:r>
              <a:rPr>
                <a:solidFill>
                  <a:srgbClr val="20794D"/>
                </a:solidFill>
                <a:latin typeface="Courier"/>
              </a:rPr>
              <a:t>"summer"</a:t>
            </a:r>
            <a:r>
              <a:rPr>
                <a:solidFill>
                  <a:srgbClr val="003B4F"/>
                </a:solidFill>
                <a:latin typeface="Courier"/>
              </a:rPr>
              <a:t>)</a:t>
            </a:r>
            <a:br/>
            <a:r>
              <a:rPr>
                <a:solidFill>
                  <a:srgbClr val="003B4F"/>
                </a:solidFill>
                <a:latin typeface="Courier"/>
              </a:rPr>
              <a:t>summer_model &lt;- </a:t>
            </a:r>
            <a:r>
              <a:rPr>
                <a:solidFill>
                  <a:srgbClr val="4758AB"/>
                </a:solidFill>
                <a:latin typeface="Courier"/>
              </a:rPr>
              <a:t>lm</a:t>
            </a:r>
            <a:r>
              <a:rPr>
                <a:solidFill>
                  <a:srgbClr val="003B4F"/>
                </a:solidFill>
                <a:latin typeface="Courier"/>
              </a:rPr>
              <a:t>(TEMP </a:t>
            </a:r>
            <a:r>
              <a:rPr>
                <a:solidFill>
                  <a:srgbClr val="5E5E5E"/>
                </a:solidFill>
                <a:latin typeface="Courier"/>
              </a:rPr>
              <a:t>~</a:t>
            </a:r>
            <a:r>
              <a:rPr>
                <a:solidFill>
                  <a:srgbClr val="003B4F"/>
                </a:solidFill>
                <a:latin typeface="Courier"/>
              </a:rPr>
              <a:t> YEAR, </a:t>
            </a:r>
            <a:r>
              <a:rPr>
                <a:solidFill>
                  <a:srgbClr val="657422"/>
                </a:solidFill>
                <a:latin typeface="Courier"/>
              </a:rPr>
              <a:t>data =</a:t>
            </a:r>
            <a:r>
              <a:rPr>
                <a:solidFill>
                  <a:srgbClr val="003B4F"/>
                </a:solidFill>
                <a:latin typeface="Courier"/>
              </a:rPr>
              <a:t> summer_df)</a:t>
            </a:r>
            <a:br/>
            <a:r>
              <a:rPr>
                <a:solidFill>
                  <a:srgbClr val="003B4F"/>
                </a:solidFill>
                <a:latin typeface="Courier"/>
              </a:rPr>
              <a:t>summer_slope &lt;- </a:t>
            </a:r>
            <a:r>
              <a:rPr>
                <a:solidFill>
                  <a:srgbClr val="4758AB"/>
                </a:solidFill>
                <a:latin typeface="Courier"/>
              </a:rPr>
              <a:t>coef</a:t>
            </a:r>
            <a:r>
              <a:rPr>
                <a:solidFill>
                  <a:srgbClr val="003B4F"/>
                </a:solidFill>
                <a:latin typeface="Courier"/>
              </a:rPr>
              <a:t>(summer_model)[</a:t>
            </a:r>
            <a:r>
              <a:rPr>
                <a:solidFill>
                  <a:srgbClr val="AD0000"/>
                </a:solidFill>
                <a:latin typeface="Courier"/>
              </a:rPr>
              <a:t>2</a:t>
            </a:r>
            <a:r>
              <a:rPr>
                <a:solidFill>
                  <a:srgbClr val="003B4F"/>
                </a:solidFill>
                <a:latin typeface="Courier"/>
              </a:rPr>
              <a:t>]</a:t>
            </a:r>
            <a:br/>
            <a:r>
              <a:rPr>
                <a:solidFill>
                  <a:srgbClr val="4758AB"/>
                </a:solidFill>
                <a:latin typeface="Courier"/>
              </a:rPr>
              <a:t>summary</a:t>
            </a:r>
            <a:r>
              <a:rPr>
                <a:solidFill>
                  <a:srgbClr val="003B4F"/>
                </a:solidFill>
                <a:latin typeface="Courier"/>
              </a:rPr>
              <a:t>(summer_model)</a:t>
            </a:r>
          </a:p>
          <a:p>
            <a:pPr lvl="0" indent="0">
              <a:buNone/>
            </a:pPr>
            <a:r>
              <a:rPr>
                <a:solidFill>
                  <a:srgbClr val="5E5E5E"/>
                </a:solidFill>
                <a:latin typeface="Courier"/>
              </a:rPr>
              <a:t># Winter-only model -------------------------------------------------</a:t>
            </a:r>
            <a:br/>
            <a:r>
              <a:rPr>
                <a:solidFill>
                  <a:srgbClr val="003B4F"/>
                </a:solidFill>
                <a:latin typeface="Courier"/>
              </a:rPr>
              <a:t>winter_df &lt;- season_year_df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(season </a:t>
            </a:r>
            <a:r>
              <a:rPr>
                <a:solidFill>
                  <a:srgbClr val="5E5E5E"/>
                </a:solidFill>
                <a:latin typeface="Courier"/>
              </a:rPr>
              <a:t>==</a:t>
            </a:r>
            <a:r>
              <a:rPr>
                <a:solidFill>
                  <a:srgbClr val="003B4F"/>
                </a:solidFill>
                <a:latin typeface="Courier"/>
              </a:rPr>
              <a:t> </a:t>
            </a:r>
            <a:r>
              <a:rPr>
                <a:solidFill>
                  <a:srgbClr val="20794D"/>
                </a:solidFill>
                <a:latin typeface="Courier"/>
              </a:rPr>
              <a:t>"winter"</a:t>
            </a:r>
            <a:r>
              <a:rPr>
                <a:solidFill>
                  <a:srgbClr val="003B4F"/>
                </a:solidFill>
                <a:latin typeface="Courier"/>
              </a:rPr>
              <a:t>)</a:t>
            </a:r>
            <a:br/>
            <a:r>
              <a:rPr>
                <a:solidFill>
                  <a:srgbClr val="003B4F"/>
                </a:solidFill>
                <a:latin typeface="Courier"/>
              </a:rPr>
              <a:t>winter_model &lt;- </a:t>
            </a:r>
            <a:r>
              <a:rPr>
                <a:solidFill>
                  <a:srgbClr val="4758AB"/>
                </a:solidFill>
                <a:latin typeface="Courier"/>
              </a:rPr>
              <a:t>lm</a:t>
            </a:r>
            <a:r>
              <a:rPr>
                <a:solidFill>
                  <a:srgbClr val="003B4F"/>
                </a:solidFill>
                <a:latin typeface="Courier"/>
              </a:rPr>
              <a:t>(TEMP </a:t>
            </a:r>
            <a:r>
              <a:rPr>
                <a:solidFill>
                  <a:srgbClr val="5E5E5E"/>
                </a:solidFill>
                <a:latin typeface="Courier"/>
              </a:rPr>
              <a:t>~</a:t>
            </a:r>
            <a:r>
              <a:rPr>
                <a:solidFill>
                  <a:srgbClr val="003B4F"/>
                </a:solidFill>
                <a:latin typeface="Courier"/>
              </a:rPr>
              <a:t> YEAR, </a:t>
            </a:r>
            <a:r>
              <a:rPr>
                <a:solidFill>
                  <a:srgbClr val="657422"/>
                </a:solidFill>
                <a:latin typeface="Courier"/>
              </a:rPr>
              <a:t>data =</a:t>
            </a:r>
            <a:r>
              <a:rPr>
                <a:solidFill>
                  <a:srgbClr val="003B4F"/>
                </a:solidFill>
                <a:latin typeface="Courier"/>
              </a:rPr>
              <a:t> winter_df)</a:t>
            </a:r>
            <a:br/>
            <a:r>
              <a:rPr>
                <a:solidFill>
                  <a:srgbClr val="003B4F"/>
                </a:solidFill>
                <a:latin typeface="Courier"/>
              </a:rPr>
              <a:t>winter_slope &lt;- </a:t>
            </a:r>
            <a:r>
              <a:rPr>
                <a:solidFill>
                  <a:srgbClr val="4758AB"/>
                </a:solidFill>
                <a:latin typeface="Courier"/>
              </a:rPr>
              <a:t>coef</a:t>
            </a:r>
            <a:r>
              <a:rPr>
                <a:solidFill>
                  <a:srgbClr val="003B4F"/>
                </a:solidFill>
                <a:latin typeface="Courier"/>
              </a:rPr>
              <a:t>(winter_model)[</a:t>
            </a:r>
            <a:r>
              <a:rPr>
                <a:solidFill>
                  <a:srgbClr val="AD0000"/>
                </a:solidFill>
                <a:latin typeface="Courier"/>
              </a:rPr>
              <a:t>2</a:t>
            </a:r>
            <a:r>
              <a:rPr>
                <a:solidFill>
                  <a:srgbClr val="003B4F"/>
                </a:solidFill>
                <a:latin typeface="Courier"/>
              </a:rPr>
              <a:t>]</a:t>
            </a:r>
            <a:br/>
            <a:r>
              <a:rPr>
                <a:solidFill>
                  <a:srgbClr val="4758AB"/>
                </a:solidFill>
                <a:latin typeface="Courier"/>
              </a:rPr>
              <a:t>summary</a:t>
            </a:r>
            <a:r>
              <a:rPr>
                <a:solidFill>
                  <a:srgbClr val="003B4F"/>
                </a:solidFill>
                <a:latin typeface="Courier"/>
              </a:rPr>
              <a:t>(winter_model)</a:t>
            </a:r>
          </a:p>
          <a:p>
            <a:pPr lvl="0" indent="0">
              <a:buNone/>
            </a:pPr>
            <a:r>
              <a:rPr>
                <a:solidFill>
                  <a:srgbClr val="5E5E5E"/>
                </a:solidFill>
                <a:latin typeface="Courier"/>
              </a:rPr>
              <a:t># Compare the two slopes ----------------------------------------------</a:t>
            </a:r>
            <a:br/>
            <a:r>
              <a:rPr>
                <a:solidFill>
                  <a:srgbClr val="4758AB"/>
                </a:solidFill>
                <a:latin typeface="Courier"/>
              </a:rPr>
              <a:t>cat</a:t>
            </a:r>
            <a:r>
              <a:rPr>
                <a:solidFill>
                  <a:srgbClr val="003B4F"/>
                </a:solidFill>
                <a:latin typeface="Courier"/>
              </a:rPr>
              <a:t>(</a:t>
            </a:r>
            <a:r>
              <a:rPr>
                <a:solidFill>
                  <a:srgbClr val="20794D"/>
                </a:solidFill>
                <a:latin typeface="Courier"/>
              </a:rPr>
              <a:t>"Summer warming rate:"</a:t>
            </a:r>
            <a:r>
              <a:rPr>
                <a:solidFill>
                  <a:srgbClr val="003B4F"/>
                </a:solidFill>
                <a:latin typeface="Courier"/>
              </a:rPr>
              <a:t>, </a:t>
            </a:r>
            <a:r>
              <a:rPr>
                <a:solidFill>
                  <a:srgbClr val="4758AB"/>
                </a:solidFill>
                <a:latin typeface="Courier"/>
              </a:rPr>
              <a:t>round</a:t>
            </a:r>
            <a:r>
              <a:rPr>
                <a:solidFill>
                  <a:srgbClr val="003B4F"/>
                </a:solidFill>
                <a:latin typeface="Courier"/>
              </a:rPr>
              <a:t>(summer_slope </a:t>
            </a:r>
            <a:r>
              <a:rPr>
                <a:solidFill>
                  <a:srgbClr val="5E5E5E"/>
                </a:solidFill>
                <a:latin typeface="Courier"/>
              </a:rPr>
              <a:t>*</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"°C/decade</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"Winter warming rate:"</a:t>
            </a:r>
            <a:r>
              <a:rPr>
                <a:solidFill>
                  <a:srgbClr val="003B4F"/>
                </a:solidFill>
                <a:latin typeface="Courier"/>
              </a:rPr>
              <a:t>, </a:t>
            </a:r>
            <a:r>
              <a:rPr>
                <a:solidFill>
                  <a:srgbClr val="4758AB"/>
                </a:solidFill>
                <a:latin typeface="Courier"/>
              </a:rPr>
              <a:t>round</a:t>
            </a:r>
            <a:r>
              <a:rPr>
                <a:solidFill>
                  <a:srgbClr val="003B4F"/>
                </a:solidFill>
                <a:latin typeface="Courier"/>
              </a:rPr>
              <a:t>(winter_slope </a:t>
            </a:r>
            <a:r>
              <a:rPr>
                <a:solidFill>
                  <a:srgbClr val="5E5E5E"/>
                </a:solidFill>
                <a:latin typeface="Courier"/>
              </a:rPr>
              <a:t>*</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"°C/decade</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marL="0">
              <a:buNone/>
            </a:pPr>
            <a:r>
              <a:rPr/>
              <a:t>✏️ </a:t>
            </a:r>
            <a:r>
              <a:rPr b="1"/>
              <a:t>Your turn:</a:t>
            </a:r>
            <a:r>
              <a:rPr/>
              <a:t> Fill in the comparison table:</a:t>
            </a:r>
          </a:p>
          <a:p>
            <a:pPr lvl="0" indent="0">
              <a:buNone/>
            </a:pPr>
            <a:r>
              <a:rPr>
                <a:latin typeface="Courier"/>
              </a:rPr>
              <a:t>Season    Slope (°C/year)   Rate (°C/decade)   p-value   Significant? (Y/N)
-------   ----------------  ------------------  --------  -------------------
Summer
Winter</a:t>
            </a:r>
          </a:p>
          <a:p>
            <a:pPr lvl="0" indent="0" marL="0">
              <a:buNone/>
            </a:pPr>
            <a:r>
              <a:rPr/>
              <a:t>✏️ </a:t>
            </a:r>
            <a:r>
              <a:rPr b="1"/>
              <a:t>Your turn:</a:t>
            </a:r>
            <a:r>
              <a:rPr/>
              <a:t> Was your visual prediction from Part 9 correct? Which season is warming faster in Duluth’s data? Does this match what you might expect from the news or your own experience with winters here?</a:t>
            </a:r>
          </a:p>
          <a:p>
            <a:pPr lvl="0" indent="0">
              <a:buNone/>
            </a:pPr>
            <a:r>
              <a:rPr>
                <a:latin typeface="Courier"/>
              </a:rPr>
              <a:t>Faster-warming season:
Did this match your prediction?  Y / N
Does this match your real-world experience?  Y / N
Why might winter and summer warm at different rates? (Hint: think about ice cover, snow reflectivity, cloud cover)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11 · Write a short results paragraph</a:t>
            </a:r>
          </a:p>
        </p:txBody>
      </p:sp>
      <p:sp>
        <p:nvSpPr>
          <p:cNvPr id="3" name="Content Placeholder 2"/>
          <p:cNvSpPr>
            <a:spLocks noGrp="1"/>
          </p:cNvSpPr>
          <p:nvPr>
            <p:ph idx="1"/>
          </p:nvPr>
        </p:nvSpPr>
        <p:spPr/>
        <p:txBody>
          <a:bodyPr/>
          <a:lstStyle/>
          <a:p>
            <a:pPr lvl="0" indent="0" marL="0">
              <a:buNone/>
            </a:pPr>
            <a:r>
              <a:rPr/>
              <a:t>✏️ </a:t>
            </a:r>
            <a:r>
              <a:rPr b="1"/>
              <a:t>Your turn:</a:t>
            </a:r>
            <a:r>
              <a:rPr/>
              <a:t> Write a short paragraph (4–6 sentences) summarizing what you found. Include:</a:t>
            </a:r>
          </a:p>
          <a:p>
            <a:pPr lvl="0"/>
            <a:r>
              <a:rPr/>
              <a:t>The overall annual warming rate (°C/decade) and whether it was significant</a:t>
            </a:r>
          </a:p>
          <a:p>
            <a:pPr lvl="0"/>
            <a:r>
              <a:rPr/>
              <a:t>The summer warming rate and the winter warming rate, compared</a:t>
            </a:r>
          </a:p>
          <a:p>
            <a:pPr lvl="0"/>
            <a:r>
              <a:rPr/>
              <a:t>One sentence connecting this to something you’ve personally noticed about Duluth winters (optional, but encouraged)</a:t>
            </a:r>
          </a:p>
          <a:p>
            <a:pPr lvl="0" indent="0">
              <a:buNone/>
            </a:pPr>
            <a:r>
              <a:rPr>
                <a:latin typeface="Courier"/>
              </a:rPr>
              <a:t>Write your results paragraph here: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12 · Review and checkpoint</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a:t>☐ Download real station data into R with </a:t>
            </a:r>
            <a:r>
              <a:rPr>
                <a:latin typeface="Courier"/>
              </a:rPr>
              <a:t>get_GSOD()</a:t>
            </a:r>
          </a:p>
          <a:p>
            <a:pPr lvl="0"/>
            <a:r>
              <a:rPr/>
              <a:t>☐ Explain why raw daily data can hide long-term trends</a:t>
            </a:r>
          </a:p>
          <a:p>
            <a:pPr lvl="0"/>
            <a:r>
              <a:rPr/>
              <a:t>☐ Use </a:t>
            </a:r>
            <a:r>
              <a:rPr>
                <a:latin typeface="Courier"/>
              </a:rPr>
              <a:t>group_by() %&gt;% summarize()</a:t>
            </a:r>
            <a:r>
              <a:rPr/>
              <a:t> to collapse data to monthly or yearly means</a:t>
            </a:r>
          </a:p>
          <a:p>
            <a:pPr lvl="0"/>
            <a:r>
              <a:rPr/>
              <a:t>☐ Fit </a:t>
            </a:r>
            <a:r>
              <a:rPr>
                <a:latin typeface="Courier"/>
              </a:rPr>
              <a:t>lm(Y ~ YEAR, data)</a:t>
            </a:r>
            <a:r>
              <a:rPr/>
              <a:t> and extract the slope as a rate of change</a:t>
            </a:r>
          </a:p>
          <a:p>
            <a:pPr lvl="0"/>
            <a:r>
              <a:rPr/>
              <a:t>☐ Convert a yearly slope into a more interpretable “per decade” rate</a:t>
            </a:r>
          </a:p>
          <a:p>
            <a:pPr lvl="0"/>
            <a:r>
              <a:rPr/>
              <a:t>☐ Use </a:t>
            </a:r>
            <a:r>
              <a:rPr>
                <a:latin typeface="Courier"/>
              </a:rPr>
              <a:t>case_when()</a:t>
            </a:r>
            <a:r>
              <a:rPr/>
              <a:t> to build a new multi-condition categorical variable</a:t>
            </a:r>
          </a:p>
          <a:p>
            <a:pPr lvl="0"/>
            <a:r>
              <a:rPr/>
              <a:t>☐ Filter to specific categories with </a:t>
            </a:r>
            <a:r>
              <a:rPr>
                <a:latin typeface="Courier"/>
              </a:rPr>
              <a:t>filter(x %in% c(...))</a:t>
            </a:r>
          </a:p>
          <a:p>
            <a:pPr lvl="0"/>
            <a:r>
              <a:rPr/>
              <a:t>☐ Fit and compare two group-specific regression models</a:t>
            </a:r>
          </a:p>
          <a:p>
            <a:pPr lvl="0" indent="0" marL="0">
              <a:buNone/>
            </a:pPr>
            <a:r>
              <a:rPr/>
              <a:t>✏️ </a:t>
            </a:r>
            <a:r>
              <a:rPr b="1"/>
              <a:t>Your turn — before you move on:</a:t>
            </a:r>
            <a:r>
              <a:rPr/>
              <a:t> Run your entire script with </a:t>
            </a:r>
            <a:r>
              <a:rPr b="1"/>
              <a:t>Ctrl/Cmd + Shift + Enter</a:t>
            </a:r>
            <a:r>
              <a:rPr/>
              <a:t>. Does it run from top to bottom without errors?</a:t>
            </a:r>
          </a:p>
          <a:p>
            <a:pPr lvl="0" indent="0">
              <a:buNone/>
            </a:pPr>
            <a:r>
              <a:rPr>
                <a:latin typeface="Courier"/>
              </a:rPr>
              <a:t>Ran cleanly?  Y / N
If not, what error appeared: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13 · Going further</a:t>
            </a:r>
          </a:p>
        </p:txBody>
      </p:sp>
      <p:sp>
        <p:nvSpPr>
          <p:cNvPr id="3" name="Content Placeholder 2"/>
          <p:cNvSpPr>
            <a:spLocks noGrp="1"/>
          </p:cNvSpPr>
          <p:nvPr>
            <p:ph idx="1"/>
          </p:nvPr>
        </p:nvSpPr>
        <p:spPr/>
        <p:txBody>
          <a:bodyPr/>
          <a:lstStyle/>
          <a:p>
            <a:pPr lvl="0" indent="0" marL="1270000">
              <a:buNone/>
            </a:pPr>
            <a:r>
              <a:rPr sz="2000"/>
              <a:t>This section is optional — work through it if you finish early or want to push deeper.</a:t>
            </a:r>
          </a:p>
          <a:p>
            <a:pPr lvl="0" indent="0" marL="0">
              <a:spcBef>
                <a:spcPts val="3000"/>
              </a:spcBef>
              <a:buNone/>
            </a:pPr>
            <a:r>
              <a:rPr b="1"/>
              <a:t>Try a different season split</a:t>
            </a:r>
          </a:p>
          <a:p>
            <a:pPr lvl="0" indent="0" marL="0">
              <a:buNone/>
            </a:pPr>
            <a:r>
              <a:rPr b="1"/>
              <a:t>▶ Try this:</a:t>
            </a:r>
            <a:r>
              <a:rPr/>
              <a:t> Instead of strict 3-month summer/winter, try defining seasons using meteorological vs. astronomical boundaries, or add a “spring” and “fall” category to the </a:t>
            </a:r>
            <a:r>
              <a:rPr>
                <a:latin typeface="Courier"/>
              </a:rPr>
              <a:t>case_when()</a:t>
            </a:r>
            <a:r>
              <a:rPr/>
              <a:t>.</a:t>
            </a:r>
          </a:p>
          <a:p>
            <a:pPr lvl="0" indent="0">
              <a:buNone/>
            </a:pPr>
            <a:r>
              <a:rPr>
                <a:solidFill>
                  <a:srgbClr val="5E5E5E"/>
                </a:solidFill>
                <a:latin typeface="Courier"/>
              </a:rPr>
              <a:t># Add all four seasons instead of just summer/winter -----------------</a:t>
            </a:r>
            <a:br/>
            <a:r>
              <a:rPr>
                <a:solidFill>
                  <a:srgbClr val="003B4F"/>
                </a:solidFill>
                <a:latin typeface="Courier"/>
              </a:rPr>
              <a:t>dlh_four_season_df &lt;- dlh_temp_df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MONTH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"spring"</a:t>
            </a:r>
            <a:r>
              <a:rPr>
                <a:solidFill>
                  <a:srgbClr val="003B4F"/>
                </a:solidFill>
                <a:latin typeface="Courier"/>
              </a:rPr>
              <a:t>,</a:t>
            </a:r>
            <a:br/>
            <a:r>
              <a:rPr>
                <a:solidFill>
                  <a:srgbClr val="003B4F"/>
                </a:solidFill>
                <a:latin typeface="Courier"/>
              </a:rPr>
              <a:t>      MONTH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"summer"</a:t>
            </a:r>
            <a:r>
              <a:rPr>
                <a:solidFill>
                  <a:srgbClr val="003B4F"/>
                </a:solidFill>
                <a:latin typeface="Courier"/>
              </a:rPr>
              <a:t>,</a:t>
            </a:r>
            <a:br/>
            <a:r>
              <a:rPr>
                <a:solidFill>
                  <a:srgbClr val="003B4F"/>
                </a:solidFill>
                <a:latin typeface="Courier"/>
              </a:rPr>
              <a:t>      MONTH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9</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"fall"</a:t>
            </a:r>
            <a:r>
              <a:rPr>
                <a:solidFill>
                  <a:srgbClr val="003B4F"/>
                </a:solidFill>
                <a:latin typeface="Courier"/>
              </a:rPr>
              <a:t>,</a:t>
            </a:r>
            <a:br/>
            <a:r>
              <a:rPr>
                <a:solidFill>
                  <a:srgbClr val="003B4F"/>
                </a:solidFill>
                <a:latin typeface="Courier"/>
              </a:rPr>
              <a:t>      MONTH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12</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"winter"</a:t>
            </a:r>
            <a:br/>
            <a:r>
              <a:rPr>
                <a:solidFill>
                  <a:srgbClr val="003B4F"/>
                </a:solidFill>
                <a:latin typeface="Courier"/>
              </a:rPr>
              <a:t>    )</a:t>
            </a:r>
            <a:br/>
            <a:r>
              <a:rPr>
                <a:solidFill>
                  <a:srgbClr val="003B4F"/>
                </a:solidFill>
                <a:latin typeface="Courier"/>
              </a:rPr>
              <a:t>  )</a:t>
            </a:r>
            <a:br/>
            <a:br/>
            <a:r>
              <a:rPr>
                <a:solidFill>
                  <a:srgbClr val="003B4F"/>
                </a:solidFill>
                <a:latin typeface="Courier"/>
              </a:rPr>
              <a:t>dlh_four_season_df </a:t>
            </a:r>
            <a:r>
              <a:rPr>
                <a:solidFill>
                  <a:srgbClr val="5E5E5E"/>
                </a:solidFill>
                <a:latin typeface="Courier"/>
              </a:rPr>
              <a:t>%&gt;%</a:t>
            </a:r>
            <a:r>
              <a:rPr>
                <a:solidFill>
                  <a:srgbClr val="003B4F"/>
                </a:solidFill>
                <a:latin typeface="Courier"/>
              </a:rPr>
              <a:t> </a:t>
            </a:r>
            <a:r>
              <a:rPr>
                <a:solidFill>
                  <a:srgbClr val="4758AB"/>
                </a:solidFill>
                <a:latin typeface="Courier"/>
              </a:rPr>
              <a:t>count</a:t>
            </a:r>
            <a:r>
              <a:rPr>
                <a:solidFill>
                  <a:srgbClr val="003B4F"/>
                </a:solidFill>
                <a:latin typeface="Courier"/>
              </a:rPr>
              <a:t>(season)</a:t>
            </a:r>
          </a:p>
          <a:p>
            <a:pPr lvl="0" indent="0" marL="0">
              <a:buNone/>
            </a:pPr>
            <a:r>
              <a:rPr/>
              <a:t>✏️ </a:t>
            </a:r>
            <a:r>
              <a:rPr b="1"/>
              <a:t>Your turn:</a:t>
            </a:r>
            <a:r>
              <a:rPr/>
              <a:t> Does adding spring and fall change your interpretation at all?</a:t>
            </a:r>
          </a:p>
          <a:p>
            <a:pPr lvl="0" indent="0">
              <a:buNone/>
            </a:pPr>
            <a:r>
              <a:rPr>
                <a:latin typeface="Courier"/>
              </a:rPr>
              <a:t>Your answer:</a:t>
            </a:r>
          </a:p>
          <a:p>
            <a:pPr lvl="0" indent="0" marL="0">
              <a:spcBef>
                <a:spcPts val="3000"/>
              </a:spcBef>
              <a:buNone/>
            </a:pPr>
            <a:r>
              <a:rPr b="1"/>
              <a:t>Look at snow instead of temperature</a:t>
            </a:r>
          </a:p>
          <a:p>
            <a:pPr lvl="0" indent="0" marL="0">
              <a:buNone/>
            </a:pPr>
            <a:r>
              <a:rPr b="1"/>
              <a:t>▶ Try this:</a:t>
            </a:r>
          </a:p>
          <a:p>
            <a:pPr lvl="0" indent="0">
              <a:buNone/>
            </a:pPr>
            <a:r>
              <a:rPr>
                <a:solidFill>
                  <a:srgbClr val="5E5E5E"/>
                </a:solidFill>
                <a:latin typeface="Courier"/>
              </a:rPr>
              <a:t># Explore snow/ice flag data -------------------------------------------</a:t>
            </a:r>
            <a:br/>
            <a:r>
              <a:rPr>
                <a:solidFill>
                  <a:srgbClr val="003B4F"/>
                </a:solidFill>
                <a:latin typeface="Courier"/>
              </a:rPr>
              <a:t>dlh_snow_df &lt;- dlh_temp_df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snow_mm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I_SNOW_ICE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PRCP,</a:t>
            </a:r>
            <a:b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8F5902"/>
                </a:solidFill>
                <a:latin typeface="Courier"/>
              </a:rPr>
              <a:t>NA</a:t>
            </a:r>
            <a:br/>
            <a:r>
              <a:rPr>
                <a:solidFill>
                  <a:srgbClr val="003B4F"/>
                </a:solidFill>
                <a:latin typeface="Courier"/>
              </a:rPr>
              <a:t>    )</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snow_mm =</a:t>
            </a:r>
            <a:r>
              <a:rPr>
                <a:solidFill>
                  <a:srgbClr val="003B4F"/>
                </a:solidFill>
                <a:latin typeface="Courier"/>
              </a:rPr>
              <a:t> </a:t>
            </a:r>
            <a:r>
              <a:rPr>
                <a:solidFill>
                  <a:srgbClr val="4758AB"/>
                </a:solidFill>
                <a:latin typeface="Courier"/>
              </a:rPr>
              <a:t>ifelse</a:t>
            </a:r>
            <a:r>
              <a:rPr>
                <a:solidFill>
                  <a:srgbClr val="003B4F"/>
                </a:solidFill>
                <a:latin typeface="Courier"/>
              </a:rPr>
              <a:t>(snow_mm </a:t>
            </a:r>
            <a:r>
              <a:rPr>
                <a:solidFill>
                  <a:srgbClr val="5E5E5E"/>
                </a:solidFill>
                <a:latin typeface="Courier"/>
              </a:rPr>
              <a:t>==</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8F5902"/>
                </a:solidFill>
                <a:latin typeface="Courier"/>
              </a:rPr>
              <a:t>NA</a:t>
            </a:r>
            <a:r>
              <a:rPr>
                <a:solidFill>
                  <a:srgbClr val="003B4F"/>
                </a:solidFill>
                <a:latin typeface="Courier"/>
              </a:rPr>
              <a:t>, snow_mm))</a:t>
            </a:r>
            <a:br/>
            <a:br/>
            <a:r>
              <a:rPr>
                <a:solidFill>
                  <a:srgbClr val="003B4F"/>
                </a:solidFill>
                <a:latin typeface="Courier"/>
              </a:rPr>
              <a:t>yearly_snow_df &lt;- dlh_snow_df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(YEAR)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sum_snow =</a:t>
            </a:r>
            <a:r>
              <a:rPr>
                <a:solidFill>
                  <a:srgbClr val="003B4F"/>
                </a:solidFill>
                <a:latin typeface="Courier"/>
              </a:rPr>
              <a:t> </a:t>
            </a:r>
            <a:r>
              <a:rPr>
                <a:solidFill>
                  <a:srgbClr val="4758AB"/>
                </a:solidFill>
                <a:latin typeface="Courier"/>
              </a:rPr>
              <a:t>sum</a:t>
            </a:r>
            <a:r>
              <a:rPr>
                <a:solidFill>
                  <a:srgbClr val="003B4F"/>
                </a:solidFill>
                <a:latin typeface="Courier"/>
              </a:rPr>
              <a:t>(snow_mm,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003B4F"/>
                </a:solidFill>
                <a:latin typeface="Courier"/>
              </a:rPr>
              <a:t>yearly_snow_df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YEAR, </a:t>
            </a:r>
            <a:r>
              <a:rPr>
                <a:solidFill>
                  <a:srgbClr val="657422"/>
                </a:solidFill>
                <a:latin typeface="Courier"/>
              </a:rPr>
              <a:t>y =</a:t>
            </a:r>
            <a:r>
              <a:rPr>
                <a:solidFill>
                  <a:srgbClr val="003B4F"/>
                </a:solidFill>
                <a:latin typeface="Courier"/>
              </a:rPr>
              <a:t> sum_snow))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"Year"</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"Total Yearly Snow (mm)"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Has total yearly snowfall changed over time the same way temperature has? Why might these two trends differ?</a:t>
            </a:r>
          </a:p>
          <a:p>
            <a:pPr lvl="0" indent="0">
              <a:buNone/>
            </a:pPr>
            <a:r>
              <a:rPr>
                <a:latin typeface="Courier"/>
              </a:rPr>
              <a:t>Your answer: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your </a:t>
            </a:r>
            <a:r>
              <a:rPr>
                <a:latin typeface="Courier"/>
              </a:rPr>
              <a:t>figures/</a:t>
            </a:r>
            <a:r>
              <a:rPr/>
              <a:t> folder should contain after this worksheet</a:t>
            </a:r>
          </a:p>
        </p:txBody>
      </p:sp>
      <p:sp>
        <p:nvSpPr>
          <p:cNvPr id="3" name="Content Placeholder 2"/>
          <p:cNvSpPr>
            <a:spLocks noGrp="1"/>
          </p:cNvSpPr>
          <p:nvPr>
            <p:ph idx="1"/>
          </p:nvPr>
        </p:nvSpPr>
        <p:spPr/>
        <p:txBody>
          <a:bodyPr/>
          <a:lstStyle/>
          <a:p>
            <a:pPr lvl="0" indent="0">
              <a:buNone/>
            </a:pPr>
            <a:r>
              <a:rPr>
                <a:latin typeface="Courier"/>
              </a:rPr>
              <a:t>figures/
├── raw_temp_plot.png        ← from Part 3
├── month_temp_plot.png      ← from Part 4
├── yearly_temp_plot.png     ← from Part 5
├── season_temp_plot.png     ← from Part 9</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342900" marL="342900">
              <a:buAutoNum type="arabicPeriod"/>
            </a:pPr>
            <a:r>
              <a:rPr b="1">
                <a:latin typeface="Courier"/>
              </a:rPr>
              <a:t>get_GSOD()</a:t>
            </a:r>
            <a:r>
              <a:rPr b="1"/>
              <a:t> taking forever / failing:</a:t>
            </a:r>
            <a:r>
              <a:rPr/>
              <a:t> check your internet connection — this function reaches out to NOAA’s servers. If it keeps failing, ask for the saved </a:t>
            </a:r>
            <a:r>
              <a:rPr>
                <a:latin typeface="Courier"/>
              </a:rPr>
              <a:t>.csv</a:t>
            </a:r>
            <a:r>
              <a:rPr/>
              <a:t> backup.</a:t>
            </a:r>
          </a:p>
          <a:p>
            <a:pPr lvl="0" indent="-342900" marL="342900">
              <a:buAutoNum type="arabicPeriod"/>
            </a:pPr>
            <a:r>
              <a:rPr b="1">
                <a:latin typeface="Courier"/>
              </a:rPr>
              <a:t>select()</a:t>
            </a:r>
            <a:r>
              <a:rPr b="1"/>
              <a:t> error — object not found:</a:t>
            </a:r>
            <a:r>
              <a:rPr/>
              <a:t> run </a:t>
            </a:r>
            <a:r>
              <a:rPr>
                <a:latin typeface="Courier"/>
              </a:rPr>
              <a:t>names(duluth_df)</a:t>
            </a:r>
            <a:r>
              <a:rPr/>
              <a:t> first to confirm exact column names; capitalization matters (</a:t>
            </a:r>
            <a:r>
              <a:rPr>
                <a:latin typeface="Courier"/>
              </a:rPr>
              <a:t>TEMP</a:t>
            </a:r>
            <a:r>
              <a:rPr/>
              <a:t>, not </a:t>
            </a:r>
            <a:r>
              <a:rPr>
                <a:latin typeface="Courier"/>
              </a:rPr>
              <a:t>temp</a:t>
            </a:r>
            <a:r>
              <a:rPr/>
              <a:t>).</a:t>
            </a:r>
          </a:p>
          <a:p>
            <a:pPr lvl="0" indent="-342900" marL="342900">
              <a:buAutoNum type="arabicPeriod"/>
            </a:pPr>
            <a:r>
              <a:rPr b="1">
                <a:latin typeface="Courier"/>
              </a:rPr>
              <a:t>case_when()</a:t>
            </a:r>
            <a:r>
              <a:rPr b="1"/>
              <a:t> returns all </a:t>
            </a:r>
            <a:r>
              <a:rPr b="1">
                <a:latin typeface="Courier"/>
              </a:rPr>
              <a:t>NA</a:t>
            </a:r>
            <a:r>
              <a:rPr b="1"/>
              <a:t>:</a:t>
            </a:r>
            <a:r>
              <a:rPr/>
              <a:t> check that your conditions use </a:t>
            </a:r>
            <a:r>
              <a:rPr>
                <a:latin typeface="Courier"/>
              </a:rPr>
              <a:t>%in%</a:t>
            </a:r>
            <a:r>
              <a:rPr/>
              <a:t> for multiple values (</a:t>
            </a:r>
            <a:r>
              <a:rPr>
                <a:latin typeface="Courier"/>
              </a:rPr>
              <a:t>MONTH %in% c(6,7,8)</a:t>
            </a:r>
            <a:r>
              <a:rPr/>
              <a:t>), not </a:t>
            </a:r>
            <a:r>
              <a:rPr>
                <a:latin typeface="Courier"/>
              </a:rPr>
              <a:t>==</a:t>
            </a:r>
            <a:r>
              <a:rPr/>
              <a:t> with a vector.</a:t>
            </a:r>
          </a:p>
          <a:p>
            <a:pPr lvl="0" indent="-342900" marL="342900">
              <a:buAutoNum type="arabicPeriod"/>
            </a:pPr>
            <a:r>
              <a:rPr b="1">
                <a:latin typeface="Courier"/>
              </a:rPr>
              <a:t>group_by()</a:t>
            </a:r>
            <a:r>
              <a:rPr b="1"/>
              <a:t> summary looks wrong:</a:t>
            </a:r>
            <a:r>
              <a:rPr/>
              <a:t> always check with </a:t>
            </a:r>
            <a:r>
              <a:rPr>
                <a:latin typeface="Courier"/>
              </a:rPr>
              <a:t>head()</a:t>
            </a:r>
            <a:r>
              <a:rPr/>
              <a:t> immediately after summarizing — did you group by the right combination of variables?</a:t>
            </a:r>
          </a:p>
          <a:p>
            <a:pPr lvl="0" indent="-342900" marL="342900">
              <a:buAutoNum type="arabicPeriod"/>
            </a:pPr>
            <a:r>
              <a:rPr b="1"/>
              <a:t>Plot legend missing or wrong colors:</a:t>
            </a:r>
            <a:r>
              <a:rPr/>
              <a:t> confirm </a:t>
            </a:r>
            <a:r>
              <a:rPr>
                <a:latin typeface="Courier"/>
              </a:rPr>
              <a:t>color = season</a:t>
            </a:r>
            <a:r>
              <a:rPr/>
              <a:t> is inside </a:t>
            </a:r>
            <a:r>
              <a:rPr>
                <a:latin typeface="Courier"/>
              </a:rPr>
              <a:t>aes()</a:t>
            </a:r>
            <a:r>
              <a:rPr/>
              <a:t>, and that </a:t>
            </a:r>
            <a:r>
              <a:rPr>
                <a:latin typeface="Courier"/>
              </a:rPr>
              <a:t>scale_color_manual()</a:t>
            </a:r>
            <a:r>
              <a:rPr/>
              <a:t> values exactly match your </a:t>
            </a:r>
            <a:r>
              <a:rPr>
                <a:latin typeface="Courier"/>
              </a:rPr>
              <a:t>case_when()</a:t>
            </a:r>
            <a:r>
              <a:rPr/>
              <a:t> labels (</a:t>
            </a:r>
            <a:r>
              <a:rPr>
                <a:latin typeface="Courier"/>
              </a:rPr>
              <a:t>"summer"</a:t>
            </a:r>
            <a:r>
              <a:rPr/>
              <a:t>, </a:t>
            </a:r>
            <a:r>
              <a:rPr>
                <a:latin typeface="Courier"/>
              </a:rPr>
              <a:t>"winter"</a:t>
            </a:r>
            <a:r>
              <a:rPr/>
              <a:t>).</a:t>
            </a:r>
          </a:p>
          <a:p>
            <a:pPr lvl="0" indent="-342900" marL="342900">
              <a:buAutoNum type="arabicPeriod"/>
            </a:pPr>
            <a:r>
              <a:rPr b="1"/>
              <a:t>Cheat sheets</a:t>
            </a:r>
            <a:r>
              <a:rPr/>
              <a:t> — </a:t>
            </a:r>
            <a:r>
              <a:rPr>
                <a:hlinkClick r:id="rId2"/>
              </a:rPr>
              <a:t>https://posit.co/resources/cheatsheets/</a:t>
            </a:r>
          </a:p>
          <a:p>
            <a:pPr lvl="0" indent="0" marL="1270000">
              <a:buNone/>
            </a:pPr>
            <a:r>
              <a:rPr sz="2000"/>
              <a:t>💡 </a:t>
            </a:r>
            <a:r>
              <a:rPr sz="2000" b="1"/>
              <a:t>Key idea:</a:t>
            </a:r>
            <a:r>
              <a:rPr sz="2000"/>
              <a:t> Notice you never opened Excel for any of this — download, trim, plot, summarize, and model all happened inside the same R session. That’s the habit worth keeping for your final project, whatever data source you end up pulling from.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End of Worksheet 06. Next: Homework — repeat this entire workflow for a city of your choice and compare your city’s warming rate to Duluth’s.</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Worksheet 06 — Real Climate Data in R</dc:title>
  <dc:creator>Bill Perry</dc:creator>
  <cp:keywords/>
  <dc:description>Summarizing data and using an API and more R</dc:description>
  <dcterms:created xsi:type="dcterms:W3CDTF">2026-08-27T17:13:07Z</dcterms:created>
  <dcterms:modified xsi:type="dcterms:W3CDTF">2026-08-27T17:13:07Z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date">
    <vt:lpwstr>2026-08-27</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12</vt:lpwstr>
  </property>
  <property fmtid="{D5CDD505-2E9C-101B-9397-08002B2CF9AE}" pid="13" name="resources">
    <vt:lpwstr/>
  </property>
  <property fmtid="{D5CDD505-2E9C-101B-9397-08002B2CF9AE}" pid="14" name="subtitle">
    <vt:lpwstr>Downloading, summarizing, and modeling Duluth weather station data</vt:lpwstr>
  </property>
  <property fmtid="{D5CDD505-2E9C-101B-9397-08002B2CF9AE}" pid="15" name="toc-title">
    <vt:lpwstr>Table of contents</vt:lpwstr>
  </property>
  <property fmtid="{D5CDD505-2E9C-101B-9397-08002B2CF9AE}" pid="16" name="type">
    <vt:lpwstr>activity</vt:lpwstr>
  </property>
  <property fmtid="{D5CDD505-2E9C-101B-9397-08002B2CF9AE}" pid="17" name="week">
    <vt:lpwstr>6</vt:lpwstr>
  </property>
</Properties>
</file>