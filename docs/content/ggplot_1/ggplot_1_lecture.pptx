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GGPlot 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Grouped summaries, facets, and the pipe into ggplot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 — Meeting 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Project structure</a:t>
            </a:r>
            <a:r>
              <a:rPr/>
              <a:t> —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 b="1"/>
              <a:t>Packages</a:t>
            </a:r>
            <a:r>
              <a:rPr/>
              <a:t> — </a:t>
            </a:r>
            <a:r>
              <a:rPr>
                <a:latin typeface="Courier"/>
              </a:rPr>
              <a:t>install.packages()</a:t>
            </a:r>
            <a:r>
              <a:rPr/>
              <a:t> once, </a:t>
            </a:r>
            <a:r>
              <a:rPr>
                <a:latin typeface="Courier"/>
              </a:rPr>
              <a:t>library()</a:t>
            </a:r>
            <a:r>
              <a:rPr/>
              <a:t> every session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,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 b="1"/>
              <a:t>The 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</a:t>
            </a:r>
          </a:p>
          <a:p>
            <a:pPr lvl="0"/>
            <a:r>
              <a:rPr b="1"/>
              <a:t>Our first plot</a:t>
            </a:r>
            <a:r>
              <a:rPr/>
              <a:t> — a bare </a:t>
            </a:r>
            <a:r>
              <a:rPr>
                <a:latin typeface="Courier"/>
              </a:rPr>
              <a:t>geom_point()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already load data and make one honest point on a page. Today that one geom becomes a whole toolkit: custom colors, side-by-side panels, and a proper mean ± SE summary.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Start every plot with the pipe: </a:t>
            </a:r>
            <a:r>
              <a:rPr>
                <a:latin typeface="Courier"/>
              </a:rPr>
              <a:t>tree_df %&gt;% ggplot(...)</a:t>
            </a:r>
          </a:p>
          <a:p>
            <a:pPr lvl="0"/>
            <a:r>
              <a:rPr/>
              <a:t>Assign colors on purpose with </a:t>
            </a:r>
            <a:r>
              <a:rPr>
                <a:latin typeface="Courier"/>
              </a:rPr>
              <a:t>scale_color_manual()</a:t>
            </a:r>
          </a:p>
          <a:p>
            <a:pPr lvl="0"/>
            <a:r>
              <a:rPr/>
              <a:t>Split one plot into panels with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</a:p>
          <a:p>
            <a:pPr lvl="0"/>
            <a:r>
              <a:rPr/>
              <a:t>Build a </a:t>
            </a:r>
            <a:r>
              <a:rPr b="1"/>
              <a:t>mean ± SE plot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make a publication-style figure: raw leaf data, grouped and colored on purpose, with the mean and its uncertainty layered on top.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three short chunks</a:t>
            </a:r>
            <a:r>
              <a:rPr/>
              <a:t>. After each chunk you switch to the activity worksheet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facet_wrap()</a:t>
            </a:r>
            <a:r>
              <a:rPr sz="2000"/>
              <a:t> and </a:t>
            </a:r>
            <a:r>
              <a:rPr sz="2000">
                <a:latin typeface="Courier"/>
              </a:rPr>
              <a:t>facet_grid()</a:t>
            </a:r>
            <a:r>
              <a:rPr sz="2000"/>
              <a:t> look interchangeable until you’ve typed both and watched one wrap into rows while the other insists on a strict grid.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scale_color_manual(values = c(...))</a:t>
            </a:r>
            <a:r>
              <a:rPr sz="2000"/>
              <a:t> yourself is what makes you notice the color names have to match your group names </a:t>
            </a:r>
            <a:r>
              <a:rPr sz="2000" i="1"/>
              <a:t>exactly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20
Columns: 5
$ index     &lt;dbl&gt; 1, 2, 3, 4, 5, 6, 7, 8, 9, 10, 11, 12, 13, 14, 15, 16, 17, 1…
$ side      &lt;chr&gt; "sunny", "sunny", "sunny", "sunny", "sunny", "sunny", "sunny…
$ weight_g  &lt;dbl&gt; 4, 3, 5, 3, 4, 3, 5, 4, 3, 4, 7, 8, 6, 9, 8, 7, 8, 9, 9, 7
$ width_cm  &lt;dbl&gt; 12, 14, 12, 13, 15, 13, 16, 13, 14, 15, 9, 18, 17, 18, 19, 1…
$ height_cm &lt;dbl&gt; 21, 22, 21, 23, 22, 23, 21, 24, 23, 23, 28, 29, 27, 28, 27, …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Piping into ggplot, on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starting a plot with the pipe, and choosing colors with </a:t>
            </a:r>
            <a:r>
              <a:rPr>
                <a:latin typeface="Courier"/>
              </a:rPr>
              <a:t>scale_color_manual()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Plot Starts the Same Way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Pipe the data frame straight into ggplot()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1_lecture_files/figure-pptx/pipe-into-gg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tree_df %&gt;% ggplot(...)</a:t>
            </a:r>
            <a:r>
              <a:rPr/>
              <a:t> reads as </a:t>
            </a:r>
            <a:r>
              <a:rPr i="1"/>
              <a:t>“take </a:t>
            </a:r>
            <a:r>
              <a:rPr i="1">
                <a:latin typeface="Courier"/>
              </a:rPr>
              <a:t>tree_df</a:t>
            </a:r>
            <a:r>
              <a:rPr i="1"/>
              <a:t>, then plot it”</a:t>
            </a:r>
            <a:r>
              <a:rPr/>
              <a:t> — the same pipe you’ve already used</a:t>
            </a:r>
          </a:p>
          <a:p>
            <a:pPr lvl="0"/>
            <a:r>
              <a:rPr/>
              <a:t>Everything after </a:t>
            </a:r>
            <a:r>
              <a:rPr>
                <a:latin typeface="Courier"/>
              </a:rPr>
              <a:t>ggplot()</a:t>
            </a:r>
            <a:r>
              <a:rPr/>
              <a:t> is added with </a:t>
            </a:r>
            <a:r>
              <a:rPr>
                <a:latin typeface="Courier"/>
              </a:rPr>
              <a:t>+</a:t>
            </a:r>
            <a:r>
              <a:rPr/>
              <a:t>, not </a:t>
            </a:r>
            <a:r>
              <a:rPr>
                <a:latin typeface="Courier"/>
              </a:rPr>
              <a:t>%&gt;%</a:t>
            </a:r>
            <a:r>
              <a:rPr/>
              <a:t> — </a:t>
            </a:r>
            <a:r>
              <a:rPr b="1"/>
              <a:t>ggplot layers use plus, pipelines use the pipe</a:t>
            </a:r>
          </a:p>
          <a:p>
            <a:pPr lvl="0"/>
            <a:r>
              <a:rPr>
                <a:latin typeface="Courier"/>
              </a:rPr>
              <a:t>fill = side</a:t>
            </a:r>
            <a:r>
              <a:rPr/>
              <a:t> maps a </a:t>
            </a:r>
            <a:r>
              <a:rPr b="1"/>
              <a:t>column</a:t>
            </a:r>
            <a:r>
              <a:rPr/>
              <a:t> to color — ggplot chooses the colors </a:t>
            </a:r>
            <a:r>
              <a:rPr i="1"/>
              <a:t>for</a:t>
            </a:r>
            <a:r>
              <a:rPr/>
              <a:t> you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%&gt;%</a:t>
            </a:r>
            <a:r>
              <a:rPr sz="2000"/>
              <a:t> connects data-wrangling steps. </a:t>
            </a:r>
            <a:r>
              <a:rPr sz="2000">
                <a:latin typeface="Courier"/>
              </a:rPr>
              <a:t>+</a:t>
            </a:r>
            <a:r>
              <a:rPr sz="2000"/>
              <a:t> connects plot layers. Mixing them up is the single most common ggplot error.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Colors on Purpose — </a:t>
            </a:r>
            <a:r>
              <a:rPr>
                <a:latin typeface="Courier"/>
              </a:rPr>
              <a:t>scale_color_manual()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needs one color per group. We have two groups (</a:t>
            </a:r>
            <a:r>
              <a:rPr sz="2000">
                <a:latin typeface="Courier"/>
              </a:rPr>
              <a:t>sunny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). How many colors do we need to supply?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scale_fill_manual() assigns exact colors to exact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cale-manual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— for </a:t>
            </a:r>
            <a:r>
              <a:rPr>
                <a:latin typeface="Courier"/>
              </a:rPr>
              <a:t>fill =</a:t>
            </a:r>
            <a:r>
              <a:rPr/>
              <a:t> aesthetics (boxes, bars, columns)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— for </a:t>
            </a:r>
            <a:r>
              <a:rPr>
                <a:latin typeface="Courier"/>
              </a:rPr>
              <a:t>color =</a:t>
            </a:r>
            <a:r>
              <a:rPr/>
              <a:t> aesthetics (points, lines)</a:t>
            </a:r>
          </a:p>
          <a:p>
            <a:pPr lvl="0"/>
            <a:r>
              <a:rPr/>
              <a:t>The </a:t>
            </a:r>
            <a:r>
              <a:rPr b="1"/>
              <a:t>names inside </a:t>
            </a:r>
            <a:r>
              <a:rPr b="1">
                <a:latin typeface="Courier"/>
              </a:rPr>
              <a:t>c()</a:t>
            </a:r>
            <a:r>
              <a:rPr b="1"/>
              <a:t> must exactly match</a:t>
            </a:r>
            <a:r>
              <a:rPr/>
              <a:t> the values in your data (</a:t>
            </a:r>
            <a:r>
              <a:rPr>
                <a:latin typeface="Courier"/>
              </a:rPr>
              <a:t>"sunny"</a:t>
            </a:r>
            <a:r>
              <a:rPr/>
              <a:t>, </a:t>
            </a:r>
            <a:r>
              <a:rPr>
                <a:latin typeface="Courier"/>
              </a:rPr>
              <a:t>"shady"</a:t>
            </a:r>
            <a:r>
              <a:rPr/>
              <a:t>) — case and spelling both count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name in </a:t>
            </a:r>
            <a:r>
              <a:rPr sz="2000">
                <a:latin typeface="Courier"/>
              </a:rPr>
              <a:t>values = c(...)</a:t>
            </a:r>
            <a:r>
              <a:rPr sz="2000"/>
              <a:t> doesn’t match a value in your data exactly, that group’s color falls back to grey and ggplot prints a warning.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Pipe into </a:t>
            </a:r>
            <a:r>
              <a:rPr>
                <a:latin typeface="Courier"/>
              </a:rPr>
              <a:t>ggplot()</a:t>
            </a:r>
            <a:r>
              <a:rPr/>
              <a:t>, then assign sunny/shady their own colors with </a:t>
            </a:r>
            <a:r>
              <a:rPr>
                <a:latin typeface="Courier"/>
              </a:rPr>
              <a:t>scale_fill_manual()</a:t>
            </a:r>
            <a:r>
              <a:rPr/>
              <a:t>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Small Multiples with Facets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splitting one plot into a panel per group.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facet_wrap()</a:t>
            </a:r>
            <a:r>
              <a:rPr/>
              <a:t>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facet_wrap() splits into one panel per level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 Distribution by 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wrap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~side</a:t>
            </a:r>
            <a:r>
              <a:rPr/>
              <a:t> reads as </a:t>
            </a:r>
            <a:r>
              <a:rPr i="1"/>
              <a:t>“by side”</a:t>
            </a:r>
            <a:r>
              <a:rPr/>
              <a:t> — the </a:t>
            </a:r>
            <a:r>
              <a:rPr>
                <a:latin typeface="Courier"/>
              </a:rPr>
              <a:t>~</a:t>
            </a:r>
            <a:r>
              <a:rPr/>
              <a:t> is required</a:t>
            </a:r>
          </a:p>
          <a:p>
            <a:pPr lvl="0"/>
            <a:r>
              <a:rPr/>
              <a:t>Each panel gets its </a:t>
            </a:r>
            <a:r>
              <a:rPr b="1"/>
              <a:t>own copy of the plot</a:t>
            </a:r>
            <a:r>
              <a:rPr/>
              <a:t>, filtered to that group</a:t>
            </a:r>
          </a:p>
          <a:p>
            <a:pPr lvl="0"/>
            <a:r>
              <a:rPr>
                <a:latin typeface="Courier"/>
              </a:rPr>
              <a:t>facet_wrap(~side, scales = "free_y")</a:t>
            </a:r>
            <a:r>
              <a:rPr/>
              <a:t> lets each panel’s y-axis rescale independently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facet_grid()</a:t>
            </a:r>
            <a:r>
              <a:rPr/>
              <a:t> — a Strict Rows-and-Columns Grid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facet_grid(rows ~ cols) — use "." for "no grouping"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.)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grid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facet_grid(side ~ .)</a:t>
            </a:r>
            <a:r>
              <a:rPr/>
              <a:t> stacks panels in </a:t>
            </a:r>
            <a:r>
              <a:rPr b="1"/>
              <a:t>rows</a:t>
            </a:r>
            <a:r>
              <a:rPr/>
              <a:t>; </a:t>
            </a:r>
            <a:r>
              <a:rPr>
                <a:latin typeface="Courier"/>
              </a:rPr>
              <a:t>facet_grid(. ~ side)</a:t>
            </a:r>
            <a:r>
              <a:rPr/>
              <a:t> arranges them in </a:t>
            </a:r>
            <a:r>
              <a:rPr b="1"/>
              <a:t>columns</a:t>
            </a:r>
          </a:p>
          <a:p>
            <a:pPr lvl="0"/>
            <a:r>
              <a:rPr/>
              <a:t>The dot </a:t>
            </a:r>
            <a:r>
              <a:rPr>
                <a:latin typeface="Courier"/>
              </a:rPr>
              <a:t>.</a:t>
            </a:r>
            <a:r>
              <a:rPr/>
              <a:t> means “nothing on this side of the grid”</a:t>
            </a:r>
          </a:p>
          <a:p>
            <a:pPr lvl="0"/>
            <a:r>
              <a:rPr>
                <a:latin typeface="Courier"/>
              </a:rPr>
              <a:t>facet_grid()</a:t>
            </a:r>
            <a:r>
              <a:rPr/>
              <a:t> really shines with </a:t>
            </a:r>
            <a:r>
              <a:rPr b="1"/>
              <a:t>two</a:t>
            </a:r>
            <a:r>
              <a:rPr/>
              <a:t> grouping variables (</a:t>
            </a:r>
            <a:r>
              <a:rPr>
                <a:latin typeface="Courier"/>
              </a:rPr>
              <a:t>rows ~ cols</a:t>
            </a:r>
            <a:r>
              <a:rPr/>
              <a:t>) — we only have one (</a:t>
            </a:r>
            <a:r>
              <a:rPr>
                <a:latin typeface="Courier"/>
              </a:rPr>
              <a:t>side</a:t>
            </a:r>
            <a:r>
              <a:rPr/>
              <a:t>) today, but you’ll use the two-variable form the moment your data has a second grouping column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💡 </a:t>
            </a:r>
            <a:r>
              <a:rPr sz="2000" b="1">
                <a:latin typeface="Courier"/>
              </a:rPr>
              <a:t>facet_wrap</a:t>
            </a:r>
            <a:r>
              <a:rPr sz="2000" b="1"/>
              <a:t> vs </a:t>
            </a:r>
            <a:r>
              <a:rPr sz="2000" b="1">
                <a:latin typeface="Courier"/>
              </a:rPr>
              <a:t>facet_grid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facet_wrap()</a:t>
            </a:r>
            <a:r>
              <a:rPr sz="2000"/>
              <a:t> for one grouping variable — it wraps panels into a grid automatically. Use </a:t>
            </a:r>
            <a:r>
              <a:rPr sz="2000">
                <a:latin typeface="Courier"/>
              </a:rPr>
              <a:t>facet_grid()</a:t>
            </a:r>
            <a:r>
              <a:rPr sz="2000"/>
              <a:t> when you have two variables and want rows and columns to each mean something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Build both a </a:t>
            </a:r>
            <a:r>
              <a:rPr>
                <a:latin typeface="Courier"/>
              </a:rPr>
              <a:t>facet_wrap()</a:t>
            </a:r>
            <a:r>
              <a:rPr/>
              <a:t> and a </a:t>
            </a:r>
            <a:r>
              <a:rPr>
                <a:latin typeface="Courier"/>
              </a:rPr>
              <a:t>facet_grid()</a:t>
            </a:r>
            <a:r>
              <a:rPr/>
              <a:t> version of the histogram. Predict, type, run.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Mean ± SE with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layering a group mean and its standard error directly on top of raw data — no summary table needed.</a:t>
            </a:r>
          </a:p>
          <a:p>
            <a:pPr lvl="0" indent="0" marL="0">
              <a:buNone/>
            </a:pPr>
            <a:r>
              <a:rPr b="1"/>
              <a:t>🛑 After this chunk you will do Activity Parts 4–5.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the Mean as a Layer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the mean straight from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with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tat-summary-mea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stat_summary()</a:t>
            </a:r>
            <a:r>
              <a:rPr/>
              <a:t> computes a statistic </a:t>
            </a:r>
            <a:r>
              <a:rPr b="1"/>
              <a:t>from the raw data</a:t>
            </a:r>
            <a:r>
              <a:rPr/>
              <a:t> and draws it — no pre-built summary table needed</a:t>
            </a:r>
          </a:p>
          <a:p>
            <a:pPr lvl="0"/>
            <a:r>
              <a:rPr>
                <a:latin typeface="Courier"/>
              </a:rPr>
              <a:t>fun = mean</a:t>
            </a:r>
            <a:r>
              <a:rPr/>
              <a:t> — any function that returns one number (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median</a:t>
            </a:r>
            <a:r>
              <a:rPr/>
              <a:t>, </a:t>
            </a:r>
            <a:r>
              <a:rPr>
                <a:latin typeface="Courier"/>
              </a:rPr>
              <a:t>max</a:t>
            </a:r>
            <a:r>
              <a:rPr/>
              <a:t>, …)</a:t>
            </a:r>
          </a:p>
          <a:p>
            <a:pPr lvl="0"/>
            <a:r>
              <a:rPr>
                <a:latin typeface="Courier"/>
              </a:rPr>
              <a:t>geom = "point"</a:t>
            </a:r>
            <a:r>
              <a:rPr/>
              <a:t> — draw that number as a point</a:t>
            </a:r>
          </a:p>
          <a:p>
            <a:pPr lvl="0"/>
            <a:r>
              <a:rPr/>
              <a:t>Put </a:t>
            </a:r>
            <a:r>
              <a:rPr>
                <a:latin typeface="Courier"/>
              </a:rPr>
              <a:t>geom_jitter()</a:t>
            </a:r>
            <a:r>
              <a:rPr/>
              <a:t> </a:t>
            </a:r>
            <a:r>
              <a:rPr b="1"/>
              <a:t>before</a:t>
            </a:r>
            <a:r>
              <a:rPr/>
              <a:t> </a:t>
            </a:r>
            <a:r>
              <a:rPr>
                <a:latin typeface="Courier"/>
              </a:rPr>
              <a:t>stat_summary()</a:t>
            </a:r>
            <a:r>
              <a:rPr/>
              <a:t> so the mean sits on top of the raw points, not buried under them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Mean ± 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returns three numbers per group instead of one (the mean, and the bar’s top and bottom). What do you think those three are called?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fun.data = returns THREE values: y, ymin, ymax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tree_mean_se_plot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tree_mean_se_plot</a:t>
            </a:r>
          </a:p>
        </p:txBody>
      </p:sp>
      <p:pic>
        <p:nvPicPr>
          <p:cNvPr descr="ggplot_1_lecture_files/figure-pptx/stat-summary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layers, stacked: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Raw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3 — Parts 4–5</a:t>
            </a:r>
          </a:p>
          <a:p>
            <a:pPr lvl="0" indent="0" marL="0">
              <a:buNone/>
            </a:pPr>
            <a:r>
              <a:rPr/>
              <a:t>Close the slides. Build your own mean ± SE plot, then save it to </a:t>
            </a:r>
            <a:r>
              <a:rPr>
                <a:latin typeface="Courier"/>
              </a:rPr>
              <a:t>figures/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Pipe straight into a plot: </a:t>
            </a:r>
            <a:r>
              <a:rPr>
                <a:latin typeface="Courier"/>
              </a:rPr>
              <a:t>tree_df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choose, not colors ggplot guesses</a:t>
            </a:r>
          </a:p>
          <a:p>
            <a:pPr lvl="0"/>
            <a:r>
              <a:rPr>
                <a:latin typeface="Courier"/>
              </a:rPr>
              <a:t>facet_wrap(~var)</a:t>
            </a:r>
            <a:r>
              <a:rPr/>
              <a:t> — one panel per group, wraps automatically</a:t>
            </a:r>
          </a:p>
          <a:p>
            <a:pPr lvl="0"/>
            <a:r>
              <a:rPr>
                <a:latin typeface="Courier"/>
              </a:rPr>
              <a:t>facet_grid(rows ~ cols)</a:t>
            </a:r>
            <a:r>
              <a:rPr/>
              <a:t> — strict grid, best with two grouping variables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directly from raw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 b="1"/>
              <a:t>Up next — Lecture 04, GGPlot II:</a:t>
            </a:r>
          </a:p>
          <a:p>
            <a:pPr lvl="0"/>
            <a:r>
              <a:rPr/>
              <a:t>More geoms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vs. </a:t>
            </a:r>
            <a:r>
              <a:rPr>
                <a:latin typeface="Courier"/>
              </a:rPr>
              <a:t>xlim()</a:t>
            </a:r>
          </a:p>
          <a:p>
            <a:pPr lvl="0"/>
            <a:r>
              <a:rPr/>
              <a:t>Themes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GGPlot I</dc:title>
  <dc:creator>Bill Perry</dc:creator>
  <cp:keywords/>
  <dc:description>Custom colors with scale_color_manual(), splitting plots into panels with facet_wrap()/facet_grid(), and building a mean ± SE plot with stat_summary() — all piped straight into ggplot().</dc:description>
  <dcterms:created xsi:type="dcterms:W3CDTF">2026-09-08T13:17:43Z</dcterms:created>
  <dcterms:modified xsi:type="dcterms:W3CDTF">2026-09-08T13:17:43Z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Grouped summaries, facets, and the pipe into ggplot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