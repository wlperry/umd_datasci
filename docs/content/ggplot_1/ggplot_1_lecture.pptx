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visualize" TargetMode="External" /><Relationship Id="rId3" Type="http://schemas.openxmlformats.org/officeDocument/2006/relationships/hyperlink" Target="https://r4ds.hadley.nz/layer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" TargetMode="Externa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visualize" TargetMode="External" /><Relationship Id="rId3" Type="http://schemas.openxmlformats.org/officeDocument/2006/relationships/hyperlink" Target="https://r4ds.hadley.nz/layer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 — GGPlot 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Grouped summaries, facets, and the pipe into ggplot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02 — Meeting 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Project structure</a:t>
            </a:r>
            <a:r>
              <a:rPr/>
              <a:t> — 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</a:p>
          <a:p>
            <a:pPr lvl="0"/>
            <a:r>
              <a:rPr b="1"/>
              <a:t>Packages</a:t>
            </a:r>
            <a:r>
              <a:rPr/>
              <a:t> — </a:t>
            </a:r>
            <a:r>
              <a:rPr>
                <a:latin typeface="Courier"/>
              </a:rPr>
              <a:t>install.packages()</a:t>
            </a:r>
            <a:r>
              <a:rPr/>
              <a:t> once, </a:t>
            </a:r>
            <a:r>
              <a:rPr>
                <a:latin typeface="Courier"/>
              </a:rPr>
              <a:t>library()</a:t>
            </a:r>
            <a:r>
              <a:rPr/>
              <a:t> every session</a:t>
            </a:r>
          </a:p>
          <a:p>
            <a:pPr lvl="0"/>
            <a:r>
              <a:rPr b="1"/>
              <a:t>Loading data</a:t>
            </a:r>
            <a:r>
              <a:rPr/>
              <a:t> — </a:t>
            </a:r>
            <a:r>
              <a:rPr>
                <a:latin typeface="Courier"/>
              </a:rPr>
              <a:t>read_excel()</a:t>
            </a:r>
            <a:r>
              <a:rPr/>
              <a:t>, </a:t>
            </a:r>
            <a:r>
              <a:rPr>
                <a:latin typeface="Courier"/>
              </a:rPr>
              <a:t>clean_names()</a:t>
            </a:r>
            <a:r>
              <a:rPr/>
              <a:t> into </a:t>
            </a:r>
            <a:r>
              <a:rPr>
                <a:latin typeface="Courier"/>
              </a:rPr>
              <a:t>leaf_df</a:t>
            </a:r>
          </a:p>
          <a:p>
            <a:pPr lvl="0"/>
            <a:r>
              <a:rPr b="1"/>
              <a:t>The pipe</a:t>
            </a:r>
            <a:r>
              <a:rPr/>
              <a:t> — </a:t>
            </a:r>
            <a:r>
              <a:rPr>
                <a:latin typeface="Courier"/>
              </a:rPr>
              <a:t>%&gt;%</a:t>
            </a:r>
            <a:r>
              <a:rPr/>
              <a:t> reads as “then”</a:t>
            </a:r>
          </a:p>
          <a:p>
            <a:pPr lvl="0"/>
            <a:r>
              <a:rPr b="1"/>
              <a:t>Our first plot</a:t>
            </a:r>
            <a:r>
              <a:rPr/>
              <a:t> — a bare </a:t>
            </a:r>
            <a:r>
              <a:rPr>
                <a:latin typeface="Courier"/>
              </a:rPr>
              <a:t>geom_point()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02</a:t>
            </a:r>
          </a:p>
          <a:p>
            <a:pPr lvl="0" indent="0" marL="1270000">
              <a:buNone/>
            </a:pPr>
            <a:r>
              <a:rPr sz="2000"/>
              <a:t>You can already load data and make one honest point on a page. Today that one geom becomes a whole toolkit: custom colors, side-by-side panels, and a proper mean ± SE summary.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Start every plot with the pipe: </a:t>
            </a:r>
            <a:r>
              <a:rPr>
                <a:latin typeface="Courier"/>
              </a:rPr>
              <a:t>leaf_df %&gt;% ggplot(...)</a:t>
            </a:r>
          </a:p>
          <a:p>
            <a:pPr lvl="0"/>
            <a:r>
              <a:rPr/>
              <a:t>Assign colors on purpose with </a:t>
            </a:r>
            <a:r>
              <a:rPr>
                <a:latin typeface="Courier"/>
              </a:rPr>
              <a:t>scale_color_manual()</a:t>
            </a:r>
          </a:p>
          <a:p>
            <a:pPr lvl="0"/>
            <a:r>
              <a:rPr/>
              <a:t>Split one plot into panels with </a:t>
            </a:r>
            <a:r>
              <a:rPr>
                <a:latin typeface="Courier"/>
              </a:rPr>
              <a:t>facet_wrap()</a:t>
            </a:r>
            <a:r>
              <a:rPr/>
              <a:t> and </a:t>
            </a:r>
            <a:r>
              <a:rPr>
                <a:latin typeface="Courier"/>
              </a:rPr>
              <a:t>facet_grid()</a:t>
            </a:r>
          </a:p>
          <a:p>
            <a:pPr lvl="0"/>
            <a:r>
              <a:rPr/>
              <a:t>Build a </a:t>
            </a:r>
            <a:r>
              <a:rPr b="1"/>
              <a:t>mean ± SE plot</a:t>
            </a:r>
            <a:r>
              <a:rPr/>
              <a:t> with </a:t>
            </a:r>
            <a:r>
              <a:rPr>
                <a:latin typeface="Courier"/>
              </a:rPr>
              <a:t>stat_summary()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make a publication-style figure: raw leaf data, grouped and colored on purpose, with the mean and its uncertainty layered on top.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Whitlock &amp; Schluter, Ch. 2 — </a:t>
            </a:r>
            <a:r>
              <a:rPr i="1"/>
              <a:t>Displaying Data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1</a:t>
            </a:r>
            <a:r>
              <a:rPr/>
              <a:t> — Data Visualization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9</a:t>
            </a:r>
            <a:r>
              <a:rPr/>
              <a:t> — Layers</a:t>
            </a:r>
          </a:p>
          <a:p>
            <a:pPr lvl="0" indent="0" marL="0">
              <a:buNone/>
            </a:pPr>
            <a:r>
              <a:rPr/>
              <a:t>Both PDFs are in the course </a:t>
            </a:r>
            <a:r>
              <a:rPr>
                <a:latin typeface="Courier"/>
              </a:rPr>
              <a:t>readings/</a:t>
            </a:r>
            <a:r>
              <a:rPr/>
              <a:t> folder.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three short chunks</a:t>
            </a:r>
            <a:r>
              <a:rPr/>
              <a:t>. After each chunk you switch to the activity and type the code yourself into your R script.</a:t>
            </a:r>
          </a:p>
          <a:p>
            <a:pPr lvl="0" indent="0" marL="0">
              <a:buNone/>
            </a:pPr>
            <a:r>
              <a:rPr b="1"/>
              <a:t>For every code block,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runs, say what you think the output will be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it out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</a:t>
            </a:r>
          </a:p>
          <a:p>
            <a:pPr lvl="0"/>
            <a:r>
              <a:rPr sz="2000">
                <a:latin typeface="Courier"/>
              </a:rPr>
              <a:t>facet_wrap()</a:t>
            </a:r>
            <a:r>
              <a:rPr sz="2000"/>
              <a:t> and </a:t>
            </a:r>
            <a:r>
              <a:rPr sz="2000">
                <a:latin typeface="Courier"/>
              </a:rPr>
              <a:t>facet_grid()</a:t>
            </a:r>
            <a:r>
              <a:rPr sz="2000"/>
              <a:t> look interchangeable until you’ve typed both and watched one wrap into rows while the other insists on a strict grid.</a:t>
            </a:r>
          </a:p>
          <a:p>
            <a:pPr lvl="0"/>
            <a:r>
              <a:rPr sz="2000"/>
              <a:t>Typing </a:t>
            </a:r>
            <a:r>
              <a:rPr sz="2000">
                <a:latin typeface="Courier"/>
              </a:rPr>
              <a:t>scale_color_manual(values = c(...))</a:t>
            </a:r>
            <a:r>
              <a:rPr sz="2000"/>
              <a:t> yourself is what makes you notice the color names have to match your group names </a:t>
            </a:r>
            <a:r>
              <a:rPr sz="2000" i="1"/>
              <a:t>exactly</a:t>
            </a:r>
            <a:r>
              <a:rPr sz="2000"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cleans up messy column names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leaf data from the data folder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(leaf_df)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53
Columns: 8
$ twig_id      &lt;chr&gt; NA, NA, NA, NA, NA, NA, NA, NA, NA, NA, NA…
$ leaf_id      &lt;chr&gt; NA, NA, NA, NA, NA, NA, NA, NA, NA, NA, NA…
$ teams        &lt;chr&gt; "12345", "12345", "12345", "12345", "12345…
$ shade        &lt;chr&gt; "sunny", "sunny", "sunny", "sunny", "sunny…
$ mass_g       &lt;dbl&gt; 0.4000, 0.4800, 0.3400, 0.6500, 0.2700, 0.…
$ petiole_mm   &lt;dbl&gt; 79.0000, 63.0000, 68.0000, 35.0000, 34.000…
$ thickness_mm &lt;dbl&gt; 0.15, 0.14, 0.14, 0.15, 0.11, 0.16, 0.14, …
$ paper_mass_g &lt;dbl&gt; 0.2100, 0.2100, 0.2100, 0.2400, 0.1500, 0.…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3 · Piping into ggplot, on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starting a plot with the pipe, and choosing colors with </a:t>
            </a:r>
            <a:r>
              <a:rPr>
                <a:latin typeface="Courier"/>
              </a:rPr>
              <a:t>scale_color_manual()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🛑 After this chunk you will do Activity Parts 1–2.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Every Plot Starts the Same Way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Pipe the data frame straight into ggplot() 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by Shade"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ggplot_1_lecture_files/figure-pptx/pipe-into-gg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06600"/>
            <a:ext cx="44323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leaf_df %&gt;% ggplot(...)</a:t>
            </a:r>
            <a:r>
              <a:rPr/>
              <a:t> = </a:t>
            </a:r>
            <a:r>
              <a:rPr i="1"/>
              <a:t>“take </a:t>
            </a:r>
            <a:r>
              <a:rPr i="1">
                <a:latin typeface="Courier"/>
              </a:rPr>
              <a:t>leaf_df</a:t>
            </a:r>
            <a:r>
              <a:rPr i="1"/>
              <a:t>, then plot it”</a:t>
            </a:r>
          </a:p>
          <a:p>
            <a:pPr lvl="0"/>
            <a:r>
              <a:rPr/>
              <a:t>Everything after </a:t>
            </a:r>
            <a:r>
              <a:rPr>
                <a:latin typeface="Courier"/>
              </a:rPr>
              <a:t>ggplot()</a:t>
            </a:r>
            <a:r>
              <a:rPr/>
              <a:t> is added with </a:t>
            </a:r>
            <a:r>
              <a:rPr>
                <a:latin typeface="Courier"/>
              </a:rPr>
              <a:t>+</a:t>
            </a:r>
            <a:r>
              <a:rPr/>
              <a:t>, not </a:t>
            </a:r>
            <a:r>
              <a:rPr>
                <a:latin typeface="Courier"/>
              </a:rPr>
              <a:t>%&gt;%</a:t>
            </a:r>
          </a:p>
          <a:p>
            <a:pPr lvl="0"/>
            <a:r>
              <a:rPr>
                <a:latin typeface="Courier"/>
              </a:rPr>
              <a:t>fill = shade</a:t>
            </a:r>
            <a:r>
              <a:rPr/>
              <a:t> maps a </a:t>
            </a:r>
            <a:r>
              <a:rPr b="1"/>
              <a:t>column</a:t>
            </a:r>
            <a:r>
              <a:rPr/>
              <a:t> to color — ggplot picks the colors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%&gt;%</a:t>
            </a:r>
            <a:r>
              <a:rPr sz="2000"/>
              <a:t> connects data-wrangling steps. </a:t>
            </a:r>
            <a:r>
              <a:rPr sz="2000">
                <a:latin typeface="Courier"/>
              </a:rPr>
              <a:t>+</a:t>
            </a:r>
            <a:r>
              <a:rPr sz="2000"/>
              <a:t> connects plot layers. Mixing them up is the single most common ggplot error.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Colors on Purpose — </a:t>
            </a:r>
            <a:r>
              <a:rPr>
                <a:latin typeface="Courier"/>
              </a:rPr>
              <a:t>scale_color_manual()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</a:t>
            </a:r>
            <a:r>
              <a:rPr sz="2000">
                <a:latin typeface="Courier"/>
              </a:rPr>
              <a:t>scale_fill_manual()</a:t>
            </a:r>
            <a:r>
              <a:rPr sz="2000"/>
              <a:t> needs one color per group. We have two groups — how many colors do we supply?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scale_fill_manual() assigns exact colors to exact groups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by Shade"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gplot_1_lecture_files/figure-pptx/scale-manual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06600"/>
            <a:ext cx="44323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scale_fill_manual()</a:t>
            </a:r>
            <a:r>
              <a:rPr/>
              <a:t> — for </a:t>
            </a:r>
            <a:r>
              <a:rPr>
                <a:latin typeface="Courier"/>
              </a:rPr>
              <a:t>fill =</a:t>
            </a:r>
            <a:r>
              <a:rPr/>
              <a:t> aesthetics (boxes, bars, columns)</a:t>
            </a:r>
          </a:p>
          <a:p>
            <a:pPr lvl="0"/>
            <a:r>
              <a:rPr>
                <a:latin typeface="Courier"/>
              </a:rPr>
              <a:t>scale_color_manual()</a:t>
            </a:r>
            <a:r>
              <a:rPr/>
              <a:t> — for </a:t>
            </a:r>
            <a:r>
              <a:rPr>
                <a:latin typeface="Courier"/>
              </a:rPr>
              <a:t>color =</a:t>
            </a:r>
            <a:r>
              <a:rPr/>
              <a:t> aesthetics (points, lines)</a:t>
            </a:r>
          </a:p>
          <a:p>
            <a:pPr lvl="0"/>
            <a:r>
              <a:rPr/>
              <a:t>The </a:t>
            </a:r>
            <a:r>
              <a:rPr b="1"/>
              <a:t>names in </a:t>
            </a:r>
            <a:r>
              <a:rPr b="1">
                <a:latin typeface="Courier"/>
              </a:rPr>
              <a:t>c()</a:t>
            </a:r>
            <a:r>
              <a:rPr b="1"/>
              <a:t> must exactly match</a:t>
            </a:r>
            <a:r>
              <a:rPr/>
              <a:t> your data’s values — case and spelling count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  <a:r>
              <a:rPr sz="2000"/>
              <a:t> A name that doesn’t match falls back to grey, with a warning.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3 Parts 1–2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1–2 now</a:t>
            </a:r>
          </a:p>
          <a:p>
            <a:pPr lvl="0" indent="0" marL="0">
              <a:buNone/>
            </a:pPr>
            <a:r>
              <a:rPr/>
              <a:t>Pipe into </a:t>
            </a:r>
            <a:r>
              <a:rPr>
                <a:latin typeface="Courier"/>
              </a:rPr>
              <a:t>ggplot()</a:t>
            </a:r>
            <a:r>
              <a:rPr/>
              <a:t>, then assign sunny/shady their own colors with </a:t>
            </a:r>
            <a:r>
              <a:rPr>
                <a:latin typeface="Courier"/>
              </a:rPr>
              <a:t>scale_fill_manual()</a:t>
            </a:r>
            <a:r>
              <a:rPr/>
              <a:t>. Predict, type, run.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3 · Small Multiples with Facets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facet_wrap()</a:t>
            </a:r>
            <a:r>
              <a:rPr/>
              <a:t> and </a:t>
            </a:r>
            <a:r>
              <a:rPr>
                <a:latin typeface="Courier"/>
              </a:rPr>
              <a:t>facet_grid()</a:t>
            </a:r>
            <a:r>
              <a:rPr/>
              <a:t> — splitting one plot into a panel per group.</a:t>
            </a:r>
          </a:p>
          <a:p>
            <a:pPr lvl="0" indent="0" marL="0">
              <a:buNone/>
            </a:pPr>
            <a:r>
              <a:rPr b="1"/>
              <a:t>🛑 After this chunk you will do Activity Part 3.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facet_wrap()</a:t>
            </a:r>
            <a:r>
              <a:rPr/>
              <a:t> — One Panel per Group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facet_wrap() splits into one panel per level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shade)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"Mass Distribution by Shade"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gplot_1_lecture_files/figure-pptx/facet-wrap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~shade</a:t>
            </a:r>
            <a:r>
              <a:rPr/>
              <a:t> reads as </a:t>
            </a:r>
            <a:r>
              <a:rPr i="1"/>
              <a:t>“by shade”</a:t>
            </a:r>
            <a:r>
              <a:rPr/>
              <a:t> — the </a:t>
            </a:r>
            <a:r>
              <a:rPr>
                <a:latin typeface="Courier"/>
              </a:rPr>
              <a:t>~</a:t>
            </a:r>
            <a:r>
              <a:rPr/>
              <a:t> is required</a:t>
            </a:r>
          </a:p>
          <a:p>
            <a:pPr lvl="0"/>
            <a:r>
              <a:rPr/>
              <a:t>Each panel gets its </a:t>
            </a:r>
            <a:r>
              <a:rPr b="1"/>
              <a:t>own copy of the plot</a:t>
            </a:r>
            <a:r>
              <a:rPr/>
              <a:t>, filtered to that group</a:t>
            </a:r>
          </a:p>
          <a:p>
            <a:pPr lvl="0"/>
            <a:r>
              <a:rPr>
                <a:latin typeface="Courier"/>
              </a:rPr>
              <a:t>facet_wrap(~shade, scales = "free_y")</a:t>
            </a:r>
            <a:r>
              <a:rPr/>
              <a:t> lets each panel’s y-axis rescale independently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3"/>
              </a:rPr>
              <a:t>R4DS §9 — Layers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facet_grid()</a:t>
            </a:r>
            <a:r>
              <a:rPr/>
              <a:t> — a Strict Rows-and-Columns Grid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facet_grid(rows ~ cols) — use "." for "no grouping"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facet_grid</a:t>
            </a:r>
            <a:r>
              <a:rPr>
                <a:solidFill>
                  <a:srgbClr val="003B4F"/>
                </a:solidFill>
                <a:latin typeface="Courier"/>
              </a:rPr>
              <a:t>(shade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gplot_1_lecture_files/figure-pptx/facet-grid-dem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facet_grid(shade ~ .)</a:t>
            </a:r>
            <a:r>
              <a:rPr/>
              <a:t> stacks panels in </a:t>
            </a:r>
            <a:r>
              <a:rPr b="1"/>
              <a:t>rows</a:t>
            </a:r>
            <a:r>
              <a:rPr/>
              <a:t>; </a:t>
            </a:r>
            <a:r>
              <a:rPr>
                <a:latin typeface="Courier"/>
              </a:rPr>
              <a:t>facet_grid(. ~ shade)</a:t>
            </a:r>
            <a:r>
              <a:rPr/>
              <a:t> arranges them in </a:t>
            </a:r>
            <a:r>
              <a:rPr b="1"/>
              <a:t>columns</a:t>
            </a:r>
          </a:p>
          <a:p>
            <a:pPr lvl="0"/>
            <a:r>
              <a:rPr/>
              <a:t>The dot </a:t>
            </a:r>
            <a:r>
              <a:rPr>
                <a:latin typeface="Courier"/>
              </a:rPr>
              <a:t>.</a:t>
            </a:r>
            <a:r>
              <a:rPr/>
              <a:t> means “nothing on this side of the grid”</a:t>
            </a:r>
          </a:p>
          <a:p>
            <a:pPr lvl="0"/>
            <a:r>
              <a:rPr>
                <a:latin typeface="Courier"/>
              </a:rPr>
              <a:t>facet_grid()</a:t>
            </a:r>
            <a:r>
              <a:rPr/>
              <a:t> really shines with </a:t>
            </a:r>
            <a:r>
              <a:rPr b="1"/>
              <a:t>two</a:t>
            </a:r>
            <a:r>
              <a:rPr/>
              <a:t> grouping variables (</a:t>
            </a:r>
            <a:r>
              <a:rPr>
                <a:latin typeface="Courier"/>
              </a:rPr>
              <a:t>rows ~ cols</a:t>
            </a:r>
            <a:r>
              <a:rPr/>
              <a:t>) — we only have one (</a:t>
            </a:r>
            <a:r>
              <a:rPr>
                <a:latin typeface="Courier"/>
              </a:rPr>
              <a:t>shade</a:t>
            </a:r>
            <a:r>
              <a:rPr/>
              <a:t>) today, but you’ll use the two-variable form the moment your data has a second grouping column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💡 </a:t>
            </a:r>
            <a:r>
              <a:rPr sz="2000" b="1">
                <a:latin typeface="Courier"/>
              </a:rPr>
              <a:t>facet_wrap</a:t>
            </a:r>
            <a:r>
              <a:rPr sz="2000" b="1"/>
              <a:t> vs </a:t>
            </a:r>
            <a:r>
              <a:rPr sz="2000" b="1">
                <a:latin typeface="Courier"/>
              </a:rPr>
              <a:t>facet_grid</a:t>
            </a:r>
          </a:p>
          <a:p>
            <a:pPr lvl="0" indent="0" marL="1270000">
              <a:buNone/>
            </a:pPr>
            <a:r>
              <a:rPr sz="2000"/>
              <a:t>Use </a:t>
            </a:r>
            <a:r>
              <a:rPr sz="2000">
                <a:latin typeface="Courier"/>
              </a:rPr>
              <a:t>facet_wrap()</a:t>
            </a:r>
            <a:r>
              <a:rPr sz="2000"/>
              <a:t> for one grouping variable — it wraps panels into a grid automatically. Use </a:t>
            </a:r>
            <a:r>
              <a:rPr sz="2000">
                <a:latin typeface="Courier"/>
              </a:rPr>
              <a:t>facet_grid()</a:t>
            </a:r>
            <a:r>
              <a:rPr sz="2000"/>
              <a:t> when you have two variables and want rows and columns to each mean something specific.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3 Part 3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 3 now</a:t>
            </a:r>
          </a:p>
          <a:p>
            <a:pPr lvl="0" indent="0" marL="0">
              <a:buNone/>
            </a:pPr>
            <a:r>
              <a:rPr/>
              <a:t>Build both a </a:t>
            </a:r>
            <a:r>
              <a:rPr>
                <a:latin typeface="Courier"/>
              </a:rPr>
              <a:t>facet_wrap()</a:t>
            </a:r>
            <a:r>
              <a:rPr/>
              <a:t> and a </a:t>
            </a:r>
            <a:r>
              <a:rPr>
                <a:latin typeface="Courier"/>
              </a:rPr>
              <a:t>facet_grid()</a:t>
            </a:r>
            <a:r>
              <a:rPr/>
              <a:t> version of the histogram. Predict, type, run.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3 · Mean ± SE with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layering a group mean and its standard error directly on top of raw data — no summary table needed.</a:t>
            </a:r>
          </a:p>
          <a:p>
            <a:pPr lvl="0" indent="0" marL="0">
              <a:buNone/>
            </a:pPr>
            <a:r>
              <a:rPr b="1"/>
              <a:t>🛑 After this chunk you will do Activity Parts 4–5.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stat_summary()</a:t>
            </a:r>
            <a:r>
              <a:rPr/>
              <a:t> — the Mean as a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stat_summary() computes the mean straight from the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with Group Means"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ggplot_1_lecture_files/figure-pptx/stat-summary-mea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06600"/>
            <a:ext cx="44323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Computes a statistic </a:t>
            </a:r>
            <a:r>
              <a:rPr b="1"/>
              <a:t>from the raw data</a:t>
            </a:r>
            <a:r>
              <a:rPr/>
              <a:t> — no summary table needed</a:t>
            </a:r>
          </a:p>
          <a:p>
            <a:pPr lvl="0"/>
            <a:r>
              <a:rPr>
                <a:latin typeface="Courier"/>
              </a:rPr>
              <a:t>fun = mean</a:t>
            </a:r>
            <a:r>
              <a:rPr/>
              <a:t> — any function returning one number (</a:t>
            </a:r>
            <a:r>
              <a:rPr>
                <a:latin typeface="Courier"/>
              </a:rPr>
              <a:t>median</a:t>
            </a:r>
            <a:r>
              <a:rPr/>
              <a:t>, </a:t>
            </a:r>
            <a:r>
              <a:rPr>
                <a:latin typeface="Courier"/>
              </a:rPr>
              <a:t>max</a:t>
            </a:r>
            <a:r>
              <a:rPr/>
              <a:t>, …)</a:t>
            </a:r>
          </a:p>
          <a:p>
            <a:pPr lvl="0"/>
            <a:r>
              <a:rPr>
                <a:latin typeface="Courier"/>
              </a:rPr>
              <a:t>geom = "point"</a:t>
            </a:r>
            <a:r>
              <a:rPr/>
              <a:t> — draw it as a point</a:t>
            </a:r>
          </a:p>
          <a:p>
            <a:pPr lvl="0"/>
            <a:r>
              <a:rPr/>
              <a:t>Put </a:t>
            </a:r>
            <a:r>
              <a:rPr>
                <a:latin typeface="Courier"/>
              </a:rPr>
              <a:t>geom_jitter()</a:t>
            </a:r>
            <a:r>
              <a:rPr/>
              <a:t> </a:t>
            </a:r>
            <a:r>
              <a:rPr b="1"/>
              <a:t>before</a:t>
            </a:r>
            <a:r>
              <a:rPr/>
              <a:t> </a:t>
            </a:r>
            <a:r>
              <a:rPr>
                <a:latin typeface="Courier"/>
              </a:rPr>
              <a:t>stat_summary()</a:t>
            </a:r>
            <a:r>
              <a:rPr/>
              <a:t> so the mean sits on top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stat_summary()</a:t>
            </a:r>
            <a:r>
              <a:rPr/>
              <a:t> — Mean ± 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fun.data = returns THREE values: y, ymin, ymax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leaf_mean_se_plot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scale_color_manual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values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"goldenrod"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"forestgreen"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Mass by Shade"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leaf_mean_se_plot</a:t>
            </a:r>
          </a:p>
        </p:txBody>
      </p:sp>
      <p:pic>
        <p:nvPicPr>
          <p:cNvPr descr="ggplot_1_lecture_files/figure-pptx/stat-summary-s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133600"/>
            <a:ext cx="44323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🔮 Predict first:</a:t>
            </a:r>
            <a:r>
              <a:rPr/>
              <a:t> </a:t>
            </a:r>
            <a:r>
              <a:rPr>
                <a:latin typeface="Courier"/>
              </a:rPr>
              <a:t>fun.data = mean_se</a:t>
            </a:r>
            <a:r>
              <a:rPr/>
              <a:t> returns three numbers per group, not one — what are they?</a:t>
            </a:r>
          </a:p>
          <a:p>
            <a:pPr lvl="0" indent="0" marL="0">
              <a:buNone/>
            </a:pPr>
            <a:r>
              <a:rPr b="1"/>
              <a:t>Two </a:t>
            </a:r>
            <a:r>
              <a:rPr b="1">
                <a:latin typeface="Courier"/>
              </a:rPr>
              <a:t>stat_summary()</a:t>
            </a:r>
            <a:r>
              <a:rPr b="1"/>
              <a:t> layers, stacked: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draws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 =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point at the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fun.data = mean_se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bars for ± 1 SE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Raw points in the </a:t>
            </a:r>
            <a:r>
              <a:rPr b="1"/>
              <a:t>background</a:t>
            </a:r>
            <a:r>
              <a:rPr/>
              <a:t>, mean as a </a:t>
            </a:r>
            <a:r>
              <a:rPr b="1"/>
              <a:t>larger point</a:t>
            </a:r>
            <a:r>
              <a:rPr/>
              <a:t>, bars = </a:t>
            </a:r>
            <a:r>
              <a:rPr b="1"/>
              <a:t>± 1 SE</a:t>
            </a:r>
          </a:p>
          <a:p>
            <a:pPr lvl="0" indent="0" marL="0">
              <a:buNone/>
            </a:pPr>
            <a:r>
              <a:rPr/>
              <a:t>📖 Whitlock &amp; Schluter, Ch. 3 — </a:t>
            </a:r>
            <a:r>
              <a:rPr i="1"/>
              <a:t>Describing Data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3 Parts 4–5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Go to Activity 3 — Parts 4–5</a:t>
            </a:r>
          </a:p>
          <a:p>
            <a:pPr lvl="0" indent="0" marL="0">
              <a:buNone/>
            </a:pPr>
            <a:r>
              <a:rPr/>
              <a:t>Close the slides. Build your own mean ± SE plot, then save it to </a:t>
            </a:r>
            <a:r>
              <a:rPr>
                <a:latin typeface="Courier"/>
              </a:rPr>
              <a:t>figures/</a:t>
            </a:r>
            <a:r>
              <a:rPr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Pipe straight into a plot: </a:t>
            </a:r>
            <a:r>
              <a:rPr>
                <a:latin typeface="Courier"/>
              </a:rPr>
              <a:t>leaf_df %&gt;% ggplot(...)</a:t>
            </a:r>
          </a:p>
          <a:p>
            <a:pPr lvl="0"/>
            <a:r>
              <a:rPr>
                <a:latin typeface="Courier"/>
              </a:rPr>
              <a:t>scale_color_manual()</a:t>
            </a:r>
            <a:r>
              <a:rPr/>
              <a:t> / </a:t>
            </a:r>
            <a:r>
              <a:rPr>
                <a:latin typeface="Courier"/>
              </a:rPr>
              <a:t>scale_fill_manual()</a:t>
            </a:r>
            <a:r>
              <a:rPr/>
              <a:t> — colors you choose, not colors ggplot guesses</a:t>
            </a:r>
          </a:p>
          <a:p>
            <a:pPr lvl="0"/>
            <a:r>
              <a:rPr>
                <a:latin typeface="Courier"/>
              </a:rPr>
              <a:t>facet_wrap(~var)</a:t>
            </a:r>
            <a:r>
              <a:rPr/>
              <a:t> — one panel per group, wraps automatically</a:t>
            </a:r>
          </a:p>
          <a:p>
            <a:pPr lvl="0"/>
            <a:r>
              <a:rPr>
                <a:latin typeface="Courier"/>
              </a:rPr>
              <a:t>facet_grid(rows ~ cols)</a:t>
            </a:r>
            <a:r>
              <a:rPr/>
              <a:t> — strict grid, best with two grouping variables</a:t>
            </a:r>
          </a:p>
          <a:p>
            <a:pPr lvl="0"/>
            <a:r>
              <a:rPr>
                <a:latin typeface="Courier"/>
              </a:rPr>
              <a:t>stat_summary()</a:t>
            </a:r>
            <a:r>
              <a:rPr/>
              <a:t> — mean and mean ± SE, drawn directly from raw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Whitlock &amp; Schluter, Ch. 2 — </a:t>
            </a:r>
            <a:r>
              <a:rPr i="1"/>
              <a:t>Displaying Data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1</a:t>
            </a:r>
            <a:r>
              <a:rPr/>
              <a:t> — Data Visualization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9</a:t>
            </a:r>
            <a:r>
              <a:rPr/>
              <a:t> — Layers</a:t>
            </a:r>
          </a:p>
          <a:p>
            <a:pPr lvl="0" indent="0" marL="0">
              <a:buNone/>
            </a:pPr>
            <a:r>
              <a:rPr b="1"/>
              <a:t>Up next — Lecture 04, GGPlot II:</a:t>
            </a:r>
          </a:p>
          <a:p>
            <a:pPr lvl="0"/>
            <a:r>
              <a:rPr/>
              <a:t>Practicing on a brand-new dataset</a:t>
            </a:r>
          </a:p>
          <a:p>
            <a:pPr lvl="0"/>
            <a:r>
              <a:rPr>
                <a:latin typeface="Courier"/>
              </a:rPr>
              <a:t>coord_cartesian()</a:t>
            </a:r>
            <a:r>
              <a:rPr/>
              <a:t> vs. </a:t>
            </a:r>
            <a:r>
              <a:rPr>
                <a:latin typeface="Courier"/>
              </a:rPr>
              <a:t>ylim()</a:t>
            </a:r>
          </a:p>
          <a:p>
            <a:pPr lvl="0"/>
            <a:r>
              <a:rPr/>
              <a:t>Histograms, density plots, themes, and </a:t>
            </a:r>
            <a:r>
              <a:rPr>
                <a:latin typeface="Courier"/>
              </a:rPr>
              <a:t>patchwork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 — GGPlot I</dc:title>
  <dc:creator>Bill Perry</dc:creator>
  <cp:keywords/>
  <dc:description>Custom colors with scale_color_manual(), splitting plots into panels with facet_wrap()/facet_grid(), and building a mean ± SE plot with stat_summary() — all piped straight into ggplot().</dc:description>
  <dcterms:created xsi:type="dcterms:W3CDTF">2026-10-22T13:13:05Z</dcterms:created>
  <dcterms:modified xsi:type="dcterms:W3CDTF">2026-10-22T13:13:05Z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2026-10-22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3</vt:lpwstr>
  </property>
  <property fmtid="{D5CDD505-2E9C-101B-9397-08002B2CF9AE}" pid="13" name="resources">
    <vt:lpwstr/>
  </property>
  <property fmtid="{D5CDD505-2E9C-101B-9397-08002B2CF9AE}" pid="14" name="subtitle">
    <vt:lpwstr>Grouped summaries, facets, and the pipe into ggplot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2</vt:lpwstr>
  </property>
</Properties>
</file>