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03 - GGPlot 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summaries, facets, and the pipe into ggplot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Grouped Summaries and Facets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Worksheet 02</a:t>
            </a:r>
          </a:p>
          <a:p>
            <a:pPr lvl="0"/>
            <a:r>
              <a:rPr/>
              <a:t>Installed R and Positron; created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our leaf data with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Used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/>
            <a:r>
              <a:rPr/>
              <a:t>Made a first </a:t>
            </a:r>
            <a:r>
              <a:rPr>
                <a:latin typeface="Courier"/>
              </a:rPr>
              <a:t>geom_point()</a:t>
            </a:r>
            <a:r>
              <a:rPr/>
              <a:t> 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Start every plot by piping the data frame into </a:t>
            </a:r>
            <a:r>
              <a:rPr>
                <a:latin typeface="Courier"/>
              </a:rPr>
              <a:t>ggplot()</a:t>
            </a:r>
          </a:p>
          <a:p>
            <a:pPr lvl="0" indent="-342900" marL="342900">
              <a:buAutoNum type="arabicPeriod"/>
            </a:pPr>
            <a:r>
              <a:rPr/>
              <a:t>Assign exact colors to exact groups with </a:t>
            </a:r>
            <a:r>
              <a:rPr>
                <a:latin typeface="Courier"/>
              </a:rPr>
              <a:t>scale_fill_manual()</a:t>
            </a:r>
            <a:r>
              <a:rPr/>
              <a:t> / </a:t>
            </a:r>
            <a:r>
              <a:rPr>
                <a:latin typeface="Courier"/>
              </a:rPr>
              <a:t>scale_color_manual()</a:t>
            </a:r>
          </a:p>
          <a:p>
            <a:pPr lvl="0" indent="-342900" marL="342900">
              <a:buAutoNum type="arabicPeriod"/>
            </a:pPr>
            <a:r>
              <a:rPr/>
              <a:t>Split a plot into panels with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  <a:p>
            <a:pPr lvl="0" indent="-342900" marL="342900">
              <a:buAutoNum type="arabicPeriod"/>
            </a:pPr>
            <a:r>
              <a:rPr/>
              <a:t>Build a mean ± SE plot with </a:t>
            </a:r>
            <a:r>
              <a:rPr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/>
              <a:t>Save the finished plot to </a:t>
            </a:r>
            <a:r>
              <a:rPr>
                <a:latin typeface="Courier"/>
              </a:rPr>
              <a:t>figures/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at your own pace. Type the code into a new R script in Positron and run it line by line. Code blocks marked </a:t>
            </a:r>
            <a:r>
              <a:rPr sz="2000" b="1"/>
              <a:t>▶ Run this</a:t>
            </a:r>
            <a:r>
              <a:rPr sz="2000"/>
              <a:t> should be executed exactly as written. Blocks marked </a:t>
            </a:r>
            <a:r>
              <a:rPr sz="2000" b="1"/>
              <a:t>✏️ Your turn</a:t>
            </a:r>
            <a:r>
              <a:rPr sz="2000"/>
              <a:t> ask you to write or modify something.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you run any </a:t>
            </a:r>
            <a:r>
              <a:rPr sz="2000" b="1"/>
              <a:t>▶ Run this</a:t>
            </a:r>
            <a:r>
              <a:rPr sz="2000"/>
              <a:t> block, cover the output and </a:t>
            </a:r>
            <a:r>
              <a:rPr sz="2000" i="1"/>
              <a:t>predict</a:t>
            </a:r>
            <a:r>
              <a:rPr sz="2000"/>
              <a:t> what R will draw. Typing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, </a:t>
            </a:r>
            <a:r>
              <a:rPr sz="2000">
                <a:latin typeface="Courier"/>
              </a:rPr>
              <a:t>facet_wrap()</a:t>
            </a:r>
            <a:r>
              <a:rPr sz="2000"/>
              <a:t>, and </a:t>
            </a:r>
            <a:r>
              <a:rPr sz="2000">
                <a:latin typeface="Courier"/>
              </a:rPr>
              <a:t>stat_summary()</a:t>
            </a:r>
            <a:r>
              <a:rPr sz="2000"/>
              <a:t> by hand — instead of pasting — is what makes the syntax stick.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at the top of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   </a:t>
            </a:r>
            <a:r>
              <a:rPr>
                <a:solidFill>
                  <a:srgbClr val="5E5E5E"/>
                </a:solidFill>
                <a:latin typeface="Courier"/>
              </a:rPr>
              <a:t># cleans up messy column names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Piping into ggplot, and choosing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Pipe the data frame straight into </a:t>
            </a:r>
            <a:r>
              <a:rPr b="1">
                <a:latin typeface="Courier"/>
              </a:rPr>
              <a:t>ggplot()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connects data steps. </a:t>
            </a:r>
            <a:r>
              <a:rPr sz="2000">
                <a:latin typeface="Courier"/>
              </a:rPr>
              <a:t>+</a:t>
            </a:r>
            <a:r>
              <a:rPr sz="2000"/>
              <a:t> connects plot layers. Do not mix them up.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the blank to pipe </a:t>
            </a:r>
            <a:r>
              <a:rPr>
                <a:latin typeface="Courier"/>
              </a:rPr>
              <a:t>tree_df</a:t>
            </a:r>
            <a:r>
              <a:rPr/>
              <a:t> into a plot of </a:t>
            </a:r>
            <a:r>
              <a:rPr>
                <a:latin typeface="Courier"/>
              </a:rPr>
              <a:t>height_cm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___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___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Assign colors on purpose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We have two groups, </a:t>
            </a:r>
            <a:r>
              <a:rPr sz="2000">
                <a:latin typeface="Courier"/>
              </a:rPr>
              <a:t>sunny</a:t>
            </a:r>
            <a:r>
              <a:rPr sz="2000"/>
              <a:t> and </a:t>
            </a:r>
            <a:r>
              <a:rPr sz="2000">
                <a:latin typeface="Courier"/>
              </a:rPr>
              <a:t>shady</a:t>
            </a:r>
            <a:r>
              <a:rPr sz="2000"/>
              <a:t>. How many colors do we need to list inside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colors to </a:t>
            </a:r>
            <a:r>
              <a:rPr>
                <a:latin typeface="Courier"/>
              </a:rPr>
              <a:t>"orange"</a:t>
            </a:r>
            <a:r>
              <a:rPr/>
              <a:t> and </a:t>
            </a:r>
            <a:r>
              <a:rPr>
                <a:latin typeface="Courier"/>
              </a:rPr>
              <a:t>"darkgreen"</a:t>
            </a:r>
            <a:r>
              <a:rPr/>
              <a:t>. What happens if you misspell </a:t>
            </a:r>
            <a:r>
              <a:rPr>
                <a:latin typeface="Courier"/>
              </a:rPr>
              <a:t>"shady"</a:t>
            </a:r>
            <a:r>
              <a:rPr/>
              <a:t> as </a:t>
            </a:r>
            <a:r>
              <a:rPr>
                <a:latin typeface="Courier"/>
              </a:rPr>
              <a:t>"Shady"</a:t>
            </a:r>
            <a:r>
              <a:rPr/>
              <a:t> in </a:t>
            </a:r>
            <a:r>
              <a:rPr>
                <a:latin typeface="Courier"/>
              </a:rPr>
              <a:t>values = c(...)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happened when you misspelled the name: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Facets — </a:t>
            </a:r>
            <a:r>
              <a:rPr>
                <a:latin typeface="Courier"/>
              </a:rPr>
              <a:t>facet_wrap()</a:t>
            </a:r>
            <a:r>
              <a:rPr/>
              <a:t> and </a:t>
            </a:r>
            <a:r>
              <a:rPr>
                <a:latin typeface="Courier"/>
              </a:rPr>
              <a:t>facet_grid()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facet_wrap()</a:t>
            </a:r>
            <a:r>
              <a:rPr b="1"/>
              <a:t> — one panel per group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faceted histogram for </a:t>
            </a:r>
            <a:r>
              <a:rPr>
                <a:latin typeface="Courier"/>
              </a:rPr>
              <a:t>height_cm</a:t>
            </a:r>
            <a:r>
              <a:rPr/>
              <a:t> instead of </a:t>
            </a:r>
            <a:r>
              <a:rPr>
                <a:latin typeface="Courier"/>
              </a:rPr>
              <a:t>weight_g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facet_grid()</a:t>
            </a:r>
            <a:r>
              <a:rPr b="1"/>
              <a:t> — a strict grid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.)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facet_grid(side ~ .)</a:t>
            </a:r>
            <a:r>
              <a:rPr/>
              <a:t> to </a:t>
            </a:r>
            <a:r>
              <a:rPr>
                <a:latin typeface="Courier"/>
              </a:rPr>
              <a:t>facet_grid(. ~ side)</a:t>
            </a:r>
            <a:r>
              <a:rPr/>
              <a:t>. What changes — rows or columns?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changed: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one sentence, when would you reach for </a:t>
            </a:r>
            <a:r>
              <a:rPr>
                <a:latin typeface="Courier"/>
              </a:rPr>
              <a:t>facet_grid()</a:t>
            </a:r>
            <a:r>
              <a:rPr/>
              <a:t> instead of </a:t>
            </a:r>
            <a:r>
              <a:rPr>
                <a:latin typeface="Courier"/>
              </a:rPr>
              <a:t>facet_wrap()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with </a:t>
            </a:r>
            <a:r>
              <a:rPr>
                <a:latin typeface="Courier"/>
              </a:rPr>
              <a:t>stat_summary()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mean as a layer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with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Mean ± SE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</a:t>
            </a:r>
            <a:r>
              <a:rPr sz="2000">
                <a:latin typeface="Courier"/>
              </a:rPr>
              <a:t>fun.data = mean_se</a:t>
            </a:r>
            <a:r>
              <a:rPr sz="2000"/>
              <a:t> returns three numbers per group. Two of them are the top and bottom of the error bar. What’s the third?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tree_mean_se_plot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"goldenrod"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"forestgreen"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tree_mean_se_plot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fun = mean</a:t>
            </a:r>
            <a:r>
              <a:rPr/>
              <a:t> in the first </a:t>
            </a:r>
            <a:r>
              <a:rPr>
                <a:latin typeface="Courier"/>
              </a:rPr>
              <a:t>stat_summary()</a:t>
            </a:r>
            <a:r>
              <a:rPr/>
              <a:t> to </a:t>
            </a:r>
            <a:r>
              <a:rPr>
                <a:latin typeface="Courier"/>
              </a:rPr>
              <a:t>fun = median</a:t>
            </a:r>
            <a:r>
              <a:rPr/>
              <a:t>. What changes in the plot?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What changed: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error bars for sunny and shady overlap? What might that suggest about whether the two groups actually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Do the error bars overlap?  Y / N
What that might suggest: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tree_mean_se_plot,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should be able to:</a:t>
            </a:r>
          </a:p>
          <a:p>
            <a:pPr lvl="0"/>
            <a:r>
              <a:rPr/>
              <a:t>☐ Pipe a data frame straight into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/>
              <a:t>☐ Assign exact colors to exact groups with </a:t>
            </a:r>
            <a:r>
              <a:rPr>
                <a:latin typeface="Courier"/>
              </a:rPr>
              <a:t>scale_fill_manual()</a:t>
            </a:r>
            <a:r>
              <a:rPr/>
              <a:t> / </a:t>
            </a:r>
            <a:r>
              <a:rPr>
                <a:latin typeface="Courier"/>
              </a:rPr>
              <a:t>scale_color_manual()</a:t>
            </a:r>
          </a:p>
          <a:p>
            <a:pPr lvl="0"/>
            <a:r>
              <a:rPr/>
              <a:t>☐ Split a plot into panels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Split a plot into panels with </a:t>
            </a:r>
            <a:r>
              <a:rPr>
                <a:latin typeface="Courier"/>
              </a:rPr>
              <a:t>facet_grid()</a:t>
            </a:r>
          </a:p>
          <a:p>
            <a:pPr lvl="0"/>
            <a:r>
              <a:rPr/>
              <a:t>☐ Add a mean layer with </a:t>
            </a:r>
            <a:r>
              <a:rPr>
                <a:latin typeface="Courier"/>
              </a:rPr>
              <a:t>stat_summary(fun = mean, geom = "point")</a:t>
            </a:r>
          </a:p>
          <a:p>
            <a:pPr lvl="0"/>
            <a:r>
              <a:rPr/>
              <a:t>☐ Add a mean ± SE layer with </a:t>
            </a:r>
            <a:r>
              <a:rPr>
                <a:latin typeface="Courier"/>
              </a:rPr>
              <a:t>stat_summary(fun.data = mean_se, geom = "errorbar")</a:t>
            </a:r>
          </a:p>
          <a:p>
            <a:pPr lvl="0"/>
            <a:r>
              <a:rPr/>
              <a:t>☐ Save a plot with </a:t>
            </a:r>
            <a:r>
              <a:rPr>
                <a:latin typeface="Courier"/>
              </a:rPr>
              <a:t>ggsave()</a:t>
            </a:r>
            <a:r>
              <a:rPr/>
              <a:t> at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entire script with </a:t>
            </a:r>
            <a:r>
              <a:rPr b="1"/>
              <a:t>Ctrl/Cmd + Shift + Enter</a:t>
            </a:r>
            <a:r>
              <a:rPr/>
              <a:t>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</a:t>
            </a:r>
            <a:r>
              <a:rPr>
                <a:latin typeface="Courier"/>
              </a:rPr>
              <a:t>figures/</a:t>
            </a:r>
            <a:r>
              <a:rPr/>
              <a:t> folder should contain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tree_project/
├── data/
│   └── 2026_06_25_tree_experiment_raw_data.xlsx   &lt;- never edit this
├── figures/
│   └── leaf_weight_mean_se.png                     &lt;- Part 5
└── scripts/
    └── 03_ggplot_1.R                               &lt;- your script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Extension — out of class (~30–40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Turn this in with your worksheet. In class you used one trick at a time (colors, facets, </a:t>
            </a:r>
            <a:r>
              <a:rPr i="1">
                <a:latin typeface="Courier"/>
              </a:rPr>
              <a:t>stat_summary</a:t>
            </a:r>
            <a:r>
              <a:rPr i="1"/>
              <a:t>). Now you combine two, with choices that are yours alone.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E2 and E3 must be handwritten</a:t>
            </a:r>
            <a:r>
              <a:rPr sz="2000"/>
              <a:t> on paper, photographed, and embedded (</a:t>
            </a:r>
            <a:r>
              <a:rPr sz="2000">
                <a:latin typeface="Courier"/>
              </a:rPr>
              <a:t>![caption](my_photo.jpg)</a:t>
            </a:r>
            <a:r>
              <a:rPr sz="2000"/>
              <a:t>). Typed answers to E2/E3 get </a:t>
            </a:r>
            <a:r>
              <a:rPr sz="2000" b="1"/>
              <a:t>at most half credit, even if correct</a:t>
            </a:r>
            <a:r>
              <a:rPr sz="2000"/>
              <a:t> — I want your own sketch and your own reasoning about </a:t>
            </a:r>
            <a:r>
              <a:rPr sz="2000" i="1"/>
              <a:t>your own</a:t>
            </a:r>
            <a:r>
              <a:rPr sz="2000"/>
              <a:t> plot.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E1 · Your own combo plot (4 pts)</a:t>
            </a:r>
          </a:p>
          <a:p>
            <a:pPr lvl="0" indent="-342900" marL="342900">
              <a:buAutoNum type="arabicPeriod"/>
            </a:pPr>
            <a:r>
              <a:rPr b="1"/>
              <a:t>Pick your own two colors</a:t>
            </a:r>
            <a:r>
              <a:rPr/>
              <a:t> for </a:t>
            </a:r>
            <a:r>
              <a:rPr>
                <a:latin typeface="Courier"/>
              </a:rPr>
              <a:t>sunny</a:t>
            </a:r>
            <a:r>
              <a:rPr/>
              <a:t> and </a:t>
            </a:r>
            <a:r>
              <a:rPr>
                <a:latin typeface="Courier"/>
              </a:rPr>
              <a:t>shady</a:t>
            </a:r>
            <a:r>
              <a:rPr/>
              <a:t> — not </a:t>
            </a:r>
            <a:r>
              <a:rPr>
                <a:latin typeface="Courier"/>
              </a:rPr>
              <a:t>"goldenrod"</a:t>
            </a:r>
            <a:r>
              <a:rPr/>
              <a:t>/</a:t>
            </a:r>
            <a:r>
              <a:rPr>
                <a:latin typeface="Courier"/>
              </a:rPr>
              <a:t>"forestgreen"</a:t>
            </a:r>
            <a:r>
              <a:rPr/>
              <a:t>, and not the same pair as your neighbour.</a:t>
            </a:r>
          </a:p>
          <a:p>
            <a:pPr lvl="0" indent="-342900" marL="342900">
              <a:buAutoNum type="arabicPeriod"/>
            </a:pPr>
            <a:r>
              <a:rPr/>
              <a:t>Build a </a:t>
            </a:r>
            <a:r>
              <a:rPr b="1"/>
              <a:t>mean ± SE</a:t>
            </a:r>
            <a:r>
              <a:rPr/>
              <a:t> plot (two </a:t>
            </a:r>
            <a:r>
              <a:rPr>
                <a:latin typeface="Courier"/>
              </a:rPr>
              <a:t>stat_summary()</a:t>
            </a:r>
            <a:r>
              <a:rPr/>
              <a:t> layers) of </a:t>
            </a:r>
            <a:r>
              <a:rPr b="1"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, using your two colors with </a:t>
            </a:r>
            <a:r>
              <a:rPr>
                <a:latin typeface="Courier"/>
              </a:rPr>
              <a:t>scale_color_manual()</a:t>
            </a:r>
            <a:r>
              <a:rPr/>
              <a:t>, raw jittered points behind.</a:t>
            </a:r>
          </a:p>
          <a:p>
            <a:pPr lvl="0" indent="-342900" marL="342900">
              <a:buAutoNum type="arabicPeriod"/>
            </a:pPr>
            <a:r>
              <a:rPr/>
              <a:t>Add </a:t>
            </a:r>
            <a:r>
              <a:rPr>
                <a:latin typeface="Courier"/>
              </a:rPr>
              <a:t>facet_wrap(~ side)</a:t>
            </a:r>
            <a:r>
              <a:rPr/>
              <a:t> to that same plot — faceting by the variable you already coloured by is a bit redundant; do it anyway and watch what happens to the x-axis.</a:t>
            </a:r>
          </a:p>
          <a:p>
            <a:pPr lvl="0" indent="0" marL="0">
              <a:buNone/>
            </a:pPr>
            <a:r>
              <a:rPr/>
              <a:t>Save it to </a:t>
            </a:r>
            <a:r>
              <a:rPr>
                <a:latin typeface="Courier"/>
              </a:rPr>
              <a:t>figures/</a:t>
            </a:r>
            <a:r>
              <a:rPr/>
              <a:t> at </a:t>
            </a:r>
            <a:r>
              <a:rPr>
                <a:latin typeface="Courier"/>
              </a:rPr>
              <a:t>dpi = 300</a:t>
            </a:r>
            <a:r>
              <a:rPr/>
              <a:t>. Record the exact R colour names you chose.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E2 · Predict, then check — ✍️ by hand (3 pts)</a:t>
            </a:r>
          </a:p>
          <a:p>
            <a:pPr lvl="0" indent="0" marL="0">
              <a:buNone/>
            </a:pPr>
            <a:r>
              <a:rPr b="1"/>
              <a:t>Before running E1:</a:t>
            </a:r>
            <a:r>
              <a:rPr/>
              <a:t> sketch the faceted mean ± SE plot — two panels, where you think each mean and its error bars sit, which colour goes where. Run the code, then underneath your sketch write 2–3 sentences: were you right about which side has more spread? Did faceting by </a:t>
            </a:r>
            <a:r>
              <a:rPr>
                <a:latin typeface="Courier"/>
              </a:rPr>
              <a:t>side</a:t>
            </a:r>
            <a:r>
              <a:rPr/>
              <a:t> look as redundant as you expected?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E3 · Explain it — ✍️ by hand, using YOUR plot (3 pts)</a:t>
            </a:r>
          </a:p>
          <a:p>
            <a:pPr lvl="0" indent="-342900" marL="342900">
              <a:buAutoNum type="arabicPeriod"/>
            </a:pPr>
            <a:r>
              <a:rPr/>
              <a:t>Do your sunny and shady error bars overlap? Using their direction and rough size, what does that informally suggest about whether the sides differ in </a:t>
            </a:r>
            <a:r>
              <a:rPr>
                <a:latin typeface="Courier"/>
              </a:rPr>
              <a:t>width_cm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/>
              <a:t>If you had written </a:t>
            </a:r>
            <a:r>
              <a:rPr>
                <a:latin typeface="Courier"/>
              </a:rPr>
              <a:t>"Shady"</a:t>
            </a:r>
            <a:r>
              <a:rPr/>
              <a:t> instead of </a:t>
            </a:r>
            <a:r>
              <a:rPr>
                <a:latin typeface="Courier"/>
              </a:rPr>
              <a:t>"shady"</a:t>
            </a:r>
            <a:r>
              <a:rPr/>
              <a:t> inside </a:t>
            </a:r>
            <a:r>
              <a:rPr>
                <a:latin typeface="Courier"/>
              </a:rPr>
              <a:t>scale_color_manual(values = c(...))</a:t>
            </a:r>
            <a:r>
              <a:rPr/>
              <a:t>, what would the plot have shown, and why does R treat those as different?</a:t>
            </a:r>
          </a:p>
          <a:p>
            <a:pPr lvl="0" indent="-342900" marL="342900">
              <a:buAutoNum type="arabicPeriod"/>
            </a:pPr>
            <a:r>
              <a:rPr/>
              <a:t>In plain language, what does </a:t>
            </a:r>
            <a:r>
              <a:rPr>
                <a:latin typeface="Courier"/>
              </a:rPr>
              <a:t>facet_wrap()</a:t>
            </a:r>
            <a:r>
              <a:rPr/>
              <a:t> do to your </a:t>
            </a:r>
            <a:r>
              <a:rPr b="1"/>
              <a:t>data</a:t>
            </a:r>
            <a:r>
              <a:rPr/>
              <a:t> that </a:t>
            </a:r>
            <a:r>
              <a:rPr>
                <a:latin typeface="Courier"/>
              </a:rPr>
              <a:t>scale_color_manual()</a:t>
            </a:r>
            <a:r>
              <a:rPr/>
              <a:t> does </a:t>
            </a:r>
            <a:r>
              <a:rPr b="1"/>
              <a:t>not</a:t>
            </a:r>
            <a:r>
              <a:rPr/>
              <a:t> — and why does that distinction matter?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%&gt;%</a:t>
            </a:r>
            <a:r>
              <a:rPr b="1"/>
              <a:t> or </a:t>
            </a:r>
            <a:r>
              <a:rPr b="1">
                <a:latin typeface="Courier"/>
              </a:rPr>
              <a:t>+</a:t>
            </a:r>
            <a:r>
              <a:rPr b="1"/>
              <a:t>?</a:t>
            </a:r>
            <a:r>
              <a:rPr/>
              <a:t> Data steps use </a:t>
            </a:r>
            <a:r>
              <a:rPr>
                <a:latin typeface="Courier"/>
              </a:rPr>
              <a:t>%&gt;%</a:t>
            </a:r>
            <a:r>
              <a:rPr/>
              <a:t>. Plot layers use </a:t>
            </a:r>
            <a:r>
              <a:rPr>
                <a:latin typeface="Courier"/>
              </a:rPr>
              <a:t>+</a:t>
            </a:r>
            <a:r>
              <a:rPr/>
              <a:t>. Mixing them is the #1 ggplot error.</a:t>
            </a:r>
          </a:p>
          <a:p>
            <a:pPr lvl="0" indent="-342900" marL="342900">
              <a:buAutoNum type="arabicPeriod"/>
            </a:pPr>
            <a:r>
              <a:rPr b="1"/>
              <a:t>Color not showing up?</a:t>
            </a:r>
            <a:r>
              <a:rPr/>
              <a:t> Check that the names inside </a:t>
            </a:r>
            <a:r>
              <a:rPr>
                <a:latin typeface="Courier"/>
              </a:rPr>
              <a:t>scale_*_manual(values = c(...))</a:t>
            </a:r>
            <a:r>
              <a:rPr/>
              <a:t> exactly match the values in your data — spelling and case both count.</a:t>
            </a:r>
          </a:p>
          <a:p>
            <a:pPr lvl="0" indent="-342900" marL="342900">
              <a:buAutoNum type="arabicPeriod"/>
            </a:pPr>
            <a:r>
              <a:rPr b="1"/>
              <a:t>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class, Canvas, or office hours.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the GGplot I worksheet. Next: GGplot II — more geoms, </a:t>
            </a:r>
            <a:r>
              <a:rPr i="1">
                <a:latin typeface="Courier"/>
              </a:rPr>
              <a:t>coord_cartesian()</a:t>
            </a:r>
            <a:r>
              <a:rPr i="1"/>
              <a:t>, and themes.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 03 - GGPlot I</dc:title>
  <dc:creator>Bill Perry</dc:creator>
  <cp:keywords/>
  <dc:description>Hands-on companion to the GGPlot I lecture. Pipe into ggplot(), choose colors on purpose, split plots with facets, and build a mean ± SE plot with stat_summary().</dc:description>
  <dcterms:created xsi:type="dcterms:W3CDTF">2026-08-27T20:05:39Z</dcterms:created>
  <dcterms:modified xsi:type="dcterms:W3CDTF">2026-08-27T20:05:39Z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3</vt:lpwstr>
  </property>
  <property fmtid="{D5CDD505-2E9C-101B-9397-08002B2CF9AE}" pid="13" name="resources">
    <vt:lpwstr/>
  </property>
  <property fmtid="{D5CDD505-2E9C-101B-9397-08002B2CF9AE}" pid="14" name="subtitle">
    <vt:lpwstr>Grouped summaries, facets, and the pipe into ggplot</vt:lpwstr>
  </property>
  <property fmtid="{D5CDD505-2E9C-101B-9397-08002B2CF9AE}" pid="15" name="toc-title">
    <vt:lpwstr>Table of contents</vt:lpwstr>
  </property>
  <property fmtid="{D5CDD505-2E9C-101B-9397-08002B2CF9AE}" pid="16" name="type">
    <vt:lpwstr>activity</vt:lpwstr>
  </property>
  <property fmtid="{D5CDD505-2E9C-101B-9397-08002B2CF9AE}" pid="17" name="week">
    <vt:lpwstr>2</vt:lpwstr>
  </property>
</Properties>
</file>