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4" Type="http://schemas.openxmlformats.org/officeDocument/2006/relationships/viewProps" Target="viewProps.xml" /><Relationship Id="rId1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6" Type="http://schemas.openxmlformats.org/officeDocument/2006/relationships/tableStyles" Target="tableStyles.xml" /><Relationship Id="rId1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posit.co/resources/cheatsheets/" TargetMode="Externa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Activity 03 - GGPlot I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Grouped summaries, facets, and the pipe into ggplot</a:t>
            </a:r>
            <a:br/>
            <a:br/>
            <a:r>
              <a:rPr/>
              <a:t>Bill Perry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2026-08-27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Grouped Summaries and Facets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Recap from Worksheet 02</a:t>
            </a:r>
          </a:p>
          <a:p>
            <a:pPr lvl="0"/>
            <a:r>
              <a:rPr/>
              <a:t>Installed R and Positron; created a project folder (</a:t>
            </a:r>
            <a:r>
              <a:rPr>
                <a:latin typeface="Courier"/>
              </a:rPr>
              <a:t>data/</a:t>
            </a:r>
            <a:r>
              <a:rPr/>
              <a:t>, </a:t>
            </a:r>
            <a:r>
              <a:rPr>
                <a:latin typeface="Courier"/>
              </a:rPr>
              <a:t>scripts/</a:t>
            </a:r>
            <a:r>
              <a:rPr/>
              <a:t>, </a:t>
            </a:r>
            <a:r>
              <a:rPr>
                <a:latin typeface="Courier"/>
              </a:rPr>
              <a:t>figures/</a:t>
            </a:r>
            <a:r>
              <a:rPr/>
              <a:t>)</a:t>
            </a:r>
          </a:p>
          <a:p>
            <a:pPr lvl="0"/>
            <a:r>
              <a:rPr/>
              <a:t>Loaded our leaf data with </a:t>
            </a:r>
            <a:r>
              <a:rPr>
                <a:latin typeface="Courier"/>
              </a:rPr>
              <a:t>read_excel()</a:t>
            </a:r>
            <a:r>
              <a:rPr/>
              <a:t> and </a:t>
            </a:r>
            <a:r>
              <a:rPr>
                <a:latin typeface="Courier"/>
              </a:rPr>
              <a:t>clean_names()</a:t>
            </a:r>
          </a:p>
          <a:p>
            <a:pPr lvl="0"/>
            <a:r>
              <a:rPr/>
              <a:t>Used the pipe </a:t>
            </a:r>
            <a:r>
              <a:rPr>
                <a:latin typeface="Courier"/>
              </a:rPr>
              <a:t>%&gt;%</a:t>
            </a:r>
            <a:r>
              <a:rPr/>
              <a:t> to chain steps</a:t>
            </a:r>
          </a:p>
          <a:p>
            <a:pPr lvl="0"/>
            <a:r>
              <a:rPr/>
              <a:t>Made a first </a:t>
            </a:r>
            <a:r>
              <a:rPr>
                <a:latin typeface="Courier"/>
              </a:rPr>
              <a:t>geom_point()</a:t>
            </a:r>
            <a:r>
              <a:rPr/>
              <a:t> plot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Today’s Objectives</a:t>
            </a:r>
          </a:p>
          <a:p>
            <a:pPr lvl="0" indent="-342900" marL="342900">
              <a:buAutoNum type="arabicPeriod"/>
            </a:pPr>
            <a:r>
              <a:rPr/>
              <a:t>Start every plot by piping the data frame into </a:t>
            </a:r>
            <a:r>
              <a:rPr>
                <a:latin typeface="Courier"/>
              </a:rPr>
              <a:t>ggplot()</a:t>
            </a:r>
          </a:p>
          <a:p>
            <a:pPr lvl="0" indent="-342900" marL="342900">
              <a:buAutoNum type="arabicPeriod"/>
            </a:pPr>
            <a:r>
              <a:rPr/>
              <a:t>Assign exact colors to exact groups with </a:t>
            </a:r>
            <a:r>
              <a:rPr>
                <a:latin typeface="Courier"/>
              </a:rPr>
              <a:t>scale_fill_manual()</a:t>
            </a:r>
            <a:r>
              <a:rPr/>
              <a:t> / </a:t>
            </a:r>
            <a:r>
              <a:rPr>
                <a:latin typeface="Courier"/>
              </a:rPr>
              <a:t>scale_color_manual()</a:t>
            </a:r>
          </a:p>
          <a:p>
            <a:pPr lvl="0" indent="-342900" marL="342900">
              <a:buAutoNum type="arabicPeriod"/>
            </a:pPr>
            <a:r>
              <a:rPr/>
              <a:t>Split a plot into panels with </a:t>
            </a:r>
            <a:r>
              <a:rPr>
                <a:latin typeface="Courier"/>
              </a:rPr>
              <a:t>facet_wrap()</a:t>
            </a:r>
            <a:r>
              <a:rPr/>
              <a:t> and </a:t>
            </a:r>
            <a:r>
              <a:rPr>
                <a:latin typeface="Courier"/>
              </a:rPr>
              <a:t>facet_grid()</a:t>
            </a:r>
          </a:p>
          <a:p>
            <a:pPr lvl="0" indent="-342900" marL="342900">
              <a:buAutoNum type="arabicPeriod"/>
            </a:pPr>
            <a:r>
              <a:rPr/>
              <a:t>Build a mean ± SE plot with </a:t>
            </a:r>
            <a:r>
              <a:rPr>
                <a:latin typeface="Courier"/>
              </a:rPr>
              <a:t>stat_summary()</a:t>
            </a:r>
          </a:p>
          <a:p>
            <a:pPr lvl="0" indent="-342900" marL="342900">
              <a:buAutoNum type="arabicPeriod"/>
            </a:pPr>
            <a:r>
              <a:rPr/>
              <a:t>Save the finished plot to </a:t>
            </a:r>
            <a:r>
              <a:rPr>
                <a:latin typeface="Courier"/>
              </a:rPr>
              <a:t>figures/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sz="2000" b="1"/>
              <a:t>How to use this worksheet</a:t>
            </a:r>
          </a:p>
          <a:p>
            <a:pPr lvl="0" indent="0" marL="1270000">
              <a:buNone/>
            </a:pPr>
            <a:r>
              <a:rPr sz="2000"/>
              <a:t>Work through each part at your own pace. Type the code into a new R script in Positron and run it line by line. Code blocks marked </a:t>
            </a:r>
            <a:r>
              <a:rPr sz="2000" b="1"/>
              <a:t>▶ Run this</a:t>
            </a:r>
            <a:r>
              <a:rPr sz="2000"/>
              <a:t> should be executed exactly as written. Blocks marked </a:t>
            </a:r>
            <a:r>
              <a:rPr sz="2000" b="1"/>
              <a:t>✏️ Your turn</a:t>
            </a:r>
            <a:r>
              <a:rPr sz="2000"/>
              <a:t> ask you to write or modify something.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sz="2000" b="1"/>
              <a:t>🔮 Predict before you run — and type, don’t paste</a:t>
            </a:r>
          </a:p>
          <a:p>
            <a:pPr lvl="0" indent="0" marL="1270000">
              <a:buNone/>
            </a:pPr>
            <a:r>
              <a:rPr sz="2000"/>
              <a:t>Before you run any </a:t>
            </a:r>
            <a:r>
              <a:rPr sz="2000" b="1"/>
              <a:t>▶ Run this</a:t>
            </a:r>
            <a:r>
              <a:rPr sz="2000"/>
              <a:t> block, cover the output and </a:t>
            </a:r>
            <a:r>
              <a:rPr sz="2000" i="1"/>
              <a:t>predict</a:t>
            </a:r>
            <a:r>
              <a:rPr sz="2000"/>
              <a:t> what R will draw. Typing </a:t>
            </a:r>
            <a:r>
              <a:rPr sz="2000">
                <a:latin typeface="Courier"/>
              </a:rPr>
              <a:t>scale_fill_manual()</a:t>
            </a:r>
            <a:r>
              <a:rPr sz="2000"/>
              <a:t>, </a:t>
            </a:r>
            <a:r>
              <a:rPr sz="2000">
                <a:latin typeface="Courier"/>
              </a:rPr>
              <a:t>facet_wrap()</a:t>
            </a:r>
            <a:r>
              <a:rPr sz="2000"/>
              <a:t>, and </a:t>
            </a:r>
            <a:r>
              <a:rPr sz="2000">
                <a:latin typeface="Courier"/>
              </a:rPr>
              <a:t>stat_summary()</a:t>
            </a:r>
            <a:r>
              <a:rPr sz="2000"/>
              <a:t> by hand — instead of pasting — is what makes the syntax stick.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1 · Load libraries and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▶ Run this at the top of your script: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(readxl)      </a:t>
            </a:r>
            <a:r>
              <a:rPr>
                <a:solidFill>
                  <a:srgbClr val="5E5E5E"/>
                </a:solidFill>
                <a:latin typeface="Courier"/>
              </a:rPr>
              <a:t># reading Excel files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   </a:t>
            </a:r>
            <a:r>
              <a:rPr>
                <a:solidFill>
                  <a:srgbClr val="5E5E5E"/>
                </a:solidFill>
                <a:latin typeface="Courier"/>
              </a:rPr>
              <a:t># data manipulation + ggplot2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(janitor)     </a:t>
            </a:r>
            <a:r>
              <a:rPr>
                <a:solidFill>
                  <a:srgbClr val="5E5E5E"/>
                </a:solidFill>
                <a:latin typeface="Courier"/>
              </a:rPr>
              <a:t># cleans up messy column names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tree_df &lt;- </a:t>
            </a:r>
            <a:r>
              <a:rPr>
                <a:solidFill>
                  <a:srgbClr val="4758AB"/>
                </a:solidFill>
                <a:latin typeface="Courier"/>
              </a:rPr>
              <a:t>read_excel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"data/2026_06_25_tree_experiment_raw_data.xlsx"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clean_names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glimpse</a:t>
            </a:r>
            <a:r>
              <a:rPr>
                <a:solidFill>
                  <a:srgbClr val="003B4F"/>
                </a:solidFill>
                <a:latin typeface="Courier"/>
              </a:rPr>
              <a:t>(tree_df)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2 · Piping into ggplot, and choosing colors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Pipe the data frame straight into </a:t>
            </a:r>
            <a:r>
              <a:rPr b="1">
                <a:latin typeface="Courier"/>
              </a:rPr>
              <a:t>ggplot()</a:t>
            </a:r>
          </a:p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weight_g,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side))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geom_boxplot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0.6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outlier.shape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geom_jitter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0.6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"Leaf Weight by Tree Side"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 of Tree"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"Leaf Weight (g)"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 marL="1270000">
              <a:buNone/>
            </a:pPr>
            <a:r>
              <a:rPr sz="2000"/>
              <a:t>⚠️ </a:t>
            </a:r>
            <a:r>
              <a:rPr sz="2000" b="1"/>
              <a:t>Watch out!</a:t>
            </a:r>
            <a:r>
              <a:rPr sz="2000"/>
              <a:t> </a:t>
            </a:r>
            <a:r>
              <a:rPr sz="2000">
                <a:latin typeface="Courier"/>
              </a:rPr>
              <a:t>%&gt;%</a:t>
            </a:r>
            <a:r>
              <a:rPr sz="2000"/>
              <a:t> connects data steps. </a:t>
            </a:r>
            <a:r>
              <a:rPr sz="2000">
                <a:latin typeface="Courier"/>
              </a:rPr>
              <a:t>+</a:t>
            </a:r>
            <a:r>
              <a:rPr sz="2000"/>
              <a:t> connects plot layers. Do not mix them up.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Fill in the blank to pipe </a:t>
            </a:r>
            <a:r>
              <a:rPr>
                <a:latin typeface="Courier"/>
              </a:rPr>
              <a:t>tree_df</a:t>
            </a:r>
            <a:r>
              <a:rPr/>
              <a:t> into a plot of </a:t>
            </a:r>
            <a:r>
              <a:rPr>
                <a:latin typeface="Courier"/>
              </a:rPr>
              <a:t>height_cm</a:t>
            </a:r>
            <a:r>
              <a:rPr/>
              <a:t> by </a:t>
            </a:r>
            <a:r>
              <a:rPr>
                <a:latin typeface="Courier"/>
              </a:rPr>
              <a:t>side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tree_df ___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height_cm,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side)) ___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geom_boxplot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0.6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Assign colors on purpose</a:t>
            </a:r>
          </a:p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 marL="1270000">
              <a:buNone/>
            </a:pPr>
            <a:r>
              <a:rPr sz="2000"/>
              <a:t>🔮 </a:t>
            </a:r>
            <a:r>
              <a:rPr sz="2000" b="1"/>
              <a:t>Predict first:</a:t>
            </a:r>
            <a:r>
              <a:rPr sz="2000"/>
              <a:t> We have two groups, </a:t>
            </a:r>
            <a:r>
              <a:rPr sz="2000">
                <a:latin typeface="Courier"/>
              </a:rPr>
              <a:t>sunny</a:t>
            </a:r>
            <a:r>
              <a:rPr sz="2000"/>
              <a:t> and </a:t>
            </a:r>
            <a:r>
              <a:rPr sz="2000">
                <a:latin typeface="Courier"/>
              </a:rPr>
              <a:t>shady</a:t>
            </a:r>
            <a:r>
              <a:rPr sz="2000"/>
              <a:t>. How many colors do we need to list inside </a:t>
            </a:r>
            <a:r>
              <a:rPr sz="2000">
                <a:latin typeface="Courier"/>
              </a:rPr>
              <a:t>scale_fill_manual()</a:t>
            </a:r>
            <a:r>
              <a:rPr sz="2000"/>
              <a:t>?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weight_g,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side))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geom_boxplot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0.6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outlier.shape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geom_jitter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0.6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scale_fill_manual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values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20794D"/>
                </a:solidFill>
                <a:latin typeface="Courier"/>
              </a:rPr>
              <a:t>"sunny"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20794D"/>
                </a:solidFill>
                <a:latin typeface="Courier"/>
              </a:rPr>
              <a:t>"goldenrod"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20794D"/>
                </a:solidFill>
                <a:latin typeface="Courier"/>
              </a:rPr>
              <a:t>"shady"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20794D"/>
                </a:solidFill>
                <a:latin typeface="Courier"/>
              </a:rPr>
              <a:t>"forestgreen"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"Leaf Weight by Tree Side"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 of Tree"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"Leaf Weight (g)"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legend.position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"none"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Change the two colors to </a:t>
            </a:r>
            <a:r>
              <a:rPr>
                <a:latin typeface="Courier"/>
              </a:rPr>
              <a:t>"orange"</a:t>
            </a:r>
            <a:r>
              <a:rPr/>
              <a:t> and </a:t>
            </a:r>
            <a:r>
              <a:rPr>
                <a:latin typeface="Courier"/>
              </a:rPr>
              <a:t>"darkgreen"</a:t>
            </a:r>
            <a:r>
              <a:rPr/>
              <a:t>. What happens if you misspell </a:t>
            </a:r>
            <a:r>
              <a:rPr>
                <a:latin typeface="Courier"/>
              </a:rPr>
              <a:t>"shady"</a:t>
            </a:r>
            <a:r>
              <a:rPr/>
              <a:t> as </a:t>
            </a:r>
            <a:r>
              <a:rPr>
                <a:latin typeface="Courier"/>
              </a:rPr>
              <a:t>"Shady"</a:t>
            </a:r>
            <a:r>
              <a:rPr/>
              <a:t> in </a:t>
            </a:r>
            <a:r>
              <a:rPr>
                <a:latin typeface="Courier"/>
              </a:rPr>
              <a:t>values = c(...)</a:t>
            </a:r>
            <a:r>
              <a:rPr/>
              <a:t>?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Write your modified code here:</a:t>
            </a:r>
          </a:p>
          <a:p>
            <a:pPr lvl="0" indent="0">
              <a:buNone/>
            </a:pPr>
            <a:r>
              <a:rPr>
                <a:latin typeface="Courier"/>
              </a:rPr>
              <a:t>What happened when you misspelled the name: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3 · Facets — </a:t>
            </a:r>
            <a:r>
              <a:rPr>
                <a:latin typeface="Courier"/>
              </a:rPr>
              <a:t>facet_wrap()</a:t>
            </a:r>
            <a:r>
              <a:rPr/>
              <a:t> and </a:t>
            </a:r>
            <a:r>
              <a:rPr>
                <a:latin typeface="Courier"/>
              </a:rPr>
              <a:t>facet_grid()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>
                <a:latin typeface="Courier"/>
              </a:rPr>
              <a:t>facet_wrap()</a:t>
            </a:r>
            <a:r>
              <a:rPr b="1"/>
              <a:t> — one panel per group</a:t>
            </a:r>
          </a:p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weight_g,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side))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geom_histogram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binwidth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"white"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facet_wrap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side)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scale_fill_manual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values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"sunny"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20794D"/>
                </a:solidFill>
                <a:latin typeface="Courier"/>
              </a:rPr>
              <a:t>"goldenrod"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"shady"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20794D"/>
                </a:solidFill>
                <a:latin typeface="Courier"/>
              </a:rPr>
              <a:t>"forestgreen"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"Leaf Weight (g)"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"Count"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"Weight Distribution by Side"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legend.position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"none"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Make the same faceted histogram for </a:t>
            </a:r>
            <a:r>
              <a:rPr>
                <a:latin typeface="Courier"/>
              </a:rPr>
              <a:t>height_cm</a:t>
            </a:r>
            <a:r>
              <a:rPr/>
              <a:t> instead of </a:t>
            </a:r>
            <a:r>
              <a:rPr>
                <a:latin typeface="Courier"/>
              </a:rPr>
              <a:t>weight_g</a:t>
            </a:r>
            <a:r>
              <a:rPr/>
              <a:t>.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Write your code here: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>
                <a:latin typeface="Courier"/>
              </a:rPr>
              <a:t>facet_grid()</a:t>
            </a:r>
            <a:r>
              <a:rPr b="1"/>
              <a:t> — a strict grid</a:t>
            </a:r>
          </a:p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weight_g,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side))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geom_histogram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binwidth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"white"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facet_grid</a:t>
            </a:r>
            <a:r>
              <a:rPr>
                <a:solidFill>
                  <a:srgbClr val="003B4F"/>
                </a:solidFill>
                <a:latin typeface="Courier"/>
              </a:rPr>
              <a:t>(side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.)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scale_fill_manual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values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"sunny"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20794D"/>
                </a:solidFill>
                <a:latin typeface="Courier"/>
              </a:rPr>
              <a:t>"goldenrod"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"shady"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20794D"/>
                </a:solidFill>
                <a:latin typeface="Courier"/>
              </a:rPr>
              <a:t>"forestgreen"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"Leaf Weight (g)"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"Count"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legend.position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"none"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Change </a:t>
            </a:r>
            <a:r>
              <a:rPr>
                <a:latin typeface="Courier"/>
              </a:rPr>
              <a:t>facet_grid(side ~ .)</a:t>
            </a:r>
            <a:r>
              <a:rPr/>
              <a:t> to </a:t>
            </a:r>
            <a:r>
              <a:rPr>
                <a:latin typeface="Courier"/>
              </a:rPr>
              <a:t>facet_grid(. ~ side)</a:t>
            </a:r>
            <a:r>
              <a:rPr/>
              <a:t>. What changes — rows or columns?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Write your modified code here:</a:t>
            </a:r>
          </a:p>
          <a:p>
            <a:pPr lvl="0" indent="0">
              <a:buNone/>
            </a:pPr>
            <a:r>
              <a:rPr>
                <a:latin typeface="Courier"/>
              </a:rPr>
              <a:t>What changed: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In one sentence, when would you reach for </a:t>
            </a:r>
            <a:r>
              <a:rPr>
                <a:latin typeface="Courier"/>
              </a:rPr>
              <a:t>facet_grid()</a:t>
            </a:r>
            <a:r>
              <a:rPr/>
              <a:t> instead of </a:t>
            </a:r>
            <a:r>
              <a:rPr>
                <a:latin typeface="Courier"/>
              </a:rPr>
              <a:t>facet_wrap()</a:t>
            </a:r>
            <a:r>
              <a:rPr/>
              <a:t>?</a:t>
            </a:r>
          </a:p>
          <a:p>
            <a:pPr lvl="0" indent="0">
              <a:buNone/>
            </a:pPr>
            <a:r>
              <a:rPr>
                <a:latin typeface="Courier"/>
              </a:rPr>
              <a:t>Your answer: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4 · Mean ± SE with </a:t>
            </a:r>
            <a:r>
              <a:rPr>
                <a:latin typeface="Courier"/>
              </a:rPr>
              <a:t>stat_summary()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mean as a layer</a:t>
            </a:r>
          </a:p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weight_g,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side))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geom_jitter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stat_summary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fun =</a:t>
            </a:r>
            <a:r>
              <a:rPr>
                <a:solidFill>
                  <a:srgbClr val="003B4F"/>
                </a:solidFill>
                <a:latin typeface="Courier"/>
              </a:rPr>
              <a:t> mean, </a:t>
            </a:r>
            <a:r>
              <a:rPr>
                <a:solidFill>
                  <a:srgbClr val="657422"/>
                </a:solidFill>
                <a:latin typeface="Courier"/>
              </a:rPr>
              <a:t>geom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"point"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"black"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scale_color_manual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values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"sunny"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20794D"/>
                </a:solidFill>
                <a:latin typeface="Courier"/>
              </a:rPr>
              <a:t>"goldenrod"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"shady"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20794D"/>
                </a:solidFill>
                <a:latin typeface="Courier"/>
              </a:rPr>
              <a:t>"forestgreen"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"Leaf Weight with Group Means"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 of Tree"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"Leaf Weight (g)"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legend.position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"none"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Mean ± SE</a:t>
            </a:r>
          </a:p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 marL="1270000">
              <a:buNone/>
            </a:pPr>
            <a:r>
              <a:rPr sz="2000"/>
              <a:t>🔮 </a:t>
            </a:r>
            <a:r>
              <a:rPr sz="2000" b="1"/>
              <a:t>Predict first:</a:t>
            </a:r>
            <a:r>
              <a:rPr sz="2000"/>
              <a:t> </a:t>
            </a:r>
            <a:r>
              <a:rPr sz="2000">
                <a:latin typeface="Courier"/>
              </a:rPr>
              <a:t>fun.data = mean_se</a:t>
            </a:r>
            <a:r>
              <a:rPr sz="2000"/>
              <a:t> returns three numbers per group. Two of them are the top and bottom of the error bar. What’s the third?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tree_mean_se_plot &lt;- 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weight_g,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side))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geom_jitter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0.35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stat_summary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fun =</a:t>
            </a:r>
            <a:r>
              <a:rPr>
                <a:solidFill>
                  <a:srgbClr val="003B4F"/>
                </a:solidFill>
                <a:latin typeface="Courier"/>
              </a:rPr>
              <a:t> mean, </a:t>
            </a:r>
            <a:r>
              <a:rPr>
                <a:solidFill>
                  <a:srgbClr val="657422"/>
                </a:solidFill>
                <a:latin typeface="Courier"/>
              </a:rPr>
              <a:t>geom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"point"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stat_summary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fun.data =</a:t>
            </a:r>
            <a:r>
              <a:rPr>
                <a:solidFill>
                  <a:srgbClr val="003B4F"/>
                </a:solidFill>
                <a:latin typeface="Courier"/>
              </a:rPr>
              <a:t> mean_se,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geom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"errorbar"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linewidth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0.9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scale_color_manual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values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"sunny"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20794D"/>
                </a:solidFill>
                <a:latin typeface="Courier"/>
              </a:rPr>
              <a:t>"goldenrod"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"shady"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20794D"/>
                </a:solidFill>
                <a:latin typeface="Courier"/>
              </a:rPr>
              <a:t>"forestgreen"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"Mean ± SE Leaf Weight by Tree Side"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 of Tree"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"Leaf Weight (g)"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legend.position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"none"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tree_mean_se_plot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Change </a:t>
            </a:r>
            <a:r>
              <a:rPr>
                <a:latin typeface="Courier"/>
              </a:rPr>
              <a:t>fun = mean</a:t>
            </a:r>
            <a:r>
              <a:rPr/>
              <a:t> in the first </a:t>
            </a:r>
            <a:r>
              <a:rPr>
                <a:latin typeface="Courier"/>
              </a:rPr>
              <a:t>stat_summary()</a:t>
            </a:r>
            <a:r>
              <a:rPr/>
              <a:t> to </a:t>
            </a:r>
            <a:r>
              <a:rPr>
                <a:latin typeface="Courier"/>
              </a:rPr>
              <a:t>fun = median</a:t>
            </a:r>
            <a:r>
              <a:rPr/>
              <a:t>. What changes in the plot?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Write your modified code here:</a:t>
            </a:r>
          </a:p>
          <a:p>
            <a:pPr lvl="0" indent="0">
              <a:buNone/>
            </a:pPr>
            <a:r>
              <a:rPr>
                <a:latin typeface="Courier"/>
              </a:rPr>
              <a:t>What changed: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Do the error bars for sunny and shady overlap? What might that suggest about whether the two groups actually differ?</a:t>
            </a:r>
          </a:p>
          <a:p>
            <a:pPr lvl="0" indent="0">
              <a:buNone/>
            </a:pPr>
            <a:r>
              <a:rPr>
                <a:latin typeface="Courier"/>
              </a:rPr>
              <a:t>Do the error bars overlap?  Y / N
What that might suggest: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5 · Save your 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ggsave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"figures/leaf_weight_mean_se.png"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plot   =</a:t>
            </a:r>
            <a:r>
              <a:rPr>
                <a:solidFill>
                  <a:srgbClr val="003B4F"/>
                </a:solidFill>
                <a:latin typeface="Courier"/>
              </a:rPr>
              <a:t> tree_mean_se_plot,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width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height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units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"in"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dpi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300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6 · Review and checkpoint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At this point you should be able to:</a:t>
            </a:r>
          </a:p>
          <a:p>
            <a:pPr lvl="0"/>
            <a:r>
              <a:rPr/>
              <a:t>☐ Pipe a data frame straight into </a:t>
            </a:r>
            <a:r>
              <a:rPr>
                <a:latin typeface="Courier"/>
              </a:rPr>
              <a:t>ggplot()</a:t>
            </a:r>
          </a:p>
          <a:p>
            <a:pPr lvl="0"/>
            <a:r>
              <a:rPr/>
              <a:t>☐ Assign exact colors to exact groups with </a:t>
            </a:r>
            <a:r>
              <a:rPr>
                <a:latin typeface="Courier"/>
              </a:rPr>
              <a:t>scale_fill_manual()</a:t>
            </a:r>
            <a:r>
              <a:rPr/>
              <a:t> / </a:t>
            </a:r>
            <a:r>
              <a:rPr>
                <a:latin typeface="Courier"/>
              </a:rPr>
              <a:t>scale_color_manual()</a:t>
            </a:r>
          </a:p>
          <a:p>
            <a:pPr lvl="0"/>
            <a:r>
              <a:rPr/>
              <a:t>☐ Split a plot into panels with </a:t>
            </a:r>
            <a:r>
              <a:rPr>
                <a:latin typeface="Courier"/>
              </a:rPr>
              <a:t>facet_wrap()</a:t>
            </a:r>
          </a:p>
          <a:p>
            <a:pPr lvl="0"/>
            <a:r>
              <a:rPr/>
              <a:t>☐ Split a plot into panels with </a:t>
            </a:r>
            <a:r>
              <a:rPr>
                <a:latin typeface="Courier"/>
              </a:rPr>
              <a:t>facet_grid()</a:t>
            </a:r>
          </a:p>
          <a:p>
            <a:pPr lvl="0"/>
            <a:r>
              <a:rPr/>
              <a:t>☐ Add a mean layer with </a:t>
            </a:r>
            <a:r>
              <a:rPr>
                <a:latin typeface="Courier"/>
              </a:rPr>
              <a:t>stat_summary(fun = mean, geom = "point")</a:t>
            </a:r>
          </a:p>
          <a:p>
            <a:pPr lvl="0"/>
            <a:r>
              <a:rPr/>
              <a:t>☐ Add a mean ± SE layer with </a:t>
            </a:r>
            <a:r>
              <a:rPr>
                <a:latin typeface="Courier"/>
              </a:rPr>
              <a:t>stat_summary(fun.data = mean_se, geom = "errorbar")</a:t>
            </a:r>
          </a:p>
          <a:p>
            <a:pPr lvl="0"/>
            <a:r>
              <a:rPr/>
              <a:t>☐ Save a plot with </a:t>
            </a:r>
            <a:r>
              <a:rPr>
                <a:latin typeface="Courier"/>
              </a:rPr>
              <a:t>ggsave()</a:t>
            </a:r>
            <a:r>
              <a:rPr/>
              <a:t> at </a:t>
            </a:r>
            <a:r>
              <a:rPr>
                <a:latin typeface="Courier"/>
              </a:rPr>
              <a:t>dpi = 300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 — before you move on:</a:t>
            </a:r>
            <a:r>
              <a:rPr/>
              <a:t> Run your entire script with </a:t>
            </a:r>
            <a:r>
              <a:rPr b="1"/>
              <a:t>Ctrl/Cmd + Shift + Enter</a:t>
            </a:r>
            <a:r>
              <a:rPr/>
              <a:t>. Does it complete without errors?</a:t>
            </a:r>
          </a:p>
          <a:p>
            <a:pPr lvl="0" indent="0">
              <a:buNone/>
            </a:pPr>
            <a:r>
              <a:rPr>
                <a:latin typeface="Courier"/>
              </a:rPr>
              <a:t>Ran cleanly?  Y / N
If not, what error appeared: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What your </a:t>
            </a:r>
            <a:r>
              <a:rPr>
                <a:latin typeface="Courier"/>
              </a:rPr>
              <a:t>figures/</a:t>
            </a:r>
            <a:r>
              <a:rPr/>
              <a:t> folder should contain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tree_project/
├── data/
│   └── 2026_06_25_tree_experiment_raw_data.xlsx   &lt;- never edit this
├── figures/
│   └── leaf_weight_mean_se.png                     &lt;- Part 5
└── scripts/
    └── 03_ggplot_1.R                               &lt;- your script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Getting unstuck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Read the error message out loud.</a:t>
            </a:r>
            <a:r>
              <a:rPr/>
              <a:t> R usually names the line and the problem.</a:t>
            </a:r>
          </a:p>
          <a:p>
            <a:pPr lvl="0" indent="-342900" marL="342900">
              <a:buAutoNum type="arabicPeriod"/>
            </a:pPr>
            <a:r>
              <a:rPr b="1">
                <a:latin typeface="Courier"/>
              </a:rPr>
              <a:t>%&gt;%</a:t>
            </a:r>
            <a:r>
              <a:rPr b="1"/>
              <a:t> or </a:t>
            </a:r>
            <a:r>
              <a:rPr b="1">
                <a:latin typeface="Courier"/>
              </a:rPr>
              <a:t>+</a:t>
            </a:r>
            <a:r>
              <a:rPr b="1"/>
              <a:t>?</a:t>
            </a:r>
            <a:r>
              <a:rPr/>
              <a:t> Data steps use </a:t>
            </a:r>
            <a:r>
              <a:rPr>
                <a:latin typeface="Courier"/>
              </a:rPr>
              <a:t>%&gt;%</a:t>
            </a:r>
            <a:r>
              <a:rPr/>
              <a:t>. Plot layers use </a:t>
            </a:r>
            <a:r>
              <a:rPr>
                <a:latin typeface="Courier"/>
              </a:rPr>
              <a:t>+</a:t>
            </a:r>
            <a:r>
              <a:rPr/>
              <a:t>. Mixing them is the #1 ggplot error.</a:t>
            </a:r>
          </a:p>
          <a:p>
            <a:pPr lvl="0" indent="-342900" marL="342900">
              <a:buAutoNum type="arabicPeriod"/>
            </a:pPr>
            <a:r>
              <a:rPr b="1"/>
              <a:t>Color not showing up?</a:t>
            </a:r>
            <a:r>
              <a:rPr/>
              <a:t> Check that the names inside </a:t>
            </a:r>
            <a:r>
              <a:rPr>
                <a:latin typeface="Courier"/>
              </a:rPr>
              <a:t>scale_*_manual(values = c(...))</a:t>
            </a:r>
            <a:r>
              <a:rPr/>
              <a:t> exactly match the values in your data — spelling and case both count.</a:t>
            </a:r>
          </a:p>
          <a:p>
            <a:pPr lvl="0" indent="-342900" marL="342900">
              <a:buAutoNum type="arabicPeriod"/>
            </a:pPr>
            <a:r>
              <a:rPr b="1"/>
              <a:t>Cheat sheets</a:t>
            </a:r>
            <a:r>
              <a:rPr/>
              <a:t> — </a:t>
            </a:r>
            <a:r>
              <a:rPr>
                <a:hlinkClick r:id="rId2"/>
              </a:rPr>
              <a:t>https://posit.co/resources/cheatsheets/</a:t>
            </a:r>
          </a:p>
          <a:p>
            <a:pPr lvl="0" indent="-342900" marL="342900">
              <a:buAutoNum type="arabicPeriod"/>
            </a:pPr>
            <a:r>
              <a:rPr b="1"/>
              <a:t>Bring the exact error</a:t>
            </a:r>
            <a:r>
              <a:rPr/>
              <a:t> (copy-paste it) to class, Canvas, or office hours.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End of Worksheet 03. Next: Worksheet 04 continues with more geoms, </a:t>
            </a:r>
            <a:r>
              <a:rPr i="1">
                <a:latin typeface="Courier"/>
              </a:rPr>
              <a:t>coord_cartesian()</a:t>
            </a:r>
            <a:r>
              <a:rPr i="1"/>
              <a:t>, and themes.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Activity 03 - GGPlot I</dc:title>
  <dc:creator>Bill Perry</dc:creator>
  <cp:keywords/>
  <dc:description>Hands-on companion to the GGPlot I lecture. Pipe into ggplot(), choose colors on purpose, split plots with facets, and build a mean ± SE plot with stat_summary().</dc:description>
  <dcterms:created xsi:type="dcterms:W3CDTF">2026-08-27T17:11:57Z</dcterms:created>
  <dcterms:modified xsi:type="dcterms:W3CDTF">2026-08-27T17:11:57Z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date">
    <vt:lpwstr>2026-08-27</vt:lpwstr>
  </property>
  <property fmtid="{D5CDD505-2E9C-101B-9397-08002B2CF9AE}" pid="7" name="execute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order">
    <vt:lpwstr>3</vt:lpwstr>
  </property>
  <property fmtid="{D5CDD505-2E9C-101B-9397-08002B2CF9AE}" pid="13" name="resources">
    <vt:lpwstr/>
  </property>
  <property fmtid="{D5CDD505-2E9C-101B-9397-08002B2CF9AE}" pid="14" name="subtitle">
    <vt:lpwstr>Grouped summaries, facets, and the pipe into ggplot</vt:lpwstr>
  </property>
  <property fmtid="{D5CDD505-2E9C-101B-9397-08002B2CF9AE}" pid="15" name="toc-title">
    <vt:lpwstr>Table of contents</vt:lpwstr>
  </property>
  <property fmtid="{D5CDD505-2E9C-101B-9397-08002B2CF9AE}" pid="16" name="type">
    <vt:lpwstr>activity</vt:lpwstr>
  </property>
  <property fmtid="{D5CDD505-2E9C-101B-9397-08002B2CF9AE}" pid="17" name="week">
    <vt:lpwstr>2</vt:lpwstr>
  </property>
</Properties>
</file>