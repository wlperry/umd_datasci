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factors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factor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 — One-Way ANOVA I: Start to Finish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the question to a reported F — the whole basic ANOVA in one pass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T-Tests I &amp; II</a:t>
            </a:r>
            <a:r>
              <a:rPr/>
              <a:t> — comparing the means of </a:t>
            </a:r>
            <a:r>
              <a:rPr b="1"/>
              <a:t>two</a:t>
            </a:r>
            <a:r>
              <a:rPr/>
              <a:t> groups with Welch’s t-test</a:t>
            </a:r>
          </a:p>
          <a:p>
            <a:pPr lvl="0"/>
            <a:r>
              <a:rPr b="1"/>
              <a:t>Regression (Lecture 11)</a:t>
            </a:r>
            <a:r>
              <a:rPr/>
              <a:t> — </a:t>
            </a:r>
            <a:r>
              <a:rPr>
                <a:latin typeface="Courier"/>
              </a:rPr>
              <a:t>lm(Y ~ X)</a:t>
            </a:r>
            <a:r>
              <a:rPr/>
              <a:t> with a </a:t>
            </a:r>
            <a:r>
              <a:rPr b="1"/>
              <a:t>numeric</a:t>
            </a:r>
            <a:r>
              <a:rPr/>
              <a:t> predictor</a:t>
            </a:r>
          </a:p>
          <a:p>
            <a:pPr lvl="0"/>
            <a:r>
              <a:rPr b="1"/>
              <a:t>Weather (Lecture 12)</a:t>
            </a:r>
            <a:r>
              <a:rPr/>
              <a:t> — the same </a:t>
            </a:r>
            <a:r>
              <a:rPr>
                <a:latin typeface="Courier"/>
              </a:rPr>
              <a:t>lm()</a:t>
            </a:r>
            <a:r>
              <a:rPr/>
              <a:t>, with a slope read as a rate</a:t>
            </a:r>
          </a:p>
          <a:p>
            <a:pPr lvl="0"/>
            <a:r>
              <a:rPr b="1"/>
              <a:t>Pivoting &amp; Joins (Lectures 15–16)</a:t>
            </a:r>
            <a:r>
              <a:rPr/>
              <a:t> — getting messy data into one tidy table so a model can be fitted to it at all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The t-test compared </a:t>
            </a:r>
            <a:r>
              <a:rPr sz="2000" b="1"/>
              <a:t>two</a:t>
            </a:r>
            <a:r>
              <a:rPr sz="2000"/>
              <a:t> groups. Biology is full of </a:t>
            </a:r>
            <a:r>
              <a:rPr sz="2000" b="1"/>
              <a:t>three-or-more</a:t>
            </a:r>
            <a:r>
              <a:rPr sz="2000"/>
              <a:t> group questions — three species, four sites, five treatments. Today’s twist: it is still </a:t>
            </a:r>
            <a:r>
              <a:rPr sz="2000">
                <a:latin typeface="Courier"/>
              </a:rPr>
              <a:t>lm(Y ~ X)</a:t>
            </a:r>
            <a:r>
              <a:rPr sz="2000"/>
              <a:t>, just with a </a:t>
            </a:r>
            <a:r>
              <a:rPr sz="2000" b="1"/>
              <a:t>categorical</a:t>
            </a:r>
            <a:r>
              <a:rPr sz="2000"/>
              <a:t> X. That is </a:t>
            </a:r>
            <a:r>
              <a:rPr sz="2000" b="1"/>
              <a:t>one-way ANOVA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is the </a:t>
            </a:r>
            <a:r>
              <a:rPr b="1"/>
              <a:t>whole basic ANOVA, start to finish</a:t>
            </a:r>
            <a:r>
              <a:rPr/>
              <a:t>:</a:t>
            </a:r>
          </a:p>
          <a:p>
            <a:pPr lvl="0"/>
            <a:r>
              <a:rPr/>
              <a:t>Why we do </a:t>
            </a:r>
            <a:r>
              <a:rPr b="1"/>
              <a:t>not</a:t>
            </a:r>
            <a:r>
              <a:rPr/>
              <a:t> run many t-tests</a:t>
            </a:r>
          </a:p>
          <a:p>
            <a:pPr lvl="0"/>
            <a:r>
              <a:rPr/>
              <a:t>What the </a:t>
            </a:r>
            <a:r>
              <a:rPr b="1"/>
              <a:t>F-statistic</a:t>
            </a:r>
            <a:r>
              <a:rPr/>
              <a:t> is</a:t>
            </a:r>
          </a:p>
          <a:p>
            <a:pPr lvl="0"/>
            <a:r>
              <a:rPr/>
              <a:t>State the </a:t>
            </a:r>
            <a:r>
              <a:rPr b="1"/>
              <a:t>hypotheses</a:t>
            </a:r>
          </a:p>
          <a:p>
            <a:pPr lvl="0"/>
            <a:r>
              <a:rPr/>
              <a:t>Use </a:t>
            </a:r>
            <a:r>
              <a:rPr b="1"/>
              <a:t>factors</a:t>
            </a:r>
            <a:r>
              <a:rPr/>
              <a:t> to order the groups on the plot</a:t>
            </a:r>
          </a:p>
          <a:p>
            <a:pPr lvl="0"/>
            <a:r>
              <a:rPr/>
              <a:t>Fit it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/>
              <a:t>Read the table — </a:t>
            </a:r>
            <a:r>
              <a:rPr>
                <a:latin typeface="Courier"/>
              </a:rPr>
              <a:t>aov()</a:t>
            </a:r>
            <a:r>
              <a:rPr/>
              <a:t>, </a:t>
            </a:r>
            <a:r>
              <a:rPr>
                <a:latin typeface="Courier"/>
              </a:rPr>
              <a:t>Anova(type = 2)</a:t>
            </a:r>
            <a:r>
              <a:rPr/>
              <a:t>, </a:t>
            </a:r>
            <a:r>
              <a:rPr>
                <a:latin typeface="Courier"/>
              </a:rPr>
              <a:t>Anova(type = 3)</a:t>
            </a:r>
          </a:p>
          <a:p>
            <a:pPr lvl="0"/>
            <a:r>
              <a:rPr b="1"/>
              <a:t>Report</a:t>
            </a:r>
            <a:r>
              <a:rPr/>
              <a:t> the result in a sentence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palmerpenguins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  <a:r>
              <a:rPr/>
              <a:t> (includes </a:t>
            </a:r>
            <a:r>
              <a:rPr>
                <a:latin typeface="Courier"/>
              </a:rPr>
              <a:t>forcats</a:t>
            </a:r>
            <a:r>
              <a:rPr/>
              <a:t>)</a:t>
            </a:r>
          </a:p>
          <a:p>
            <a:pPr lvl="0"/>
            <a:r>
              <a:rPr>
                <a:latin typeface="Courier"/>
              </a:rPr>
              <a:t>car</a:t>
            </a:r>
            <a:r>
              <a:rPr/>
              <a:t> — </a:t>
            </a:r>
            <a:r>
              <a:rPr>
                <a:latin typeface="Courier"/>
              </a:rPr>
              <a:t>Anova()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Whitlock &amp; Schluter, </a:t>
            </a:r>
            <a:r>
              <a:rPr b="1"/>
              <a:t>Ch. 15 — ANOVA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Ch. 16 — Factors</a:t>
            </a:r>
          </a:p>
          <a:p>
            <a:pPr lvl="0" indent="0" marL="0">
              <a:buNone/>
            </a:pPr>
            <a:r>
              <a:rPr b="1"/>
              <a:t>Naming:</a:t>
            </a:r>
            <a:r>
              <a:rPr/>
              <a:t> models → </a:t>
            </a:r>
            <a:r>
              <a:rPr>
                <a:latin typeface="Courier"/>
              </a:rPr>
              <a:t>_model</a:t>
            </a:r>
            <a:r>
              <a:rPr/>
              <a:t>, 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Three Sets of Material, Three Days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09600"/>
          <a:ext cx="90805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900"/>
                <a:gridCol w="1993900"/>
                <a:gridCol w="508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 — The basic ANOVA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today</a:t>
                      </a:r>
                      <a:r>
                        <a:rPr/>
                        <a:t>, Lecture 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 → plot → </a:t>
                      </a:r>
                      <a:r>
                        <a:rPr>
                          <a:latin typeface="Courier"/>
                        </a:rPr>
                        <a:t>lm()</a:t>
                      </a:r>
                      <a:r>
                        <a:rPr/>
                        <a:t> → F table → report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 — The assumptions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normality, equal variance, what to do when they fail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 — The follow-up 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which</a:t>
                      </a:r>
                      <a:r>
                        <a:rPr/>
                        <a:t> groups differ — </a:t>
                      </a:r>
                      <a:r>
                        <a:rPr>
                          <a:latin typeface="Courier"/>
                        </a:rPr>
                        <a:t>emmeans</a:t>
                      </a:r>
                      <a:r>
                        <a:rPr/>
                        <a:t>, Tukey, letters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We do Set 1 </a:t>
            </a:r>
            <a:r>
              <a:rPr sz="2000" b="1"/>
              <a:t>all the way through first</a:t>
            </a:r>
            <a:r>
              <a:rPr sz="2000"/>
              <a:t> — including a reported result — so you see the shape of the whole analysis before we start poking at it. A real write-up would check the assumptions </a:t>
            </a:r>
            <a:r>
              <a:rPr sz="2000" b="1"/>
              <a:t>before</a:t>
            </a:r>
            <a:r>
              <a:rPr sz="2000"/>
              <a:t> trusting that </a:t>
            </a:r>
            <a:r>
              <a:rPr sz="2000" i="1"/>
              <a:t>p</a:t>
            </a:r>
            <a:r>
              <a:rPr sz="2000"/>
              <a:t>-value, and that is exactly what Lecture 20 does.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lecture through the material, then you open the skeleton script and run the code yourself.</a:t>
            </a:r>
          </a:p>
          <a:p>
            <a:pPr lvl="0" indent="0" marL="0">
              <a:buNone/>
            </a:pPr>
            <a:r>
              <a:rPr b="1"/>
              <a:t>For every code block, do three things: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— before it runs, say what you think the output will be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it out by hand — do not copy-paste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 it and compare to your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 (the evidence)</a:t>
            </a:r>
          </a:p>
          <a:p>
            <a:pPr lvl="0"/>
            <a:r>
              <a:rPr sz="2000"/>
              <a:t>With three groups it is tempting to just read off the tallest box. Predicting the F first makes you reason about between- vs. within-group variance.</a:t>
            </a:r>
          </a:p>
          <a:p>
            <a:pPr lvl="0"/>
            <a:r>
              <a:rPr sz="2000"/>
              <a:t>Typing </a:t>
            </a:r>
            <a:r>
              <a:rPr sz="2000">
                <a:latin typeface="Courier"/>
              </a:rPr>
              <a:t>type = 2</a:t>
            </a:r>
            <a:r>
              <a:rPr sz="2000"/>
              <a:t> yourself in </a:t>
            </a:r>
            <a:r>
              <a:rPr sz="2000">
                <a:latin typeface="Courier"/>
              </a:rPr>
              <a:t>Anova()</a:t>
            </a:r>
            <a:r>
              <a:rPr sz="2000"/>
              <a:t> is what makes you notice it is there.</a:t>
            </a:r>
          </a:p>
          <a:p>
            <a:pPr lvl="0"/>
            <a:r>
              <a:rPr sz="2000"/>
              <a:t>You will meet </a:t>
            </a:r>
            <a:r>
              <a:rPr sz="2000">
                <a:latin typeface="Courier"/>
              </a:rPr>
              <a:t>anova()</a:t>
            </a:r>
            <a:r>
              <a:rPr sz="2000"/>
              <a:t>, </a:t>
            </a:r>
            <a:r>
              <a:rPr sz="2000">
                <a:latin typeface="Courier"/>
              </a:rPr>
              <a:t>aov()</a:t>
            </a:r>
            <a:r>
              <a:rPr sz="2000"/>
              <a:t> and </a:t>
            </a:r>
            <a:r>
              <a:rPr sz="2000">
                <a:latin typeface="Courier"/>
              </a:rPr>
              <a:t>Anova()</a:t>
            </a:r>
            <a:r>
              <a:rPr sz="2000"/>
              <a:t> in one lecture. Typing each one is how they stop blurring together.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Not Just Run Many t-Tests?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</a:t>
            </a:r>
            <a:r>
              <a:rPr b="1"/>
              <a:t>3 groups</a:t>
            </a:r>
            <a:r>
              <a:rPr/>
              <a:t> you would need </a:t>
            </a:r>
            <a:r>
              <a:rPr b="1"/>
              <a:t>3</a:t>
            </a:r>
            <a:r>
              <a:rPr/>
              <a:t> t-tests (A–B, A–C, B–C). With 4 groups, </a:t>
            </a:r>
            <a:r>
              <a:rPr b="1"/>
              <a:t>6</a:t>
            </a:r>
            <a:r>
              <a:rPr/>
              <a:t> tests.</a:t>
            </a:r>
          </a:p>
          <a:p>
            <a:pPr lvl="0" indent="0" marL="0">
              <a:buNone/>
            </a:pPr>
            <a:r>
              <a:rPr/>
              <a:t>Every test at α = 0.05 has a </a:t>
            </a:r>
            <a:r>
              <a:rPr b="1"/>
              <a:t>5% chance of a false positive</a:t>
            </a:r>
            <a:r>
              <a:rPr/>
              <a:t>. Run several and those risks </a:t>
            </a:r>
            <a:r>
              <a:rPr b="1"/>
              <a:t>stack up</a:t>
            </a:r>
            <a:r>
              <a:rPr/>
              <a:t>:</a:t>
            </a:r>
          </a:p>
          <a:p>
            <a:pPr lvl="0"/>
            <a:r>
              <a:rPr/>
              <a:t>3 tests → ~</a:t>
            </a:r>
            <a:r>
              <a:rPr b="1"/>
              <a:t>14%</a:t>
            </a:r>
            <a:r>
              <a:rPr/>
              <a:t> chance of at least one false positive</a:t>
            </a:r>
          </a:p>
          <a:p>
            <a:pPr lvl="0"/>
            <a:r>
              <a:rPr/>
              <a:t>6 tests → ~</a:t>
            </a:r>
            <a:r>
              <a:rPr b="1"/>
              <a:t>26%</a:t>
            </a:r>
          </a:p>
          <a:p>
            <a:pPr lvl="0" indent="0" marL="0">
              <a:buNone/>
            </a:pPr>
            <a:r>
              <a:rPr/>
              <a:t>ANOVA asks the question </a:t>
            </a:r>
            <a:r>
              <a:rPr b="1"/>
              <a:t>once</a:t>
            </a:r>
            <a:r>
              <a:rPr/>
              <a:t>, holding the overall error rate at 0.05.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multiple-comparisons problem</a:t>
            </a:r>
          </a:p>
          <a:p>
            <a:pPr lvl="0" indent="0" marL="1270000">
              <a:buNone/>
            </a:pPr>
            <a:r>
              <a:rPr sz="2000"/>
              <a:t>More tests = more chances to be fooled by noise. ANOVA is the single, honest test for “do </a:t>
            </a:r>
            <a:r>
              <a:rPr sz="2000" i="1"/>
              <a:t>any</a:t>
            </a:r>
            <a:r>
              <a:rPr sz="2000"/>
              <a:t> of these groups differ?”</a:t>
            </a:r>
          </a:p>
          <a:p>
            <a:pPr lvl="0" indent="0" marL="0">
              <a:buNone/>
            </a:pPr>
            <a:r>
              <a:rPr/>
              <a:t>📖 W&amp;S §15.1 — why a single test</a:t>
            </a:r>
          </a:p>
        </p:txBody>
      </p:sp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What One-Way ANOVA Asks</a:t></a:r></a:p></p:txBody></p:sp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/><a:t>One </a:t></a:r><a:r><a:rPr b="1" /><a:t>numeric response (Y)</a:t></a:r><a:r><a:rPr /><a:t> across the levels of one </a:t></a:r><a:r><a:rPr b="1" /><a:t>categorical predictor (X)</a:t></a:r><a:r><a:rPr /><a:t>.</a:t></a:r></a:p></p:txBody></p:sp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1333500" /><a:gridCol w="3098800" /></a:tblGrid><a:tr h="0"><a:tc><a:txBody><a:bodyPr /><a:lstStyle /><a:p><a:endParaRPr /></a:p></a:txBody><a:tcPr /></a:tc><a:tc><a:txBody><a:bodyPr /><a:lstStyle /><a:p><a:pPr lvl="0" indent="0" marL="0"><a:buNone /></a:pPr><a:r><a:rPr /><a:t>Hypothesis</a:t></a:r></a:p></a:txBody><a:tcPr /></a:tc></a:tr><a:tr h="0"><a:tc><a:txBody><a:bodyPr /><a:lstStyle /><a:p><a:pPr lvl="0" indent="0" marL="0"><a:buNone /></a:pPr><a:r><a:rPr b="1" /><a:t>H₀ — null</a:t></a:r></a:p></a:txBody></a:tc><a:tc><a:txBody><a:bodyPr /><a:lstStyle /><a:p><a:pPr lvl="0" indent="0" marL="0"><a:buNone /></a:pPr><a:r><a:rPr /><a:t>all group means are equal (</a:t></a:r><a14:m><m:oMath xmlns:m="http://schemas.openxmlformats.org/officeDocument/2006/math"><m:sSub><m:e><m:r><m:t>μ</m:t></m:r></m:e><m:sub><m:r><m:t>1</m:t></m:r></m:sub></m:sSub><m:r><m:rPr><m:sty m:val="p" /></m:rPr><m:t>=</m:t></m:r><m:sSub><m:e><m:r><m:t>μ</m:t></m:r></m:e><m:sub><m:r><m:t>2</m:t></m:r></m:sub></m:sSub><m:r><m:rPr><m:sty m:val="p" /></m:rPr><m:t>=</m:t></m:r><m:sSub><m:e><m:r><m:t>μ</m:t></m:r></m:e><m:sub><m:r><m:t>3</m:t></m:r></m:sub></m:sSub></m:oMath></a14:m><a:r><a:rPr /><a:t>)</a:t></a:r></a:p></a:txBody></a:tc></a:tr><a:tr h="0"><a:tc><a:txBody><a:bodyPr /><a:lstStyle /><a:p><a:pPr lvl="0" indent="0" marL="0"><a:buNone /></a:pPr><a:r><a:rPr b="1" /><a:t>Hₐ — alternate</a:t></a:r></a:p></a:txBody></a:tc><a:tc><a:txBody><a:bodyPr /><a:lstStyle /><a:p><a:pPr lvl="0" indent="0" marL="0"><a:buNone /></a:pPr><a:r><a:rPr b="1" /><a:t>at least one</a:t></a:r><a:r><a:rPr /><a:t> group mean differs</a:t></a:r></a:p></a:txBody></a:tc></a:tr></a:tbl></a:graphicData></a:graphic></p:graphicFrame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/><a:t>Note what Hₐ does </a:t></a:r><a:r><a:rPr i="1" /><a:t>not</a:t></a:r><a:r><a:rPr /><a:t> say: it does </a:t></a:r><a:r><a:rPr b="1" /><a:t>not</a:t></a:r><a:r><a:rPr /><a:t> tell you </a:t></a:r><a:r><a:rPr i="1" /><a:t>which</a:t></a:r><a:r><a:rPr /><a:t> group differs — that is Set 3, next lecture.</a:t></a:r></a:p></p:txBody></p:sp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Our question today:</a:t></a:r></a:p><a:p><a:pPr lvl="0" indent="0" marL="0"><a:buNone /></a:pPr><a:r><a:rPr /><a:t>Do the three penguin </a:t></a:r><a:r><a:rPr b="1" /><a:t>species</a:t></a:r><a:r><a:rPr /><a:t> differ in </a:t></a:r><a:r><a:rPr b="1" /><a:t>body mass</a:t></a:r><a:r><a:rPr /><a:t>?</a:t></a:r></a:p><a:p><a:pPr lvl="0" /><a:r><a:rPr /><a:t>Y = </a:t></a:r><a:r><a:rPr><a:latin typeface="Courier" /></a:rPr><a:t>body_mass_g</a:t></a:r></a:p><a:p><a:pPr lvl="0" /><a:r><a:rPr /><a:t>X = </a:t></a:r><a:r><a:rPr><a:latin typeface="Courier" /></a:rPr><a:t>species</a:t></a:r><a:r><a:rPr /><a:t> (Adelie, Chinstrap, Gentoo)</a:t></a:r></a:p></p:txBody></p:sp></p:spTree></p:cSld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F-Statistic — Between vs. Within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variance BETWEEN groups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variance WITHIN groups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 b="1"/>
                  <a:t>Between</a:t>
                </a:r>
                <a:r>
                  <a:rPr/>
                  <a:t> — how far apart the group means are</a:t>
                </a:r>
              </a:p>
              <a:p>
                <a:pPr lvl="0"/>
                <a:r>
                  <a:rPr b="1"/>
                  <a:t>Within</a:t>
                </a:r>
                <a:r>
                  <a:rPr/>
                  <a:t> — how much the individuals scatter inside each group</a:t>
                </a:r>
              </a:p>
              <a:p>
                <a:pPr lvl="0" indent="0" marL="0">
                  <a:buNone/>
                </a:pPr>
                <a:r>
                  <a:rPr b="1"/>
                  <a:t>Big F</a:t>
                </a:r>
                <a:r>
                  <a:rPr/>
                  <a:t> → the groups are far apart </a:t>
                </a:r>
                <a:r>
                  <a:rPr i="1"/>
                  <a:t>relative to</a:t>
                </a:r>
                <a:r>
                  <a:rPr/>
                  <a:t> their internal noise → small </a:t>
                </a:r>
                <a:r>
                  <a:rPr i="1"/>
                  <a:t>p</a:t>
                </a:r>
                <a:r>
                  <a:rPr/>
                  <a:t>-value.</a:t>
                </a:r>
              </a:p>
              <a:p>
                <a:pPr lvl="0" indent="0" marL="0">
                  <a:buNone/>
                </a:pPr>
                <a:r>
                  <a:rPr b="1"/>
                  <a:t>F ≈ 1</a:t>
                </a:r>
                <a:r>
                  <a:rPr/>
                  <a:t> → the spread between groups is no bigger than the spread within them → no real difference.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ANOVA is a </a:t>
            </a:r>
            <a:r>
              <a:rPr sz="2000" b="1"/>
              <a:t>signal-to-noise ratio</a:t>
            </a:r>
            <a:r>
              <a:rPr sz="2000"/>
              <a:t> — the same shape as </a:t>
            </a:r>
            <a:r>
              <a:rPr sz="2000" i="1"/>
              <a:t>t</a:t>
            </a:r>
            <a:r>
              <a:rPr sz="2000"/>
              <a:t>. The “signal” is the gap between group means; the “noise” is the within-group scatter.</a:t>
            </a:r>
          </a:p>
          <a:p>
            <a:pPr lvl="0" indent="0" marL="0">
              <a:buNone/>
            </a:pPr>
            <a:r>
              <a:rPr/>
              <a:t>📖 W&amp;S §15.1–15.2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 — Palmer Penguins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   </a:t>
            </a:r>
            <a:r>
              <a:rPr>
                <a:solidFill>
                  <a:srgbClr val="5E5E5E"/>
                </a:solidFill>
                <a:latin typeface="Courier"/>
              </a:rPr>
              <a:t>#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(palmerpenguins) </a:t>
            </a:r>
            <a:r>
              <a:rPr>
                <a:solidFill>
                  <a:srgbClr val="5E5E5E"/>
                </a:solidFill>
                <a:latin typeface="Courier"/>
              </a:rPr>
              <a:t># the penguins data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         </a:t>
            </a:r>
            <a:r>
              <a:rPr>
                <a:solidFill>
                  <a:srgbClr val="5E5E5E"/>
                </a:solidFill>
                <a:latin typeface="Courier"/>
              </a:rPr>
              <a:t># Anova()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rows missing mass or species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&lt;- penguins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(body_mass_g, species)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(species)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2
  species       n
  &lt;fct&gt;     &lt;int&gt;
1 Adelie      151
2 Chinstrap    68
3 Gentoo      123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species, one field station:</a:t>
            </a:r>
            <a:r>
              <a:rPr/>
              <a:t> body mass (g) of penguins at Palmer Station, Antarctica.</a:t>
            </a:r>
          </a:p>
          <a:p>
            <a:pPr lvl="0"/>
            <a:r>
              <a:rPr>
                <a:latin typeface="Courier"/>
              </a:rPr>
              <a:t>drop_na()</a:t>
            </a:r>
            <a:r>
              <a:rPr/>
              <a:t> removes rows with missing mass</a:t>
            </a:r>
          </a:p>
          <a:p>
            <a:pPr lvl="0"/>
            <a:r>
              <a:rPr>
                <a:latin typeface="Courier"/>
              </a:rPr>
              <a:t>count(species)</a:t>
            </a:r>
            <a:r>
              <a:rPr/>
              <a:t> gives the sample size per group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The groups are </a:t>
            </a:r>
            <a:r>
              <a:rPr sz="2000" b="1"/>
              <a:t>unbalanced</a:t>
            </a:r>
            <a:r>
              <a:rPr sz="2000"/>
              <a:t> — 151, 68 and 123 birds. That is why we care which sums of squares </a:t>
            </a:r>
            <a:r>
              <a:rPr sz="2000">
                <a:latin typeface="Courier"/>
              </a:rPr>
              <a:t>Anova()</a:t>
            </a:r>
            <a:r>
              <a:rPr sz="2000"/>
              <a:t> uses.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⚠️ Two Different </a:t>
            </a:r>
            <a:r>
              <a:rPr>
                <a:latin typeface="Courier"/>
              </a:rPr>
              <a:t>penguins</a:t>
            </a:r>
            <a:r>
              <a:rPr/>
              <a:t> Data Sets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4.5 added its </a:t>
            </a:r>
            <a:r>
              <a:rPr b="1"/>
              <a:t>own</a:t>
            </a:r>
            <a:r>
              <a:rPr/>
              <a:t> </a:t>
            </a:r>
            <a:r>
              <a:rPr>
                <a:latin typeface="Courier"/>
              </a:rPr>
              <a:t>penguins</a:t>
            </a:r>
            <a:r>
              <a:rPr/>
              <a:t> to base R, with </a:t>
            </a:r>
            <a:r>
              <a:rPr b="1"/>
              <a:t>shorter column names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Mass column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palmerpenguins::penguins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body_mass_g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 R </a:t>
                      </a:r>
                      <a:r>
                        <a:rPr>
                          <a:latin typeface="Courier"/>
                        </a:rPr>
                        <a:t>datasets::penguins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body_mass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 forget </a:t>
            </a:r>
            <a:r>
              <a:rPr>
                <a:latin typeface="Courier"/>
              </a:rPr>
              <a:t>library(palmerpenguins)</a:t>
            </a:r>
            <a:r>
              <a:rPr/>
              <a:t>, </a:t>
            </a:r>
            <a:r>
              <a:rPr>
                <a:latin typeface="Courier"/>
              </a:rPr>
              <a:t>penguins</a:t>
            </a:r>
            <a:r>
              <a:rPr/>
              <a:t> still exists — so there is no “object not found” error. You get a column-name error later instead.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error you would see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penguins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(body_mass_g)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#&gt; Error in `drop_na()`: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#&gt; ! Can't select columns that don't exist.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#&gt; ✖ Column `body_mass_g` doesn't exist.</a:t>
            </a:r>
          </a:p>
          <a:p>
            <a:pPr lvl="0" indent="0" marL="1270000">
              <a:buNone/>
            </a:pPr>
            <a:r>
              <a:rPr sz="2000" b="1"/>
              <a:t>The fix:</a:t>
            </a:r>
            <a:r>
              <a:rPr sz="2000"/>
              <a:t> </a:t>
            </a:r>
            <a:r>
              <a:rPr sz="2000">
                <a:latin typeface="Courier"/>
              </a:rPr>
              <a:t>library(palmerpenguins)</a:t>
            </a:r>
            <a:r>
              <a:rPr sz="2000"/>
              <a:t> at the top. We use the </a:t>
            </a:r>
            <a:r>
              <a:rPr sz="2000">
                <a:latin typeface="Courier"/>
              </a:rPr>
              <a:t>_g</a:t>
            </a:r>
            <a:r>
              <a:rPr sz="2000"/>
              <a:t> names all lecture.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Explore First — Boxplot by Species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mass_box_plot &lt;- 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mass_box_plot</a:t>
            </a:r>
          </a:p>
        </p:txBody>
      </p:sp>
      <p:pic>
        <p:nvPicPr>
          <p:cNvPr descr="one_way_anova_lecture_files/figure-pptx/boxplot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108200"/>
            <a:ext cx="4432300" cy="163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all three species, or just one? Which is heaviest?</a:t>
            </a:r>
          </a:p>
          <a:p>
            <a:pPr lvl="0" indent="0" marL="0">
              <a:buNone/>
            </a:pPr>
            <a:r>
              <a:rPr b="1"/>
              <a:t>Always plot before you test.</a:t>
            </a:r>
          </a:p>
          <a:p>
            <a:pPr lvl="0"/>
            <a:r>
              <a:rPr/>
              <a:t>Gentoo sits well above the other two</a:t>
            </a:r>
          </a:p>
          <a:p>
            <a:pPr lvl="0"/>
            <a:r>
              <a:rPr/>
              <a:t>Adelie and Chinstrap are </a:t>
            </a:r>
            <a:r>
              <a:rPr b="1"/>
              <a:t>almost on top of each other</a:t>
            </a:r>
            <a:r>
              <a:rPr/>
              <a:t> — hold that thought</a:t>
            </a:r>
          </a:p>
          <a:p>
            <a:pPr lvl="0"/>
            <a:r>
              <a:rPr/>
              <a:t>The box heights are </a:t>
            </a:r>
            <a:r>
              <a:rPr b="1"/>
              <a:t>not</a:t>
            </a:r>
            <a:r>
              <a:rPr/>
              <a:t> all equal — hold that one too (Set 2)</a:t>
            </a:r>
          </a:p>
          <a:p>
            <a:pPr lvl="0"/>
            <a:r>
              <a:rPr/>
              <a:t>The order is </a:t>
            </a:r>
            <a:r>
              <a:rPr b="1"/>
              <a:t>alphabetical</a:t>
            </a:r>
            <a:r>
              <a:rPr/>
              <a:t>, not by mass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species</a:t>
            </a:r>
            <a:r>
              <a:rPr/>
              <a:t> Is a Factor — and Factors Have an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(penguins_df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   </a:t>
            </a:r>
            <a:r>
              <a:rPr>
                <a:solidFill>
                  <a:srgbClr val="5E5E5E"/>
                </a:solidFill>
                <a:latin typeface="Courier"/>
              </a:rPr>
              <a:t># "factor"</a:t>
            </a:r>
          </a:p>
          <a:p>
            <a:pPr lvl="0" indent="0">
              <a:buNone/>
            </a:pPr>
            <a:r>
              <a:rPr>
                <a:latin typeface="Courier"/>
              </a:rPr>
              <a:t>[1] "factor"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(penguins_df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  </a:t>
            </a:r>
            <a:r>
              <a:rPr>
                <a:solidFill>
                  <a:srgbClr val="5E5E5E"/>
                </a:solidFill>
                <a:latin typeface="Courier"/>
              </a:rPr>
              <a:t># the stored order</a:t>
            </a:r>
          </a:p>
          <a:p>
            <a:pPr lvl="0" indent="0">
              <a:buNone/>
            </a:pPr>
            <a:r>
              <a:rPr>
                <a:latin typeface="Courier"/>
              </a:rPr>
              <a:t>[1] "Adelie"    "Chinstrap" "Gentoo"   </a:t>
            </a:r>
          </a:p>
          <a:p>
            <a:pPr lvl="0"/>
            <a:r>
              <a:rPr/>
              <a:t>A </a:t>
            </a:r>
            <a:r>
              <a:rPr b="1"/>
              <a:t>factor</a:t>
            </a:r>
            <a:r>
              <a:rPr/>
              <a:t> is a categorical column with a fixed, </a:t>
            </a:r>
            <a:r>
              <a:rPr i="1"/>
              <a:t>ordered</a:t>
            </a:r>
            <a:r>
              <a:rPr/>
              <a:t> set of </a:t>
            </a:r>
            <a:r>
              <a:rPr b="1"/>
              <a:t>levels</a:t>
            </a:r>
          </a:p>
          <a:p>
            <a:pPr lvl="0"/>
            <a:r>
              <a:rPr>
                <a:latin typeface="Courier"/>
              </a:rPr>
              <a:t>ggplot</a:t>
            </a:r>
            <a:r>
              <a:rPr/>
              <a:t> (and </a:t>
            </a:r>
            <a:r>
              <a:rPr>
                <a:latin typeface="Courier"/>
              </a:rPr>
              <a:t>lm</a:t>
            </a:r>
            <a:r>
              <a:rPr/>
              <a:t>) draw and model groups in </a:t>
            </a:r>
            <a:r>
              <a:rPr b="1"/>
              <a:t>level order</a:t>
            </a:r>
          </a:p>
          <a:p>
            <a:pPr lvl="0"/>
            <a:r>
              <a:rPr/>
              <a:t>The default level order is </a:t>
            </a:r>
            <a:r>
              <a:rPr b="1"/>
              <a:t>alphabetical</a:t>
            </a:r>
            <a:r>
              <a:rPr/>
              <a:t> — almost never what you want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Alphabetical order hides the pattern. Ordering the groups by the thing you are testing — here, body mass — makes the boxplot tell the story at a glance.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forcats</a:t>
            </a:r>
            <a:r>
              <a:rPr/>
              <a:t> (the </a:t>
            </a:r>
            <a:r>
              <a:rPr>
                <a:latin typeface="Courier"/>
              </a:rPr>
              <a:t>fct_*</a:t>
            </a:r>
            <a:r>
              <a:rPr/>
              <a:t> family) ships with </a:t>
            </a:r>
            <a:r>
              <a:rPr>
                <a:latin typeface="Courier"/>
              </a:rPr>
              <a:t>library(tidyverse)</a:t>
            </a:r>
            <a:r>
              <a:rPr/>
              <a:t>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Order the Boxplot by Body Mass — </a:t>
            </a:r>
            <a:r>
              <a:rPr>
                <a:latin typeface="Courier"/>
              </a:rPr>
              <a:t>fct_reorder()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fct_reorder</a:t>
            </a:r>
            <a:r>
              <a:rPr>
                <a:solidFill>
                  <a:srgbClr val="003B4F"/>
                </a:solidFill>
                <a:latin typeface="Courier"/>
              </a:rPr>
              <a:t>(species, body_mass_g,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.fun =</a:t>
            </a:r>
            <a:r>
              <a:rPr>
                <a:solidFill>
                  <a:srgbClr val="003B4F"/>
                </a:solidFill>
                <a:latin typeface="Courier"/>
              </a:rPr>
              <a:t> median))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 (ordered by median mass)"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ne_way_anova_lecture_files/figure-pptx/fct-reorder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70100"/>
            <a:ext cx="4432300" cy="170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fct_reorder(f, x, .fun = median)</a:t>
            </a:r>
            <a:r>
              <a:rPr/>
              <a:t> — reorder factor </a:t>
            </a:r>
            <a:r>
              <a:rPr>
                <a:latin typeface="Courier"/>
              </a:rPr>
              <a:t>f</a:t>
            </a:r>
            <a:r>
              <a:rPr/>
              <a:t> by a summary of </a:t>
            </a:r>
            <a:r>
              <a:rPr>
                <a:latin typeface="Courier"/>
              </a:rPr>
              <a:t>x</a:t>
            </a:r>
          </a:p>
          <a:p>
            <a:pPr lvl="0"/>
            <a:r>
              <a:rPr/>
              <a:t>Do it </a:t>
            </a:r>
            <a:r>
              <a:rPr b="1"/>
              <a:t>inside </a:t>
            </a:r>
            <a:r>
              <a:rPr b="1">
                <a:latin typeface="Courier"/>
              </a:rPr>
              <a:t>mutate()</a:t>
            </a:r>
            <a:r>
              <a:rPr/>
              <a:t>, then plot the result</a:t>
            </a:r>
          </a:p>
          <a:p>
            <a:pPr lvl="0"/>
            <a:r>
              <a:rPr/>
              <a:t>Here the alphabetical order happens to already be the mass order — but now it is that way </a:t>
            </a:r>
            <a:r>
              <a:rPr b="1"/>
              <a:t>on purpose</a:t>
            </a:r>
            <a:r>
              <a:rPr/>
              <a:t>, and it will hold for data where it does not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The full </a:t>
            </a:r>
            <a:r>
              <a:rPr sz="2000">
                <a:latin typeface="Courier"/>
              </a:rPr>
              <a:t>forcats</a:t>
            </a:r>
            <a:r>
              <a:rPr sz="2000"/>
              <a:t> family — rename levels, merge them, lump rare ones — is in </a:t>
            </a:r>
            <a:r>
              <a:rPr sz="2000" b="1"/>
              <a:t>Common Code 15 · Factors</a:t>
            </a:r>
            <a:r>
              <a:rPr sz="2000"/>
              <a:t>. Today we need </a:t>
            </a:r>
            <a:r>
              <a:rPr sz="2000" i="1"/>
              <a:t>ordering</a:t>
            </a:r>
            <a:r>
              <a:rPr sz="2000"/>
              <a:t>, and </a:t>
            </a:r>
            <a:r>
              <a:rPr sz="2000">
                <a:latin typeface="Courier"/>
              </a:rPr>
              <a:t>fct_relevel()</a:t>
            </a:r>
            <a:r>
              <a:rPr sz="2000"/>
              <a:t> for the baseline in a moment.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State the Hypotheses — Before Any 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H₀: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Adelie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Chinstrap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Gentoo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Hₐ:</a:t>
                </a:r>
                <a:r>
                  <a:rPr/>
                  <a:t> at least one species mean differs from the others</a:t>
                </a:r>
              </a:p>
              <a:p>
                <a:pPr lvl="0" indent="0" marL="0">
                  <a:buNone/>
                </a:pPr>
                <a:r>
                  <a:rPr b="1"/>
                  <a:t>α = 0.05</a:t>
                </a:r>
              </a:p>
              <a:p>
                <a:pPr lvl="0" indent="0" marL="0">
                  <a:buNone/>
                </a:pPr>
                <a:r>
                  <a:rPr/>
                  <a:t>That is the whole hypothesis set. There is </a:t>
                </a:r>
                <a:r>
                  <a:rPr b="1"/>
                  <a:t>one</a:t>
                </a:r>
                <a:r>
                  <a:rPr/>
                  <a:t> test and </a:t>
                </a:r>
                <a:r>
                  <a:rPr b="1"/>
                  <a:t>one</a:t>
                </a:r>
                <a:r>
                  <a:rPr/>
                  <a:t> </a:t>
                </a:r>
                <a:r>
                  <a:rPr i="1"/>
                  <a:t>p</a:t>
                </a:r>
                <a:r>
                  <a:rPr/>
                  <a:t>-value, no matter how many groups you have.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Hₐ is deliberately vague. “At least one differs” is all the F-test can tell you. If you want to name the species, you need the follow-up tests — Set 3.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the Model — </a:t>
            </a:r>
            <a:r>
              <a:rPr>
                <a:latin typeface="Courier"/>
              </a:rPr>
              <a:t>lm()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ANOVA is a linear model with a categorical X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penguins_df)</a:t>
            </a:r>
          </a:p>
          <a:p>
            <a:pPr lvl="0"/>
            <a:r>
              <a:rPr>
                <a:latin typeface="Courier"/>
              </a:rPr>
              <a:t>lm(Y ~ X)</a:t>
            </a:r>
            <a:r>
              <a:rPr/>
              <a:t> — the </a:t>
            </a:r>
            <a:r>
              <a:rPr i="1"/>
              <a:t>same</a:t>
            </a:r>
            <a:r>
              <a:rPr/>
              <a:t> function call as regression</a:t>
            </a:r>
          </a:p>
          <a:p>
            <a:pPr lvl="0"/>
            <a:r>
              <a:rPr/>
              <a:t>When </a:t>
            </a:r>
            <a:r>
              <a:rPr>
                <a:latin typeface="Courier"/>
              </a:rPr>
              <a:t>X</a:t>
            </a:r>
            <a:r>
              <a:rPr/>
              <a:t> is </a:t>
            </a:r>
            <a:r>
              <a:rPr b="1"/>
              <a:t>categorical</a:t>
            </a:r>
            <a:r>
              <a:rPr/>
              <a:t>, that linear model </a:t>
            </a:r>
            <a:r>
              <a:rPr b="1"/>
              <a:t>is</a:t>
            </a:r>
            <a:r>
              <a:rPr/>
              <a:t> a one-way ANOVA</a:t>
            </a:r>
          </a:p>
          <a:p>
            <a:pPr lvl="0"/>
            <a:r>
              <a:rPr/>
              <a:t>Fitting the model and </a:t>
            </a:r>
            <a:r>
              <a:rPr b="1"/>
              <a:t>reading a table from it</a:t>
            </a:r>
            <a:r>
              <a:rPr/>
              <a:t> are two separate 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You do not write anything different to get an ANOVA instead of a regression. </a:t>
            </a:r>
            <a:r>
              <a:rPr sz="2000">
                <a:latin typeface="Courier"/>
              </a:rPr>
              <a:t>lm()</a:t>
            </a:r>
            <a:r>
              <a:rPr sz="2000"/>
              <a:t> looks at the class of </a:t>
            </a:r>
            <a:r>
              <a:rPr sz="2000">
                <a:latin typeface="Courier"/>
              </a:rPr>
              <a:t>X</a:t>
            </a:r>
            <a:r>
              <a:rPr sz="2000"/>
              <a:t> and codes it for you. One function, two tests.</a:t>
            </a:r>
          </a:p>
          <a:p>
            <a:pPr lvl="0" indent="0" marL="0">
              <a:buNone/>
            </a:pPr>
            <a:r>
              <a:rPr/>
              <a:t>📖 W&amp;S §15.2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</a:t>
            </a:r>
            <a:r>
              <a:rPr>
                <a:latin typeface="Courier"/>
              </a:rPr>
              <a:t>lm()</a:t>
            </a:r>
            <a:r>
              <a:rPr/>
              <a:t> Did With a Factor — the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(mass_model)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     (Intercept) speciesChinstrap    speciesGentoo 
      3700.66225         32.42598       1375.35401 </a:t>
            </a:r>
          </a:p>
          <a:p>
            <a:pPr lvl="0"/>
            <a:r>
              <a:rPr>
                <a:latin typeface="Courier"/>
              </a:rPr>
              <a:t>(Intercept)</a:t>
            </a:r>
            <a:r>
              <a:rPr/>
              <a:t> is the mean of the </a:t>
            </a:r>
            <a:r>
              <a:rPr b="1"/>
              <a:t>first level</a:t>
            </a:r>
            <a:r>
              <a:rPr/>
              <a:t> — Adelie</a:t>
            </a:r>
          </a:p>
          <a:p>
            <a:pPr lvl="0"/>
            <a:r>
              <a:rPr/>
              <a:t>The other coefficients are </a:t>
            </a:r>
            <a:r>
              <a:rPr b="1"/>
              <a:t>differences from Adelie</a:t>
            </a:r>
          </a:p>
          <a:p>
            <a:pPr lvl="0"/>
            <a:r>
              <a:rPr/>
              <a:t>Chinstrap is +32 g; Gentoo is +1375 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</a:t>
            </a:r>
            <a:r>
              <a:rPr b="1"/>
              <a:t>treatment coding</a:t>
            </a:r>
            <a:r>
              <a:rPr/>
              <a:t> (</a:t>
            </a:r>
            <a:r>
              <a:rPr>
                <a:latin typeface="Courier"/>
              </a:rPr>
              <a:t>contr.treatment</a:t>
            </a:r>
            <a:r>
              <a:rPr/>
              <a:t>) — R’s default. Each group is compared with a baseline group.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Remember this phrase: </a:t>
            </a:r>
            <a:r>
              <a:rPr sz="2000" i="1"/>
              <a:t>treatment coding compares every group with the first level.</a:t>
            </a:r>
            <a:r>
              <a:rPr sz="2000"/>
              <a:t> It comes back in two slides when we ask </a:t>
            </a:r>
            <a:r>
              <a:rPr sz="2000">
                <a:latin typeface="Courier"/>
              </a:rPr>
              <a:t>Anova()</a:t>
            </a:r>
            <a:r>
              <a:rPr sz="2000"/>
              <a:t> for Type III.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Change the Baseline — </a:t>
            </a:r>
            <a:r>
              <a:rPr>
                <a:latin typeface="Courier"/>
              </a:rPr>
              <a:t>fct_relevel()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Make Gentoo the reference instead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penguins_relevel &lt;- 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fct_relevel</a:t>
            </a:r>
            <a:r>
              <a:rPr>
                <a:solidFill>
                  <a:srgbClr val="003B4F"/>
                </a:solidFill>
                <a:latin typeface="Courier"/>
              </a:rPr>
              <a:t>(species, </a:t>
            </a:r>
            <a:r>
              <a:rPr>
                <a:solidFill>
                  <a:srgbClr val="20794D"/>
                </a:solidFill>
                <a:latin typeface="Courier"/>
              </a:rPr>
              <a:t>"Gentoo"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mass_model_gentoo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penguins_relevel)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(mass_model_gentoo)</a:t>
            </a:r>
          </a:p>
          <a:p>
            <a:pPr lvl="0" indent="0">
              <a:buNone/>
            </a:pPr>
            <a:r>
              <a:rPr>
                <a:latin typeface="Courier"/>
              </a:rPr>
              <a:t>     (Intercept)    speciesAdelie speciesChinstrap 
        5076.016        -1375.354        -1342.928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fct_relevel(species, "Gentoo")</a:t>
            </a:r>
            <a:r>
              <a:rPr/>
              <a:t> moves Gentoo to the front → the coefficients are now differences </a:t>
            </a:r>
            <a:r>
              <a:rPr b="1"/>
              <a:t>from Gentoo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Releveling changes </a:t>
            </a:r>
            <a:r>
              <a:rPr sz="2000" b="1"/>
              <a:t>which comparisons the coefficients show</a:t>
            </a:r>
            <a:r>
              <a:rPr sz="2000"/>
              <a:t>. It does </a:t>
            </a:r>
            <a:r>
              <a:rPr sz="2000" b="1"/>
              <a:t>not</a:t>
            </a:r>
            <a:r>
              <a:rPr sz="2000"/>
              <a:t> change the overall </a:t>
            </a:r>
            <a:r>
              <a:rPr sz="2000" b="1"/>
              <a:t>F</a:t>
            </a:r>
            <a:r>
              <a:rPr sz="2000"/>
              <a:t> or </a:t>
            </a:r>
            <a:r>
              <a:rPr sz="2000" i="1"/>
              <a:t>p</a:t>
            </a:r>
            <a:r>
              <a:rPr sz="2000"/>
              <a:t>-value — “do any means differ?” is the same question whichever group you call the baseline.</a:t>
            </a:r>
          </a:p>
          <a:p>
            <a:pPr lvl="0" indent="0" marL="0">
              <a:buNone/>
            </a:pPr>
            <a:r>
              <a:rPr/>
              <a:t>Use it to make the baseline a group your reader cares about — a control, a reference site.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 the Table — </a:t>
            </a:r>
            <a:r>
              <a:rPr>
                <a:latin typeface="Courier"/>
              </a:rPr>
              <a:t>aov()</a:t>
            </a:r>
            <a:r>
              <a:rPr/>
              <a:t> and </a:t>
            </a:r>
            <a:r>
              <a:rPr>
                <a:latin typeface="Courier"/>
              </a:rPr>
              <a:t>summary()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The boxplot was very separated. Predict the </a:t>
            </a:r>
            <a:r>
              <a:rPr sz="2000" i="1"/>
              <a:t>p</a:t>
            </a:r>
            <a:r>
              <a:rPr sz="2000"/>
              <a:t>-value — nearer 0.5, 0.05, or far below 0.001?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classic ANOVA table 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mass_aov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(mass_aov)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Df    Sum Sq  Mean Sq F value Pr(&gt;F)    
species       2 146864214 73432107   343.6 &lt;2e-16 ***
Residuals   339  72443483   213698                   
---
Signif. codes:  0 '***' 0.001 '**' 0.01 '*' 0.05 '.' 0.1 ' '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table: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/>
                <a:gridCol w="2832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groups − 1, then residual df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 Sq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variation explained / left over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between ÷ within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Pr(&gt;F)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</a:t>
                      </a:r>
                      <a:r>
                        <a:rPr i="1"/>
                        <a:t>p</a:t>
                      </a:r>
                      <a:r>
                        <a:rPr/>
                        <a:t>-value for H₀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</a:t>
            </a:r>
            <a:r>
              <a:rPr/>
              <a:t> &lt; 0.05 → </a:t>
            </a:r>
            <a:r>
              <a:rPr b="1"/>
              <a:t>reject H₀</a:t>
            </a:r>
            <a:r>
              <a:rPr/>
              <a:t> → at least one species differs.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Three Function Names, One Idea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673100"/>
                <a:gridCol w="2095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Gives you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aov(y ~ x)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summary()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 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classic ANOVA 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anova(model)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 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Type I</a:t>
                      </a:r>
                      <a:r>
                        <a:rPr/>
                        <a:t> (sequential) 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Anova(model)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Type II</a:t>
                      </a:r>
                      <a:r>
                        <a:rPr/>
                        <a:t> table (the default)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Anova(model, type = 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Type III</a:t>
                      </a:r>
                      <a:r>
                        <a:rPr/>
                        <a:t> table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Anova()</a:t>
            </a:r>
            <a:r>
              <a:rPr sz="2000"/>
              <a:t> lives in </a:t>
            </a:r>
            <a:r>
              <a:rPr sz="2000" b="1"/>
              <a:t>car</a:t>
            </a:r>
            <a:r>
              <a:rPr sz="2000"/>
              <a:t>. Without </a:t>
            </a:r>
            <a:r>
              <a:rPr sz="2000">
                <a:latin typeface="Courier"/>
              </a:rPr>
              <a:t>library(car)</a:t>
            </a:r>
            <a:r>
              <a:rPr sz="2000"/>
              <a:t> you get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could not find function "Anova"</a:t>
            </a:r>
          </a:p>
          <a:p>
            <a:pPr lvl="0" indent="0" marL="1270000">
              <a:buNone/>
            </a:pPr>
            <a:r>
              <a:rPr sz="2000"/>
              <a:t>With one predictor all four of these give the </a:t>
            </a:r>
            <a:r>
              <a:rPr sz="2000" b="1"/>
              <a:t>same F for </a:t>
            </a:r>
            <a:r>
              <a:rPr sz="2000" b="1">
                <a:latin typeface="Courier"/>
              </a:rPr>
              <a:t>species</a:t>
            </a:r>
            <a:r>
              <a:rPr sz="2000"/>
              <a:t>. The differences only bite once you have two or more predictors — which is exactly why we build the habit now.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car::Anova()</a:t>
            </a:r>
            <a:r>
              <a:rPr/>
              <a:t> — Type II Is the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No type argument = Type II 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(mass_model)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Anova Table (Type II tests)
Response: body_mass_g
             Sum Sq  Df F value    Pr(&gt;F)    
species   146864214   2  343.63 &lt; 2.2e-16 ***
Residuals  72443483 339                      
---
Signif. codes:  0 '***' 0.001 '**' 0.01 '*' 0.05 '.' 0.1 ' '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Type II?</a:t>
            </a:r>
          </a:p>
          <a:p>
            <a:pPr lvl="0"/>
            <a:r>
              <a:rPr/>
              <a:t>Our groups have </a:t>
            </a:r>
            <a:r>
              <a:rPr b="1"/>
              <a:t>different n</a:t>
            </a:r>
            <a:r>
              <a:rPr/>
              <a:t> (unbalanced)</a:t>
            </a:r>
          </a:p>
          <a:p>
            <a:pPr lvl="0"/>
            <a:r>
              <a:rPr/>
              <a:t>Type I is </a:t>
            </a:r>
            <a:r>
              <a:rPr b="1"/>
              <a:t>order-dependent</a:t>
            </a:r>
            <a:r>
              <a:rPr/>
              <a:t> — swap the predictors and the table changes</a:t>
            </a:r>
          </a:p>
          <a:p>
            <a:pPr lvl="0"/>
            <a:r>
              <a:rPr/>
              <a:t>Type II is </a:t>
            </a:r>
            <a:r>
              <a:rPr b="1"/>
              <a:t>order-independent</a:t>
            </a:r>
            <a:r>
              <a:rPr/>
              <a:t>, and it is the habit you want before two-way ANOVA, where the type genuinely changes the answer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Anova(mass_model, type = 2)</a:t>
            </a:r>
            <a:r>
              <a:rPr/>
              <a:t> is the same thing, written out.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Type III Needs a Different Contrast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III sums of squares are only meaningful when the factors are coded so each group is compared with the </a:t>
            </a:r>
            <a:r>
              <a:rPr b="1"/>
              <a:t>grand mean</a:t>
            </a:r>
            <a:r>
              <a:rPr/>
              <a:t> — </a:t>
            </a:r>
            <a:r>
              <a:rPr>
                <a:latin typeface="Courier"/>
              </a:rPr>
              <a:t>contr.sum</a:t>
            </a:r>
            <a:r>
              <a:rPr/>
              <a:t> — not with a baseline group (</a:t>
            </a:r>
            <a:r>
              <a:rPr>
                <a:latin typeface="Courier"/>
              </a:rPr>
              <a:t>contr.treatment</a:t>
            </a:r>
            <a:r>
              <a:rPr/>
              <a:t>).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What is R using right now? 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getOption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"contrasts"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unordered           ordered 
"contr.treatment"      "contr.poly" </a:t>
            </a:r>
          </a:p>
          <a:p>
            <a:pPr lvl="0" indent="0" marL="0">
              <a:buNone/>
            </a:pPr>
            <a:r>
              <a:rPr/>
              <a:t>That is R’s default: </a:t>
            </a:r>
            <a:r>
              <a:rPr b="1"/>
              <a:t>treatment</a:t>
            </a:r>
            <a:r>
              <a:rPr/>
              <a:t> coding for unordered factors, </a:t>
            </a:r>
            <a:r>
              <a:rPr b="1"/>
              <a:t>polynomial</a:t>
            </a:r>
            <a:r>
              <a:rPr/>
              <a:t> for ordered ones.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rule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Anova(model, type = 3)</a:t>
            </a:r>
            <a:r>
              <a:rPr sz="2000"/>
              <a:t> wants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"contr.sum"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"contr.poly"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Ask for Type III on a treatment-coded model and </a:t>
            </a:r>
            <a:r>
              <a:rPr sz="2000">
                <a:latin typeface="Courier"/>
              </a:rPr>
              <a:t>car</a:t>
            </a:r>
            <a:r>
              <a:rPr sz="2000"/>
              <a:t> will still print a table — it just will not be the Type III test you think it is.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Switch to </a:t>
            </a:r>
            <a:r>
              <a:rPr>
                <a:latin typeface="Courier"/>
              </a:rPr>
              <a:t>contr.sum</a:t>
            </a:r>
            <a:r>
              <a:rPr/>
              <a:t> — and Refit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1. change the option 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options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contrasts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"contr.sum"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"contr.poly"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2. REFIT the model under the new coding 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mass_model_sum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penguins_df)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3. now Type III means what it says 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(mass_model_sum,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Anova Table (Type III tests)
Response: body_mass_g
                Sum Sq  Df  F value    Pr(&gt;F)    
(Intercept) 5312367201   1 24859.28 &lt; 2.2e-16 ***
species      146864214   2   343.63 &lt; 2.2e-16 ***
Residuals     72443483 339                       
---
Signif. codes:  0 '***' 0.001 '**' 0.01 '*' 0.05 '.' 0.1 ' '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Step 2 is not optional</a:t>
            </a:r>
          </a:p>
          <a:p>
            <a:pPr lvl="0" indent="0" marL="1270000">
              <a:buNone/>
            </a:pPr>
            <a:r>
              <a:rPr sz="2000"/>
              <a:t>A model stores the coding it was </a:t>
            </a:r>
            <a:r>
              <a:rPr sz="2000" b="1"/>
              <a:t>fitted</a:t>
            </a:r>
            <a:r>
              <a:rPr sz="2000"/>
              <a:t> with. Change the option and reuse the old model and nothing happens: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mass_model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contrasts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#&gt; $species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#&gt; [1] "contr.treatment"</a:t>
            </a:r>
          </a:p>
          <a:p>
            <a:pPr lvl="0" indent="0" marL="1270000">
              <a:buNone/>
            </a:pPr>
            <a:r>
              <a:rPr sz="2000"/>
              <a:t>Set the option, </a:t>
            </a:r>
            <a:r>
              <a:rPr sz="2000" b="1"/>
              <a:t>then</a:t>
            </a:r>
            <a:r>
              <a:rPr sz="2000"/>
              <a:t> </a:t>
            </a:r>
            <a:r>
              <a:rPr sz="2000">
                <a:latin typeface="Courier"/>
              </a:rPr>
              <a:t>lm()</a:t>
            </a:r>
            <a:r>
              <a:rPr sz="2000"/>
              <a:t> again.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And Switch Back — Always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Put R back the way you found it 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options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contrasts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"contr.treatment"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"contr.poly"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getOption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"contrasts"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"contr.treatment" "contr.poly"     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options()</a:t>
            </a:r>
            <a:r>
              <a:rPr/>
              <a:t> is </a:t>
            </a:r>
            <a:r>
              <a:rPr b="1"/>
              <a:t>global and sticky</a:t>
            </a:r>
            <a:r>
              <a:rPr/>
              <a:t> — it stays changed for the rest of your session and affects every model you fit afterwards, including ones in code you wrote weeks ago.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The pattern to memorize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options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contrasts =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"contr.sum"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"contr.poly"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options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contrasts =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"contr.treatment"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"contr.poly"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1270000">
              <a:buNone/>
            </a:pPr>
            <a:r>
              <a:rPr sz="2000"/>
              <a:t>Set → refit → test → set back. Four lines, in that order, every time.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Actually Changed? Only the Intercept 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Treatment coding, </a:t>
            </a:r>
            <a:r>
              <a:rPr b="1">
                <a:latin typeface="Courier"/>
              </a:rPr>
              <a:t>type = 3</a:t>
            </a:r>
            <a:r>
              <a:rPr b="1"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Sum Sq  Df F value
(Intercept) 2.07e9   1  9676.9
species     1.47e8   2   343.6
Residuals   7.24e7 339</a:t>
            </a:r>
          </a:p>
          <a:p>
            <a:pPr lvl="0" indent="0" marL="0">
              <a:buNone/>
            </a:pPr>
            <a:r>
              <a:rPr b="1"/>
              <a:t>Sum coding, </a:t>
            </a:r>
            <a:r>
              <a:rPr b="1">
                <a:latin typeface="Courier"/>
              </a:rPr>
              <a:t>type = 3</a:t>
            </a:r>
            <a:r>
              <a:rPr b="1"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Sum Sq  Df F value
(Intercept) 5.31e9   1 24859.3
species     1.47e8   2   343.6
Residuals   7.24e7 339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species</a:t>
            </a:r>
            <a:r>
              <a:rPr/>
              <a:t> row is </a:t>
            </a:r>
            <a:r>
              <a:rPr b="1"/>
              <a:t>identical</a:t>
            </a:r>
            <a:r>
              <a:rPr/>
              <a:t> — 343.6 either way. Only </a:t>
            </a:r>
            <a:r>
              <a:rPr>
                <a:latin typeface="Courier"/>
              </a:rPr>
              <a:t>(Intercept)</a:t>
            </a:r>
            <a:r>
              <a:rPr/>
              <a:t> moved, because the intercept means something different under each coding (Adelie’s mean vs. the grand mean).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So why bother?</a:t>
            </a:r>
          </a:p>
          <a:p>
            <a:pPr lvl="0" indent="0" marL="1270000">
              <a:buNone/>
            </a:pPr>
            <a:r>
              <a:rPr sz="2000"/>
              <a:t>With </a:t>
            </a:r>
            <a:r>
              <a:rPr sz="2000" b="1"/>
              <a:t>one</a:t>
            </a:r>
            <a:r>
              <a:rPr sz="2000"/>
              <a:t> factor, you cannot see the difference in the row you care about. With </a:t>
            </a:r>
            <a:r>
              <a:rPr sz="2000" b="1"/>
              <a:t>two</a:t>
            </a:r>
            <a:r>
              <a:rPr sz="2000"/>
              <a:t> factors and an interaction, you can — the predictor rows change too. Learn the four-line pattern on the easy case, so it is automatic on the hard one.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Which Table Should You Report?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09600"/>
          <a:ext cx="90805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5270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factor, any design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of them — they agree. </a:t>
                      </a:r>
                      <a:r>
                        <a:rPr>
                          <a:latin typeface="Courier"/>
                        </a:rPr>
                        <a:t>Anova(model)</a:t>
                      </a:r>
                      <a:r>
                        <a:rPr/>
                        <a:t> is a fine habit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Two+ factors, </a:t>
                      </a:r>
                      <a:r>
                        <a:rPr b="1"/>
                        <a:t>balanced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three types agree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Two+ factors, </a:t>
                      </a:r>
                      <a:r>
                        <a:rPr b="1"/>
                        <a:t>unbalanced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Type II</a:t>
                      </a:r>
                      <a:r>
                        <a:rPr/>
                        <a:t> for main effects with no interaction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Interaction you want to keep 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Type III</a:t>
                      </a:r>
                      <a:r>
                        <a:rPr/>
                        <a:t>, with </a:t>
                      </a:r>
                      <a:r>
                        <a:rPr>
                          <a:latin typeface="Courier"/>
                        </a:rPr>
                        <a:t>contr.sum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In this course: report </a:t>
            </a:r>
            <a:r>
              <a:rPr sz="2000" b="1">
                <a:latin typeface="Courier"/>
              </a:rPr>
              <a:t>Anova(model)</a:t>
            </a:r>
            <a:r>
              <a:rPr sz="2000"/>
              <a:t> (Type II) unless you have a specific reason. Know the Type III recipe because reviewers, SPSS and SAS users ask for it by name.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Report the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numbers you need, in one table 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(mass_model)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Anova Table (Type II tests)
Response: body_mass_g
             Sum Sq  Df F value    Pr(&gt;F)    
species   146864214   2  343.63 &lt; 2.2e-16 ***
Residuals  72443483 339                      
---
Signif. codes:  0 '***' 0.001 '**' 0.01 '*' 0.05 '.' 0.1 ' ' 1</a:t>
            </a:r>
          </a:p>
          <a:p>
            <a:pPr lvl="0" indent="0" marL="1270000">
              <a:buNone/>
            </a:pPr>
            <a:r>
              <a:rPr sz="2000" i="1"/>
              <a:t>“Body mass differed significantly among the three penguin species (one-way ANOVA: F(2, 339) = 343.6, p &lt; 0.001).”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Always include:</a:t>
            </a:r>
          </a:p>
          <a:p>
            <a:pPr lvl="0"/>
            <a:r>
              <a:rPr/>
              <a:t>the test (one-way ANOVA)</a:t>
            </a:r>
          </a:p>
          <a:p>
            <a:pPr lvl="0"/>
            <a:r>
              <a:rPr b="1"/>
              <a:t>F</a:t>
            </a:r>
            <a:r>
              <a:rPr/>
              <a:t>, </a:t>
            </a:r>
            <a:r>
              <a:rPr b="1"/>
              <a:t>both df</a:t>
            </a:r>
            <a:r>
              <a:rPr/>
              <a:t>, the </a:t>
            </a:r>
            <a:r>
              <a:rPr b="1" i="1"/>
              <a:t>p</a:t>
            </a:r>
            <a:r>
              <a:rPr b="1"/>
              <a:t>-value</a:t>
            </a:r>
          </a:p>
          <a:p>
            <a:pPr lvl="0"/>
            <a:r>
              <a:rPr/>
              <a:t>the direction, once you know it</a:t>
            </a:r>
          </a:p>
          <a:p>
            <a:pPr lvl="0" indent="0" marL="0">
              <a:buNone/>
            </a:pPr>
            <a:r>
              <a:rPr b="1"/>
              <a:t>Never</a:t>
            </a:r>
            <a:r>
              <a:rPr/>
              <a:t> write “p = 0.000” — write “p &lt; 0.001”.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Notice what the sentence does </a:t>
            </a:r>
            <a:r>
              <a:rPr sz="2000" b="1"/>
              <a:t>not</a:t>
            </a:r>
            <a:r>
              <a:rPr sz="2000"/>
              <a:t> say: </a:t>
            </a:r>
            <a:r>
              <a:rPr sz="2000" i="1"/>
              <a:t>which</a:t>
            </a:r>
            <a:r>
              <a:rPr sz="2000"/>
              <a:t> species differ. It cannot — and neither can you, yet.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Now Go Run It — The Whole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</a:t>
            </a:r>
            <a:r>
              <a:rPr>
                <a:latin typeface="Courier"/>
              </a:rPr>
              <a:t>scripts/19_anova_1_skeleton.R</a:t>
            </a:r>
            <a:r>
              <a:rPr/>
              <a:t> and work through Parts 1–10. Everything on these slides is in there, in order. Predict each output before you run it.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homework</a:t>
            </a:r>
            <a:r>
              <a:rPr/>
              <a:t> is at the bottom of the same script: the same analysis, start to finish, on a measurement you choose — </a:t>
            </a:r>
            <a:r>
              <a:rPr>
                <a:latin typeface="Courier"/>
              </a:rPr>
              <a:t>flipper_length_mm</a:t>
            </a:r>
            <a:r>
              <a:rPr/>
              <a:t>, </a:t>
            </a:r>
            <a:r>
              <a:rPr>
                <a:latin typeface="Courier"/>
              </a:rPr>
              <a:t>bill_length_mm</a:t>
            </a:r>
            <a:r>
              <a:rPr/>
              <a:t> or </a:t>
            </a:r>
            <a:r>
              <a:rPr>
                <a:latin typeface="Courier"/>
              </a:rPr>
              <a:t>bill_depth_mm</a:t>
            </a:r>
            <a:r>
              <a:rPr/>
              <a:t>. Keep that column; Lecture 20’s homework checks the assumptions and runs the follow-up tests on the same one.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The skeleton has a </a:t>
            </a:r>
            <a:r>
              <a:rPr sz="2000">
                <a:latin typeface="Courier"/>
              </a:rPr>
              <a:t>invisible(NULL)</a:t>
            </a:r>
            <a:r>
              <a:rPr sz="2000"/>
              <a:t> line after every chunk. It is a </a:t>
            </a:r>
            <a:r>
              <a:rPr sz="2000" b="1"/>
              <a:t>bumper</a:t>
            </a:r>
            <a:r>
              <a:rPr sz="2000"/>
              <a:t>: when you press Ctrl/Cmd + Enter on the last line of a chunk, your cursor lands on the bumper instead of jumping to the next real code, far down the file.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Many t-tests inflate the false-positive rate — </a:t>
            </a:r>
            <a:r>
              <a:rPr b="1"/>
              <a:t>ANOVA asks once</a:t>
            </a:r>
          </a:p>
          <a:p>
            <a:pPr lvl="0"/>
            <a:r>
              <a:rPr b="1"/>
              <a:t>F</a:t>
            </a:r>
            <a:r>
              <a:rPr/>
              <a:t> = between-group ÷ within-group variance</a:t>
            </a:r>
          </a:p>
          <a:p>
            <a:pPr lvl="0"/>
            <a:r>
              <a:rPr/>
              <a:t>A </a:t>
            </a:r>
            <a:r>
              <a:rPr b="1"/>
              <a:t>factor</a:t>
            </a:r>
            <a:r>
              <a:rPr/>
              <a:t>’s level order sets the plot order and the model baseline</a:t>
            </a:r>
          </a:p>
          <a:p>
            <a:pPr lvl="0"/>
            <a:r>
              <a:rPr/>
              <a:t>ANOVA is a linear model with a categorical predictor</a:t>
            </a:r>
          </a:p>
          <a:p>
            <a:pPr lvl="0"/>
            <a:r>
              <a:rPr/>
              <a:t>Type I / II / III differ in how they allocate sums of squares; </a:t>
            </a:r>
            <a:r>
              <a:rPr b="1"/>
              <a:t>Type III needs </a:t>
            </a:r>
            <a:r>
              <a:rPr b="1">
                <a:latin typeface="Courier"/>
              </a:rPr>
              <a:t>contr.sum</a:t>
            </a:r>
            <a:r>
              <a:rPr/>
              <a:t>, and the model must be </a:t>
            </a:r>
            <a:r>
              <a:rPr b="1"/>
              <a:t>refit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fct_reorder()</a:t>
            </a:r>
            <a:r>
              <a:rPr/>
              <a:t>, </a:t>
            </a:r>
            <a:r>
              <a:rPr>
                <a:latin typeface="Courier"/>
              </a:rPr>
              <a:t>fct_relevel()</a:t>
            </a:r>
          </a:p>
          <a:p>
            <a:pPr lvl="0"/>
            <a:r>
              <a:rPr>
                <a:latin typeface="Courier"/>
              </a:rPr>
              <a:t>lm(Y ~ group)</a:t>
            </a:r>
            <a:r>
              <a:rPr/>
              <a:t>, </a:t>
            </a:r>
            <a:r>
              <a:rPr>
                <a:latin typeface="Courier"/>
              </a:rPr>
              <a:t>coef()</a:t>
            </a:r>
          </a:p>
          <a:p>
            <a:pPr lvl="0"/>
            <a:r>
              <a:rPr>
                <a:latin typeface="Courier"/>
              </a:rPr>
              <a:t>aov()</a:t>
            </a:r>
            <a:r>
              <a:rPr/>
              <a:t> + </a:t>
            </a:r>
            <a:r>
              <a:rPr>
                <a:latin typeface="Courier"/>
              </a:rPr>
              <a:t>summary()</a:t>
            </a:r>
            <a:r>
              <a:rPr/>
              <a:t>, </a:t>
            </a:r>
            <a:r>
              <a:rPr>
                <a:latin typeface="Courier"/>
              </a:rPr>
              <a:t>anova()</a:t>
            </a:r>
            <a:r>
              <a:rPr/>
              <a:t>, </a:t>
            </a:r>
            <a:r>
              <a:rPr>
                <a:latin typeface="Courier"/>
              </a:rPr>
              <a:t>car::Anova()</a:t>
            </a:r>
          </a:p>
          <a:p>
            <a:pPr lvl="0"/>
            <a:r>
              <a:rPr>
                <a:latin typeface="Courier"/>
              </a:rPr>
              <a:t>options(contrasts = ...)</a:t>
            </a:r>
            <a:r>
              <a:rPr/>
              <a:t> — set, refit, test, set 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W&amp;S Ch. 15 — ANOVA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Ch. 16 — Factors</a:t>
            </a:r>
          </a:p>
          <a:p>
            <a:pPr lvl="0" indent="0" marL="0">
              <a:buNone/>
            </a:pPr>
            <a:r>
              <a:rPr b="1"/>
              <a:t>Up next — Lecture 20:</a:t>
            </a:r>
          </a:p>
          <a:p>
            <a:pPr lvl="0"/>
            <a:r>
              <a:rPr b="1"/>
              <a:t>Set 2 — the assumptions.</a:t>
            </a:r>
            <a:r>
              <a:rPr/>
              <a:t> We reported </a:t>
            </a:r>
            <a:r>
              <a:rPr i="1"/>
              <a:t>p</a:t>
            </a:r>
            <a:r>
              <a:rPr/>
              <a:t> &lt; 0.001 today without earning it. Are the residuals normal? Are the variances equal? One of those answers is going to be </a:t>
            </a:r>
            <a:r>
              <a:rPr b="1"/>
              <a:t>no</a:t>
            </a:r>
            <a:r>
              <a:rPr/>
              <a:t>.</a:t>
            </a:r>
          </a:p>
          <a:p>
            <a:pPr lvl="0"/>
            <a:r>
              <a:rPr b="1"/>
              <a:t>Set 3 — the follow-up tests.</a:t>
            </a:r>
            <a:r>
              <a:rPr/>
              <a:t> Adelie and Chinstrap looked identical on the boxplot. We find out whether they are.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 — One-Way ANOVA I: Start to Finish</dc:title>
  <dc:creator>Bill Perry</dc:creator>
  <cp:keywords/>
  <dc:description>The complete basic one-way ANOVA, beginning to end: why one test instead of many t-tests, what the F-statistic is, ordering groups with factors, fitting lm(), reading the table with aov(), car::Anova(type = 2) and car::Anova(type = 3) — including the contrasts option Type III needs — and writing the result up. Assumptions and follow-up tests are Lecture 20.</dc:description>
  <dcterms:created xsi:type="dcterms:W3CDTF">2026-10-20T00:52:05Z</dcterms:created>
  <dcterms:modified xsi:type="dcterms:W3CDTF">2026-10-20T00:52:05Z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19</vt:lpwstr>
  </property>
  <property fmtid="{D5CDD505-2E9C-101B-9397-08002B2CF9AE}" pid="13" name="resources">
    <vt:lpwstr/>
  </property>
  <property fmtid="{D5CDD505-2E9C-101B-9397-08002B2CF9AE}" pid="14" name="subtitle">
    <vt:lpwstr>From the question to a reported F — the whole basic ANOVA in one pass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10</vt:lpwstr>
  </property>
</Properties>
</file>