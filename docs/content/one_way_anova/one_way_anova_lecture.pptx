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— One-Way ANOVA I: Start to Finish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question to a reported F — the whole basic ANOVA in one pass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</a:t>
            </a:r>
          </a:p>
          <a:p>
            <a:pPr lvl="0"/>
            <a:r>
              <a:rPr b="1"/>
              <a:t>Weather (Lecture 12)</a:t>
            </a:r>
            <a:r>
              <a:rPr/>
              <a:t> — the same </a:t>
            </a:r>
            <a:r>
              <a:rPr>
                <a:latin typeface="Courier"/>
              </a:rPr>
              <a:t>lm()</a:t>
            </a:r>
            <a:r>
              <a:rPr/>
              <a:t>, with a slope read as a rate</a:t>
            </a:r>
          </a:p>
          <a:p>
            <a:pPr lvl="0"/>
            <a:r>
              <a:rPr b="1"/>
              <a:t>Pivoting &amp; Joins (Lectures 15–16)</a:t>
            </a:r>
            <a:r>
              <a:rPr/>
              <a:t> — getting messy data into one tidy table so a model can be fitted to it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 is still </a:t>
            </a:r>
            <a:r>
              <a:rPr sz="2000">
                <a:latin typeface="Courier"/>
              </a:rPr>
              <a:t>lm(Y ~ X)</a:t>
            </a:r>
            <a:r>
              <a:rPr sz="2000"/>
              <a:t>, just with a </a:t>
            </a:r>
            <a:r>
              <a:rPr sz="2000" b="1"/>
              <a:t>categorical</a:t>
            </a:r>
            <a:r>
              <a:rPr sz="2000"/>
              <a:t> X. That is </a:t>
            </a:r>
            <a:r>
              <a:rPr sz="2000" b="1"/>
              <a:t>one-way ANOVA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</a:t>
            </a:r>
            <a:r>
              <a:rPr b="1"/>
              <a:t>whole basic ANOVA, start to finish</a:t>
            </a:r>
            <a:r>
              <a:rPr/>
              <a:t>:</a:t>
            </a:r>
          </a:p>
          <a:p>
            <a:pPr lvl="0"/>
            <a:r>
              <a:rPr/>
              <a:t>Why we do </a:t>
            </a:r>
            <a:r>
              <a:rPr b="1"/>
              <a:t>not</a:t>
            </a:r>
            <a:r>
              <a:rPr/>
              <a:t> run many t-tests</a:t>
            </a:r>
          </a:p>
          <a:p>
            <a:pPr lvl="0"/>
            <a:r>
              <a:rPr/>
              <a:t>What the </a:t>
            </a:r>
            <a:r>
              <a:rPr b="1"/>
              <a:t>F-statistic</a:t>
            </a:r>
            <a:r>
              <a:rPr/>
              <a:t> is</a:t>
            </a:r>
          </a:p>
          <a:p>
            <a:pPr lvl="0"/>
            <a:r>
              <a:rPr/>
              <a:t>State the </a:t>
            </a:r>
            <a:r>
              <a:rPr b="1"/>
              <a:t>hypotheses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the groups on the plot</a:t>
            </a:r>
          </a:p>
          <a:p>
            <a:pPr lvl="0"/>
            <a:r>
              <a:rPr/>
              <a:t>Fit it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Read the table — </a:t>
            </a:r>
            <a:r>
              <a:rPr>
                <a:latin typeface="Courier"/>
              </a:rPr>
              <a:t>aov()</a:t>
            </a:r>
            <a:r>
              <a:rPr/>
              <a:t>, </a:t>
            </a:r>
            <a:r>
              <a:rPr>
                <a:latin typeface="Courier"/>
              </a:rPr>
              <a:t>Anova(type = 2)</a:t>
            </a:r>
            <a:r>
              <a:rPr/>
              <a:t>, </a:t>
            </a:r>
            <a:r>
              <a:rPr>
                <a:latin typeface="Courier"/>
              </a:rPr>
              <a:t>Anova(type = 3)</a:t>
            </a:r>
          </a:p>
          <a:p>
            <a:pPr lvl="0"/>
            <a:r>
              <a:rPr b="1"/>
              <a:t>Report</a:t>
            </a:r>
            <a:r>
              <a:rPr/>
              <a:t> the result in a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Three Sets of Material, Three Days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508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 — The basic ANOVA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today</a:t>
                      </a:r>
                      <a:r>
                        <a:rPr/>
                        <a:t>, Lecture 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 → plot →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 → F table →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 — The assumptions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normality, equal variance, what to do when they fail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 — The follow-up tests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which</a:t>
                      </a:r>
                      <a:r>
                        <a:rPr/>
                        <a:t> groups differ — </a:t>
                      </a:r>
                      <a:r>
                        <a:rPr>
                          <a:latin typeface="Courier"/>
                        </a:rPr>
                        <a:t>emmeans</a:t>
                      </a:r>
                      <a:r>
                        <a:rPr/>
                        <a:t>, Tukey, letters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We do Set 1 </a:t>
            </a:r>
            <a:r>
              <a:rPr sz="2000" b="1"/>
              <a:t>all the way through first</a:t>
            </a:r>
            <a:r>
              <a:rPr sz="2000"/>
              <a:t> — including a reported result — so you see the shape of the whole analysis before we start poking at it. A real write-up would check the assumptions </a:t>
            </a:r>
            <a:r>
              <a:rPr sz="2000" b="1"/>
              <a:t>before</a:t>
            </a:r>
            <a:r>
              <a:rPr sz="2000"/>
              <a:t> trusting that </a:t>
            </a:r>
            <a:r>
              <a:rPr sz="2000" i="1"/>
              <a:t>p</a:t>
            </a:r>
            <a:r>
              <a:rPr sz="2000"/>
              <a:t>-value, and that is exactly what Lecture 20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lecture through the material, then you open the skeleton script and run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it is tempting to just read off the tallest box. Predicting the F first makes you reason about between- vs. within-group variance.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2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 is there.</a:t>
            </a:r>
          </a:p>
          <a:p>
            <a:pPr lvl="0"/>
            <a:r>
              <a:rPr sz="2000"/>
              <a:t>You will meet </a:t>
            </a:r>
            <a:r>
              <a:rPr sz="2000">
                <a:latin typeface="Courier"/>
              </a:rPr>
              <a:t>anova()</a:t>
            </a:r>
            <a:r>
              <a:rPr sz="2000"/>
              <a:t>, </a:t>
            </a:r>
            <a:r>
              <a:rPr sz="2000">
                <a:latin typeface="Courier"/>
              </a:rPr>
              <a:t>aov()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in one lecture. Typing each one is how they stop blurring together.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 would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is Set 3, next lecture.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 — the same shape as </a:t>
            </a:r>
            <a:r>
              <a:rPr sz="2000" i="1"/>
              <a:t>t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field station: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gives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— 151, 68 and 123 birds. That is why we care which sums of squares </a:t>
            </a:r>
            <a:r>
              <a:rPr sz="2000">
                <a:latin typeface="Courier"/>
              </a:rPr>
              <a:t>Anova()</a:t>
            </a:r>
            <a:r>
              <a:rPr sz="2000"/>
              <a:t> uses.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⚠️ Two Different </a:t>
            </a:r>
            <a:r>
              <a:rPr>
                <a:latin typeface="Courier"/>
              </a:rPr>
              <a:t>penguins</a:t>
            </a:r>
            <a:r>
              <a:rPr/>
              <a:t> Data Sets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4.5 added its </a:t>
            </a:r>
            <a:r>
              <a:rPr b="1"/>
              <a:t>own</a:t>
            </a:r>
            <a:r>
              <a:rPr/>
              <a:t> </a:t>
            </a:r>
            <a:r>
              <a:rPr>
                <a:latin typeface="Courier"/>
              </a:rPr>
              <a:t>penguins</a:t>
            </a:r>
            <a:r>
              <a:rPr/>
              <a:t> to base R, with </a:t>
            </a:r>
            <a:r>
              <a:rPr b="1"/>
              <a:t>shorter column names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Mass column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palmerpenguins::penguins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body_mass_g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R </a:t>
                      </a:r>
                      <a:r>
                        <a:rPr>
                          <a:latin typeface="Courier"/>
                        </a:rPr>
                        <a:t>datasets::penguins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body_mass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forget </a:t>
            </a:r>
            <a:r>
              <a:rPr>
                <a:latin typeface="Courier"/>
              </a:rPr>
              <a:t>library(palmerpenguins)</a:t>
            </a:r>
            <a:r>
              <a:rPr/>
              <a:t>, </a:t>
            </a:r>
            <a:r>
              <a:rPr>
                <a:latin typeface="Courier"/>
              </a:rPr>
              <a:t>penguins</a:t>
            </a:r>
            <a:r>
              <a:rPr/>
              <a:t> still exists — so there is no “object not found” error. You get a column-name error later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error you would see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Error in `drop_na()`: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! Can't select columns that don't exist.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✖ Column `body_mass_g` doesn't exist.</a:t>
            </a:r>
          </a:p>
          <a:p>
            <a:pPr lvl="0" indent="0" marL="1270000">
              <a:buNone/>
            </a:pPr>
            <a:r>
              <a:rPr sz="2000" b="1"/>
              <a:t>The fix:</a:t>
            </a:r>
            <a:r>
              <a:rPr sz="2000"/>
              <a:t> </a:t>
            </a:r>
            <a:r>
              <a:rPr sz="2000">
                <a:latin typeface="Courier"/>
              </a:rPr>
              <a:t>library(palmerpenguins)</a:t>
            </a:r>
            <a:r>
              <a:rPr sz="2000"/>
              <a:t> at the top. We use the </a:t>
            </a:r>
            <a:r>
              <a:rPr sz="2000">
                <a:latin typeface="Courier"/>
              </a:rPr>
              <a:t>_g</a:t>
            </a:r>
            <a:r>
              <a:rPr sz="2000"/>
              <a:t> names all lecture.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all three species, or just one? Which is heaviest?</a:t>
            </a:r>
          </a:p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Gentoo sits well above the other two</a:t>
            </a:r>
          </a:p>
          <a:p>
            <a:pPr lvl="0"/>
            <a:r>
              <a:rPr/>
              <a:t>Adelie and Chinstrap are </a:t>
            </a:r>
            <a:r>
              <a:rPr b="1"/>
              <a:t>almost on top of each other</a:t>
            </a:r>
            <a:r>
              <a:rPr/>
              <a:t> — hold that thought</a:t>
            </a:r>
          </a:p>
          <a:p>
            <a:pPr lvl="0"/>
            <a:r>
              <a:rPr/>
              <a:t>The box heights are </a:t>
            </a:r>
            <a:r>
              <a:rPr b="1"/>
              <a:t>not</a:t>
            </a:r>
            <a:r>
              <a:rPr/>
              <a:t> all equal — hold that one too (Set 2)</a:t>
            </a:r>
          </a:p>
          <a:p>
            <a:pPr lvl="0"/>
            <a:r>
              <a:rPr/>
              <a:t>The order is </a:t>
            </a:r>
            <a:r>
              <a:rPr b="1"/>
              <a:t>alphabetical</a:t>
            </a:r>
            <a:r>
              <a:rPr/>
              <a:t>, not by mass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and model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what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Here the alphabetical order happens to already be the mass order — but now it is that way </a:t>
            </a:r>
            <a:r>
              <a:rPr b="1"/>
              <a:t>on purpose</a:t>
            </a:r>
            <a:r>
              <a:rPr/>
              <a:t>, and it will hold for data where it does not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need </a:t>
            </a:r>
            <a:r>
              <a:rPr sz="2000" i="1"/>
              <a:t>ordering</a:t>
            </a:r>
            <a:r>
              <a:rPr sz="2000"/>
              <a:t>, and </a:t>
            </a:r>
            <a:r>
              <a:rPr sz="2000">
                <a:latin typeface="Courier"/>
              </a:rPr>
              <a:t>fct_relevel()</a:t>
            </a:r>
            <a:r>
              <a:rPr sz="2000"/>
              <a:t> for the baseline in a moment.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State the Hypotheses — Before Any Code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Adelie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Chinstrap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Gentoo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Hₐ:</a:t>
                </a:r>
                <a:r>
                  <a:rPr/>
                  <a:t> at least one species mean differs from the others</a:t>
                </a:r>
              </a:p>
              <a:p>
                <a:pPr lvl="0" indent="0" marL="0">
                  <a:buNone/>
                </a:pPr>
                <a:r>
                  <a:rPr b="1"/>
                  <a:t>α = 0.05</a:t>
                </a:r>
              </a:p>
              <a:p>
                <a:pPr lvl="0" indent="0" marL="0">
                  <a:buNone/>
                </a:pPr>
                <a:r>
                  <a:rPr/>
                  <a:t>That is the whole hypothesis set. There is </a:t>
                </a:r>
                <a:r>
                  <a:rPr b="1"/>
                  <a:t>one</a:t>
                </a:r>
                <a:r>
                  <a:rPr/>
                  <a:t> test and </a:t>
                </a:r>
                <a:r>
                  <a:rPr b="1"/>
                  <a:t>one</a:t>
                </a:r>
                <a:r>
                  <a:rPr/>
                  <a:t> </a:t>
                </a:r>
                <a:r>
                  <a:rPr i="1"/>
                  <a:t>p</a:t>
                </a:r>
                <a:r>
                  <a:rPr/>
                  <a:t>-value, no matter how many groups you have.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Hₐ is deliberately vague. “At least one differs” is all the F-test can tell you. If you want to name the species, you need the follow-up tests — Set 3.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—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function call as regression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b="1"/>
              <a:t>is</a:t>
            </a:r>
            <a:r>
              <a:rPr/>
              <a:t> a one-way ANOVA</a:t>
            </a:r>
          </a:p>
          <a:p>
            <a:pPr lvl="0"/>
            <a:r>
              <a:rPr/>
              <a:t>Fitting the model and </a:t>
            </a:r>
            <a:r>
              <a:rPr b="1"/>
              <a:t>reading a table from it</a:t>
            </a:r>
            <a:r>
              <a:rPr/>
              <a:t> are two separate steps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do not write anything different to get an ANOVA instead of a regression. </a:t>
            </a:r>
            <a:r>
              <a:rPr sz="2000">
                <a:latin typeface="Courier"/>
              </a:rPr>
              <a:t>lm()</a:t>
            </a:r>
            <a:r>
              <a:rPr sz="2000"/>
              <a:t> looks at the class of </a:t>
            </a:r>
            <a:r>
              <a:rPr sz="2000">
                <a:latin typeface="Courier"/>
              </a:rPr>
              <a:t>X</a:t>
            </a:r>
            <a:r>
              <a:rPr sz="2000"/>
              <a:t> and codes it for you. One function, two tests.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lm()</a:t>
            </a:r>
            <a:r>
              <a:rPr/>
              <a:t> Did With a Factor — the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/>
            <a:r>
              <a:rPr>
                <a:latin typeface="Courier"/>
              </a:rPr>
              <a:t>(Intercept)</a:t>
            </a:r>
            <a:r>
              <a:rPr/>
              <a:t> is the mean of the </a:t>
            </a:r>
            <a:r>
              <a:rPr b="1"/>
              <a:t>first level</a:t>
            </a:r>
            <a:r>
              <a:rPr/>
              <a:t> — Adelie</a:t>
            </a:r>
          </a:p>
          <a:p>
            <a:pPr lvl="0"/>
            <a:r>
              <a:rPr/>
              <a:t>The other coefficients are </a:t>
            </a:r>
            <a:r>
              <a:rPr b="1"/>
              <a:t>differences from Adelie</a:t>
            </a:r>
          </a:p>
          <a:p>
            <a:pPr lvl="0"/>
            <a:r>
              <a:rPr/>
              <a:t>Chinstrap is +32 g; Gentoo is +1375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</a:t>
            </a:r>
            <a:r>
              <a:rPr b="1"/>
              <a:t>treatment coding</a:t>
            </a:r>
            <a:r>
              <a:rPr/>
              <a:t> (</a:t>
            </a:r>
            <a:r>
              <a:rPr>
                <a:latin typeface="Courier"/>
              </a:rPr>
              <a:t>contr.treatment</a:t>
            </a:r>
            <a:r>
              <a:rPr/>
              <a:t>) — R’s default. Each group is compared with a baseline group.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Remember this phrase: </a:t>
            </a:r>
            <a:r>
              <a:rPr sz="2000" i="1"/>
              <a:t>treatment coding compares every group with the first level.</a:t>
            </a:r>
            <a:r>
              <a:rPr sz="2000"/>
              <a:t> It comes back in two slides when we ask </a:t>
            </a:r>
            <a:r>
              <a:rPr sz="2000">
                <a:latin typeface="Courier"/>
              </a:rPr>
              <a:t>Anova()</a:t>
            </a:r>
            <a:r>
              <a:rPr sz="2000"/>
              <a:t> for Type III.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Change the Baseline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mass_model_gentoo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(mass_model_gentoo)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the coefficients are now differences </a:t>
            </a:r>
            <a:r>
              <a:rPr b="1"/>
              <a:t>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“do any means differ?” is the same question whichever group you call the baseline.</a:t>
            </a:r>
          </a:p>
          <a:p>
            <a:pPr lvl="0" indent="0" marL="0">
              <a:buNone/>
            </a:pPr>
            <a:r>
              <a:rPr/>
              <a:t>Use it to make the baseline a group your reader cares about — a control, a reference site.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 the Table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was very separated. Predict the </a:t>
            </a:r>
            <a:r>
              <a:rPr sz="2000" i="1"/>
              <a:t>p</a:t>
            </a:r>
            <a:r>
              <a:rPr sz="2000"/>
              <a:t>-value — nearer 0.5, 0.05, or far below 0.001?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classic ANOVA table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then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 Sq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variation explained / left over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Function Names, One Idea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6731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Gives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aov(y ~ x)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classic ANOVA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anova(model)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</a:t>
                      </a:r>
                      <a:r>
                        <a:rPr/>
                        <a:t> (sequential)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Anova(model)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</a:t>
                      </a:r>
                      <a:r>
                        <a:rPr/>
                        <a:t> table (the default)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Anova(model, type =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III</a:t>
                      </a:r>
                      <a:r>
                        <a:rPr/>
                        <a:t> table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lives in </a:t>
            </a:r>
            <a:r>
              <a:rPr sz="2000" b="1"/>
              <a:t>car</a:t>
            </a:r>
            <a:r>
              <a:rPr sz="2000"/>
              <a:t>. Without </a:t>
            </a:r>
            <a:r>
              <a:rPr sz="2000">
                <a:latin typeface="Courier"/>
              </a:rPr>
              <a:t>library(car)</a:t>
            </a:r>
            <a:r>
              <a:rPr sz="2000"/>
              <a:t> you get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could not find function "Anova"</a:t>
            </a:r>
          </a:p>
          <a:p>
            <a:pPr lvl="0" indent="0" marL="1270000">
              <a:buNone/>
            </a:pPr>
            <a:r>
              <a:rPr sz="2000"/>
              <a:t>With one predictor all four of these give the </a:t>
            </a:r>
            <a:r>
              <a:rPr sz="2000" b="1"/>
              <a:t>same F for </a:t>
            </a:r>
            <a:r>
              <a:rPr sz="2000" b="1">
                <a:latin typeface="Courier"/>
              </a:rPr>
              <a:t>species</a:t>
            </a:r>
            <a:r>
              <a:rPr sz="2000"/>
              <a:t>. The differences only bite once you have two or more predictors — which is exactly why we build the habit now.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Is the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 type argument = Type II 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Type I is </a:t>
            </a:r>
            <a:r>
              <a:rPr b="1"/>
              <a:t>order-dependent</a:t>
            </a:r>
            <a:r>
              <a:rPr/>
              <a:t> — swap the predictors and the table changes</a:t>
            </a:r>
          </a:p>
          <a:p>
            <a:pPr lvl="0"/>
            <a:r>
              <a:rPr/>
              <a:t>Type II is </a:t>
            </a:r>
            <a:r>
              <a:rPr b="1"/>
              <a:t>order-independent</a:t>
            </a:r>
            <a:r>
              <a:rPr/>
              <a:t>, and it is the habit you want before two-way ANOVA, where the type genuinely changes the answer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Anova(mass_model, type = 2)</a:t>
            </a:r>
            <a:r>
              <a:rPr/>
              <a:t> is the same thing, written out.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Needs a Different Contrast 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are only meaningful when the factors are coded so each group is compared with the </a:t>
            </a:r>
            <a:r>
              <a:rPr b="1"/>
              <a:t>grand mean</a:t>
            </a:r>
            <a:r>
              <a:rPr/>
              <a:t> — </a:t>
            </a:r>
            <a:r>
              <a:rPr>
                <a:latin typeface="Courier"/>
              </a:rPr>
              <a:t>contr.sum</a:t>
            </a:r>
            <a:r>
              <a:rPr/>
              <a:t> — not with a baseline group (</a:t>
            </a:r>
            <a:r>
              <a:rPr>
                <a:latin typeface="Courier"/>
              </a:rPr>
              <a:t>contr.treatment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R using right now? 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getOption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"contrasts"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unordered           ordered 
"contr.treatment"      "contr.poly" </a:t>
            </a:r>
          </a:p>
          <a:p>
            <a:pPr lvl="0" indent="0" marL="0">
              <a:buNone/>
            </a:pPr>
            <a:r>
              <a:rPr/>
              <a:t>That is R’s default: </a:t>
            </a:r>
            <a:r>
              <a:rPr b="1"/>
              <a:t>treatment</a:t>
            </a:r>
            <a:r>
              <a:rPr/>
              <a:t> coding for unordered factors, </a:t>
            </a:r>
            <a:r>
              <a:rPr b="1"/>
              <a:t>polynomial</a:t>
            </a:r>
            <a:r>
              <a:rPr/>
              <a:t> for ordered ones.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Anova(model, type = 3)</a:t>
            </a:r>
            <a:r>
              <a:rPr sz="2000"/>
              <a:t> wants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Ask for Type III on a treatment-coded model and </a:t>
            </a:r>
            <a:r>
              <a:rPr sz="2000">
                <a:latin typeface="Courier"/>
              </a:rPr>
              <a:t>car</a:t>
            </a:r>
            <a:r>
              <a:rPr sz="2000"/>
              <a:t> will still print a table — it just will not be the Type III test you think it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Switch to </a:t>
            </a:r>
            <a:r>
              <a:rPr>
                <a:latin typeface="Courier"/>
              </a:rPr>
              <a:t>contr.sum</a:t>
            </a:r>
            <a:r>
              <a:rPr/>
              <a:t> — and Refit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change the option 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REFIT the model under the new coding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mass_model_sum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now Type III means what it says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(mass_model_sum,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body_mass_g
                Sum Sq  Df  F value    Pr(&gt;F)    
(Intercept) 5312367201   1 24859.28 &lt; 2.2e-16 ***
species      146864214   2   343.63 &lt; 2.2e-16 ***
Residuals     72443483 339 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Step 2 is not optional</a:t>
            </a:r>
          </a:p>
          <a:p>
            <a:pPr lvl="0" indent="0" marL="1270000">
              <a:buNone/>
            </a:pPr>
            <a:r>
              <a:rPr sz="2000"/>
              <a:t>A model stores the coding it was </a:t>
            </a:r>
            <a:r>
              <a:rPr sz="2000" b="1"/>
              <a:t>fitted</a:t>
            </a:r>
            <a:r>
              <a:rPr sz="2000"/>
              <a:t> with. Change the option and reuse the old model and nothing happens: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$species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[1] "contr.treatment"</a:t>
            </a:r>
          </a:p>
          <a:p>
            <a:pPr lvl="0" indent="0" marL="1270000">
              <a:buNone/>
            </a:pPr>
            <a:r>
              <a:rPr sz="2000"/>
              <a:t>Set the option, </a:t>
            </a:r>
            <a:r>
              <a:rPr sz="2000" b="1"/>
              <a:t>then</a:t>
            </a:r>
            <a:r>
              <a:rPr sz="2000"/>
              <a:t> </a:t>
            </a:r>
            <a:r>
              <a:rPr sz="2000">
                <a:latin typeface="Courier"/>
              </a:rPr>
              <a:t>lm()</a:t>
            </a:r>
            <a:r>
              <a:rPr sz="2000"/>
              <a:t> again.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And Switch Back — Always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R back the way you found it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getOption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"contrasts"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"contr.treatment" "contr.poly"   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options()</a:t>
            </a:r>
            <a:r>
              <a:rPr/>
              <a:t> is </a:t>
            </a:r>
            <a:r>
              <a:rPr b="1"/>
              <a:t>global and sticky</a:t>
            </a:r>
            <a:r>
              <a:rPr/>
              <a:t> — it stays changed for the rest of your session and affects every model you fit afterwards, including ones in code you wrote weeks ago.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The pattern to memorize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/>
              <a:t>Set → refit → test → set back. Four lines, in that order, every time.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Actually Changed? Only the Intercept Row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Treatment coding, </a:t>
            </a:r>
            <a:r>
              <a:rPr b="1">
                <a:latin typeface="Courier"/>
              </a:rPr>
              <a:t>type = 3</a:t>
            </a:r>
            <a:r>
              <a:rPr b="1"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Sum Sq  Df F value
(Intercept) 2.07e9   1  9676.9
species     1.47e8   2   343.6
Residuals   7.24e7 339</a:t>
            </a:r>
          </a:p>
          <a:p>
            <a:pPr lvl="0" indent="0" marL="0">
              <a:buNone/>
            </a:pPr>
            <a:r>
              <a:rPr b="1"/>
              <a:t>Sum coding, </a:t>
            </a:r>
            <a:r>
              <a:rPr b="1">
                <a:latin typeface="Courier"/>
              </a:rPr>
              <a:t>type = 3</a:t>
            </a:r>
            <a:r>
              <a:rPr b="1"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Sum Sq  Df F value
(Intercept) 5.31e9   1 24859.3
species     1.47e8   2   343.6
Residuals   7.24e7 339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species</a:t>
            </a:r>
            <a:r>
              <a:rPr/>
              <a:t> row is </a:t>
            </a:r>
            <a:r>
              <a:rPr b="1"/>
              <a:t>identical</a:t>
            </a:r>
            <a:r>
              <a:rPr/>
              <a:t> — 343.6 either way. Only </a:t>
            </a:r>
            <a:r>
              <a:rPr>
                <a:latin typeface="Courier"/>
              </a:rPr>
              <a:t>(Intercept)</a:t>
            </a:r>
            <a:r>
              <a:rPr/>
              <a:t> moved, because the intercept means something different under each coding (Adelie’s mean vs. the grand mean).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So why bother?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one</a:t>
            </a:r>
            <a:r>
              <a:rPr sz="2000"/>
              <a:t> factor, you cannot see the difference in the row you care about. With </a:t>
            </a:r>
            <a:r>
              <a:rPr sz="2000" b="1"/>
              <a:t>two</a:t>
            </a:r>
            <a:r>
              <a:rPr sz="2000"/>
              <a:t> factors and an interaction, you can — the predictor rows change too. Learn the four-line pattern on the easy case, so it is automatic on the hard one.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Which Table Should You Report?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Situation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factor, any design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of them — they agree. </a:t>
                      </a:r>
                      <a:r>
                        <a:rPr>
                          <a:latin typeface="Courier"/>
                        </a:rPr>
                        <a:t>Anova(model)</a:t>
                      </a:r>
                      <a:r>
                        <a:rPr/>
                        <a:t> is a fine habit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Two+ factors, </a:t>
                      </a:r>
                      <a:r>
                        <a:rPr b="1"/>
                        <a:t>balanced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three types agree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Two+ factors, </a:t>
                      </a:r>
                      <a:r>
                        <a:rPr b="1"/>
                        <a:t>unbalanced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</a:t>
                      </a:r>
                      <a:r>
                        <a:rPr/>
                        <a:t> for main effects with no interaction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Interaction you want to keep 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Type III</a:t>
                      </a:r>
                      <a:r>
                        <a:rPr/>
                        <a:t>, with </a:t>
                      </a:r>
                      <a:r>
                        <a:rPr>
                          <a:latin typeface="Courier"/>
                        </a:rPr>
                        <a:t>contr.sum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 this course: report </a:t>
            </a:r>
            <a:r>
              <a:rPr sz="2000" b="1">
                <a:latin typeface="Courier"/>
              </a:rPr>
              <a:t>Anova(model)</a:t>
            </a:r>
            <a:r>
              <a:rPr sz="2000"/>
              <a:t> (Type II) unless you have a specific reason. Know the Type III recipe because reviewers, SPSS and SAS users ask for it by name.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numbers you need, in one table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the test (one-way ANOVA)</a:t>
            </a:r>
          </a:p>
          <a:p>
            <a:pPr lvl="0"/>
            <a:r>
              <a:rPr b="1"/>
              <a:t>F</a:t>
            </a:r>
            <a:r>
              <a:rPr/>
              <a:t>, </a:t>
            </a:r>
            <a:r>
              <a:rPr b="1"/>
              <a:t>both df</a:t>
            </a:r>
            <a:r>
              <a:rPr/>
              <a:t>, the </a:t>
            </a:r>
            <a:r>
              <a:rPr b="1" i="1"/>
              <a:t>p</a:t>
            </a:r>
            <a:r>
              <a:rPr b="1"/>
              <a:t>-value</a:t>
            </a:r>
          </a:p>
          <a:p>
            <a:pPr lvl="0"/>
            <a:r>
              <a:rPr/>
              <a:t>the direction, once you know it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write “p &lt; 0.001”.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Notice what the sentence does </a:t>
            </a:r>
            <a:r>
              <a:rPr sz="2000" b="1"/>
              <a:t>not</a:t>
            </a:r>
            <a:r>
              <a:rPr sz="2000"/>
              <a:t> say: </a:t>
            </a:r>
            <a:r>
              <a:rPr sz="2000" i="1"/>
              <a:t>which</a:t>
            </a:r>
            <a:r>
              <a:rPr sz="2000"/>
              <a:t> species differ. It cannot — and neither can you, yet.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Now Go Run It — The Whole Activity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latin typeface="Courier"/>
              </a:rPr>
              <a:t>scripts/19_anova_1_skeleton.R</a:t>
            </a:r>
            <a:r>
              <a:rPr/>
              <a:t> and work through Parts 1–10. Everything on these slides is in there, in order. Predict each output before you run it.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homework</a:t>
            </a:r>
            <a:r>
              <a:rPr/>
              <a:t> is at the bottom of the same script: the same analysis, start to finish, on a measurement you choose — </a:t>
            </a:r>
            <a:r>
              <a:rPr>
                <a:latin typeface="Courier"/>
              </a:rPr>
              <a:t>flipper_length_mm</a:t>
            </a:r>
            <a:r>
              <a:rPr/>
              <a:t>, </a:t>
            </a:r>
            <a:r>
              <a:rPr>
                <a:latin typeface="Courier"/>
              </a:rPr>
              <a:t>bill_length_mm</a:t>
            </a:r>
            <a:r>
              <a:rPr/>
              <a:t> or </a:t>
            </a:r>
            <a:r>
              <a:rPr>
                <a:latin typeface="Courier"/>
              </a:rPr>
              <a:t>bill_depth_mm</a:t>
            </a:r>
            <a:r>
              <a:rPr/>
              <a:t>. Keep that column; Lecture 20’s homework checks the assumptions and runs the follow-up tests on the same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skeleton has a </a:t>
            </a:r>
            <a:r>
              <a:rPr sz="2000">
                <a:latin typeface="Courier"/>
              </a:rPr>
              <a:t>invisible(NULL)</a:t>
            </a:r>
            <a:r>
              <a:rPr sz="2000"/>
              <a:t> line after every chunk. It is a </a:t>
            </a:r>
            <a:r>
              <a:rPr sz="2000" b="1"/>
              <a:t>bumper</a:t>
            </a:r>
            <a:r>
              <a:rPr sz="2000"/>
              <a:t>: when you press Ctrl/Cmd + Enter on the last line of a chunk, your cursor lands on the bumper instead of jumping to the next real code, far down the file.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</a:t>
            </a:r>
          </a:p>
          <a:p>
            <a:pPr lvl="0"/>
            <a:r>
              <a:rPr/>
              <a:t>Type I / II / III differ in how they allocate sums of squares; </a:t>
            </a:r>
            <a:r>
              <a:rPr b="1"/>
              <a:t>Type III needs </a:t>
            </a:r>
            <a:r>
              <a:rPr b="1">
                <a:latin typeface="Courier"/>
              </a:rPr>
              <a:t>contr.sum</a:t>
            </a:r>
            <a:r>
              <a:rPr/>
              <a:t>, and the model must be </a:t>
            </a:r>
            <a:r>
              <a:rPr b="1"/>
              <a:t>refit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>
                <a:latin typeface="Courier"/>
              </a:rPr>
              <a:t>lm(Y ~ group)</a:t>
            </a:r>
            <a:r>
              <a:rPr/>
              <a:t>, </a:t>
            </a:r>
            <a:r>
              <a:rPr>
                <a:latin typeface="Courier"/>
              </a:rPr>
              <a:t>coef()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</a:t>
            </a:r>
            <a:r>
              <a:rPr>
                <a:latin typeface="Courier"/>
              </a:rPr>
              <a:t>anova()</a:t>
            </a:r>
            <a:r>
              <a:rPr/>
              <a:t>, </a:t>
            </a:r>
            <a:r>
              <a:rPr>
                <a:latin typeface="Courier"/>
              </a:rPr>
              <a:t>car::Anova()</a:t>
            </a:r>
          </a:p>
          <a:p>
            <a:pPr lvl="0"/>
            <a:r>
              <a:rPr>
                <a:latin typeface="Courier"/>
              </a:rPr>
              <a:t>options(contrasts = ...)</a:t>
            </a:r>
            <a:r>
              <a:rPr/>
              <a:t> — set, refit, test, set 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20:</a:t>
            </a:r>
          </a:p>
          <a:p>
            <a:pPr lvl="0"/>
            <a:r>
              <a:rPr b="1"/>
              <a:t>Set 2 — the assumptions.</a:t>
            </a:r>
            <a:r>
              <a:rPr/>
              <a:t> We reported </a:t>
            </a:r>
            <a:r>
              <a:rPr i="1"/>
              <a:t>p</a:t>
            </a:r>
            <a:r>
              <a:rPr/>
              <a:t> &lt; 0.001 today without earning it. Are the residuals normal? Are the variances equal? One of those answers is going to be </a:t>
            </a:r>
            <a:r>
              <a:rPr b="1"/>
              <a:t>no</a:t>
            </a:r>
            <a:r>
              <a:rPr/>
              <a:t>.</a:t>
            </a:r>
          </a:p>
          <a:p>
            <a:pPr lvl="0"/>
            <a:r>
              <a:rPr b="1"/>
              <a:t>Set 3 — the follow-up tests.</a:t>
            </a:r>
            <a:r>
              <a:rPr/>
              <a:t> Adelie and Chinstrap looked identical on the boxplot. We find out whether they are.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— One-Way ANOVA I: Start to Finish</dc:title>
  <dc:creator>Bill Perry</dc:creator>
  <cp:keywords/>
  <dc:description>The complete basic one-way ANOVA, beginning to end: why one test instead of many t-tests, what the F-statistic is, ordering groups with factors, fitting lm(), reading the table with aov(), car::Anova(type = 2) and car::Anova(type = 3) — including the contrasts option Type III needs — and writing the result up. Assumptions and follow-up tests are Lecture 20.</dc:description>
  <dcterms:created xsi:type="dcterms:W3CDTF">2026-10-19T16:10:44Z</dcterms:created>
  <dcterms:modified xsi:type="dcterms:W3CDTF">2026-10-19T16:10:44Z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19</vt:lpwstr>
  </property>
  <property fmtid="{D5CDD505-2E9C-101B-9397-08002B2CF9AE}" pid="13" name="resources">
    <vt:lpwstr/>
  </property>
  <property fmtid="{D5CDD505-2E9C-101B-9397-08002B2CF9AE}" pid="14" name="subtitle">
    <vt:lpwstr>From the question to a reported F — the whole basic ANOVA in one pass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10</vt:lpwstr>
  </property>
</Properties>
</file>