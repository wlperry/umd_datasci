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One-Way ANOVA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many t-tests, the F-statistic, ordering groups with factors,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predictor, checked with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Both of those are, underneath, the same tool: a </a:t>
            </a:r>
            <a:r>
              <a:rPr b="1"/>
              <a:t>linear model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But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it’s still </a:t>
            </a:r>
            <a:r>
              <a:rPr sz="2000">
                <a:latin typeface="Courier"/>
              </a:rPr>
              <a:t>lm(Y ~ X)</a:t>
            </a:r>
            <a:r>
              <a:rPr sz="2000"/>
              <a:t> — just with a </a:t>
            </a:r>
            <a:r>
              <a:rPr sz="2000" b="1"/>
              <a:t>categorical</a:t>
            </a:r>
            <a:r>
              <a:rPr sz="2000"/>
              <a:t> X instead of a numeric one. That’s </a:t>
            </a:r>
            <a:r>
              <a:rPr sz="2000" b="1"/>
              <a:t>one-way ANOVA.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we don’t just run many t-tests</a:t>
            </a:r>
          </a:p>
          <a:p>
            <a:pPr lvl="0"/>
            <a:r>
              <a:rPr/>
              <a:t>See how the </a:t>
            </a:r>
            <a:r>
              <a:rPr b="1"/>
              <a:t>F-statistic</a:t>
            </a:r>
            <a:r>
              <a:rPr/>
              <a:t> compares </a:t>
            </a:r>
            <a:r>
              <a:rPr i="1"/>
              <a:t>between-</a:t>
            </a:r>
            <a:r>
              <a:rPr/>
              <a:t> vs </a:t>
            </a:r>
            <a:r>
              <a:rPr i="1"/>
              <a:t>within-</a:t>
            </a:r>
            <a:r>
              <a:rPr/>
              <a:t>group variance</a:t>
            </a:r>
          </a:p>
          <a:p>
            <a:pPr lvl="0"/>
            <a:r>
              <a:rPr/>
              <a:t>State ANOVA </a:t>
            </a:r>
            <a:r>
              <a:rPr b="1"/>
              <a:t>hypotheses</a:t>
            </a:r>
            <a:r>
              <a:rPr/>
              <a:t> (H₀: all means equal)</a:t>
            </a:r>
          </a:p>
          <a:p>
            <a:pPr lvl="0"/>
            <a:r>
              <a:rPr/>
              <a:t>Use </a:t>
            </a:r>
            <a:r>
              <a:rPr b="1"/>
              <a:t>factors</a:t>
            </a:r>
            <a:r>
              <a:rPr/>
              <a:t> to order groups for a readable plot and set the reference level</a:t>
            </a:r>
          </a:p>
          <a:p>
            <a:pPr lvl="0"/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Check assumptions</a:t>
            </a:r>
            <a:r>
              <a:rPr/>
              <a:t> — normality of residuals, equal variance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>
                <a:latin typeface="Courier"/>
              </a:rPr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test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instead of two, it is tempting to just read off which box in the plot looks tallest. Committing to a prediction about the F-statistic </a:t>
            </a:r>
            <a:r>
              <a:rPr sz="2000" i="1"/>
              <a:t>before</a:t>
            </a:r>
            <a:r>
              <a:rPr sz="2000"/>
              <a:t> you see it forces you to reason about between- vs. within-group variance instead of eyeballing a boxplot.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Practicing each assumption check right after it’s introduced keeps normality-of-residuals and Levene’s test tied to </a:t>
            </a:r>
            <a:r>
              <a:rPr sz="2000" i="1"/>
              <a:t>this</a:t>
            </a:r>
            <a:r>
              <a:rPr sz="2000"/>
              <a:t> penguin model instead of turning into two more disconnected rules to memorize.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ANOVA &amp; the F-Statistic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not many t-tests, what ANOVA asks, how F partitions variance, and a first look at the penguin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penguins, explore, state hypotheses).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you’d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comes later, from the post-hoc test.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lab: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shows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(different n per species) — that matters when we pick our ANOVA type later.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the plot renders — do you expect all three species to differ, or just one? Which species do you think is heaviest?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The picture usually tells the story before the </a:t>
            </a:r>
            <a:r>
              <a:rPr i="1"/>
              <a:t>p</a:t>
            </a:r>
            <a:r>
              <a:rPr/>
              <a:t>-value confirms it</a:t>
            </a:r>
          </a:p>
          <a:p>
            <a:pPr lvl="0"/>
            <a:r>
              <a:rPr/>
              <a:t>Look for separation between boxes and roughly similar spread</a:t>
            </a:r>
          </a:p>
          <a:p>
            <a:pPr lvl="0"/>
            <a:r>
              <a:rPr/>
              <a:t>But notice the </a:t>
            </a:r>
            <a:r>
              <a:rPr b="1"/>
              <a:t>order</a:t>
            </a:r>
            <a:r>
              <a:rPr/>
              <a:t>: Adelie, Chinstrap, Gentoo — that’s alphabetical, not by mass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species</a:t>
            </a:r>
            <a:r>
              <a:rPr/>
              <a:t> Is a Factor — and Factors Have an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</a:t>
            </a:r>
            <a:r>
              <a:rPr>
                <a:solidFill>
                  <a:srgbClr val="5E5E5E"/>
                </a:solidFill>
                <a:latin typeface="Courier"/>
              </a:rPr>
              <a:t># "factor"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</a:t>
            </a:r>
            <a:r>
              <a:rPr>
                <a:solidFill>
                  <a:srgbClr val="5E5E5E"/>
                </a:solidFill>
                <a:latin typeface="Courier"/>
              </a:rPr>
              <a:t># the stored order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is a categorical column with a fixed, </a:t>
            </a:r>
            <a:r>
              <a:rPr i="1"/>
              <a:t>ordered</a:t>
            </a:r>
            <a:r>
              <a:rPr/>
              <a:t> set of </a:t>
            </a:r>
            <a:r>
              <a:rPr b="1"/>
              <a:t>levels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(and </a:t>
            </a:r>
            <a:r>
              <a:rPr>
                <a:latin typeface="Courier"/>
              </a:rPr>
              <a:t>lm</a:t>
            </a:r>
            <a:r>
              <a:rPr/>
              <a:t>) draw groups in </a:t>
            </a:r>
            <a:r>
              <a:rPr b="1"/>
              <a:t>level order</a:t>
            </a:r>
          </a:p>
          <a:p>
            <a:pPr lvl="0"/>
            <a:r>
              <a:rPr/>
              <a:t>The default level order is </a:t>
            </a:r>
            <a:r>
              <a:rPr b="1"/>
              <a:t>alphabetical</a:t>
            </a:r>
            <a:r>
              <a:rPr/>
              <a:t> — almost never the order you want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Alphabetical order hides the pattern. Ordering the groups by the thing you are testing — here, body mass — makes the boxplot tell the story at a glance.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forcats</a:t>
            </a:r>
            <a:r>
              <a:rPr/>
              <a:t> (the </a:t>
            </a:r>
            <a:r>
              <a:rPr>
                <a:latin typeface="Courier"/>
              </a:rPr>
              <a:t>fct_*</a:t>
            </a:r>
            <a:r>
              <a:rPr/>
              <a:t> family) ships with </a:t>
            </a:r>
            <a:r>
              <a:rPr>
                <a:latin typeface="Courier"/>
              </a:rPr>
              <a:t>library(tidyverse)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 the Boxplot by Body Mass —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ne_way_anova_lecture_files/figure-pptx/fct-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fct_reorder(f, x, .fun = median)</a:t>
            </a:r>
            <a:r>
              <a:rPr/>
              <a:t> — reorder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Do it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, then plot the result</a:t>
            </a:r>
          </a:p>
          <a:p>
            <a:pPr lvl="0"/>
            <a:r>
              <a:rPr/>
              <a:t>One line; the plot now reads lightest → heaviest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full </a:t>
            </a:r>
            <a:r>
              <a:rPr sz="2000">
                <a:latin typeface="Courier"/>
              </a:rPr>
              <a:t>forcats</a:t>
            </a:r>
            <a:r>
              <a:rPr sz="2000"/>
              <a:t> family — rename levels, merge them, lump rare ones — is in </a:t>
            </a:r>
            <a:r>
              <a:rPr sz="2000" b="1"/>
              <a:t>Common Code 15 · Factors</a:t>
            </a:r>
            <a:r>
              <a:rPr sz="2000"/>
              <a:t>. Today we only need </a:t>
            </a:r>
            <a:r>
              <a:rPr sz="2000" i="1"/>
              <a:t>ordering</a:t>
            </a:r>
            <a:r>
              <a:rPr sz="2000"/>
              <a:t> and, next, the </a:t>
            </a:r>
            <a:r>
              <a:rPr sz="2000" i="1"/>
              <a:t>reference level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plot body mass by species, reorder the boxplot with </a:t>
            </a:r>
            <a:r>
              <a:rPr>
                <a:latin typeface="Courier"/>
              </a:rPr>
              <a:t>fct_reorder()</a:t>
            </a:r>
            <a:r>
              <a:rPr/>
              <a:t>, and write your hypotheses. Predict which species differ before you run anything.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Fit the Model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fitting the model, then checking normality of the residuals and equal variance across groups.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5–8</a:t>
            </a:r>
            <a:r>
              <a:rPr sz="2000"/>
              <a:t> (fit, set the reference level, QQ + Shapiro on residuals, Levene’s test).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syntax as regression (Lecture 11)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i="1"/>
              <a:t>is</a:t>
            </a:r>
            <a:r>
              <a:rPr/>
              <a:t> a one-way ANOVA</a:t>
            </a:r>
          </a:p>
          <a:p>
            <a:pPr lvl="0"/>
            <a:r>
              <a:rPr/>
              <a:t>We check assumptions on this model </a:t>
            </a:r>
            <a:r>
              <a:rPr b="1"/>
              <a:t>before</a:t>
            </a:r>
            <a:r>
              <a:rPr/>
              <a:t> reading any </a:t>
            </a:r>
            <a:r>
              <a:rPr i="1"/>
              <a:t>p</a:t>
            </a:r>
            <a:r>
              <a:rPr/>
              <a:t>-value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lm(body_mass_g ~ species)</a:t>
            </a:r>
            <a:r>
              <a:rPr sz="2000"/>
              <a:t> is the exact same function call you used for a numeric predictor in Lecture 11 — only </a:t>
            </a:r>
            <a:r>
              <a:rPr sz="2000">
                <a:latin typeface="Courier"/>
              </a:rPr>
              <a:t>species</a:t>
            </a:r>
            <a:r>
              <a:rPr sz="2000"/>
              <a:t> is categorical this time. R handles the encoding automatically; you don’t write anything differently to get an ANOVA instead of a regression.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Group Is the Baseline? —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(Intercept) is the FIRST level = Adelie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instead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</a:t>
            </a:r>
            <a:r>
              <a:rPr/>
              <a:t> picks the </a:t>
            </a:r>
            <a:r>
              <a:rPr b="1"/>
              <a:t>first factor level</a:t>
            </a:r>
            <a:r>
              <a:rPr/>
              <a:t> as the baseline; every coefficient is a difference </a:t>
            </a:r>
            <a:r>
              <a:rPr i="1"/>
              <a:t>from that group</a:t>
            </a:r>
          </a:p>
          <a:p>
            <a:pPr lvl="0"/>
            <a:r>
              <a:rPr>
                <a:latin typeface="Courier"/>
              </a:rPr>
              <a:t>fct_relevel(species, "Gentoo")</a:t>
            </a:r>
            <a:r>
              <a:rPr/>
              <a:t> moves Gentoo to the front → coefficients are now differences from Gentoo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Releveling changes </a:t>
            </a:r>
            <a:r>
              <a:rPr sz="2000" b="1"/>
              <a:t>which comparisons the coefficients show</a:t>
            </a:r>
            <a:r>
              <a:rPr sz="2000"/>
              <a:t>. It does </a:t>
            </a:r>
            <a:r>
              <a:rPr sz="2000" b="1"/>
              <a:t>not</a:t>
            </a:r>
            <a:r>
              <a:rPr sz="2000"/>
              <a:t> change the overall </a:t>
            </a:r>
            <a:r>
              <a:rPr sz="2000" b="1"/>
              <a:t>F</a:t>
            </a:r>
            <a:r>
              <a:rPr sz="2000"/>
              <a:t> or </a:t>
            </a:r>
            <a:r>
              <a:rPr sz="2000" i="1"/>
              <a:t>p</a:t>
            </a:r>
            <a:r>
              <a:rPr sz="2000"/>
              <a:t>-value — the ANOVA question (“do any means differ?”) is the same no matter which group you call the baseline.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1 — Normality of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you saw in the regression lecture. With ~340 penguins instead of 118 near-perfect paper squares, do you expect the Normal Q-Q panel to track the line as tightly?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plot(model) diagnostics as Lecture 11's regression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lecture_files/figure-pptx/diagnostic-plo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Check normality of the </a:t>
            </a:r>
            <a:r>
              <a:rPr b="1"/>
              <a:t>residuals</a:t>
            </a:r>
            <a:r>
              <a:rPr/>
              <a:t>, not the raw masses</a:t>
            </a:r>
          </a:p>
          <a:p>
            <a:pPr lvl="0"/>
            <a:r>
              <a:rPr/>
              <a:t>Panel 2 (Normal Q-Q) is the main visual tool; Shapiro-Wilk is a formal companion</a:t>
            </a:r>
          </a:p>
          <a:p>
            <a:pPr lvl="0"/>
            <a:r>
              <a:rPr/>
              <a:t>Panels 1 &amp; 3 double-check equal variance — the same job Levene’s does next, from a different angle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caution:</a:t>
            </a:r>
            <a:r>
              <a:rPr sz="2000"/>
              <a:t> with ~340 birds, Shapiro-Wilk flags </a:t>
            </a:r>
            <a:r>
              <a:rPr sz="2000" i="1"/>
              <a:t>tiny</a:t>
            </a:r>
            <a:r>
              <a:rPr sz="2000"/>
              <a:t> departures as “significant.” Trust the </a:t>
            </a:r>
            <a:r>
              <a:rPr sz="2000" b="1"/>
              <a:t>Q-Q panel</a:t>
            </a:r>
            <a:r>
              <a:rPr sz="2000"/>
              <a:t> — if points track the line, you’re fine.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Equal Variance (Levene’s Test)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back at the boxplot spreads. Predict —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i="1"/>
              <a:t>p</a:t>
            </a:r>
            <a:r>
              <a:rPr/>
              <a:t> &gt; 0.05 → variances similar → classic ANOVA is fine</a:t>
            </a:r>
          </a:p>
          <a:p>
            <a:pPr lvl="0"/>
            <a:r>
              <a:rPr i="1"/>
              <a:t>p</a:t>
            </a:r>
            <a:r>
              <a:rPr/>
              <a:t> &lt; 0.05 → variances differ → use </a:t>
            </a:r>
            <a:r>
              <a:rPr b="1"/>
              <a:t>Welch’s ANOVA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Same spirit as Welch’s </a:t>
            </a:r>
            <a:r>
              <a:rPr b="1"/>
              <a:t>t</a:t>
            </a:r>
            <a:r>
              <a:rPr/>
              <a:t>-test — robust when spreads differ.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lm(body_mass_g ~ species)</a:t>
            </a:r>
            <a:r>
              <a:rPr/>
              <a:t>, set the reference level with </a:t>
            </a:r>
            <a:r>
              <a:rPr>
                <a:latin typeface="Courier"/>
              </a:rPr>
              <a:t>fct_relevel()</a:t>
            </a:r>
            <a:r>
              <a:rPr/>
              <a:t>, check the residual QQ plot + Shapiro, and run Levene’s test. Predict each result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 (signal ÷ noise)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’s level order sets the plot order and the model baseline</a:t>
            </a:r>
          </a:p>
          <a:p>
            <a:pPr lvl="0"/>
            <a:r>
              <a:rPr/>
              <a:t>ANOVA is a linear model with a categorical predictor — same </a:t>
            </a:r>
            <a:r>
              <a:rPr>
                <a:latin typeface="Courier"/>
              </a:rPr>
              <a:t>lm()</a:t>
            </a:r>
            <a:r>
              <a:rPr/>
              <a:t> as regression</a:t>
            </a:r>
          </a:p>
          <a:p>
            <a:pPr lvl="0"/>
            <a:r>
              <a:rPr/>
              <a:t>Assumptions: </a:t>
            </a:r>
            <a:r>
              <a:rPr b="1"/>
              <a:t>normal residuals</a:t>
            </a:r>
            <a:r>
              <a:rPr/>
              <a:t>, </a:t>
            </a:r>
            <a:r>
              <a:rPr b="1"/>
              <a:t>equal variance</a:t>
            </a:r>
            <a:r>
              <a:rPr/>
              <a:t> (Levene)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fct_reorder()</a:t>
            </a:r>
            <a:r>
              <a:rPr/>
              <a:t> to order groups by the response; </a:t>
            </a:r>
            <a:r>
              <a:rPr>
                <a:latin typeface="Courier"/>
              </a:rPr>
              <a:t>fct_relevel()</a:t>
            </a:r>
            <a:r>
              <a:rPr/>
              <a:t> to set the baseline</a:t>
            </a:r>
          </a:p>
          <a:p>
            <a:pPr lvl="0"/>
            <a:r>
              <a:rPr>
                <a:latin typeface="Courier"/>
              </a:rPr>
              <a:t>lm(Y ~ group)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 diagnostics, </a:t>
            </a:r>
            <a:r>
              <a:rPr>
                <a:latin typeface="Courier"/>
              </a:rPr>
              <a:t>shapiro.test(residuals())</a:t>
            </a:r>
          </a:p>
          <a:p>
            <a:pPr lvl="0"/>
            <a:r>
              <a:rPr>
                <a:latin typeface="Courier"/>
              </a:rPr>
              <a:t>leveneTest()</a:t>
            </a:r>
          </a:p>
          <a:p>
            <a:pPr lvl="0"/>
            <a:r>
              <a:rPr/>
              <a:t>rest of the </a:t>
            </a:r>
            <a:r>
              <a:rPr>
                <a:latin typeface="Courier"/>
              </a:rPr>
              <a:t>fct_*</a:t>
            </a:r>
            <a:r>
              <a:rPr/>
              <a:t> family → </a:t>
            </a:r>
            <a:r>
              <a:rPr b="1"/>
              <a:t>Common Code 15 · Factors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14:</a:t>
            </a:r>
          </a:p>
          <a:p>
            <a:pPr lvl="0"/>
            <a:r>
              <a:rPr/>
              <a:t>Assumptions are checked — now we </a:t>
            </a:r>
            <a:r>
              <a:rPr b="1"/>
              <a:t>run</a:t>
            </a:r>
            <a:r>
              <a:rPr/>
              <a:t> the test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, then </a:t>
            </a:r>
            <a:r>
              <a:rPr>
                <a:latin typeface="Courier"/>
              </a:rPr>
              <a:t>emmeans</a:t>
            </a:r>
            <a:r>
              <a:rPr/>
              <a:t> post-hoc to find </a:t>
            </a:r>
            <a:r>
              <a:rPr b="1"/>
              <a:t>which</a:t>
            </a:r>
            <a:r>
              <a:rPr/>
              <a:t> species differ, and how to report it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One-Way ANOVA I: Setting Up the Test</dc:title>
  <dc:creator>Bill Perry</dc:creator>
  <cp:keywords/>
  <dc:description>From two groups to many: why we don’t run many t-tests, how the F-statistic partitions variance, using factors to order groups for a readable plot and to set the ANOVA reference level, fitting a one-way ANOVA as a linear model, and checking its assumptions — normality of residuals and equal variance — on the Palmer penguins data.</dc:description>
  <dcterms:created xsi:type="dcterms:W3CDTF">2026-09-10T14:25:47Z</dcterms:created>
  <dcterms:modified xsi:type="dcterms:W3CDTF">2026-09-10T14:25:47Z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2026-09-10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Why not many t-tests, the F-statistic, ordering groups with factors,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