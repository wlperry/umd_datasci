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One-Way ANOVA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not many t-tests, the F-statistic, ordering groups with factors, fitting the model, and checking assumptions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09–11)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T-Tests I &amp; II</a:t>
            </a:r>
            <a:r>
              <a:rPr/>
              <a:t> — comparing the means of </a:t>
            </a:r>
            <a:r>
              <a:rPr b="1"/>
              <a:t>two</a:t>
            </a:r>
            <a:r>
              <a:rPr/>
              <a:t> groups with Welch’s t-test</a:t>
            </a:r>
          </a:p>
          <a:p>
            <a:pPr lvl="0"/>
            <a:r>
              <a:rPr b="1"/>
              <a:t>Regression (Lecture 11)</a:t>
            </a:r>
            <a:r>
              <a:rPr/>
              <a:t> — </a:t>
            </a:r>
            <a:r>
              <a:rPr>
                <a:latin typeface="Courier"/>
              </a:rPr>
              <a:t>lm(Y ~ X)</a:t>
            </a:r>
            <a:r>
              <a:rPr/>
              <a:t> with a </a:t>
            </a:r>
            <a:r>
              <a:rPr b="1"/>
              <a:t>numeric</a:t>
            </a:r>
            <a:r>
              <a:rPr/>
              <a:t> predictor, checked with </a:t>
            </a:r>
            <a:r>
              <a:rPr>
                <a:latin typeface="Courier"/>
              </a:rPr>
              <a:t>plot(model)</a:t>
            </a:r>
          </a:p>
          <a:p>
            <a:pPr lvl="0"/>
            <a:r>
              <a:rPr/>
              <a:t>Both of those are, underneath, the same tool: a </a:t>
            </a:r>
            <a:r>
              <a:rPr b="1"/>
              <a:t>linear model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t-test compared </a:t>
            </a:r>
            <a:r>
              <a:rPr sz="2000" b="1"/>
              <a:t>two</a:t>
            </a:r>
            <a:r>
              <a:rPr sz="2000"/>
              <a:t> groups. But biology is full of </a:t>
            </a:r>
            <a:r>
              <a:rPr sz="2000" b="1"/>
              <a:t>three-or-more</a:t>
            </a:r>
            <a:r>
              <a:rPr sz="2000"/>
              <a:t> group questions — three species, four sites, five treatments. Today’s twist: it’s still </a:t>
            </a:r>
            <a:r>
              <a:rPr sz="2000">
                <a:latin typeface="Courier"/>
              </a:rPr>
              <a:t>lm(Y ~ X)</a:t>
            </a:r>
            <a:r>
              <a:rPr sz="2000"/>
              <a:t> — just with a </a:t>
            </a:r>
            <a:r>
              <a:rPr sz="2000" b="1"/>
              <a:t>categorical</a:t>
            </a:r>
            <a:r>
              <a:rPr sz="2000"/>
              <a:t> X instead of a numeric one. That’s </a:t>
            </a:r>
            <a:r>
              <a:rPr sz="2000" b="1"/>
              <a:t>one-way ANOVA.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we don’t just run many t-tests</a:t>
            </a:r>
          </a:p>
          <a:p>
            <a:pPr lvl="0"/>
            <a:r>
              <a:rPr/>
              <a:t>See how the </a:t>
            </a:r>
            <a:r>
              <a:rPr b="1"/>
              <a:t>F-statistic</a:t>
            </a:r>
            <a:r>
              <a:rPr/>
              <a:t> compares </a:t>
            </a:r>
            <a:r>
              <a:rPr i="1"/>
              <a:t>between-</a:t>
            </a:r>
            <a:r>
              <a:rPr/>
              <a:t> vs </a:t>
            </a:r>
            <a:r>
              <a:rPr i="1"/>
              <a:t>within-</a:t>
            </a:r>
            <a:r>
              <a:rPr/>
              <a:t>group variance</a:t>
            </a:r>
          </a:p>
          <a:p>
            <a:pPr lvl="0"/>
            <a:r>
              <a:rPr/>
              <a:t>State ANOVA </a:t>
            </a:r>
            <a:r>
              <a:rPr b="1"/>
              <a:t>hypotheses</a:t>
            </a:r>
            <a:r>
              <a:rPr/>
              <a:t> (H₀: all means equal)</a:t>
            </a:r>
          </a:p>
          <a:p>
            <a:pPr lvl="0"/>
            <a:r>
              <a:rPr/>
              <a:t>Use </a:t>
            </a:r>
            <a:r>
              <a:rPr b="1"/>
              <a:t>factors</a:t>
            </a:r>
            <a:r>
              <a:rPr/>
              <a:t> to order groups for a readable plot and set the reference level</a:t>
            </a:r>
          </a:p>
          <a:p>
            <a:pPr lvl="0"/>
            <a:r>
              <a:rPr/>
              <a:t>Fit the model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Check assumptions</a:t>
            </a:r>
            <a:r>
              <a:rPr/>
              <a:t> — normality of residuals, equal variance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 (includes </a:t>
            </a:r>
            <a:r>
              <a:rPr>
                <a:latin typeface="Courier"/>
              </a:rPr>
              <a:t>forcats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test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Ch. 9 — Layers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With three groups instead of two, it is tempting to just read off which box in the plot looks tallest. Committing to a prediction about the F-statistic </a:t>
            </a:r>
            <a:r>
              <a:rPr sz="2000" i="1"/>
              <a:t>before</a:t>
            </a:r>
            <a:r>
              <a:rPr sz="2000"/>
              <a:t> you see it forces you to reason about between- vs. within-group variance instead of eyeballing a boxplot.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Practicing each assumption check right after it’s introduced keeps normality-of-residuals and Levene’s test tied to </a:t>
            </a:r>
            <a:r>
              <a:rPr sz="2000" i="1"/>
              <a:t>this</a:t>
            </a:r>
            <a:r>
              <a:rPr sz="2000"/>
              <a:t> penguin model instead of turning into two more disconnected rules to memorize.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ANOVA &amp; the F-Statistic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not many t-tests, what ANOVA asks, how F partitions variance, and a first look at the penguin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penguins, explore, state hypotheses).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Run Many t-Tests?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</a:t>
            </a:r>
            <a:r>
              <a:rPr b="1"/>
              <a:t>3 groups</a:t>
            </a:r>
            <a:r>
              <a:rPr/>
              <a:t> you’d need </a:t>
            </a:r>
            <a:r>
              <a:rPr b="1"/>
              <a:t>3</a:t>
            </a:r>
            <a:r>
              <a:rPr/>
              <a:t> t-tests (A–B, A–C, B–C). With 4 groups, </a:t>
            </a:r>
            <a:r>
              <a:rPr b="1"/>
              <a:t>6</a:t>
            </a:r>
            <a:r>
              <a:rPr/>
              <a:t> tests.</a:t>
            </a:r>
          </a:p>
          <a:p>
            <a:pPr lvl="0" indent="0" marL="0">
              <a:buNone/>
            </a:pPr>
            <a:r>
              <a:rPr/>
              <a:t>Every test at α = 0.05 has a </a:t>
            </a:r>
            <a:r>
              <a:rPr b="1"/>
              <a:t>5% chance of a false positive</a:t>
            </a:r>
            <a:r>
              <a:rPr/>
              <a:t>. Run several and those risks </a:t>
            </a:r>
            <a:r>
              <a:rPr b="1"/>
              <a:t>stack up</a:t>
            </a:r>
            <a:r>
              <a:rPr/>
              <a:t>:</a:t>
            </a:r>
          </a:p>
          <a:p>
            <a:pPr lvl="0"/>
            <a:r>
              <a:rPr/>
              <a:t>3 tests → ~</a:t>
            </a:r>
            <a:r>
              <a:rPr b="1"/>
              <a:t>14%</a:t>
            </a:r>
            <a:r>
              <a:rPr/>
              <a:t> chance of at least one false positive</a:t>
            </a:r>
          </a:p>
          <a:p>
            <a:pPr lvl="0"/>
            <a:r>
              <a:rPr/>
              <a:t>6 tests → ~</a:t>
            </a:r>
            <a:r>
              <a:rPr b="1"/>
              <a:t>26%</a:t>
            </a:r>
          </a:p>
          <a:p>
            <a:pPr lvl="0" indent="0" marL="0">
              <a:buNone/>
            </a:pPr>
            <a:r>
              <a:rPr/>
              <a:t>ANOVA asks the question </a:t>
            </a:r>
            <a:r>
              <a:rPr b="1"/>
              <a:t>once</a:t>
            </a:r>
            <a:r>
              <a:rPr/>
              <a:t>, holding the overall error rate at 0.05.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multiple-comparisons problem</a:t>
            </a:r>
          </a:p>
          <a:p>
            <a:pPr lvl="0" indent="0" marL="1270000">
              <a:buNone/>
            </a:pPr>
            <a:r>
              <a:rPr sz="2000"/>
              <a:t>More tests = more chances to be fooled by noise. ANOVA is the single, honest test for “do </a:t>
            </a:r>
            <a:r>
              <a:rPr sz="2000" i="1"/>
              <a:t>any</a:t>
            </a:r>
            <a:r>
              <a:rPr sz="2000"/>
              <a:t> of these groups differ?”</a:t>
            </a:r>
          </a:p>
          <a:p>
            <a:pPr lvl="0" indent="0" marL="0">
              <a:buNone/>
            </a:pPr>
            <a:r>
              <a:rPr/>
              <a:t>📖 W&amp;S §15.1 — why a single test</a:t>
            </a:r>
          </a:p>
        </p:txBody>
      </p:sp>
    </p:spTree>
  </p:cSld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What One-Way ANOVA Asks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/><a:t>One </a:t></a:r><a:r><a:rPr b="1" /><a:t>numeric response (Y)</a:t></a:r><a:r><a:rPr /><a:t> across the levels of one </a:t></a:r><a:r><a:rPr b="1" /><a:t>categorical predictor (X)</a:t></a:r><a:r><a:rPr /><a:t>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Hypothesis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:r><a:rPr /><a:t>all group means are equal (</a:t></a:r><a14:m><m:oMath xmlns:m="http://schemas.openxmlformats.org/officeDocument/2006/math"><m:sSub><m:e><m:r><m:t>μ</m:t></m:r></m:e><m:sub><m:r><m:t>1</m:t></m:r></m:sub></m:sSub><m:r><m:rPr><m:sty m:val="p" /></m:rPr><m:t>=</m:t></m:r><m:sSub><m:e><m:r><m:t>μ</m:t></m:r></m:e><m:sub><m:r><m:t>2</m:t></m:r></m:sub></m:sSub><m:r><m:rPr><m:sty m:val="p" /></m:rPr><m:t>=</m:t></m:r><m:sSub><m:e><m:r><m:t>μ</m:t></m:r></m:e><m:sub><m:r><m:t>3</m:t></m:r></m:sub></m:sSub></m:oMath></a14:m><a:r><a:rPr /><a:t>)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:r><a:rPr b="1" /><a:t>at least one</a:t></a:r><a:r><a:rPr /><a:t> group mean differs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Note what Hₐ does </a:t></a:r><a:r><a:rPr i="1" /><a:t>not</a:t></a:r><a:r><a:rPr /><a:t> say: it does </a:t></a:r><a:r><a:rPr b="1" /><a:t>not</a:t></a:r><a:r><a:rPr /><a:t> tell you </a:t></a:r><a:r><a:rPr i="1" /><a:t>which</a:t></a:r><a:r><a:rPr /><a:t> group differs — that comes later, from the post-hoc test.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Our question today:</a:t></a:r></a:p><a:p><a:pPr lvl="0" indent="0" marL="0"><a:buNone /></a:pPr><a:r><a:rPr /><a:t>Do the three penguin </a:t></a:r><a:r><a:rPr b="1" /><a:t>species</a:t></a:r><a:r><a:rPr /><a:t> differ in </a:t></a:r><a:r><a:rPr b="1" /><a:t>body mass</a:t></a:r><a:r><a:rPr /><a:t>?</a:t></a:r></a:p><a:p><a:pPr lvl="0" /><a:r><a:rPr /><a:t>Y = </a:t></a:r><a:r><a:rPr><a:latin typeface="Courier" /></a:rPr><a:t>body_mass_g</a:t></a:r></a:p><a:p><a:pPr lvl="0" /><a:r><a:rPr /><a:t>X = </a:t></a:r><a:r><a:rPr><a:latin typeface="Courier" /></a:rPr><a:t>species</a:t></a:r><a:r><a:rPr /><a:t> (Adelie, Chinstrap, Gentoo)</a:t></a:r></a:p></p:txBody></p:sp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F-Statistic — Between vs. Within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variance BETWEEN groups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variance WITHIN groups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Between</a:t>
                </a:r>
                <a:r>
                  <a:rPr/>
                  <a:t> — how far apart the group means are</a:t>
                </a:r>
              </a:p>
              <a:p>
                <a:pPr lvl="0"/>
                <a:r>
                  <a:rPr b="1"/>
                  <a:t>Within</a:t>
                </a:r>
                <a:r>
                  <a:rPr/>
                  <a:t> — how much the individuals scatter inside each group</a:t>
                </a:r>
              </a:p>
              <a:p>
                <a:pPr lvl="0" indent="0" marL="0">
                  <a:buNone/>
                </a:pPr>
                <a:r>
                  <a:rPr b="1"/>
                  <a:t>Big F</a:t>
                </a:r>
                <a:r>
                  <a:rPr/>
                  <a:t> → the groups are far apart </a:t>
                </a:r>
                <a:r>
                  <a:rPr i="1"/>
                  <a:t>relative to</a:t>
                </a:r>
                <a:r>
                  <a:rPr/>
                  <a:t> their internal noise → small </a:t>
                </a:r>
                <a:r>
                  <a:rPr i="1"/>
                  <a:t>p</a:t>
                </a:r>
                <a:r>
                  <a:rPr/>
                  <a:t>-value.</a:t>
                </a:r>
              </a:p>
              <a:p>
                <a:pPr lvl="0" indent="0" marL="0">
                  <a:buNone/>
                </a:pPr>
                <a:r>
                  <a:rPr b="1"/>
                  <a:t>F ≈ 1</a:t>
                </a:r>
                <a:r>
                  <a:rPr/>
                  <a:t> → the spread between groups is no bigger than the spread within them → no real difference.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ANOVA is a </a:t>
            </a:r>
            <a:r>
              <a:rPr sz="2000" b="1"/>
              <a:t>signal-to-noise ratio</a:t>
            </a:r>
            <a:r>
              <a:rPr sz="2000"/>
              <a:t>. The “signal” is the gap between group means; the “noise” is the within-group scatter.</a:t>
            </a:r>
          </a:p>
          <a:p>
            <a:pPr lvl="0" indent="0" marL="0">
              <a:buNone/>
            </a:pPr>
            <a:r>
              <a:rPr/>
              <a:t>📖 W&amp;S §15.1–15.2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— Palmer Penguins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test,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rows missing mass or species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species       n
  &lt;fct&gt;     &lt;int&gt;
1 Adelie      151
2 Chinstrap    68
3 Gentoo      123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species, one lab:</a:t>
            </a:r>
            <a:r>
              <a:rPr/>
              <a:t> body mass (g) of penguins at Palmer Station, Antarctica.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missing mass</a:t>
            </a:r>
          </a:p>
          <a:p>
            <a:pPr lvl="0"/>
            <a:r>
              <a:rPr>
                <a:latin typeface="Courier"/>
              </a:rPr>
              <a:t>count(species)</a:t>
            </a:r>
            <a:r>
              <a:rPr/>
              <a:t> shows the sample size per group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groups are </a:t>
            </a:r>
            <a:r>
              <a:rPr sz="2000" b="1"/>
              <a:t>unbalanced</a:t>
            </a:r>
            <a:r>
              <a:rPr sz="2000"/>
              <a:t> (different n per species) — that matters when we pick our ANOVA type later.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First — Boxplot by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the plot renders — do you expect all three species to differ, or just one? Which species do you think is heaviest?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mass_box_plot</a:t>
            </a:r>
          </a:p>
        </p:txBody>
      </p:sp>
      <p:pic>
        <p:nvPicPr>
          <p:cNvPr descr="one_way_anova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plot before you test.</a:t>
            </a:r>
          </a:p>
          <a:p>
            <a:pPr lvl="0"/>
            <a:r>
              <a:rPr/>
              <a:t>The picture usually tells the story before the </a:t>
            </a:r>
            <a:r>
              <a:rPr i="1"/>
              <a:t>p</a:t>
            </a:r>
            <a:r>
              <a:rPr/>
              <a:t>-value confirms it</a:t>
            </a:r>
          </a:p>
          <a:p>
            <a:pPr lvl="0"/>
            <a:r>
              <a:rPr/>
              <a:t>Look for separation between boxes and roughly similar spread</a:t>
            </a:r>
          </a:p>
          <a:p>
            <a:pPr lvl="0"/>
            <a:r>
              <a:rPr/>
              <a:t>But notice the </a:t>
            </a:r>
            <a:r>
              <a:rPr b="1"/>
              <a:t>order</a:t>
            </a:r>
            <a:r>
              <a:rPr/>
              <a:t>: Adelie, Chinstrap, Gentoo — that’s alphabetical, not by mass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species</a:t>
            </a:r>
            <a:r>
              <a:rPr/>
              <a:t> Is a Factor — and Factors Have an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</a:t>
            </a:r>
            <a:r>
              <a:rPr>
                <a:solidFill>
                  <a:srgbClr val="5E5E5E"/>
                </a:solidFill>
                <a:latin typeface="Courier"/>
              </a:rPr>
              <a:t># "factor"</a:t>
            </a:r>
          </a:p>
          <a:p>
            <a:pPr lvl="0" indent="0">
              <a:buNone/>
            </a:pPr>
            <a:r>
              <a:rPr>
                <a:latin typeface="Courier"/>
              </a:rPr>
              <a:t>[1] "factor"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</a:t>
            </a:r>
            <a:r>
              <a:rPr>
                <a:solidFill>
                  <a:srgbClr val="5E5E5E"/>
                </a:solidFill>
                <a:latin typeface="Courier"/>
              </a:rPr>
              <a:t># the stored order</a:t>
            </a:r>
          </a:p>
          <a:p>
            <a:pPr lvl="0" indent="0">
              <a:buNone/>
            </a:pPr>
            <a:r>
              <a:rPr>
                <a:latin typeface="Courier"/>
              </a:rPr>
              <a:t>[1] "Adelie"    "Chinstrap" "Gentoo"   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 is a categorical column with a fixed, </a:t>
            </a:r>
            <a:r>
              <a:rPr i="1"/>
              <a:t>ordered</a:t>
            </a:r>
            <a:r>
              <a:rPr/>
              <a:t> set of </a:t>
            </a:r>
            <a:r>
              <a:rPr b="1"/>
              <a:t>levels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(and </a:t>
            </a:r>
            <a:r>
              <a:rPr>
                <a:latin typeface="Courier"/>
              </a:rPr>
              <a:t>lm</a:t>
            </a:r>
            <a:r>
              <a:rPr/>
              <a:t>) draw groups in </a:t>
            </a:r>
            <a:r>
              <a:rPr b="1"/>
              <a:t>level order</a:t>
            </a:r>
          </a:p>
          <a:p>
            <a:pPr lvl="0"/>
            <a:r>
              <a:rPr/>
              <a:t>The default level order is </a:t>
            </a:r>
            <a:r>
              <a:rPr b="1"/>
              <a:t>alphabetical</a:t>
            </a:r>
            <a:r>
              <a:rPr/>
              <a:t> — almost never the order you want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Alphabetical order hides the pattern. Ordering the groups by the thing you are testing — here, body mass — makes the boxplot tell the story at a glance.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forcats</a:t>
            </a:r>
            <a:r>
              <a:rPr/>
              <a:t> (the </a:t>
            </a:r>
            <a:r>
              <a:rPr>
                <a:latin typeface="Courier"/>
              </a:rPr>
              <a:t>fct_*</a:t>
            </a:r>
            <a:r>
              <a:rPr/>
              <a:t> family) ships with </a:t>
            </a:r>
            <a:r>
              <a:rPr>
                <a:latin typeface="Courier"/>
              </a:rPr>
              <a:t>library(tidyverse)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Order the Boxplot by Body Mass — </a:t>
            </a:r>
            <a:r>
              <a:rPr>
                <a:latin typeface="Courier"/>
              </a:rPr>
              <a:t>fct_reorder()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(ordered by median mass)"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ne_way_anova_lecture_files/figure-pptx/fct-reorder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fct_reorder(f, x, .fun = median)</a:t>
            </a:r>
            <a:r>
              <a:rPr/>
              <a:t> — reorder factor </a:t>
            </a:r>
            <a:r>
              <a:rPr>
                <a:latin typeface="Courier"/>
              </a:rPr>
              <a:t>f</a:t>
            </a:r>
            <a:r>
              <a:rPr/>
              <a:t> by a summary of </a:t>
            </a:r>
            <a:r>
              <a:rPr>
                <a:latin typeface="Courier"/>
              </a:rPr>
              <a:t>x</a:t>
            </a:r>
          </a:p>
          <a:p>
            <a:pPr lvl="0"/>
            <a:r>
              <a:rPr/>
              <a:t>Do it </a:t>
            </a:r>
            <a:r>
              <a:rPr b="1"/>
              <a:t>inside </a:t>
            </a:r>
            <a:r>
              <a:rPr b="1">
                <a:latin typeface="Courier"/>
              </a:rPr>
              <a:t>mutate()</a:t>
            </a:r>
            <a:r>
              <a:rPr/>
              <a:t>, then plot the result</a:t>
            </a:r>
          </a:p>
          <a:p>
            <a:pPr lvl="0"/>
            <a:r>
              <a:rPr/>
              <a:t>One line; the plot now reads lightest → heaviest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full </a:t>
            </a:r>
            <a:r>
              <a:rPr sz="2000">
                <a:latin typeface="Courier"/>
              </a:rPr>
              <a:t>forcats</a:t>
            </a:r>
            <a:r>
              <a:rPr sz="2000"/>
              <a:t> family — rename levels, merge them, lump rare ones — is in </a:t>
            </a:r>
            <a:r>
              <a:rPr sz="2000" b="1"/>
              <a:t>Common Code 15 · Factors</a:t>
            </a:r>
            <a:r>
              <a:rPr sz="2000"/>
              <a:t>. Today we only need </a:t>
            </a:r>
            <a:r>
              <a:rPr sz="2000" i="1"/>
              <a:t>ordering</a:t>
            </a:r>
            <a:r>
              <a:rPr sz="2000"/>
              <a:t> and, next, the </a:t>
            </a:r>
            <a:r>
              <a:rPr sz="2000" i="1"/>
              <a:t>reference level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penguins, plot body mass by species, reorder the boxplot with </a:t>
            </a:r>
            <a:r>
              <a:rPr>
                <a:latin typeface="Courier"/>
              </a:rPr>
              <a:t>fct_reorder()</a:t>
            </a:r>
            <a:r>
              <a:rPr/>
              <a:t>, and write your hypotheses. Predict which species differ before you run anything.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Fit the Model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fitting the model, then checking normality of the residuals and equal variance across groups.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5–8</a:t>
            </a:r>
            <a:r>
              <a:rPr sz="2000"/>
              <a:t> (fit, set the reference level, QQ + Shapiro on residuals, Levene’s test).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ANOVA is a linear model with a categorical X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/>
            <a:r>
              <a:rPr>
                <a:latin typeface="Courier"/>
              </a:rPr>
              <a:t>lm(Y ~ X)</a:t>
            </a:r>
            <a:r>
              <a:rPr/>
              <a:t> — the </a:t>
            </a:r>
            <a:r>
              <a:rPr i="1"/>
              <a:t>same</a:t>
            </a:r>
            <a:r>
              <a:rPr/>
              <a:t> syntax as regression (Lecture 11)</a:t>
            </a:r>
          </a:p>
          <a:p>
            <a:pPr lvl="0"/>
            <a:r>
              <a:rPr/>
              <a:t>When </a:t>
            </a:r>
            <a:r>
              <a:rPr>
                <a:latin typeface="Courier"/>
              </a:rPr>
              <a:t>X</a:t>
            </a:r>
            <a:r>
              <a:rPr/>
              <a:t> is </a:t>
            </a:r>
            <a:r>
              <a:rPr b="1"/>
              <a:t>categorical</a:t>
            </a:r>
            <a:r>
              <a:rPr/>
              <a:t>, that linear model </a:t>
            </a:r>
            <a:r>
              <a:rPr i="1"/>
              <a:t>is</a:t>
            </a:r>
            <a:r>
              <a:rPr/>
              <a:t> a one-way ANOVA</a:t>
            </a:r>
          </a:p>
          <a:p>
            <a:pPr lvl="0"/>
            <a:r>
              <a:rPr/>
              <a:t>We check assumptions on this model </a:t>
            </a:r>
            <a:r>
              <a:rPr b="1"/>
              <a:t>before</a:t>
            </a:r>
            <a:r>
              <a:rPr/>
              <a:t> reading any </a:t>
            </a:r>
            <a:r>
              <a:rPr i="1"/>
              <a:t>p</a:t>
            </a:r>
            <a:r>
              <a:rPr/>
              <a:t>-value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lm(body_mass_g ~ species)</a:t>
            </a:r>
            <a:r>
              <a:rPr sz="2000"/>
              <a:t> is the exact same function call you used for a numeric predictor in Lecture 11 — only </a:t>
            </a:r>
            <a:r>
              <a:rPr sz="2000">
                <a:latin typeface="Courier"/>
              </a:rPr>
              <a:t>species</a:t>
            </a:r>
            <a:r>
              <a:rPr sz="2000"/>
              <a:t> is categorical this time. R handles the encoding automatically; you don’t write anything differently to get an ANOVA instead of a regression.</a:t>
            </a:r>
          </a:p>
          <a:p>
            <a:pPr lvl="0" indent="0" marL="0">
              <a:buNone/>
            </a:pPr>
            <a:r>
              <a:rPr/>
              <a:t>📖 W&amp;S §15.2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Group Is the Baseline? — </a:t>
            </a:r>
            <a:r>
              <a:rPr>
                <a:latin typeface="Courier"/>
              </a:rPr>
              <a:t>fct_relevel()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(Intercept) is the FIRST level = Adelie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speciesChinstrap    speciesGentoo 
      3700.66225         32.42598       1375.35401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Make Gentoo the reference instead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penguins_relevel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penguins_relevel))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   speciesAdelie speciesChinstrap 
        5076.016        -1375.354        -1342.928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lm</a:t>
            </a:r>
            <a:r>
              <a:rPr/>
              <a:t> picks the </a:t>
            </a:r>
            <a:r>
              <a:rPr b="1"/>
              <a:t>first factor level</a:t>
            </a:r>
            <a:r>
              <a:rPr/>
              <a:t> as the baseline; every coefficient is a difference </a:t>
            </a:r>
            <a:r>
              <a:rPr i="1"/>
              <a:t>from that group</a:t>
            </a:r>
          </a:p>
          <a:p>
            <a:pPr lvl="0"/>
            <a:r>
              <a:rPr>
                <a:latin typeface="Courier"/>
              </a:rPr>
              <a:t>fct_relevel(species, "Gentoo")</a:t>
            </a:r>
            <a:r>
              <a:rPr/>
              <a:t> moves Gentoo to the front → coefficients are now differences from Gentoo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Releveling changes </a:t>
            </a:r>
            <a:r>
              <a:rPr sz="2000" b="1"/>
              <a:t>which comparisons the coefficients show</a:t>
            </a:r>
            <a:r>
              <a:rPr sz="2000"/>
              <a:t>. It does </a:t>
            </a:r>
            <a:r>
              <a:rPr sz="2000" b="1"/>
              <a:t>not</a:t>
            </a:r>
            <a:r>
              <a:rPr sz="2000"/>
              <a:t> change the overall </a:t>
            </a:r>
            <a:r>
              <a:rPr sz="2000" b="1"/>
              <a:t>F</a:t>
            </a:r>
            <a:r>
              <a:rPr sz="2000"/>
              <a:t> or </a:t>
            </a:r>
            <a:r>
              <a:rPr sz="2000" i="1"/>
              <a:t>p</a:t>
            </a:r>
            <a:r>
              <a:rPr sz="2000"/>
              <a:t>-value — the ANOVA question (“do any means differ?”) is the same no matter which group you call the baseline.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1 — Normality of the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plot(mass_model)</a:t>
            </a:r>
            <a:r>
              <a:rPr sz="2000"/>
              <a:t> gives the same four panels you saw in the regression lecture. With ~340 penguins instead of 118 near-perfect paper squares, do you expect the Normal Q-Q panel to track the line as tightly?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plot(model) diagnostics as Lecture 11's regression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</p:txBody>
      </p:sp>
      <p:pic>
        <p:nvPicPr>
          <p:cNvPr descr="one_way_anova_lecture_files/figure-pptx/diagnostic-plo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(mass_model))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residuals(mass_model)
W = 0.99166, p-value = 0.05118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Check normality of the </a:t>
            </a:r>
            <a:r>
              <a:rPr b="1"/>
              <a:t>residuals</a:t>
            </a:r>
            <a:r>
              <a:rPr/>
              <a:t>, not the raw masses</a:t>
            </a:r>
          </a:p>
          <a:p>
            <a:pPr lvl="0"/>
            <a:r>
              <a:rPr/>
              <a:t>Panel 2 (Normal Q-Q) is the main visual tool; Shapiro-Wilk is a formal companion</a:t>
            </a:r>
          </a:p>
          <a:p>
            <a:pPr lvl="0"/>
            <a:r>
              <a:rPr/>
              <a:t>Panels 1 &amp; 3 double-check equal variance — the same job Levene’s does next, from a different angle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Large-sample caution:</a:t>
            </a:r>
            <a:r>
              <a:rPr sz="2000"/>
              <a:t> with ~340 birds, Shapiro-Wilk flags </a:t>
            </a:r>
            <a:r>
              <a:rPr sz="2000" i="1"/>
              <a:t>tiny</a:t>
            </a:r>
            <a:r>
              <a:rPr sz="2000"/>
              <a:t> departures as “significant.” Trust the </a:t>
            </a:r>
            <a:r>
              <a:rPr sz="2000" b="1"/>
              <a:t>Q-Q panel</a:t>
            </a:r>
            <a:r>
              <a:rPr sz="2000"/>
              <a:t> — if points track the line, you’re fine.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2 — Equal Variance (Levene’s Test)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back at the boxplot spreads. Predict — will Levene’s test call the variances </a:t>
            </a:r>
            <a:r>
              <a:rPr sz="2000" b="1"/>
              <a:t>equal</a:t>
            </a:r>
            <a:r>
              <a:rPr sz="2000"/>
              <a:t> (</a:t>
            </a:r>
            <a:r>
              <a:rPr sz="2000" i="1"/>
              <a:t>p</a:t>
            </a:r>
            <a:r>
              <a:rPr sz="2000"/>
              <a:t> &gt; 0.05) or </a:t>
            </a:r>
            <a:r>
              <a:rPr sz="2000" b="1"/>
              <a:t>unequal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H0: all groups have equal variance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Pr(&gt;F)   
group   2  5.1203 0.006445 **
      339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i="1"/>
              <a:t>p</a:t>
            </a:r>
            <a:r>
              <a:rPr/>
              <a:t> &gt; 0.05 → variances similar → classic ANOVA is fine</a:t>
            </a:r>
          </a:p>
          <a:p>
            <a:pPr lvl="0"/>
            <a:r>
              <a:rPr i="1"/>
              <a:t>p</a:t>
            </a:r>
            <a:r>
              <a:rPr/>
              <a:t> &lt; 0.05 → variances differ → use </a:t>
            </a:r>
            <a:r>
              <a:rPr b="1"/>
              <a:t>Welch’s ANOVA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oneway.test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Same spirit as Welch’s </a:t>
            </a:r>
            <a:r>
              <a:rPr b="1"/>
              <a:t>t</a:t>
            </a:r>
            <a:r>
              <a:rPr/>
              <a:t>-test — robust when spreads differ.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lm(body_mass_g ~ species)</a:t>
            </a:r>
            <a:r>
              <a:rPr/>
              <a:t>, set the reference level with </a:t>
            </a:r>
            <a:r>
              <a:rPr>
                <a:latin typeface="Courier"/>
              </a:rPr>
              <a:t>fct_relevel()</a:t>
            </a:r>
            <a:r>
              <a:rPr/>
              <a:t>, check the residual QQ plot + Shapiro, and run Levene’s test. Predict each result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Many t-tests inflate the false-positive rate — </a:t>
            </a:r>
            <a:r>
              <a:rPr b="1"/>
              <a:t>ANOVA asks once</a:t>
            </a:r>
          </a:p>
          <a:p>
            <a:pPr lvl="0"/>
            <a:r>
              <a:rPr b="1"/>
              <a:t>F</a:t>
            </a:r>
            <a:r>
              <a:rPr/>
              <a:t> = between-group ÷ within-group variance (signal ÷ noise)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’s level order sets the plot order and the model baseline</a:t>
            </a:r>
          </a:p>
          <a:p>
            <a:pPr lvl="0"/>
            <a:r>
              <a:rPr/>
              <a:t>ANOVA is a linear model with a categorical predictor — same </a:t>
            </a:r>
            <a:r>
              <a:rPr>
                <a:latin typeface="Courier"/>
              </a:rPr>
              <a:t>lm()</a:t>
            </a:r>
            <a:r>
              <a:rPr/>
              <a:t> as regression</a:t>
            </a:r>
          </a:p>
          <a:p>
            <a:pPr lvl="0"/>
            <a:r>
              <a:rPr/>
              <a:t>Assumptions: </a:t>
            </a:r>
            <a:r>
              <a:rPr b="1"/>
              <a:t>normal residuals</a:t>
            </a:r>
            <a:r>
              <a:rPr/>
              <a:t>, </a:t>
            </a:r>
            <a:r>
              <a:rPr b="1"/>
              <a:t>equal variance</a:t>
            </a:r>
            <a:r>
              <a:rPr/>
              <a:t> (Levene)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fct_reorder()</a:t>
            </a:r>
            <a:r>
              <a:rPr/>
              <a:t> to order groups by the response; </a:t>
            </a:r>
            <a:r>
              <a:rPr>
                <a:latin typeface="Courier"/>
              </a:rPr>
              <a:t>fct_relevel()</a:t>
            </a:r>
            <a:r>
              <a:rPr/>
              <a:t> to set the baseline</a:t>
            </a:r>
          </a:p>
          <a:p>
            <a:pPr lvl="0"/>
            <a:r>
              <a:rPr>
                <a:latin typeface="Courier"/>
              </a:rPr>
              <a:t>lm(Y ~ group)</a:t>
            </a:r>
          </a:p>
          <a:p>
            <a:pPr lvl="0"/>
            <a:r>
              <a:rPr>
                <a:latin typeface="Courier"/>
              </a:rPr>
              <a:t>plot(model)</a:t>
            </a:r>
            <a:r>
              <a:rPr/>
              <a:t> diagnostics, </a:t>
            </a:r>
            <a:r>
              <a:rPr>
                <a:latin typeface="Courier"/>
              </a:rPr>
              <a:t>shapiro.test(residuals())</a:t>
            </a:r>
          </a:p>
          <a:p>
            <a:pPr lvl="0"/>
            <a:r>
              <a:rPr>
                <a:latin typeface="Courier"/>
              </a:rPr>
              <a:t>leveneTest()</a:t>
            </a:r>
          </a:p>
          <a:p>
            <a:pPr lvl="0"/>
            <a:r>
              <a:rPr/>
              <a:t>rest of the </a:t>
            </a:r>
            <a:r>
              <a:rPr>
                <a:latin typeface="Courier"/>
              </a:rPr>
              <a:t>fct_*</a:t>
            </a:r>
            <a:r>
              <a:rPr/>
              <a:t> family → </a:t>
            </a:r>
            <a:r>
              <a:rPr b="1"/>
              <a:t>Common Code 15 · Factors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 indent="0" marL="0">
              <a:buNone/>
            </a:pPr>
            <a:r>
              <a:rPr b="1"/>
              <a:t>Up next — Lecture 14:</a:t>
            </a:r>
          </a:p>
          <a:p>
            <a:pPr lvl="0"/>
            <a:r>
              <a:rPr/>
              <a:t>Assumptions are checked — now we </a:t>
            </a:r>
            <a:r>
              <a:rPr b="1"/>
              <a:t>run</a:t>
            </a:r>
            <a:r>
              <a:rPr/>
              <a:t> the test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, then </a:t>
            </a:r>
            <a:r>
              <a:rPr>
                <a:latin typeface="Courier"/>
              </a:rPr>
              <a:t>emmeans</a:t>
            </a:r>
            <a:r>
              <a:rPr/>
              <a:t> post-hoc to find </a:t>
            </a:r>
            <a:r>
              <a:rPr b="1"/>
              <a:t>which</a:t>
            </a:r>
            <a:r>
              <a:rPr/>
              <a:t> species differ, and how to report it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One-Way ANOVA I: Setting Up the Test</dc:title>
  <dc:creator>Bill Perry</dc:creator>
  <cp:keywords/>
  <dc:description>From two groups to many: why we don’t run many t-tests, how the F-statistic partitions variance, using factors to order groups for a readable plot and to set the ANOVA reference level, fitting a one-way ANOVA as a linear model, and checking its assumptions — normality of residuals and equal variance — on the Palmer penguins data.</dc:description>
  <dcterms:created xsi:type="dcterms:W3CDTF">2026-09-24T01:37:44Z</dcterms:created>
  <dcterms:modified xsi:type="dcterms:W3CDTF">2026-09-24T01:37:44Z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subtitle">
    <vt:lpwstr>Why not many t-tests, the F-statistic, ordering groups with factors, fitting the model, and checking assumptions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