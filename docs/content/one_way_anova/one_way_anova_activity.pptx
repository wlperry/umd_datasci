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13 — One-Way ANOVA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Exploring the penguins, fitting the model, and checking assumptions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One-Way ANOVA I — Do Penguin Species Differ in Body Mass?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Worksheets 09–11</a:t>
            </a:r>
          </a:p>
          <a:p>
            <a:pPr lvl="0"/>
            <a:r>
              <a:rPr/>
              <a:t>Compared </a:t>
            </a:r>
            <a:r>
              <a:rPr b="1"/>
              <a:t>two</a:t>
            </a:r>
            <a:r>
              <a:rPr/>
              <a:t> groups with Welch’s t-test</a:t>
            </a:r>
          </a:p>
          <a:p>
            <a:pPr lvl="0"/>
            <a:r>
              <a:rPr/>
              <a:t>Fit </a:t>
            </a:r>
            <a:r>
              <a:rPr>
                <a:latin typeface="Courier"/>
              </a:rPr>
              <a:t>lm(Y ~ X)</a:t>
            </a:r>
            <a:r>
              <a:rPr/>
              <a:t> with a </a:t>
            </a:r>
            <a:r>
              <a:rPr b="1"/>
              <a:t>numeric</a:t>
            </a:r>
            <a:r>
              <a:rPr/>
              <a:t> predictor in the regression worksheet</a:t>
            </a:r>
          </a:p>
          <a:p>
            <a:pPr lvl="0"/>
            <a:r>
              <a:rPr/>
              <a:t>Checked assumptions with </a:t>
            </a:r>
            <a:r>
              <a:rPr>
                <a:latin typeface="Courier"/>
              </a:rPr>
              <a:t>plot(model)</a:t>
            </a:r>
            <a:r>
              <a:rPr/>
              <a:t> and Shapiro-Wilk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Load and explore the Palmer penguins data</a:t>
            </a:r>
          </a:p>
          <a:p>
            <a:pPr lvl="0" indent="-342900" marL="342900">
              <a:buAutoNum type="arabicPeriod"/>
            </a:pPr>
            <a:r>
              <a:rPr/>
              <a:t>State the ANOVA null and alternate hypotheses</a:t>
            </a:r>
          </a:p>
          <a:p>
            <a:pPr lvl="0" indent="-342900" marL="342900">
              <a:buAutoNum type="arabicPeriod"/>
            </a:pPr>
            <a:r>
              <a:rPr/>
              <a:t>Fit a one-way ANOVA and check its assumptions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in Positron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/>
              <a:t>The </a:t>
            </a:r>
            <a:r>
              <a:rPr sz="2000" b="1"/>
              <a:t>Going further</a:t>
            </a:r>
            <a:r>
              <a:rPr sz="2000"/>
              <a:t> section is optional.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each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print — the F, the </a:t>
            </a:r>
            <a:r>
              <a:rPr sz="2000" i="1"/>
              <a:t>p</a:t>
            </a:r>
            <a:r>
              <a:rPr sz="2000"/>
              <a:t>-value, which species differ. Then type the code yourself. Predicting first is what turns a test from a black box into something you understand; typing trains your eye for the small errors (</a:t>
            </a:r>
            <a:r>
              <a:rPr sz="2000">
                <a:latin typeface="Courier"/>
              </a:rPr>
              <a:t>anova</a:t>
            </a:r>
            <a:r>
              <a:rPr sz="2000"/>
              <a:t> vs </a:t>
            </a:r>
            <a:r>
              <a:rPr sz="2000">
                <a:latin typeface="Courier"/>
              </a:rPr>
              <a:t>Anova</a:t>
            </a:r>
            <a:r>
              <a:rPr sz="2000"/>
              <a:t>, a missing </a:t>
            </a:r>
            <a:r>
              <a:rPr sz="2000">
                <a:latin typeface="Courier"/>
              </a:rPr>
              <a:t>library()</a:t>
            </a:r>
            <a:r>
              <a:rPr sz="2000"/>
              <a:t>) that eat real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Explore &amp; hypothesize </a:t>
            </a:r>
            <a:r>
              <a:rPr sz="2000" b="1" i="1"/>
              <a:t>(after lecture Chunk 1)</a:t>
            </a:r>
          </a:p>
          <a:p>
            <a:pPr lvl="0" indent="0" marL="1270000">
              <a:buNone/>
            </a:pPr>
            <a:r>
              <a:rPr sz="2000"/>
              <a:t>Parts 1–3: load the penguins, plot body mass by species, and write your hypotheses.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(palmerpenguins) </a:t>
            </a:r>
            <a:r>
              <a:rPr>
                <a:solidFill>
                  <a:srgbClr val="5E5E5E"/>
                </a:solidFill>
                <a:latin typeface="Courier"/>
              </a:rPr>
              <a:t># the penguins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  </a:t>
            </a:r>
            <a:r>
              <a:rPr>
                <a:solidFill>
                  <a:srgbClr val="5E5E5E"/>
                </a:solidFill>
                <a:latin typeface="Courier"/>
              </a:rPr>
              <a:t># Levene's test, Anova()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        </a:t>
            </a:r>
            <a:r>
              <a:rPr>
                <a:solidFill>
                  <a:srgbClr val="5E5E5E"/>
                </a:solidFill>
                <a:latin typeface="Courier"/>
              </a:rPr>
              <a:t># post-hoc pairwise tests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rows missing mass or species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penguins_df &lt;- penguins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(body_mass_g, 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the sample sizes.</a:t>
            </a:r>
          </a:p>
          <a:p>
            <a:pPr lvl="0" indent="0">
              <a:buNone/>
            </a:pPr>
            <a:r>
              <a:rPr>
                <a:latin typeface="Courier"/>
              </a:rPr>
              <a:t>n Adelie:
n Chinstrap:
n Gentoo:
Are the groups balanced (equal n)?  Y / N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R says </a:t>
            </a:r>
            <a:r>
              <a:rPr sz="2000">
                <a:latin typeface="Courier"/>
              </a:rPr>
              <a:t>could not find function "penguins"</a:t>
            </a:r>
            <a:r>
              <a:rPr sz="2000"/>
              <a:t>, you forgot </a:t>
            </a:r>
            <a:r>
              <a:rPr sz="2000">
                <a:latin typeface="Courier"/>
              </a:rPr>
              <a:t>library(palmerpenguins)</a:t>
            </a:r>
            <a:r>
              <a:rPr sz="2000"/>
              <a:t>. Install it once with </a:t>
            </a:r>
            <a:r>
              <a:rPr sz="2000">
                <a:latin typeface="Courier"/>
              </a:rPr>
              <a:t>install.packages("palmerpenguins")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Explore with a boxplot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Before you plot — which species do you think is heaviest? Do you expect all three to differ, or just one?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Body mass by species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mass_box_plot &lt;- penguins_df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body_mass_g,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mass_box_plot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Describe what you see.</a:t>
            </a:r>
          </a:p>
          <a:p>
            <a:pPr lvl="0" indent="0">
              <a:buNone/>
            </a:pPr>
            <a:r>
              <a:rPr>
                <a:latin typeface="Courier"/>
              </a:rPr>
              <a:t>Heaviest species:
Lightest species:
Do the spreads (box heights) look similar across species?  Y / 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State your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the ANOVA hypotheses in words and symbols.</a:t>
            </a:r>
          </a:p>
          <a:p>
            <a:pPr lvl="0" indent="0">
              <a:buNone/>
            </a:pPr>
            <a:r>
              <a:rPr>
                <a:latin typeface="Courier"/>
              </a:rPr>
              <a:t>H₀ (null) in words:
Hₐ (alternate) in words:
In symbols:  H₀: μ_Adelie = μ_Chinstrap = μ_Gentoo
             Hₐ:
Significance level α: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Hₐ only says “at least one differs” — it does </a:t>
            </a:r>
            <a:r>
              <a:rPr sz="2000" b="1"/>
              <a:t>not</a:t>
            </a:r>
            <a:r>
              <a:rPr sz="2000"/>
              <a:t> say which. Finding which is the job of the post-hoc test in Part 9.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Fit &amp; check assumptions </a:t>
            </a:r>
            <a:r>
              <a:rPr sz="2000" b="1" i="1"/>
              <a:t>(after lecture Chunk 2)</a:t>
            </a:r>
          </a:p>
          <a:p>
            <a:pPr lvl="0" indent="0" marL="1270000">
              <a:buNone/>
            </a:pPr>
            <a:r>
              <a:rPr sz="2000"/>
              <a:t>Parts 4–6: fit the model, check residual normality, check equal variance.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Fit the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ANOVA is a linear model with a categorical X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This is the same </a:t>
            </a:r>
            <a:r>
              <a:rPr>
                <a:latin typeface="Courier"/>
              </a:rPr>
              <a:t>lm()</a:t>
            </a:r>
            <a:r>
              <a:rPr/>
              <a:t> syntax as the regression worksheet. What is different about the X variable this time?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Assumption 1 — normality of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plot(mass_model)</a:t>
            </a:r>
            <a:r>
              <a:rPr sz="2000"/>
              <a:t> gives the same four panels as the regression worksheet. Which panel checks normality?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(mass_model)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Formal test on the residuals 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(mass_model))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and interpret.</a:t>
            </a:r>
          </a:p>
          <a:p>
            <a:pPr lvl="0" indent="0">
              <a:buNone/>
            </a:pPr>
            <a:r>
              <a:rPr>
                <a:latin typeface="Courier"/>
              </a:rPr>
              <a:t>Do the Normal Q-Q points (panel 2) track the dashed line?  Y / mostly / no
Shapiro-Wilk p-value =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With ~340 penguins, Shapiro-Wilk is very sensitive and may flag tiny departures. Which should you trust more here — the Q-Q panel or the Shapiro p-value?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Assumption 2 — equal variance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From the box heights in Part 2, predict — will Levene’s test say the variances are equal (</a:t>
            </a:r>
            <a:r>
              <a:rPr sz="2000" i="1"/>
              <a:t>p</a:t>
            </a:r>
            <a:r>
              <a:rPr sz="2000"/>
              <a:t> &gt; 0.05) or unequal?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H0: all groups have equal variance 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(body_mass_g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penguins_df)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Record and decide.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F =            p =
Variances equal?  Y / N
If NOT equal, which test would you use instead? (hint: Welch)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Explain why many t-tests inflate the false-positive rate</a:t>
            </a:r>
          </a:p>
          <a:p>
            <a:pPr lvl="0"/>
            <a:r>
              <a:rPr/>
              <a:t>☐ State ANOVA hypotheses with μ notation</a:t>
            </a:r>
          </a:p>
          <a:p>
            <a:pPr lvl="0"/>
            <a:r>
              <a:rPr/>
              <a:t>☐ Fit </a:t>
            </a:r>
            <a:r>
              <a:rPr>
                <a:latin typeface="Courier"/>
              </a:rPr>
              <a:t>lm(Y ~ group)</a:t>
            </a:r>
            <a:r>
              <a:rPr/>
              <a:t> and check residual normality + equal variance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 with </a:t>
            </a:r>
            <a:r>
              <a:rPr b="1"/>
              <a:t>Ctrl/Cmd + Shift + Enter</a:t>
            </a:r>
            <a:r>
              <a:rPr/>
              <a:t>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could not find function "penguins"</a:t>
            </a:r>
            <a:r>
              <a:rPr/>
              <a:t> → </a:t>
            </a:r>
            <a:r>
              <a:rPr>
                <a:latin typeface="Courier"/>
              </a:rPr>
              <a:t>library(palmerpenguins)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Levene says unequal variance</a:t>
            </a:r>
            <a:r>
              <a:rPr/>
              <a:t> → use </a:t>
            </a:r>
            <a:r>
              <a:rPr>
                <a:latin typeface="Courier"/>
              </a:rPr>
              <a:t>oneway.test(y ~ group, var.equal = FALSE)</a:t>
            </a:r>
            <a:r>
              <a:rPr/>
              <a:t> (Welch’s ANOVA).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13. Next: Worksheet 14 — running the ANOVA and finding which species differ.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13 — One-Way ANOVA I: Setting Up the Test</dc:title>
  <dc:creator>Bill Perry</dc:creator>
  <cp:keywords/>
  <dc:description>Hands-on companion to One-Way ANOVA I. Students explore the Palmer penguins data, fit a one-way ANOVA, and check its assumptions — normality of residuals and equal variance.</dc:description>
  <dcterms:created xsi:type="dcterms:W3CDTF">2026-08-27T17:12:18Z</dcterms:created>
  <dcterms:modified xsi:type="dcterms:W3CDTF">2026-08-27T17:12:18Z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Exploring the penguins, fitting the model, and checking assumptions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7</vt:lpwstr>
  </property>
</Properties>
</file>