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Relationship Id="rId3" Type="http://schemas.openxmlformats.org/officeDocument/2006/relationships/hyperlink" Target="https://rstudio.github.io/cheatsheets/factors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— One-Way ANOVA I: Setting Up the Test (with Factors)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Exploring the penguins,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 I — Do Penguin Species Differ in Body Mass?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Worksheets 09–11</a:t>
            </a:r>
          </a:p>
          <a:p>
            <a:pPr lvl="0"/>
            <a:r>
              <a:rPr/>
              <a:t>Compared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/>
              <a:t>Fit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 in the regression worksheet</a:t>
            </a:r>
          </a:p>
          <a:p>
            <a:pPr lvl="0"/>
            <a:r>
              <a:rPr/>
              <a:t>Checked assumptions with </a:t>
            </a:r>
            <a:r>
              <a:rPr>
                <a:latin typeface="Courier"/>
              </a:rPr>
              <a:t>plot(model)</a:t>
            </a:r>
            <a:r>
              <a:rPr/>
              <a:t> and Shapiro-Wilk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Load and explore the Palmer penguins data</a:t>
            </a:r>
          </a:p>
          <a:p>
            <a:pPr lvl="0" indent="-342900" marL="342900">
              <a:buAutoNum type="arabicPeriod"/>
            </a:pPr>
            <a:r>
              <a:rPr/>
              <a:t>Order the groups with a </a:t>
            </a:r>
            <a:r>
              <a:rPr b="1"/>
              <a:t>factor</a:t>
            </a:r>
            <a:r>
              <a:rPr/>
              <a:t> (</a:t>
            </a:r>
            <a:r>
              <a:rPr>
                <a:latin typeface="Courier"/>
              </a:rPr>
              <a:t>fct_reorder</a:t>
            </a:r>
            <a:r>
              <a:rPr/>
              <a:t>) for a readable boxplot</a:t>
            </a:r>
          </a:p>
          <a:p>
            <a:pPr lvl="0" indent="-342900" marL="342900">
              <a:buAutoNum type="arabicPeriod"/>
            </a:pPr>
            <a:r>
              <a:rPr/>
              <a:t>State the ANOVA null and alternate hypotheses</a:t>
            </a:r>
          </a:p>
          <a:p>
            <a:pPr lvl="0" indent="-342900" marL="342900">
              <a:buAutoNum type="arabicPeriod"/>
            </a:pPr>
            <a:r>
              <a:rPr/>
              <a:t>Fit a one-way ANOVA, set its reference level (</a:t>
            </a:r>
            <a:r>
              <a:rPr>
                <a:latin typeface="Courier"/>
              </a:rPr>
              <a:t>fct_relevel</a:t>
            </a:r>
            <a:r>
              <a:rPr/>
              <a:t>), and check its assumptions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in Positron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/>
              <a:t>There’s no separate homework — the out-of-class </a:t>
            </a:r>
            <a:r>
              <a:rPr sz="2000" b="1"/>
              <a:t>Extension</a:t>
            </a:r>
            <a:r>
              <a:rPr sz="2000"/>
              <a:t> is on the ANOVA II worksheet.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 — the F, the </a:t>
            </a:r>
            <a:r>
              <a:rPr sz="2000" i="1"/>
              <a:t>p</a:t>
            </a:r>
            <a:r>
              <a:rPr sz="2000"/>
              <a:t>-value, which species differ. Then type the code yourself. Predicting first is what turns a test from a black box into something you understand; typing trains your eye for the small errors (</a:t>
            </a:r>
            <a:r>
              <a:rPr sz="2000">
                <a:latin typeface="Courier"/>
              </a:rPr>
              <a:t>anova</a:t>
            </a:r>
            <a:r>
              <a:rPr sz="2000"/>
              <a:t> vs </a:t>
            </a:r>
            <a:r>
              <a:rPr sz="2000">
                <a:latin typeface="Courier"/>
              </a:rPr>
              <a:t>Anova</a:t>
            </a:r>
            <a:r>
              <a:rPr sz="2000"/>
              <a:t>, a missing </a:t>
            </a:r>
            <a:r>
              <a:rPr sz="2000">
                <a:latin typeface="Courier"/>
              </a:rPr>
              <a:t>library()</a:t>
            </a:r>
            <a:r>
              <a:rPr sz="2000"/>
              <a:t>) that eat real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Explore, order, hypothesize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1–4: load the penguins, plot body mass by species, reorder the boxplot with a factor, and write your hypotheses.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sample sizes.</a:t>
            </a:r>
          </a:p>
          <a:p>
            <a:pPr lvl="0" indent="0">
              <a:buNone/>
            </a:pPr>
            <a:r>
              <a:rPr>
                <a:latin typeface="Courier"/>
              </a:rPr>
              <a:t>n Adelie:
n Chinstrap:
n Gentoo:
Are the groups balanced (equal n)?  Y / 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If R says </a:t>
            </a:r>
            <a:r>
              <a:rPr sz="2000">
                <a:latin typeface="Courier"/>
              </a:rPr>
              <a:t>could not find function "penguins"</a:t>
            </a:r>
            <a:r>
              <a:rPr sz="2000"/>
              <a:t>, you forgot </a:t>
            </a:r>
            <a:r>
              <a:rPr sz="2000">
                <a:latin typeface="Courier"/>
              </a:rPr>
              <a:t>library(palmerpenguins)</a:t>
            </a:r>
            <a:r>
              <a:rPr sz="2000"/>
              <a:t>. Install it once with </a:t>
            </a:r>
            <a:r>
              <a:rPr sz="2000">
                <a:latin typeface="Courier"/>
              </a:rPr>
              <a:t>install.packages("palmerpenguins")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Explore with a boxplot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Before you plot — which species do you think is heaviest? Do you expect all three to differ, or just one?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Body mass by species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what you see.</a:t>
            </a:r>
          </a:p>
          <a:p>
            <a:pPr lvl="0" indent="0">
              <a:buNone/>
            </a:pPr>
            <a:r>
              <a:rPr>
                <a:latin typeface="Courier"/>
              </a:rPr>
              <a:t>Heaviest species:
Lightest species:
Do the spreads (box heights) look similar across species?  Y / N
What order are the species in on the x-axis, and why?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Order the boxplot with a factor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</a:t>
            </a:r>
            <a:r>
              <a:rPr sz="2000">
                <a:latin typeface="Courier"/>
              </a:rPr>
              <a:t>species</a:t>
            </a:r>
            <a:r>
              <a:rPr sz="2000"/>
              <a:t> is a </a:t>
            </a:r>
            <a:r>
              <a:rPr sz="2000" b="1"/>
              <a:t>factor</a:t>
            </a:r>
            <a:r>
              <a:rPr sz="2000"/>
              <a:t>. Run </a:t>
            </a:r>
            <a:r>
              <a:rPr sz="2000">
                <a:latin typeface="Courier"/>
              </a:rPr>
              <a:t>levels(penguins_df$species)</a:t>
            </a:r>
            <a:r>
              <a:rPr sz="2000"/>
              <a:t> — what order are the levels in? Is that the order you want on the plot?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order does R store the species levels in? 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Reorder species by MEDIAN body mass, then plot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Answer.</a:t>
            </a:r>
          </a:p>
          <a:p>
            <a:pPr lvl="0" indent="0">
              <a:buNone/>
            </a:pPr>
            <a:r>
              <a:rPr>
                <a:latin typeface="Courier"/>
              </a:rPr>
              <a:t>Stored level order:
Order after fct_reorder():
Does the reordered plot read more clearly?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fct_reorder()</a:t>
            </a:r>
            <a:r>
              <a:rPr/>
              <a:t> has to go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. What happens if you just call </a:t>
            </a:r>
            <a:r>
              <a:rPr>
                <a:latin typeface="Courier"/>
              </a:rPr>
              <a:t>fct_reorder()</a:t>
            </a:r>
            <a:r>
              <a:rPr/>
              <a:t> on its own and then plot </a:t>
            </a:r>
            <a:r>
              <a:rPr>
                <a:latin typeface="Courier"/>
              </a:rPr>
              <a:t>penguins_df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the whole </a:t>
            </a:r>
            <a:r>
              <a:rPr sz="2000">
                <a:latin typeface="Courier"/>
              </a:rPr>
              <a:t>fct_*</a:t>
            </a:r>
            <a:r>
              <a:rPr sz="2000"/>
              <a:t> family (rename, merge, lump levels) lives in </a:t>
            </a:r>
            <a:r>
              <a:rPr sz="2000" b="1"/>
              <a:t>Common Code 15 · Factors</a:t>
            </a:r>
            <a:r>
              <a:rPr sz="2000"/>
              <a:t>. Today you only need </a:t>
            </a:r>
            <a:r>
              <a:rPr sz="2000">
                <a:latin typeface="Courier"/>
              </a:rPr>
              <a:t>fct_reorder()</a:t>
            </a:r>
            <a:r>
              <a:rPr sz="2000"/>
              <a:t> here and </a:t>
            </a:r>
            <a:r>
              <a:rPr sz="2000">
                <a:latin typeface="Courier"/>
              </a:rPr>
              <a:t>fct_relevel()</a:t>
            </a:r>
            <a:r>
              <a:rPr sz="2000"/>
              <a:t> in Part 6.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State your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ANOVA hypotheses in words and symbols.</a:t>
            </a:r>
          </a:p>
          <a:p>
            <a:pPr lvl="0" indent="0">
              <a:buNone/>
            </a:pPr>
            <a:r>
              <a:rPr>
                <a:latin typeface="Courier"/>
              </a:rPr>
              <a:t>H₀ (null) in words:
Hₐ (alternate) in words:
In symbols:  H₀: μ_Adelie = μ_Chinstrap = μ_Gentoo
             Hₐ:
Significance level α: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Hₐ only says “at least one differs” — it does </a:t>
            </a:r>
            <a:r>
              <a:rPr sz="2000" b="1"/>
              <a:t>not</a:t>
            </a:r>
            <a:r>
              <a:rPr sz="2000"/>
              <a:t> say which. Finding which is the job of the post-hoc test in </a:t>
            </a:r>
            <a:r>
              <a:rPr sz="2000" i="1"/>
              <a:t>ANOVA II</a:t>
            </a:r>
            <a:r>
              <a:rPr sz="2000"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Fit &amp; check assumptions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5–8: fit the model, set the reference level, check residual normality, check equal variance.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This is the same </a:t>
            </a:r>
            <a:r>
              <a:rPr>
                <a:latin typeface="Courier"/>
              </a:rPr>
              <a:t>lm()</a:t>
            </a:r>
            <a:r>
              <a:rPr/>
              <a:t> syntax as the regression worksheet. What is different about the X variable this time?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Set the reference level with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</a:t>
            </a:r>
            <a:r>
              <a:rPr sz="2000">
                <a:latin typeface="Courier"/>
              </a:rPr>
              <a:t>lm()</a:t>
            </a:r>
            <a:r>
              <a:rPr sz="2000"/>
              <a:t> uses the </a:t>
            </a:r>
            <a:r>
              <a:rPr sz="2000" b="1"/>
              <a:t>first</a:t>
            </a:r>
            <a:r>
              <a:rPr sz="2000"/>
              <a:t> factor level as the baseline. If you move Gentoo to the front, will the overall F-test / p-value change, or only the coefficients?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Coefficients are differences FROM the first level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Gentoo the reference, refit, compare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mass_model_gentoo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(mass_model_gentoo)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two coefficient sets.</a:t>
            </a:r>
          </a:p>
          <a:p>
            <a:pPr lvl="0" indent="0">
              <a:buNone/>
            </a:pPr>
            <a:r>
              <a:rPr>
                <a:latin typeface="Courier"/>
              </a:rPr>
              <a:t>What (Intercept) represents in mass_model:
What (Intercept) represents in mass_model_gentoo:
Did the coefficient values change?  Y / N
Would the overall F-statistic / p-value change?  Y / N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releveling changes </a:t>
            </a:r>
            <a:r>
              <a:rPr sz="2000" i="1"/>
              <a:t>which comparison the coefficients show</a:t>
            </a:r>
            <a:r>
              <a:rPr sz="2000"/>
              <a:t>, not </a:t>
            </a:r>
            <a:r>
              <a:rPr sz="2000" i="1"/>
              <a:t>whether any means differ</a:t>
            </a:r>
            <a:r>
              <a:rPr sz="2000"/>
              <a:t>. Use it to make the baseline a group your reader cares about (a control, a reference site).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 1 — normality of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as the regression worksheet. Which panel checks normality?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Formal test on the residuals 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and interpret.</a:t>
            </a:r>
          </a:p>
          <a:p>
            <a:pPr lvl="0" indent="0">
              <a:buNone/>
            </a:pPr>
            <a:r>
              <a:rPr>
                <a:latin typeface="Courier"/>
              </a:rPr>
              <a:t>Do the Normal Q-Q points (panel 2) track the dashed line?  Y / mostly / no
Shapiro-Wilk p-value =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~340 penguins, Shapiro-Wilk is very sensitive and may flag tiny departures. Which should you trust more here — the Q-Q panel or the Shapiro p-value? Why?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Assumption 2 — equal 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From the box heights in Part 2, predict — will Levene’s test say the variances are equal (</a:t>
            </a:r>
            <a:r>
              <a:rPr sz="2000" i="1"/>
              <a:t>p</a:t>
            </a:r>
            <a:r>
              <a:rPr sz="2000"/>
              <a:t> &gt; 0.05) or unequal?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and decide.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F =            p =
Variances equal?  Y / N
If NOT equal, which test would you use instead? (hint: Welch)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Explain why many t-tests inflate the false-positive rate</a:t>
            </a:r>
          </a:p>
          <a:p>
            <a:pPr lvl="0"/>
            <a:r>
              <a:rPr/>
              <a:t>☐ Order groups with </a:t>
            </a:r>
            <a:r>
              <a:rPr>
                <a:latin typeface="Courier"/>
              </a:rPr>
              <a:t>fct_reorder()</a:t>
            </a:r>
            <a:r>
              <a:rPr/>
              <a:t> and set a model baseline with </a:t>
            </a:r>
            <a:r>
              <a:rPr>
                <a:latin typeface="Courier"/>
              </a:rPr>
              <a:t>fct_relevel()</a:t>
            </a:r>
          </a:p>
          <a:p>
            <a:pPr lvl="0"/>
            <a:r>
              <a:rPr/>
              <a:t>☐ State ANOVA hypotheses with μ notation</a:t>
            </a:r>
          </a:p>
          <a:p>
            <a:pPr lvl="0"/>
            <a:r>
              <a:rPr/>
              <a:t>☐ Fit </a:t>
            </a:r>
            <a:r>
              <a:rPr>
                <a:latin typeface="Courier"/>
              </a:rPr>
              <a:t>lm(Y ~ group)</a:t>
            </a:r>
            <a:r>
              <a:rPr/>
              <a:t> and check residual normality + equal variance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with </a:t>
            </a:r>
            <a:r>
              <a:rPr b="1"/>
              <a:t>Ctrl/Cmd + Shift + Enter</a:t>
            </a:r>
            <a:r>
              <a:rPr/>
              <a:t>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could not find function "penguins"</a:t>
            </a:r>
            <a:r>
              <a:rPr/>
              <a:t> → </a:t>
            </a:r>
            <a:r>
              <a:rPr>
                <a:latin typeface="Courier"/>
              </a:rPr>
              <a:t>library(palmerpenguins)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could not find function "fct_reorder"</a:t>
            </a:r>
            <a:r>
              <a:rPr/>
              <a:t> → </a:t>
            </a:r>
            <a:r>
              <a:rPr>
                <a:latin typeface="Courier"/>
              </a:rPr>
              <a:t>library(tidyverse)</a:t>
            </a:r>
            <a:r>
              <a:rPr/>
              <a:t> (forcats is inside it).</a:t>
            </a:r>
          </a:p>
          <a:p>
            <a:pPr lvl="0" indent="-342900" marL="342900">
              <a:buAutoNum type="arabicPeriod"/>
            </a:pPr>
            <a:r>
              <a:rPr b="1"/>
              <a:t>Reordering “did nothing”</a:t>
            </a:r>
            <a:r>
              <a:rPr/>
              <a:t> → you must reorder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 and plot the result; reordering a copy doesn’t change the original.</a:t>
            </a:r>
          </a:p>
          <a:p>
            <a:pPr lvl="0" indent="-342900" marL="342900">
              <a:buAutoNum type="arabicPeriod"/>
            </a:pPr>
            <a:r>
              <a:rPr b="1"/>
              <a:t>Levene says unequal variance</a:t>
            </a:r>
            <a:r>
              <a:rPr/>
              <a:t> → use </a:t>
            </a:r>
            <a:r>
              <a:rPr>
                <a:latin typeface="Courier"/>
              </a:rPr>
              <a:t>oneway.test(y ~ group, var.equal = FALSE)</a:t>
            </a:r>
            <a:r>
              <a:rPr/>
              <a:t> (Welch’s ANOVA).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  <a:r>
              <a:rPr/>
              <a:t> · Factors: </a:t>
            </a:r>
            <a:r>
              <a:rPr>
                <a:hlinkClick r:id="rId3"/>
              </a:rPr>
              <a:t>https://rstudio.github.io/cheatsheets/factors.pdf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the ANOVA I worksheet. Next: One-Way ANOVA II — running the test, post-hoc comparisons, and the out-of-class Extension.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— One-Way ANOVA I: Setting Up the Test (with Factors)</dc:title>
  <dc:creator>Bill Perry</dc:creator>
  <cp:keywords/>
  <dc:description>Hands-on companion to One-Way ANOVA I. Students explore the Palmer penguins data, fit a one-way ANOVA, and check its assumptions — normality of residuals and equal variance.</dc:description>
  <dcterms:created xsi:type="dcterms:W3CDTF">2026-08-27T20:06:01Z</dcterms:created>
  <dcterms:modified xsi:type="dcterms:W3CDTF">2026-08-27T20:06:01Z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Exploring the penguins,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8</vt:lpwstr>
  </property>
</Properties>
</file>