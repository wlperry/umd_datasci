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30" Type="http://schemas.openxmlformats.org/officeDocument/2006/relationships/viewProps" Target="viewProps.xml" /><Relationship Id="rId2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2" Type="http://schemas.openxmlformats.org/officeDocument/2006/relationships/tableStyles" Target="tableStyles.xml" /><Relationship Id="rId3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09 — T-Tests I: Setting Up the Test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Hypotheses and checking assumptions before we test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(Lectures 05–07)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Wrangling</a:t>
            </a:r>
            <a:r>
              <a:rPr/>
              <a:t> — </a:t>
            </a:r>
            <a:r>
              <a:rPr>
                <a:latin typeface="Courier"/>
              </a:rPr>
              <a:t>filter()</a:t>
            </a:r>
            <a:r>
              <a:rPr/>
              <a:t>, </a:t>
            </a:r>
            <a:r>
              <a:rPr>
                <a:latin typeface="Courier"/>
              </a:rPr>
              <a:t>select()</a:t>
            </a:r>
            <a:r>
              <a:rPr/>
              <a:t>, </a:t>
            </a:r>
            <a:r>
              <a:rPr>
                <a:latin typeface="Courier"/>
              </a:rPr>
              <a:t>mutate()</a:t>
            </a:r>
            <a:r>
              <a:rPr/>
              <a:t>, </a:t>
            </a:r>
            <a:r>
              <a:rPr>
                <a:latin typeface="Courier"/>
              </a:rPr>
              <a:t>arrange()</a:t>
            </a:r>
            <a:r>
              <a:rPr/>
              <a:t> as the core tidyverse verbs</a:t>
            </a:r>
          </a:p>
          <a:p>
            <a:pPr lvl="0"/>
            <a:r>
              <a:rPr b="1"/>
              <a:t>Descriptive stats</a:t>
            </a:r>
            <a:r>
              <a:rPr/>
              <a:t> — mean, SD, SE with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</a:p>
          <a:p>
            <a:pPr lvl="0"/>
            <a:r>
              <a:rPr b="1"/>
              <a:t>Box plot</a:t>
            </a:r>
            <a:r>
              <a:rPr/>
              <a:t> + jittered points; </a:t>
            </a:r>
            <a:r>
              <a:rPr b="1"/>
              <a:t>mean ± SE</a:t>
            </a:r>
            <a:r>
              <a:rPr/>
              <a:t> with </a:t>
            </a:r>
            <a:r>
              <a:rPr>
                <a:latin typeface="Courier"/>
              </a:rPr>
              <a:t>stat_summary()</a:t>
            </a:r>
          </a:p>
          <a:p>
            <a:pPr lvl="0"/>
            <a:r>
              <a:rPr b="1"/>
              <a:t>Quarto report</a:t>
            </a:r>
            <a:r>
              <a:rPr/>
              <a:t> — you already ran a Welch’s t-test once, at the end</a:t>
            </a:r>
          </a:p>
          <a:p>
            <a:pPr lvl="0"/>
            <a:r>
              <a:rPr b="1"/>
              <a:t>Prediction:</a:t>
            </a:r>
            <a:r>
              <a:rPr/>
              <a:t> shady-side leaves would be heavier than sunny-side leaves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 for today</a:t>
            </a:r>
          </a:p>
          <a:p>
            <a:pPr lvl="0" indent="0" marL="1270000">
              <a:buNone/>
            </a:pPr>
            <a:r>
              <a:rPr sz="2000"/>
              <a:t>Last time we </a:t>
            </a:r>
            <a:r>
              <a:rPr sz="2000" i="1"/>
              <a:t>ran</a:t>
            </a:r>
            <a:r>
              <a:rPr sz="2000"/>
              <a:t> a t-test. Today we slow down and do it properly: state the hypotheses, </a:t>
            </a:r>
            <a:r>
              <a:rPr sz="2000" b="1"/>
              <a:t>check the assumptions</a:t>
            </a:r>
            <a:r>
              <a:rPr sz="2000"/>
              <a:t>, and only then run the test.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Understand</a:t>
            </a:r>
            <a:r>
              <a:rPr/>
              <a:t> why comparing means is not enough — we need a test</a:t>
            </a:r>
          </a:p>
          <a:p>
            <a:pPr lvl="0"/>
            <a:r>
              <a:rPr b="1"/>
              <a:t>Meet</a:t>
            </a:r>
            <a:r>
              <a:rPr/>
              <a:t> the two-sample t-test and why we default to </a:t>
            </a:r>
            <a:r>
              <a:rPr b="1"/>
              <a:t>Welch’s</a:t>
            </a:r>
          </a:p>
          <a:p>
            <a:pPr lvl="0"/>
            <a:r>
              <a:rPr b="1"/>
              <a:t>State</a:t>
            </a:r>
            <a:r>
              <a:rPr/>
              <a:t> null and alternate hypotheses</a:t>
            </a:r>
          </a:p>
          <a:p>
            <a:pPr lvl="0"/>
            <a:r>
              <a:rPr b="1"/>
              <a:t>Check assumptions</a:t>
            </a:r>
            <a:r>
              <a:rPr/>
              <a:t> before running any test</a:t>
            </a:r>
          </a:p>
          <a:p>
            <a:pPr lvl="1"/>
            <a:r>
              <a:rPr/>
              <a:t>normality: histogram, </a:t>
            </a:r>
            <a:r>
              <a:rPr b="1"/>
              <a:t>QQ plot</a:t>
            </a:r>
            <a:r>
              <a:rPr/>
              <a:t>, Shapiro-Wilk</a:t>
            </a:r>
          </a:p>
          <a:p>
            <a:pPr lvl="1"/>
            <a:r>
              <a:rPr/>
              <a:t>variance: Levene’s test</a:t>
            </a:r>
          </a:p>
          <a:p>
            <a:pPr lvl="0"/>
            <a:r>
              <a:rPr b="1"/>
              <a:t>Run</a:t>
            </a:r>
            <a:r>
              <a:rPr/>
              <a:t> the t-test (we decode it next lecture)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added today:</a:t>
            </a:r>
          </a:p>
          <a:p>
            <a:pPr lvl="0"/>
            <a:r>
              <a:rPr>
                <a:latin typeface="Courier"/>
              </a:rPr>
              <a:t>stat_qq()</a:t>
            </a:r>
            <a:r>
              <a:rPr/>
              <a:t> + </a:t>
            </a:r>
            <a:r>
              <a:rPr>
                <a:latin typeface="Courier"/>
              </a:rPr>
              <a:t>stat_qq_line()</a:t>
            </a:r>
            <a:r>
              <a:rPr/>
              <a:t> — QQ plots</a:t>
            </a:r>
          </a:p>
          <a:p>
            <a:pPr lvl="0"/>
            <a:r>
              <a:rPr>
                <a:latin typeface="Courier"/>
              </a:rPr>
              <a:t>shapiro.test()</a:t>
            </a:r>
            <a:r>
              <a:rPr/>
              <a:t> — normality test</a:t>
            </a:r>
          </a:p>
          <a:p>
            <a:pPr lvl="0"/>
            <a:r>
              <a:rPr>
                <a:latin typeface="Courier"/>
              </a:rPr>
              <a:t>car::leveneTest()</a:t>
            </a:r>
            <a:r>
              <a:rPr/>
              <a:t> — variance test</a:t>
            </a:r>
          </a:p>
          <a:p>
            <a:pPr lvl="0" indent="0" marL="0">
              <a:buNone/>
            </a:pPr>
            <a:r>
              <a:rPr b="1"/>
              <a:t>Reading:</a:t>
            </a:r>
          </a:p>
          <a:p>
            <a:pPr lvl="0"/>
            <a:r>
              <a:rPr/>
              <a:t>📖 Whitlock &amp; Schluter, Ch. 12 — </a:t>
            </a:r>
            <a:r>
              <a:rPr i="1"/>
              <a:t>Comparing two means</a:t>
            </a:r>
          </a:p>
          <a:p>
            <a:pPr lvl="0"/>
            <a:r>
              <a:rPr/>
              <a:t>📖 Whitlock &amp; Schluter, Ch. 13 — </a:t>
            </a:r>
            <a:r>
              <a:rPr i="1"/>
              <a:t>Handling violations of assumptions</a:t>
            </a:r>
          </a:p>
          <a:p>
            <a:pPr lvl="0" indent="0" marL="0">
              <a:buNone/>
            </a:pPr>
            <a:r>
              <a:rPr b="1"/>
              <a:t>Today’s naming:</a:t>
            </a:r>
          </a:p>
          <a:p>
            <a:pPr lvl="0"/>
            <a:r>
              <a:rPr/>
              <a:t>plots → </a:t>
            </a:r>
            <a:r>
              <a:rPr>
                <a:latin typeface="Courier"/>
              </a:rPr>
              <a:t>_plot</a:t>
            </a:r>
          </a:p>
          <a:p>
            <a:pPr lvl="0"/>
            <a:r>
              <a:rPr/>
              <a:t>test results → </a:t>
            </a:r>
            <a:r>
              <a:rPr>
                <a:latin typeface="Courier"/>
              </a:rPr>
              <a:t>_model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all packages at the top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    </a:t>
            </a:r>
            <a:r>
              <a:rPr>
                <a:solidFill>
                  <a:srgbClr val="5E5E5E"/>
                </a:solidFill>
                <a:latin typeface="Courier"/>
              </a:rPr>
              <a:t># reading Excel files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</a:t>
            </a:r>
            <a:r>
              <a:rPr>
                <a:solidFill>
                  <a:srgbClr val="5E5E5E"/>
                </a:solidFill>
                <a:latin typeface="Courier"/>
              </a:rPr>
              <a:t># data manipulation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(janitor)   </a:t>
            </a:r>
            <a:r>
              <a:rPr>
                <a:solidFill>
                  <a:srgbClr val="5E5E5E"/>
                </a:solidFill>
                <a:latin typeface="Courier"/>
              </a:rPr>
              <a:t># clean_names()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</a:t>
            </a:r>
            <a:r>
              <a:rPr>
                <a:solidFill>
                  <a:srgbClr val="5E5E5E"/>
                </a:solidFill>
                <a:latin typeface="Courier"/>
              </a:rPr>
              <a:t># Levene's test for equal variance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leaf data from the data folder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&lt;-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"data/2026_09_03_data_sci_leaf_area.xlsx"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clean_names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car</a:t>
            </a:r>
            <a:r>
              <a:rPr sz="2000"/>
              <a:t> is the </a:t>
            </a:r>
            <a:r>
              <a:rPr sz="2000" b="1"/>
              <a:t>C</a:t>
            </a:r>
            <a:r>
              <a:rPr sz="2000"/>
              <a:t>ompanion to </a:t>
            </a:r>
            <a:r>
              <a:rPr sz="2000" b="1"/>
              <a:t>A</a:t>
            </a:r>
            <a:r>
              <a:rPr sz="2000"/>
              <a:t>pplied </a:t>
            </a:r>
            <a:r>
              <a:rPr sz="2000" b="1"/>
              <a:t>R</a:t>
            </a:r>
            <a:r>
              <a:rPr sz="2000"/>
              <a:t>egression package. It contains </a:t>
            </a:r>
            <a:r>
              <a:rPr sz="2000">
                <a:latin typeface="Courier"/>
              </a:rPr>
              <a:t>leveneTest()</a:t>
            </a:r>
            <a:r>
              <a:rPr sz="2000"/>
              <a:t>, which checks whether two groups have similar spread.</a:t>
            </a:r>
          </a:p>
          <a:p>
            <a:pPr lvl="0" indent="0" marL="1270000">
              <a:buNone/>
            </a:pPr>
            <a:r>
              <a:rPr sz="2000"/>
              <a:t>Install once: </a:t>
            </a:r>
            <a:r>
              <a:rPr sz="2000">
                <a:latin typeface="Courier"/>
              </a:rPr>
              <a:t>install.packages("car")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3 · Why We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why comparing means isn’t enough, the five steps we’ll use for every test this semester, what a two-sample t-test does, and why we default to Welch’s.</a:t>
            </a:r>
          </a:p>
          <a:p>
            <a:pPr lvl="0" indent="0" marL="0">
              <a:buNone/>
            </a:pPr>
            <a:r>
              <a:rPr b="1"/>
              <a:t>🛑 After this chunk: Activity Parts 1–2</a:t>
            </a:r>
            <a:r>
              <a:rPr/>
              <a:t> (load data, recap the descriptive stats).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Comparing Means Is Not Enough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Remind ourselves what the data look like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geom_jitter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2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fun =</a:t>
            </a:r>
            <a:r>
              <a:rPr>
                <a:solidFill>
                  <a:srgbClr val="003B4F"/>
                </a:solidFill>
                <a:latin typeface="Courier"/>
              </a:rPr>
              <a:t> mean,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stat_summary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fun.data =</a:t>
            </a:r>
            <a:r>
              <a:rPr>
                <a:solidFill>
                  <a:srgbClr val="003B4F"/>
                </a:solidFill>
                <a:latin typeface="Courier"/>
              </a:rPr>
              <a:t> mean_se,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"errorbar"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"Shade"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recap_plot</a:t>
            </a:r>
          </a:p>
        </p:txBody>
      </p:sp>
      <p:pic>
        <p:nvPicPr>
          <p:cNvPr descr="t_tests_lecture_files/figure-pptx/recap-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930400"/>
            <a:ext cx="4432300" cy="198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two means look </a:t>
            </a:r>
            <a:r>
              <a:rPr b="1"/>
              <a:t>close</a:t>
            </a:r>
            <a:r>
              <a:rPr/>
              <a:t> — and with this much scatter, they could easily be the same:</a:t>
            </a:r>
          </a:p>
          <a:p>
            <a:pPr lvl="0"/>
            <a:r>
              <a:rPr/>
              <a:t>About </a:t>
            </a:r>
            <a:r>
              <a:rPr b="1"/>
              <a:t>25 leaves per group</a:t>
            </a:r>
          </a:p>
          <a:p>
            <a:pPr lvl="0"/>
            <a:r>
              <a:rPr/>
              <a:t>Lots of </a:t>
            </a:r>
            <a:r>
              <a:rPr b="1"/>
              <a:t>natural variability</a:t>
            </a:r>
            <a:r>
              <a:rPr/>
              <a:t> within each group</a:t>
            </a:r>
          </a:p>
          <a:p>
            <a:pPr lvl="0"/>
            <a:r>
              <a:rPr/>
              <a:t>The groups </a:t>
            </a:r>
            <a:r>
              <a:rPr b="1"/>
              <a:t>overlap heavily</a:t>
            </a:r>
          </a:p>
          <a:p>
            <a:pPr lvl="0" indent="0" marL="0">
              <a:buNone/>
            </a:pPr>
            <a:r>
              <a:rPr/>
              <a:t>A </a:t>
            </a:r>
            <a:r>
              <a:rPr i="1"/>
              <a:t>p</a:t>
            </a:r>
            <a:r>
              <a:rPr/>
              <a:t>-value answers:</a:t>
            </a:r>
          </a:p>
          <a:p>
            <a:pPr lvl="0" indent="0" marL="1270000">
              <a:buNone/>
            </a:pPr>
            <a:r>
              <a:rPr sz="2000" i="1"/>
              <a:t>“If there were really no difference, how often would we see a gap at least this big just by chance?”</a:t>
            </a:r>
          </a:p>
          <a:p>
            <a:pPr lvl="0" indent="0" marL="0">
              <a:buNone/>
            </a:pPr>
            <a:r>
              <a:rPr/>
              <a:t>Large </a:t>
            </a:r>
            <a:r>
              <a:rPr i="1"/>
              <a:t>p</a:t>
            </a:r>
            <a:r>
              <a:rPr/>
              <a:t> → a gap this size is nothing unusual.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Five Steps to a Hypothesis Test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hypothesis test this semester — t-test, ANOVA, regression — follows the same steps: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/>
                <a:gridCol w="2565400"/>
                <a:gridCol w="1333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State H₀ and Hₐ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normality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 </a:t>
                      </a:r>
                      <a:r>
                        <a:rPr b="1"/>
                        <a:t>equal variance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Run</a:t>
                      </a:r>
                      <a:r>
                        <a:rPr/>
                        <a:t> the test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Today (a first look)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Interpret</a:t>
                      </a:r>
                      <a:r>
                        <a:rPr/>
                        <a:t> and </a:t>
                      </a:r>
                      <a:r>
                        <a:rPr b="1"/>
                        <a:t>report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 lecture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assumptions BEFORE running the test.</a:t>
            </a:r>
          </a:p>
          <a:p>
            <a:pPr lvl="0" indent="0" marL="1270000">
              <a:buNone/>
            </a:pPr>
            <a:r>
              <a:rPr sz="2000"/>
              <a:t>If the data badly break the assumptions, the </a:t>
            </a:r>
            <a:r>
              <a:rPr sz="2000" i="1"/>
              <a:t>p</a:t>
            </a:r>
            <a:r>
              <a:rPr sz="2000"/>
              <a:t>-value can’t be trusted.</a:t>
            </a:r>
          </a:p>
          <a:p>
            <a:pPr lvl="0" indent="0" marL="1270000">
              <a:buNone/>
            </a:pPr>
            <a:r>
              <a:rPr sz="2000"/>
              <a:t>With ~25 per group our main worry is </a:t>
            </a:r>
            <a:r>
              <a:rPr sz="2000" b="1"/>
              <a:t>badly</a:t>
            </a:r>
            <a:r>
              <a:rPr sz="2000"/>
              <a:t> non-normal data. The t-test handles mild departures fine.</a:t>
            </a:r>
          </a:p>
        </p:txBody>
      </p:sp>
    </p:spTree>
  </p:cSld>
</p:sld>
</file>

<file path=ppt/slides/slide8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0" y="0" /><a:ext cx="9144000" cy="602780" /></a:xfrm><a:solidFill><a:srgbClr val="1A1A2E" /></a:solidFill></p:spPr><p:txBody><a:bodyPr /><a:lstStyle /><a:p><a:pPr lvl="0" indent="0" marL="0"><a:buNone /></a:pPr><a:r><a:rPr /><a:t>What Is a Two-Sample t-Test?</a:t></a:r></a:p></p:txBody></p:sp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sz="half" /></p:nvPr></p:nvSpPr><p:spPr /><p:txBody><a:bodyPr /><a:lstStyle /><a:p><a:pPr lvl="0" indent="0" marL="0"><a:buNone /></a:pPr><a:r><a:rPr /><a:t>A two-sample t-test compares the </a:t></a:r><a:r><a:rPr b="1" /><a:t>means of two independent groups</a:t></a:r><a:r><a:rPr /><a:t>.</a:t></a:r></a:p><a:p><a:pPr lvl="0" indent="0" marL="0"><a:buNone /></a:pPr><a:r><a:rPr /><a:t>It asks: </a:t></a:r><a:r><a:rPr i="1" /><a:t>is the gap between the two means big compared with the scatter inside each group?</a:t></a:r></a:p><a:p><a:pPr lvl="0" indent="0" marL="0"><a:buNone /></a:pPr><a14:m><m:oMathPara xmlns:m="http://schemas.openxmlformats.org/officeDocument/2006/math"><m:oMathParaPr><m:jc m:val="center" /></m:oMathParaPr><m:oMath><m:r><m:t>t</m:t></m:r><m:r><m:rPr><m:sty m:val="p" /></m:rPr><m:t>=</m:t></m:r><m:f><m:fPr><m:type m:val="bar" /></m:fPr><m:num><m:r><m:rPr><m:nor /><m:sty m:val="p" /></m:rPr><m:t>difference between the means</m:t></m:r></m:num><m:den><m:r><m:rPr><m:nor /><m:sty m:val="p" /></m:rPr><m:t>noise (scatter) in the data</m:t></m:r></m:den></m:f></m:oMath></m:oMathPara></a14:m></a:p><a:p><a:pPr lvl="0" /><a:r><a:rPr b="1" /><a:t>Big gap, little scatter</a:t></a:r><a:r><a:rPr /><a:t> → big </a:t></a:r><a:r><a:rPr i="1" /><a:t>t</a:t></a:r><a:r><a:rPr /><a:t> → small </a:t></a:r><a:r><a:rPr i="1" /><a:t>p</a:t></a:r><a:r><a:rPr /><a:t>-value</a:t></a:r></a:p><a:p><a:pPr lvl="0" /><a:r><a:rPr b="1" /><a:t>Small gap, lots of scatter</a:t></a:r><a:r><a:rPr /><a:t> → </a:t></a:r><a:r><a:rPr i="1" /><a:t>t</a:t></a:r><a:r><a:rPr /><a:t> near 0 → large </a:t></a:r><a:r><a:rPr i="1" /><a:t>p</a:t></a:r><a:r><a:rPr /><a:t>-value</a:t></a:r></a:p><a:p><a:pPr lvl="0" indent="0" marL="0"><a:buNone /></a:pPr><a:r><a:rPr /><a:t>R does the arithmetic — your job is to set the test up correctly and read the answer.</a:t></a:r></a:p></p:txBody></p:sp></mc:Choice></mc:AlternateContent><p:graphicFrame><p:nvGraphicFramePr><p:cNvPr id="6" name="Content Placeholder 5" /><p:cNvGraphicFramePr><a:graphicFrameLocks noGrp="1" /></p:cNvGraphicFramePr><p:nvPr><p:ph idx="1" /></p:nvPr></p:nvGraphicFramePr><p:xfrm><a:off x="4495800" y="660400" /><a:ext cx="4406900" cy="3810000" /></p:xfrm><a:graphic><a:graphicData uri="http://schemas.openxmlformats.org/drawingml/2006/table"><a:tbl><a:tblPr firstRow="1" bandRow="1"><a:tableStyleId>{5C22544A-7EE6-4342-B048-85BDC9FD1C3A}</a:tableStyleId></a:tblPr><a:tblGrid><a:gridCol w="1536700" /><a:gridCol w="2870200" /></a:tblGrid><a:tr h="0"><a:tc><a:txBody><a:bodyPr /><a:lstStyle /><a:p><a:pPr lvl="0" indent="0" marL="0"><a:buNone /></a:pPr><a:r><a:rPr /><a:t>Piece</a:t></a:r></a:p></a:txBody><a:tcPr /></a:tc><a:tc><a:txBody><a:bodyPr /><a:lstStyle /><a:p><a:pPr lvl="0" indent="0" marL="0"><a:buNone /></a:pPr><a:r><a:rPr /><a:t>Our leaves</a:t></a:r></a:p></a:txBody><a:tcPr /></a:tc></a:tr><a:tr h="0"><a:tc><a:txBody><a:bodyPr /><a:lstStyle /><a:p><a:pPr lvl="0" indent="0" marL="0"><a:buNone /></a:pPr><a:r><a:rPr /><a:t>Group 1</a:t></a:r></a:p></a:txBody></a:tc><a:tc><a:txBody><a:bodyPr /><a:lstStyle /><a:p><a:pPr lvl="0" indent="0" marL="0"><a:buNone /></a:pPr><a:r><a:rPr /><a:t>Shady leaves</a:t></a:r></a:p></a:txBody></a:tc></a:tr><a:tr h="0"><a:tc><a:txBody><a:bodyPr /><a:lstStyle /><a:p><a:pPr lvl="0" indent="0" marL="0"><a:buNone /></a:pPr><a:r><a:rPr /><a:t>Group 2</a:t></a:r></a:p></a:txBody></a:tc><a:tc><a:txBody><a:bodyPr /><a:lstStyle /><a:p><a:pPr lvl="0" indent="0" marL="0"><a:buNone /></a:pPr><a:r><a:rPr /><a:t>Sunny leaves</a:t></a:r></a:p></a:txBody></a:tc></a:tr><a:tr h="0"><a:tc><a:txBody><a:bodyPr /><a:lstStyle /><a:p><a:pPr lvl="0" indent="0" marL="0"><a:buNone /></a:pPr><a:r><a:rPr /><a:t>Measured</a:t></a:r></a:p></a:txBody></a:tc><a:tc><a:txBody><a:bodyPr /><a:lstStyle /><a:p><a:pPr lvl="0" indent="0" marL="0"><a:buNone /></a:pPr><a:r><a:rPr><a:latin typeface="Courier" /></a:rPr><a:t>mass_g</a:t></a:r></a:p></a:txBody></a:tc></a:tr><a:tr h="0"><a:tc><a:txBody><a:bodyPr /><a:lstStyle /><a:p><a:pPr lvl="0" indent="0" marL="0"><a:buNone /></a:pPr><a:r><a:rPr /><a:t>H₀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/a:p></a:txBody></a:tc></a:tr><a:tr h="0"><a:tc><a:txBody><a:bodyPr /><a:lstStyle /><a:p><a:pPr lvl="0" indent="0" marL="0"><a:buNone /></a:pPr><a:r><a:rPr /><a:t>Hₐ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/a:p></a:txBody></a:tc></a:tr></a:tbl></a:graphicData></a:graphic></p:graphicFrame></p:spTree></p:cSld>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Why Welch’s? — Don’t Assume Equal Variance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 are two versions of the two-sample t-test:</a:t>
            </a:r>
          </a:p>
          <a:p>
            <a:pPr lvl="0"/>
            <a:r>
              <a:rPr b="1"/>
              <a:t>Standard (Student’s) t-test</a:t>
            </a:r>
            <a:r>
              <a:rPr/>
              <a:t> — assumes both groups have the </a:t>
            </a:r>
            <a:r>
              <a:rPr b="1"/>
              <a:t>same spread</a:t>
            </a:r>
          </a:p>
          <a:p>
            <a:pPr lvl="0"/>
            <a:r>
              <a:rPr b="1"/>
              <a:t>Welch’s t-test</a:t>
            </a:r>
            <a:r>
              <a:rPr/>
              <a:t> — lets each group have </a:t>
            </a:r>
            <a:r>
              <a:rPr b="1"/>
              <a:t>its own spread</a:t>
            </a:r>
          </a:p>
          <a:p>
            <a:pPr lvl="0" indent="0" marL="0">
              <a:buNone/>
            </a:pPr>
            <a:r>
              <a:rPr/>
              <a:t>When the spreads really are equal, both give almost the same answer. When they are not, the standard test gives </a:t>
            </a:r>
            <a:r>
              <a:rPr b="1"/>
              <a:t>too many false positives</a:t>
            </a:r>
            <a:r>
              <a:rPr/>
              <a:t>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practice:</a:t>
            </a:r>
            <a:r>
              <a:rPr sz="2000"/>
              <a:t> use </a:t>
            </a:r>
            <a:r>
              <a:rPr sz="2000" b="1"/>
              <a:t>Welch’s</a:t>
            </a:r>
            <a:r>
              <a:rPr sz="2000"/>
              <a:t> as your default for every two-group comparison.</a:t>
            </a:r>
          </a:p>
          <a:p>
            <a:pPr lvl="0" indent="0" marL="1270000">
              <a:buNone/>
            </a:pPr>
            <a:r>
              <a:rPr sz="2000"/>
              <a:t>In R: </a:t>
            </a:r>
            <a:r>
              <a:rPr sz="2000" b="1">
                <a:latin typeface="Courier"/>
              </a:rPr>
              <a:t>var.equal = FALSE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9 Parts 1–2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Do Activity Parts 1–2 now</a:t>
            </a:r>
          </a:p>
          <a:p>
            <a:pPr lvl="0" indent="0" marL="0">
              <a:buNone/>
            </a:pPr>
            <a:r>
              <a:rPr/>
              <a:t>Load the data and recompute the group means and SDs. Predict each output, type it, run it.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3 · Steps 1–3: Hypotheses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writing H₀ / Hₐ, checking normality three ways (histogram, </a:t>
            </a:r>
            <a:r>
              <a:rPr b="1"/>
              <a:t>QQ plot</a:t>
            </a:r>
            <a:r>
              <a:rPr/>
              <a:t>, Shapiro-Wilk), and checking equal variance (Levene’s).</a:t>
            </a:r>
          </a:p>
          <a:p>
            <a:pPr lvl="0" indent="0" marL="0">
              <a:buNone/>
            </a:pPr>
            <a:r>
              <a:rPr b="1"/>
              <a:t>🛑 After this chunk: Activity Parts 3–7</a:t>
            </a:r>
            <a:r>
              <a:rPr/>
              <a:t> (hypotheses, histogram, box plot + QQ plot, Shapiro-Wilk, Levene’s).</a:t>
            </a:r>
          </a:p>
        </p:txBody>
      </p:sp>
    </p:spTree>
  </p:cSld>
</p:sld>
</file>

<file path=ppt/slides/slide12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139485" y="78119" /><a:ext cx="8229600" cy="607682" /></a:xfrm></p:spPr><p:txBody><a:bodyPr /><a:lstStyle /><a:p><a:pPr lvl="0" indent="0" marL="0"><a:buNone /></a:pPr><a:r><a:rPr /><a:t>Step 1 — Hypotheses</a:t></a:r></a:p></p:txBody></p:sp><p:sp><p:nvSpPr><p:cNvPr id="3" name="Text Placeholder 2" /><p:cNvSpPr><a:spLocks noGrp="1" /></p:cNvSpPr><p:nvPr><p:ph idx="1" type="body" /></p:nvPr></p:nvSpPr><p:spPr /><p:txBody><a:bodyPr /><a:lstStyle /><a:p><a:pPr lvl="0" indent="0" marL="0"><a:buNone /></a:pPr><a:r><a:rPr b="1" /><a:t>Biological prediction:</a:t></a:r><a:r><a:rPr /><a:t> shady-side leaves will be </a:t></a:r><a:r><a:rPr b="1" /><a:t>larger and heavier</a:t></a:r><a:r><a:rPr /><a:t> — they need more surface area to capture the limited light under the canopy.</a:t></a:r></a:p></p:txBody></p:sp><p:graphicFrame><p:nvGraphicFramePr><p:cNvPr id="6" name="Content Placeholder 5" /><p:cNvGraphicFramePr><a:graphicFrameLocks noGrp="1" /></p:cNvGraphicFramePr><p:nvPr><p:ph idx="1" /></p:nvPr></p:nvGraphicFramePr><p:xfrm><a:off x="127000" y="1270000" /><a:ext cx="4432300" cy="3302000" /></p:xfrm><a:graphic><a:graphicData uri="http://schemas.openxmlformats.org/drawingml/2006/table"><a:tbl><a:tblPr firstRow="1" bandRow="1"><a:tableStyleId>{5C22544A-7EE6-4342-B048-85BDC9FD1C3A}</a:tableStyleId></a:tblPr><a:tblGrid><a:gridCol w="1333500" /><a:gridCol w="3098800" /></a:tblGrid><a:tr h="0"><a:tc><a:txBody><a:bodyPr /><a:lstStyle /><a:p><a:endParaRPr /></a:p></a:txBody><a:tcPr /></a:tc><a:tc><a:txBody><a:bodyPr /><a:lstStyle /><a:p><a:pPr lvl="0" indent="0" marL="0"><a:buNone /></a:pPr><a:r><a:rPr /><a:t>Formal statement</a:t></a:r></a:p></a:txBody><a:tcPr /></a:tc></a:tr><a:tr h="0"><a:tc><a:txBody><a:bodyPr /><a:lstStyle /><a:p><a:pPr lvl="0" indent="0" marL="0"><a:buNone /></a:pPr><a:r><a:rPr b="1" /><a:t>H₀ — null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=</m:t></m:r><m:sSub><m:e><m:r><m:t>μ</m:t></m:r></m:e><m:sub><m:r><m:t>s</m:t></m:r><m:r><m:t>u</m:t></m:r><m:r><m:t>n</m:t></m:r><m:r><m:t>n</m:t></m:r><m:r><m:t>y</m:t></m:r></m:sub></m:sSub></m:oMath></a14:m><a:r><a:rPr /><a:t> — no difference in mean leaf mass</a:t></a:r></a:p></a:txBody></a:tc></a:tr><a:tr h="0"><a:tc><a:txBody><a:bodyPr /><a:lstStyle /><a:p><a:pPr lvl="0" indent="0" marL="0"><a:buNone /></a:pPr><a:r><a:rPr b="1" /><a:t>Hₐ — alternate</a:t></a:r></a:p></a:txBody></a:tc><a:tc><a:txBody><a:bodyPr /><a:lstStyle /><a:p><a:pPr lvl="0" indent="0" marL="0"><a:buNone /></a:pPr><a14:m><m:oMath xmlns:m="http://schemas.openxmlformats.org/officeDocument/2006/math"><m:sSub><m:e><m:r><m:t>μ</m:t></m:r></m:e><m:sub><m:r><m:t>s</m:t></m:r><m:r><m:t>h</m:t></m:r><m:r><m:t>a</m:t></m:r><m:r><m:t>d</m:t></m:r><m:r><m:t>y</m:t></m:r></m:sub></m:sSub><m:r><m:rPr><m:sty m:val="p" /></m:rPr><m:t>≠</m:t></m:r><m:sSub><m:e><m:r><m:t>μ</m:t></m:r></m:e><m:sub><m:r><m:t>s</m:t></m:r><m:r><m:t>u</m:t></m:r><m:r><m:t>n</m:t></m:r><m:r><m:t>n</m:t></m:r><m:r><m:t>y</m:t></m:r></m:sub></m:sSub></m:oMath></a14:m><a:r><a:rPr /><a:t> — mean leaf mass differs by side</a:t></a:r></a:p></a:txBody></a:tc></a:tr></a:tbl></a:graphicData></a:graphic></p:graphicFrame><p:sp><p:nvSpPr><p:cNvPr id="4" name="Content Placeholder 3" /><p:cNvSpPr><a:spLocks noGrp="1" /></p:cNvSpPr><p:nvPr><p:ph idx="2" sz="half" /></p:nvPr></p:nvSpPr><p:spPr /><p:txBody><a:bodyPr /><a:lstStyle /><a:p><a:pPr lvl="0" indent="0" marL="0"><a:buNone /></a:pPr><a:r><a:rPr b="1" /><a:t>Two-tailed</a:t></a:r><a:r><a:rPr /><a:t> — detects a difference in </a:t></a:r><a:r><a:rPr i="1" /><a:t>either</a:t></a:r><a:r><a:rPr /><a:t> direction. </a:t></a:r><a:r><a:rPr b="1" /><a:t>α = 0.05</a:t></a:r><a:r><a:rPr /><a:t> — reject H₀ if </a:t></a:r><a:r><a:rPr i="1" /><a:t>p</a:t></a:r><a:r><a:rPr /><a:t> &lt; 0.05.</a:t></a:r></a:p></p:txBody></p:sp><p:sp><p:nvSpPr><p:cNvPr id="5" name="Text Placeholder 4" /><p:cNvSpPr><a:spLocks noGrp="1" /></p:cNvSpPr><p:nvPr><p:ph idx="3" sz="quarter" type="body" /></p:nvPr></p:nvSpPr><p:spPr /><p:txBody><a:bodyPr /><a:lstStyle /><a:p><a:pPr lvl="0" indent="0" marL="0"><a:buNone /></a:pPr><a:r><a:rPr b="1" /><a:t>Why two-tailed when we predicted shady &gt; sunny?</a:t></a:r></a:p><a:p><a:pPr lvl="0" /><a:r><a:rPr /><a:t>A one-tailed test only looks in one direction</a:t></a:r></a:p><a:p><a:pPr lvl="0" /><a:r><a:rPr /><a:t>Two-tailed is </a:t></a:r><a:r><a:rPr b="1" /><a:t>more conservative</a:t></a:r><a:r><a:rPr /><a:t> and the standard in most journals</a:t></a:r></a:p><a:p><a:pPr lvl="0" indent="0" marL="0"><a:buNone /></a:pPr><a:r><a:rPr b="1" /><a:t>Why write hypotheses first?</a:t></a:r></a:p><a:p><a:pPr lvl="0" /><a:r><a:rPr /><a:t>Keeps the analysis honest</a:t></a:r></a:p><a:p><a:pPr lvl="0" /><a:r><a:rPr /><a:t>Prevents “HARKing” — </a:t></a:r><a:r><a:rPr b="1" /><a:t>H</a:t></a:r><a:r><a:rPr /><a:t>ypothesizing </a:t></a:r><a:r><a:rPr b="1" /><a:t>A</a:t></a:r><a:r><a:rPr /><a:t>fter the </a:t></a:r><a:r><a:rPr b="1" /><a:t>R</a:t></a:r><a:r><a:rPr /><a:t>esults are </a:t></a:r><a:r><a:rPr b="1" /><a:t>K</a:t></a:r><a:r><a:rPr /><a:t>nown</a:t></a:r></a:p></p:txBody></p:sp></p:spTree></p:cSld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Normality: Histograms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Histograms stacked in one column — same x-axis 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geom_histogram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binwidth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0.05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shade, </a:t>
            </a:r>
            <a:r>
              <a:rPr>
                <a:solidFill>
                  <a:srgbClr val="657422"/>
                </a:solidFill>
                <a:latin typeface="Courier"/>
              </a:rPr>
              <a:t>ncol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"Count"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hist_norm_plot</a:t>
            </a:r>
          </a:p>
        </p:txBody>
      </p:sp>
      <p:pic>
        <p:nvPicPr>
          <p:cNvPr descr="t_tests_lecture_files/figure-pptx/histogram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485900"/>
            <a:ext cx="4432300" cy="2870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>
                <a:latin typeface="Courier"/>
              </a:rPr>
              <a:t>ncol = 1</a:t>
            </a:r>
            <a:r>
              <a:rPr b="1"/>
              <a:t> stacks the panels.</a:t>
            </a:r>
            <a:r>
              <a:rPr/>
              <a:t> Both share one x-axis, so you can see at a glance:</a:t>
            </a:r>
          </a:p>
          <a:p>
            <a:pPr lvl="0"/>
            <a:r>
              <a:rPr/>
              <a:t>where each group is </a:t>
            </a:r>
            <a:r>
              <a:rPr b="1"/>
              <a:t>centered</a:t>
            </a:r>
          </a:p>
          <a:p>
            <a:pPr lvl="0"/>
            <a:r>
              <a:rPr/>
              <a:t>how </a:t>
            </a:r>
            <a:r>
              <a:rPr b="1"/>
              <a:t>wide</a:t>
            </a:r>
            <a:r>
              <a:rPr/>
              <a:t> each group spreads</a:t>
            </a:r>
          </a:p>
          <a:p>
            <a:pPr lvl="0"/>
            <a:r>
              <a:rPr/>
              <a:t>which group has the </a:t>
            </a:r>
            <a:r>
              <a:rPr b="1"/>
              <a:t>long tail</a:t>
            </a:r>
          </a:p>
          <a:p>
            <a:pPr lvl="0" indent="0" marL="0">
              <a:buNone/>
            </a:pPr>
            <a:r>
              <a:rPr b="1"/>
              <a:t>What to look for:</a:t>
            </a:r>
          </a:p>
          <a:p>
            <a:pPr lvl="0"/>
            <a:r>
              <a:rPr/>
              <a:t>Roughly </a:t>
            </a:r>
            <a:r>
              <a:rPr b="1"/>
              <a:t>bell-shaped</a:t>
            </a:r>
            <a:r>
              <a:rPr/>
              <a:t> — one hump, not badly lopsided</a:t>
            </a:r>
          </a:p>
          <a:p>
            <a:pPr lvl="0"/>
            <a:r>
              <a:rPr/>
              <a:t>No big </a:t>
            </a:r>
            <a:r>
              <a:rPr b="1"/>
              <a:t>outliers</a:t>
            </a:r>
            <a:r>
              <a:rPr/>
              <a:t> far from the rest</a:t>
            </a:r>
          </a:p>
          <a:p>
            <a:pPr lvl="0" indent="0" marL="0">
              <a:buNone/>
            </a:pPr>
            <a:r>
              <a:rPr/>
              <a:t>With ~25 leaves the bars are lumpy — that’s normal for real data. It’s hard to judge “bell-shaped” by eye, which is why we add a </a:t>
            </a:r>
            <a:r>
              <a:rPr b="1"/>
              <a:t>QQ plot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First: What Is a Quantile? (you already know one)</a:t>
            </a:r>
          </a:p>
        </p:txBody>
      </p:sp>
      <p:pic>
        <p:nvPicPr>
          <p:cNvPr descr="t_tests_lecture_files/figure-pptx/quantile-box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270000"/>
            <a:ext cx="4191000" cy="257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quantile</a:t>
            </a:r>
            <a:r>
              <a:rPr/>
              <a:t> is a value that a certain percent of the data falls below.</a:t>
            </a:r>
          </a:p>
          <a:p>
            <a:pPr lvl="0" indent="0" marL="0">
              <a:buNone/>
            </a:pPr>
            <a:r>
              <a:rPr/>
              <a:t>The box plot already shows three of them:</a:t>
            </a:r>
          </a:p>
          <a:p>
            <a:pPr lvl="0"/>
            <a:r>
              <a:rPr b="1"/>
              <a:t>Q1</a:t>
            </a:r>
            <a:r>
              <a:rPr/>
              <a:t> (25th percentile) — bottom of the box</a:t>
            </a:r>
          </a:p>
          <a:p>
            <a:pPr lvl="0"/>
            <a:r>
              <a:rPr b="1"/>
              <a:t>Median</a:t>
            </a:r>
            <a:r>
              <a:rPr/>
              <a:t> (50th) — the line in the middle</a:t>
            </a:r>
          </a:p>
          <a:p>
            <a:pPr lvl="0"/>
            <a:r>
              <a:rPr b="1"/>
              <a:t>Q3</a:t>
            </a:r>
            <a:r>
              <a:rPr/>
              <a:t> (75th) — top of the box</a:t>
            </a:r>
          </a:p>
          <a:p>
            <a:pPr lvl="0" indent="0" marL="0">
              <a:buNone/>
            </a:pPr>
            <a:r>
              <a:rPr/>
              <a:t>A QQ plot uses </a:t>
            </a:r>
            <a:r>
              <a:rPr b="1"/>
              <a:t>every</a:t>
            </a:r>
            <a:r>
              <a:rPr/>
              <a:t> leaf as a quantile, not just three — and asks whether they are spaced the way a </a:t>
            </a:r>
            <a:r>
              <a:rPr b="1"/>
              <a:t>normal</a:t>
            </a:r>
            <a:r>
              <a:rPr/>
              <a:t> (bell-curve) distribution would space them.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a QQ Plot Works</a:t>
            </a:r>
          </a:p>
        </p:txBody>
      </p:sp>
      <p:pic>
        <p:nvPicPr>
          <p:cNvPr descr="t_tests_lecture_files/figure-pptx/qq-explai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206500"/>
            <a:ext cx="4191000" cy="2705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R does for you:</a:t>
            </a:r>
          </a:p>
          <a:p>
            <a:pPr lvl="0" indent="-342900" marL="342900">
              <a:buAutoNum type="arabicPeriod"/>
            </a:pPr>
            <a:r>
              <a:rPr b="1"/>
              <a:t>Sorts</a:t>
            </a:r>
            <a:r>
              <a:rPr/>
              <a:t> the leaves from lightest to heaviest (the y-axis)</a:t>
            </a:r>
          </a:p>
          <a:p>
            <a:pPr lvl="0" indent="-342900" marL="342900">
              <a:buAutoNum type="arabicPeriod"/>
            </a:pPr>
            <a:r>
              <a:rPr/>
              <a:t>Works out where each leaf </a:t>
            </a:r>
            <a:r>
              <a:rPr b="1"/>
              <a:t>would</a:t>
            </a:r>
            <a:r>
              <a:rPr/>
              <a:t> sit if the data were perfectly </a:t>
            </a:r>
            <a:r>
              <a:rPr b="1"/>
              <a:t>normal</a:t>
            </a:r>
            <a:r>
              <a:rPr/>
              <a:t> (the x-axis, in SD units: −2 … 0 … +2)</a:t>
            </a:r>
          </a:p>
          <a:p>
            <a:pPr lvl="0" indent="-342900" marL="342900">
              <a:buAutoNum type="arabicPeriod"/>
            </a:pPr>
            <a:r>
              <a:rPr/>
              <a:t>Plots </a:t>
            </a:r>
            <a:r>
              <a:rPr b="1"/>
              <a:t>actual vs. expected</a:t>
            </a:r>
            <a:r>
              <a:rPr/>
              <a:t> — one dot per leaf</a:t>
            </a:r>
          </a:p>
          <a:p>
            <a:pPr lvl="0" indent="0" marL="0">
              <a:buNone/>
            </a:pPr>
            <a:r>
              <a:rPr b="1"/>
              <a:t>Straight line = normal.</a:t>
            </a:r>
          </a:p>
          <a:p>
            <a:pPr lvl="0" indent="0" marL="0">
              <a:buNone/>
            </a:pPr>
            <a:r>
              <a:rPr/>
              <a:t>The dashed lines connect the </a:t>
            </a:r>
            <a:r>
              <a:rPr b="1"/>
              <a:t>box plot’s</a:t>
            </a:r>
            <a:r>
              <a:rPr/>
              <a:t> Q1, median, and Q3 to the same leaves on the QQ plot. The middle half of the dots is the box.</a:t>
            </a:r>
          </a:p>
          <a:p>
            <a:pPr lvl="0" indent="0" marL="0">
              <a:buNone/>
            </a:pPr>
            <a:r>
              <a:rPr/>
              <a:t>Here the heaviest few shady leaves </a:t>
            </a:r>
            <a:r>
              <a:rPr b="1"/>
              <a:t>bend up</a:t>
            </a:r>
            <a:r>
              <a:rPr/>
              <a:t> above the line — a </a:t>
            </a:r>
            <a:r>
              <a:rPr b="1"/>
              <a:t>long right tail</a:t>
            </a:r>
            <a:r>
              <a:rPr/>
              <a:t>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Good and Bad QQ Plots Look Like</a:t>
            </a:r>
          </a:p>
        </p:txBody>
      </p:sp>
      <p:pic>
        <p:nvPicPr>
          <p:cNvPr descr="t_tests_lecture_files/figure-pptx/qq-example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0" y="1257300"/>
            <a:ext cx="41910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Made-up data, 30 values each. </a:t>
            </a:r>
            <a:r>
              <a:rPr b="1"/>
              <a:t>Top:</a:t>
            </a:r>
            <a:r>
              <a:rPr/>
              <a:t> histogram. </a:t>
            </a:r>
            <a:r>
              <a:rPr b="1"/>
              <a:t>Bottom:</a:t>
            </a:r>
            <a:r>
              <a:rPr/>
              <a:t> QQ plot of the same values.</a:t>
            </a:r>
          </a:p>
          <a:p>
            <a:pPr lvl="0"/>
            <a:r>
              <a:rPr b="1"/>
              <a:t>Normal:</a:t>
            </a:r>
            <a:r>
              <a:rPr/>
              <a:t> dots hug the line</a:t>
            </a:r>
          </a:p>
          <a:p>
            <a:pPr lvl="0"/>
            <a:r>
              <a:rPr b="1"/>
              <a:t>Skewed:</a:t>
            </a:r>
            <a:r>
              <a:rPr/>
              <a:t> dots curve away at one end (a banana shape)</a:t>
            </a:r>
          </a:p>
          <a:p>
            <a:pPr lvl="0"/>
            <a:r>
              <a:rPr b="1"/>
              <a:t>Outliers:</a:t>
            </a:r>
            <a:r>
              <a:rPr/>
              <a:t> a few dots jump off the line at an end</a:t>
            </a:r>
          </a:p>
          <a:p>
            <a:pPr lvl="0" indent="0" marL="0">
              <a:buNone/>
            </a:pPr>
            <a:r>
              <a:rPr/>
              <a:t>A little wiggle at the very ends is fine — look for a </a:t>
            </a:r>
            <a:r>
              <a:rPr b="1"/>
              <a:t>clear bend</a:t>
            </a:r>
            <a:r>
              <a:rPr/>
              <a:t>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Normality: Our QQ Plots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QQ plot per group — dots should follow the line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qq_plot &lt;- 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sample =</a:t>
            </a:r>
            <a:r>
              <a:rPr>
                <a:solidFill>
                  <a:srgbClr val="003B4F"/>
                </a:solidFill>
                <a:latin typeface="Courier"/>
              </a:rPr>
              <a:t> mass_g,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shade))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stat_qq_line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"black"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shade)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"Theoretical Quantiles"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"Leaf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qq_plot</a:t>
            </a:r>
          </a:p>
        </p:txBody>
      </p:sp>
      <p:pic>
        <p:nvPicPr>
          <p:cNvPr descr="t_tests_lecture_files/figure-pptx/qq-nor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562100"/>
            <a:ext cx="44323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New pieces:</a:t>
            </a:r>
          </a:p>
          <a:p>
            <a:pPr lvl="0"/>
            <a:r>
              <a:rPr>
                <a:latin typeface="Courier"/>
              </a:rPr>
              <a:t>aes(sample = mass_g)</a:t>
            </a:r>
            <a:r>
              <a:rPr/>
              <a:t> — a QQ plot takes </a:t>
            </a:r>
            <a:r>
              <a:rPr b="1">
                <a:latin typeface="Courier"/>
              </a:rPr>
              <a:t>sample =</a:t>
            </a:r>
            <a:r>
              <a:rPr/>
              <a:t>, not </a:t>
            </a:r>
            <a:r>
              <a:rPr>
                <a:latin typeface="Courier"/>
              </a:rPr>
              <a:t>x =</a:t>
            </a:r>
            <a:r>
              <a:rPr/>
              <a:t> / </a:t>
            </a:r>
            <a:r>
              <a:rPr>
                <a:latin typeface="Courier"/>
              </a:rPr>
              <a:t>y =</a:t>
            </a:r>
          </a:p>
          <a:p>
            <a:pPr lvl="0"/>
            <a:r>
              <a:rPr>
                <a:latin typeface="Courier"/>
              </a:rPr>
              <a:t>stat_qq()</a:t>
            </a:r>
            <a:r>
              <a:rPr/>
              <a:t> — draws one dot per leaf</a:t>
            </a:r>
          </a:p>
          <a:p>
            <a:pPr lvl="0"/>
            <a:r>
              <a:rPr>
                <a:latin typeface="Courier"/>
              </a:rPr>
              <a:t>stat_qq_line()</a:t>
            </a:r>
            <a:r>
              <a:rPr/>
              <a:t> — draws the “perfectly normal” line</a:t>
            </a:r>
          </a:p>
          <a:p>
            <a:pPr lvl="0" indent="0" marL="0">
              <a:buNone/>
            </a:pPr>
            <a:r>
              <a:rPr b="1"/>
              <a:t>What do you see?</a:t>
            </a:r>
          </a:p>
          <a:p>
            <a:pPr lvl="0"/>
            <a:r>
              <a:rPr b="1"/>
              <a:t>Sunny:</a:t>
            </a:r>
            <a:r>
              <a:rPr/>
              <a:t> dots follow the line well</a:t>
            </a:r>
          </a:p>
          <a:p>
            <a:pPr lvl="0"/>
            <a:r>
              <a:rPr b="1"/>
              <a:t>Shady:</a:t>
            </a:r>
            <a:r>
              <a:rPr/>
              <a:t> mostly on the line, but the heaviest leaves bend </a:t>
            </a:r>
            <a:r>
              <a:rPr b="1"/>
              <a:t>up</a:t>
            </a:r>
            <a:r>
              <a:rPr/>
              <a:t> — the same right tail you saw in the histogram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2 — Normality: Shapiro-Wilk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Shapiro-Wilk’s H₀ is “the data are normal.” From the QQ plots, predict for each side: will </a:t>
            </a:r>
            <a:r>
              <a:rPr sz="2000" i="1"/>
              <a:t>p</a:t>
            </a:r>
            <a:r>
              <a:rPr sz="2000"/>
              <a:t> be </a:t>
            </a:r>
            <a:r>
              <a:rPr sz="2000" b="1"/>
              <a:t>above</a:t>
            </a:r>
            <a:r>
              <a:rPr sz="2000"/>
              <a:t> or </a:t>
            </a:r>
            <a:r>
              <a:rPr sz="2000" b="1"/>
              <a:t>below</a:t>
            </a:r>
            <a:r>
              <a:rPr sz="2000"/>
              <a:t> 0.05?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Shapiro-Wilk p-value for each side 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(shade)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shapiro_p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shapiro.test</a:t>
            </a:r>
            <a:r>
              <a:rPr>
                <a:solidFill>
                  <a:srgbClr val="003B4F"/>
                </a:solidFill>
                <a:latin typeface="Courier"/>
              </a:rPr>
              <a:t>(mass_g)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p.value)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2 × 2
  shade shapiro_p
  &lt;chr&gt;     &lt;dbl&gt;
1 shady    0.0427
2 sunny    0.288 </a:t>
            </a:r>
          </a:p>
          <a:p>
            <a:pPr lvl="0" indent="0" marL="0">
              <a:buNone/>
            </a:pPr>
            <a:r>
              <a:rPr/>
              <a:t>Same </a:t>
            </a:r>
            <a:r>
              <a:rPr>
                <a:latin typeface="Courier"/>
              </a:rPr>
              <a:t>group_by()</a:t>
            </a:r>
            <a:r>
              <a:rPr/>
              <a:t> + </a:t>
            </a:r>
            <a:r>
              <a:rPr>
                <a:latin typeface="Courier"/>
              </a:rPr>
              <a:t>summarize()</a:t>
            </a:r>
            <a:r>
              <a:rPr/>
              <a:t> as for means — it runs the test once per side. </a:t>
            </a:r>
            <a:r>
              <a:rPr>
                <a:latin typeface="Courier"/>
              </a:rPr>
              <a:t>$p.value</a:t>
            </a:r>
            <a:r>
              <a:rPr/>
              <a:t> pulls out just the </a:t>
            </a:r>
            <a:r>
              <a:rPr i="1"/>
              <a:t>p</a:t>
            </a:r>
            <a:r>
              <a:rPr/>
              <a:t>-value.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Shapiro-Wilk H₀:</a:t>
            </a:r>
            <a:r>
              <a:rPr/>
              <a:t> the data are normal.</a:t>
            </a:r>
          </a:p>
          <a:p>
            <a:pPr lvl="0"/>
            <a:r>
              <a:rPr i="1"/>
              <a:t>p</a:t>
            </a:r>
            <a:r>
              <a:rPr/>
              <a:t> &gt; 0.05 → no evidence against normality → go ahead</a:t>
            </a:r>
          </a:p>
          <a:p>
            <a:pPr lvl="0"/>
            <a:r>
              <a:rPr i="1"/>
              <a:t>p</a:t>
            </a:r>
            <a:r>
              <a:rPr/>
              <a:t> &lt; 0.05 → evidence of non-normality → look hard at the plots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plot comes first; the test backs it up.</a:t>
            </a:r>
          </a:p>
          <a:p>
            <a:pPr lvl="0" indent="0" marL="1270000">
              <a:buNone/>
            </a:pPr>
            <a:r>
              <a:rPr sz="2000"/>
              <a:t>Shady is just under 0.05 — matching the bend we saw in the QQ plot. A mild tail like this is not a reason to abandon the t-test; it is robust to small departures.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Step 3 — Check Variance: Levene’s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Levene's test — are the spreads similar? 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leveneTest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leaf_df)</a:t>
            </a:r>
          </a:p>
          <a:p>
            <a:pPr lvl="0" indent="0">
              <a:buNone/>
            </a:pPr>
            <a:r>
              <a:rPr>
                <a:latin typeface="Courier"/>
              </a:rPr>
              <a:t>Levene's Test for Homogeneity of Variance (center = median)
      Df F value  Pr(&gt;F)  
group  1  2.9667 0.09105 .
      51                  
---
Signif. codes:  0 '***' 0.001 '**' 0.01 '*' 0.05 '.' 0.1 ' ' 1</a:t>
            </a:r>
          </a:p>
          <a:p>
            <a:pPr lvl="0" indent="0" marL="0">
              <a:buNone/>
            </a:pPr>
            <a:r>
              <a:rPr/>
              <a:t>Look back at the stacked histograms: which group was </a:t>
            </a:r>
            <a:r>
              <a:rPr b="1"/>
              <a:t>wider</a:t>
            </a:r>
            <a:r>
              <a:rPr/>
              <a:t>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Levene’s H₀:</a:t>
            </a:r>
            <a:r>
              <a:rPr/>
              <a:t> the two groups have </a:t>
            </a:r>
            <a:r>
              <a:rPr b="1"/>
              <a:t>equal variance</a:t>
            </a:r>
            <a:r>
              <a:rPr/>
              <a:t> (spread).</a:t>
            </a:r>
          </a:p>
          <a:p>
            <a:pPr lvl="0"/>
            <a:r>
              <a:rPr i="1"/>
              <a:t>p</a:t>
            </a:r>
            <a:r>
              <a:rPr/>
              <a:t> &gt; 0.05 → spreads are not significantly different</a:t>
            </a:r>
          </a:p>
          <a:p>
            <a:pPr lvl="0"/>
            <a:r>
              <a:rPr i="1"/>
              <a:t>p</a:t>
            </a:r>
            <a:r>
              <a:rPr/>
              <a:t> &lt; 0.05 → spreads are different</a:t>
            </a:r>
          </a:p>
          <a:p>
            <a:pPr lvl="0" indent="0" marL="0">
              <a:buNone/>
            </a:pPr>
            <a:r>
              <a:rPr b="1"/>
              <a:t>Either way we use Welch’s</a:t>
            </a:r>
            <a:r>
              <a:rPr/>
              <a:t> (</a:t>
            </a:r>
            <a:r>
              <a:rPr>
                <a:latin typeface="Courier"/>
              </a:rPr>
              <a:t>var.equal = FALSE</a:t>
            </a:r>
            <a:r>
              <a:rPr/>
              <a:t>). We run Levene’s to </a:t>
            </a:r>
            <a:r>
              <a:rPr i="1"/>
              <a:t>understand our data</a:t>
            </a:r>
            <a:r>
              <a:rPr/>
              <a:t>, not to pick the test.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9 Parts 3–7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9 — Parts 3–7</a:t>
            </a:r>
          </a:p>
          <a:p>
            <a:pPr lvl="0" indent="0" marL="0">
              <a:buNone/>
            </a:pPr>
            <a:r>
              <a:rPr/>
              <a:t>State your hypotheses, then check normality (histograms, box plot + QQ plot, Shapiro-Wilk) and variance (Levene’s). Predict every </a:t>
            </a:r>
            <a:r>
              <a:rPr i="1"/>
              <a:t>p</a:t>
            </a:r>
            <a:r>
              <a:rPr/>
              <a:t>-value before you run it.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3 · Step 4: Run the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running Welch’s t-test now that every assumption is checked. Reading the output line by line is next lecture.</a:t>
            </a:r>
          </a:p>
          <a:p>
            <a:pPr lvl="0" indent="0" marL="0">
              <a:buNone/>
            </a:pPr>
            <a:r>
              <a:rPr b="1"/>
              <a:t>🛑 After this chunk: Activity Part 8</a:t>
            </a:r>
            <a:r>
              <a:rPr/>
              <a:t> (run the t-test).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Step 4 — Run Welch’s t-Test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the means were close and the groups overlap heavily. Above or below 0.05?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Welch's two-sample t-test 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leaf_model &lt;- </a:t>
            </a:r>
            <a:r>
              <a:rPr>
                <a:solidFill>
                  <a:srgbClr val="4758AB"/>
                </a:solidFill>
                <a:latin typeface="Courier"/>
              </a:rPr>
              <a:t>t.test</a:t>
            </a:r>
            <a:r>
              <a:rPr>
                <a:solidFill>
                  <a:srgbClr val="003B4F"/>
                </a:solidFill>
                <a:latin typeface="Courier"/>
              </a:rPr>
              <a:t>(mass_g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shade,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leaf_df,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var.equal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leaf_model</a:t>
            </a:r>
          </a:p>
          <a:p>
            <a:pPr lvl="0" indent="0">
              <a:buNone/>
            </a:pPr>
            <a:r>
              <a:rPr>
                <a:latin typeface="Courier"/>
              </a:rPr>
              <a:t>
    Welch Two Sample t-test
data:  mass_g by shade
t = 0.35579, df = 42.527, p-value = 0.7238
alternative hypothesis: true difference in means between group shady and group sunny is not equal to 0
95 percent confidence interval:
 -0.08392774  0.11987117
sample estimates:
mean in group shady mean in group sunny 
          0.5230357           0.5050640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Reading the formula</a:t>
            </a:r>
            <a:r>
              <a:rPr/>
              <a:t> </a:t>
            </a:r>
            <a:r>
              <a:rPr>
                <a:latin typeface="Courier"/>
              </a:rPr>
              <a:t>mass_g ~ shade</a:t>
            </a:r>
            <a:r>
              <a:rPr/>
              <a:t>:</a:t>
            </a:r>
          </a:p>
          <a:p>
            <a:pPr lvl="0" indent="0" marL="0">
              <a:buNone/>
            </a:pPr>
            <a:r>
              <a:rPr/>
              <a:t>“mass </a:t>
            </a:r>
            <a:r>
              <a:rPr b="1"/>
              <a:t>explained by</a:t>
            </a:r>
            <a:r>
              <a:rPr/>
              <a:t> shade” — the number on the left, the groups on the right.</a:t>
            </a:r>
          </a:p>
          <a:p>
            <a:pPr lvl="0" indent="0" marL="0">
              <a:buNone/>
            </a:pPr>
            <a:r>
              <a:rPr b="1"/>
              <a:t>For today, find three numbers:</a:t>
            </a:r>
          </a:p>
          <a:p>
            <a:pPr lvl="0"/>
            <a:r>
              <a:rPr b="1"/>
              <a:t>t</a:t>
            </a:r>
            <a:r>
              <a:rPr/>
              <a:t> — the signal-to-noise ratio</a:t>
            </a:r>
          </a:p>
          <a:p>
            <a:pPr lvl="0"/>
            <a:r>
              <a:rPr b="1"/>
              <a:t>df</a:t>
            </a:r>
            <a:r>
              <a:rPr/>
              <a:t> — degrees of freedom</a:t>
            </a:r>
          </a:p>
          <a:p>
            <a:pPr lvl="0"/>
            <a:r>
              <a:rPr b="1"/>
              <a:t>p-value</a:t>
            </a:r>
            <a:r>
              <a:rPr/>
              <a:t> — the decision number</a:t>
            </a:r>
          </a:p>
          <a:p>
            <a:pPr lvl="0" indent="0" marL="0">
              <a:buNone/>
            </a:pPr>
            <a:r>
              <a:rPr b="1"/>
              <a:t>Next lecture:</a:t>
            </a:r>
            <a:r>
              <a:rPr/>
              <a:t> every line of this output, writing a results sentence, and the </a:t>
            </a:r>
            <a:r>
              <a:rPr b="1"/>
              <a:t>paired</a:t>
            </a:r>
            <a:r>
              <a:rPr/>
              <a:t> t-test.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→ ACTIVITY 9 Part 8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🛑 Go to Activity 9 — Part 8</a:t>
            </a:r>
          </a:p>
          <a:p>
            <a:pPr lvl="0" indent="0" marL="0">
              <a:buNone/>
            </a:pPr>
            <a:r>
              <a:rPr/>
              <a:t>Run the t-test and record t, df, and </a:t>
            </a:r>
            <a:r>
              <a:rPr i="1"/>
              <a:t>p</a:t>
            </a:r>
            <a:r>
              <a:rPr/>
              <a:t>. Then start </a:t>
            </a:r>
            <a:r>
              <a:rPr b="1"/>
              <a:t>Part 9 — sugar maple</a:t>
            </a:r>
            <a:r>
              <a:rPr/>
              <a:t> (Part B of your skeleton): that is what you hand in.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Why the Checks Matter — Next Lecture’s Choice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lecture you run </a:t>
            </a:r>
            <a:r>
              <a:rPr b="1"/>
              <a:t>two</a:t>
            </a:r>
            <a:r>
              <a:rPr/>
              <a:t> tests on the sugar maple leaves. The checks you do today decide which version is allowed: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27000" y="1270000"/>
          <a:ext cx="44323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9939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Must be roughly normal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Equal spread needed?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Two-sample</a:t>
                      </a:r>
                      <a:r>
                        <a:rPr/>
                        <a:t> (Welch’s)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each group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— Welch’s handles it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Paired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</a:t>
                      </a:r>
                      <a:r>
                        <a:rPr b="1"/>
                        <a:t>differences</a:t>
                      </a:r>
                      <a:r>
                        <a:rPr/>
                        <a:t> within each pair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— only one set of numbers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If normality clearly fails</a:t>
            </a:r>
            <a:r>
              <a:rPr/>
              <a:t> → use the rank-based partner instead (next lecture).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Check first, test second.</a:t>
            </a:r>
          </a:p>
          <a:p>
            <a:pPr lvl="0" indent="0" marL="1270000">
              <a:buNone/>
            </a:pPr>
            <a:r>
              <a:rPr sz="2000"/>
              <a:t>A </a:t>
            </a:r>
            <a:r>
              <a:rPr sz="2000" i="1"/>
              <a:t>p</a:t>
            </a:r>
            <a:r>
              <a:rPr sz="2000"/>
              <a:t>-value from a test whose assumptions are broken can’t be trusted — and you can’t un-see a result. Deciding the test </a:t>
            </a:r>
            <a:r>
              <a:rPr sz="2000" i="1"/>
              <a:t>before</a:t>
            </a:r>
            <a:r>
              <a:rPr sz="2000"/>
              <a:t> you run it keeps you honest.</a:t>
            </a:r>
          </a:p>
          <a:p>
            <a:pPr lvl="0" indent="0" marL="0">
              <a:buNone/>
            </a:pPr>
            <a:r>
              <a:rPr b="1"/>
              <a:t>Your homework (Part B)</a:t>
            </a:r>
            <a:r>
              <a:rPr/>
              <a:t> is exactly this: check the sugar maple data and decide whether a t-test is OK.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Why we need a hypothesis test — means alone are not enough</a:t>
            </a:r>
          </a:p>
          <a:p>
            <a:pPr lvl="0"/>
            <a:r>
              <a:rPr/>
              <a:t>The </a:t>
            </a:r>
            <a:r>
              <a:rPr b="1"/>
              <a:t>five steps</a:t>
            </a:r>
            <a:r>
              <a:rPr/>
              <a:t> we’ll reuse all semester</a:t>
            </a:r>
          </a:p>
          <a:p>
            <a:pPr lvl="0"/>
            <a:r>
              <a:rPr b="1"/>
              <a:t>Welch’s t-test</a:t>
            </a:r>
            <a:r>
              <a:rPr/>
              <a:t> — </a:t>
            </a:r>
            <a:r>
              <a:rPr>
                <a:latin typeface="Courier"/>
              </a:rPr>
              <a:t>var.equal = FALSE</a:t>
            </a:r>
            <a:r>
              <a:rPr/>
              <a:t> is the safe default</a:t>
            </a:r>
          </a:p>
          <a:p>
            <a:pPr lvl="0"/>
            <a:r>
              <a:rPr/>
              <a:t>Checking assumptions </a:t>
            </a:r>
            <a:r>
              <a:rPr b="1"/>
              <a:t>before</a:t>
            </a:r>
            <a:r>
              <a:rPr/>
              <a:t> testing:</a:t>
            </a:r>
          </a:p>
          <a:p>
            <a:pPr lvl="1"/>
            <a:r>
              <a:rPr/>
              <a:t>normality — histograms (</a:t>
            </a:r>
            <a:r>
              <a:rPr>
                <a:latin typeface="Courier"/>
              </a:rPr>
              <a:t>ncol = 1</a:t>
            </a:r>
            <a:r>
              <a:rPr/>
              <a:t>), </a:t>
            </a:r>
            <a:r>
              <a:rPr b="1"/>
              <a:t>QQ plot</a:t>
            </a:r>
            <a:r>
              <a:rPr/>
              <a:t>, Shapiro-Wilk</a:t>
            </a:r>
          </a:p>
          <a:p>
            <a:pPr lvl="1"/>
            <a:r>
              <a:rPr/>
              <a:t>variance — Levene’s</a:t>
            </a:r>
          </a:p>
          <a:p>
            <a:pPr lvl="0"/>
            <a:r>
              <a:rPr/>
              <a:t>The QQ plot: </a:t>
            </a:r>
            <a:r>
              <a:rPr b="1"/>
              <a:t>dots on the line = normal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Hand in:</a:t>
            </a:r>
            <a:r>
              <a:rPr/>
              <a:t> Part B of your skeleton — check the assumptions for the </a:t>
            </a:r>
            <a:r>
              <a:rPr b="1"/>
              <a:t>sugar maple</a:t>
            </a:r>
            <a:r>
              <a:rPr/>
              <a:t> leaves, written by you.</a:t>
            </a:r>
          </a:p>
          <a:p>
            <a:pPr lvl="0" indent="0" marL="0">
              <a:buNone/>
            </a:pPr>
            <a:r>
              <a:rPr b="1"/>
              <a:t>Up next — Lecture 10, T-Tests II:</a:t>
            </a:r>
          </a:p>
          <a:p>
            <a:pPr lvl="0"/>
            <a:r>
              <a:rPr/>
              <a:t>Decode the </a:t>
            </a:r>
            <a:r>
              <a:rPr>
                <a:latin typeface="Courier"/>
              </a:rPr>
              <a:t>t.test()</a:t>
            </a:r>
            <a:r>
              <a:rPr/>
              <a:t> output line by line</a:t>
            </a:r>
          </a:p>
          <a:p>
            <a:pPr lvl="0"/>
            <a:r>
              <a:rPr/>
              <a:t>Make a decision and write a results sentence</a:t>
            </a:r>
          </a:p>
          <a:p>
            <a:pPr lvl="0"/>
            <a:r>
              <a:rPr/>
              <a:t>Two-sample vs. </a:t>
            </a:r>
            <a:r>
              <a:rPr b="1"/>
              <a:t>paired</a:t>
            </a:r>
            <a:r>
              <a:rPr/>
              <a:t> t-tests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09 — T-Tests I: Setting Up the Test</dc:title>
  <dc:creator>Bill Perry</dc:creator>
  <cp:keywords/>
  <dc:description>Why comparing means isn’t enough, why Welch’s is the safe default, checking normality (histogram, QQ plot, Shapiro-Wilk) and variance (Levene’s), then a first run of the t-test.</dc:description>
  <dcterms:created xsi:type="dcterms:W3CDTF">2026-10-22T13:13:46Z</dcterms:created>
  <dcterms:modified xsi:type="dcterms:W3CDTF">2026-10-22T13:13:46Z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9</vt:lpwstr>
  </property>
  <property fmtid="{D5CDD505-2E9C-101B-9397-08002B2CF9AE}" pid="13" name="resources">
    <vt:lpwstr/>
  </property>
  <property fmtid="{D5CDD505-2E9C-101B-9397-08002B2CF9AE}" pid="14" name="subtitle">
    <vt:lpwstr>Hypotheses and checking assumptions before we test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5</vt:lpwstr>
  </property>
</Properties>
</file>