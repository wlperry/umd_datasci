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T-Tests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Hypotheses, the t-statistic, and checking assumptions before we test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  <a:r>
              <a:rPr/>
              <a:t> (Lecture 03, GGPlot I)</a:t>
            </a:r>
          </a:p>
          <a:p>
            <a:pPr lvl="0"/>
            <a:r>
              <a:rPr b="1"/>
              <a:t>Prediction:</a:t>
            </a:r>
            <a:r>
              <a:rPr/>
              <a:t> shady-side leaves would be heavier than sunny-side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We described the pattern in our data. Over the next two lectures we formally test whether the sides really differ — today we set the test up, next time we run it.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Meet</a:t>
            </a:r>
            <a:r>
              <a:rPr/>
              <a:t> the two-sample t-test and why we default to </a:t>
            </a:r>
            <a:r>
              <a:rPr b="1"/>
              <a:t>Welch’s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 + Shapiro-Wilk</a:t>
            </a:r>
          </a:p>
          <a:p>
            <a:pPr lvl="1"/>
            <a:r>
              <a:rPr/>
              <a:t>variance: Levene’s test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of today your data will be fully checked and ready to test. Next lecture, we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mass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mass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</a:t>
            </a:r>
            <a:r>
              <a:rPr sz="2000" i="1"/>
              <a:t>p</a:t>
            </a:r>
            <a:r>
              <a:rPr sz="2000"/>
              <a:t>-value is easy to memorize and hard to actually understand. Guessing “above or below 0.05” </a:t>
            </a:r>
            <a:r>
              <a:rPr sz="2000" i="1"/>
              <a:t>before</a:t>
            </a:r>
            <a:r>
              <a:rPr sz="2000"/>
              <a:t> you see a test result forces you to reason about the test instead of reading a number off the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var.equal = FALSE</a:t>
            </a:r>
            <a:r>
              <a:rPr sz="2000"/>
              <a:t> yourself — rather than pasting it — is what makes you notice it’s there at all, instead of skating past the one argument that separates Welch’s from the standard t-test.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We Test &amp; the t-Statistic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the five-step framework we’ll use for every test this semester, what a two-sample t-test is, and why we default to Welch’s.</a:t>
            </a:r>
          </a:p>
          <a:p>
            <a:pPr lvl="0" indent="0" marL="0">
              <a:buNone/>
            </a:pPr>
            <a:r>
              <a:rPr b="1"/>
              <a:t>🛑 After this chunk: Activity Parts 1–2</a:t>
            </a:r>
            <a:r>
              <a:rPr/>
              <a:t> (load data, recap the descriptive stats).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 means look </a:t>
            </a:r>
            <a:r>
              <a:rPr b="1"/>
              <a:t>close</a:t>
            </a:r>
            <a:r>
              <a:rPr/>
              <a:t> — and with this much scatter, they could easily be the same:</a:t>
            </a:r>
          </a:p>
          <a:p>
            <a:pPr lvl="0"/>
            <a:r>
              <a:rPr/>
              <a:t>About </a:t>
            </a:r>
            <a:r>
              <a:rPr b="1"/>
              <a:t>25 leaves per group</a:t>
            </a:r>
          </a:p>
          <a:p>
            <a:pPr lvl="0"/>
            <a:r>
              <a:rPr/>
              <a:t>Lots of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 heavily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at least this large just by chance?”</a:t>
            </a:r>
          </a:p>
          <a:p>
            <a:pPr lvl="0" indent="0" marL="0">
              <a:buNone/>
            </a:pPr>
            <a:r>
              <a:rPr/>
              <a:t>Large </a:t>
            </a:r>
            <a:r>
              <a:rPr i="1"/>
              <a:t>p</a:t>
            </a:r>
            <a:r>
              <a:rPr/>
              <a:t> → a gap this small is nothing unusual.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hypothesis test this semester — t-test, ANOVA, regression — follows the same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~25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mass_g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Seeing the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 = difference ÷ SE-of-the-difference, and the two means differ by only about 0.02 g. Do you expect |t| to land nearer 0.5, 3, or 10? Predict before the numbers appear.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Watch the instructor plug numbers into the formula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0.018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0.0505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0.356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shady − sunny ≈ </a:t>
                </a:r>
                <a:r>
                  <a:rPr b="1"/>
                  <a:t>0.02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e>
                                <m:r>
                                  <m:t>n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</m:sSub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e>
                                <m:r>
                                  <m:t>n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</m:sSub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</a:t>
                </a:r>
                <a:r>
                  <a:rPr b="1"/>
                  <a:t>well under one standard error</a:t>
                </a:r>
                <a:r>
                  <a:rPr/>
                  <a:t> from zero — right in the range you’d expect if H₀ were true. You’ll try this yourself with a calculator in the activity’s optional section — today the goal is just to see where the number comes from.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 and recompute the group means, SD, and SE. Predict each output, type it, run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Steps 1–3: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stating H₀ / Hₐ formally, checking normality (histogram + Shapiro-Wilk), and checking equal variance (Levene’s).</a:t>
            </a:r>
          </a:p>
          <a:p>
            <a:pPr lvl="0" indent="0" marL="0">
              <a:buNone/>
            </a:pPr>
            <a:r>
              <a:rPr b="1"/>
              <a:t>🛑 After this chunk: Activity Parts 3–6</a:t>
            </a:r>
            <a:r>
              <a:rPr/>
              <a:t> (hypotheses, histogram, Shapiro-Wilk, Levene’s).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mass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masses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~25 per group these are readable, but still lumpy — that is normal for real ecological data.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QQ plot</a:t>
            </a:r>
            <a:r>
              <a:rPr sz="2000"/>
              <a:t> is another common visual check — same idea, different picture. You’ll find one in the activity’s optional section if you want to compare.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histogram you just saw,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0.95266, p-value = 0.2876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0.92364, p-value = 0.0427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One side may fail, the other pass.</a:t>
            </a:r>
          </a:p>
          <a:p>
            <a:pPr lvl="0" indent="0" marL="1270000">
              <a:buNone/>
            </a:pPr>
            <a:r>
              <a:rPr sz="2000"/>
              <a:t>A borderline Shapiro result (</a:t>
            </a:r>
            <a:r>
              <a:rPr sz="2000" i="1"/>
              <a:t>p</a:t>
            </a:r>
            <a:r>
              <a:rPr sz="2000"/>
              <a:t> just under 0.05) with a roughly bell-shaped histogram is not a reason to abandon the t-test — it is robust to mild non-normality. Read the histogram and the test together.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library(car)</a:t>
            </a:r>
            <a:r>
              <a:rPr/>
              <a:t> and run Levene’s: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 marL="0">
              <a:buNone/>
            </a:pPr>
            <a:r>
              <a:rPr/>
              <a:t>R stops with: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leveneTest(mass_g ~ shade, data = leaf_df) :
  could not find function "leveneTest"</a:t>
            </a:r>
          </a:p>
          <a:p>
            <a:pPr lvl="0" indent="0" marL="0">
              <a:buNone/>
            </a:pPr>
            <a:r>
              <a:rPr/>
              <a:t>The fix — load the package that </a:t>
            </a:r>
            <a:r>
              <a:rPr i="1"/>
              <a:t>contains</a:t>
            </a:r>
            <a:r>
              <a:rPr/>
              <a:t> the function: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lives inside </a:t>
            </a:r>
            <a:r>
              <a:rPr sz="2000">
                <a:latin typeface="Courier"/>
              </a:rPr>
              <a:t>car</a:t>
            </a:r>
            <a:r>
              <a:rPr sz="2000"/>
              <a:t>, not base R — so R has no idea what the function is until the package is loaded. Seeing that exact error message once, on purpose, means you won’t waste ten minutes hunting for a typo the next time it happens to you.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3–6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Parts 3–6</a:t>
            </a:r>
          </a:p>
          <a:p>
            <a:pPr lvl="0" indent="0" marL="0">
              <a:buNone/>
            </a:pPr>
            <a:r>
              <a:rPr/>
              <a:t>Close the slides. State your hypotheses, then check normality (histogram + Shapiro-Wilk) and variance (Levene’s). Predict every p-value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/>
              <a:t>The </a:t>
            </a:r>
            <a:r>
              <a:rPr b="1"/>
              <a:t>five-step framework</a:t>
            </a:r>
            <a:r>
              <a:rPr/>
              <a:t> we’ll reuse all semester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/>
              <a:t>Checking assumptions </a:t>
            </a:r>
            <a:r>
              <a:rPr b="1"/>
              <a:t>before</a:t>
            </a:r>
            <a:r>
              <a:rPr/>
              <a:t> testing: normality (histogram + Shapiro-Wilk), variance (Levene’s)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10, T-Tests II:</a:t>
            </a:r>
          </a:p>
          <a:p>
            <a:pPr lvl="0"/>
            <a:r>
              <a:rPr/>
              <a:t>Run Welch’s </a:t>
            </a:r>
            <a:r>
              <a:rPr>
                <a:latin typeface="Courier"/>
              </a:rPr>
              <a:t>t.test()</a:t>
            </a:r>
          </a:p>
          <a:p>
            <a:pPr lvl="0"/>
            <a:r>
              <a:rPr/>
              <a:t>Decode the output line by line</a:t>
            </a:r>
          </a:p>
          <a:p>
            <a:pPr lvl="0"/>
            <a:r>
              <a:rPr/>
              <a:t>Make a formal decision and write a results sentence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T-Tests I: Setting Up the Test</dc:title>
  <dc:creator>Bill Perry</dc:creator>
  <cp:keywords/>
  <dc:description>Why comparing means isn’t enough, the t-statistic, why Welch’s is the safe default, and checking normality and variance before we ever run a test.</dc:description>
  <dcterms:created xsi:type="dcterms:W3CDTF">2026-09-24T13:41:46Z</dcterms:created>
  <dcterms:modified xsi:type="dcterms:W3CDTF">2026-09-24T13:41:46Z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Hypotheses, the t-statistic, and checking assumptions before we test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