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Box 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Quarto report</a:t>
            </a:r>
            <a:r>
              <a:rPr/>
              <a:t> — you already ran a Welch’s t-test once, at the end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Last time we </a:t>
            </a:r>
            <a:r>
              <a:rPr sz="2000" i="1"/>
              <a:t>ran</a:t>
            </a:r>
            <a:r>
              <a:rPr sz="2000"/>
              <a:t> a t-test. Today we slow down and do it properly: state the hypotheses, </a:t>
            </a:r>
            <a:r>
              <a:rPr sz="2000" b="1"/>
              <a:t>check the assumptions</a:t>
            </a:r>
            <a:r>
              <a:rPr sz="2000"/>
              <a:t>, and only then run the test.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the t-test (we decode it next lecture)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+ </a:t>
            </a:r>
            <a:r>
              <a:rPr>
                <a:latin typeface="Courier"/>
              </a:rPr>
              <a:t>stat_qq_line()</a:t>
            </a:r>
            <a:r>
              <a:rPr/>
              <a:t> — QQ plots</a:t>
            </a:r>
          </a:p>
          <a:p>
            <a:pPr lvl="0"/>
            <a:r>
              <a:rPr>
                <a:latin typeface="Courier"/>
              </a:rPr>
              <a:t>shapiro.test()</a:t>
            </a:r>
            <a:r>
              <a:rPr/>
              <a:t> — normality test</a:t>
            </a:r>
          </a:p>
          <a:p>
            <a:pPr lvl="0"/>
            <a:r>
              <a:rPr>
                <a:latin typeface="Courier"/>
              </a:rPr>
              <a:t>car::leveneTest()</a:t>
            </a:r>
            <a:r>
              <a:rPr/>
              <a:t> — variance test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test results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equal variance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checks whether two groups have similar spread.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Why We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 steps we’ll use for every test this semester, what a two-sample t-test does,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answers:</a:t>
            </a:r>
          </a:p>
          <a:p>
            <a:pPr lvl="0" indent="0" marL="1270000">
              <a:buNone/>
            </a:pPr>
            <a:r>
              <a:rPr sz="2000" i="1"/>
              <a:t>“If there were really no difference, how often would we see a gap at least this big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size is nothing unusual.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steps: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400"/>
                <a:gridCol w="2565400"/>
                <a:gridCol w="1333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equal 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 (a first look)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the data badly break the assumptions, the </a:t>
            </a:r>
            <a:r>
              <a:rPr sz="2000" i="1"/>
              <a:t>p</a:t>
            </a:r>
            <a:r>
              <a:rPr sz="2000"/>
              <a:t>-value can’t be trusted.</a:t>
            </a:r>
          </a:p>
          <a:p>
            <a:pPr lvl="0" indent="0" marL="1270000">
              <a:buNone/>
            </a:pPr>
            <a:r>
              <a:rPr sz="2000"/>
              <a:t>With ~25 per group our main worry is </a:t>
            </a:r>
            <a:r>
              <a:rPr sz="2000" b="1"/>
              <a:t>badly</a:t>
            </a:r>
            <a:r>
              <a:rPr sz="2000"/>
              <a:t> non-normal data. The t-test handles mild departures fine.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is the gap between the two means big compared with the scatter inside each group?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r><m:rPr><m:nor /><m:sty m:val="p" /></m:rPr><m:t>difference between the means</m:t></m:r></m:num><m:den><m:r><m:rPr><m:nor /><m:sty m:val="p" /></m:rPr><m:t>noise (scatter) in the data</m:t></m:r></m:den></m:f></m:oMath></m:oMathPara></a14:m></a:p><a:p><a:pPr lvl="0" /><a:r><a:rPr b="1" /><a:t>Big gap, little scatter</a:t></a:r><a:r><a:rPr /><a:t> → big </a:t></a:r><a:r><a:rPr i="1" /><a:t>t</a:t></a:r><a:r><a:rPr /><a:t> → small </a:t></a:r><a:r><a:rPr i="1" /><a:t>p</a:t></a:r><a:r><a:rPr /><a:t>-value</a:t></a:r></a:p><a:p><a:pPr lvl="0" /><a:r><a:rPr b="1" /><a:t>Small gap, lots of scatter</a:t></a:r><a:r><a:rPr /><a:t> → </a:t></a:r><a:r><a:rPr i="1" /><a:t>t</a:t></a:r><a:r><a:rPr /><a:t> near 0 → large </a:t></a:r><a:r><a:rPr i="1" /><a:t>p</a:t></a:r><a:r><a:rPr /><a:t>-value</a:t></a:r></a:p><a:p><a:pPr lvl="0" indent="0" marL="0"><a:buNone /></a:pPr><a:r><a:rPr /><a:t>R does the arithmetic — your job is to set the test up correctly and read the answer.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1536700" /><a:gridCol w="2870200" /></a:tblGrid><a:tr h="0"><a:tc><a:txBody><a:bodyPr /><a:lstStyle /><a:p><a:pPr lvl="0" indent="0" marL="0"><a:buNone /></a:pPr><a:r><a:rPr /><a:t>Piece</a:t></a:r></a:p></a:txBody><a:tcPr /></a:tc><a:tc><a:txBody><a:bodyPr /><a:lstStyle /><a:p><a:pPr lvl="0" indent="0" marL="0"><a:buNone /></a:pPr><a:r><a:rPr /><a:t>Our leaves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Measured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versions of the two-sample t-test:</a:t>
            </a:r>
          </a:p>
          <a:p>
            <a:pPr lvl="0"/>
            <a:r>
              <a:rPr b="1"/>
              <a:t>Standard (Student’s) t-test</a:t>
            </a:r>
            <a:r>
              <a:rPr/>
              <a:t> — assumes both groups have the </a:t>
            </a:r>
            <a:r>
              <a:rPr b="1"/>
              <a:t>same spread</a:t>
            </a:r>
          </a:p>
          <a:p>
            <a:pPr lvl="0"/>
            <a:r>
              <a:rPr b="1"/>
              <a:t>Welch’s t-test</a:t>
            </a:r>
            <a:r>
              <a:rPr/>
              <a:t> — lets each group have </a:t>
            </a:r>
            <a:r>
              <a:rPr b="1"/>
              <a:t>its own spread</a:t>
            </a:r>
          </a:p>
          <a:p>
            <a:pPr lvl="0" indent="0" marL="0">
              <a:buNone/>
            </a:pPr>
            <a:r>
              <a:rPr/>
              <a:t>When the spreads really are equal, both give almost the same answer. When they are not, the standard test gives </a:t>
            </a:r>
            <a:r>
              <a:rPr b="1"/>
              <a:t>too many false positives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 b="1"/>
              <a:t>Welch’s</a:t>
            </a:r>
            <a:r>
              <a:rPr sz="2000"/>
              <a:t> as your default for every two-group comparison.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 and SDs. Predict each output, type it,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writing H₀ / Hₐ, checking normality three ways (histogram, </a:t>
            </a:r>
            <a:r>
              <a:rPr b="1"/>
              <a:t>QQ plot</a:t>
            </a:r>
            <a:r>
              <a:rPr/>
              <a:t>,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3–7</a:t>
            </a:r>
            <a:r>
              <a:rPr/>
              <a:t> (hypotheses, histogram, box plot + QQ plot, Shapiro-Wilk, Levene’s).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Step 1 — Hypotheses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a:r><a:rPr /><a:t> shady-side leaves will be </a:t></a:r><a:r><a:rPr b="1" /><a:t>larger and heavier</a:t></a:r><a:r><a:rPr /><a:t> — they need more surface area to capture the limited light under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333500" /><a:gridCol w="3098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Two-tailed</a:t></a:r><a:r><a:rPr /><a:t> — detects a difference in </a:t></a:r><a:r><a:rPr i="1" /><a:t>either</a:t></a:r><a:r><a:rPr /><a:t> direction. </a:t></a:r><a:r><a:rPr b="1" /><a:t>α = 0.05</a:t></a:r><a:r><a:rPr /><a:t> — reject H₀ if </a:t></a:r><a:r><a:rPr i="1" /><a:t>p</a:t></a:r><a:r><a:rPr /><a:t> &lt; 0.05.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 when we predicted shady &gt; sunny?</a:t></a:r></a:p><a:p><a:pPr lvl="0" /><a:r><a:rPr /><a:t>A one-tailed test only looks in one direction</a:t></a:r></a:p><a:p><a:pPr lvl="0" /><a:r><a:rPr /><a:t>Two-tailed is </a:t></a:r><a:r><a:rPr b="1" /><a:t>more conservative</a:t></a:r><a:r><a:rPr /><a:t> and the standard in most journals</a:t></a:r></a:p><a:p><a:pPr lvl="0" indent="0" marL="0"><a:buNone /></a:pPr><a:r><a:rPr b="1" /><a:t>Why write hypotheses first?</a:t></a:r></a:p><a:p><a:pPr lvl="0" /><a:r><a:rPr /><a:t>Keeps the analysis honest</a:t></a:r></a:p><a:p><a:pPr lvl="0" /><a:r><a:rPr /><a:t>Prevents “HARKing” — </a:t></a:r><a:r><a:rPr b="1" /><a:t>H</a:t></a:r><a:r><a:rPr /><a:t>ypothesizing </a:t></a:r><a:r><a:rPr b="1" /><a:t>A</a:t></a:r><a:r><a:rPr /><a:t>fter the </a:t></a:r><a:r><a:rPr b="1" /><a:t>R</a:t></a:r><a:r><a:rPr /><a:t>esults are </a:t></a:r><a:r><a:rPr b="1" /><a:t>K</a:t></a:r><a:r><a:rPr /><a:t>nown</a:t></a:r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Histograms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Histograms stacked in one column — same x-axis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ncol = 1</a:t>
            </a:r>
            <a:r>
              <a:rPr b="1"/>
              <a:t> stacks the panels.</a:t>
            </a:r>
            <a:r>
              <a:rPr/>
              <a:t> Both share one x-axis, so you can see at a glance:</a:t>
            </a:r>
          </a:p>
          <a:p>
            <a:pPr lvl="0"/>
            <a:r>
              <a:rPr/>
              <a:t>where each group is </a:t>
            </a:r>
            <a:r>
              <a:rPr b="1"/>
              <a:t>centered</a:t>
            </a:r>
          </a:p>
          <a:p>
            <a:pPr lvl="0"/>
            <a:r>
              <a:rPr/>
              <a:t>how </a:t>
            </a:r>
            <a:r>
              <a:rPr b="1"/>
              <a:t>wide</a:t>
            </a:r>
            <a:r>
              <a:rPr/>
              <a:t> each group spreads</a:t>
            </a:r>
          </a:p>
          <a:p>
            <a:pPr lvl="0"/>
            <a:r>
              <a:rPr/>
              <a:t>which group has the </a:t>
            </a:r>
            <a:r>
              <a:rPr b="1"/>
              <a:t>long tail</a:t>
            </a:r>
          </a:p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one hump, not badly lopsided</a:t>
            </a:r>
          </a:p>
          <a:p>
            <a:pPr lvl="0"/>
            <a:r>
              <a:rPr/>
              <a:t>No big </a:t>
            </a:r>
            <a:r>
              <a:rPr b="1"/>
              <a:t>outliers</a:t>
            </a:r>
            <a:r>
              <a:rPr/>
              <a:t> far from the rest</a:t>
            </a:r>
          </a:p>
          <a:p>
            <a:pPr lvl="0" indent="0" marL="0">
              <a:buNone/>
            </a:pPr>
            <a:r>
              <a:rPr/>
              <a:t>With ~25 leaves the bars are lumpy — that’s normal for real data. It’s hard to judge “bell-shaped” by eye, which is why we add a </a:t>
            </a:r>
            <a:r>
              <a:rPr b="1"/>
              <a:t>QQ plot</a:t>
            </a:r>
            <a:r>
              <a:rPr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First: What Is a Quantile? (you already know one)</a:t>
            </a:r>
          </a:p>
        </p:txBody>
      </p:sp>
      <p:pic>
        <p:nvPicPr>
          <p:cNvPr descr="t_tests_lecture_files/figure-pptx/quantile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70000"/>
            <a:ext cx="41910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quantile</a:t>
            </a:r>
            <a:r>
              <a:rPr/>
              <a:t> is a value that a certain percent of the data falls below.</a:t>
            </a:r>
          </a:p>
          <a:p>
            <a:pPr lvl="0" indent="0" marL="0">
              <a:buNone/>
            </a:pPr>
            <a:r>
              <a:rPr/>
              <a:t>The box plot already shows three of them:</a:t>
            </a:r>
          </a:p>
          <a:p>
            <a:pPr lvl="0"/>
            <a:r>
              <a:rPr b="1"/>
              <a:t>Q1</a:t>
            </a:r>
            <a:r>
              <a:rPr/>
              <a:t> (25th percentile) — bottom of the box</a:t>
            </a:r>
          </a:p>
          <a:p>
            <a:pPr lvl="0"/>
            <a:r>
              <a:rPr b="1"/>
              <a:t>Median</a:t>
            </a:r>
            <a:r>
              <a:rPr/>
              <a:t> (50th) — the line in the middle</a:t>
            </a:r>
          </a:p>
          <a:p>
            <a:pPr lvl="0"/>
            <a:r>
              <a:rPr b="1"/>
              <a:t>Q3</a:t>
            </a:r>
            <a:r>
              <a:rPr/>
              <a:t> (75th) — top of the box</a:t>
            </a:r>
          </a:p>
          <a:p>
            <a:pPr lvl="0" indent="0" marL="0">
              <a:buNone/>
            </a:pPr>
            <a:r>
              <a:rPr/>
              <a:t>A QQ plot uses </a:t>
            </a:r>
            <a:r>
              <a:rPr b="1"/>
              <a:t>every</a:t>
            </a:r>
            <a:r>
              <a:rPr/>
              <a:t> leaf as a quantile, not just three — and asks whether they are spaced the way a </a:t>
            </a:r>
            <a:r>
              <a:rPr b="1"/>
              <a:t>normal</a:t>
            </a:r>
            <a:r>
              <a:rPr/>
              <a:t> (bell-curve) distribution would space them.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 QQ Plot Works</a:t>
            </a:r>
          </a:p>
        </p:txBody>
      </p:sp>
      <p:pic>
        <p:nvPicPr>
          <p:cNvPr descr="t_tests_lecture_files/figure-pptx/qq-explai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06500"/>
            <a:ext cx="41910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R does for you:</a:t>
            </a:r>
          </a:p>
          <a:p>
            <a:pPr lvl="0" indent="-342900" marL="342900">
              <a:buAutoNum type="arabicPeriod"/>
            </a:pPr>
            <a:r>
              <a:rPr b="1"/>
              <a:t>Sorts</a:t>
            </a:r>
            <a:r>
              <a:rPr/>
              <a:t> the leaves from lightest to heaviest (the y-axis)</a:t>
            </a:r>
          </a:p>
          <a:p>
            <a:pPr lvl="0" indent="-342900" marL="342900">
              <a:buAutoNum type="arabicPeriod"/>
            </a:pPr>
            <a:r>
              <a:rPr/>
              <a:t>Works out where each leaf </a:t>
            </a:r>
            <a:r>
              <a:rPr b="1"/>
              <a:t>would</a:t>
            </a:r>
            <a:r>
              <a:rPr/>
              <a:t> sit if the data were perfectly </a:t>
            </a:r>
            <a:r>
              <a:rPr b="1"/>
              <a:t>normal</a:t>
            </a:r>
            <a:r>
              <a:rPr/>
              <a:t> (the x-axis, in SD units: −2 … 0 … +2)</a:t>
            </a:r>
          </a:p>
          <a:p>
            <a:pPr lvl="0" indent="-342900" marL="342900">
              <a:buAutoNum type="arabicPeriod"/>
            </a:pPr>
            <a:r>
              <a:rPr/>
              <a:t>Plots </a:t>
            </a:r>
            <a:r>
              <a:rPr b="1"/>
              <a:t>actual vs. expected</a:t>
            </a:r>
            <a:r>
              <a:rPr/>
              <a:t> — one dot per leaf</a:t>
            </a:r>
          </a:p>
          <a:p>
            <a:pPr lvl="0" indent="0" marL="0">
              <a:buNone/>
            </a:pPr>
            <a:r>
              <a:rPr b="1"/>
              <a:t>Straight line = normal.</a:t>
            </a:r>
          </a:p>
          <a:p>
            <a:pPr lvl="0" indent="0" marL="0">
              <a:buNone/>
            </a:pPr>
            <a:r>
              <a:rPr/>
              <a:t>The dashed lines connect the </a:t>
            </a:r>
            <a:r>
              <a:rPr b="1"/>
              <a:t>box plot’s</a:t>
            </a:r>
            <a:r>
              <a:rPr/>
              <a:t> Q1, median, and Q3 to the same leaves on the QQ plot. The middle half of the dots is the box.</a:t>
            </a:r>
          </a:p>
          <a:p>
            <a:pPr lvl="0" indent="0" marL="0">
              <a:buNone/>
            </a:pPr>
            <a:r>
              <a:rPr/>
              <a:t>Here the heaviest few shady leaves </a:t>
            </a:r>
            <a:r>
              <a:rPr b="1"/>
              <a:t>bend up</a:t>
            </a:r>
            <a:r>
              <a:rPr/>
              <a:t> above the line — a </a:t>
            </a:r>
            <a:r>
              <a:rPr b="1"/>
              <a:t>long right tail</a:t>
            </a:r>
            <a:r>
              <a:rPr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Good and Bad QQ Plots Look Like</a:t>
            </a:r>
          </a:p>
        </p:txBody>
      </p:sp>
      <p:pic>
        <p:nvPicPr>
          <p:cNvPr descr="t_tests_lecture_files/figure-pptx/qq-example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57300"/>
            <a:ext cx="41910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Made-up data, 30 values each. </a:t>
            </a:r>
            <a:r>
              <a:rPr b="1"/>
              <a:t>Top:</a:t>
            </a:r>
            <a:r>
              <a:rPr/>
              <a:t> histogram. </a:t>
            </a:r>
            <a:r>
              <a:rPr b="1"/>
              <a:t>Bottom:</a:t>
            </a:r>
            <a:r>
              <a:rPr/>
              <a:t> QQ plot of the same values.</a:t>
            </a:r>
          </a:p>
          <a:p>
            <a:pPr lvl="0"/>
            <a:r>
              <a:rPr b="1"/>
              <a:t>Normal:</a:t>
            </a:r>
            <a:r>
              <a:rPr/>
              <a:t> dots hug the line</a:t>
            </a:r>
          </a:p>
          <a:p>
            <a:pPr lvl="0"/>
            <a:r>
              <a:rPr b="1"/>
              <a:t>Skewed:</a:t>
            </a:r>
            <a:r>
              <a:rPr/>
              <a:t> dots curve away at one end (a banana shape)</a:t>
            </a:r>
          </a:p>
          <a:p>
            <a:pPr lvl="0"/>
            <a:r>
              <a:rPr b="1"/>
              <a:t>Outliers:</a:t>
            </a:r>
            <a:r>
              <a:rPr/>
              <a:t> a few dots jump off the line at an end</a:t>
            </a:r>
          </a:p>
          <a:p>
            <a:pPr lvl="0" indent="0" marL="0">
              <a:buNone/>
            </a:pPr>
            <a:r>
              <a:rPr/>
              <a:t>A little wiggle at the very ends is fine — look for a </a:t>
            </a:r>
            <a:r>
              <a:rPr b="1"/>
              <a:t>clear bend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Our QQ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per group — dots should follow the line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</a:t>
            </a:r>
          </a:p>
        </p:txBody>
      </p:sp>
      <p:pic>
        <p:nvPicPr>
          <p:cNvPr descr="t_tests_lecture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pieces:</a:t>
            </a:r>
          </a:p>
          <a:p>
            <a:pPr lvl="0"/>
            <a:r>
              <a:rPr>
                <a:latin typeface="Courier"/>
              </a:rPr>
              <a:t>aes(sample = mass_g)</a:t>
            </a:r>
            <a:r>
              <a:rPr/>
              <a:t> — a QQ plot takes </a:t>
            </a:r>
            <a:r>
              <a:rPr b="1">
                <a:latin typeface="Courier"/>
              </a:rPr>
              <a:t>sample =</a:t>
            </a:r>
            <a:r>
              <a:rPr/>
              <a:t>, not </a:t>
            </a:r>
            <a:r>
              <a:rPr>
                <a:latin typeface="Courier"/>
              </a:rPr>
              <a:t>x =</a:t>
            </a:r>
            <a:r>
              <a:rPr/>
              <a:t> / </a:t>
            </a:r>
            <a:r>
              <a:rPr>
                <a:latin typeface="Courier"/>
              </a:rPr>
              <a:t>y =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— draws one dot per leaf</a:t>
            </a:r>
          </a:p>
          <a:p>
            <a:pPr lvl="0"/>
            <a:r>
              <a:rPr>
                <a:latin typeface="Courier"/>
              </a:rPr>
              <a:t>stat_qq_line()</a:t>
            </a:r>
            <a:r>
              <a:rPr/>
              <a:t> — draws the “perfectly normal” line</a:t>
            </a:r>
          </a:p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 b="1"/>
              <a:t>Sunny:</a:t>
            </a:r>
            <a:r>
              <a:rPr/>
              <a:t> dots follow the line well</a:t>
            </a:r>
          </a:p>
          <a:p>
            <a:pPr lvl="0"/>
            <a:r>
              <a:rPr b="1"/>
              <a:t>Shady:</a:t>
            </a:r>
            <a:r>
              <a:rPr/>
              <a:t> mostly on the line, but the heaviest leaves bend </a:t>
            </a:r>
            <a:r>
              <a:rPr b="1"/>
              <a:t>up</a:t>
            </a:r>
            <a:r>
              <a:rPr/>
              <a:t> — the same right tail you saw in the histogram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QQ plots,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p-value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shade shapiro_p
  &lt;chr&gt;     &lt;dbl&gt;
1 shady    0.0427
2 sunny    0.288 </a:t>
            </a:r>
          </a:p>
          <a:p>
            <a:pPr lvl="0" indent="0" marL="0">
              <a:buNone/>
            </a:pPr>
            <a:r>
              <a:rPr/>
              <a:t>Same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as for means — it runs the test once per side. </a:t>
            </a:r>
            <a:r>
              <a:rPr>
                <a:latin typeface="Courier"/>
              </a:rPr>
              <a:t>$p.value</a:t>
            </a:r>
            <a:r>
              <a:rPr/>
              <a:t> pulls out just the </a:t>
            </a:r>
            <a:r>
              <a:rPr i="1"/>
              <a:t>p</a:t>
            </a:r>
            <a:r>
              <a:rPr/>
              <a:t>-value.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normal.</a:t>
            </a:r>
          </a:p>
          <a:p>
            <a:pPr lvl="0"/>
            <a:r>
              <a:rPr i="1"/>
              <a:t>p</a:t>
            </a:r>
            <a:r>
              <a:rPr/>
              <a:t> &gt; 0.05 → no evidence against normality → go ahead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look hard at the plots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plot comes first; the test backs it up.</a:t>
            </a:r>
          </a:p>
          <a:p>
            <a:pPr lvl="0" indent="0" marL="1270000">
              <a:buNone/>
            </a:pPr>
            <a:r>
              <a:rPr sz="2000"/>
              <a:t>Shady is just under 0.05 — matching the bend we saw in the QQ plot. A mild tail like this is not a reason to abandon the t-test; it is robust to small departures.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spreads similar?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Look back at the stacked histograms: which group was </a:t>
            </a:r>
            <a:r>
              <a:rPr b="1"/>
              <a:t>wider</a:t>
            </a:r>
            <a:r>
              <a:rPr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 (spread).</a:t>
            </a:r>
          </a:p>
          <a:p>
            <a:pPr lvl="0"/>
            <a:r>
              <a:rPr i="1"/>
              <a:t>p</a:t>
            </a:r>
            <a:r>
              <a:rPr/>
              <a:t> &gt; 0.05 → spreads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spreads are different</a:t>
            </a:r>
          </a:p>
          <a:p>
            <a:pPr lvl="0" indent="0" marL="0">
              <a:buNone/>
            </a:pPr>
            <a:r>
              <a:rPr b="1"/>
              <a:t>Either way we use 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). We run Levene’s to </a:t>
            </a:r>
            <a:r>
              <a:rPr i="1"/>
              <a:t>understand our data</a:t>
            </a:r>
            <a:r>
              <a:rPr/>
              <a:t>, not to pick the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3–7</a:t>
            </a:r>
          </a:p>
          <a:p>
            <a:pPr lvl="0" indent="0" marL="0">
              <a:buNone/>
            </a:pPr>
            <a:r>
              <a:rPr/>
              <a:t>State your hypotheses, then check normality (histograms, box plot + QQ plot, Shapiro-Wilk) and variance (Levene’s). Predict every </a:t>
            </a:r>
            <a:r>
              <a:rPr i="1"/>
              <a:t>p</a:t>
            </a:r>
            <a:r>
              <a:rPr/>
              <a:t>-value before you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Step 4: Run the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t-test now that every assumption is checked. Reading the output line by line is next lecture.</a:t>
            </a:r>
          </a:p>
          <a:p>
            <a:pPr lvl="0" indent="0" marL="0">
              <a:buNone/>
            </a:pPr>
            <a:r>
              <a:rPr b="1"/>
              <a:t>🛑 After this chunk: Activity Part 8</a:t>
            </a:r>
            <a:r>
              <a:rPr/>
              <a:t> (run the t-test).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means were close and the groups overlap heavily. Above or below 0.05?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formula</a:t>
            </a:r>
            <a:r>
              <a:rPr/>
              <a:t> </a:t>
            </a:r>
            <a:r>
              <a:rPr>
                <a:latin typeface="Courier"/>
              </a:rPr>
              <a:t>mass_g ~ shade</a:t>
            </a:r>
            <a:r>
              <a:rPr/>
              <a:t>:</a:t>
            </a:r>
          </a:p>
          <a:p>
            <a:pPr lvl="0" indent="0" marL="0">
              <a:buNone/>
            </a:pPr>
            <a:r>
              <a:rPr/>
              <a:t>“mass </a:t>
            </a:r>
            <a:r>
              <a:rPr b="1"/>
              <a:t>explained by</a:t>
            </a:r>
            <a:r>
              <a:rPr/>
              <a:t> shade” — the number on the left, the groups on the right.</a:t>
            </a:r>
          </a:p>
          <a:p>
            <a:pPr lvl="0" indent="0" marL="0">
              <a:buNone/>
            </a:pPr>
            <a:r>
              <a:rPr b="1"/>
              <a:t>For today, find three numbers:</a:t>
            </a:r>
          </a:p>
          <a:p>
            <a:pPr lvl="0"/>
            <a:r>
              <a:rPr b="1"/>
              <a:t>t</a:t>
            </a:r>
            <a:r>
              <a:rPr/>
              <a:t> — the signal-to-noise ratio</a:t>
            </a:r>
          </a:p>
          <a:p>
            <a:pPr lvl="0"/>
            <a:r>
              <a:rPr b="1"/>
              <a:t>df</a:t>
            </a:r>
            <a:r>
              <a:rPr/>
              <a:t> — degrees of freedom</a:t>
            </a:r>
          </a:p>
          <a:p>
            <a:pPr lvl="0"/>
            <a:r>
              <a:rPr b="1"/>
              <a:t>p-value</a:t>
            </a:r>
            <a:r>
              <a:rPr/>
              <a:t> — the decision number</a:t>
            </a:r>
          </a:p>
          <a:p>
            <a:pPr lvl="0" indent="0" marL="0">
              <a:buNone/>
            </a:pPr>
            <a:r>
              <a:rPr b="1"/>
              <a:t>Next lecture:</a:t>
            </a:r>
            <a:r>
              <a:rPr/>
              <a:t> every line of this output, writing a results sentence, and the </a:t>
            </a:r>
            <a:r>
              <a:rPr b="1"/>
              <a:t>paired</a:t>
            </a:r>
            <a:r>
              <a:rPr/>
              <a:t> t-test.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 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 8</a:t>
            </a:r>
          </a:p>
          <a:p>
            <a:pPr lvl="0" indent="0" marL="0">
              <a:buNone/>
            </a:pPr>
            <a:r>
              <a:rPr/>
              <a:t>Run the t-test and record t, df, and </a:t>
            </a:r>
            <a:r>
              <a:rPr i="1"/>
              <a:t>p</a:t>
            </a:r>
            <a:r>
              <a:rPr/>
              <a:t>. Then start </a:t>
            </a:r>
            <a:r>
              <a:rPr b="1"/>
              <a:t>Part 9 — sugar maple</a:t>
            </a:r>
            <a:r>
              <a:rPr/>
              <a:t> (Part B of your skeleton): that is what you hand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the Checks Matter — Next Lecture’s Choice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lecture you run </a:t>
            </a:r>
            <a:r>
              <a:rPr b="1"/>
              <a:t>two</a:t>
            </a:r>
            <a:r>
              <a:rPr/>
              <a:t> tests on the sugar maple leaves. The checks you do today decide which version is allowed: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993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Must be roughly 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spread needed?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Two-sample</a:t>
                      </a:r>
                      <a:r>
                        <a:rPr/>
                        <a:t> (Welch’s)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Welch’s handles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differences</a:t>
                      </a:r>
                      <a:r>
                        <a:rPr/>
                        <a:t> within each pair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only one set of numbers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If normality clearly fails</a:t>
            </a:r>
            <a:r>
              <a:rPr/>
              <a:t> → use the rank-based partner instead (next lecture).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first, test second.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from a test whose assumptions are broken can’t be trusted — and you can’t un-see a result. Deciding the test </a:t>
            </a:r>
            <a:r>
              <a:rPr sz="2000" i="1"/>
              <a:t>before</a:t>
            </a:r>
            <a:r>
              <a:rPr sz="2000"/>
              <a:t> you run it keeps you honest.</a:t>
            </a:r>
          </a:p>
          <a:p>
            <a:pPr lvl="0" indent="0" marL="0">
              <a:buNone/>
            </a:pPr>
            <a:r>
              <a:rPr b="1"/>
              <a:t>Your homework (Part B)</a:t>
            </a:r>
            <a:r>
              <a:rPr/>
              <a:t> is exactly this: check the sugar maple data and decide whether a t-test is OK.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 steps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</a:t>
            </a:r>
            <a:r>
              <a:rPr>
                <a:latin typeface="Courier"/>
              </a:rPr>
              <a:t>var.equal = FALSE</a:t>
            </a:r>
            <a:r>
              <a:rPr/>
              <a:t> is the safe default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</a:t>
            </a:r>
          </a:p>
          <a:p>
            <a:pPr lvl="1"/>
            <a:r>
              <a:rPr/>
              <a:t>normality — histograms (</a:t>
            </a:r>
            <a:r>
              <a:rPr>
                <a:latin typeface="Courier"/>
              </a:rPr>
              <a:t>ncol = 1</a:t>
            </a:r>
            <a:r>
              <a:rPr/>
              <a:t>),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 — Levene’s</a:t>
            </a:r>
          </a:p>
          <a:p>
            <a:pPr lvl="0"/>
            <a:r>
              <a:rPr/>
              <a:t>The QQ plot: </a:t>
            </a:r>
            <a:r>
              <a:rPr b="1"/>
              <a:t>dots on the line = normal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Hand in:</a:t>
            </a:r>
            <a:r>
              <a:rPr/>
              <a:t> Part B of your skeleton — check the assumptions for the </a:t>
            </a:r>
            <a:r>
              <a:rPr b="1"/>
              <a:t>sugar maple</a:t>
            </a:r>
            <a:r>
              <a:rPr/>
              <a:t> leaves, written by you.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Decode the </a:t>
            </a:r>
            <a:r>
              <a:rPr>
                <a:latin typeface="Courier"/>
              </a:rPr>
              <a:t>t.test()</a:t>
            </a:r>
            <a:r>
              <a:rPr/>
              <a:t> output line by line</a:t>
            </a:r>
          </a:p>
          <a:p>
            <a:pPr lvl="0"/>
            <a:r>
              <a:rPr/>
              <a:t>Make a decision and write a results sentence</a:t>
            </a:r>
          </a:p>
          <a:p>
            <a:pPr lvl="0"/>
            <a:r>
              <a:rPr/>
              <a:t>Two-sample vs. </a:t>
            </a:r>
            <a:r>
              <a:rPr b="1"/>
              <a:t>paired</a:t>
            </a:r>
            <a:r>
              <a:rPr/>
              <a:t> t-tests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why Welch’s is the safe default, checking normality (histogram, QQ plot, Shapiro-Wilk) and variance (Levene’s), then a first run of the t-test.</dc:description>
  <dcterms:created xsi:type="dcterms:W3CDTF">2026-10-08T13:40:29Z</dcterms:created>
  <dcterms:modified xsi:type="dcterms:W3CDTF">2026-10-08T13:40:29Z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