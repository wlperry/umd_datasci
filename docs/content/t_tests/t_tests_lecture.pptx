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— T-Tests I: Setting Up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Hypotheses, the t-statistic, and checking assumptions before we test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2026-08-27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05–06)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Wrangling</a:t>
            </a:r>
            <a:r>
              <a:rPr/>
              <a:t>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as the core tidyverse verbs</a:t>
            </a:r>
          </a:p>
          <a:p>
            <a:pPr lvl="0"/>
            <a:r>
              <a:rPr b="1"/>
              <a:t>Descriptive stats</a:t>
            </a:r>
            <a:r>
              <a:rPr/>
              <a:t> — mean, median, SD, SE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 b="1"/>
              <a:t>NA handling</a:t>
            </a:r>
            <a:r>
              <a:rPr/>
              <a:t> — </a:t>
            </a:r>
            <a:r>
              <a:rPr>
                <a:latin typeface="Courier"/>
              </a:rPr>
              <a:t>sum(!is.na())</a:t>
            </a:r>
            <a:r>
              <a:rPr/>
              <a:t> is the safe way to count </a:t>
            </a:r>
            <a:r>
              <a:rPr i="1"/>
              <a:t>n</a:t>
            </a:r>
          </a:p>
          <a:p>
            <a:pPr lvl="0"/>
            <a:r>
              <a:rPr b="1"/>
              <a:t>Boxplot</a:t>
            </a:r>
            <a:r>
              <a:rPr/>
              <a:t> + jittered points; </a:t>
            </a:r>
            <a:r>
              <a:rPr b="1"/>
              <a:t>mean ± SE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  <a:r>
              <a:rPr/>
              <a:t> (Lecture 03, GGPlot I)</a:t>
            </a:r>
          </a:p>
          <a:p>
            <a:pPr lvl="0"/>
            <a:r>
              <a:rPr b="1"/>
              <a:t>Finding:</a:t>
            </a:r>
            <a:r>
              <a:rPr/>
              <a:t> shady leaves appear heavier, taller, and wider than sunny leaves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06</a:t>
            </a:r>
          </a:p>
          <a:p>
            <a:pPr lvl="0" indent="0" marL="1270000">
              <a:buNone/>
            </a:pPr>
            <a:r>
              <a:rPr sz="2000"/>
              <a:t>We described the pattern in our data. Over the next two lectures we formally test whether that pattern is </a:t>
            </a:r>
            <a:r>
              <a:rPr sz="2000" i="1"/>
              <a:t>statistically significant</a:t>
            </a:r>
            <a:r>
              <a:rPr sz="2000"/>
              <a:t> — today we set the test up, next time we run it.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</a:t>
            </a:r>
            <a:r>
              <a:rPr/>
              <a:t> why comparing means is not enough — we need a test</a:t>
            </a:r>
          </a:p>
          <a:p>
            <a:pPr lvl="0"/>
            <a:r>
              <a:rPr b="1"/>
              <a:t>Meet</a:t>
            </a:r>
            <a:r>
              <a:rPr/>
              <a:t> the two-sample t-test and why we default to </a:t>
            </a:r>
            <a:r>
              <a:rPr b="1"/>
              <a:t>Welch’s</a:t>
            </a:r>
          </a:p>
          <a:p>
            <a:pPr lvl="0"/>
            <a:r>
              <a:rPr b="1"/>
              <a:t>State</a:t>
            </a:r>
            <a:r>
              <a:rPr/>
              <a:t> null and alternate hypotheses formally</a:t>
            </a:r>
          </a:p>
          <a:p>
            <a:pPr lvl="0"/>
            <a:r>
              <a:rPr b="1"/>
              <a:t>Check assumptions</a:t>
            </a:r>
            <a:r>
              <a:rPr/>
              <a:t> before running any test</a:t>
            </a:r>
          </a:p>
          <a:p>
            <a:pPr lvl="1"/>
            <a:r>
              <a:rPr/>
              <a:t>normality: histogram + Shapiro-Wilk</a:t>
            </a:r>
          </a:p>
          <a:p>
            <a:pPr lvl="1"/>
            <a:r>
              <a:rPr/>
              <a:t>variance: Levene’s test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of today your data will be fully checked and ready to test. Next lecture, we run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added today: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Levene’s variance test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/>
              <a:t>Both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Today’s naming:</a:t>
            </a:r>
          </a:p>
          <a:p>
            <a:pPr lvl="0"/>
            <a:r>
              <a:rPr/>
              <a:t>test objects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Our Hypotheses — A Reminder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Biological prediction:</a:t></a:r></a:p><a:p><a:pPr lvl="0" indent="0" marL="0"><a:buNone /></a:pPr><a:r><a:rPr /><a:t>Shady-side leaves will be </a:t></a:r><a:r><a:rPr b="1" /><a:t>larger and heavier</a:t></a:r><a:r><a:rPr /><a:t> — they need more surface area to capture the limited light filtering through the canopy.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2209800" /><a:gridCol w="2209800" /></a:tblGrid><a:tr h="0"><a:tc><a:txBody><a:bodyPr /><a:lstStyle /><a:p><a:endParaRPr /></a:p></a:txBody><a:tcPr /></a:tc><a:tc><a:txBody><a:bodyPr /><a:lstStyle /><a:p><a:pPr lvl="0" indent="0" marL="0"><a:buNone /></a:pPr><a:r><a:rPr /><a:t>Formal statement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a:r><a:rPr /><a:t> — no difference in mean leaf weight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a:r><a:rPr /><a:t> — mean leaf weight differs by side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/><a:t>We use a </a:t></a:r><a:r><a:rPr b="1" /><a:t>two-tailed</a:t></a:r><a:r><a:rPr /><a:t> test — we will detect a difference in </a:t></a:r><a:r><a:rPr i="1" /><a:t>either</a:t></a:r><a:r><a:rPr /><a:t> direction.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Why two-tailed?</a:t></a:r></a:p><a:p><a:pPr lvl="0" /><a:r><a:rPr /><a:t>We predicted shady &gt; sunny</a:t></a:r></a:p><a:p><a:pPr lvl="0" /><a:r><a:rPr /><a:t>A one-tailed test would only reject H₀ in that direction</a:t></a:r></a:p><a:p><a:pPr lvl="0" /><a:r><a:rPr /><a:t>Two-tailed is </a:t></a:r><a:r><a:rPr b="1" /><a:t>more conservative</a:t></a:r><a:r><a:rPr /><a:t> and more broadly accepted</a:t></a:r></a:p><a:p><a:pPr lvl="0" /><a:r><a:rPr /><a:t>If the result is significant two-tailed, it is also significant one-tailed</a:t></a:r></a:p><a:p><a:pPr lvl="0" indent="0" marL="0"><a:buNone /></a:pPr><a:r><a:rPr b="1" /><a:t>α = 0.05</a:t></a:r><a:r><a:rPr /><a:t> — our threshold for rejecting H₀</a:t></a:r></a:p></p:txBody></p:sp></p:spTree></p:cSld>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 worksheet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A </a:t>
            </a:r>
            <a:r>
              <a:rPr sz="2000" i="1"/>
              <a:t>p</a:t>
            </a:r>
            <a:r>
              <a:rPr sz="2000"/>
              <a:t>-value is easy to memorize and hard to actually understand. Guessing “above or below 0.05” </a:t>
            </a:r>
            <a:r>
              <a:rPr sz="2000" i="1"/>
              <a:t>before</a:t>
            </a:r>
            <a:r>
              <a:rPr sz="2000"/>
              <a:t> you see a test result forces you to reason about the test instead of just reading a number off the screen.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var.equal = FALSE</a:t>
            </a:r>
            <a:r>
              <a:rPr sz="2000"/>
              <a:t> yourself — rather than pasting it — is what makes you notice it’s there at all, instead of skating past the one argument that separates Welch’s from the standard t-test.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variance equality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from the data folder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car</a:t>
            </a:r>
            <a:r>
              <a:rPr sz="2000"/>
              <a:t> is the </a:t>
            </a:r>
            <a:r>
              <a:rPr sz="2000" b="1"/>
              <a:t>C</a:t>
            </a:r>
            <a:r>
              <a:rPr sz="2000"/>
              <a:t>ompanion to </a:t>
            </a:r>
            <a:r>
              <a:rPr sz="2000" b="1"/>
              <a:t>A</a:t>
            </a:r>
            <a:r>
              <a:rPr sz="2000"/>
              <a:t>pplied </a:t>
            </a:r>
            <a:r>
              <a:rPr sz="2000" b="1"/>
              <a:t>R</a:t>
            </a:r>
            <a:r>
              <a:rPr sz="2000"/>
              <a:t>egression package. It contains </a:t>
            </a:r>
            <a:r>
              <a:rPr sz="2000">
                <a:latin typeface="Courier"/>
              </a:rPr>
              <a:t>leveneTest()</a:t>
            </a:r>
            <a:r>
              <a:rPr sz="2000"/>
              <a:t>, which we use to check whether our two groups have similar variance.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install.packages("car")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Why We Test &amp; the t-Statistic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comparing means isn’t enough, the five-step framework we’ll use for every test this semester, what a two-sample t-test is, and why we default to Welch’s.</a:t>
            </a:r>
          </a:p>
          <a:p>
            <a:pPr lvl="0" indent="0" marL="0">
              <a:buNone/>
            </a:pPr>
            <a:r>
              <a:rPr b="1"/>
              <a:t>🛑 After this chunk: Activity Parts 1–2</a:t>
            </a:r>
            <a:r>
              <a:rPr/>
              <a:t> (load data, recap the descriptive stats).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Comparing Means Is Not Enough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Remind ourselves what the data look like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</a:t>
            </a:r>
          </a:p>
        </p:txBody>
      </p:sp>
      <p:pic>
        <p:nvPicPr>
          <p:cNvPr descr="t_tests_lecture_files/figure-pptx/recap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means look different — but:</a:t>
            </a:r>
          </a:p>
          <a:p>
            <a:pPr lvl="0"/>
            <a:r>
              <a:rPr/>
              <a:t>We only have </a:t>
            </a:r>
            <a:r>
              <a:rPr b="1"/>
              <a:t>10 leaves per group</a:t>
            </a:r>
          </a:p>
          <a:p>
            <a:pPr lvl="0"/>
            <a:r>
              <a:rPr/>
              <a:t>There is </a:t>
            </a:r>
            <a:r>
              <a:rPr b="1"/>
              <a:t>natural variability</a:t>
            </a:r>
            <a:r>
              <a:rPr/>
              <a:t> within each group</a:t>
            </a:r>
          </a:p>
          <a:p>
            <a:pPr lvl="0"/>
            <a:r>
              <a:rPr/>
              <a:t>The groups’ ranges </a:t>
            </a:r>
            <a:r>
              <a:rPr b="1"/>
              <a:t>overlap</a:t>
            </a:r>
            <a:r>
              <a:rPr/>
              <a:t> somewhat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p</a:t>
            </a:r>
            <a:r>
              <a:rPr/>
              <a:t>-value tells us:</a:t>
            </a:r>
          </a:p>
          <a:p>
            <a:pPr lvl="0" indent="0" marL="1270000">
              <a:buNone/>
            </a:pPr>
            <a:r>
              <a:rPr sz="2000" i="1"/>
              <a:t>“If H₀ were true, how often would we see a gap this large just by chance?”</a:t>
            </a:r>
          </a:p>
          <a:p>
            <a:pPr lvl="0" indent="0" marL="0">
              <a:buNone/>
            </a:pPr>
            <a:r>
              <a:rPr/>
              <a:t>Small </a:t>
            </a:r>
            <a:r>
              <a:rPr i="1"/>
              <a:t>p</a:t>
            </a:r>
            <a:r>
              <a:rPr/>
              <a:t> → the gap is unlikely to be chance.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Five Steps to a Hypothesis Test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hypothesis test this semester — t-test, ANOVA, regression — follows the same sequence: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State H₀ and Hₐ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normality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variance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Run</a:t>
                      </a:r>
                      <a:r>
                        <a:rPr/>
                        <a:t> the 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Next lecture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Interpret</a:t>
                      </a:r>
                      <a:r>
                        <a:rPr/>
                        <a:t> and </a:t>
                      </a:r>
                      <a:r>
                        <a:rPr b="1"/>
                        <a:t>report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Next lecture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assumptions BEFORE running the test.</a:t>
            </a:r>
          </a:p>
          <a:p>
            <a:pPr lvl="0" indent="0" marL="1270000">
              <a:buNone/>
            </a:pPr>
            <a:r>
              <a:rPr sz="2000"/>
              <a:t>If your data seriously violate assumptions, the </a:t>
            </a:r>
            <a:r>
              <a:rPr sz="2000" i="1"/>
              <a:t>p</a:t>
            </a:r>
            <a:r>
              <a:rPr sz="2000"/>
              <a:t>-value from the t-test is unreliable.</a:t>
            </a:r>
          </a:p>
          <a:p>
            <a:pPr lvl="0" indent="0" marL="1270000">
              <a:buNone/>
            </a:pPr>
            <a:r>
              <a:rPr sz="2000"/>
              <a:t>With n = 10 per group, our main concern is </a:t>
            </a:r>
            <a:r>
              <a:rPr sz="2000" b="1"/>
              <a:t>gross non-normality</a:t>
            </a:r>
            <a:r>
              <a:rPr sz="2000"/>
              <a:t>. The t-test is quite robust to mild departures.</a:t>
            </a:r>
          </a:p>
        </p:txBody>
      </p:sp>
    </p:spTree>
  </p:cSld>
</p:sld>
</file>

<file path=ppt/slides/slide10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1A1A2E" /></a:solidFill></p:spPr><p:txBody><a:bodyPr /><a:lstStyle /><a:p><a:pPr lvl="0" indent="0" marL="0"><a:buNone /></a:pPr><a:r><a:rPr /><a:t>What Is a Two-Sample t-Test?</a:t></a:r></a:p></p:txBody></p:sp><mc:AlternateContent xmlns:mc="http://schemas.openxmlformats.org/markup-compatibility/2006"><mc:Choice xmlns:a14="http://schemas.microsoft.com/office/drawing/2010/main" Requires="a14"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A two-sample t-test compares the </a:t></a:r><a:r><a:rPr b="1" /><a:t>means of two independent groups</a:t></a:r><a:r><a:rPr /><a:t>.</a:t></a:r></a:p><a:p><a:pPr lvl="0" indent="0" marL="0"><a:buNone /></a:pPr><a:r><a:rPr /><a:t>It asks: </a:t></a:r><a:r><a:rPr i="1" /><a:t>Could both groups plausibly be drawn from populations with the same mean?</a:t></a:r></a:p><a:p><a:pPr lvl="0" indent="0" marL="0"><a:buNone /></a:pPr><a:r><a:rPr /><a:t>The </a:t></a:r><a:r><a:rPr b="1" /><a:t>t-statistic</a:t></a:r><a:r><a:rPr /><a:t> is:</a:t></a:r></a:p><a:p><a:pPr lvl="0" indent="0" marL="0"><a:buNone /></a:pPr><a14:m><m:oMathPara xmlns:m="http://schemas.openxmlformats.org/officeDocument/2006/math"><m:oMathParaPr><m:jc m:val="center" /></m:oMathParaPr><m:oMath><m:r><m:t>t</m:t></m:r><m:r><m:rPr><m:sty m:val="p" /></m:rPr><m:t>=</m:t></m:r><m:f><m:fPr><m:type m:val="bar" /></m:fPr><m:num><m:sSub><m:e><m:acc><m:accPr><m:chr m:val="‾" /></m:accPr><m:e><m:r><m:t>x</m:t></m:r></m:e></m:acc></m:e><m:sub><m:r><m:t>1</m:t></m:r></m:sub></m:sSub><m:r><m:rPr><m:sty m:val="p" /></m:rPr><m:t>−</m:t></m:r><m:sSub><m:e><m:acc><m:accPr><m:chr m:val="‾" /></m:accPr><m:e><m:r><m:t>x</m:t></m:r></m:e></m:acc></m:e><m:sub><m:r><m:t>2</m:t></m:r></m:sub></m:sSub></m:num><m:den><m:sSub><m:e><m:r><m:rPr><m:nor /><m:sty m:val="p" /></m:rPr><m:t>SE</m:t></m:r></m:e><m:sub><m:r><m:rPr><m:nor /><m:sty m:val="p" /></m:rPr><m:t>diff</m:t></m:r></m:sub></m:sSub></m:den></m:f></m:oMath></m:oMathPara></a14:m></a:p><a:p><a:pPr lvl="0" /><a:r><a:rPr /><a:t>Numerator: the </a:t></a:r><a:r><a:rPr b="1" /><a:t>observed difference</a:t></a:r><a:r><a:rPr /><a:t> in means</a:t></a:r></a:p><a:p><a:pPr lvl="0" /><a:r><a:rPr /><a:t>Denominator: the </a:t></a:r><a:r><a:rPr b="1" /><a:t>uncertainty</a:t></a:r><a:r><a:rPr /><a:t> in that difference (SE of the difference)</a:t></a:r></a:p><a:p><a:pPr lvl="0" indent="0" marL="0"><a:buNone /></a:pPr><a:r><a:rPr b="1" /><a:t>Large |t|</a:t></a:r><a:r><a:rPr /><a:t> → the difference is large relative to the noise → small </a:t></a:r><a:r><a:rPr i="1" /><a:t>p</a:t></a:r><a:r><a:rPr /><a:t>-value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4495800" y="660400" /><a:ext cx="4406900" cy="3810000" /></p:xfrm><a:graphic><a:graphicData uri="http://schemas.openxmlformats.org/drawingml/2006/table"><a:tbl><a:tblPr firstRow="1" bandRow="1"><a:tableStyleId>{5C22544A-7EE6-4342-B048-85BDC9FD1C3A}</a:tableStyleId></a:tblPr><a:tblGrid><a:gridCol w="2197100" /><a:gridCol w="2197100" /></a:tblGrid><a:tr h="0"><a:tc><a:txBody><a:bodyPr /><a:lstStyle /><a:p><a:pPr lvl="0" indent="0" marL="0"><a:buNone /></a:pPr><a:r><a:rPr /><a:t>Component</a:t></a:r></a:p></a:txBody><a:tcPr /></a:tc><a:tc><a:txBody><a:bodyPr /><a:lstStyle /><a:p><a:pPr lvl="0" indent="0" marL="0"><a:buNone /></a:pPr><a:r><a:rPr /><a:t>Our context</a:t></a:r></a:p></a:txBody><a:tcPr /></a:tc></a:tr><a:tr h="0"><a:tc><a:txBody><a:bodyPr /><a:lstStyle /><a:p><a:pPr lvl="0" indent="0" marL="0"><a:buNone /></a:pPr><a:r><a:rPr /><a:t>Group 1</a:t></a:r></a:p></a:txBody></a:tc><a:tc><a:txBody><a:bodyPr /><a:lstStyle /><a:p><a:pPr lvl="0" indent="0" marL="0"><a:buNone /></a:pPr><a:r><a:rPr /><a:t>Shady leaves</a:t></a:r></a:p></a:txBody></a:tc></a:tr><a:tr h="0"><a:tc><a:txBody><a:bodyPr /><a:lstStyle /><a:p><a:pPr lvl="0" indent="0" marL="0"><a:buNone /></a:pPr><a:r><a:rPr /><a:t>Group 2</a:t></a:r></a:p></a:txBody></a:tc><a:tc><a:txBody><a:bodyPr /><a:lstStyle /><a:p><a:pPr lvl="0" indent="0" marL="0"><a:buNone /></a:pPr><a:r><a:rPr /><a:t>Sunny leaves</a:t></a:r></a:p></a:txBody></a:tc></a:tr><a:tr h="0"><a:tc><a:txBody><a:bodyPr /><a:lstStyle /><a:p><a:pPr lvl="0" indent="0" marL="0"><a:buNone /></a:pPr><a:r><a:rPr /><a:t>Measurement</a:t></a:r></a:p></a:txBody></a:tc><a:tc><a:txBody><a:bodyPr /><a:lstStyle /><a:p><a:pPr lvl="0" indent="0" marL="0"><a:buNone /></a:pPr><a:r><a:rPr><a:latin typeface="Courier" /></a:rPr><a:t>weight_g</a:t></a:r></a:p></a:txBody></a:tc></a:tr><a:tr h="0"><a:tc><a:txBody><a:bodyPr /><a:lstStyle /><a:p><a:pPr lvl="0" indent="0" marL="0"><a:buNone /></a:pPr><a:r><a:rPr /><a:t>H₀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/a:p></a:txBody></a:tc></a:tr><a:tr h="0"><a:tc><a:txBody><a:bodyPr /><a:lstStyle /><a:p><a:pPr lvl="0" indent="0" marL="0"><a:buNone /></a:pPr><a:r><a:rPr /><a:t>Hₐ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/a:p></a:txBody></a:tc></a:tr></a:tbl></a:graphicData></a:graphic></p:graphicFrame></p:spTree></p:cSld>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Welch’s? — Don’t Assume Equal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Standard t-test</a:t>
                </a:r>
                <a:r>
                  <a:rPr/>
                  <a:t> — pools the two variances into one estimate. Requires both groups to have the </a:t>
                </a:r>
                <a:r>
                  <a:rPr b="1"/>
                  <a:t>same population variance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Welch’s t-test</a:t>
                </a:r>
                <a:r>
                  <a:rPr/>
                  <a:t> — uses each group’s variance separately. Does </a:t>
                </a:r>
                <a:r>
                  <a:rPr b="1"/>
                  <a:t>not</a:t>
                </a:r>
                <a:r>
                  <a:rPr/>
                  <a:t> require equal variance.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t</m:t>
                          </m:r>
                        </m:e>
                        <m:sub>
                          <m:r>
                            <m:t>W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denominator is the </a:t>
                </a:r>
                <a:r>
                  <a:rPr b="1"/>
                  <a:t>true SE of the difference</a:t>
                </a:r>
                <a:r>
                  <a:rPr/>
                  <a:t> — no pooling.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always use Welch’s?</a:t>
            </a:r>
          </a:p>
          <a:p>
            <a:pPr lvl="0"/>
            <a:r>
              <a:rPr/>
              <a:t>When variances </a:t>
            </a:r>
            <a:r>
              <a:rPr b="1"/>
              <a:t>are</a:t>
            </a:r>
            <a:r>
              <a:rPr/>
              <a:t> equal: almost identical result — minimal loss of power</a:t>
            </a:r>
          </a:p>
          <a:p>
            <a:pPr lvl="0"/>
            <a:r>
              <a:rPr/>
              <a:t>When variances </a:t>
            </a:r>
            <a:r>
              <a:rPr b="1"/>
              <a:t>are not</a:t>
            </a:r>
            <a:r>
              <a:rPr/>
              <a:t> equal: standard t-test gives </a:t>
            </a:r>
            <a:r>
              <a:rPr b="1"/>
              <a:t>inflated Type I error</a:t>
            </a:r>
            <a:r>
              <a:rPr/>
              <a:t> (false positives)</a:t>
            </a:r>
          </a:p>
          <a:p>
            <a:pPr lvl="0"/>
            <a:r>
              <a:rPr b="1"/>
              <a:t>Welch’s protects you either way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Welch’s as your </a:t>
            </a:r>
            <a:r>
              <a:rPr sz="2000" b="1"/>
              <a:t>default</a:t>
            </a:r>
            <a:r>
              <a:rPr sz="2000"/>
              <a:t> for all two-group comparisons.</a:t>
            </a:r>
          </a:p>
          <a:p>
            <a:pPr lvl="0" indent="0" marL="1270000">
              <a:buNone/>
            </a:pPr>
            <a:r>
              <a:rPr sz="2000"/>
              <a:t>In R: </a:t>
            </a:r>
            <a:r>
              <a:rPr sz="2000" b="1">
                <a:latin typeface="Courier"/>
              </a:rPr>
              <a:t>var.equal = FALSE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Seeing the Formula in 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 = difference ÷ SE-of-the-difference, and the difference is 4 g. Do you expect |t| to land nearer 1, 5, or 10? Predict before the numbers appear.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Watch the instructor plug numbers into the formula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se_diff &lt;-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((s_sha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n_sha)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(s_sun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n_sun))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t_manual &lt;- 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se_diff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 in means:"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Difference in means: 4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of difference: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(se_diff,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of difference:    0.411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"t-statistic:    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(t_manual,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t-statistic:         9.733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Step by step: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Difference in means: 7.80 − 3.80 = </a:t>
                </a:r>
                <a:r>
                  <a:rPr b="1"/>
                  <a:t>4.0 g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SE of the difference: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h</m:t>
                                </m:r>
                                <m:r>
                                  <m:t>a</m:t>
                                </m:r>
                                <m:r>
                                  <m:t>d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m:t>10</m:t>
                            </m:r>
                          </m:den>
                        </m:f>
                        <m:r>
                          <m:rPr>
                            <m:sty m:val="p"/>
                          </m:rPr>
                          <m:t>+</m:t>
                        </m:r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u</m:t>
                                </m:r>
                                <m:r>
                                  <m:t>n</m:t>
                                </m:r>
                                <m:r>
                                  <m:t>n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m:t>10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t = difference / SE</a:t>
                </a:r>
              </a:p>
              <a:p>
                <a:pPr lvl="0" indent="0" marL="0">
                  <a:buNone/>
                </a:pPr>
                <a:r>
                  <a:rPr/>
                  <a:t>The observed difference is ~10 standard errors above zero — very far from what we’d expect if H₀ were true. You’ll try this yourself with a calculator in the activity’s optional section — today the goal is just to see where the number comes from.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9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Load the data and recompute the group means, SD, and SE. Predict each output, type it, run it.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Steps 1–3: Hypotheses &amp;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stating H₀ / Hₐ formally, checking normality (histogram + Shapiro-Wilk), and checking equal variance (Levene’s).</a:t>
            </a:r>
          </a:p>
          <a:p>
            <a:pPr lvl="0" indent="0" marL="0">
              <a:buNone/>
            </a:pPr>
            <a:r>
              <a:rPr b="1"/>
              <a:t>🛑 After this chunk: Activity Parts 3–6</a:t>
            </a:r>
            <a:r>
              <a:rPr/>
              <a:t> (hypotheses, histogram, Shapiro-Wilk, Levene’s).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1 — Hypotheses (Formal)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Null hypothesis: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Shady and sunny leaves have the </a:t>
                </a:r>
                <a:r>
                  <a:rPr b="1"/>
                  <a:t>same mean weight</a:t>
                </a:r>
                <a:r>
                  <a:rPr/>
                  <a:t> in the population.</a:t>
                </a:r>
              </a:p>
              <a:p>
                <a:pPr lvl="0" indent="0" marL="0">
                  <a:buNone/>
                </a:pPr>
                <a:r>
                  <a:rPr b="1"/>
                  <a:t>Alternate hypothesis (two-tailed):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A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≠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mean leaf weights </a:t>
                </a:r>
                <a:r>
                  <a:rPr b="1"/>
                  <a:t>differ</a:t>
                </a:r>
                <a:r>
                  <a:rPr/>
                  <a:t> between sides — in either direction.</a:t>
                </a:r>
              </a:p>
              <a:p>
                <a:pPr lvl="0" indent="0" marL="0">
                  <a:buNone/>
                </a:pPr>
                <a:r>
                  <a:rPr b="1"/>
                  <a:t>Significance level:</a:t>
                </a:r>
                <a:r>
                  <a:rPr/>
                  <a:t> α = 0.05</a:t>
                </a:r>
              </a:p>
              <a:p>
                <a:pPr lvl="0" indent="0" marL="0">
                  <a:buNone/>
                </a:pPr>
                <a:r>
                  <a:rPr/>
                  <a:t>We will reject H₀ if </a:t>
                </a:r>
                <a:r>
                  <a:rPr i="1"/>
                  <a:t>p</a:t>
                </a:r>
                <a:r>
                  <a:rPr/>
                  <a:t> &lt; 0.05.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state hypotheses first?</a:t>
            </a:r>
          </a:p>
          <a:p>
            <a:pPr lvl="0"/>
            <a:r>
              <a:rPr/>
              <a:t>Keeps the analysis honest</a:t>
            </a:r>
          </a:p>
          <a:p>
            <a:pPr lvl="0"/>
            <a:r>
              <a:rPr/>
              <a:t>Prevents “HARKing” (Hypothesizing After Results are Known)</a:t>
            </a:r>
          </a:p>
          <a:p>
            <a:pPr lvl="0"/>
            <a:r>
              <a:rPr/>
              <a:t>Forces you to commit to a direction (one-tailed) or not (two-tailed) before seeing the data</a:t>
            </a:r>
          </a:p>
          <a:p>
            <a:pPr lvl="0" indent="0" marL="0">
              <a:buNone/>
            </a:pPr>
            <a:r>
              <a:rPr b="1"/>
              <a:t>Our commitment:</a:t>
            </a:r>
            <a:r>
              <a:rPr/>
              <a:t> two-tailed, α = 0.05, before running any test.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Check Normality: Histogram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Histogram per group to visually check normality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Distribution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</a:t>
            </a:r>
          </a:p>
        </p:txBody>
      </p:sp>
      <p:pic>
        <p:nvPicPr>
          <p:cNvPr descr="t_tests_lecture_files/figure-pptx/histogram-n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Roughly </a:t>
            </a:r>
            <a:r>
              <a:rPr b="1"/>
              <a:t>bell-shaped</a:t>
            </a:r>
            <a:r>
              <a:rPr/>
              <a:t> — not heavily skewed</a:t>
            </a:r>
          </a:p>
          <a:p>
            <a:pPr lvl="0"/>
            <a:r>
              <a:rPr/>
              <a:t>No obvious </a:t>
            </a:r>
            <a:r>
              <a:rPr b="1"/>
              <a:t>bimodal</a:t>
            </a:r>
            <a:r>
              <a:rPr/>
              <a:t> peaks</a:t>
            </a:r>
          </a:p>
          <a:p>
            <a:pPr lvl="0"/>
            <a:r>
              <a:rPr/>
              <a:t>No extreme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With n = 10 per group, histograms look lumpy — that is </a:t>
            </a:r>
            <a:r>
              <a:rPr b="1"/>
              <a:t>normal for small samples</a:t>
            </a:r>
            <a:r>
              <a:rPr/>
              <a:t>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 b="1"/>
              <a:t>QQ plot</a:t>
            </a:r>
            <a:r>
              <a:rPr sz="2000"/>
              <a:t> is another common visual check — same idea, different picture. You’ll find one in the activity’s optional section if you want to compare.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Check Normality: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Shapiro-Wilk’s H₀ is “the data are normal.” From the histogram you just saw, predict for each side: will </a:t>
            </a:r>
            <a:r>
              <a:rPr sz="2000" i="1"/>
              <a:t>p</a:t>
            </a:r>
            <a:r>
              <a:rPr sz="2000"/>
              <a:t> be </a:t>
            </a:r>
            <a:r>
              <a:rPr sz="2000" b="1"/>
              <a:t>above</a:t>
            </a:r>
            <a:r>
              <a:rPr sz="2000"/>
              <a:t> or </a:t>
            </a:r>
            <a:r>
              <a:rPr sz="2000" b="1"/>
              <a:t>below</a:t>
            </a:r>
            <a:r>
              <a:rPr sz="2000"/>
              <a:t> 0.05?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sunny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0.8197, p-value = 0.02513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shady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0.89461, p-value = 0.191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Shapiro-Wilk H₀:</a:t>
            </a:r>
            <a:r>
              <a:rPr/>
              <a:t> the data are normally distributed.</a:t>
            </a:r>
          </a:p>
          <a:p>
            <a:pPr lvl="0"/>
            <a:r>
              <a:rPr i="1"/>
              <a:t>p</a:t>
            </a:r>
            <a:r>
              <a:rPr/>
              <a:t> &gt; 0.05 → </a:t>
            </a:r>
            <a:r>
              <a:rPr b="1"/>
              <a:t>fail to reject</a:t>
            </a:r>
            <a:r>
              <a:rPr/>
              <a:t> normality → proceed with t-test</a:t>
            </a:r>
          </a:p>
          <a:p>
            <a:pPr lvl="0"/>
            <a:r>
              <a:rPr i="1"/>
              <a:t>p</a:t>
            </a:r>
            <a:r>
              <a:rPr/>
              <a:t> &lt; 0.05 → evidence of non-normality → consider a non-parametric alternative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Small-sample caution:</a:t>
            </a:r>
          </a:p>
          <a:p>
            <a:pPr lvl="0" indent="0" marL="1270000">
              <a:buNone/>
            </a:pPr>
            <a:r>
              <a:rPr sz="2000"/>
              <a:t>With n = 10, this test has </a:t>
            </a:r>
            <a:r>
              <a:rPr sz="2000" b="1"/>
              <a:t>low power</a:t>
            </a:r>
            <a:r>
              <a:rPr sz="2000"/>
              <a:t> — it rarely detects non-normality even when present. The histogram is equally important.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3 — Check Variance: Levene’s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are the variances similar?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   0.6 0.4486
      18        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Levene’s test H₀:</a:t>
            </a:r>
            <a:r>
              <a:rPr/>
              <a:t> the two groups have </a:t>
            </a:r>
            <a:r>
              <a:rPr b="1"/>
              <a:t>equal variance</a:t>
            </a:r>
            <a:r>
              <a:rPr/>
              <a:t>.</a:t>
            </a:r>
          </a:p>
          <a:p>
            <a:pPr lvl="0"/>
            <a:r>
              <a:rPr i="1"/>
              <a:t>p</a:t>
            </a:r>
            <a:r>
              <a:rPr/>
              <a:t> &gt; 0.05 → variances are not significantly different</a:t>
            </a:r>
          </a:p>
          <a:p>
            <a:pPr lvl="0"/>
            <a:r>
              <a:rPr i="1"/>
              <a:t>p</a:t>
            </a:r>
            <a:r>
              <a:rPr/>
              <a:t> &lt; 0.05 → variances are significantly different</a:t>
            </a:r>
          </a:p>
          <a:p>
            <a:pPr lvl="0" indent="0" marL="0">
              <a:buNone/>
            </a:pPr>
            <a:r>
              <a:rPr b="1"/>
              <a:t>Our response regardless of the result:</a:t>
            </a:r>
          </a:p>
          <a:p>
            <a:pPr lvl="0" indent="0" marL="0">
              <a:buNone/>
            </a:pPr>
            <a:r>
              <a:rPr/>
              <a:t>We will use Welch’s t-test (</a:t>
            </a:r>
            <a:r>
              <a:rPr>
                <a:latin typeface="Courier"/>
              </a:rPr>
              <a:t>var.equal = FALSE</a:t>
            </a:r>
            <a:r>
              <a:rPr/>
              <a:t>).</a:t>
            </a:r>
          </a:p>
          <a:p>
            <a:pPr lvl="0" indent="0" marL="0">
              <a:buNone/>
            </a:pPr>
            <a:r>
              <a:rPr/>
              <a:t>Welch’s is valid whether or not the variances are equal. We run Levene’s to </a:t>
            </a:r>
            <a:r>
              <a:rPr i="1"/>
              <a:t>understand our data</a:t>
            </a:r>
            <a:r>
              <a:rPr/>
              <a:t>, not to choose our test.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Suppose I forgot </a:t>
            </a:r>
            <a:r>
              <a:rPr>
                <a:latin typeface="Courier"/>
              </a:rPr>
              <a:t>library(car)</a:t>
            </a:r>
            <a:r>
              <a:rPr/>
              <a:t> and run Levene’s: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tree_df)</a:t>
            </a:r>
          </a:p>
          <a:p>
            <a:pPr lvl="0" indent="0" marL="0">
              <a:buNone/>
            </a:pPr>
            <a:r>
              <a:rPr/>
              <a:t>R stops with: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leveneTest(weight_g ~ side, data = tree_df) :
  could not find function "leveneTest"</a:t>
            </a:r>
          </a:p>
          <a:p>
            <a:pPr lvl="0" indent="0" marL="0">
              <a:buNone/>
            </a:pPr>
            <a:r>
              <a:rPr/>
              <a:t>The fix — load the package that </a:t>
            </a:r>
            <a:r>
              <a:rPr i="1"/>
              <a:t>contains</a:t>
            </a:r>
            <a:r>
              <a:rPr/>
              <a:t> the function: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leveneTest()</a:t>
            </a:r>
            <a:r>
              <a:rPr sz="2000"/>
              <a:t> lives inside </a:t>
            </a:r>
            <a:r>
              <a:rPr sz="2000">
                <a:latin typeface="Courier"/>
              </a:rPr>
              <a:t>car</a:t>
            </a:r>
            <a:r>
              <a:rPr sz="2000"/>
              <a:t>, not base R — so R has no idea what the function is until the package is loaded. Seeing that exact error message once, on purpose, means you won’t waste ten minutes hunting for a typo the next time it happens to you.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9 Parts 3–6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9 — Parts 3–6</a:t>
            </a:r>
          </a:p>
          <a:p>
            <a:pPr lvl="0" indent="0" marL="0">
              <a:buNone/>
            </a:pPr>
            <a:r>
              <a:rPr/>
              <a:t>Close the slides. State your hypotheses, then check normality (histogram + Shapiro-Wilk) and variance (Levene’s). Predict every p-value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Why we need a hypothesis test — means alone are not enough</a:t>
            </a:r>
          </a:p>
          <a:p>
            <a:pPr lvl="0"/>
            <a:r>
              <a:rPr/>
              <a:t>The </a:t>
            </a:r>
            <a:r>
              <a:rPr b="1"/>
              <a:t>five-step framework</a:t>
            </a:r>
            <a:r>
              <a:rPr/>
              <a:t> we’ll reuse all semester</a:t>
            </a:r>
          </a:p>
          <a:p>
            <a:pPr lvl="0"/>
            <a:r>
              <a:rPr b="1"/>
              <a:t>Welch’s t-test</a:t>
            </a:r>
            <a:r>
              <a:rPr/>
              <a:t> — use </a:t>
            </a:r>
            <a:r>
              <a:rPr>
                <a:latin typeface="Courier"/>
              </a:rPr>
              <a:t>var.equal = FALSE</a:t>
            </a:r>
            <a:r>
              <a:rPr/>
              <a:t> as the safe default</a:t>
            </a:r>
          </a:p>
          <a:p>
            <a:pPr lvl="0"/>
            <a:r>
              <a:rPr b="1"/>
              <a:t>Two-tailed</a:t>
            </a:r>
            <a:r>
              <a:rPr/>
              <a:t> test — detects differences in either direction</a:t>
            </a:r>
          </a:p>
          <a:p>
            <a:pPr lvl="0"/>
            <a:r>
              <a:rPr/>
              <a:t>Checking assumptions </a:t>
            </a:r>
            <a:r>
              <a:rPr b="1"/>
              <a:t>before</a:t>
            </a:r>
            <a:r>
              <a:rPr/>
              <a:t> testing: normality (histogram + Shapiro-Wilk), variance (Levene’s)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 b="1"/>
              <a:t>Up next — Lecture 10, T-Tests II:</a:t>
            </a:r>
          </a:p>
          <a:p>
            <a:pPr lvl="0"/>
            <a:r>
              <a:rPr/>
              <a:t>Run Welch’s </a:t>
            </a:r>
            <a:r>
              <a:rPr>
                <a:latin typeface="Courier"/>
              </a:rPr>
              <a:t>t.test()</a:t>
            </a:r>
          </a:p>
          <a:p>
            <a:pPr lvl="0"/>
            <a:r>
              <a:rPr/>
              <a:t>Decode the output line by line</a:t>
            </a:r>
          </a:p>
          <a:p>
            <a:pPr lvl="0"/>
            <a:r>
              <a:rPr/>
              <a:t>Make a formal decision and write a results sentence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— T-Tests I: Setting Up the Test</dc:title>
  <dc:creator>Bill Perry</dc:creator>
  <cp:keywords/>
  <dc:description>Why comparing means isn’t enough, the t-statistic, why Welch’s is the safe default, and checking normality and variance before we ever run a test.</dc:description>
  <dcterms:created xsi:type="dcterms:W3CDTF">2026-08-27T17:12:56Z</dcterms:created>
  <dcterms:modified xsi:type="dcterms:W3CDTF">2026-08-27T17:12:56Z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2026-08-27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9</vt:lpwstr>
  </property>
  <property fmtid="{D5CDD505-2E9C-101B-9397-08002B2CF9AE}" pid="13" name="resources">
    <vt:lpwstr/>
  </property>
  <property fmtid="{D5CDD505-2E9C-101B-9397-08002B2CF9AE}" pid="14" name="subtitle">
    <vt:lpwstr>Hypotheses, the t-statistic, and checking assumptions before we test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5</vt:lpwstr>
  </property>
</Properties>
</file>