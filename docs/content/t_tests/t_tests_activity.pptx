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lstStyle>
            <a:lvl1pPr marL="230188" indent="-230188">
              <a:tabLst/>
              <a:defRPr sz="2000"/>
            </a:lvl1pPr>
            <a:lvl2pPr marL="514350" indent="-284163">
              <a:spcBef>
                <a:spcPts val="0"/>
              </a:spcBef>
              <a:tabLst/>
              <a:defRPr sz="2000"/>
            </a:lvl2pPr>
            <a:lvl3pPr marL="692150" indent="-177800">
              <a:spcBef>
                <a:spcPts val="0"/>
              </a:spcBef>
              <a:tabLst/>
              <a:defRPr sz="1600"/>
            </a:lvl3pPr>
            <a:lvl4pPr marL="914400" indent="-222250">
              <a:spcBef>
                <a:spcPts val="0"/>
              </a:spcBef>
              <a:tabLst/>
              <a:defRPr sz="1600"/>
            </a:lvl4pPr>
            <a:lvl5pPr marL="1146175" indent="-231775">
              <a:spcBef>
                <a:spcPts val="0"/>
              </a:spcBef>
              <a:tabLs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lvl1pPr algn="l">
              <a:defRPr b="0">
                <a:solidFill>
                  <a:srgbClr val="F4CD54"/>
                </a:solidFill>
              </a:defRPr>
            </a:lvl1pPr>
          </a:lstStyle>
          <a:p>
            <a:r>
              <a:rPr lang="en-US" dirty="0"/>
              <a:t>Click to edit Master title style</a:t>
            </a:r>
          </a:p>
        </p:txBody>
      </p:sp>
      <p:sp>
        <p:nvSpPr>
          <p:cNvPr id="3" name="Content Placeholder 2"/>
          <p:cNvSpPr>
            <a:spLocks noGrp="1"/>
          </p:cNvSpPr>
          <p:nvPr>
            <p:ph sz="half" idx="1"/>
          </p:nvPr>
        </p:nvSpPr>
        <p:spPr>
          <a:xfrm>
            <a:off x="9041" y="662663"/>
            <a:ext cx="4201332" cy="3818173"/>
          </a:xfrm>
        </p:spPr>
        <p:txBody>
          <a:bodyPr/>
          <a:lstStyle>
            <a:lvl1pPr marL="230188" indent="-230188">
              <a:tabLst/>
              <a:defRPr sz="2000"/>
            </a:lvl1pPr>
            <a:lvl2pPr marL="460375" indent="-230188">
              <a:tabLst/>
              <a:defRPr sz="1800"/>
            </a:lvl2pPr>
            <a:lvl3pPr marL="630238" indent="-169863">
              <a:tabLst/>
              <a:defRPr sz="1600"/>
            </a:lvl3pPr>
            <a:lvl4pPr marL="914400" indent="-284163">
              <a:tabLst/>
              <a:defRPr sz="1600"/>
            </a:lvl4pPr>
            <a:lvl5pPr marL="1146175" indent="-231775">
              <a:tabLst/>
              <a:defRPr sz="16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02258" y="662664"/>
            <a:ext cx="4418308" cy="3818172"/>
          </a:xfrm>
        </p:spPr>
        <p:txBody>
          <a:bodyPr/>
          <a:lstStyle>
            <a:lvl1pPr marL="342900" indent="-342900">
              <a:defRPr lang="en-US" sz="2000" kern="1200" dirty="0">
                <a:solidFill>
                  <a:schemeClr val="tx1"/>
                </a:solidFill>
                <a:latin typeface="+mn-lt"/>
                <a:ea typeface="+mn-ea"/>
                <a:cs typeface="+mn-cs"/>
              </a:defRPr>
            </a:lvl1pPr>
            <a:lvl2pPr marL="515937" indent="-285750">
              <a:defRPr lang="en-US" sz="1800" kern="1200" dirty="0">
                <a:solidFill>
                  <a:schemeClr val="tx1"/>
                </a:solidFill>
                <a:latin typeface="+mn-lt"/>
                <a:ea typeface="+mn-ea"/>
                <a:cs typeface="+mn-cs"/>
              </a:defRPr>
            </a:lvl2pPr>
            <a:lvl3pPr marL="746125" indent="-285750">
              <a:defRPr lang="en-US" sz="1600" kern="1200" dirty="0">
                <a:solidFill>
                  <a:schemeClr val="tx1"/>
                </a:solidFill>
                <a:latin typeface="+mn-lt"/>
                <a:ea typeface="+mn-ea"/>
                <a:cs typeface="+mn-cs"/>
              </a:defRPr>
            </a:lvl3pPr>
            <a:lvl4pPr marL="915987" indent="-285750">
              <a:defRPr lang="en-US" sz="1600" kern="1200" dirty="0">
                <a:solidFill>
                  <a:schemeClr val="tx1"/>
                </a:solidFill>
                <a:latin typeface="+mn-lt"/>
                <a:ea typeface="+mn-ea"/>
                <a:cs typeface="+mn-cs"/>
              </a:defRPr>
            </a:lvl4pPr>
            <a:lvl5pPr marL="1200150" indent="-285750">
              <a:defRPr lang="en-US" sz="16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3514" y="823389"/>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6/28/26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6/28/26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139485" y="2822226"/>
            <a:ext cx="8756541" cy="1945037"/>
          </a:xfrm>
        </p:spPr>
        <p:txBody>
          <a:bodyPr/>
          <a:lstStyle>
            <a:lvl1pPr>
              <a:defRPr sz="2000"/>
            </a:lvl1pPr>
            <a:lvl2pPr>
              <a:defRPr sz="1800"/>
            </a:lvl2pPr>
            <a:lvl3pPr>
              <a:defRPr sz="1800"/>
            </a:lvl3pPr>
            <a:lvl4pPr>
              <a:defRPr sz="1800"/>
            </a:lvl4pPr>
            <a:lvl5pPr>
              <a:defRPr sz="18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1A1A2E"/>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6/28/26</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4CD54"/>
          </a:solidFill>
          <a:latin typeface="+mj-lt"/>
          <a:ea typeface="+mj-ea"/>
          <a:cs typeface="+mj-cs"/>
        </a:defRPr>
      </a:lvl1pPr>
    </p:titleStyle>
    <p:bodyStyle>
      <a:lvl1pPr algn="l" defTabSz="342900" eaLnBrk="1" hangingPunct="1" indent="-342900" latinLnBrk="0" marL="342900" rtl="0">
        <a:spcBef>
          <a:spcPts val="0"/>
        </a:spcBef>
        <a:buFont typeface="Arial"/>
        <a:buChar char="•"/>
        <a:defRPr kern="1200" sz="20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20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osit.co/resources/cheatsheets/"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Worksheet 09 — T-Tests I: Setting Up the Test</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Hypotheses, the t-statistic, and checking assumptions before we test</a:t>
            </a:r>
            <a:br/>
            <a:br/>
            <a:r>
              <a:rPr/>
              <a:t>Bill Perry</a:t>
            </a:r>
          </a:p>
        </p:txBody>
      </p:sp>
      <p:sp>
        <p:nvSpPr>
          <p:cNvPr id="4" name="Date Placeholder 3"/>
          <p:cNvSpPr>
            <a:spLocks noGrp="1"/>
          </p:cNvSpPr>
          <p:nvPr>
            <p:ph idx="10" sz="half" type="dt"/>
          </p:nvPr>
        </p:nvSpPr>
        <p:spPr/>
        <p:txBody>
          <a:bodyPr/>
          <a:lstStyle/>
          <a:p>
            <a:pPr lvl="0" indent="0" marL="0">
              <a:buNone/>
            </a:pPr>
            <a:r>
              <a:rPr/>
              <a:t>2026-08-27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In-class Activity 9: Setting Up the Test</a:t>
            </a:r>
          </a:p>
        </p:txBody>
      </p:sp>
      <p:sp>
        <p:nvSpPr>
          <p:cNvPr id="3" name="Content Placeholder 2"/>
          <p:cNvSpPr>
            <a:spLocks noGrp="1"/>
          </p:cNvSpPr>
          <p:nvPr>
            <p:ph idx="1"/>
          </p:nvPr>
        </p:nvSpPr>
        <p:spPr/>
        <p:txBody>
          <a:bodyPr/>
          <a:lstStyle/>
          <a:p>
            <a:pPr lvl="0" indent="0" marL="0">
              <a:spcBef>
                <a:spcPts val="3000"/>
              </a:spcBef>
              <a:buNone/>
            </a:pPr>
            <a:r>
              <a:rPr b="1"/>
              <a:t>Recap from Worksheets 05–06</a:t>
            </a:r>
          </a:p>
          <a:p>
            <a:pPr lvl="0"/>
            <a:r>
              <a:rPr/>
              <a:t>Loaded our Excel leaf data with </a:t>
            </a:r>
            <a:r>
              <a:rPr>
                <a:latin typeface="Courier"/>
              </a:rPr>
              <a:t>read_excel()</a:t>
            </a:r>
          </a:p>
          <a:p>
            <a:pPr lvl="0"/>
            <a:r>
              <a:rPr/>
              <a:t>Used </a:t>
            </a:r>
            <a:r>
              <a:rPr>
                <a:latin typeface="Courier"/>
              </a:rPr>
              <a:t>group_by()</a:t>
            </a:r>
            <a:r>
              <a:rPr/>
              <a:t> + </a:t>
            </a:r>
            <a:r>
              <a:rPr>
                <a:latin typeface="Courier"/>
              </a:rPr>
              <a:t>summarize()</a:t>
            </a:r>
            <a:r>
              <a:rPr/>
              <a:t> to compute mean, SD, and SE per group</a:t>
            </a:r>
          </a:p>
          <a:p>
            <a:pPr lvl="0"/>
            <a:r>
              <a:rPr/>
              <a:t>Checked for missing values with </a:t>
            </a:r>
            <a:r>
              <a:rPr>
                <a:latin typeface="Courier"/>
              </a:rPr>
              <a:t>sum(!is.na())</a:t>
            </a:r>
          </a:p>
          <a:p>
            <a:pPr lvl="0"/>
            <a:r>
              <a:rPr/>
              <a:t>Made boxplots with jittered points and mean ± SE plots with </a:t>
            </a:r>
            <a:r>
              <a:rPr>
                <a:latin typeface="Courier"/>
              </a:rPr>
              <a:t>stat_summary()</a:t>
            </a:r>
            <a:r>
              <a:rPr/>
              <a:t> (Worksheet 03, GGPlot I)</a:t>
            </a:r>
          </a:p>
          <a:p>
            <a:pPr lvl="0"/>
            <a:r>
              <a:rPr b="1"/>
              <a:t>Prediction:</a:t>
            </a:r>
            <a:r>
              <a:rPr/>
              <a:t> shady leaves appeared heavier, taller, and wider than sunny leaves</a:t>
            </a:r>
          </a:p>
          <a:p>
            <a:pPr lvl="0" indent="0" marL="0">
              <a:spcBef>
                <a:spcPts val="3000"/>
              </a:spcBef>
              <a:buNone/>
            </a:pPr>
            <a:r>
              <a:rPr b="1"/>
              <a:t>Today’s Objectives</a:t>
            </a:r>
          </a:p>
          <a:p>
            <a:pPr lvl="0" indent="-342900" marL="342900">
              <a:buAutoNum type="arabicPeriod"/>
            </a:pPr>
            <a:r>
              <a:rPr/>
              <a:t>See where the t-statistic comes from and why we default to Welch’s</a:t>
            </a:r>
          </a:p>
          <a:p>
            <a:pPr lvl="0" indent="-342900" marL="342900">
              <a:buAutoNum type="arabicPeriod"/>
            </a:pPr>
            <a:r>
              <a:rPr/>
              <a:t>State null and alternate hypotheses formally before running any test</a:t>
            </a:r>
          </a:p>
          <a:p>
            <a:pPr lvl="0" indent="-342900" marL="342900">
              <a:buAutoNum type="arabicPeriod"/>
            </a:pPr>
            <a:r>
              <a:rPr/>
              <a:t>Check the normality assumption — histogram and Shapiro-Wilk test</a:t>
            </a:r>
          </a:p>
          <a:p>
            <a:pPr lvl="0" indent="-342900" marL="342900">
              <a:buAutoNum type="arabicPeriod"/>
            </a:pPr>
            <a:r>
              <a:rPr/>
              <a:t>Check the variance assumption — Levene’s test</a:t>
            </a:r>
          </a:p>
          <a:p>
            <a:pPr lvl="0" indent="0" marL="0">
              <a:spcBef>
                <a:spcPts val="3000"/>
              </a:spcBef>
              <a:buNone/>
            </a:pPr>
            <a:r>
              <a:rPr sz="2000" b="1"/>
              <a:t>How to use this worksheet</a:t>
            </a:r>
          </a:p>
          <a:p>
            <a:pPr lvl="0"/>
            <a:r>
              <a:rPr sz="2000"/>
              <a:t>Work through each part in order — the steps build on each other. Type the code into your script in Positron and run it line by line.</a:t>
            </a:r>
          </a:p>
          <a:p>
            <a:pPr lvl="0"/>
            <a:r>
              <a:rPr sz="2000"/>
              <a:t>Code blocks marked </a:t>
            </a:r>
            <a:r>
              <a:rPr sz="2000" b="1"/>
              <a:t>▶ Run this</a:t>
            </a:r>
            <a:r>
              <a:rPr sz="2000"/>
              <a:t> should be executed as written.</a:t>
            </a:r>
          </a:p>
          <a:p>
            <a:pPr lvl="0"/>
            <a:r>
              <a:rPr sz="2000"/>
              <a:t>Blocks marked </a:t>
            </a:r>
            <a:r>
              <a:rPr sz="2000" b="1"/>
              <a:t>✏️ Your turn</a:t>
            </a:r>
            <a:r>
              <a:rPr sz="2000"/>
              <a:t> ask you to write, modify, or interpret something.</a:t>
            </a:r>
          </a:p>
          <a:p>
            <a:pPr lvl="0"/>
            <a:r>
              <a:rPr sz="2000"/>
              <a:t>The </a:t>
            </a:r>
            <a:r>
              <a:rPr sz="2000" b="1"/>
              <a:t>Going further</a:t>
            </a:r>
            <a:r>
              <a:rPr sz="2000"/>
              <a:t> section is optional if you finish early.</a:t>
            </a:r>
          </a:p>
          <a:p>
            <a:pPr lvl="0" indent="0" marL="0">
              <a:spcBef>
                <a:spcPts val="3000"/>
              </a:spcBef>
              <a:buNone/>
            </a:pPr>
            <a:r>
              <a:rPr sz="2000" b="1"/>
              <a:t>🔮 Predict before you run — and type, don’t paste</a:t>
            </a:r>
          </a:p>
          <a:p>
            <a:pPr lvl="0" indent="0" marL="1270000">
              <a:buNone/>
            </a:pPr>
            <a:r>
              <a:rPr sz="2000"/>
              <a:t>Before you run any </a:t>
            </a:r>
            <a:r>
              <a:rPr sz="2000" b="1"/>
              <a:t>▶ Run this</a:t>
            </a:r>
            <a:r>
              <a:rPr sz="2000"/>
              <a:t> block, cover the output and </a:t>
            </a:r>
            <a:r>
              <a:rPr sz="2000" i="1"/>
              <a:t>predict</a:t>
            </a:r>
            <a:r>
              <a:rPr sz="2000"/>
              <a:t> what R will print. Jot your guess down, then run it and compare. Two reasons it is worth the extra few seconds:</a:t>
            </a:r>
          </a:p>
          <a:p>
            <a:pPr lvl="0"/>
            <a:r>
              <a:rPr sz="2000" b="1"/>
              <a:t>A t-test lives or dies on the p-value</a:t>
            </a:r>
            <a:r>
              <a:rPr sz="2000"/>
              <a:t>, and p-values are notoriously easy to misread. Committing to “above or below 0.05” before you see the real number is what forces you to actually reason about the test rather than just glance at the output.</a:t>
            </a:r>
          </a:p>
          <a:p>
            <a:pPr lvl="0"/>
            <a:r>
              <a:rPr sz="2000" b="1"/>
              <a:t>Type </a:t>
            </a:r>
            <a:r>
              <a:rPr sz="2000" b="1">
                <a:latin typeface="Courier"/>
              </a:rPr>
              <a:t>var.equal = FALSE</a:t>
            </a:r>
            <a:r>
              <a:rPr sz="2000" b="1"/>
              <a:t> yourself.</a:t>
            </a:r>
            <a:r>
              <a:rPr sz="2000"/>
              <a:t> It is one argument in a long function call, easy to skim past if you paste the code — but it is the whole reason we default to Welch’s instead of the standard t-test.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sz="2000" b="1"/>
              <a:t>🧩 Chunk 1 — Setup &amp; recap </a:t>
            </a:r>
            <a:r>
              <a:rPr sz="2000" b="1" i="1"/>
              <a:t>(after lecture Chunk 1)</a:t>
            </a:r>
          </a:p>
          <a:p>
            <a:pPr lvl="0" indent="0" marL="1270000">
              <a:buNone/>
            </a:pPr>
            <a:r>
              <a:rPr sz="2000"/>
              <a:t>Parts 1–2: load the data and recompute the descriptive stats.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Load libraries and data</a:t>
            </a:r>
          </a:p>
        </p:txBody>
      </p:sp>
      <p:sp>
        <p:nvSpPr>
          <p:cNvPr id="3" name="Content Placeholder 2"/>
          <p:cNvSpPr>
            <a:spLocks noGrp="1"/>
          </p:cNvSpPr>
          <p:nvPr>
            <p:ph idx="1"/>
          </p:nvPr>
        </p:nvSpPr>
        <p:spPr/>
        <p:txBody>
          <a:bodyPr/>
          <a:lstStyle/>
          <a:p>
            <a:pPr lvl="0" indent="0" marL="0">
              <a:spcBef>
                <a:spcPts val="3000"/>
              </a:spcBef>
              <a:buNone/>
            </a:pPr>
            <a:r>
              <a:rPr b="1"/>
              <a:t>Libraries</a:t>
            </a:r>
          </a:p>
          <a:p>
            <a:pPr lvl="0" indent="0" marL="0">
              <a:buNone/>
            </a:pPr>
            <a:r>
              <a:rPr b="1"/>
              <a:t>▶ Run this at the top of your script — in this exact order:</a:t>
            </a:r>
          </a:p>
          <a:p>
            <a:pPr lvl="0" indent="0">
              <a:buNone/>
            </a:pPr>
            <a:r>
              <a:rPr>
                <a:solidFill>
                  <a:srgbClr val="5E5E5E"/>
                </a:solidFill>
                <a:latin typeface="Courier"/>
              </a:rPr>
              <a:t># Load all packages at the top of the script -----------</a:t>
            </a:r>
            <a:br/>
            <a:r>
              <a:rPr>
                <a:solidFill>
                  <a:srgbClr val="4758AB"/>
                </a:solidFill>
                <a:latin typeface="Courier"/>
              </a:rPr>
              <a:t>library</a:t>
            </a:r>
            <a:r>
              <a:rPr>
                <a:solidFill>
                  <a:srgbClr val="003B4F"/>
                </a:solidFill>
                <a:latin typeface="Courier"/>
              </a:rPr>
              <a:t>(readxl)      </a:t>
            </a:r>
            <a:r>
              <a:rPr>
                <a:solidFill>
                  <a:srgbClr val="5E5E5E"/>
                </a:solidFill>
                <a:latin typeface="Courier"/>
              </a:rPr>
              <a:t># reading Excel files</a:t>
            </a:r>
            <a:br/>
            <a:r>
              <a:rPr>
                <a:solidFill>
                  <a:srgbClr val="4758AB"/>
                </a:solidFill>
                <a:latin typeface="Courier"/>
              </a:rPr>
              <a:t>library</a:t>
            </a:r>
            <a:r>
              <a:rPr>
                <a:solidFill>
                  <a:srgbClr val="003B4F"/>
                </a:solidFill>
                <a:latin typeface="Courier"/>
              </a:rPr>
              <a:t>(tidyverse)   </a:t>
            </a:r>
            <a:r>
              <a:rPr>
                <a:solidFill>
                  <a:srgbClr val="5E5E5E"/>
                </a:solidFill>
                <a:latin typeface="Courier"/>
              </a:rPr>
              <a:t># data manipulation + ggplot2</a:t>
            </a:r>
            <a:br/>
            <a:r>
              <a:rPr>
                <a:solidFill>
                  <a:srgbClr val="4758AB"/>
                </a:solidFill>
                <a:latin typeface="Courier"/>
              </a:rPr>
              <a:t>library</a:t>
            </a:r>
            <a:r>
              <a:rPr>
                <a:solidFill>
                  <a:srgbClr val="003B4F"/>
                </a:solidFill>
                <a:latin typeface="Courier"/>
              </a:rPr>
              <a:t>(car)         </a:t>
            </a:r>
            <a:r>
              <a:rPr>
                <a:solidFill>
                  <a:srgbClr val="5E5E5E"/>
                </a:solidFill>
                <a:latin typeface="Courier"/>
              </a:rPr>
              <a:t># Levene's test for variance</a:t>
            </a:r>
          </a:p>
          <a:p>
            <a:pPr lvl="0" indent="0" marL="1270000">
              <a:buNone/>
            </a:pPr>
            <a:r>
              <a:rPr sz="2000"/>
              <a:t>⚠️ </a:t>
            </a:r>
            <a:r>
              <a:rPr sz="2000" b="1"/>
              <a:t>Watch out!</a:t>
            </a:r>
          </a:p>
          <a:p>
            <a:pPr lvl="0"/>
            <a:r>
              <a:rPr sz="2000"/>
              <a:t>If R says </a:t>
            </a:r>
            <a:r>
              <a:rPr sz="2000">
                <a:latin typeface="Courier"/>
              </a:rPr>
              <a:t>"could not find function 'leveneTest'"</a:t>
            </a:r>
          </a:p>
          <a:p>
            <a:pPr lvl="1"/>
            <a:r>
              <a:rPr sz="2000"/>
              <a:t>you forgot </a:t>
            </a:r>
            <a:r>
              <a:rPr sz="2000">
                <a:latin typeface="Courier"/>
              </a:rPr>
              <a:t>library(car)</a:t>
            </a:r>
            <a:r>
              <a:rPr sz="2000"/>
              <a:t>.</a:t>
            </a:r>
          </a:p>
          <a:p>
            <a:pPr lvl="0"/>
            <a:r>
              <a:rPr sz="2000"/>
              <a:t>Install it once with </a:t>
            </a:r>
            <a:r>
              <a:rPr sz="2000">
                <a:latin typeface="Courier"/>
              </a:rPr>
              <a:t>install.packages("car")</a:t>
            </a:r>
            <a:r>
              <a:rPr sz="2000"/>
              <a:t>, then load it every session </a:t>
            </a:r>
            <a:r>
              <a:rPr sz="2000">
                <a:latin typeface="Courier"/>
              </a:rPr>
              <a:t>library(car)</a:t>
            </a:r>
          </a:p>
          <a:p>
            <a:pPr lvl="0" indent="0" marL="0">
              <a:spcBef>
                <a:spcPts val="3000"/>
              </a:spcBef>
              <a:buNone/>
            </a:pPr>
            <a:r>
              <a:rPr b="1"/>
              <a:t>Load the data</a:t>
            </a:r>
          </a:p>
          <a:p>
            <a:pPr lvl="0" indent="0" marL="0">
              <a:buNone/>
            </a:pPr>
            <a:r>
              <a:rPr b="1"/>
              <a:t>▶ Run this:</a:t>
            </a:r>
          </a:p>
          <a:p>
            <a:pPr lvl="0" indent="0">
              <a:buNone/>
            </a:pPr>
            <a:r>
              <a:rPr>
                <a:solidFill>
                  <a:srgbClr val="5E5E5E"/>
                </a:solidFill>
                <a:latin typeface="Courier"/>
              </a:rPr>
              <a:t># Load the leaf data from the data folder --------------</a:t>
            </a:r>
            <a:br/>
            <a:r>
              <a:rPr>
                <a:solidFill>
                  <a:srgbClr val="003B4F"/>
                </a:solidFill>
                <a:latin typeface="Courier"/>
              </a:rPr>
              <a:t>tree_df &lt;- </a:t>
            </a:r>
            <a:r>
              <a:rPr>
                <a:solidFill>
                  <a:srgbClr val="4758AB"/>
                </a:solidFill>
                <a:latin typeface="Courier"/>
              </a:rPr>
              <a:t>read_excel</a:t>
            </a:r>
            <a:r>
              <a:rPr>
                <a:solidFill>
                  <a:srgbClr val="003B4F"/>
                </a:solidFill>
                <a:latin typeface="Courier"/>
              </a:rPr>
              <a:t>(</a:t>
            </a:r>
            <a:r>
              <a:rPr>
                <a:solidFill>
                  <a:srgbClr val="20794D"/>
                </a:solidFill>
                <a:latin typeface="Courier"/>
              </a:rPr>
              <a:t>"data/2026_06_25_tree_experiment_raw_data.xlsx"</a:t>
            </a:r>
            <a:r>
              <a:rPr>
                <a:solidFill>
                  <a:srgbClr val="003B4F"/>
                </a:solidFill>
                <a:latin typeface="Courier"/>
              </a:rPr>
              <a:t>)</a:t>
            </a:r>
            <a:br/>
            <a:r>
              <a:rPr>
                <a:solidFill>
                  <a:srgbClr val="4758AB"/>
                </a:solidFill>
                <a:latin typeface="Courier"/>
              </a:rPr>
              <a:t>head</a:t>
            </a:r>
            <a:r>
              <a:rPr>
                <a:solidFill>
                  <a:srgbClr val="003B4F"/>
                </a:solidFill>
                <a:latin typeface="Courier"/>
              </a:rPr>
              <a:t>(tree_df)</a:t>
            </a:r>
          </a:p>
          <a:p>
            <a:pPr lvl="0" indent="0" marL="0">
              <a:buNone/>
            </a:pPr>
            <a:r>
              <a:rPr/>
              <a:t>✏️ </a:t>
            </a:r>
            <a:r>
              <a:rPr b="1"/>
              <a:t>Your turn:</a:t>
            </a:r>
            <a:r>
              <a:rPr/>
              <a:t> Before anything else — do you remember the structure of this data frame? Fill in from memory, then check with </a:t>
            </a:r>
            <a:r>
              <a:rPr>
                <a:latin typeface="Courier"/>
              </a:rPr>
              <a:t>glimpse(tree_df)</a:t>
            </a:r>
            <a:r>
              <a:rPr/>
              <a:t>.</a:t>
            </a:r>
          </a:p>
          <a:p>
            <a:pPr lvl="0" indent="0">
              <a:buNone/>
            </a:pPr>
            <a:r>
              <a:rPr>
                <a:latin typeface="Courier"/>
              </a:rPr>
              <a:t>Number of rows:
Number of columns:
Column holding the grouping variable (sunny/shady):
Column we are testing today: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Quick descriptive stats review</a:t>
            </a:r>
          </a:p>
        </p:txBody>
      </p:sp>
      <p:sp>
        <p:nvSpPr>
          <p:cNvPr id="3" name="Content Placeholder 2"/>
          <p:cNvSpPr>
            <a:spLocks noGrp="1"/>
          </p:cNvSpPr>
          <p:nvPr>
            <p:ph idx="1"/>
          </p:nvPr>
        </p:nvSpPr>
        <p:spPr/>
        <p:txBody>
          <a:bodyPr/>
          <a:lstStyle/>
          <a:p>
            <a:pPr lvl="0" indent="0" marL="1270000">
              <a:buNone/>
            </a:pPr>
            <a:r>
              <a:rPr sz="2000"/>
              <a:t>🔮 </a:t>
            </a:r>
            <a:r>
              <a:rPr sz="2000" b="1"/>
              <a:t>Predict first:</a:t>
            </a:r>
            <a:r>
              <a:rPr sz="2000"/>
              <a:t> Before running, guess the mean weight for each side (shady vs sunny) and the gap between them. Write your guesses, then check.</a:t>
            </a:r>
          </a:p>
          <a:p>
            <a:pPr lvl="0" indent="0" marL="0">
              <a:buNone/>
            </a:pPr>
            <a:r>
              <a:rPr b="1"/>
              <a:t>▶ Run this:</a:t>
            </a:r>
          </a:p>
          <a:p>
            <a:pPr lvl="0" indent="0">
              <a:buNone/>
            </a:pPr>
            <a:r>
              <a:rPr>
                <a:solidFill>
                  <a:srgbClr val="5E5E5E"/>
                </a:solidFill>
                <a:latin typeface="Courier"/>
              </a:rPr>
              <a:t># Recap stats from Lecture 06 — both groups at once ----</a:t>
            </a:r>
            <a:br/>
            <a:r>
              <a:rPr>
                <a:solidFill>
                  <a:srgbClr val="003B4F"/>
                </a:solidFill>
                <a:latin typeface="Courier"/>
              </a:rPr>
              <a:t>recap_df &lt;- tree_df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(side)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sum</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(weight_g)),</a:t>
            </a:r>
            <a:br/>
            <a:r>
              <a:rPr>
                <a:solidFill>
                  <a:srgbClr val="003B4F"/>
                </a:solidFill>
                <a:latin typeface="Courier"/>
              </a:rPr>
              <a:t>    </a:t>
            </a:r>
            <a:r>
              <a:rPr>
                <a:solidFill>
                  <a:srgbClr val="657422"/>
                </a:solidFill>
                <a:latin typeface="Courier"/>
              </a:rPr>
              <a:t>mean_wt =</a:t>
            </a: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4758AB"/>
                </a:solidFill>
                <a:latin typeface="Courier"/>
              </a:rPr>
              <a:t>mean</a:t>
            </a:r>
            <a:r>
              <a:rPr>
                <a:solidFill>
                  <a:srgbClr val="003B4F"/>
                </a:solidFill>
                <a:latin typeface="Courier"/>
              </a:rPr>
              <a:t>(weight_g,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sd_wt   =</a:t>
            </a: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4758AB"/>
                </a:solidFill>
                <a:latin typeface="Courier"/>
              </a:rPr>
              <a:t>sd</a:t>
            </a:r>
            <a:r>
              <a:rPr>
                <a:solidFill>
                  <a:srgbClr val="003B4F"/>
                </a:solidFill>
                <a:latin typeface="Courier"/>
              </a:rPr>
              <a:t>(weight_g,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se_wt   =</a:t>
            </a:r>
            <a:r>
              <a:rPr>
                <a:solidFill>
                  <a:srgbClr val="003B4F"/>
                </a:solidFill>
                <a:latin typeface="Courier"/>
              </a:rPr>
              <a:t> </a:t>
            </a:r>
            <a:r>
              <a:rPr>
                <a:solidFill>
                  <a:srgbClr val="4758AB"/>
                </a:solidFill>
                <a:latin typeface="Courier"/>
              </a:rPr>
              <a:t>round</a:t>
            </a:r>
            <a:r>
              <a:rPr>
                <a:solidFill>
                  <a:srgbClr val="003B4F"/>
                </a:solidFill>
                <a:latin typeface="Courier"/>
              </a:rPr>
              <a:t>(sd_wt </a:t>
            </a:r>
            <a:r>
              <a:rPr>
                <a:solidFill>
                  <a:srgbClr val="5E5E5E"/>
                </a:solidFill>
                <a:latin typeface="Courier"/>
              </a:rPr>
              <a:t>/</a:t>
            </a:r>
            <a:r>
              <a:rPr>
                <a:solidFill>
                  <a:srgbClr val="003B4F"/>
                </a:solidFill>
                <a:latin typeface="Courier"/>
              </a:rPr>
              <a:t> </a:t>
            </a:r>
            <a:r>
              <a:rPr>
                <a:solidFill>
                  <a:srgbClr val="4758AB"/>
                </a:solidFill>
                <a:latin typeface="Courier"/>
              </a:rPr>
              <a:t>sqrt</a:t>
            </a:r>
            <a:r>
              <a:rPr>
                <a:solidFill>
                  <a:srgbClr val="003B4F"/>
                </a:solidFill>
                <a:latin typeface="Courier"/>
              </a:rPr>
              <a:t>(n), </a:t>
            </a:r>
            <a:r>
              <a:rPr>
                <a:solidFill>
                  <a:srgbClr val="AD0000"/>
                </a:solidFill>
                <a:latin typeface="Courier"/>
              </a:rPr>
              <a:t>2</a:t>
            </a:r>
            <a:r>
              <a:rPr>
                <a:solidFill>
                  <a:srgbClr val="003B4F"/>
                </a:solidFill>
                <a:latin typeface="Courier"/>
              </a:rPr>
              <a:t>)</a:t>
            </a:r>
            <a:br/>
            <a:r>
              <a:rPr>
                <a:solidFill>
                  <a:srgbClr val="003B4F"/>
                </a:solidFill>
                <a:latin typeface="Courier"/>
              </a:rPr>
              <a:t>  )</a:t>
            </a:r>
            <a:br/>
            <a:br/>
            <a:r>
              <a:rPr>
                <a:solidFill>
                  <a:srgbClr val="003B4F"/>
                </a:solidFill>
                <a:latin typeface="Courier"/>
              </a:rPr>
              <a:t>recap_df</a:t>
            </a:r>
          </a:p>
          <a:p>
            <a:pPr lvl="0" indent="0" marL="0">
              <a:buNone/>
            </a:pPr>
            <a:r>
              <a:rPr/>
              <a:t>✏️ </a:t>
            </a:r>
            <a:r>
              <a:rPr b="1"/>
              <a:t>Your turn:</a:t>
            </a:r>
            <a:r>
              <a:rPr/>
              <a:t> Record the values you will need for the t-test formula:</a:t>
            </a:r>
          </a:p>
          <a:p>
            <a:pPr lvl="0" indent="0">
              <a:buNone/>
            </a:pPr>
            <a:r>
              <a:rPr>
                <a:latin typeface="Courier"/>
              </a:rPr>
              <a:t>Shady:  mean = _____ g   SD = _____   n = _____
Sunny:  mean = _____ g   SD = _____   n = _____
Difference in means = _____  g</a:t>
            </a:r>
          </a:p>
          <a:p>
            <a:pPr lvl="0" indent="0" marL="0">
              <a:buNone/>
            </a:pPr>
            <a:r>
              <a:rPr/>
              <a:t>✏️ </a:t>
            </a:r>
            <a:r>
              <a:rPr b="1"/>
              <a:t>Your turn:</a:t>
            </a:r>
            <a:r>
              <a:rPr/>
              <a:t> Looking at the SD values, do the two groups appear to have </a:t>
            </a:r>
            <a:r>
              <a:rPr b="1"/>
              <a:t>similar</a:t>
            </a:r>
            <a:r>
              <a:rPr/>
              <a:t> or </a:t>
            </a:r>
            <a:r>
              <a:rPr b="1"/>
              <a:t>different</a:t>
            </a:r>
            <a:r>
              <a:rPr/>
              <a:t> variance? (Does one group have much more spread than the other?)</a:t>
            </a:r>
          </a:p>
          <a:p>
            <a:pPr lvl="0" indent="0">
              <a:buNone/>
            </a:pPr>
            <a:r>
              <a:rPr>
                <a:latin typeface="Courier"/>
              </a:rPr>
              <a:t>Your observation: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sz="2000" b="1"/>
              <a:t>🧩 Chunk 2 — Hypotheses &amp; assumptions </a:t>
            </a:r>
            <a:r>
              <a:rPr sz="2000" b="1" i="1"/>
              <a:t>(after lecture Chunk 2)</a:t>
            </a:r>
          </a:p>
          <a:p>
            <a:pPr lvl="0" indent="0" marL="1270000">
              <a:buNone/>
            </a:pPr>
            <a:r>
              <a:rPr sz="2000"/>
              <a:t>Parts 3–6: state your hypotheses, then check normality and variance — </a:t>
            </a:r>
            <a:r>
              <a:rPr sz="2000" i="1"/>
              <a:t>before</a:t>
            </a:r>
            <a:r>
              <a:rPr sz="2000"/>
              <a:t> you test.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State your hypotheses FIRST</a:t>
            </a:r>
          </a:p>
        </p:txBody>
      </p:sp>
      <p:sp>
        <p:nvSpPr>
          <p:cNvPr id="3" name="Content Placeholder 2"/>
          <p:cNvSpPr>
            <a:spLocks noGrp="1"/>
          </p:cNvSpPr>
          <p:nvPr>
            <p:ph idx="1"/>
          </p:nvPr>
        </p:nvSpPr>
        <p:spPr/>
        <p:txBody>
          <a:bodyPr/>
          <a:lstStyle/>
          <a:p>
            <a:pPr lvl="0" indent="0" marL="1270000">
              <a:buNone/>
            </a:pPr>
            <a:r>
              <a:rPr sz="2000"/>
              <a:t>💡 </a:t>
            </a:r>
            <a:r>
              <a:rPr sz="2000" b="1"/>
              <a:t>Key idea:</a:t>
            </a:r>
            <a:r>
              <a:rPr sz="2000"/>
              <a:t> Always write down your hypotheses </a:t>
            </a:r>
            <a:r>
              <a:rPr sz="2000" i="1"/>
              <a:t>before</a:t>
            </a:r>
            <a:r>
              <a:rPr sz="2000"/>
              <a:t> you look at the data or run any test. This is how you stay scientifically honest.</a:t>
            </a:r>
          </a:p>
          <a:p>
            <a:pPr lvl="0" indent="0" marL="0">
              <a:buNone/>
            </a:pPr>
            <a:r>
              <a:rPr/>
              <a:t>✏️ </a:t>
            </a:r>
            <a:r>
              <a:rPr b="1"/>
              <a:t>Your turn:</a:t>
            </a:r>
            <a:r>
              <a:rPr/>
              <a:t> Write the null and alternate hypotheses for leaf weight. Use words first, then symbols.</a:t>
            </a:r>
          </a:p>
          <a:p>
            <a:pPr lvl="0" indent="0">
              <a:buNone/>
            </a:pPr>
            <a:r>
              <a:rPr>
                <a:latin typeface="Courier"/>
              </a:rPr>
              <a:t>In words:
  H₀ (null hypothesis):
  Hₐ (alternate hypothesis):
In symbols (use μ for "mean"):
  H₀:
  Hₐ:
Test type (circle one):   one-tailed   /   two-tailed
Significance level α:</a:t>
            </a:r>
          </a:p>
          <a:p>
            <a:pPr lvl="0" indent="0" marL="0">
              <a:buNone/>
            </a:pPr>
            <a:r>
              <a:rPr/>
              <a:t>✏️ </a:t>
            </a:r>
            <a:r>
              <a:rPr b="1"/>
              <a:t>Your turn:</a:t>
            </a:r>
            <a:r>
              <a:rPr/>
              <a:t> Why do we use a two-tailed test here even though we predicted shady leaves would be </a:t>
            </a:r>
            <a:r>
              <a:rPr i="1"/>
              <a:t>heavier</a:t>
            </a:r>
            <a:r>
              <a:rPr/>
              <a:t>?</a:t>
            </a:r>
          </a:p>
          <a:p>
            <a:pPr lvl="0" indent="0">
              <a:buNone/>
            </a:pPr>
            <a:r>
              <a:rPr>
                <a:latin typeface="Courier"/>
              </a:rPr>
              <a:t>Your answer:</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Check normality — histogram</a:t>
            </a:r>
          </a:p>
        </p:txBody>
      </p:sp>
      <p:sp>
        <p:nvSpPr>
          <p:cNvPr id="3" name="Content Placeholder 2"/>
          <p:cNvSpPr>
            <a:spLocks noGrp="1"/>
          </p:cNvSpPr>
          <p:nvPr>
            <p:ph idx="1"/>
          </p:nvPr>
        </p:nvSpPr>
        <p:spPr/>
        <p:txBody>
          <a:bodyPr/>
          <a:lstStyle/>
          <a:p>
            <a:pPr lvl="0" indent="0" marL="0">
              <a:buNone/>
            </a:pPr>
            <a:r>
              <a:rPr/>
              <a:t>The t-test assumes that data within each group are approximately normally distributed.</a:t>
            </a:r>
          </a:p>
          <a:p>
            <a:pPr lvl="0" indent="0" marL="0">
              <a:buNone/>
            </a:pPr>
            <a:r>
              <a:rPr b="1"/>
              <a:t>▶ Run this:</a:t>
            </a:r>
          </a:p>
          <a:p>
            <a:pPr lvl="0" indent="0">
              <a:buNone/>
            </a:pPr>
            <a:r>
              <a:rPr>
                <a:solidFill>
                  <a:srgbClr val="5E5E5E"/>
                </a:solidFill>
                <a:latin typeface="Courier"/>
              </a:rPr>
              <a:t># Histogram per group — look for bell-shaped distribution</a:t>
            </a:r>
            <a:br/>
            <a:r>
              <a:rPr>
                <a:solidFill>
                  <a:srgbClr val="003B4F"/>
                </a:solidFill>
                <a:latin typeface="Courier"/>
              </a:rPr>
              <a:t>hist_norm_plot &lt;- tree_df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weight_g, </a:t>
            </a:r>
            <a:r>
              <a:rPr>
                <a:solidFill>
                  <a:srgbClr val="657422"/>
                </a:solidFill>
                <a:latin typeface="Courier"/>
              </a:rPr>
              <a:t>fill =</a:t>
            </a:r>
            <a:r>
              <a:rPr>
                <a:solidFill>
                  <a:srgbClr val="003B4F"/>
                </a:solidFill>
                <a:latin typeface="Courier"/>
              </a:rPr>
              <a:t> side)) </a:t>
            </a:r>
            <a:r>
              <a:rPr>
                <a:solidFill>
                  <a:srgbClr val="5E5E5E"/>
                </a:solidFill>
                <a:latin typeface="Courier"/>
              </a:rPr>
              <a:t>+</a:t>
            </a:r>
            <a:br/>
            <a:r>
              <a:rPr>
                <a:solidFill>
                  <a:srgbClr val="003B4F"/>
                </a:solidFill>
                <a:latin typeface="Courier"/>
              </a:rPr>
              <a:t>  </a:t>
            </a:r>
            <a:r>
              <a:rPr>
                <a:solidFill>
                  <a:srgbClr val="4758AB"/>
                </a:solidFill>
                <a:latin typeface="Courier"/>
              </a:rPr>
              <a:t>geom_histogram</a:t>
            </a:r>
            <a:r>
              <a:rPr>
                <a:solidFill>
                  <a:srgbClr val="003B4F"/>
                </a:solidFill>
                <a:latin typeface="Courier"/>
              </a:rPr>
              <a:t>(</a:t>
            </a:r>
            <a:r>
              <a:rPr>
                <a:solidFill>
                  <a:srgbClr val="657422"/>
                </a:solidFill>
                <a:latin typeface="Courier"/>
              </a:rPr>
              <a:t>binwidth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"white"</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0.8</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side, </a:t>
            </a:r>
            <a:r>
              <a:rPr>
                <a:solidFill>
                  <a:srgbClr val="657422"/>
                </a:solidFill>
                <a:latin typeface="Courier"/>
              </a:rPr>
              <a:t>ncol =</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br/>
            <a:r>
              <a:rPr>
                <a:solidFill>
                  <a:srgbClr val="003B4F"/>
                </a:solidFill>
                <a:latin typeface="Courier"/>
              </a:rPr>
              <a:t>    </a:t>
            </a:r>
            <a:r>
              <a:rPr>
                <a:solidFill>
                  <a:srgbClr val="657422"/>
                </a:solidFill>
                <a:latin typeface="Courier"/>
              </a:rPr>
              <a:t>title =</a:t>
            </a:r>
            <a:r>
              <a:rPr>
                <a:solidFill>
                  <a:srgbClr val="003B4F"/>
                </a:solidFill>
                <a:latin typeface="Courier"/>
              </a:rPr>
              <a:t> </a:t>
            </a:r>
            <a:r>
              <a:rPr>
                <a:solidFill>
                  <a:srgbClr val="20794D"/>
                </a:solidFill>
                <a:latin typeface="Courier"/>
              </a:rPr>
              <a:t>"Leaf Weight Distribution by Side"</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"Leaf Weight (g)"</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"Count"</a:t>
            </a:r>
            <a:br/>
            <a:r>
              <a:rPr>
                <a:solidFill>
                  <a:srgbClr val="003B4F"/>
                </a:solidFill>
                <a:latin typeface="Courier"/>
              </a:rPr>
              <a:t>  )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legend.position =</a:t>
            </a:r>
            <a:r>
              <a:rPr>
                <a:solidFill>
                  <a:srgbClr val="003B4F"/>
                </a:solidFill>
                <a:latin typeface="Courier"/>
              </a:rPr>
              <a:t> </a:t>
            </a:r>
            <a:r>
              <a:rPr>
                <a:solidFill>
                  <a:srgbClr val="20794D"/>
                </a:solidFill>
                <a:latin typeface="Courier"/>
              </a:rPr>
              <a:t>"none"</a:t>
            </a:r>
            <a:r>
              <a:rPr>
                <a:solidFill>
                  <a:srgbClr val="003B4F"/>
                </a:solidFill>
                <a:latin typeface="Courier"/>
              </a:rPr>
              <a:t>)</a:t>
            </a:r>
            <a:br/>
            <a:br/>
            <a:r>
              <a:rPr>
                <a:solidFill>
                  <a:srgbClr val="003B4F"/>
                </a:solidFill>
                <a:latin typeface="Courier"/>
              </a:rPr>
              <a:t>hist_norm_plot</a:t>
            </a:r>
          </a:p>
          <a:p>
            <a:pPr lvl="0" indent="0" marL="0">
              <a:buNone/>
            </a:pPr>
            <a:r>
              <a:rPr/>
              <a:t>✏️ </a:t>
            </a:r>
            <a:r>
              <a:rPr b="1"/>
              <a:t>Your turn:</a:t>
            </a:r>
            <a:r>
              <a:rPr/>
              <a:t> Describe the shape of each histogram:</a:t>
            </a:r>
          </a:p>
          <a:p>
            <a:pPr lvl="0" indent="0">
              <a:buNone/>
            </a:pPr>
            <a:r>
              <a:rPr>
                <a:latin typeface="Courier"/>
              </a:rPr>
              <a:t>Sunny side shape (bell-shaped, skewed, flat, bimodal?):
Shady side shape:
Any obvious outliers?  Y / N</a:t>
            </a:r>
          </a:p>
          <a:p>
            <a:pPr lvl="0" indent="0" marL="0">
              <a:buNone/>
            </a:pPr>
            <a:r>
              <a:rPr/>
              <a:t>✏️ </a:t>
            </a:r>
            <a:r>
              <a:rPr b="1"/>
              <a:t>Your turn:</a:t>
            </a:r>
            <a:r>
              <a:rPr/>
              <a:t> With only 10 values per group, histograms will look lumpy even if the data are normal. Does this mean we should reject normality? Why or why not?</a:t>
            </a:r>
          </a:p>
          <a:p>
            <a:pPr lvl="0" indent="0">
              <a:buNone/>
            </a:pPr>
            <a:r>
              <a:rPr>
                <a:latin typeface="Courier"/>
              </a:rPr>
              <a:t>Your answer: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Check normality — Shapiro-Wilk test</a:t>
            </a:r>
          </a:p>
        </p:txBody>
      </p:sp>
      <p:sp>
        <p:nvSpPr>
          <p:cNvPr id="3" name="Content Placeholder 2"/>
          <p:cNvSpPr>
            <a:spLocks noGrp="1"/>
          </p:cNvSpPr>
          <p:nvPr>
            <p:ph idx="1"/>
          </p:nvPr>
        </p:nvSpPr>
        <p:spPr/>
        <p:txBody>
          <a:bodyPr/>
          <a:lstStyle/>
          <a:p>
            <a:pPr lvl="0" indent="0" marL="1270000">
              <a:buNone/>
            </a:pPr>
            <a:r>
              <a:rPr sz="2000"/>
              <a:t>🔮 </a:t>
            </a:r>
            <a:r>
              <a:rPr sz="2000" b="1"/>
              <a:t>Predict first:</a:t>
            </a:r>
            <a:r>
              <a:rPr sz="2000"/>
              <a:t> Shapiro-Wilk’s H₀ is “data are normal.” From your histogram, predict whether </a:t>
            </a:r>
            <a:r>
              <a:rPr sz="2000" i="1"/>
              <a:t>p</a:t>
            </a:r>
            <a:r>
              <a:rPr sz="2000"/>
              <a:t> will be above or below 0.05 for each side before you run it.</a:t>
            </a:r>
          </a:p>
          <a:p>
            <a:pPr lvl="0" indent="0" marL="0">
              <a:buNone/>
            </a:pPr>
            <a:r>
              <a:rPr/>
              <a:t>The Shapiro-Wilk test formally tests whether a sample could have come from a normal distribution.</a:t>
            </a:r>
          </a:p>
          <a:p>
            <a:pPr lvl="0"/>
            <a:r>
              <a:rPr b="1"/>
              <a:t>H₀ (Shapiro-Wilk):</a:t>
            </a:r>
            <a:r>
              <a:rPr/>
              <a:t> the data are normally distributed</a:t>
            </a:r>
          </a:p>
          <a:p>
            <a:pPr lvl="0"/>
            <a:r>
              <a:rPr b="1"/>
              <a:t>p &gt; 0.05</a:t>
            </a:r>
            <a:r>
              <a:rPr/>
              <a:t> → fail to reject normality → proceed with t-test</a:t>
            </a:r>
          </a:p>
          <a:p>
            <a:pPr lvl="0"/>
            <a:r>
              <a:rPr b="1"/>
              <a:t>p &lt; 0.05</a:t>
            </a:r>
            <a:r>
              <a:rPr/>
              <a:t> → evidence of non-normality → consider alternatives</a:t>
            </a:r>
          </a:p>
          <a:p>
            <a:pPr lvl="0" indent="0" marL="0">
              <a:buNone/>
            </a:pPr>
            <a:r>
              <a:rPr b="1"/>
              <a:t>▶ Run this:</a:t>
            </a:r>
          </a:p>
          <a:p>
            <a:pPr lvl="0" indent="0">
              <a:buNone/>
            </a:pPr>
            <a:r>
              <a:rPr>
                <a:solidFill>
                  <a:srgbClr val="5E5E5E"/>
                </a:solidFill>
                <a:latin typeface="Courier"/>
              </a:rPr>
              <a:t># Shapiro-Wilk for the sunny side --------------------</a:t>
            </a:r>
            <a:br/>
            <a:r>
              <a:rPr>
                <a:solidFill>
                  <a:srgbClr val="003B4F"/>
                </a:solidFill>
                <a:latin typeface="Courier"/>
              </a:rPr>
              <a:t>tree_df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(side </a:t>
            </a:r>
            <a:r>
              <a:rPr>
                <a:solidFill>
                  <a:srgbClr val="5E5E5E"/>
                </a:solidFill>
                <a:latin typeface="Courier"/>
              </a:rPr>
              <a:t>==</a:t>
            </a:r>
            <a:r>
              <a:rPr>
                <a:solidFill>
                  <a:srgbClr val="003B4F"/>
                </a:solidFill>
                <a:latin typeface="Courier"/>
              </a:rPr>
              <a:t> </a:t>
            </a:r>
            <a:r>
              <a:rPr>
                <a:solidFill>
                  <a:srgbClr val="20794D"/>
                </a:solidFill>
                <a:latin typeface="Courier"/>
              </a:rPr>
              <a:t>"sunny"</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pull</a:t>
            </a:r>
            <a:r>
              <a:rPr>
                <a:solidFill>
                  <a:srgbClr val="003B4F"/>
                </a:solidFill>
                <a:latin typeface="Courier"/>
              </a:rPr>
              <a:t>(weight_g) </a:t>
            </a:r>
            <a:r>
              <a:rPr>
                <a:solidFill>
                  <a:srgbClr val="5E5E5E"/>
                </a:solidFill>
                <a:latin typeface="Courier"/>
              </a:rPr>
              <a:t>%&gt;%</a:t>
            </a:r>
            <a:br/>
            <a:r>
              <a:rPr>
                <a:solidFill>
                  <a:srgbClr val="003B4F"/>
                </a:solidFill>
                <a:latin typeface="Courier"/>
              </a:rPr>
              <a:t>  </a:t>
            </a:r>
            <a:r>
              <a:rPr>
                <a:solidFill>
                  <a:srgbClr val="4758AB"/>
                </a:solidFill>
                <a:latin typeface="Courier"/>
              </a:rPr>
              <a:t>shapiro.test</a:t>
            </a:r>
            <a:r>
              <a:rPr>
                <a:solidFill>
                  <a:srgbClr val="003B4F"/>
                </a:solidFill>
                <a:latin typeface="Courier"/>
              </a:rPr>
              <a:t>()</a:t>
            </a:r>
          </a:p>
          <a:p>
            <a:pPr lvl="0" indent="0">
              <a:buNone/>
            </a:pPr>
            <a:r>
              <a:rPr>
                <a:solidFill>
                  <a:srgbClr val="5E5E5E"/>
                </a:solidFill>
                <a:latin typeface="Courier"/>
              </a:rPr>
              <a:t># Shapiro-Wilk for the shady side -------------------</a:t>
            </a:r>
            <a:br/>
            <a:r>
              <a:rPr>
                <a:solidFill>
                  <a:srgbClr val="003B4F"/>
                </a:solidFill>
                <a:latin typeface="Courier"/>
              </a:rPr>
              <a:t>tree_df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(side </a:t>
            </a:r>
            <a:r>
              <a:rPr>
                <a:solidFill>
                  <a:srgbClr val="5E5E5E"/>
                </a:solidFill>
                <a:latin typeface="Courier"/>
              </a:rPr>
              <a:t>==</a:t>
            </a:r>
            <a:r>
              <a:rPr>
                <a:solidFill>
                  <a:srgbClr val="003B4F"/>
                </a:solidFill>
                <a:latin typeface="Courier"/>
              </a:rPr>
              <a:t> </a:t>
            </a:r>
            <a:r>
              <a:rPr>
                <a:solidFill>
                  <a:srgbClr val="20794D"/>
                </a:solidFill>
                <a:latin typeface="Courier"/>
              </a:rPr>
              <a:t>"shady"</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pull</a:t>
            </a:r>
            <a:r>
              <a:rPr>
                <a:solidFill>
                  <a:srgbClr val="003B4F"/>
                </a:solidFill>
                <a:latin typeface="Courier"/>
              </a:rPr>
              <a:t>(weight_g) </a:t>
            </a:r>
            <a:r>
              <a:rPr>
                <a:solidFill>
                  <a:srgbClr val="5E5E5E"/>
                </a:solidFill>
                <a:latin typeface="Courier"/>
              </a:rPr>
              <a:t>%&gt;%</a:t>
            </a:r>
            <a:br/>
            <a:r>
              <a:rPr>
                <a:solidFill>
                  <a:srgbClr val="003B4F"/>
                </a:solidFill>
                <a:latin typeface="Courier"/>
              </a:rPr>
              <a:t>  </a:t>
            </a:r>
            <a:r>
              <a:rPr>
                <a:solidFill>
                  <a:srgbClr val="4758AB"/>
                </a:solidFill>
                <a:latin typeface="Courier"/>
              </a:rPr>
              <a:t>shapiro.test</a:t>
            </a:r>
            <a:r>
              <a:rPr>
                <a:solidFill>
                  <a:srgbClr val="003B4F"/>
                </a:solidFill>
                <a:latin typeface="Courier"/>
              </a:rPr>
              <a:t>()</a:t>
            </a:r>
          </a:p>
          <a:p>
            <a:pPr lvl="0" indent="0" marL="0">
              <a:buNone/>
            </a:pPr>
            <a:r>
              <a:rPr/>
              <a:t>✏️ </a:t>
            </a:r>
            <a:r>
              <a:rPr b="1"/>
              <a:t>Your turn:</a:t>
            </a:r>
            <a:r>
              <a:rPr/>
              <a:t> Record the results and state your decision:</a:t>
            </a:r>
          </a:p>
          <a:p>
            <a:pPr lvl="0" indent="0">
              <a:buNone/>
            </a:pPr>
            <a:r>
              <a:rPr>
                <a:latin typeface="Courier"/>
              </a:rPr>
              <a:t>Sunny:  W = _____   p = _____   Decision (normal / not normal):
Shady:  W = _____   p = _____   Decision (normal / not normal):</a:t>
            </a:r>
          </a:p>
          <a:p>
            <a:pPr lvl="0" indent="0" marL="0">
              <a:buNone/>
            </a:pPr>
            <a:r>
              <a:rPr/>
              <a:t>✏️ </a:t>
            </a:r>
            <a:r>
              <a:rPr b="1"/>
              <a:t>Your turn:</a:t>
            </a:r>
            <a:r>
              <a:rPr/>
              <a:t> With n = 10 per group, the Shapiro-Wilk test has low </a:t>
            </a:r>
            <a:r>
              <a:rPr b="1"/>
              <a:t>statistical power</a:t>
            </a:r>
            <a:r>
              <a:rPr/>
              <a:t>. What does that mean in plain language for interpreting this result?</a:t>
            </a:r>
          </a:p>
          <a:p>
            <a:pPr lvl="0" indent="0">
              <a:buNone/>
            </a:pPr>
            <a:r>
              <a:rPr>
                <a:latin typeface="Courier"/>
              </a:rPr>
              <a:t>Your answer:</a:t>
            </a:r>
          </a:p>
          <a:p>
            <a:pPr lvl="0" indent="0" marL="1270000">
              <a:buNone/>
            </a:pPr>
            <a:r>
              <a:rPr sz="2000"/>
              <a:t>⚠️ </a:t>
            </a:r>
            <a:r>
              <a:rPr sz="2000" b="1"/>
              <a:t>Watch out!</a:t>
            </a:r>
            <a:r>
              <a:rPr sz="2000"/>
              <a:t> Even if Shapiro-Wilk returns </a:t>
            </a:r>
            <a:r>
              <a:rPr sz="2000" i="1"/>
              <a:t>p</a:t>
            </a:r>
            <a:r>
              <a:rPr sz="2000"/>
              <a:t> &lt; 0.05 with very small samples, the t-test may still be appropriate — the histogram gives important visual context. Neither check alone is definitive.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Check variance — Levene’s test</a:t>
            </a:r>
          </a:p>
        </p:txBody>
      </p:sp>
      <p:sp>
        <p:nvSpPr>
          <p:cNvPr id="3" name="Content Placeholder 2"/>
          <p:cNvSpPr>
            <a:spLocks noGrp="1"/>
          </p:cNvSpPr>
          <p:nvPr>
            <p:ph idx="1"/>
          </p:nvPr>
        </p:nvSpPr>
        <p:spPr/>
        <p:txBody>
          <a:bodyPr/>
          <a:lstStyle/>
          <a:p>
            <a:pPr lvl="0" indent="0" marL="1270000">
              <a:buNone/>
            </a:pPr>
            <a:r>
              <a:rPr sz="2000"/>
              <a:t>🔮 </a:t>
            </a:r>
            <a:r>
              <a:rPr sz="2000" b="1"/>
              <a:t>Predict first:</a:t>
            </a:r>
            <a:r>
              <a:rPr sz="2000"/>
              <a:t> Look back at the two SD values from Part 2. Predict whether Levene’s will call the variances equal (</a:t>
            </a:r>
            <a:r>
              <a:rPr sz="2000" i="1"/>
              <a:t>p</a:t>
            </a:r>
            <a:r>
              <a:rPr sz="2000"/>
              <a:t> &gt; 0.05) or not, before you run it.</a:t>
            </a:r>
          </a:p>
          <a:p>
            <a:pPr lvl="0" indent="0" marL="0">
              <a:buNone/>
            </a:pPr>
            <a:r>
              <a:rPr/>
              <a:t>Levene’s test checks whether the two groups have the same population variance.</a:t>
            </a:r>
          </a:p>
          <a:p>
            <a:pPr lvl="0"/>
            <a:r>
              <a:rPr b="1"/>
              <a:t>H₀ (Levene’s):</a:t>
            </a:r>
            <a:r>
              <a:rPr/>
              <a:t> the two groups have equal variance</a:t>
            </a:r>
          </a:p>
          <a:p>
            <a:pPr lvl="0"/>
            <a:r>
              <a:rPr b="1"/>
              <a:t>p &gt; 0.05</a:t>
            </a:r>
            <a:r>
              <a:rPr/>
              <a:t> → variances are not significantly different</a:t>
            </a:r>
          </a:p>
          <a:p>
            <a:pPr lvl="0"/>
            <a:r>
              <a:rPr b="1"/>
              <a:t>p &lt; 0.05</a:t>
            </a:r>
            <a:r>
              <a:rPr/>
              <a:t> → variances are significantly different</a:t>
            </a:r>
          </a:p>
          <a:p>
            <a:pPr lvl="0" indent="0" marL="0">
              <a:buNone/>
            </a:pPr>
            <a:r>
              <a:rPr b="1"/>
              <a:t>▶ Run this:</a:t>
            </a:r>
          </a:p>
          <a:p>
            <a:pPr lvl="0" indent="0">
              <a:buNone/>
            </a:pPr>
            <a:r>
              <a:rPr>
                <a:solidFill>
                  <a:srgbClr val="5E5E5E"/>
                </a:solidFill>
                <a:latin typeface="Courier"/>
              </a:rPr>
              <a:t># Levene's test for equal variance -------------------</a:t>
            </a:r>
            <a:br/>
            <a:r>
              <a:rPr>
                <a:solidFill>
                  <a:srgbClr val="4758AB"/>
                </a:solidFill>
                <a:latin typeface="Courier"/>
              </a:rPr>
              <a:t>leveneTest</a:t>
            </a:r>
            <a:r>
              <a:rPr>
                <a:solidFill>
                  <a:srgbClr val="003B4F"/>
                </a:solidFill>
                <a:latin typeface="Courier"/>
              </a:rPr>
              <a:t>(weight_g </a:t>
            </a:r>
            <a:r>
              <a:rPr>
                <a:solidFill>
                  <a:srgbClr val="5E5E5E"/>
                </a:solidFill>
                <a:latin typeface="Courier"/>
              </a:rPr>
              <a:t>~</a:t>
            </a:r>
            <a:r>
              <a:rPr>
                <a:solidFill>
                  <a:srgbClr val="003B4F"/>
                </a:solidFill>
                <a:latin typeface="Courier"/>
              </a:rPr>
              <a:t> side, </a:t>
            </a:r>
            <a:r>
              <a:rPr>
                <a:solidFill>
                  <a:srgbClr val="657422"/>
                </a:solidFill>
                <a:latin typeface="Courier"/>
              </a:rPr>
              <a:t>data =</a:t>
            </a:r>
            <a:r>
              <a:rPr>
                <a:solidFill>
                  <a:srgbClr val="003B4F"/>
                </a:solidFill>
                <a:latin typeface="Courier"/>
              </a:rPr>
              <a:t> tree_df)</a:t>
            </a:r>
          </a:p>
          <a:p>
            <a:pPr lvl="0" indent="0" marL="0">
              <a:buNone/>
            </a:pPr>
            <a:r>
              <a:rPr/>
              <a:t>✏️ </a:t>
            </a:r>
            <a:r>
              <a:rPr b="1"/>
              <a:t>Your turn:</a:t>
            </a:r>
            <a:r>
              <a:rPr/>
              <a:t> Record the result and decide:</a:t>
            </a:r>
          </a:p>
          <a:p>
            <a:pPr lvl="0" indent="0">
              <a:buNone/>
            </a:pPr>
            <a:r>
              <a:rPr>
                <a:latin typeface="Courier"/>
              </a:rPr>
              <a:t>F-statistic = _____   p = _____
Decision (variances equal / not equal):</a:t>
            </a:r>
          </a:p>
          <a:p>
            <a:pPr lvl="0" indent="0" marL="0">
              <a:buNone/>
            </a:pPr>
            <a:r>
              <a:rPr/>
              <a:t>✏️ </a:t>
            </a:r>
            <a:r>
              <a:rPr b="1"/>
              <a:t>Your turn:</a:t>
            </a:r>
            <a:r>
              <a:rPr/>
              <a:t> We are going to use Welch’s t-test (</a:t>
            </a:r>
            <a:r>
              <a:rPr>
                <a:latin typeface="Courier"/>
              </a:rPr>
              <a:t>var.equal = FALSE</a:t>
            </a:r>
            <a:r>
              <a:rPr/>
              <a:t>) regardless of Levene’s result. In your own words, why is Welch’s the safe default even when Levene’s says variances are equal?</a:t>
            </a:r>
          </a:p>
          <a:p>
            <a:pPr lvl="0" indent="0">
              <a:buNone/>
            </a:pPr>
            <a:r>
              <a:rPr>
                <a:latin typeface="Courier"/>
              </a:rPr>
              <a:t>Your answer: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Review and checkpoint</a:t>
            </a:r>
          </a:p>
        </p:txBody>
      </p:sp>
      <p:sp>
        <p:nvSpPr>
          <p:cNvPr id="3" name="Content Placeholder 2"/>
          <p:cNvSpPr>
            <a:spLocks noGrp="1"/>
          </p:cNvSpPr>
          <p:nvPr>
            <p:ph idx="1"/>
          </p:nvPr>
        </p:nvSpPr>
        <p:spPr/>
        <p:txBody>
          <a:bodyPr/>
          <a:lstStyle/>
          <a:p>
            <a:pPr lvl="0" indent="0" marL="0">
              <a:buNone/>
            </a:pPr>
            <a:r>
              <a:rPr/>
              <a:t>At this point you should be able to:</a:t>
            </a:r>
          </a:p>
          <a:p>
            <a:pPr lvl="0"/>
            <a:r>
              <a:rPr/>
              <a:t>☐ State null and alternate hypotheses formally using μ notation</a:t>
            </a:r>
          </a:p>
          <a:p>
            <a:pPr lvl="0"/>
            <a:r>
              <a:rPr/>
              <a:t>☐ Explain the difference between one-tailed and two-tailed tests</a:t>
            </a:r>
          </a:p>
          <a:p>
            <a:pPr lvl="0"/>
            <a:r>
              <a:rPr/>
              <a:t>☐ Use a histogram to visually assess normality</a:t>
            </a:r>
          </a:p>
          <a:p>
            <a:pPr lvl="0"/>
            <a:r>
              <a:rPr/>
              <a:t>☐ Run </a:t>
            </a:r>
            <a:r>
              <a:rPr>
                <a:latin typeface="Courier"/>
              </a:rPr>
              <a:t>shapiro.test()</a:t>
            </a:r>
            <a:r>
              <a:rPr/>
              <a:t> per group using </a:t>
            </a:r>
            <a:r>
              <a:rPr>
                <a:latin typeface="Courier"/>
              </a:rPr>
              <a:t>filter()</a:t>
            </a:r>
            <a:r>
              <a:rPr/>
              <a:t> and </a:t>
            </a:r>
            <a:r>
              <a:rPr>
                <a:latin typeface="Courier"/>
              </a:rPr>
              <a:t>pull()</a:t>
            </a:r>
          </a:p>
          <a:p>
            <a:pPr lvl="0"/>
            <a:r>
              <a:rPr/>
              <a:t>☐ Run </a:t>
            </a:r>
            <a:r>
              <a:rPr>
                <a:latin typeface="Courier"/>
              </a:rPr>
              <a:t>leveneTest()</a:t>
            </a:r>
            <a:r>
              <a:rPr/>
              <a:t> and explain why we use Welch’s regardless of the result</a:t>
            </a:r>
          </a:p>
          <a:p>
            <a:pPr lvl="0" indent="0" marL="0">
              <a:buNone/>
            </a:pPr>
            <a:r>
              <a:rPr/>
              <a:t>✏️ </a:t>
            </a:r>
            <a:r>
              <a:rPr b="1"/>
              <a:t>Your turn:</a:t>
            </a:r>
            <a:r>
              <a:rPr/>
              <a:t> Run your entire script from top to bottom with </a:t>
            </a:r>
            <a:r>
              <a:rPr b="1"/>
              <a:t>Ctrl/Cmd + Shift + Enter</a:t>
            </a:r>
            <a:r>
              <a:rPr/>
              <a:t>. Does it run without errors?</a:t>
            </a:r>
          </a:p>
          <a:p>
            <a:pPr lvl="0" indent="0">
              <a:buNone/>
            </a:pPr>
            <a:r>
              <a:rPr>
                <a:latin typeface="Courier"/>
              </a:rPr>
              <a:t>Ran cleanly?  Y / N
If not, what error appeared:</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8 · Going further</a:t>
            </a:r>
          </a:p>
        </p:txBody>
      </p:sp>
      <p:sp>
        <p:nvSpPr>
          <p:cNvPr id="3" name="Content Placeholder 2"/>
          <p:cNvSpPr>
            <a:spLocks noGrp="1"/>
          </p:cNvSpPr>
          <p:nvPr>
            <p:ph idx="1"/>
          </p:nvPr>
        </p:nvSpPr>
        <p:spPr/>
        <p:txBody>
          <a:bodyPr/>
          <a:lstStyle/>
          <a:p>
            <a:pPr lvl="0" indent="0" marL="1270000">
              <a:buNone/>
            </a:pPr>
            <a:r>
              <a:rPr sz="2000"/>
              <a:t>This section is optional — work through it if you finish early or want to push deeper. Next lecture assumes you’ve completed Parts 1–7 only, not this section.</a:t>
            </a:r>
          </a:p>
          <a:p>
            <a:pPr lvl="0" indent="0" marL="0">
              <a:spcBef>
                <a:spcPts val="3000"/>
              </a:spcBef>
              <a:buNone/>
            </a:pPr>
            <a:r>
              <a:rPr b="1"/>
              <a:t>An alternative normality check: the QQ plot</a:t>
            </a:r>
          </a:p>
          <a:p>
            <a:pPr lvl="0" indent="0" marL="0">
              <a:buNone/>
            </a:pPr>
            <a:r>
              <a:rPr/>
              <a:t>A QQ (quantile-quantile) plot compares your data’s quantiles to what a perfect normal distribution would look like. Points on the diagonal line = normal.</a:t>
            </a:r>
          </a:p>
          <a:p>
            <a:pPr lvl="0" indent="0" marL="0">
              <a:buNone/>
            </a:pPr>
            <a:r>
              <a:rPr b="1"/>
              <a:t>▶ Try this:</a:t>
            </a:r>
          </a:p>
          <a:p>
            <a:pPr lvl="0" indent="0">
              <a:buNone/>
            </a:pPr>
            <a:r>
              <a:rPr>
                <a:solidFill>
                  <a:srgbClr val="5E5E5E"/>
                </a:solidFill>
                <a:latin typeface="Courier"/>
              </a:rPr>
              <a:t># Q-Q plot — points should fall along the diagonal ----</a:t>
            </a:r>
            <a:br/>
            <a:r>
              <a:rPr>
                <a:solidFill>
                  <a:srgbClr val="003B4F"/>
                </a:solidFill>
                <a:latin typeface="Courier"/>
              </a:rPr>
              <a:t>qq_norm_plot &lt;- tree_df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sample =</a:t>
            </a:r>
            <a:r>
              <a:rPr>
                <a:solidFill>
                  <a:srgbClr val="003B4F"/>
                </a:solidFill>
                <a:latin typeface="Courier"/>
              </a:rPr>
              <a:t> weight_g, </a:t>
            </a:r>
            <a:r>
              <a:rPr>
                <a:solidFill>
                  <a:srgbClr val="657422"/>
                </a:solidFill>
                <a:latin typeface="Courier"/>
              </a:rPr>
              <a:t>color =</a:t>
            </a:r>
            <a:r>
              <a:rPr>
                <a:solidFill>
                  <a:srgbClr val="003B4F"/>
                </a:solidFill>
                <a:latin typeface="Courier"/>
              </a:rPr>
              <a:t> side)) </a:t>
            </a:r>
            <a:r>
              <a:rPr>
                <a:solidFill>
                  <a:srgbClr val="5E5E5E"/>
                </a:solidFill>
                <a:latin typeface="Courier"/>
              </a:rPr>
              <a:t>+</a:t>
            </a:r>
            <a:br/>
            <a:r>
              <a:rPr>
                <a:solidFill>
                  <a:srgbClr val="003B4F"/>
                </a:solidFill>
                <a:latin typeface="Courier"/>
              </a:rPr>
              <a:t>  </a:t>
            </a:r>
            <a:r>
              <a:rPr>
                <a:solidFill>
                  <a:srgbClr val="4758AB"/>
                </a:solidFill>
                <a:latin typeface="Courier"/>
              </a:rPr>
              <a:t>stat_qq</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stat_qq_line</a:t>
            </a:r>
            <a:r>
              <a:rPr>
                <a:solidFill>
                  <a:srgbClr val="003B4F"/>
                </a:solidFill>
                <a:latin typeface="Courier"/>
              </a:rPr>
              <a:t>(</a:t>
            </a:r>
            <a:r>
              <a:rPr>
                <a:solidFill>
                  <a:srgbClr val="657422"/>
                </a:solidFill>
                <a:latin typeface="Courier"/>
              </a:rPr>
              <a:t>color =</a:t>
            </a:r>
            <a:r>
              <a:rPr>
                <a:solidFill>
                  <a:srgbClr val="003B4F"/>
                </a:solidFill>
                <a:latin typeface="Courier"/>
              </a:rPr>
              <a:t> </a:t>
            </a:r>
            <a:r>
              <a:rPr>
                <a:solidFill>
                  <a:srgbClr val="20794D"/>
                </a:solidFill>
                <a:latin typeface="Courier"/>
              </a:rPr>
              <a:t>"black"</a:t>
            </a: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0.8</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side, </a:t>
            </a:r>
            <a:r>
              <a:rPr>
                <a:solidFill>
                  <a:srgbClr val="657422"/>
                </a:solidFill>
                <a:latin typeface="Courier"/>
              </a:rPr>
              <a:t>scales =</a:t>
            </a:r>
            <a:r>
              <a:rPr>
                <a:solidFill>
                  <a:srgbClr val="003B4F"/>
                </a:solidFill>
                <a:latin typeface="Courier"/>
              </a:rPr>
              <a:t> </a:t>
            </a:r>
            <a:r>
              <a:rPr>
                <a:solidFill>
                  <a:srgbClr val="20794D"/>
                </a:solidFill>
                <a:latin typeface="Courier"/>
              </a:rPr>
              <a:t>"free"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br/>
            <a:r>
              <a:rPr>
                <a:solidFill>
                  <a:srgbClr val="003B4F"/>
                </a:solidFill>
                <a:latin typeface="Courier"/>
              </a:rPr>
              <a:t>    </a:t>
            </a:r>
            <a:r>
              <a:rPr>
                <a:solidFill>
                  <a:srgbClr val="657422"/>
                </a:solidFill>
                <a:latin typeface="Courier"/>
              </a:rPr>
              <a:t>title =</a:t>
            </a:r>
            <a:r>
              <a:rPr>
                <a:solidFill>
                  <a:srgbClr val="003B4F"/>
                </a:solidFill>
                <a:latin typeface="Courier"/>
              </a:rPr>
              <a:t> </a:t>
            </a:r>
            <a:r>
              <a:rPr>
                <a:solidFill>
                  <a:srgbClr val="20794D"/>
                </a:solidFill>
                <a:latin typeface="Courier"/>
              </a:rPr>
              <a:t>"Normal Q-Q Plots by Side"</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"Theoretical Quantiles"</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"Sample Quantiles"</a:t>
            </a:r>
            <a:br/>
            <a:r>
              <a:rPr>
                <a:solidFill>
                  <a:srgbClr val="003B4F"/>
                </a:solidFill>
                <a:latin typeface="Courier"/>
              </a:rPr>
              <a:t>  )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legend.position =</a:t>
            </a:r>
            <a:r>
              <a:rPr>
                <a:solidFill>
                  <a:srgbClr val="003B4F"/>
                </a:solidFill>
                <a:latin typeface="Courier"/>
              </a:rPr>
              <a:t> </a:t>
            </a:r>
            <a:r>
              <a:rPr>
                <a:solidFill>
                  <a:srgbClr val="20794D"/>
                </a:solidFill>
                <a:latin typeface="Courier"/>
              </a:rPr>
              <a:t>"none"</a:t>
            </a:r>
            <a:r>
              <a:rPr>
                <a:solidFill>
                  <a:srgbClr val="003B4F"/>
                </a:solidFill>
                <a:latin typeface="Courier"/>
              </a:rPr>
              <a:t>)</a:t>
            </a:r>
            <a:br/>
            <a:br/>
            <a:r>
              <a:rPr>
                <a:solidFill>
                  <a:srgbClr val="003B4F"/>
                </a:solidFill>
                <a:latin typeface="Courier"/>
              </a:rPr>
              <a:t>qq_norm_plot</a:t>
            </a:r>
          </a:p>
          <a:p>
            <a:pPr lvl="0" indent="0" marL="0">
              <a:buNone/>
            </a:pPr>
            <a:r>
              <a:rPr/>
              <a:t>✏️ </a:t>
            </a:r>
            <a:r>
              <a:rPr b="1"/>
              <a:t>Your turn:</a:t>
            </a:r>
            <a:r>
              <a:rPr/>
              <a:t> Do the points for each group fall approximately along the diagonal line? Does this agree with what the histogram and Shapiro-Wilk test told you?</a:t>
            </a:r>
          </a:p>
          <a:p>
            <a:pPr lvl="0" indent="0">
              <a:buNone/>
            </a:pPr>
            <a:r>
              <a:rPr>
                <a:latin typeface="Courier"/>
              </a:rPr>
              <a:t>Your answer:</a:t>
            </a:r>
          </a:p>
          <a:p>
            <a:pPr lvl="0" indent="0" marL="0">
              <a:spcBef>
                <a:spcPts val="3000"/>
              </a:spcBef>
              <a:buNone/>
            </a:pPr>
            <a:r>
              <a:rPr b="1"/>
              <a:t>Calculate t by hand</a:t>
            </a:r>
          </a:p>
          <a:p>
            <a:pPr lvl="0" indent="0" marL="0">
              <a:buNone/>
            </a:pPr>
            <a:r>
              <a:rPr/>
              <a:t>The lecture showed you where the t-statistic comes from. Try reproducing it yourself:</a:t>
            </a:r>
          </a:p>
          <a:p>
            <a:pPr lvl="0" indent="0">
              <a:buNone/>
            </a:pPr>
            <a:r>
              <a:rPr>
                <a:solidFill>
                  <a:srgbClr val="5E5E5E"/>
                </a:solidFill>
                <a:latin typeface="Courier"/>
              </a:rPr>
              <a:t># Reproduce the t-statistic manually -----------------</a:t>
            </a:r>
            <a:br/>
            <a:r>
              <a:rPr>
                <a:solidFill>
                  <a:srgbClr val="003B4F"/>
                </a:solidFill>
                <a:latin typeface="Courier"/>
              </a:rPr>
              <a:t>m_sha &lt;- recap_df</a:t>
            </a:r>
            <a:r>
              <a:rPr>
                <a:solidFill>
                  <a:srgbClr val="5E5E5E"/>
                </a:solidFill>
                <a:latin typeface="Courier"/>
              </a:rPr>
              <a:t>$</a:t>
            </a:r>
            <a:r>
              <a:rPr>
                <a:solidFill>
                  <a:srgbClr val="003B4F"/>
                </a:solidFill>
                <a:latin typeface="Courier"/>
              </a:rPr>
              <a:t>mean_wt[recap_df</a:t>
            </a:r>
            <a:r>
              <a:rPr>
                <a:solidFill>
                  <a:srgbClr val="5E5E5E"/>
                </a:solidFill>
                <a:latin typeface="Courier"/>
              </a:rPr>
              <a:t>$</a:t>
            </a:r>
            <a:r>
              <a:rPr>
                <a:solidFill>
                  <a:srgbClr val="003B4F"/>
                </a:solidFill>
                <a:latin typeface="Courier"/>
              </a:rPr>
              <a:t>side </a:t>
            </a:r>
            <a:r>
              <a:rPr>
                <a:solidFill>
                  <a:srgbClr val="5E5E5E"/>
                </a:solidFill>
                <a:latin typeface="Courier"/>
              </a:rPr>
              <a:t>==</a:t>
            </a:r>
            <a:r>
              <a:rPr>
                <a:solidFill>
                  <a:srgbClr val="003B4F"/>
                </a:solidFill>
                <a:latin typeface="Courier"/>
              </a:rPr>
              <a:t> </a:t>
            </a:r>
            <a:r>
              <a:rPr>
                <a:solidFill>
                  <a:srgbClr val="20794D"/>
                </a:solidFill>
                <a:latin typeface="Courier"/>
              </a:rPr>
              <a:t>"shady"</a:t>
            </a:r>
            <a:r>
              <a:rPr>
                <a:solidFill>
                  <a:srgbClr val="003B4F"/>
                </a:solidFill>
                <a:latin typeface="Courier"/>
              </a:rPr>
              <a:t>]</a:t>
            </a:r>
            <a:br/>
            <a:r>
              <a:rPr>
                <a:solidFill>
                  <a:srgbClr val="003B4F"/>
                </a:solidFill>
                <a:latin typeface="Courier"/>
              </a:rPr>
              <a:t>m_sun &lt;- recap_df</a:t>
            </a:r>
            <a:r>
              <a:rPr>
                <a:solidFill>
                  <a:srgbClr val="5E5E5E"/>
                </a:solidFill>
                <a:latin typeface="Courier"/>
              </a:rPr>
              <a:t>$</a:t>
            </a:r>
            <a:r>
              <a:rPr>
                <a:solidFill>
                  <a:srgbClr val="003B4F"/>
                </a:solidFill>
                <a:latin typeface="Courier"/>
              </a:rPr>
              <a:t>mean_wt[recap_df</a:t>
            </a:r>
            <a:r>
              <a:rPr>
                <a:solidFill>
                  <a:srgbClr val="5E5E5E"/>
                </a:solidFill>
                <a:latin typeface="Courier"/>
              </a:rPr>
              <a:t>$</a:t>
            </a:r>
            <a:r>
              <a:rPr>
                <a:solidFill>
                  <a:srgbClr val="003B4F"/>
                </a:solidFill>
                <a:latin typeface="Courier"/>
              </a:rPr>
              <a:t>side </a:t>
            </a:r>
            <a:r>
              <a:rPr>
                <a:solidFill>
                  <a:srgbClr val="5E5E5E"/>
                </a:solidFill>
                <a:latin typeface="Courier"/>
              </a:rPr>
              <a:t>==</a:t>
            </a:r>
            <a:r>
              <a:rPr>
                <a:solidFill>
                  <a:srgbClr val="003B4F"/>
                </a:solidFill>
                <a:latin typeface="Courier"/>
              </a:rPr>
              <a:t> </a:t>
            </a:r>
            <a:r>
              <a:rPr>
                <a:solidFill>
                  <a:srgbClr val="20794D"/>
                </a:solidFill>
                <a:latin typeface="Courier"/>
              </a:rPr>
              <a:t>"sunny"</a:t>
            </a:r>
            <a:r>
              <a:rPr>
                <a:solidFill>
                  <a:srgbClr val="003B4F"/>
                </a:solidFill>
                <a:latin typeface="Courier"/>
              </a:rPr>
              <a:t>]</a:t>
            </a:r>
            <a:br/>
            <a:r>
              <a:rPr>
                <a:solidFill>
                  <a:srgbClr val="003B4F"/>
                </a:solidFill>
                <a:latin typeface="Courier"/>
              </a:rPr>
              <a:t>s_sha &lt;- recap_df</a:t>
            </a:r>
            <a:r>
              <a:rPr>
                <a:solidFill>
                  <a:srgbClr val="5E5E5E"/>
                </a:solidFill>
                <a:latin typeface="Courier"/>
              </a:rPr>
              <a:t>$</a:t>
            </a:r>
            <a:r>
              <a:rPr>
                <a:solidFill>
                  <a:srgbClr val="003B4F"/>
                </a:solidFill>
                <a:latin typeface="Courier"/>
              </a:rPr>
              <a:t>sd_wt[recap_df</a:t>
            </a:r>
            <a:r>
              <a:rPr>
                <a:solidFill>
                  <a:srgbClr val="5E5E5E"/>
                </a:solidFill>
                <a:latin typeface="Courier"/>
              </a:rPr>
              <a:t>$</a:t>
            </a:r>
            <a:r>
              <a:rPr>
                <a:solidFill>
                  <a:srgbClr val="003B4F"/>
                </a:solidFill>
                <a:latin typeface="Courier"/>
              </a:rPr>
              <a:t>side </a:t>
            </a:r>
            <a:r>
              <a:rPr>
                <a:solidFill>
                  <a:srgbClr val="5E5E5E"/>
                </a:solidFill>
                <a:latin typeface="Courier"/>
              </a:rPr>
              <a:t>==</a:t>
            </a:r>
            <a:r>
              <a:rPr>
                <a:solidFill>
                  <a:srgbClr val="003B4F"/>
                </a:solidFill>
                <a:latin typeface="Courier"/>
              </a:rPr>
              <a:t> </a:t>
            </a:r>
            <a:r>
              <a:rPr>
                <a:solidFill>
                  <a:srgbClr val="20794D"/>
                </a:solidFill>
                <a:latin typeface="Courier"/>
              </a:rPr>
              <a:t>"shady"</a:t>
            </a:r>
            <a:r>
              <a:rPr>
                <a:solidFill>
                  <a:srgbClr val="003B4F"/>
                </a:solidFill>
                <a:latin typeface="Courier"/>
              </a:rPr>
              <a:t>]</a:t>
            </a:r>
            <a:br/>
            <a:r>
              <a:rPr>
                <a:solidFill>
                  <a:srgbClr val="003B4F"/>
                </a:solidFill>
                <a:latin typeface="Courier"/>
              </a:rPr>
              <a:t>s_sun &lt;- recap_df</a:t>
            </a:r>
            <a:r>
              <a:rPr>
                <a:solidFill>
                  <a:srgbClr val="5E5E5E"/>
                </a:solidFill>
                <a:latin typeface="Courier"/>
              </a:rPr>
              <a:t>$</a:t>
            </a:r>
            <a:r>
              <a:rPr>
                <a:solidFill>
                  <a:srgbClr val="003B4F"/>
                </a:solidFill>
                <a:latin typeface="Courier"/>
              </a:rPr>
              <a:t>sd_wt[recap_df</a:t>
            </a:r>
            <a:r>
              <a:rPr>
                <a:solidFill>
                  <a:srgbClr val="5E5E5E"/>
                </a:solidFill>
                <a:latin typeface="Courier"/>
              </a:rPr>
              <a:t>$</a:t>
            </a:r>
            <a:r>
              <a:rPr>
                <a:solidFill>
                  <a:srgbClr val="003B4F"/>
                </a:solidFill>
                <a:latin typeface="Courier"/>
              </a:rPr>
              <a:t>side </a:t>
            </a:r>
            <a:r>
              <a:rPr>
                <a:solidFill>
                  <a:srgbClr val="5E5E5E"/>
                </a:solidFill>
                <a:latin typeface="Courier"/>
              </a:rPr>
              <a:t>==</a:t>
            </a:r>
            <a:r>
              <a:rPr>
                <a:solidFill>
                  <a:srgbClr val="003B4F"/>
                </a:solidFill>
                <a:latin typeface="Courier"/>
              </a:rPr>
              <a:t> </a:t>
            </a:r>
            <a:r>
              <a:rPr>
                <a:solidFill>
                  <a:srgbClr val="20794D"/>
                </a:solidFill>
                <a:latin typeface="Courier"/>
              </a:rPr>
              <a:t>"sunny"</a:t>
            </a:r>
            <a:r>
              <a:rPr>
                <a:solidFill>
                  <a:srgbClr val="003B4F"/>
                </a:solidFill>
                <a:latin typeface="Courier"/>
              </a:rPr>
              <a:t>]</a:t>
            </a:r>
            <a:br/>
            <a:r>
              <a:rPr>
                <a:solidFill>
                  <a:srgbClr val="003B4F"/>
                </a:solidFill>
                <a:latin typeface="Courier"/>
              </a:rPr>
              <a:t>n_sha &lt;- recap_df</a:t>
            </a:r>
            <a:r>
              <a:rPr>
                <a:solidFill>
                  <a:srgbClr val="5E5E5E"/>
                </a:solidFill>
                <a:latin typeface="Courier"/>
              </a:rPr>
              <a:t>$</a:t>
            </a:r>
            <a:r>
              <a:rPr>
                <a:solidFill>
                  <a:srgbClr val="003B4F"/>
                </a:solidFill>
                <a:latin typeface="Courier"/>
              </a:rPr>
              <a:t>n[recap_df</a:t>
            </a:r>
            <a:r>
              <a:rPr>
                <a:solidFill>
                  <a:srgbClr val="5E5E5E"/>
                </a:solidFill>
                <a:latin typeface="Courier"/>
              </a:rPr>
              <a:t>$</a:t>
            </a:r>
            <a:r>
              <a:rPr>
                <a:solidFill>
                  <a:srgbClr val="003B4F"/>
                </a:solidFill>
                <a:latin typeface="Courier"/>
              </a:rPr>
              <a:t>side </a:t>
            </a:r>
            <a:r>
              <a:rPr>
                <a:solidFill>
                  <a:srgbClr val="5E5E5E"/>
                </a:solidFill>
                <a:latin typeface="Courier"/>
              </a:rPr>
              <a:t>==</a:t>
            </a:r>
            <a:r>
              <a:rPr>
                <a:solidFill>
                  <a:srgbClr val="003B4F"/>
                </a:solidFill>
                <a:latin typeface="Courier"/>
              </a:rPr>
              <a:t> </a:t>
            </a:r>
            <a:r>
              <a:rPr>
                <a:solidFill>
                  <a:srgbClr val="20794D"/>
                </a:solidFill>
                <a:latin typeface="Courier"/>
              </a:rPr>
              <a:t>"shady"</a:t>
            </a:r>
            <a:r>
              <a:rPr>
                <a:solidFill>
                  <a:srgbClr val="003B4F"/>
                </a:solidFill>
                <a:latin typeface="Courier"/>
              </a:rPr>
              <a:t>]</a:t>
            </a:r>
            <a:br/>
            <a:r>
              <a:rPr>
                <a:solidFill>
                  <a:srgbClr val="003B4F"/>
                </a:solidFill>
                <a:latin typeface="Courier"/>
              </a:rPr>
              <a:t>n_sun &lt;- recap_df</a:t>
            </a:r>
            <a:r>
              <a:rPr>
                <a:solidFill>
                  <a:srgbClr val="5E5E5E"/>
                </a:solidFill>
                <a:latin typeface="Courier"/>
              </a:rPr>
              <a:t>$</a:t>
            </a:r>
            <a:r>
              <a:rPr>
                <a:solidFill>
                  <a:srgbClr val="003B4F"/>
                </a:solidFill>
                <a:latin typeface="Courier"/>
              </a:rPr>
              <a:t>n[recap_df</a:t>
            </a:r>
            <a:r>
              <a:rPr>
                <a:solidFill>
                  <a:srgbClr val="5E5E5E"/>
                </a:solidFill>
                <a:latin typeface="Courier"/>
              </a:rPr>
              <a:t>$</a:t>
            </a:r>
            <a:r>
              <a:rPr>
                <a:solidFill>
                  <a:srgbClr val="003B4F"/>
                </a:solidFill>
                <a:latin typeface="Courier"/>
              </a:rPr>
              <a:t>side </a:t>
            </a:r>
            <a:r>
              <a:rPr>
                <a:solidFill>
                  <a:srgbClr val="5E5E5E"/>
                </a:solidFill>
                <a:latin typeface="Courier"/>
              </a:rPr>
              <a:t>==</a:t>
            </a:r>
            <a:r>
              <a:rPr>
                <a:solidFill>
                  <a:srgbClr val="003B4F"/>
                </a:solidFill>
                <a:latin typeface="Courier"/>
              </a:rPr>
              <a:t> </a:t>
            </a:r>
            <a:r>
              <a:rPr>
                <a:solidFill>
                  <a:srgbClr val="20794D"/>
                </a:solidFill>
                <a:latin typeface="Courier"/>
              </a:rPr>
              <a:t>"sunny"</a:t>
            </a:r>
            <a:r>
              <a:rPr>
                <a:solidFill>
                  <a:srgbClr val="003B4F"/>
                </a:solidFill>
                <a:latin typeface="Courier"/>
              </a:rPr>
              <a:t>]</a:t>
            </a:r>
            <a:br/>
            <a:br/>
            <a:r>
              <a:rPr>
                <a:solidFill>
                  <a:srgbClr val="5E5E5E"/>
                </a:solidFill>
                <a:latin typeface="Courier"/>
              </a:rPr>
              <a:t># Welch's SE of the difference</a:t>
            </a:r>
            <a:br/>
            <a:r>
              <a:rPr>
                <a:solidFill>
                  <a:srgbClr val="003B4F"/>
                </a:solidFill>
                <a:latin typeface="Courier"/>
              </a:rPr>
              <a:t>se_diff  &lt;- </a:t>
            </a:r>
            <a:r>
              <a:rPr>
                <a:solidFill>
                  <a:srgbClr val="4758AB"/>
                </a:solidFill>
                <a:latin typeface="Courier"/>
              </a:rPr>
              <a:t>sqrt</a:t>
            </a:r>
            <a:r>
              <a:rPr>
                <a:solidFill>
                  <a:srgbClr val="003B4F"/>
                </a:solidFill>
                <a:latin typeface="Courier"/>
              </a:rPr>
              <a:t>((s_sha</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n_sha) </a:t>
            </a:r>
            <a:r>
              <a:rPr>
                <a:solidFill>
                  <a:srgbClr val="5E5E5E"/>
                </a:solidFill>
                <a:latin typeface="Courier"/>
              </a:rPr>
              <a:t>+</a:t>
            </a:r>
            <a:r>
              <a:rPr>
                <a:solidFill>
                  <a:srgbClr val="003B4F"/>
                </a:solidFill>
                <a:latin typeface="Courier"/>
              </a:rPr>
              <a:t> (s_sun</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n_sun))</a:t>
            </a:r>
            <a:br/>
            <a:br/>
            <a:r>
              <a:rPr>
                <a:solidFill>
                  <a:srgbClr val="5E5E5E"/>
                </a:solidFill>
                <a:latin typeface="Courier"/>
              </a:rPr>
              <a:t># t-statistic</a:t>
            </a:r>
            <a:br/>
            <a:r>
              <a:rPr>
                <a:solidFill>
                  <a:srgbClr val="003B4F"/>
                </a:solidFill>
                <a:latin typeface="Courier"/>
              </a:rPr>
              <a:t>t_manual &lt;- (m_sha </a:t>
            </a:r>
            <a:r>
              <a:rPr>
                <a:solidFill>
                  <a:srgbClr val="5E5E5E"/>
                </a:solidFill>
                <a:latin typeface="Courier"/>
              </a:rPr>
              <a:t>-</a:t>
            </a:r>
            <a:r>
              <a:rPr>
                <a:solidFill>
                  <a:srgbClr val="003B4F"/>
                </a:solidFill>
                <a:latin typeface="Courier"/>
              </a:rPr>
              <a:t> m_sun) </a:t>
            </a:r>
            <a:r>
              <a:rPr>
                <a:solidFill>
                  <a:srgbClr val="5E5E5E"/>
                </a:solidFill>
                <a:latin typeface="Courier"/>
              </a:rPr>
              <a:t>/</a:t>
            </a:r>
            <a:r>
              <a:rPr>
                <a:solidFill>
                  <a:srgbClr val="003B4F"/>
                </a:solidFill>
                <a:latin typeface="Courier"/>
              </a:rPr>
              <a:t> se_diff</a:t>
            </a:r>
            <a:br/>
            <a:br/>
            <a:r>
              <a:rPr>
                <a:solidFill>
                  <a:srgbClr val="4758AB"/>
                </a:solidFill>
                <a:latin typeface="Courier"/>
              </a:rPr>
              <a:t>cat</a:t>
            </a:r>
            <a:r>
              <a:rPr>
                <a:solidFill>
                  <a:srgbClr val="003B4F"/>
                </a:solidFill>
                <a:latin typeface="Courier"/>
              </a:rPr>
              <a:t>(</a:t>
            </a:r>
            <a:r>
              <a:rPr>
                <a:solidFill>
                  <a:srgbClr val="20794D"/>
                </a:solidFill>
                <a:latin typeface="Courier"/>
              </a:rPr>
              <a:t>"Difference in means:"</a:t>
            </a:r>
            <a:r>
              <a:rPr>
                <a:solidFill>
                  <a:srgbClr val="003B4F"/>
                </a:solidFill>
                <a:latin typeface="Courier"/>
              </a:rPr>
              <a:t>, </a:t>
            </a:r>
            <a:r>
              <a:rPr>
                <a:solidFill>
                  <a:srgbClr val="4758AB"/>
                </a:solidFill>
                <a:latin typeface="Courier"/>
              </a:rPr>
              <a:t>round</a:t>
            </a:r>
            <a:r>
              <a:rPr>
                <a:solidFill>
                  <a:srgbClr val="003B4F"/>
                </a:solidFill>
                <a:latin typeface="Courier"/>
              </a:rPr>
              <a:t>(m_sha </a:t>
            </a:r>
            <a:r>
              <a:rPr>
                <a:solidFill>
                  <a:srgbClr val="5E5E5E"/>
                </a:solidFill>
                <a:latin typeface="Courier"/>
              </a:rPr>
              <a:t>-</a:t>
            </a:r>
            <a:r>
              <a:rPr>
                <a:solidFill>
                  <a:srgbClr val="003B4F"/>
                </a:solidFill>
                <a:latin typeface="Courier"/>
              </a:rPr>
              <a:t> m_sun, </a:t>
            </a:r>
            <a:r>
              <a:rPr>
                <a:solidFill>
                  <a:srgbClr val="AD0000"/>
                </a:solidFill>
                <a:latin typeface="Courier"/>
              </a:rPr>
              <a:t>2</a:t>
            </a:r>
            <a:r>
              <a:rPr>
                <a:solidFill>
                  <a:srgbClr val="003B4F"/>
                </a:solidFill>
                <a:latin typeface="Courier"/>
              </a:rPr>
              <a:t>), </a:t>
            </a:r>
            <a:r>
              <a:rPr>
                <a:solidFill>
                  <a:srgbClr val="20794D"/>
                </a:solidFill>
                <a:latin typeface="Courier"/>
              </a:rPr>
              <a:t>"g</a:t>
            </a:r>
            <a:r>
              <a:rPr>
                <a:solidFill>
                  <a:srgbClr val="5E5E5E"/>
                </a:solidFill>
                <a:latin typeface="Courier"/>
              </a:rPr>
              <a:t>\n</a:t>
            </a:r>
            <a:r>
              <a:rPr>
                <a:solidFill>
                  <a:srgbClr val="20794D"/>
                </a:solidFill>
                <a:latin typeface="Courier"/>
              </a:rPr>
              <a:t>"</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"SE of difference:   "</a:t>
            </a:r>
            <a:r>
              <a:rPr>
                <a:solidFill>
                  <a:srgbClr val="003B4F"/>
                </a:solidFill>
                <a:latin typeface="Courier"/>
              </a:rPr>
              <a:t>, </a:t>
            </a:r>
            <a:r>
              <a:rPr>
                <a:solidFill>
                  <a:srgbClr val="4758AB"/>
                </a:solidFill>
                <a:latin typeface="Courier"/>
              </a:rPr>
              <a:t>round</a:t>
            </a:r>
            <a:r>
              <a:rPr>
                <a:solidFill>
                  <a:srgbClr val="003B4F"/>
                </a:solidFill>
                <a:latin typeface="Courier"/>
              </a:rPr>
              <a:t>(se_diff, </a:t>
            </a:r>
            <a:r>
              <a:rPr>
                <a:solidFill>
                  <a:srgbClr val="AD0000"/>
                </a:solidFill>
                <a:latin typeface="Courier"/>
              </a:rPr>
              <a:t>4</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"Manual t:           "</a:t>
            </a:r>
            <a:r>
              <a:rPr>
                <a:solidFill>
                  <a:srgbClr val="003B4F"/>
                </a:solidFill>
                <a:latin typeface="Courier"/>
              </a:rPr>
              <a:t>, </a:t>
            </a:r>
            <a:r>
              <a:rPr>
                <a:solidFill>
                  <a:srgbClr val="4758AB"/>
                </a:solidFill>
                <a:latin typeface="Courier"/>
              </a:rPr>
              <a:t>round</a:t>
            </a:r>
            <a:r>
              <a:rPr>
                <a:solidFill>
                  <a:srgbClr val="003B4F"/>
                </a:solidFill>
                <a:latin typeface="Courier"/>
              </a:rPr>
              <a:t>(t_manual,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marL="0">
              <a:buNone/>
            </a:pPr>
            <a:r>
              <a:rPr/>
              <a:t>✏️ </a:t>
            </a:r>
            <a:r>
              <a:rPr b="1"/>
              <a:t>Your turn:</a:t>
            </a:r>
            <a:r>
              <a:rPr/>
              <a:t> Next lecture you’ll run </a:t>
            </a:r>
            <a:r>
              <a:rPr>
                <a:latin typeface="Courier"/>
              </a:rPr>
              <a:t>t.test()</a:t>
            </a:r>
            <a:r>
              <a:rPr/>
              <a:t> and get a t-statistic back automatically. Write down your manually-calculated value now so you can compare:</a:t>
            </a:r>
          </a:p>
          <a:p>
            <a:pPr lvl="0" indent="0">
              <a:buNone/>
            </a:pPr>
            <a:r>
              <a:rPr>
                <a:latin typeface="Courier"/>
              </a:rPr>
              <a:t>Manual t = _____</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Getting unstuck</a:t>
            </a:r>
          </a:p>
        </p:txBody>
      </p:sp>
      <p:sp>
        <p:nvSpPr>
          <p:cNvPr id="3" name="Content Placeholder 2"/>
          <p:cNvSpPr>
            <a:spLocks noGrp="1"/>
          </p:cNvSpPr>
          <p:nvPr>
            <p:ph idx="1"/>
          </p:nvPr>
        </p:nvSpPr>
        <p:spPr/>
        <p:txBody>
          <a:bodyPr/>
          <a:lstStyle/>
          <a:p>
            <a:pPr lvl="0" indent="-342900" marL="342900">
              <a:buAutoNum type="arabicPeriod"/>
            </a:pPr>
            <a:r>
              <a:rPr b="1"/>
              <a:t>Read the error message out loud.</a:t>
            </a:r>
            <a:r>
              <a:rPr/>
              <a:t> R usually names the line and the problem.</a:t>
            </a:r>
          </a:p>
          <a:p>
            <a:pPr lvl="0" indent="-342900" marL="342900">
              <a:buAutoNum type="arabicPeriod"/>
            </a:pPr>
            <a:r>
              <a:rPr b="1"/>
              <a:t>Check the usual suspects:</a:t>
            </a:r>
          </a:p>
          <a:p>
            <a:pPr lvl="1"/>
            <a:r>
              <a:rPr/>
              <a:t>Loaded </a:t>
            </a:r>
            <a:r>
              <a:rPr>
                <a:latin typeface="Courier"/>
              </a:rPr>
              <a:t>library(car)</a:t>
            </a:r>
            <a:r>
              <a:rPr/>
              <a:t>, </a:t>
            </a:r>
            <a:r>
              <a:rPr>
                <a:latin typeface="Courier"/>
              </a:rPr>
              <a:t>library(readxl)</a:t>
            </a:r>
            <a:r>
              <a:rPr/>
              <a:t>, </a:t>
            </a:r>
            <a:r>
              <a:rPr>
                <a:latin typeface="Courier"/>
              </a:rPr>
              <a:t>library(tidyverse)</a:t>
            </a:r>
            <a:r>
              <a:rPr/>
              <a:t>?</a:t>
            </a:r>
          </a:p>
          <a:p>
            <a:pPr lvl="1"/>
            <a:r>
              <a:rPr/>
              <a:t>Spelling of column names? Check with </a:t>
            </a:r>
            <a:r>
              <a:rPr>
                <a:latin typeface="Courier"/>
              </a:rPr>
              <a:t>names(tree_df)</a:t>
            </a:r>
          </a:p>
          <a:p>
            <a:pPr lvl="1"/>
            <a:r>
              <a:rPr/>
              <a:t>Missing </a:t>
            </a:r>
            <a:r>
              <a:rPr>
                <a:latin typeface="Courier"/>
              </a:rPr>
              <a:t>)</a:t>
            </a:r>
            <a:r>
              <a:rPr/>
              <a:t> or </a:t>
            </a:r>
            <a:r>
              <a:rPr>
                <a:latin typeface="Courier"/>
              </a:rPr>
              <a:t>%&gt;%</a:t>
            </a:r>
            <a:r>
              <a:rPr/>
              <a:t>?</a:t>
            </a:r>
          </a:p>
          <a:p>
            <a:pPr lvl="0" indent="-342900" marL="342900">
              <a:buAutoNum type="arabicPeriod"/>
            </a:pPr>
            <a:r>
              <a:rPr b="1">
                <a:latin typeface="Courier"/>
              </a:rPr>
              <a:t>leveneTest</a:t>
            </a:r>
            <a:r>
              <a:rPr b="1"/>
              <a:t> not found?</a:t>
            </a:r>
            <a:r>
              <a:rPr/>
              <a:t> You need </a:t>
            </a:r>
            <a:r>
              <a:rPr>
                <a:latin typeface="Courier"/>
              </a:rPr>
              <a:t>library(car)</a:t>
            </a:r>
            <a:r>
              <a:rPr/>
              <a:t> — not just </a:t>
            </a:r>
            <a:r>
              <a:rPr>
                <a:latin typeface="Courier"/>
              </a:rPr>
              <a:t>car::leveneTest</a:t>
            </a:r>
            <a:r>
              <a:rPr/>
              <a:t>.</a:t>
            </a:r>
          </a:p>
          <a:p>
            <a:pPr lvl="0" indent="-342900" marL="342900">
              <a:buAutoNum type="arabicPeriod"/>
            </a:pPr>
            <a:r>
              <a:rPr b="1"/>
              <a:t>Shapiro-Wilk needs &gt; 3 values.</a:t>
            </a:r>
            <a:r>
              <a:rPr/>
              <a:t> If you filtered to a tiny subset, you may get an error.</a:t>
            </a:r>
          </a:p>
          <a:p>
            <a:pPr lvl="0" indent="-342900" marL="342900">
              <a:buAutoNum type="arabicPeriod"/>
            </a:pPr>
            <a:r>
              <a:rPr b="1"/>
              <a:t>Cheat sheets</a:t>
            </a:r>
            <a:r>
              <a:rPr/>
              <a:t> — </a:t>
            </a:r>
            <a:r>
              <a:rPr>
                <a:hlinkClick r:id="rId2"/>
              </a:rPr>
              <a:t>https://posit.co/resources/cheatsheets/</a:t>
            </a:r>
          </a:p>
          <a:p>
            <a:pPr lvl="0" indent="-342900" marL="342900">
              <a:buAutoNum type="arabicPeriod"/>
            </a:pPr>
            <a:r>
              <a:rPr b="1"/>
              <a:t>Bring the exact error</a:t>
            </a:r>
            <a:r>
              <a:rPr/>
              <a:t> (copy-paste it) to class, Canvas, or office hours.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End of Worksheet 09. Next: Worksheet 10 — T-Tests II: running the test, decoding the output, and writing a results sentence.</a:t>
            </a:r>
          </a:p>
        </p:txBody>
      </p:sp>
    </p:spTree>
  </p:cSld>
</p:sld>
</file>

<file path=ppt/theme/theme1.xml><?xml version="1.0" encoding="utf-8"?>
<a:theme xmlns:a="http://schemas.openxmlformats.org/drawingml/2006/main" name="UMD Biostatistics">
  <a:themeElements>
    <a:clrScheme name="UMD">
      <a:dk1>
        <a:sysClr val="windowText" lastClr="000000"/>
      </a:dk1>
      <a:lt1>
        <a:sysClr val="window" lastClr="FFFFFF"/>
      </a:lt1>
      <a:dk2>
        <a:srgbClr val="4A4A4A"/>
      </a:dk2>
      <a:lt2>
        <a:srgbClr val="F0F4F8"/>
      </a:lt2>
      <a:accent1>
        <a:srgbClr val="F4CD54"/>
      </a:accent1>
      <a:accent2>
        <a:srgbClr val="002147"/>
      </a:accent2>
      <a:accent3>
        <a:srgbClr val="0072B2"/>
      </a:accent3>
      <a:accent4>
        <a:srgbClr val="009E73"/>
      </a:accent4>
      <a:accent5>
        <a:srgbClr val="E69F00"/>
      </a:accent5>
      <a:accent6>
        <a:srgbClr val="56B4E9"/>
      </a:accent6>
      <a:hlink>
        <a:srgbClr val="0563C1"/>
      </a:hlink>
      <a:folHlink>
        <a:srgbClr val="1A1A2E"/>
      </a:folHlink>
    </a:clrScheme>
    <a:fontScheme name="UMD">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M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UMD Biostatistics</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Worksheet 09 — T-Tests I: Setting Up the Test</dc:title>
  <dc:creator>Bill Perry</dc:creator>
  <cp:keywords/>
  <dc:description>Hands-on companion to T-Tests I: state hypotheses, check normality and variance, and see where the t-statistic comes from.</dc:description>
  <dcterms:created xsi:type="dcterms:W3CDTF">2026-08-27T17:12:55Z</dcterms:created>
  <dcterms:modified xsi:type="dcterms:W3CDTF">2026-08-27T17:12:55Z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date">
    <vt:lpwstr>2026-08-27</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order">
    <vt:lpwstr>9</vt:lpwstr>
  </property>
  <property fmtid="{D5CDD505-2E9C-101B-9397-08002B2CF9AE}" pid="13" name="resources">
    <vt:lpwstr/>
  </property>
  <property fmtid="{D5CDD505-2E9C-101B-9397-08002B2CF9AE}" pid="14" name="subtitle">
    <vt:lpwstr>Hypotheses, the t-statistic, and checking assumptions before we test</vt:lpwstr>
  </property>
  <property fmtid="{D5CDD505-2E9C-101B-9397-08002B2CF9AE}" pid="15" name="toc-title">
    <vt:lpwstr>Table of contents</vt:lpwstr>
  </property>
  <property fmtid="{D5CDD505-2E9C-101B-9397-08002B2CF9AE}" pid="16" name="type">
    <vt:lpwstr>activity</vt:lpwstr>
  </property>
  <property fmtid="{D5CDD505-2E9C-101B-9397-08002B2CF9AE}" pid="17" name="week">
    <vt:lpwstr>5</vt:lpwstr>
  </property>
</Properties>
</file>