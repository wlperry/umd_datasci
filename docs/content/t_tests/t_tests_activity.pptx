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scientific report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4: The Welch’s Two-Sample t-Test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4: 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 03</a:t>
            </a:r>
          </a:p>
          <a:p>
            <a:pPr lvl="0"/>
            <a:r>
              <a:rPr/>
              <a:t>Loaded our Excel leaf data with </a:t>
            </a:r>
            <a:r>
              <a:rPr>
                <a:latin typeface="Courier"/>
              </a:rPr>
              <a:t>read_excel()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compute mean, SD, and SE per group</a:t>
            </a:r>
          </a:p>
          <a:p>
            <a:pPr lvl="0"/>
            <a:r>
              <a:rPr/>
              <a:t>Checked for missing values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Made boxplots with jittered points and mean ± SE plots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Prediction:</a:t>
            </a:r>
            <a:r>
              <a:rPr/>
              <a:t> shady leaves appeared heavier, taller, and wider than sunny leaves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State null and alternate hypotheses formally before running any test</a:t>
            </a:r>
          </a:p>
          <a:p>
            <a:pPr lvl="0" indent="-342900" marL="342900">
              <a:buAutoNum type="arabicPeriod"/>
            </a:pPr>
            <a:r>
              <a:rPr/>
              <a:t>Check the normality assumption — histogram, QQ plot, and Shapiro-Wilk test</a:t>
            </a:r>
          </a:p>
          <a:p>
            <a:pPr lvl="0" indent="-342900" marL="342900">
              <a:buAutoNum type="arabicPeriod"/>
            </a:pPr>
            <a:r>
              <a:rPr/>
              <a:t>Check the variance assumption — Levene’s test</a:t>
            </a:r>
          </a:p>
          <a:p>
            <a:pPr lvl="0" indent="-342900" marL="342900">
              <a:buAutoNum type="arabicPeriod"/>
            </a:pPr>
            <a:r>
              <a:rPr/>
              <a:t>Run a Welch’s two-sample t-test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 indent="-342900" marL="342900">
              <a:buAutoNum type="arabicPeriod"/>
            </a:pPr>
            <a:r>
              <a:rPr/>
              <a:t>Read and decode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 indent="-342900" marL="342900">
              <a:buAutoNum type="arabicPeriod"/>
            </a:pPr>
            <a:r>
              <a:rPr/>
              <a:t>Make a formal statistical decision and state a conclusion</a:t>
            </a:r>
          </a:p>
          <a:p>
            <a:pPr lvl="0" indent="-342900" marL="342900">
              <a:buAutoNum type="arabicPeriod"/>
            </a:pPr>
            <a:r>
              <a:rPr/>
              <a:t>Write a results sentence in proper scientific format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 — the steps build on each other. Type the code into your script in Positron and run it line by line.</a:t>
            </a:r>
          </a:p>
          <a:p>
            <a:pPr lvl="0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 something.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you run any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print. Jot your guess down, then run it and compare. Two reasons it is worth the extra few seconds:</a:t>
            </a:r>
          </a:p>
          <a:p>
            <a:pPr lvl="0"/>
            <a:r>
              <a:rPr sz="2000" b="1"/>
              <a:t>Predicting makes it stick.</a:t>
            </a:r>
            <a:r>
              <a:rPr sz="2000"/>
              <a:t> Guessing forces you to retrieve what you already know, and the little jolt of being wrong is when real learning happens — especially for </a:t>
            </a:r>
            <a:r>
              <a:rPr sz="2000" i="1"/>
              <a:t>p</a:t>
            </a:r>
            <a:r>
              <a:rPr sz="2000"/>
              <a:t>-values, which are easy to misread.</a:t>
            </a:r>
          </a:p>
          <a:p>
            <a:pPr lvl="0"/>
            <a:r>
              <a:rPr sz="2000" b="1"/>
              <a:t>Typing beats pasting.</a:t>
            </a:r>
            <a:r>
              <a:rPr sz="2000"/>
              <a:t> Typing every line builds muscle memory and trains your eye to catch small errors (</a:t>
            </a:r>
            <a:r>
              <a:rPr sz="2000">
                <a:latin typeface="Courier"/>
              </a:rPr>
              <a:t>=</a:t>
            </a:r>
            <a:r>
              <a:rPr sz="2000"/>
              <a:t> vs </a:t>
            </a:r>
            <a:r>
              <a:rPr sz="2000">
                <a:latin typeface="Courier"/>
              </a:rPr>
              <a:t>==</a:t>
            </a:r>
            <a:r>
              <a:rPr sz="2000"/>
              <a:t>, a missing </a:t>
            </a:r>
            <a:r>
              <a:rPr sz="2000">
                <a:latin typeface="Courier"/>
              </a:rPr>
              <a:t>)</a:t>
            </a:r>
            <a:r>
              <a:rPr sz="2000"/>
              <a:t> or </a:t>
            </a:r>
            <a:r>
              <a:rPr sz="2000">
                <a:latin typeface="Courier"/>
              </a:rPr>
              <a:t>%&gt;%</a:t>
            </a:r>
            <a:r>
              <a:rPr sz="2000"/>
              <a:t>) that you would otherwise spend real time hunting.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Setup, hypotheses &amp; recap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1–3: load the data, commit to your hypotheses, and recompute the descriptive stats.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 — in this exact order: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the script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dataset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</a:p>
          <a:p>
            <a:pPr lvl="0"/>
            <a:r>
              <a:rPr sz="2000"/>
              <a:t>If R says </a:t>
            </a:r>
            <a:r>
              <a:rPr sz="2000">
                <a:latin typeface="Courier"/>
              </a:rPr>
              <a:t>"could not find function 'leveneTest'"</a:t>
            </a:r>
          </a:p>
          <a:p>
            <a:pPr lvl="1"/>
            <a:r>
              <a:rPr sz="2000"/>
              <a:t>you forgot </a:t>
            </a:r>
            <a:r>
              <a:rPr sz="2000">
                <a:latin typeface="Courier"/>
              </a:rPr>
              <a:t>library(car)</a:t>
            </a:r>
            <a:r>
              <a:rPr sz="2000"/>
              <a:t>.</a:t>
            </a:r>
          </a:p>
          <a:p>
            <a:pPr lvl="0"/>
            <a:r>
              <a:rPr sz="2000"/>
              <a:t>Install it once with </a:t>
            </a:r>
            <a:r>
              <a:rPr sz="2000">
                <a:latin typeface="Courier"/>
              </a:rPr>
              <a:t>install.packages("car")</a:t>
            </a:r>
            <a:r>
              <a:rPr sz="2000"/>
              <a:t>, then load it every session </a:t>
            </a:r>
            <a:r>
              <a:rPr sz="2000">
                <a:latin typeface="Courier"/>
              </a:rPr>
              <a:t>library(car)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the data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Before anything else — do you remember the structure of this data frame? Fill in from memory, then check with </a:t>
            </a:r>
            <a:r>
              <a:rPr>
                <a:latin typeface="Courier"/>
              </a:rPr>
              <a:t>glimpse(tree_df)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rows:
Number of columns:
Column holding the grouping variable (sunny/shady):
Column we are testing today: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State your hypotheses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Always write down your hypotheses </a:t>
            </a:r>
            <a:r>
              <a:rPr sz="2000" i="1"/>
              <a:t>before</a:t>
            </a:r>
            <a:r>
              <a:rPr sz="2000"/>
              <a:t> you look at the data or run any test. This is how you stay scientifically honest.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null and alternate hypotheses for leaf weight. Use words first, then symbols.</a:t>
            </a:r>
          </a:p>
          <a:p>
            <a:pPr lvl="0" indent="0">
              <a:buNone/>
            </a:pPr>
            <a:r>
              <a:rPr>
                <a:latin typeface="Courier"/>
              </a:rPr>
              <a:t>In words:
  H₀ (null hypothesis):
  Hₐ (alternate hypothesis):
In symbols (use μ for "mean"):
  H₀:
  Hₐ:
Test type (circle one):   one-tailed   /   two-tailed
Significance level α: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use a two-tailed test here even though we predicted shady leaves would be </a:t>
            </a:r>
            <a:r>
              <a:rPr i="1"/>
              <a:t>heavier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Quick descriptive stats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Before running, guess the mean weight for each side (shady vs sunny) and the gap between them. Write your guesses, then check.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Recap stats from Lecture 03 — both groups at once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values you will need for the t-test formula:</a:t>
            </a:r>
          </a:p>
          <a:p>
            <a:pPr lvl="0" indent="0">
              <a:buNone/>
            </a:pPr>
            <a:r>
              <a:rPr>
                <a:latin typeface="Courier"/>
              </a:rPr>
              <a:t>Shady:  mean = _____ g   SD = _____   n = _____
Sunny:  mean = _____ g   SD = _____   n = _____
Difference in means = _____  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SD values, do the two groups appear to have </a:t>
            </a:r>
            <a:r>
              <a:rPr b="1"/>
              <a:t>similar</a:t>
            </a:r>
            <a:r>
              <a:rPr/>
              <a:t> or </a:t>
            </a:r>
            <a:r>
              <a:rPr b="1"/>
              <a:t>different</a:t>
            </a:r>
            <a:r>
              <a:rPr/>
              <a:t> variance? (Does one group have much more spread than the other?)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Checking assumptions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4–7: histogram, QQ plot, Shapiro-Wilk, and Levene’s test — check </a:t>
            </a:r>
            <a:r>
              <a:rPr sz="2000" i="1"/>
              <a:t>before</a:t>
            </a:r>
            <a:r>
              <a:rPr sz="2000"/>
              <a:t> you test.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Check normality —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t-test assumes that data within each group are approximately normally distributed.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— look for bell-shaped distribution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shape of each histogram: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shape (bell-shaped, skewed, flat, bimodal?):
Shady side shape:
Any obvious outliers?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only 10 values per group, histograms will look lumpy even if the data are normal. Does this mean we should reject normality? Why or why not?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Check normality — QQ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QQ (quantile-quantile) plot compares your data’s quantiles to what a perfect normal distribution would look like. Points on the diagonal line = normal.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points for each group fall approximately along the diagonal line? What would it mean if they curved strongly away at the ends?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— on the line?  Y / mostly / no
Shady side — on the line?  Y / mostly / no
What strong curvature at the ends would indicate: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Check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Shapiro-Wilk’s H₀ is “data are normal.” From your histogram and QQ plot, predict whether </a:t>
            </a:r>
            <a:r>
              <a:rPr sz="2000" i="1"/>
              <a:t>p</a:t>
            </a:r>
            <a:r>
              <a:rPr sz="2000"/>
              <a:t> will be above or below 0.05 for each side before you run it.</a:t>
            </a:r>
          </a:p>
          <a:p>
            <a:pPr lvl="0" indent="0" marL="0">
              <a:buNone/>
            </a:pPr>
            <a:r>
              <a:rPr/>
              <a:t>The Shapiro-Wilk test formally tests whether a sample could have come from a normal distribution.</a:t>
            </a:r>
          </a:p>
          <a:p>
            <a:pPr lvl="0"/>
            <a:r>
              <a:rPr b="1"/>
              <a:t>H₀ (Shapiro-Wilk):</a:t>
            </a:r>
            <a:r>
              <a:rPr/>
              <a:t> the data are normally distributed</a:t>
            </a:r>
          </a:p>
          <a:p>
            <a:pPr lvl="0"/>
            <a:r>
              <a:rPr b="1"/>
              <a:t>p &gt; 0.05</a:t>
            </a:r>
            <a:r>
              <a:rPr/>
              <a:t> → fail to reject normality → proceed with t-test</a:t>
            </a:r>
          </a:p>
          <a:p>
            <a:pPr lvl="0"/>
            <a:r>
              <a:rPr b="1"/>
              <a:t>p &lt; 0.05</a:t>
            </a:r>
            <a:r>
              <a:rPr/>
              <a:t> → evidence of non-normality → consider alternatives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sunny side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shady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results and state your decision:</a:t>
            </a:r>
          </a:p>
          <a:p>
            <a:pPr lvl="0" indent="0">
              <a:buNone/>
            </a:pPr>
            <a:r>
              <a:rPr>
                <a:latin typeface="Courier"/>
              </a:rPr>
              <a:t>Sunny:  W = _____   p = _____   Decision (normal / not normal):
Shady:  W = _____   p = _____   Decision (normal / not normal):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n = 10 per group, the Shapiro-Wilk test has low </a:t>
            </a:r>
            <a:r>
              <a:rPr b="1"/>
              <a:t>statistical power</a:t>
            </a:r>
            <a:r>
              <a:rPr/>
              <a:t>. What does that mean in plain language for interpreting this result?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Even if Shapiro-Wilk returns </a:t>
            </a:r>
            <a:r>
              <a:rPr sz="2000" i="1"/>
              <a:t>p</a:t>
            </a:r>
            <a:r>
              <a:rPr sz="2000"/>
              <a:t> &lt; 0.05 with very small samples, the t-test may still be appropriate — the QQ plot and histogram give important visual context. None of these checks alone is definitive.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Check variance —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Look back at the two SD values from Part 3. Predict whether Levene’s will call the variances equal (</a:t>
            </a:r>
            <a:r>
              <a:rPr sz="2000" i="1"/>
              <a:t>p</a:t>
            </a:r>
            <a:r>
              <a:rPr sz="2000"/>
              <a:t> &gt; 0.05) or not, before you run it.</a:t>
            </a:r>
          </a:p>
          <a:p>
            <a:pPr lvl="0" indent="0" marL="0">
              <a:buNone/>
            </a:pPr>
            <a:r>
              <a:rPr/>
              <a:t>Levene’s test checks whether the two groups have the same population variance.</a:t>
            </a:r>
          </a:p>
          <a:p>
            <a:pPr lvl="0"/>
            <a:r>
              <a:rPr b="1"/>
              <a:t>H₀ (Levene’s):</a:t>
            </a:r>
            <a:r>
              <a:rPr/>
              <a:t> the two groups have equal variance</a:t>
            </a:r>
          </a:p>
          <a:p>
            <a:pPr lvl="0"/>
            <a:r>
              <a:rPr b="1"/>
              <a:t>p &gt; 0.05</a:t>
            </a:r>
            <a:r>
              <a:rPr/>
              <a:t> → variances are not significantly different</a:t>
            </a:r>
          </a:p>
          <a:p>
            <a:pPr lvl="0"/>
            <a:r>
              <a:rPr b="1"/>
              <a:t>p &lt; 0.05</a:t>
            </a:r>
            <a:r>
              <a:rPr/>
              <a:t> → variances are significantly different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for equal variance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 and decide:</a:t>
            </a:r>
          </a:p>
          <a:p>
            <a:pPr lvl="0" indent="0">
              <a:buNone/>
            </a:pPr>
            <a:r>
              <a:rPr>
                <a:latin typeface="Courier"/>
              </a:rPr>
              <a:t>F-statistic = _____   p = _____
Decision (variances equal / not equal):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We are going to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 regardless of Levene’s result. In your own words, why is Welch’s the safe default even when Levene’s says variances are equal?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Run &amp; interpret </a:t>
            </a:r>
            <a:r>
              <a:rPr sz="2000" b="1" i="1"/>
              <a:t>(after lecture Chunk 3)</a:t>
            </a:r>
          </a:p>
          <a:p>
            <a:pPr lvl="0" indent="0" marL="1270000">
              <a:buNone/>
            </a:pPr>
            <a:r>
              <a:rPr sz="2000"/>
              <a:t>Parts 8–11: run the test, decode the output, reproduce t by hand, and decide.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now — above or below 0.05? Then run </a:t>
            </a:r>
            <a:r>
              <a:rPr sz="2000">
                <a:latin typeface="Courier"/>
              </a:rPr>
              <a:t>t.test()</a:t>
            </a:r>
            <a:r>
              <a:rPr sz="2000"/>
              <a:t> and see how close you were.</a:t>
            </a:r>
          </a:p>
          <a:p>
            <a:pPr lvl="0" indent="0" marL="0">
              <a:buNone/>
            </a:pPr>
            <a:r>
              <a:rPr/>
              <a:t>Now that we have checked our assumptions, we can run the test.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         </a:t>
            </a:r>
            <a:r>
              <a:rPr>
                <a:solidFill>
                  <a:srgbClr val="5E5E5E"/>
                </a:solidFill>
                <a:latin typeface="Courier"/>
              </a:rPr>
              <a:t>#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the full output below:</a:t>
            </a:r>
          </a:p>
          <a:p>
            <a:pPr lvl="0" indent="0">
              <a:buNone/>
            </a:pPr>
            <a:r>
              <a:rPr>
                <a:latin typeface="Courier"/>
              </a:rPr>
              <a:t>Paste or write the t.test() output here: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Decode the output line by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to extract individual values: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specific values from the model object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CI: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each piece of output to its meaning: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= _____
  → This is large/small (circle one) because the difference in means
    is large/small relative to the variability (circle one).
df = _____
  → This is a non-integer. Why? (hint: Welch-Satterthwaite equation)
p-value = _____
  → In plain language, this means: if H₀ were true, the probability
    of seeing a t-statistic this extreme just by chance is _____.
95% CI = _____ to _____ g
  → This CI is for the ________________ (the true difference in means).
    It does / does not include zero (circle one).
    What does it mean when the CI excludes zero?
Mean shady = _____ g
Mean sunny = _____ 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Calculate t by hand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Reproduce the t-statistic manually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Welch's SE of the difference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se_diff 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t-statistic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t:   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your manually calculated t match the value from </a:t>
            </a:r>
            <a:r>
              <a:rPr>
                <a:latin typeface="Courier"/>
              </a:rPr>
              <a:t>t.test()</a:t>
            </a:r>
            <a:r>
              <a:rPr/>
              <a:t>? (They may differ very slightly due to rounding in </a:t>
            </a:r>
            <a:r>
              <a:rPr>
                <a:latin typeface="Courier"/>
              </a:rPr>
              <a:t>recap_df</a:t>
            </a:r>
            <a:r>
              <a:rPr/>
              <a:t>.)</a:t>
            </a:r>
          </a:p>
          <a:p>
            <a:pPr lvl="0" indent="0">
              <a:buNone/>
            </a:pPr>
            <a:r>
              <a:rPr>
                <a:latin typeface="Courier"/>
              </a:rPr>
              <a:t>Manual t = _____
t.test() t = _____
Match?  Y / close / no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Welch’s t-test formula below and label each part: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_________________
  Numerator means:
  Denominator means: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Make a formal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State your decision and conclusion. Use the formal language of hypothesis testing.</a:t>
            </a:r>
          </a:p>
          <a:p>
            <a:pPr lvl="0" indent="0">
              <a:buNone/>
            </a:pPr>
            <a:r>
              <a:rPr>
                <a:latin typeface="Courier"/>
              </a:rPr>
              <a:t>Our p-value:
Our α:
Decision (circle one):   REJECT H₀   /   FAIL TO REJECT H₀
In one sentence, what does this mean biologically?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We never say “H₀ is true” or “H₀ is false.” We say “we reject H₀” (evidence was strong enough) or “we fail to reject H₀” (evidence was not strong enough). Statistics gives us a decision rule, not certainty.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Visualize &amp; report </a:t>
            </a:r>
            <a:r>
              <a:rPr sz="2000" b="1" i="1"/>
              <a:t>(after lecture Chunk 4)</a:t>
            </a:r>
          </a:p>
          <a:p>
            <a:pPr lvl="0" indent="0" marL="1270000">
              <a:buNone/>
            </a:pPr>
            <a:r>
              <a:rPr sz="2000"/>
              <a:t>Parts 12–13: build the figure with the statistics embedded, then write the results sentence.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Visualize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Boxplot with test statistics in the subtitle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with t and p embedded in subtitle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</a:t>
            </a:r>
            <a:r>
              <a:rPr>
                <a:latin typeface="Courier"/>
              </a:rPr>
              <a:t>subtitle</a:t>
            </a:r>
            <a:r>
              <a:rPr/>
              <a:t> line uses </a:t>
            </a:r>
            <a:r>
              <a:rPr>
                <a:latin typeface="Courier"/>
              </a:rPr>
              <a:t>paste0()</a:t>
            </a:r>
            <a:r>
              <a:rPr/>
              <a:t> to build the label from the model object. What happens to the subtitle if you re-run this with different data? Why is this better than typing the numbers yourself?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the plot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Write a scientific results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sentence as you would in a lab report or paper. Include:</a:t>
            </a:r>
          </a:p>
          <a:p>
            <a:pPr lvl="0"/>
            <a:r>
              <a:rPr/>
              <a:t>Which group was larger</a:t>
            </a:r>
          </a:p>
          <a:p>
            <a:pPr lvl="0"/>
            <a:r>
              <a:rPr/>
              <a:t>The word “significantly” (if appropriate)</a:t>
            </a:r>
          </a:p>
          <a:p>
            <a:pPr lvl="0"/>
            <a:r>
              <a:rPr/>
              <a:t>Test name, t-statistic, df, and </a:t>
            </a:r>
            <a:r>
              <a:rPr i="1"/>
              <a:t>p</a:t>
            </a:r>
            <a:r>
              <a:rPr/>
              <a:t>-value in parentheses</a:t>
            </a:r>
          </a:p>
          <a:p>
            <a:pPr lvl="0"/>
            <a:r>
              <a:rPr/>
              <a:t>Mean ± SE for both groups with units</a:t>
            </a:r>
          </a:p>
          <a:p>
            <a:pPr lvl="0" indent="0" marL="0">
              <a:buNone/>
            </a:pPr>
            <a:r>
              <a:rPr/>
              <a:t>Use this template:</a:t>
            </a:r>
          </a:p>
          <a:p>
            <a:pPr lvl="0" indent="0">
              <a:buNone/>
            </a:pPr>
            <a:r>
              <a:rPr>
                <a:latin typeface="Courier"/>
              </a:rPr>
              <a:t>"[Group] leaves were significantly [heavier / lighter] than [group] leaves
(Welch's two-sample t-test: t(___) = ___, p = ___).
Mean ± SE: [side 1] = ___ ± ___ g, [side 2] = ___ ± ___ g."</a:t>
            </a:r>
          </a:p>
          <a:p>
            <a:pPr lvl="0" indent="0" marL="0">
              <a:buNone/>
            </a:pPr>
            <a:r>
              <a:rPr/>
              <a:t>Write your sentence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results sentence: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Never write </a:t>
            </a:r>
            <a:r>
              <a:rPr sz="2000">
                <a:latin typeface="Courier"/>
              </a:rPr>
              <a:t>p = 0.000</a:t>
            </a:r>
            <a:r>
              <a:rPr sz="2000"/>
              <a:t>. Write </a:t>
            </a:r>
            <a:r>
              <a:rPr sz="2000">
                <a:latin typeface="Courier"/>
              </a:rPr>
              <a:t>p &lt; 0.001</a:t>
            </a:r>
            <a:r>
              <a:rPr sz="2000"/>
              <a:t> instead. A </a:t>
            </a:r>
            <a:r>
              <a:rPr sz="2000" i="1"/>
              <a:t>p</a:t>
            </a:r>
            <a:r>
              <a:rPr sz="2000"/>
              <a:t>-value is never exactly zero — it is just too small to display at three decimal places.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State null and alternate hypotheses formally using μ notation</a:t>
            </a:r>
          </a:p>
          <a:p>
            <a:pPr lvl="0"/>
            <a:r>
              <a:rPr/>
              <a:t>☐ Explain the difference between one-tailed and two-tailed tests</a:t>
            </a:r>
          </a:p>
          <a:p>
            <a:pPr lvl="0"/>
            <a:r>
              <a:rPr/>
              <a:t>☐ Use histograms and QQ plots to visually assess normality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shapiro.test()</a:t>
            </a:r>
            <a:r>
              <a:rPr/>
              <a:t> per group using </a:t>
            </a:r>
            <a:r>
              <a:rPr>
                <a:latin typeface="Courier"/>
              </a:rPr>
              <a:t>filter()</a:t>
            </a:r>
            <a:r>
              <a:rPr/>
              <a:t> and </a:t>
            </a:r>
            <a:r>
              <a:rPr>
                <a:latin typeface="Courier"/>
              </a:rPr>
              <a:t>pull()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leveneTest()</a:t>
            </a:r>
            <a:r>
              <a:rPr/>
              <a:t> and explain why we use Welch’s regardless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/>
              <a:t>☐ Extract t, df, p-value, CI, and group means from the model object</a:t>
            </a:r>
          </a:p>
          <a:p>
            <a:pPr lvl="0"/>
            <a:r>
              <a:rPr/>
              <a:t>☐ Compute the t-statistic by hand from the Welch’s formula</a:t>
            </a:r>
          </a:p>
          <a:p>
            <a:pPr lvl="0"/>
            <a:r>
              <a:rPr/>
              <a:t>☐ Make a formal reject / fail-to-reject decision at α = 0.05</a:t>
            </a:r>
          </a:p>
          <a:p>
            <a:pPr lvl="0"/>
            <a:r>
              <a:rPr/>
              <a:t>☐ Write a complete results sentence in scientific format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your entire script from top to bottom with </a:t>
            </a:r>
            <a:r>
              <a:rPr b="1"/>
              <a:t>Ctrl/Cmd + Shift + Enter</a:t>
            </a:r>
            <a:r>
              <a:rPr/>
              <a:t>. Does it run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15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a second variable: </a:t>
            </a:r>
            <a:r>
              <a:rPr b="1">
                <a:latin typeface="Courier"/>
              </a:rPr>
              <a:t>height_cm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same t-test pipeline for height_cm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Stats recap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(height_cm)),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(height_cm,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2. Shapiro-Wilk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3. Levene's test for height_cm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4. Welch's t-test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leaf height also significantly different between sides? Fill in the results: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   df = _____   p = _____
Decision:
One-sentence conclusion: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Change the confidence level</a:t>
            </a:r>
          </a:p>
          <a:p>
            <a:pPr lvl="0" indent="0" marL="0">
              <a:buNone/>
            </a:pPr>
            <a:r>
              <a:rPr/>
              <a:t>By default </a:t>
            </a:r>
            <a:r>
              <a:rPr>
                <a:latin typeface="Courier"/>
              </a:rPr>
              <a:t>t.test()</a:t>
            </a:r>
            <a:r>
              <a:rPr/>
              <a:t> reports a 95% CI (</a:t>
            </a:r>
            <a:r>
              <a:rPr>
                <a:latin typeface="Courier"/>
              </a:rPr>
              <a:t>conf.level = 0.95</a:t>
            </a:r>
            <a:r>
              <a:rPr/>
              <a:t>). Try 99%: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weight t-test with 99% confidence interval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conf.level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99% CI instead of 95%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did the 99% CI compare to the 95% CI? Why is the 99% CI wider?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was: _____ to _____
99% CI was: _____ to _____
Why wider: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if the groups were not significantly different?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Think about what would happen if both sides had leaves with weight_g around 5.5 ± 2.0 g. Would the t-test be significant? What would change in the output?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prediction: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</a:t>
            </a:r>
            <a:r>
              <a:rPr>
                <a:latin typeface="Courier"/>
              </a:rPr>
              <a:t>figures/</a:t>
            </a:r>
            <a:r>
              <a:rPr/>
              <a:t> folder should contain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project/
├── data/
│   └── 2026_06_25_tree_experiment_raw_data.xlsx
├── figures/
│   ├── leaf_weight_boxplot.png            &lt;- from Worksheet 03
│   ├── leaf_weight_mean_se.png            &lt;- from Worksheet 03
│   └── leaf_weight_boxplot_ttest.png      &lt;- from this worksheet
└── scripts/
    └── 04_leaf_ttest.R                    &lt;- your 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</a:p>
          <a:p>
            <a:pPr lvl="1"/>
            <a:r>
              <a:rPr/>
              <a:t>Loaded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library(readxl)</a:t>
            </a:r>
            <a:r>
              <a:rPr/>
              <a:t>, </a:t>
            </a:r>
            <a:r>
              <a:rPr>
                <a:latin typeface="Courier"/>
              </a:rPr>
              <a:t>library(tidyverse)</a:t>
            </a:r>
            <a:r>
              <a:rPr/>
              <a:t>?</a:t>
            </a:r>
          </a:p>
          <a:p>
            <a:pPr lvl="1"/>
            <a:r>
              <a:rPr/>
              <a:t>Spelling of column names? Check with </a:t>
            </a:r>
            <a:r>
              <a:rPr>
                <a:latin typeface="Courier"/>
              </a:rPr>
              <a:t>names(tree_df)</a:t>
            </a:r>
          </a:p>
          <a:p>
            <a:pPr lvl="1"/>
            <a:r>
              <a:rPr/>
              <a:t>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leveneTest</a:t>
            </a:r>
            <a:r>
              <a:rPr b="1"/>
              <a:t> not found?</a:t>
            </a:r>
            <a:r>
              <a:rPr/>
              <a:t> You need </a:t>
            </a:r>
            <a:r>
              <a:rPr>
                <a:latin typeface="Courier"/>
              </a:rPr>
              <a:t>library(car)</a:t>
            </a:r>
            <a:r>
              <a:rPr/>
              <a:t> — not just </a:t>
            </a:r>
            <a:r>
              <a:rPr>
                <a:latin typeface="Courier"/>
              </a:rPr>
              <a:t>car::leveneTest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Shapiro-Wilk needs &gt; 3 values.</a:t>
            </a:r>
            <a:r>
              <a:rPr/>
              <a:t> If you filtered to a tiny subset, you may get an error.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t.test()</a:t>
            </a:r>
            <a:r>
              <a:rPr b="1"/>
              <a:t> formula:</a:t>
            </a:r>
            <a:r>
              <a:rPr/>
              <a:t> the grouping variable goes on the </a:t>
            </a:r>
            <a:r>
              <a:rPr i="1"/>
              <a:t>right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  <a:r>
              <a:rPr/>
              <a:t> and must have exactly </a:t>
            </a:r>
            <a:r>
              <a:rPr b="1"/>
              <a:t>two levels</a:t>
            </a:r>
            <a:r>
              <a:rPr/>
              <a:t>. Check with </a:t>
            </a:r>
            <a:r>
              <a:rPr>
                <a:latin typeface="Courier"/>
              </a:rPr>
              <a:t>unique(tree_df$side)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class, Canvas,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The five-step framework (hypotheses → normality → variance → test → report) is the same for nearly every parametric test you will ever run. Master it here and it transfers directly to ANOVA and regression.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04. Next: Worksheet 05 — one-way ANOVA for comparing more than two groups.</a:t>
            </a:r>
            <a:r>
              <a:rPr/>
              <a:t> ### Recap from Worksheet 03</a:t>
            </a:r>
          </a:p>
          <a:p>
            <a:pPr lvl="0"/>
            <a:r>
              <a:rPr/>
              <a:t>Loaded our Excel leaf data with </a:t>
            </a:r>
            <a:r>
              <a:rPr>
                <a:latin typeface="Courier"/>
              </a:rPr>
              <a:t>read_excel()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compute mean, SD, and SE per group</a:t>
            </a:r>
          </a:p>
          <a:p>
            <a:pPr lvl="0"/>
            <a:r>
              <a:rPr/>
              <a:t>Checked for missing values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Made boxplots with jittered points and mean ± SE plots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Prediction:</a:t>
            </a:r>
            <a:r>
              <a:rPr/>
              <a:t> shady leaves appeared heavier, taller, and wider than sunny leaves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State null and alternate hypotheses formally before running any test</a:t>
            </a:r>
          </a:p>
          <a:p>
            <a:pPr lvl="0" indent="-342900" marL="342900">
              <a:buAutoNum type="arabicPeriod"/>
            </a:pPr>
            <a:r>
              <a:rPr/>
              <a:t>Check the normality assumption — histogram, QQ plot, and Shapiro-Wilk test</a:t>
            </a:r>
          </a:p>
          <a:p>
            <a:pPr lvl="0" indent="-342900" marL="342900">
              <a:buAutoNum type="arabicPeriod"/>
            </a:pPr>
            <a:r>
              <a:rPr/>
              <a:t>Check the variance assumption — Levene’s test</a:t>
            </a:r>
          </a:p>
          <a:p>
            <a:pPr lvl="0" indent="-342900" marL="342900">
              <a:buAutoNum type="arabicPeriod"/>
            </a:pPr>
            <a:r>
              <a:rPr/>
              <a:t>Run a Welch’s two-sample t-test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 indent="-342900" marL="342900">
              <a:buAutoNum type="arabicPeriod"/>
            </a:pPr>
            <a:r>
              <a:rPr/>
              <a:t>Read and decode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 indent="-342900" marL="342900">
              <a:buAutoNum type="arabicPeriod"/>
            </a:pPr>
            <a:r>
              <a:rPr/>
              <a:t>Make a formal statistical decision and state a conclusion</a:t>
            </a:r>
          </a:p>
          <a:p>
            <a:pPr lvl="0" indent="-342900" marL="342900">
              <a:buAutoNum type="arabicPeriod"/>
            </a:pPr>
            <a:r>
              <a:rPr/>
              <a:t>Write a results sentence in proper scientific format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 — the steps build on each other. Type the code into your script in Positron and run it line by line.</a:t>
            </a:r>
          </a:p>
          <a:p>
            <a:pPr lvl="0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 something.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 if you finish early.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 — in this exact order: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the script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dataset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</a:p>
          <a:p>
            <a:pPr lvl="0"/>
            <a:r>
              <a:rPr sz="2000"/>
              <a:t>If R says </a:t>
            </a:r>
            <a:r>
              <a:rPr sz="2000">
                <a:latin typeface="Courier"/>
              </a:rPr>
              <a:t>"could not find function 'leveneTest'"</a:t>
            </a:r>
          </a:p>
          <a:p>
            <a:pPr lvl="1"/>
            <a:r>
              <a:rPr sz="2000"/>
              <a:t>you forgot </a:t>
            </a:r>
            <a:r>
              <a:rPr sz="2000">
                <a:latin typeface="Courier"/>
              </a:rPr>
              <a:t>library(car)</a:t>
            </a:r>
            <a:r>
              <a:rPr sz="2000"/>
              <a:t>.</a:t>
            </a:r>
          </a:p>
          <a:p>
            <a:pPr lvl="0"/>
            <a:r>
              <a:rPr sz="2000"/>
              <a:t>Install it once with </a:t>
            </a:r>
            <a:r>
              <a:rPr sz="2000">
                <a:latin typeface="Courier"/>
              </a:rPr>
              <a:t>install.packages("car")</a:t>
            </a:r>
            <a:r>
              <a:rPr sz="2000"/>
              <a:t>, then load it every session </a:t>
            </a:r>
            <a:r>
              <a:rPr sz="2000">
                <a:latin typeface="Courier"/>
              </a:rPr>
              <a:t>library(car)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the data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Before anything else — do you remember the structure of this data frame? Fill in from memory, then check with </a:t>
            </a:r>
            <a:r>
              <a:rPr>
                <a:latin typeface="Courier"/>
              </a:rPr>
              <a:t>glimpse(tree_df)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rows:
Number of columns:
Column holding the grouping variable (sunny/shady):
Column we are testing today: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State your hypotheses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Always write down your hypotheses </a:t>
            </a:r>
            <a:r>
              <a:rPr sz="2000" i="1"/>
              <a:t>before</a:t>
            </a:r>
            <a:r>
              <a:rPr sz="2000"/>
              <a:t> you look at the data or run any test. This is how you stay scientifically honest.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null and alternate hypotheses for leaf weight. Use words first, then symbols.</a:t>
            </a:r>
          </a:p>
          <a:p>
            <a:pPr lvl="0" indent="0">
              <a:buNone/>
            </a:pPr>
            <a:r>
              <a:rPr>
                <a:latin typeface="Courier"/>
              </a:rPr>
              <a:t>In words:
  H₀ (null hypothesis):
  Hₐ (alternate hypothesis):
In symbols (use μ for "mean"):
  H₀:
  Hₐ:
Test type (circle one):   one-tailed   /   two-tailed
Significance level α: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use a two-tailed test here even though we predicted shady leaves would be </a:t>
            </a:r>
            <a:r>
              <a:rPr i="1"/>
              <a:t>heavier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Quick descriptive stats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Recap stats from Lecture 03 — both groups at once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values you will need for the t-test formula:</a:t>
            </a:r>
          </a:p>
          <a:p>
            <a:pPr lvl="0" indent="0">
              <a:buNone/>
            </a:pPr>
            <a:r>
              <a:rPr>
                <a:latin typeface="Courier"/>
              </a:rPr>
              <a:t>Shady:  mean = _____ g   SD = _____   n = _____
Sunny:  mean = _____ g   SD = _____   n = _____
Difference in means = _____  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SD values, do the two groups appear to have </a:t>
            </a:r>
            <a:r>
              <a:rPr b="1"/>
              <a:t>similar</a:t>
            </a:r>
            <a:r>
              <a:rPr/>
              <a:t> or </a:t>
            </a:r>
            <a:r>
              <a:rPr b="1"/>
              <a:t>different</a:t>
            </a:r>
            <a:r>
              <a:rPr/>
              <a:t> variance? (Does one group have much more spread than the other?)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Check normality —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t-test assumes that data within each group are approximately normally distributed.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— look for bell-shaped distribution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shape of each histogram: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shape (bell-shaped, skewed, flat, bimodal?):
Shady side shape:
Any obvious outliers?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only 10 values per group, histograms will look lumpy even if the data are normal. Does this mean we should reject normality? Why or why not?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Check normality — QQ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QQ (quantile-quantile) plot compares your data’s quantiles to what a perfect normal distribution would look like. Points on the diagonal line = normal.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points for each group fall approximately along the diagonal line? What would it mean if they curved strongly away at the ends?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— on the line?  Y / mostly / no
Shady side — on the line?  Y / mostly / no
What strong curvature at the ends would indicate: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Check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formally tests whether a sample could have come from a normal distribution.</a:t>
            </a:r>
          </a:p>
          <a:p>
            <a:pPr lvl="0"/>
            <a:r>
              <a:rPr b="1"/>
              <a:t>H₀ (Shapiro-Wilk):</a:t>
            </a:r>
            <a:r>
              <a:rPr/>
              <a:t> the data are normally distributed</a:t>
            </a:r>
          </a:p>
          <a:p>
            <a:pPr lvl="0"/>
            <a:r>
              <a:rPr b="1"/>
              <a:t>p &gt; 0.05</a:t>
            </a:r>
            <a:r>
              <a:rPr/>
              <a:t> → fail to reject normality → proceed with t-test</a:t>
            </a:r>
          </a:p>
          <a:p>
            <a:pPr lvl="0"/>
            <a:r>
              <a:rPr b="1"/>
              <a:t>p &lt; 0.05</a:t>
            </a:r>
            <a:r>
              <a:rPr/>
              <a:t> → evidence of non-normality → consider alternatives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sunny side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shady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results and state your decision:</a:t>
            </a:r>
          </a:p>
          <a:p>
            <a:pPr lvl="0" indent="0">
              <a:buNone/>
            </a:pPr>
            <a:r>
              <a:rPr>
                <a:latin typeface="Courier"/>
              </a:rPr>
              <a:t>Sunny:  W = _____   p = _____   Decision (normal / not normal):
Shady:  W = _____   p = _____   Decision (normal / not normal):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n = 10 per group, the Shapiro-Wilk test has low </a:t>
            </a:r>
            <a:r>
              <a:rPr b="1"/>
              <a:t>statistical power</a:t>
            </a:r>
            <a:r>
              <a:rPr/>
              <a:t>. What does that mean in plain language for interpreting this result?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Even if Shapiro-Wilk returns </a:t>
            </a:r>
            <a:r>
              <a:rPr sz="2000" i="1"/>
              <a:t>p</a:t>
            </a:r>
            <a:r>
              <a:rPr sz="2000"/>
              <a:t> &lt; 0.05 with very small samples, the t-test may still be appropriate — the QQ plot and histogram give important visual context. None of these checks alone is definitive.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Check variance —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Levene’s test checks whether the two groups have the same population variance.</a:t>
            </a:r>
          </a:p>
          <a:p>
            <a:pPr lvl="0"/>
            <a:r>
              <a:rPr b="1"/>
              <a:t>H₀ (Levene’s):</a:t>
            </a:r>
            <a:r>
              <a:rPr/>
              <a:t> the two groups have equal variance</a:t>
            </a:r>
          </a:p>
          <a:p>
            <a:pPr lvl="0"/>
            <a:r>
              <a:rPr b="1"/>
              <a:t>p &gt; 0.05</a:t>
            </a:r>
            <a:r>
              <a:rPr/>
              <a:t> → variances are not significantly different</a:t>
            </a:r>
          </a:p>
          <a:p>
            <a:pPr lvl="0"/>
            <a:r>
              <a:rPr b="1"/>
              <a:t>p &lt; 0.05</a:t>
            </a:r>
            <a:r>
              <a:rPr/>
              <a:t> → variances are significantly different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for equal variance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 and decide:</a:t>
            </a:r>
          </a:p>
          <a:p>
            <a:pPr lvl="0" indent="0">
              <a:buNone/>
            </a:pPr>
            <a:r>
              <a:rPr>
                <a:latin typeface="Courier"/>
              </a:rPr>
              <a:t>F-statistic = _____   p = _____
Decision (variances equal / not equal):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We are going to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 regardless of Levene’s result. In your own words, why is Welch’s the safe default even when Levene’s says variances are equal?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checked our assumptions, we can run the test.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         </a:t>
            </a:r>
            <a:r>
              <a:rPr>
                <a:solidFill>
                  <a:srgbClr val="5E5E5E"/>
                </a:solidFill>
                <a:latin typeface="Courier"/>
              </a:rPr>
              <a:t>#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the full output below:</a:t>
            </a:r>
          </a:p>
          <a:p>
            <a:pPr lvl="0" indent="0">
              <a:buNone/>
            </a:pPr>
            <a:r>
              <a:rPr>
                <a:latin typeface="Courier"/>
              </a:rPr>
              <a:t>Paste or write the t.test() output here: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Decode the output line by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to extract individual values: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specific values from the model object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CI: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each piece of output to its meaning: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= _____
  → This is large/small (circle one) because the difference in means
    is large/small relative to the variability (circle one).
df = _____
  → This is a non-integer. Why? (hint: Welch-Satterthwaite equation)
p-value = _____
  → In plain language, this means: if H₀ were true, the probability
    of seeing a t-statistic this extreme just by chance is _____.
95% CI = _____ to _____ g
  → This CI is for the ________________ (the true difference in means).
    It does / does not include zero (circle one).
    What does it mean when the CI excludes zero?
Mean shady = _____ g
Mean sunny = _____ 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Calculate t by hand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Reproduce the t-statistic manually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Welch's SE of the difference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se_diff 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t-statistic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t:   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your manually calculated t match the value from </a:t>
            </a:r>
            <a:r>
              <a:rPr>
                <a:latin typeface="Courier"/>
              </a:rPr>
              <a:t>t.test()</a:t>
            </a:r>
            <a:r>
              <a:rPr/>
              <a:t>? (They may differ very slightly due to rounding in </a:t>
            </a:r>
            <a:r>
              <a:rPr>
                <a:latin typeface="Courier"/>
              </a:rPr>
              <a:t>recap_df</a:t>
            </a:r>
            <a:r>
              <a:rPr/>
              <a:t>.)</a:t>
            </a:r>
          </a:p>
          <a:p>
            <a:pPr lvl="0" indent="0">
              <a:buNone/>
            </a:pPr>
            <a:r>
              <a:rPr>
                <a:latin typeface="Courier"/>
              </a:rPr>
              <a:t>Manual t = _____
t.test() t = _____
Match?  Y / close / no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Welch’s t-test formula below and label each part: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_________________
  Numerator means:
  Denominator means: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Make a formal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State your decision and conclusion. Use the formal language of hypothesis testing.</a:t>
            </a:r>
          </a:p>
          <a:p>
            <a:pPr lvl="0" indent="0">
              <a:buNone/>
            </a:pPr>
            <a:r>
              <a:rPr>
                <a:latin typeface="Courier"/>
              </a:rPr>
              <a:t>Our p-value:
Our α:
Decision (circle one):   REJECT H₀   /   FAIL TO REJECT H₀
In one sentence, what does this mean biologically?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We never say “H₀ is true” or “H₀ is false.” We say “we reject H₀” (evidence was strong enough) or “we fail to reject H₀” (evidence was not strong enough). Statistics gives us a decision rule, not certainty.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Visualize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Boxplot with test statistics in the subtitle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with t and p embedded in subtitle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</a:t>
            </a:r>
            <a:r>
              <a:rPr>
                <a:latin typeface="Courier"/>
              </a:rPr>
              <a:t>subtitle</a:t>
            </a:r>
            <a:r>
              <a:rPr/>
              <a:t> line uses </a:t>
            </a:r>
            <a:r>
              <a:rPr>
                <a:latin typeface="Courier"/>
              </a:rPr>
              <a:t>paste0()</a:t>
            </a:r>
            <a:r>
              <a:rPr/>
              <a:t> to build the label from the model object. What happens to the subtitle if you re-run this with different data? Why is this better than typing the numbers yourself?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the plot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Write a scientific results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sentence as you would in a lab report or paper. Include:</a:t>
            </a:r>
          </a:p>
          <a:p>
            <a:pPr lvl="0"/>
            <a:r>
              <a:rPr/>
              <a:t>Which group was larger</a:t>
            </a:r>
          </a:p>
          <a:p>
            <a:pPr lvl="0"/>
            <a:r>
              <a:rPr/>
              <a:t>The word “significantly” (if appropriate)</a:t>
            </a:r>
          </a:p>
          <a:p>
            <a:pPr lvl="0"/>
            <a:r>
              <a:rPr/>
              <a:t>Test name, t-statistic, df, and </a:t>
            </a:r>
            <a:r>
              <a:rPr i="1"/>
              <a:t>p</a:t>
            </a:r>
            <a:r>
              <a:rPr/>
              <a:t>-value in parentheses</a:t>
            </a:r>
          </a:p>
          <a:p>
            <a:pPr lvl="0"/>
            <a:r>
              <a:rPr/>
              <a:t>Mean ± SE for both groups with units</a:t>
            </a:r>
          </a:p>
          <a:p>
            <a:pPr lvl="0" indent="0" marL="0">
              <a:buNone/>
            </a:pPr>
            <a:r>
              <a:rPr/>
              <a:t>Use this template:</a:t>
            </a:r>
          </a:p>
          <a:p>
            <a:pPr lvl="0" indent="0">
              <a:buNone/>
            </a:pPr>
            <a:r>
              <a:rPr>
                <a:latin typeface="Courier"/>
              </a:rPr>
              <a:t>"[Group] leaves were significantly [heavier / lighter] than [group] leaves
(Welch's two-sample t-test: t(___) = ___, p = ___).
Mean ± SE: [side 1] = ___ ± ___ g, [side 2] = ___ ± ___ g."</a:t>
            </a:r>
          </a:p>
          <a:p>
            <a:pPr lvl="0" indent="0" marL="0">
              <a:buNone/>
            </a:pPr>
            <a:r>
              <a:rPr/>
              <a:t>Write your sentence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results sentence: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Never write </a:t>
            </a:r>
            <a:r>
              <a:rPr sz="2000">
                <a:latin typeface="Courier"/>
              </a:rPr>
              <a:t>p = 0.000</a:t>
            </a:r>
            <a:r>
              <a:rPr sz="2000"/>
              <a:t>. Write </a:t>
            </a:r>
            <a:r>
              <a:rPr sz="2000">
                <a:latin typeface="Courier"/>
              </a:rPr>
              <a:t>p &lt; 0.001</a:t>
            </a:r>
            <a:r>
              <a:rPr sz="2000"/>
              <a:t> instead. A </a:t>
            </a:r>
            <a:r>
              <a:rPr sz="2000" i="1"/>
              <a:t>p</a:t>
            </a:r>
            <a:r>
              <a:rPr sz="2000"/>
              <a:t>-value is never exactly zero — it is just too small to display at three decimal places.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State null and alternate hypotheses formally using μ notation</a:t>
            </a:r>
          </a:p>
          <a:p>
            <a:pPr lvl="0"/>
            <a:r>
              <a:rPr/>
              <a:t>☐ Explain the difference between one-tailed and two-tailed tests</a:t>
            </a:r>
          </a:p>
          <a:p>
            <a:pPr lvl="0"/>
            <a:r>
              <a:rPr/>
              <a:t>☐ Use histograms and QQ plots to visually assess normality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shapiro.test()</a:t>
            </a:r>
            <a:r>
              <a:rPr/>
              <a:t> per group using </a:t>
            </a:r>
            <a:r>
              <a:rPr>
                <a:latin typeface="Courier"/>
              </a:rPr>
              <a:t>filter()</a:t>
            </a:r>
            <a:r>
              <a:rPr/>
              <a:t> and </a:t>
            </a:r>
            <a:r>
              <a:rPr>
                <a:latin typeface="Courier"/>
              </a:rPr>
              <a:t>pull()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leveneTest()</a:t>
            </a:r>
            <a:r>
              <a:rPr/>
              <a:t> and explain why we use Welch’s regardless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/>
              <a:t>☐ Extract t, df, p-value, CI, and group means from the model object</a:t>
            </a:r>
          </a:p>
          <a:p>
            <a:pPr lvl="0"/>
            <a:r>
              <a:rPr/>
              <a:t>☐ Compute the t-statistic by hand from the Welch’s formula</a:t>
            </a:r>
          </a:p>
          <a:p>
            <a:pPr lvl="0"/>
            <a:r>
              <a:rPr/>
              <a:t>☐ Make a formal reject / fail-to-reject decision at α = 0.05</a:t>
            </a:r>
          </a:p>
          <a:p>
            <a:pPr lvl="0"/>
            <a:r>
              <a:rPr/>
              <a:t>☐ Write a complete results sentence in scientific format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your entire script from top to bottom with </a:t>
            </a:r>
            <a:r>
              <a:rPr b="1"/>
              <a:t>Ctrl/Cmd + Shift + Enter</a:t>
            </a:r>
            <a:r>
              <a:rPr/>
              <a:t>. Does it run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15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a second variable: </a:t>
            </a:r>
            <a:r>
              <a:rPr b="1">
                <a:latin typeface="Courier"/>
              </a:rPr>
              <a:t>height_cm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same t-test pipeline for height_cm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Stats recap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(height_cm)),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(height_cm,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2. Shapiro-Wilk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3. Levene's test for height_cm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4. Welch's t-test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leaf height also significantly different between sides? Fill in the results: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   df = _____   p = _____
Decision:
One-sentence conclusion: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Change the confidence level</a:t>
            </a:r>
          </a:p>
          <a:p>
            <a:pPr lvl="0" indent="0" marL="0">
              <a:buNone/>
            </a:pPr>
            <a:r>
              <a:rPr/>
              <a:t>By default </a:t>
            </a:r>
            <a:r>
              <a:rPr>
                <a:latin typeface="Courier"/>
              </a:rPr>
              <a:t>t.test()</a:t>
            </a:r>
            <a:r>
              <a:rPr/>
              <a:t> reports a 95% CI (</a:t>
            </a:r>
            <a:r>
              <a:rPr>
                <a:latin typeface="Courier"/>
              </a:rPr>
              <a:t>conf.level = 0.95</a:t>
            </a:r>
            <a:r>
              <a:rPr/>
              <a:t>). Try 99%: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weight t-test with 99% confidence interval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conf.level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99% CI instead of 95%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did the 99% CI compare to the 95% CI? Why is the 99% CI wider?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was: _____ to _____
99% CI was: _____ to _____
Why wider: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if the groups were not significantly different?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Think about what would happen if both sides had leaves with weight_g around 5.5 ± 2.0 g. Would the t-test be significant? What would change in the output?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prediction: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</a:t>
            </a:r>
            <a:r>
              <a:rPr>
                <a:latin typeface="Courier"/>
              </a:rPr>
              <a:t>figures/</a:t>
            </a:r>
            <a:r>
              <a:rPr/>
              <a:t> folder should contain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project/
├── data/
│   └── 2026_06_25_tree_experiment_raw_data.xlsx
├── figures/
│   ├── leaf_weight_boxplot.png            &lt;- from Worksheet 03
│   ├── leaf_weight_mean_se.png            &lt;- from Worksheet 03
│   └── leaf_weight_boxplot_ttest.png      &lt;- from this worksheet
└── scripts/
    └── 04_leaf_ttest.R                    &lt;- your script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</a:p>
          <a:p>
            <a:pPr lvl="1"/>
            <a:r>
              <a:rPr/>
              <a:t>Loaded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library(readxl)</a:t>
            </a:r>
            <a:r>
              <a:rPr/>
              <a:t>, </a:t>
            </a:r>
            <a:r>
              <a:rPr>
                <a:latin typeface="Courier"/>
              </a:rPr>
              <a:t>library(tidyverse)</a:t>
            </a:r>
            <a:r>
              <a:rPr/>
              <a:t>?</a:t>
            </a:r>
          </a:p>
          <a:p>
            <a:pPr lvl="1"/>
            <a:r>
              <a:rPr/>
              <a:t>Spelling of column names? Check with </a:t>
            </a:r>
            <a:r>
              <a:rPr>
                <a:latin typeface="Courier"/>
              </a:rPr>
              <a:t>names(tree_df)</a:t>
            </a:r>
          </a:p>
          <a:p>
            <a:pPr lvl="1"/>
            <a:r>
              <a:rPr/>
              <a:t>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leveneTest</a:t>
            </a:r>
            <a:r>
              <a:rPr b="1"/>
              <a:t> not found?</a:t>
            </a:r>
            <a:r>
              <a:rPr/>
              <a:t> You need </a:t>
            </a:r>
            <a:r>
              <a:rPr>
                <a:latin typeface="Courier"/>
              </a:rPr>
              <a:t>library(car)</a:t>
            </a:r>
            <a:r>
              <a:rPr/>
              <a:t> — not just </a:t>
            </a:r>
            <a:r>
              <a:rPr>
                <a:latin typeface="Courier"/>
              </a:rPr>
              <a:t>car::leveneTest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Shapiro-Wilk needs &gt; 3 values.</a:t>
            </a:r>
            <a:r>
              <a:rPr/>
              <a:t> If you filtered to a tiny subset, you may get an error.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t.test()</a:t>
            </a:r>
            <a:r>
              <a:rPr b="1"/>
              <a:t> formula:</a:t>
            </a:r>
            <a:r>
              <a:rPr/>
              <a:t> the grouping variable goes on the </a:t>
            </a:r>
            <a:r>
              <a:rPr i="1"/>
              <a:t>right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  <a:r>
              <a:rPr/>
              <a:t> and must have exactly </a:t>
            </a:r>
            <a:r>
              <a:rPr b="1"/>
              <a:t>two levels</a:t>
            </a:r>
            <a:r>
              <a:rPr/>
              <a:t>. Check with </a:t>
            </a:r>
            <a:r>
              <a:rPr>
                <a:latin typeface="Courier"/>
              </a:rPr>
              <a:t>unique(tree_df$side)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class, Canvas,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The five-step framework (hypotheses → normality → variance → test → report) is the same for nearly every parametric test you will ever run. Master it here and it transfers directly to ANOVA and regression.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04. Next: Worksheet 05 — one-way ANOVA for comparing more than two groups.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04 — Testing Our Hypothesis</dc:title>
  <dc:creator>Bill Perry</dc:creator>
  <cp:keywords/>
  <dc:description>How to do a T-Test and other r items.</dc:description>
  <dcterms:created xsi:type="dcterms:W3CDTF">2026-07-05T19:40:24Z</dcterms:created>
  <dcterms:modified xsi:type="dcterms:W3CDTF">2026-07-05T19:40:24Z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today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ormat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order">
    <vt:lpwstr>4</vt:lpwstr>
  </property>
  <property fmtid="{D5CDD505-2E9C-101B-9397-08002B2CF9AE}" pid="15" name="resources">
    <vt:lpwstr/>
  </property>
  <property fmtid="{D5CDD505-2E9C-101B-9397-08002B2CF9AE}" pid="16" name="subtitle">
    <vt:lpwstr>The two-sample Welch’s t-test from assumptions to scientific report</vt:lpwstr>
  </property>
  <property fmtid="{D5CDD505-2E9C-101B-9397-08002B2CF9AE}" pid="17" name="toc-title">
    <vt:lpwstr>Table of contents</vt:lpwstr>
  </property>
  <property fmtid="{D5CDD505-2E9C-101B-9397-08002B2CF9AE}" pid="18" name="type">
    <vt:lpwstr>activity</vt:lpwstr>
  </property>
  <property fmtid="{D5CDD505-2E9C-101B-9397-08002B2CF9AE}" pid="19" name="week">
    <vt:lpwstr>2</vt:lpwstr>
  </property>
</Properties>
</file>