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leaf_report_template.qmd" TargetMode="External" /><Relationship Id="rId3" Type="http://schemas.openxmlformats.org/officeDocument/2006/relationships/hyperlink" Target="leaf_report_template.qmd" TargetMode="External" /><Relationship Id="rId4" Type="http://schemas.openxmlformats.org/officeDocument/2006/relationships/hyperlink" Target="t_test_report.qmd"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leaf_report_template.qmd" TargetMode="External" /><Relationship Id="rId3" Type="http://schemas.openxmlformats.org/officeDocument/2006/relationships/hyperlink" Target="t_test_report.qmd"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quarto" TargetMode="External" /><Relationship Id="rId3" Type="http://schemas.openxmlformats.org/officeDocument/2006/relationships/hyperlink" Target="https://r4ds.hadley.nz/quarto-formats" TargetMode="External" /><Relationship Id="rId4" Type="http://schemas.openxmlformats.org/officeDocument/2006/relationships/hyperlink" Target="https://quarto.org/docs/gui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07 — Build Your First Quarto Report</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Turn your leaf analysis into a professional Word document</a:t>
            </a:r>
            <a:br/>
            <a:br/>
            <a:r>
              <a:rPr/>
              <a:t>Bill Perry</a:t>
            </a:r>
          </a:p>
        </p:txBody>
      </p:sp>
      <p:sp>
        <p:nvSpPr>
          <p:cNvPr id="4" name="Date Placeholder 3"/>
          <p:cNvSpPr>
            <a:spLocks noGrp="1"/>
          </p:cNvSpPr>
          <p:nvPr>
            <p:ph idx="10" sz="half" type="dt"/>
          </p:nvPr>
        </p:nvSpPr>
        <p:spPr/>
        <p:txBody>
          <a:bodyPr/>
          <a:lstStyle/>
          <a:p>
            <a:pPr lvl="0" indent="0" marL="0">
              <a:buNone/>
            </a:pPr>
            <a:r>
              <a:rPr/>
              <a:t>2026-08-27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you start</a:t>
            </a:r>
          </a:p>
          <a:p>
            <a:pPr lvl="0" indent="0" marL="0">
              <a:buNone/>
            </a:pPr>
            <a:r>
              <a:rPr/>
              <a:t>This activity parallels the lecture. Go slowly — you do </a:t>
            </a:r>
            <a:r>
              <a:rPr b="1"/>
              <a:t>not</a:t>
            </a:r>
            <a:r>
              <a:rPr/>
              <a:t> need to type fast. Each step is small, and there is a finished template you can lean on.</a:t>
            </a:r>
          </a:p>
          <a:p>
            <a:pPr lvl="0" indent="0" marL="1270000">
              <a:buNone/>
            </a:pPr>
            <a:r>
              <a:rPr sz="2000" b="1"/>
              <a:t>📥 Download the template</a:t>
            </a:r>
          </a:p>
          <a:p>
            <a:pPr lvl="0" indent="0" marL="1270000">
              <a:buNone/>
            </a:pPr>
            <a:r>
              <a:rPr sz="2000" b="1">
                <a:hlinkClick r:id="rId2"/>
              </a:rPr>
              <a:t>Download the template report → </a:t>
            </a:r>
            <a:r>
              <a:rPr sz="2000" b="1">
                <a:hlinkClick r:id="rId3"/>
                <a:latin typeface="Courier"/>
              </a:rPr>
              <a:t>leaf_report_template.qmd</a:t>
            </a:r>
          </a:p>
          <a:p>
            <a:pPr lvl="0" indent="0" marL="1270000">
              <a:buNone/>
            </a:pPr>
            <a:r>
              <a:rPr sz="2000"/>
              <a:t>Save it into your project’s </a:t>
            </a:r>
            <a:r>
              <a:rPr sz="2000">
                <a:latin typeface="Courier"/>
              </a:rPr>
              <a:t>documents/</a:t>
            </a:r>
            <a:r>
              <a:rPr sz="2000"/>
              <a:t> folder. It already has the YAML, the library chunk, a summary table, and a figure. You will study it in Step 6 and use it as a safety net if you fall behind.</a:t>
            </a:r>
          </a:p>
          <a:p>
            <a:pPr lvl="0" indent="0" marL="1270000">
              <a:buNone/>
            </a:pPr>
            <a:r>
              <a:rPr sz="2000" b="1"/>
              <a:t>👀 See a finished report first — why we bother</a:t>
            </a:r>
          </a:p>
          <a:p>
            <a:pPr lvl="0" indent="0" marL="1270000">
              <a:buNone/>
            </a:pPr>
            <a:r>
              <a:rPr sz="2000"/>
              <a:t>Before you build your own, open this worked example and render it:</a:t>
            </a:r>
          </a:p>
          <a:p>
            <a:pPr lvl="0" indent="0" marL="1270000">
              <a:buNone/>
            </a:pPr>
            <a:r>
              <a:rPr sz="2000" b="1">
                <a:hlinkClick r:id="rId4"/>
                <a:latin typeface="Courier"/>
              </a:rPr>
              <a:t>t_test_report.qmd</a:t>
            </a:r>
            <a:r>
              <a:rPr sz="2000"/>
              <a:t> — a </a:t>
            </a:r>
            <a:r>
              <a:rPr sz="2000" b="1"/>
              <a:t>preview of the t-test you’ll run in Worksheet 09</a:t>
            </a:r>
            <a:r>
              <a:rPr sz="2000"/>
              <a:t>, already written up as a Quarto report. The t-statistic, </a:t>
            </a:r>
            <a:r>
              <a:rPr sz="2000" i="1"/>
              <a:t>p</a:t>
            </a:r>
            <a:r>
              <a:rPr sz="2000"/>
              <a:t>-value, and group means are dropped straight into the sentences with inline code, and it renders to a clean Word document. That is the payoff of everything in this activity: an analysis becomes a report that writes its own numbers. Notice you would never copy a single value by hand — and in a few weeks, this will be </a:t>
            </a:r>
            <a:r>
              <a:rPr sz="2000" i="1"/>
              <a:t>your</a:t>
            </a:r>
            <a:r>
              <a:rPr sz="2000"/>
              <a:t> analysis.</a:t>
            </a:r>
          </a:p>
          <a:p>
            <a:pPr lvl="0" indent="0" marL="0">
              <a:buNone/>
            </a:pPr>
            <a:r>
              <a:rPr b="1"/>
              <a:t>What you need open:</a:t>
            </a:r>
            <a:r>
              <a:rPr/>
              <a:t> Positron, your class project folder (</a:t>
            </a:r>
            <a:r>
              <a:rPr>
                <a:latin typeface="Courier"/>
              </a:rPr>
              <a:t>data/</a:t>
            </a:r>
            <a:r>
              <a:rPr/>
              <a:t>, </a:t>
            </a:r>
            <a:r>
              <a:rPr>
                <a:latin typeface="Courier"/>
              </a:rPr>
              <a:t>documents/</a:t>
            </a:r>
            <a:r>
              <a:rPr/>
              <a:t>, </a:t>
            </a:r>
            <a:r>
              <a:rPr>
                <a:latin typeface="Courier"/>
              </a:rPr>
              <a:t>figures/</a:t>
            </a:r>
            <a:r>
              <a:rPr/>
              <a:t>, </a:t>
            </a:r>
            <a:r>
              <a:rPr>
                <a:latin typeface="Courier"/>
              </a:rPr>
              <a:t>scripts/</a:t>
            </a:r>
            <a:r>
              <a:rPr/>
              <a:t>), and your leaf data in </a:t>
            </a:r>
            <a:r>
              <a:rPr>
                <a:latin typeface="Courier"/>
              </a:rPr>
              <a:t>data/</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1 · Make a new Quarto document</a:t>
            </a:r>
          </a:p>
          <a:p>
            <a:pPr lvl="0" indent="0" marL="0">
              <a:buNone/>
            </a:pPr>
            <a:r>
              <a:rPr/>
              <a:t>In Positron: </a:t>
            </a:r>
            <a:r>
              <a:rPr b="1"/>
              <a:t>File → New File → Quarto Document</a:t>
            </a:r>
            <a:r>
              <a:rPr/>
              <a:t>. Save it right away into your </a:t>
            </a:r>
            <a:r>
              <a:rPr>
                <a:latin typeface="Courier"/>
              </a:rPr>
              <a:t>documents/</a:t>
            </a:r>
            <a:r>
              <a:rPr/>
              <a:t> folder as </a:t>
            </a:r>
            <a:r>
              <a:rPr>
                <a:latin typeface="Courier"/>
              </a:rPr>
              <a:t>my_leaf_report.qmd</a:t>
            </a:r>
            <a:r>
              <a:rPr/>
              <a:t>.</a:t>
            </a:r>
          </a:p>
          <a:p>
            <a:pPr lvl="0" indent="0" marL="1270000">
              <a:buNone/>
            </a:pPr>
            <a:r>
              <a:rPr sz="2000" b="1"/>
              <a:t>Note</a:t>
            </a:r>
          </a:p>
          <a:p>
            <a:pPr lvl="0" indent="0" marL="1270000">
              <a:buNone/>
            </a:pPr>
            <a:r>
              <a:rPr sz="2000"/>
              <a:t>A </a:t>
            </a:r>
            <a:r>
              <a:rPr sz="2000">
                <a:latin typeface="Courier"/>
              </a:rPr>
              <a:t>.qmd</a:t>
            </a:r>
            <a:r>
              <a:rPr sz="2000"/>
              <a:t> file is just plain text. You can open it anywhere, and it lives happily inside your project like your scripts do.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2 · Write the YAML front matter</a:t>
            </a:r>
          </a:p>
          <a:p>
            <a:pPr lvl="0" indent="0" marL="0">
              <a:buNone/>
            </a:pPr>
            <a:r>
              <a:rPr/>
              <a:t>At the very top of the file, type this between two lines of three dashes. Use </a:t>
            </a:r>
            <a:r>
              <a:rPr b="1"/>
              <a:t>spaces, never tabs</a:t>
            </a:r>
            <a:r>
              <a:rPr/>
              <a:t>, for the indenting.</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"Leaf Morphology Report"</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date</a:t>
            </a:r>
            <a:r>
              <a:rPr b="1">
                <a:solidFill>
                  <a:srgbClr val="003B4F"/>
                </a:solidFill>
                <a:latin typeface="Courier"/>
              </a:rPr>
              <a:t>:</a:t>
            </a:r>
            <a:r>
              <a:rPr>
                <a:solidFill>
                  <a:srgbClr val="657422"/>
                </a:solidFill>
                <a:latin typeface="Courier"/>
              </a:rPr>
              <a:t> today</a:t>
            </a:r>
            <a:br/>
            <a:r>
              <a:rPr>
                <a:solidFill>
                  <a:srgbClr val="4758AB"/>
                </a:solidFill>
                <a:latin typeface="Courier"/>
              </a:rPr>
              <a:t>format</a:t>
            </a:r>
            <a:r>
              <a:rPr b="1">
                <a:solidFill>
                  <a:srgbClr val="003B4F"/>
                </a:solidFill>
                <a:latin typeface="Courier"/>
              </a:rPr>
              <a:t>:</a:t>
            </a:r>
            <a:r>
              <a:rPr>
                <a:solidFill>
                  <a:srgbClr val="657422"/>
                </a:solidFill>
                <a:latin typeface="Courier"/>
              </a:rPr>
              <a:t> docx</a:t>
            </a:r>
            <a:br/>
            <a:r>
              <a:rPr>
                <a:solidFill>
                  <a:srgbClr val="AD0000"/>
                </a:solidFill>
                <a:latin typeface="Courier"/>
              </a:rPr>
              <a:t>---</a:t>
            </a:r>
          </a:p>
          <a:p>
            <a:pPr lvl="0" indent="0" marL="0">
              <a:buNone/>
            </a:pPr>
            <a:r>
              <a:rPr/>
              <a:t>Press </a:t>
            </a:r>
            <a:r>
              <a:rPr b="1"/>
              <a:t>Render</a:t>
            </a:r>
            <a:r>
              <a:rPr/>
              <a:t> (Ctrl/Cmd + Shift + K). A blank-ish Word document should open with your title on it. 🎉 You just made a Word file from plain text.</a:t>
            </a:r>
          </a:p>
          <a:p>
            <a:pPr lvl="0" indent="0" marL="1270000">
              <a:buNone/>
            </a:pPr>
            <a:r>
              <a:rPr sz="2000" b="1"/>
              <a:t>Warning</a:t>
            </a:r>
          </a:p>
          <a:p>
            <a:pPr lvl="0" indent="0" marL="1270000">
              <a:buNone/>
            </a:pPr>
            <a:r>
              <a:rPr sz="2000"/>
              <a:t>If Render fails, check that both </a:t>
            </a:r>
            <a:r>
              <a:rPr sz="2000">
                <a:latin typeface="Courier"/>
              </a:rPr>
              <a:t>---</a:t>
            </a:r>
            <a:r>
              <a:rPr sz="2000"/>
              <a:t> lines are alone on their own line and that your indenting is spaces.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3 · Add some Markdown text</a:t>
            </a:r>
          </a:p>
          <a:p>
            <a:pPr lvl="0" indent="0" marL="0">
              <a:buNone/>
            </a:pPr>
            <a:r>
              <a:rPr/>
              <a:t>Below the YAML, write a few lines using Markdown symbols:</a:t>
            </a:r>
          </a:p>
          <a:p>
            <a:pPr lvl="0" indent="0">
              <a:buNone/>
            </a:pPr>
            <a:r>
              <a:rPr>
                <a:solidFill>
                  <a:srgbClr val="4758AB"/>
                </a:solidFill>
                <a:latin typeface="Courier"/>
              </a:rPr>
              <a:t># Introduction</a:t>
            </a:r>
            <a:br/>
            <a:br/>
            <a:r>
              <a:rPr>
                <a:solidFill>
                  <a:srgbClr val="003B4F"/>
                </a:solidFill>
                <a:latin typeface="Courier"/>
              </a:rPr>
              <a:t>We measured leaf weight on the **sunny** and **shady** sides of a tree.</a:t>
            </a:r>
            <a:br/>
            <a:br/>
            <a:r>
              <a:rPr>
                <a:solidFill>
                  <a:srgbClr val="20794D"/>
                </a:solidFill>
                <a:latin typeface="Courier"/>
              </a:rPr>
              <a:t>- </a:t>
            </a:r>
            <a:r>
              <a:rPr>
                <a:solidFill>
                  <a:srgbClr val="003B4F"/>
                </a:solidFill>
                <a:latin typeface="Courier"/>
              </a:rPr>
              <a:t>Null hypothesis: no difference between sides</a:t>
            </a:r>
            <a:br/>
            <a:r>
              <a:rPr>
                <a:solidFill>
                  <a:srgbClr val="20794D"/>
                </a:solidFill>
                <a:latin typeface="Courier"/>
              </a:rPr>
              <a:t>- </a:t>
            </a:r>
            <a:r>
              <a:rPr>
                <a:solidFill>
                  <a:srgbClr val="003B4F"/>
                </a:solidFill>
                <a:latin typeface="Courier"/>
              </a:rPr>
              <a:t>Alternate hypothesis: sides differ</a:t>
            </a:r>
          </a:p>
          <a:p>
            <a:pPr lvl="0" indent="0" marL="0">
              <a:buNone/>
            </a:pPr>
            <a:r>
              <a:rPr/>
              <a:t>Render again. Notice the </a:t>
            </a:r>
            <a:r>
              <a:rPr>
                <a:latin typeface="Courier"/>
              </a:rPr>
              <a:t>#</a:t>
            </a:r>
            <a:r>
              <a:rPr/>
              <a:t> became a real heading and the </a:t>
            </a:r>
            <a:r>
              <a:rPr>
                <a:latin typeface="Courier"/>
              </a:rPr>
              <a:t>-</a:t>
            </a:r>
            <a:r>
              <a:rPr/>
              <a:t> became bullets.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4 · Add a code chunk (and name it)</a:t>
            </a:r>
          </a:p>
          <a:p>
            <a:pPr lvl="0" indent="0" marL="0">
              <a:buNone/>
            </a:pPr>
            <a:r>
              <a:rPr/>
              <a:t>Insert a chunk with </a:t>
            </a:r>
            <a:r>
              <a:rPr b="1"/>
              <a:t>Ctrl/Cmd + Alt + I</a:t>
            </a:r>
            <a:r>
              <a:rPr/>
              <a:t>, then make it load your packages and data. Give it a short </a:t>
            </a:r>
            <a:r>
              <a:rPr b="1"/>
              <a:t>name</a:t>
            </a:r>
            <a:r>
              <a:rPr/>
              <a:t> after </a:t>
            </a:r>
            <a:r>
              <a:rPr>
                <a:latin typeface="Courier"/>
              </a:rPr>
              <a:t>r</a:t>
            </a:r>
            <a:r>
              <a:rPr/>
              <a:t>:</a:t>
            </a:r>
          </a:p>
          <a:p>
            <a:pPr lvl="0" indent="0">
              <a:buNone/>
            </a:pPr>
            <a:r>
              <a:rPr>
                <a:solidFill>
                  <a:srgbClr val="5E5E5E"/>
                </a:solidFill>
                <a:latin typeface="Courier"/>
              </a:rPr>
              <a:t>#| label: libraries</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(tidyverse)</a:t>
            </a:r>
          </a:p>
          <a:p>
            <a:pPr lvl="0" indent="0" marL="0">
              <a:buNone/>
            </a:pPr>
            <a:r>
              <a:rPr/>
              <a:t>Add a second, </a:t>
            </a:r>
            <a:r>
              <a:rPr b="1"/>
              <a:t>uniquely named</a:t>
            </a:r>
            <a:r>
              <a:rPr/>
              <a:t> chunk to read your data:</a:t>
            </a:r>
          </a:p>
          <a:p>
            <a:pPr lvl="0" indent="0">
              <a:buNone/>
            </a:pPr>
            <a:r>
              <a:rPr>
                <a:solidFill>
                  <a:srgbClr val="5E5E5E"/>
                </a:solidFill>
                <a:latin typeface="Courier"/>
              </a:rPr>
              <a:t>#| label: load-data</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"data/2026_06_25_tree_experiment_raw_data.xlsx"</a:t>
            </a:r>
            <a:r>
              <a:rPr>
                <a:solidFill>
                  <a:srgbClr val="003B4F"/>
                </a:solidFill>
                <a:latin typeface="Courier"/>
              </a:rPr>
              <a:t>)</a:t>
            </a:r>
          </a:p>
          <a:p>
            <a:pPr lvl="0" indent="0" marL="0">
              <a:buNone/>
            </a:pPr>
            <a:r>
              <a:rPr/>
              <a:t>Render. If it breaks, the message names the chunk — go straight to it.</a:t>
            </a:r>
          </a:p>
          <a:p>
            <a:pPr lvl="0" indent="0" marL="1270000">
              <a:buNone/>
            </a:pPr>
            <a:r>
              <a:rPr sz="2000" b="1"/>
              <a:t>Tip</a:t>
            </a:r>
          </a:p>
          <a:p>
            <a:pPr lvl="0" indent="0" marL="1270000">
              <a:buNone/>
            </a:pPr>
            <a:r>
              <a:rPr sz="2000"/>
              <a:t>Same habit as your scripts: </a:t>
            </a:r>
            <a:r>
              <a:rPr sz="2000" b="1"/>
              <a:t>small, uniquely named chunks</a:t>
            </a:r>
            <a:r>
              <a:rPr sz="2000"/>
              <a:t> make errors easy to find. No two chunks can share a name.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5 · Compute a result and drop it into a sentence</a:t>
            </a:r>
          </a:p>
          <a:p>
            <a:pPr lvl="0" indent="0" marL="0">
              <a:buNone/>
            </a:pPr>
            <a:r>
              <a:rPr/>
              <a:t>Add a chunk that calculates the group means:</a:t>
            </a:r>
          </a:p>
          <a:p>
            <a:pPr lvl="0" indent="0">
              <a:buNone/>
            </a:pPr>
            <a:r>
              <a:rPr>
                <a:solidFill>
                  <a:srgbClr val="5E5E5E"/>
                </a:solidFill>
                <a:latin typeface="Courier"/>
              </a:rPr>
              <a:t>#| label: means</a:t>
            </a:r>
            <a:br/>
            <a:r>
              <a:rPr>
                <a:solidFill>
                  <a:srgbClr val="003B4F"/>
                </a:solidFill>
                <a:latin typeface="Courier"/>
              </a:rPr>
              <a:t>summary_df &lt;- tree_df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mean_wt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(weight_g,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003B4F"/>
                </a:solidFill>
                <a:latin typeface="Courier"/>
              </a:rPr>
              <a:t>mean_shady &lt;- summary_df</a:t>
            </a:r>
            <a:r>
              <a:rPr>
                <a:solidFill>
                  <a:srgbClr val="5E5E5E"/>
                </a:solidFill>
                <a:latin typeface="Courier"/>
              </a:rPr>
              <a:t>$</a:t>
            </a:r>
            <a:r>
              <a:rPr>
                <a:solidFill>
                  <a:srgbClr val="003B4F"/>
                </a:solidFill>
                <a:latin typeface="Courier"/>
              </a:rPr>
              <a:t>mean_wt[summary_df</a:t>
            </a:r>
            <a:r>
              <a:rPr>
                <a:solidFill>
                  <a:srgbClr val="5E5E5E"/>
                </a:solidFill>
                <a:latin typeface="Courier"/>
              </a:rPr>
              <a:t>$</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p>
          <a:p>
            <a:pPr lvl="0" indent="0" marL="0">
              <a:buNone/>
            </a:pPr>
            <a:r>
              <a:rPr/>
              <a:t>Then, in your text, use </a:t>
            </a:r>
            <a:r>
              <a:rPr b="1"/>
              <a:t>inline code</a:t>
            </a:r>
            <a:r>
              <a:rPr/>
              <a:t> to insert the number automatically:</a:t>
            </a:r>
          </a:p>
          <a:p>
            <a:pPr lvl="0" indent="0">
              <a:buNone/>
            </a:pPr>
            <a:r>
              <a:rPr>
                <a:solidFill>
                  <a:srgbClr val="003B4F"/>
                </a:solidFill>
                <a:latin typeface="Courier"/>
              </a:rPr>
              <a:t>Shady-side leaves averaged </a:t>
            </a:r>
            <a:r>
              <a:rPr>
                <a:solidFill>
                  <a:srgbClr val="5E5E5E"/>
                </a:solidFill>
                <a:latin typeface="Courier"/>
              </a:rPr>
              <a:t>`r mean_shady`</a:t>
            </a:r>
            <a:r>
              <a:rPr>
                <a:solidFill>
                  <a:srgbClr val="003B4F"/>
                </a:solidFill>
                <a:latin typeface="Courier"/>
              </a:rPr>
              <a:t> g.</a:t>
            </a:r>
          </a:p>
          <a:p>
            <a:pPr lvl="0" indent="0" marL="0">
              <a:buNone/>
            </a:pPr>
            <a:r>
              <a:rPr/>
              <a:t>Render. The real number appears in the sentence — and you never typed it.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6 · Make it look professional</a:t>
            </a:r>
          </a:p>
          <a:p>
            <a:pPr lvl="0" indent="0" marL="0">
              <a:buNone/>
            </a:pPr>
            <a:r>
              <a:rPr/>
              <a:t>Now upgrade your YAML to match the downloaded template so the report gets a table of contents and numbered sections:</a:t>
            </a:r>
          </a:p>
          <a:p>
            <a:pPr lvl="0" indent="0">
              <a:buNone/>
            </a:pP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docx</a:t>
            </a:r>
            <a:r>
              <a:rPr b="1">
                <a:solidFill>
                  <a:srgbClr val="003B4F"/>
                </a:solidFill>
                <a:latin typeface="Courier"/>
              </a:rPr>
              <a:t>:</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fig-width</a:t>
            </a:r>
            <a:r>
              <a:rPr b="1">
                <a:solidFill>
                  <a:srgbClr val="003B4F"/>
                </a:solidFill>
                <a:latin typeface="Courier"/>
              </a:rPr>
              <a:t>:</a:t>
            </a:r>
            <a:r>
              <a:rPr>
                <a:solidFill>
                  <a:srgbClr val="657422"/>
                </a:solidFill>
                <a:latin typeface="Courier"/>
              </a:rPr>
              <a:t> </a:t>
            </a:r>
            <a:r>
              <a:rPr>
                <a:solidFill>
                  <a:srgbClr val="AD0000"/>
                </a:solidFill>
                <a:latin typeface="Courier"/>
              </a:rPr>
              <a:t>6</a:t>
            </a:r>
            <a:br/>
            <a:r>
              <a:rPr>
                <a:solidFill>
                  <a:srgbClr val="657422"/>
                </a:solidFill>
                <a:latin typeface="Courier"/>
              </a:rPr>
              <a:t>    </a:t>
            </a:r>
            <a:r>
              <a:rPr>
                <a:solidFill>
                  <a:srgbClr val="4758AB"/>
                </a:solidFill>
                <a:latin typeface="Courier"/>
              </a:rPr>
              <a:t>fig-height</a:t>
            </a:r>
            <a:r>
              <a:rPr b="1">
                <a:solidFill>
                  <a:srgbClr val="003B4F"/>
                </a:solidFill>
                <a:latin typeface="Courier"/>
              </a:rPr>
              <a:t>:</a:t>
            </a:r>
            <a:r>
              <a:rPr>
                <a:solidFill>
                  <a:srgbClr val="657422"/>
                </a:solidFill>
                <a:latin typeface="Courier"/>
              </a:rPr>
              <a:t> </a:t>
            </a:r>
            <a:r>
              <a:rPr>
                <a:solidFill>
                  <a:srgbClr val="AD0000"/>
                </a:solidFill>
                <a:latin typeface="Courier"/>
              </a:rPr>
              <a:t>4</a:t>
            </a:r>
            <a:br/>
            <a:r>
              <a:rPr>
                <a:solidFill>
                  <a:srgbClr val="657422"/>
                </a:solidFill>
                <a:latin typeface="Courier"/>
              </a:rPr>
              <a:t>    </a:t>
            </a:r>
            <a:r>
              <a:rPr>
                <a:solidFill>
                  <a:srgbClr val="4758AB"/>
                </a:solidFill>
                <a:latin typeface="Courier"/>
              </a:rPr>
              <a:t>fig-format</a:t>
            </a:r>
            <a:r>
              <a:rPr b="1">
                <a:solidFill>
                  <a:srgbClr val="003B4F"/>
                </a:solidFill>
                <a:latin typeface="Courier"/>
              </a:rPr>
              <a:t>:</a:t>
            </a:r>
            <a:r>
              <a:rPr>
                <a:solidFill>
                  <a:srgbClr val="657422"/>
                </a:solidFill>
                <a:latin typeface="Courier"/>
              </a:rPr>
              <a:t> png</a:t>
            </a:r>
          </a:p>
          <a:p>
            <a:pPr lvl="0" indent="0" marL="0">
              <a:buNone/>
            </a:pPr>
            <a:r>
              <a:rPr/>
              <a:t>Open </a:t>
            </a:r>
            <a:r>
              <a:rPr b="1">
                <a:latin typeface="Courier"/>
              </a:rPr>
              <a:t>leaf_report_template.qmd</a:t>
            </a:r>
            <a:r>
              <a:rPr/>
              <a:t> side by side. Copy in its </a:t>
            </a:r>
            <a:r>
              <a:rPr>
                <a:latin typeface="Courier"/>
              </a:rPr>
              <a:t>summary-table</a:t>
            </a:r>
            <a:r>
              <a:rPr/>
              <a:t> and </a:t>
            </a:r>
            <a:r>
              <a:rPr>
                <a:latin typeface="Courier"/>
              </a:rPr>
              <a:t>leaf-plot</a:t>
            </a:r>
            <a:r>
              <a:rPr/>
              <a:t> chunks so your report has a real table and figure. Render.</a:t>
            </a:r>
          </a:p>
          <a:p>
            <a:pPr lvl="0" indent="0" marL="1270000">
              <a:buNone/>
            </a:pPr>
            <a:r>
              <a:rPr sz="2000" b="1"/>
              <a:t>Note</a:t>
            </a:r>
          </a:p>
          <a:p>
            <a:pPr lvl="0" indent="0" marL="1270000">
              <a:buNone/>
            </a:pPr>
            <a:r>
              <a:rPr sz="2000"/>
              <a:t>Set </a:t>
            </a:r>
            <a:r>
              <a:rPr sz="2000">
                <a:latin typeface="Courier"/>
              </a:rPr>
              <a:t>echo: false</a:t>
            </a:r>
            <a:r>
              <a:rPr sz="2000"/>
              <a:t> in the </a:t>
            </a:r>
            <a:r>
              <a:rPr sz="2000">
                <a:latin typeface="Courier"/>
              </a:rPr>
              <a:t>execute:</a:t>
            </a:r>
            <a:r>
              <a:rPr sz="2000"/>
              <a:t> block (top of the file) to </a:t>
            </a:r>
            <a:r>
              <a:rPr sz="2000" b="1"/>
              <a:t>hide the code</a:t>
            </a:r>
            <a:r>
              <a:rPr sz="2000"/>
              <a:t> so your report shows only results — the way a reader wants it.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Step 7 · One file, three outputs (optional)</a:t>
            </a:r>
          </a:p>
          <a:p>
            <a:pPr lvl="0" indent="0" marL="0">
              <a:buNone/>
            </a:pPr>
            <a:r>
              <a:rPr/>
              <a:t>Change your </a:t>
            </a:r>
            <a:r>
              <a:rPr>
                <a:latin typeface="Courier"/>
              </a:rPr>
              <a:t>format:</a:t>
            </a:r>
            <a:r>
              <a:rPr/>
              <a:t> block to build a Word file, a web page, and slides — all from the same analysis:</a:t>
            </a:r>
          </a:p>
          <a:p>
            <a:pPr lvl="0" indent="0">
              <a:buNone/>
            </a:pP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docx</a:t>
            </a:r>
            <a:r>
              <a:rPr b="1">
                <a:solidFill>
                  <a:srgbClr val="003B4F"/>
                </a:solidFill>
                <a:latin typeface="Courier"/>
              </a:rPr>
              <a:t>:</a:t>
            </a:r>
            <a:r>
              <a:rPr>
                <a:solidFill>
                  <a:srgbClr val="657422"/>
                </a:solidFill>
                <a:latin typeface="Courier"/>
              </a:rPr>
              <a:t> default</a:t>
            </a:r>
            <a:br/>
            <a:r>
              <a:rPr>
                <a:solidFill>
                  <a:srgbClr val="657422"/>
                </a:solidFill>
                <a:latin typeface="Courier"/>
              </a:rPr>
              <a:t>  </a:t>
            </a:r>
            <a:r>
              <a:rPr>
                <a:solidFill>
                  <a:srgbClr val="4758AB"/>
                </a:solidFill>
                <a:latin typeface="Courier"/>
              </a:rPr>
              <a:t>html</a:t>
            </a:r>
            <a:r>
              <a:rPr b="1">
                <a:solidFill>
                  <a:srgbClr val="003B4F"/>
                </a:solidFill>
                <a:latin typeface="Courier"/>
              </a:rPr>
              <a:t>:</a:t>
            </a:r>
            <a:r>
              <a:rPr>
                <a:solidFill>
                  <a:srgbClr val="657422"/>
                </a:solidFill>
                <a:latin typeface="Courier"/>
              </a:rPr>
              <a:t> default</a:t>
            </a:r>
            <a:br/>
            <a:r>
              <a:rPr>
                <a:solidFill>
                  <a:srgbClr val="657422"/>
                </a:solidFill>
                <a:latin typeface="Courier"/>
              </a:rPr>
              <a:t>  </a:t>
            </a:r>
            <a:r>
              <a:rPr>
                <a:solidFill>
                  <a:srgbClr val="4758AB"/>
                </a:solidFill>
                <a:latin typeface="Courier"/>
              </a:rPr>
              <a:t>pptx</a:t>
            </a:r>
            <a:r>
              <a:rPr b="1">
                <a:solidFill>
                  <a:srgbClr val="003B4F"/>
                </a:solidFill>
                <a:latin typeface="Courier"/>
              </a:rPr>
              <a:t>:</a:t>
            </a:r>
            <a:r>
              <a:rPr>
                <a:solidFill>
                  <a:srgbClr val="657422"/>
                </a:solidFill>
                <a:latin typeface="Courier"/>
              </a:rPr>
              <a:t> default</a:t>
            </a:r>
          </a:p>
          <a:p>
            <a:pPr lvl="0" indent="0" marL="0">
              <a:buNone/>
            </a:pPr>
            <a:r>
              <a:rPr/>
              <a:t>Render. Three documents, zero extra work.</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 yourself</a:t>
            </a:r>
          </a:p>
          <a:p>
            <a:pPr lvl="0" indent="0" marL="0">
              <a:buNone/>
            </a:pPr>
            <a:r>
              <a:rPr/>
              <a:t>You are done when you can:</a:t>
            </a:r>
          </a:p>
          <a:p>
            <a:pPr lvl="0"/>
            <a:r>
              <a:rPr/>
              <a:t>Render your </a:t>
            </a:r>
            <a:r>
              <a:rPr>
                <a:latin typeface="Courier"/>
              </a:rPr>
              <a:t>.qmd</a:t>
            </a:r>
            <a:r>
              <a:rPr/>
              <a:t> to a </a:t>
            </a:r>
            <a:r>
              <a:rPr b="1"/>
              <a:t>Word document</a:t>
            </a:r>
            <a:r>
              <a:rPr/>
              <a:t> with a title, TOC, and numbered sections</a:t>
            </a:r>
          </a:p>
          <a:p>
            <a:pPr lvl="0"/>
            <a:r>
              <a:rPr/>
              <a:t>Show a </a:t>
            </a:r>
            <a:r>
              <a:rPr b="1"/>
              <a:t>summary table</a:t>
            </a:r>
            <a:r>
              <a:rPr/>
              <a:t> and a </a:t>
            </a:r>
            <a:r>
              <a:rPr b="1"/>
              <a:t>figure</a:t>
            </a:r>
            <a:r>
              <a:rPr/>
              <a:t> computed from your data</a:t>
            </a:r>
          </a:p>
          <a:p>
            <a:pPr lvl="0"/>
            <a:r>
              <a:rPr/>
              <a:t>Point to </a:t>
            </a:r>
            <a:r>
              <a:rPr b="1"/>
              <a:t>one number in a sentence</a:t>
            </a:r>
            <a:r>
              <a:rPr/>
              <a:t> that came from inline code</a:t>
            </a:r>
          </a:p>
          <a:p>
            <a:pPr lvl="0"/>
            <a:r>
              <a:rPr/>
              <a:t>Explain why you would </a:t>
            </a:r>
            <a:r>
              <a:rPr b="1"/>
              <a:t>never</a:t>
            </a:r>
            <a:r>
              <a:rPr/>
              <a:t> copy those numbers by hand again</a:t>
            </a:r>
          </a:p>
          <a:p>
            <a:pPr lvl="0" indent="0" marL="1270000">
              <a:buNone/>
            </a:pPr>
            <a:r>
              <a:rPr sz="2000" b="1"/>
              <a:t>🖐 Stuck or behind?</a:t>
            </a:r>
          </a:p>
          <a:p>
            <a:pPr lvl="0" indent="0" marL="1270000">
              <a:buNone/>
            </a:pPr>
            <a:r>
              <a:rPr sz="2000"/>
              <a:t>Open </a:t>
            </a:r>
            <a:r>
              <a:rPr sz="2000" b="1">
                <a:hlinkClick r:id="rId2"/>
                <a:latin typeface="Courier"/>
              </a:rPr>
              <a:t>leaf_report_template.qmd</a:t>
            </a:r>
            <a:r>
              <a:rPr sz="2000"/>
              <a:t>, render it as-is to confirm your setup works, then compare it to your file chunk by chunk. For a fuller example with a real statistical test, study </a:t>
            </a:r>
            <a:r>
              <a:rPr sz="2000" b="1">
                <a:hlinkClick r:id="rId3"/>
                <a:latin typeface="Courier"/>
              </a:rPr>
              <a:t>t_test_report.qmd</a:t>
            </a:r>
            <a:r>
              <a:rPr sz="2000"/>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Extension — out of class (~30–40 min)</a:t>
            </a:r>
          </a:p>
        </p:txBody>
      </p:sp>
      <p:sp>
        <p:nvSpPr>
          <p:cNvPr id="3" name="Content Placeholder 2"/>
          <p:cNvSpPr>
            <a:spLocks noGrp="1"/>
          </p:cNvSpPr>
          <p:nvPr>
            <p:ph idx="1"/>
          </p:nvPr>
        </p:nvSpPr>
        <p:spPr/>
        <p:txBody>
          <a:bodyPr/>
          <a:lstStyle/>
          <a:p>
            <a:pPr lvl="0" indent="0" marL="0">
              <a:buNone/>
            </a:pPr>
            <a:r>
              <a:rPr i="1"/>
              <a:t>Turn this in with your worksheet, in the same </a:t>
            </a:r>
            <a:r>
              <a:rPr i="1">
                <a:latin typeface="Courier"/>
              </a:rPr>
              <a:t>.qmd</a:t>
            </a:r>
            <a:r>
              <a:rPr i="1"/>
              <a:t> you built in class. This adds Quarto features you have </a:t>
            </a:r>
            <a:r>
              <a:rPr b="1" i="1"/>
              <a:t>not</a:t>
            </a:r>
            <a:r>
              <a:rPr i="1"/>
              <a:t> seen yet — cross-references and callouts.</a:t>
            </a:r>
          </a:p>
          <a:p>
            <a:pPr lvl="0" indent="0" marL="1270000">
              <a:buNone/>
            </a:pPr>
            <a:r>
              <a:rPr sz="2000" b="1"/>
              <a:t>Important</a:t>
            </a:r>
          </a:p>
          <a:p>
            <a:pPr lvl="0" indent="0" marL="1270000">
              <a:buNone/>
            </a:pPr>
            <a:r>
              <a:rPr sz="2000" b="1"/>
              <a:t>E2 and E3 must be handwritten</a:t>
            </a:r>
            <a:r>
              <a:rPr sz="2000"/>
              <a:t> on paper, photographed, and embedded in the report. Typed answers get </a:t>
            </a:r>
            <a:r>
              <a:rPr sz="2000" b="1"/>
              <a:t>at most half credit, even if correct</a:t>
            </a:r>
            <a:r>
              <a:rPr sz="2000"/>
              <a:t> — E2 is your prediction </a:t>
            </a:r>
            <a:r>
              <a:rPr sz="2000" i="1"/>
              <a:t>before</a:t>
            </a:r>
            <a:r>
              <a:rPr sz="2000"/>
              <a:t> the render.</a:t>
            </a:r>
          </a:p>
          <a:p>
            <a:pPr lvl="0" indent="0" marL="0">
              <a:spcBef>
                <a:spcPts val="3000"/>
              </a:spcBef>
              <a:buNone/>
            </a:pPr>
            <a:r>
              <a:rPr b="1"/>
              <a:t>E1 · Cross-reference your table and figure (4 pts)</a:t>
            </a:r>
          </a:p>
          <a:p>
            <a:pPr lvl="0" indent="0" marL="0">
              <a:buNone/>
            </a:pPr>
            <a:r>
              <a:rPr/>
              <a:t>Quarto can number your table and figure and let your prose refer to them by number automatically, so it stays correct even if you reorder things.</a:t>
            </a:r>
          </a:p>
          <a:p>
            <a:pPr lvl="0" indent="-342900" marL="342900">
              <a:buAutoNum type="arabicPeriod"/>
            </a:pPr>
            <a:r>
              <a:rPr/>
              <a:t>Give your table chunk </a:t>
            </a:r>
            <a:r>
              <a:rPr>
                <a:latin typeface="Courier"/>
              </a:rPr>
              <a:t>#| label: tbl-summary</a:t>
            </a:r>
            <a:r>
              <a:rPr/>
              <a:t> and </a:t>
            </a:r>
            <a:r>
              <a:rPr>
                <a:latin typeface="Courier"/>
              </a:rPr>
              <a:t>#| tbl-cap: "..."</a:t>
            </a:r>
            <a:r>
              <a:rPr/>
              <a:t>.</a:t>
            </a:r>
          </a:p>
          <a:p>
            <a:pPr lvl="0" indent="-342900" marL="342900">
              <a:buAutoNum type="arabicPeriod"/>
            </a:pPr>
            <a:r>
              <a:rPr/>
              <a:t>Give your figure chunk </a:t>
            </a:r>
            <a:r>
              <a:rPr>
                <a:latin typeface="Courier"/>
              </a:rPr>
              <a:t>#| label: fig-leaf</a:t>
            </a:r>
            <a:r>
              <a:rPr/>
              <a:t> and </a:t>
            </a:r>
            <a:r>
              <a:rPr>
                <a:latin typeface="Courier"/>
              </a:rPr>
              <a:t>#| fig-cap: "..."</a:t>
            </a:r>
            <a:r>
              <a:rPr/>
              <a:t>.</a:t>
            </a:r>
          </a:p>
          <a:p>
            <a:pPr lvl="0" indent="-342900" marL="342900">
              <a:buAutoNum type="arabicPeriod"/>
            </a:pPr>
            <a:r>
              <a:rPr/>
              <a:t>In your Results prose, write </a:t>
            </a:r>
            <a:r>
              <a:rPr>
                <a:latin typeface="Courier"/>
              </a:rPr>
              <a:t>@tbl-summary</a:t>
            </a:r>
            <a:r>
              <a:rPr/>
              <a:t> and </a:t>
            </a:r>
            <a:r>
              <a:rPr>
                <a:latin typeface="Courier"/>
              </a:rPr>
              <a:t>@fig-leaf</a:t>
            </a:r>
            <a:r>
              <a:rPr/>
              <a:t> instead of “the table above” / “the figure below”. Render and check the numbers appear.</a:t>
            </a:r>
          </a:p>
          <a:p>
            <a:pPr lvl="0" indent="-342900" marL="342900">
              <a:buAutoNum type="arabicPeriod"/>
            </a:pPr>
            <a:r>
              <a:rPr/>
              <a:t>Add </a:t>
            </a:r>
            <a:r>
              <a:rPr b="1"/>
              <a:t>one callout of your own</a:t>
            </a:r>
            <a:r>
              <a:rPr/>
              <a:t> (</a:t>
            </a:r>
            <a:r>
              <a:rPr>
                <a:latin typeface="Courier"/>
              </a:rPr>
              <a:t>::: callout-note/-warning/-tip</a:t>
            </a:r>
            <a:r>
              <a:rPr/>
              <a:t>) flagging a </a:t>
            </a:r>
            <a:r>
              <a:rPr i="1"/>
              <a:t>real</a:t>
            </a:r>
            <a:r>
              <a:rPr/>
              <a:t> limitation of your analysis (small n, an outlier you kept, an assumption you’re unsure of) — not a generic one.</a:t>
            </a:r>
          </a:p>
          <a:p>
            <a:pPr lvl="0" indent="0" marL="0">
              <a:buNone/>
            </a:pPr>
            <a:r>
              <a:rPr/>
              <a:t>Record the </a:t>
            </a:r>
            <a:r>
              <a:rPr>
                <a:latin typeface="Courier"/>
              </a:rPr>
              <a:t>label:</a:t>
            </a:r>
            <a:r>
              <a:rPr/>
              <a:t> lines you added and the exact sentence where you used </a:t>
            </a:r>
            <a:r>
              <a:rPr>
                <a:latin typeface="Courier"/>
              </a:rPr>
              <a:t>@tbl-summary</a:t>
            </a:r>
            <a:r>
              <a:rPr/>
              <a:t> or </a:t>
            </a:r>
            <a:r>
              <a:rPr>
                <a:latin typeface="Courier"/>
              </a:rPr>
              <a:t>@fig-leaf</a:t>
            </a:r>
            <a:r>
              <a:rPr/>
              <a:t>.</a:t>
            </a:r>
          </a:p>
          <a:p>
            <a:pPr lvl="0" indent="0" marL="0">
              <a:spcBef>
                <a:spcPts val="3000"/>
              </a:spcBef>
              <a:buNone/>
            </a:pPr>
            <a:r>
              <a:rPr b="1"/>
              <a:t>E2 · Predict, then check — ✍️ by hand (3 pts)</a:t>
            </a:r>
          </a:p>
          <a:p>
            <a:pPr lvl="0" indent="0" marL="0">
              <a:buNone/>
            </a:pPr>
            <a:r>
              <a:rPr b="1"/>
              <a:t>Before touching any chunk options:</a:t>
            </a:r>
            <a:r>
              <a:rPr/>
              <a:t> if you added </a:t>
            </a:r>
            <a:r>
              <a:rPr>
                <a:latin typeface="Courier"/>
              </a:rPr>
              <a:t>#| echo: false</a:t>
            </a:r>
            <a:r>
              <a:rPr/>
              <a:t> to </a:t>
            </a:r>
            <a:r>
              <a:rPr i="1"/>
              <a:t>only</a:t>
            </a:r>
            <a:r>
              <a:rPr/>
              <a:t> the chunk that computes your summary table (not the whole document), what exactly changes in the rendered Word doc, and what stays identical? Be specific about which chunks are affected. Then make the change, render, and write whether you were right.</a:t>
            </a:r>
          </a:p>
          <a:p>
            <a:pPr lvl="0" indent="0" marL="0">
              <a:spcBef>
                <a:spcPts val="3000"/>
              </a:spcBef>
              <a:buNone/>
            </a:pPr>
            <a:r>
              <a:rPr b="1"/>
              <a:t>E3 · Explain it — ✍️ by hand (3 pts)</a:t>
            </a:r>
          </a:p>
          <a:p>
            <a:pPr lvl="0" indent="0" marL="0">
              <a:buNone/>
            </a:pPr>
            <a:r>
              <a:rPr/>
              <a:t>As if explaining to a classmate who missed this unit:</a:t>
            </a:r>
          </a:p>
          <a:p>
            <a:pPr lvl="0" indent="-342900" marL="342900">
              <a:buAutoNum type="arabicPeriod"/>
            </a:pPr>
            <a:r>
              <a:rPr/>
              <a:t>Point to </a:t>
            </a:r>
            <a:r>
              <a:rPr b="1"/>
              <a:t>one chunk in your own report</a:t>
            </a:r>
            <a:r>
              <a:rPr/>
              <a:t> and say why you set </a:t>
            </a:r>
            <a:r>
              <a:rPr>
                <a:latin typeface="Courier"/>
              </a:rPr>
              <a:t>echo</a:t>
            </a:r>
            <a:r>
              <a:rPr/>
              <a:t> the way you did for </a:t>
            </a:r>
            <a:r>
              <a:rPr i="1"/>
              <a:t>that</a:t>
            </a:r>
            <a:r>
              <a:rPr/>
              <a:t> chunk.</a:t>
            </a:r>
          </a:p>
          <a:p>
            <a:pPr lvl="0" indent="-342900" marL="342900">
              <a:buAutoNum type="arabicPeriod"/>
            </a:pPr>
            <a:r>
              <a:rPr/>
              <a:t>If someone changed one number in your raw data file, walk through exactly what happens the next time you press Render — which chunks rerun, which outputs change, which don’t.</a:t>
            </a:r>
          </a:p>
          <a:p>
            <a:pPr lvl="0" indent="-342900" marL="342900">
              <a:buAutoNum type="arabicPeriod"/>
            </a:pPr>
            <a:r>
              <a:rPr/>
              <a:t>Why is referring to </a:t>
            </a:r>
            <a:r>
              <a:rPr>
                <a:latin typeface="Courier"/>
              </a:rPr>
              <a:t>@tbl-summary</a:t>
            </a:r>
            <a:r>
              <a:rPr/>
              <a:t> safer than typing “Table 1” by hand?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Turn it in</a:t>
            </a:r>
          </a:p>
          <a:p>
            <a:pPr lvl="0" indent="0" marL="0">
              <a:buNone/>
            </a:pPr>
            <a:r>
              <a:rPr/>
              <a:t>Render to Word and submit both:</a:t>
            </a:r>
          </a:p>
          <a:p>
            <a:pPr lvl="0" indent="-342900" marL="342900">
              <a:buAutoNum type="arabicPeriod"/>
            </a:pPr>
            <a:r>
              <a:rPr>
                <a:latin typeface="Courier"/>
              </a:rPr>
              <a:t>my_leaf_report.qmd</a:t>
            </a:r>
            <a:r>
              <a:rPr/>
              <a:t> (your source file)</a:t>
            </a:r>
          </a:p>
          <a:p>
            <a:pPr lvl="0" indent="-342900" marL="342900">
              <a:buAutoNum type="arabicPeriod"/>
            </a:pPr>
            <a:r>
              <a:rPr>
                <a:latin typeface="Courier"/>
              </a:rPr>
              <a:t>my_leaf_report.docx</a:t>
            </a:r>
            <a:r>
              <a:rPr/>
              <a:t> (the rendered report)</a:t>
            </a:r>
          </a:p>
          <a:p>
            <a:pPr lvl="0" indent="0" marL="0">
              <a:buNone/>
            </a:pPr>
            <a:r>
              <a:rPr b="1"/>
              <a:t>References:</a:t>
            </a:r>
            <a:r>
              <a:rPr/>
              <a:t> 📖 </a:t>
            </a:r>
            <a:r>
              <a:rPr>
                <a:hlinkClick r:id="rId2"/>
              </a:rPr>
              <a:t>R4DS Ch 28 — Quarto</a:t>
            </a:r>
            <a:r>
              <a:rPr/>
              <a:t> · 📖 </a:t>
            </a:r>
            <a:r>
              <a:rPr>
                <a:hlinkClick r:id="rId3"/>
              </a:rPr>
              <a:t>R4DS Ch 29 — Formats</a:t>
            </a:r>
            <a:r>
              <a:rPr/>
              <a:t> · 🌐 </a:t>
            </a:r>
            <a:r>
              <a:rPr>
                <a:hlinkClick r:id="rId4"/>
              </a:rPr>
              <a:t>quarto.org guide</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07 — Build Your First Quarto Report</dc:title>
  <dc:creator>Bill Perry</dc:creator>
  <cp:keywords/>
  <dc:description>Follow-along activity paralleling the Quarto lecture. Students create a .qmd file, add YAML, Markdown, and named code chunks, and render the leaf analysis to a Word document using the provided template.</dc:description>
  <dcterms:created xsi:type="dcterms:W3CDTF">2026-08-27T20:06:19Z</dcterms:created>
  <dcterms:modified xsi:type="dcterms:W3CDTF">2026-08-27T20:06:19Z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date">
    <vt:lpwstr>2026-08-27</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7</vt:lpwstr>
  </property>
  <property fmtid="{D5CDD505-2E9C-101B-9397-08002B2CF9AE}" pid="13" name="resources">
    <vt:lpwstr/>
  </property>
  <property fmtid="{D5CDD505-2E9C-101B-9397-08002B2CF9AE}" pid="14" name="subtitle">
    <vt:lpwstr>Turn your leaf analysis into a professional Word document</vt:lpwstr>
  </property>
  <property fmtid="{D5CDD505-2E9C-101B-9397-08002B2CF9AE}" pid="15" name="toc-title">
    <vt:lpwstr>Table of contents</vt:lpwstr>
  </property>
  <property fmtid="{D5CDD505-2E9C-101B-9397-08002B2CF9AE}" pid="16" name="type">
    <vt:lpwstr>activity</vt:lpwstr>
  </property>
  <property fmtid="{D5CDD505-2E9C-101B-9397-08002B2CF9AE}" pid="17" name="week">
    <vt:lpwstr>4</vt:lpwstr>
  </property>
</Properties>
</file>