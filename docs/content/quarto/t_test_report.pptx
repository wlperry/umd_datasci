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Do Shady Leaves Weigh More? A Two-Sample t-Test</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 reproducible write-up of the Worksheet 04 analysis</a:t>
            </a:r>
            <a:br/>
            <a:br/>
            <a:r>
              <a:rPr/>
              <a:t>Your Name Here</a:t>
            </a:r>
          </a:p>
        </p:txBody>
      </p:sp>
      <p:sp>
        <p:nvSpPr>
          <p:cNvPr id="4" name="Date Placeholder 3"/>
          <p:cNvSpPr>
            <a:spLocks noGrp="1"/>
          </p:cNvSpPr>
          <p:nvPr>
            <p:ph idx="10" sz="half" type="dt"/>
          </p:nvPr>
        </p:nvSpPr>
        <p:spPr/>
        <p:txBody>
          <a:bodyPr/>
          <a:lstStyle/>
          <a:p>
            <a:pPr lvl="0" indent="0" marL="0">
              <a:buNone/>
            </a:pPr>
            <a:r>
              <a:rPr/>
              <a:t>2026-07-05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Leaves on the </a:t>
                </a:r>
                <a:r>
                  <a:rPr b="1"/>
                  <a:t>shady</a:t>
                </a:r>
                <a:r>
                  <a:rPr/>
                  <a:t> side of a tree may grow larger and heavier to capture more of the limited light beneath the canopy. We measured the weight (g) of ten leaves from each side of a tree and tested whether mean leaf weight differs between sides.</a:t>
                </a:r>
              </a:p>
              <a:p>
                <a:pPr lvl="0"/>
                <a:r>
                  <a:rPr b="1"/>
                  <a:t>Null hypothesis (H₀):</a:t>
                </a:r>
                <a:r>
                  <a:rPr/>
                  <a:t> </a:t>
                </a:r>
                <a14:m>
                  <m:oMath xmlns:m="http://schemas.openxmlformats.org/officeDocument/2006/math">
                    <m:sSub>
                      <m:e>
                        <m:r>
                          <m:t>μ</m:t>
                        </m:r>
                      </m:e>
                      <m:sub>
                        <m:r>
                          <m:t>s</m:t>
                        </m:r>
                        <m:r>
                          <m:t>h</m:t>
                        </m:r>
                        <m:r>
                          <m:t>a</m:t>
                        </m:r>
                        <m:r>
                          <m:t>d</m:t>
                        </m:r>
                        <m:r>
                          <m:t>y</m:t>
                        </m:r>
                      </m:sub>
                    </m:sSub>
                    <m:r>
                      <m:rPr>
                        <m:sty m:val="p"/>
                      </m:rPr>
                      <m:t>=</m:t>
                    </m:r>
                    <m:sSub>
                      <m:e>
                        <m:r>
                          <m:t>μ</m:t>
                        </m:r>
                      </m:e>
                      <m:sub>
                        <m:r>
                          <m:t>s</m:t>
                        </m:r>
                        <m:r>
                          <m:t>u</m:t>
                        </m:r>
                        <m:r>
                          <m:t>n</m:t>
                        </m:r>
                        <m:r>
                          <m:t>n</m:t>
                        </m:r>
                        <m:r>
                          <m:t>y</m:t>
                        </m:r>
                      </m:sub>
                    </m:sSub>
                  </m:oMath>
                </a14:m>
                <a:r>
                  <a:rPr/>
                  <a:t> — no difference in mean weight</a:t>
                </a:r>
              </a:p>
              <a:p>
                <a:pPr lvl="0"/>
                <a:r>
                  <a:rPr b="1"/>
                  <a:t>Alternate hypothesis (Hₐ):</a:t>
                </a:r>
                <a:r>
                  <a:rPr/>
                  <a:t> </a:t>
                </a:r>
                <a14:m>
                  <m:oMath xmlns:m="http://schemas.openxmlformats.org/officeDocument/2006/math">
                    <m:sSub>
                      <m:e>
                        <m:r>
                          <m:t>μ</m:t>
                        </m:r>
                      </m:e>
                      <m:sub>
                        <m:r>
                          <m:t>s</m:t>
                        </m:r>
                        <m:r>
                          <m:t>h</m:t>
                        </m:r>
                        <m:r>
                          <m:t>a</m:t>
                        </m:r>
                        <m:r>
                          <m:t>d</m:t>
                        </m:r>
                        <m:r>
                          <m:t>y</m:t>
                        </m:r>
                      </m:sub>
                    </m:sSub>
                    <m:r>
                      <m:rPr>
                        <m:sty m:val="p"/>
                      </m:rPr>
                      <m:t>≠</m:t>
                    </m:r>
                    <m:sSub>
                      <m:e>
                        <m:r>
                          <m:t>μ</m:t>
                        </m:r>
                      </m:e>
                      <m:sub>
                        <m:r>
                          <m:t>s</m:t>
                        </m:r>
                        <m:r>
                          <m:t>u</m:t>
                        </m:r>
                        <m:r>
                          <m:t>n</m:t>
                        </m:r>
                        <m:r>
                          <m:t>n</m:t>
                        </m:r>
                        <m:r>
                          <m:t>y</m:t>
                        </m:r>
                      </m:sub>
                    </m:sSub>
                  </m:oMath>
                </a14:m>
                <a:r>
                  <a:rPr/>
                  <a:t> — the means differ</a:t>
                </a:r>
              </a:p>
              <a:p>
                <a:pPr lvl="0" indent="0" marL="0">
                  <a:buNone/>
                </a:pPr>
                <a:r>
                  <a:rPr/>
                  <a:t>We used a two-tailed test at </a:t>
                </a:r>
                <a14:m>
                  <m:oMath xmlns:m="http://schemas.openxmlformats.org/officeDocument/2006/math">
                    <m:r>
                      <m:t>α</m:t>
                    </m:r>
                    <m:r>
                      <m:rPr>
                        <m:sty m:val="p"/>
                      </m:rPr>
                      <m:t>=</m:t>
                    </m:r>
                    <m:r>
                      <m:t>0.05</m:t>
                    </m:r>
                  </m:oMath>
                </a14:m>
                <a:r>
                  <a:rPr/>
                  <a:t>.</a:t>
                </a:r>
              </a:p>
            </p:txBody>
          </p:sp>
        </mc:Choice>
      </mc:AlternateContent>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Methods</a:t>
            </a:r>
          </a:p>
        </p:txBody>
      </p:sp>
      <p:sp>
        <p:nvSpPr>
          <p:cNvPr id="3" name="Content Placeholder 2"/>
          <p:cNvSpPr>
            <a:spLocks noGrp="1"/>
          </p:cNvSpPr>
          <p:nvPr>
            <p:ph idx="1"/>
          </p:nvPr>
        </p:nvSpPr>
        <p:spPr/>
        <p:txBody>
          <a:bodyPr/>
          <a:lstStyle/>
          <a:p>
            <a:pPr lvl="0" indent="0" marL="0">
              <a:buNone/>
            </a:pPr>
            <a:r>
              <a:rPr/>
              <a:t>We compared the two sides with a </a:t>
            </a:r>
            <a:r>
              <a:rPr b="1"/>
              <a:t>Welch’s two-sample t-test</a:t>
            </a:r>
            <a:r>
              <a:rPr/>
              <a:t> (</a:t>
            </a:r>
            <a:r>
              <a:rPr>
                <a:latin typeface="Courier"/>
              </a:rPr>
              <a:t>var.equal = FALSE</a:t>
            </a:r>
            <a:r>
              <a:rPr/>
              <a:t>), which does not assume equal variances. Before testing we checked normality within each group with a Shapiro–Wilk test. All analysis was done in R with the tidyverse, and this report was produced in Quarto so that every value below is computed directly from the raw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a:t>
            </a:r>
          </a:p>
        </p:txBody>
      </p:sp>
      <p:graphicFrame>
        <p:nvGraphicFramePr>
          <p:cNvPr id="6" name="Content Placeholder 5"/>
          <p:cNvGraphicFramePr>
            <a:graphicFrameLocks noGrp="1"/>
          </p:cNvGraphicFramePr>
          <p:nvPr>
            <p:ph idx="1"/>
          </p:nvPr>
        </p:nvGraphicFramePr>
        <p:xfrm>
          <a:off x="0" y="609600"/>
          <a:ext cx="9080500" cy="3403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lgn="l">
                        <a:buNone/>
                      </a:pPr>
                      <a:r>
                        <a:rPr/>
                        <a:t>side</a:t>
                      </a:r>
                    </a:p>
                  </a:txBody>
                  <a:tcPr/>
                </a:tc>
                <a:tc>
                  <a:txBody>
                    <a:bodyPr/>
                    <a:lstStyle/>
                    <a:p>
                      <a:pPr lvl="0" indent="0" marL="0" algn="r">
                        <a:buNone/>
                      </a:pPr>
                      <a:r>
                        <a:rPr/>
                        <a:t>n</a:t>
                      </a:r>
                    </a:p>
                  </a:txBody>
                  <a:tcPr/>
                </a:tc>
                <a:tc>
                  <a:txBody>
                    <a:bodyPr/>
                    <a:lstStyle/>
                    <a:p>
                      <a:pPr lvl="0" indent="0" marL="0" algn="r">
                        <a:buNone/>
                      </a:pPr>
                      <a:r>
                        <a:rPr/>
                        <a:t>mean_wt</a:t>
                      </a:r>
                    </a:p>
                  </a:txBody>
                  <a:tcPr/>
                </a:tc>
                <a:tc>
                  <a:txBody>
                    <a:bodyPr/>
                    <a:lstStyle/>
                    <a:p>
                      <a:pPr lvl="0" indent="0" marL="0" algn="r">
                        <a:buNone/>
                      </a:pPr>
                      <a:r>
                        <a:rPr/>
                        <a:t>sd_wt</a:t>
                      </a:r>
                    </a:p>
                  </a:txBody>
                  <a:tcPr/>
                </a:tc>
                <a:tc>
                  <a:txBody>
                    <a:bodyPr/>
                    <a:lstStyle/>
                    <a:p>
                      <a:pPr lvl="0" indent="0" marL="0" algn="r">
                        <a:buNone/>
                      </a:pPr>
                      <a:r>
                        <a:rPr/>
                        <a:t>se_wt</a:t>
                      </a:r>
                    </a:p>
                  </a:txBody>
                  <a:tcPr/>
                </a:tc>
              </a:tr>
              <a:tr h="0">
                <a:tc>
                  <a:txBody>
                    <a:bodyPr/>
                    <a:lstStyle/>
                    <a:p>
                      <a:pPr lvl="0" indent="0" marL="0" algn="l">
                        <a:buNone/>
                      </a:pPr>
                      <a:r>
                        <a:rPr/>
                        <a:t>shady</a:t>
                      </a:r>
                    </a:p>
                  </a:txBody>
                </a:tc>
                <a:tc>
                  <a:txBody>
                    <a:bodyPr/>
                    <a:lstStyle/>
                    <a:p>
                      <a:pPr lvl="0" indent="0" marL="0" algn="r">
                        <a:buNone/>
                      </a:pPr>
                      <a:r>
                        <a:rPr/>
                        <a:t>10</a:t>
                      </a:r>
                    </a:p>
                  </a:txBody>
                </a:tc>
                <a:tc>
                  <a:txBody>
                    <a:bodyPr/>
                    <a:lstStyle/>
                    <a:p>
                      <a:pPr lvl="0" indent="0" marL="0" algn="r">
                        <a:buNone/>
                      </a:pPr>
                      <a:r>
                        <a:rPr/>
                        <a:t>7.8</a:t>
                      </a:r>
                    </a:p>
                  </a:txBody>
                </a:tc>
                <a:tc>
                  <a:txBody>
                    <a:bodyPr/>
                    <a:lstStyle/>
                    <a:p>
                      <a:pPr lvl="0" indent="0" marL="0" algn="r">
                        <a:buNone/>
                      </a:pPr>
                      <a:r>
                        <a:rPr/>
                        <a:t>1.03</a:t>
                      </a:r>
                    </a:p>
                  </a:txBody>
                </a:tc>
                <a:tc>
                  <a:txBody>
                    <a:bodyPr/>
                    <a:lstStyle/>
                    <a:p>
                      <a:pPr lvl="0" indent="0" marL="0" algn="r">
                        <a:buNone/>
                      </a:pPr>
                      <a:r>
                        <a:rPr/>
                        <a:t>0.33</a:t>
                      </a:r>
                    </a:p>
                  </a:txBody>
                </a:tc>
              </a:tr>
              <a:tr h="0">
                <a:tc>
                  <a:txBody>
                    <a:bodyPr/>
                    <a:lstStyle/>
                    <a:p>
                      <a:pPr lvl="0" indent="0" marL="0" algn="l">
                        <a:buNone/>
                      </a:pPr>
                      <a:r>
                        <a:rPr/>
                        <a:t>sunny</a:t>
                      </a:r>
                    </a:p>
                  </a:txBody>
                </a:tc>
                <a:tc>
                  <a:txBody>
                    <a:bodyPr/>
                    <a:lstStyle/>
                    <a:p>
                      <a:pPr lvl="0" indent="0" marL="0" algn="r">
                        <a:buNone/>
                      </a:pPr>
                      <a:r>
                        <a:rPr/>
                        <a:t>10</a:t>
                      </a:r>
                    </a:p>
                  </a:txBody>
                </a:tc>
                <a:tc>
                  <a:txBody>
                    <a:bodyPr/>
                    <a:lstStyle/>
                    <a:p>
                      <a:pPr lvl="0" indent="0" marL="0" algn="r">
                        <a:buNone/>
                      </a:pPr>
                      <a:r>
                        <a:rPr/>
                        <a:t>3.8</a:t>
                      </a:r>
                    </a:p>
                  </a:txBody>
                </a:tc>
                <a:tc>
                  <a:txBody>
                    <a:bodyPr/>
                    <a:lstStyle/>
                    <a:p>
                      <a:pPr lvl="0" indent="0" marL="0" algn="r">
                        <a:buNone/>
                      </a:pPr>
                      <a:r>
                        <a:rPr/>
                        <a:t>0.79</a:t>
                      </a:r>
                    </a:p>
                  </a:txBody>
                </a:tc>
                <a:tc>
                  <a:txBody>
                    <a:bodyPr/>
                    <a:lstStyle/>
                    <a:p>
                      <a:pPr lvl="0" indent="0" marL="0" algn="r">
                        <a:buNone/>
                      </a:pPr>
                      <a:r>
                        <a:rPr/>
                        <a:t>0.25</a:t>
                      </a:r>
                    </a:p>
                  </a:txBody>
                </a:tc>
              </a:tr>
            </a:tbl>
          </a:graphicData>
        </a:graphic>
      </p:graphicFrame>
      <p:sp>
        <p:nvSpPr>
          <p:cNvPr id="1" name="TextBox 3"/>
          <p:cNvSpPr txBox="1"/>
          <p:nvPr>
            <p:ph idx="1"/>
          </p:nvPr>
        </p:nvSpPr>
        <p:spPr>
          <a:xfrm>
            <a:off x="0" y="4013200"/>
            <a:ext cx="9080500" cy="508000"/>
          </a:xfrm>
          <a:prstGeom prst="rect">
            <a:avLst/>
          </a:prstGeom>
          <a:noFill/>
        </p:spPr>
        <p:txBody>
          <a:bodyPr/>
          <a:lstStyle/>
          <a:p>
            <a:pPr lvl="0" indent="0" marL="0" algn="ctr">
              <a:buNone/>
            </a:pPr>
            <a:r>
              <a:rPr/>
              <a:t>Table 1. Leaf weight (g) by side of tree (mean, SD, SE).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Shady-side leaves were significantly </a:t>
            </a:r>
            <a:r>
              <a:rPr b="1"/>
              <a:t>heavier</a:t>
            </a:r>
            <a:r>
              <a:rPr/>
              <a:t> than sunny-side leaves (Welch’s two-sample t-test: t(16.8) = 9.73, </a:t>
            </a:r>
            <a:r>
              <a:rPr i="1"/>
              <a:t>p</a:t>
            </a:r>
            <a:r>
              <a:rPr/>
              <a:t> = 2.5^{-8}). Mean ± SE weight was 7.8 ± 0.33 g for shady leaves and 3.8 ± 0.25 g for sunny leaves.</a:t>
            </a:r>
          </a:p>
          <a:p>
            <a:pPr lvl="0" indent="0" marL="1270000">
              <a:buNone/>
            </a:pPr>
            <a:r>
              <a:rPr sz="2000" b="1"/>
              <a:t>Note</a:t>
            </a:r>
          </a:p>
          <a:p>
            <a:pPr lvl="0" indent="0" marL="1270000">
              <a:buNone/>
            </a:pPr>
            <a:r>
              <a:rPr sz="2000"/>
              <a:t>Every statistic in that sentence — t, df, </a:t>
            </a:r>
            <a:r>
              <a:rPr sz="2000" i="1"/>
              <a:t>p</a:t>
            </a:r>
            <a:r>
              <a:rPr sz="2000"/>
              <a:t>, and both means ± SE — was inserted with inline code such as </a:t>
            </a:r>
            <a:r>
              <a:rPr sz="2000">
                <a:latin typeface="Courier"/>
              </a:rPr>
              <a:t>9.73</a:t>
            </a:r>
            <a:r>
              <a:rPr sz="2000"/>
              <a:t>. If a leaf measurement changed, you would fix the data file, press </a:t>
            </a:r>
            <a:r>
              <a:rPr sz="2000" b="1"/>
              <a:t>Render</a:t>
            </a:r>
            <a:r>
              <a:rPr sz="2000"/>
              <a:t>, and the sentence would rewrite itself. In a plain script you would retype all of these by hand.</a:t>
            </a:r>
          </a:p>
        </p:txBody>
      </p:sp>
      <p:pic>
        <p:nvPicPr>
          <p:cNvPr descr="t_test_report_files/figure-pptx/boxplot-1.png" id="0" name="Picture 1"/>
          <p:cNvPicPr>
            <a:picLocks noGrp="1" noChangeAspect="1"/>
          </p:cNvPicPr>
          <p:nvPr/>
        </p:nvPicPr>
        <p:blipFill>
          <a:blip r:embed="rId2"/>
          <a:stretch>
            <a:fillRect/>
          </a:stretch>
        </p:blipFill>
        <p:spPr bwMode="auto">
          <a:xfrm>
            <a:off x="3340100" y="2819400"/>
            <a:ext cx="2336800" cy="1435100"/>
          </a:xfrm>
          <a:prstGeom prst="rect">
            <a:avLst/>
          </a:prstGeom>
          <a:noFill/>
          <a:ln w="9525">
            <a:noFill/>
            <a:headEnd/>
            <a:tailEnd/>
          </a:ln>
        </p:spPr>
      </p:pic>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Figure 1. Leaf weight by side of tree. Points show individual leaves; the test result is printed in the subtitle.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a:t>
                </a:r>
                <a14:m>
                  <m:oMath xmlns:m="http://schemas.openxmlformats.org/officeDocument/2006/math">
                    <m:r>
                      <m:t>α</m:t>
                    </m:r>
                    <m:r>
                      <m:rPr>
                        <m:sty m:val="p"/>
                      </m:rPr>
                      <m:t>=</m:t>
                    </m:r>
                    <m:r>
                      <m:t>0.05</m:t>
                    </m:r>
                  </m:oMath>
                </a14:m>
                <a:r>
                  <a:rPr/>
                  <a:t> we </a:t>
                </a:r>
                <a:r>
                  <a:rPr b="1"/>
                  <a:t>reject the null hypothesis</a:t>
                </a:r>
                <a:r>
                  <a:rPr/>
                  <a:t>: mean leaf weight differs between the sunny and shady sides of the tree, with shady leaves heavier. This matches the biological prediction that shade leaves grow larger to capture more of the limited light. </a:t>
                </a:r>
                <a:r>
                  <a:rPr i="1"/>
                  <a:t>(Add a sentence of your own interpretation here.)</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Whitlock, M. &amp; Schluter, D. </a:t>
            </a:r>
            <a:r>
              <a:rPr i="1"/>
              <a:t>The Analysis of Biological Data</a:t>
            </a:r>
            <a:r>
              <a:rPr/>
              <a:t> (2nd ed.).</a:t>
            </a:r>
          </a:p>
          <a:p>
            <a:pPr lvl="0"/>
            <a:r>
              <a:rPr/>
              <a:t>Wickham, H. </a:t>
            </a:r>
            <a:r>
              <a:rPr i="1"/>
              <a:t>R for Data Science (2nd ed.)</a:t>
            </a:r>
            <a:r>
              <a:rPr/>
              <a:t> — </a:t>
            </a:r>
            <a:r>
              <a:rPr>
                <a:hlinkClick r:id="rId2"/>
              </a:rPr>
              <a:t>https://r4ds.hadley.nz/</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Shady Leaves Weigh More? A Two-Sample t-Test</dc:title>
  <dc:creator>Your Name Here</dc:creator>
  <cp:keywords/>
  <dcterms:created xsi:type="dcterms:W3CDTF">2026-07-05T19:53:47Z</dcterms:created>
  <dcterms:modified xsi:type="dcterms:W3CDTF">2026-07-05T19:53:47Z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2026-07-05</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5</vt:lpwstr>
  </property>
  <property fmtid="{D5CDD505-2E9C-101B-9397-08002B2CF9AE}" pid="13" name="resources">
    <vt:lpwstr/>
  </property>
  <property fmtid="{D5CDD505-2E9C-101B-9397-08002B2CF9AE}" pid="14" name="subtitle">
    <vt:lpwstr>A reproducible write-up of the Worksheet 04 analysis</vt:lpwstr>
  </property>
  <property fmtid="{D5CDD505-2E9C-101B-9397-08002B2CF9AE}" pid="15" name="toc-title">
    <vt:lpwstr>Table of contents</vt:lpwstr>
  </property>
  <property fmtid="{D5CDD505-2E9C-101B-9397-08002B2CF9AE}" pid="16" name="week">
    <vt:lpwstr>3</vt:lpwstr>
  </property>
</Properties>
</file>