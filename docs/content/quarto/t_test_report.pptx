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Do Shady Leaves Weigh More? A Two-Sample t-Test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write-up of the Worksheets 09–10 analysis</a:t>
            </a:r>
            <a:br/>
            <a:br/>
            <a:r>
              <a:rPr/>
              <a:t>Your Name Here</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Leaves on the </a:t>
                </a:r>
                <a:r>
                  <a:rPr b="1"/>
                  <a:t>shady</a:t>
                </a:r>
                <a:r>
                  <a:rPr/>
                  <a:t> side of a tree may grow larger and heavier to capture more of the limited light beneath the canopy. We measured the weight (g) of ten leaves from each side of a tree and tested whether mean leaf weight differs between sides.</a:t>
                </a:r>
              </a:p>
              <a:p>
                <a:pPr lvl="0"/>
                <a:r>
                  <a:rPr b="1"/>
                  <a:t>Null hypothesis (H₀):</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no difference in mean weight</a:t>
                </a:r>
              </a:p>
              <a:p>
                <a:pPr lvl="0"/>
                <a:r>
                  <a:rPr b="1"/>
                  <a:t>Alternate hypothesis (Hₐ):</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the means differ</a:t>
                </a:r>
              </a:p>
              <a:p>
                <a:pPr lvl="0" indent="0" marL="0">
                  <a:buNone/>
                </a:pPr>
                <a:r>
                  <a:rPr/>
                  <a:t>We used a two-tailed test at </a:t>
                </a:r>
                <a14:m>
                  <m:oMath xmlns:m="http://schemas.openxmlformats.org/officeDocument/2006/math">
                    <m:r>
                      <m:t>α</m:t>
                    </m:r>
                    <m:r>
                      <m:rPr>
                        <m:sty m:val="p"/>
                      </m:rPr>
                      <m:t>=</m:t>
                    </m:r>
                    <m:r>
                      <m:t>0.05</m:t>
                    </m:r>
                  </m:oMath>
                </a14:m>
                <a:r>
                  <a:rPr/>
                  <a:t>.</a:t>
                </a:r>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compared the two sides with a </a:t>
            </a:r>
            <a:r>
              <a:rPr b="1"/>
              <a:t>Welch’s two-sample t-test</a:t>
            </a:r>
            <a:r>
              <a:rPr/>
              <a:t> (</a:t>
            </a:r>
            <a:r>
              <a:rPr>
                <a:latin typeface="Courier"/>
              </a:rPr>
              <a:t>var.equal = FALSE</a:t>
            </a:r>
            <a:r>
              <a:rPr/>
              <a:t>), which does not assume equal variances. Before testing we checked normality within each group with a Shapiro–Wilk test. All analysis was done in R with the tidyverse, and this report was produced in Quarto so that every value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1. Leaf weight (g) by side of tree (mean, SD, 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r">
                        <a:buNone/>
                      </a:pPr>
                      <a:r>
                        <a:rPr/>
                        <a:t>Mean (shady)</a:t>
                      </a:r>
                    </a:p>
                  </a:txBody>
                  <a:tcPr/>
                </a:tc>
                <a:tc>
                  <a:txBody>
                    <a:bodyPr/>
                    <a:lstStyle/>
                    <a:p>
                      <a:pPr lvl="0" indent="0" marL="0" algn="r">
                        <a:buNone/>
                      </a:pPr>
                      <a:r>
                        <a:rPr/>
                        <a:t>Mean (sunny)</a:t>
                      </a:r>
                    </a:p>
                  </a:txBody>
                  <a:tcPr/>
                </a:tc>
                <a:tc>
                  <a:txBody>
                    <a:bodyPr/>
                    <a:lstStyle/>
                    <a:p>
                      <a:pPr lvl="0" indent="0" marL="0" algn="r">
                        <a:buNone/>
                      </a:pPr>
                      <a:r>
                        <a:rPr/>
                        <a:t>t</a:t>
                      </a:r>
                    </a:p>
                  </a:txBody>
                  <a:tcPr/>
                </a:tc>
                <a:tc>
                  <a:txBody>
                    <a:bodyPr/>
                    <a:lstStyle/>
                    <a:p>
                      <a:pPr lvl="0" indent="0" marL="0" algn="r">
                        <a:buNone/>
                      </a:pPr>
                      <a:r>
                        <a:rPr/>
                        <a:t>df</a:t>
                      </a:r>
                    </a:p>
                  </a:txBody>
                  <a:tcPr/>
                </a:tc>
                <a:tc>
                  <a:txBody>
                    <a:bodyPr/>
                    <a:lstStyle/>
                    <a:p>
                      <a:pPr lvl="0" indent="0" marL="0" algn="r">
                        <a:buNone/>
                      </a:pPr>
                      <a:r>
                        <a:rPr/>
                        <a:t>p-value</a:t>
                      </a:r>
                    </a:p>
                  </a:txBody>
                  <a:tcPr/>
                </a:tc>
              </a:tr>
              <a:tr h="0">
                <a:tc>
                  <a:txBody>
                    <a:bodyPr/>
                    <a:lstStyle/>
                    <a:p>
                      <a:pPr lvl="0" indent="0" marL="0" algn="r">
                        <a:buNone/>
                      </a:pPr>
                      <a:r>
                        <a:rPr/>
                        <a:t>7.8</a:t>
                      </a:r>
                    </a:p>
                  </a:txBody>
                </a:tc>
                <a:tc>
                  <a:txBody>
                    <a:bodyPr/>
                    <a:lstStyle/>
                    <a:p>
                      <a:pPr lvl="0" indent="0" marL="0" algn="r">
                        <a:buNone/>
                      </a:pPr>
                      <a:r>
                        <a:rPr/>
                        <a:t>3.8</a:t>
                      </a:r>
                    </a:p>
                  </a:txBody>
                </a:tc>
                <a:tc>
                  <a:txBody>
                    <a:bodyPr/>
                    <a:lstStyle/>
                    <a:p>
                      <a:pPr lvl="0" indent="0" marL="0" algn="r">
                        <a:buNone/>
                      </a:pPr>
                      <a:r>
                        <a:rPr/>
                        <a:t>9.73</a:t>
                      </a:r>
                    </a:p>
                  </a:txBody>
                </a:tc>
                <a:tc>
                  <a:txBody>
                    <a:bodyPr/>
                    <a:lstStyle/>
                    <a:p>
                      <a:pPr lvl="0" indent="0" marL="0" algn="r">
                        <a:buNone/>
                      </a:pPr>
                      <a:r>
                        <a:rPr/>
                        <a:t>16.8</a:t>
                      </a:r>
                    </a:p>
                  </a:txBody>
                </a:tc>
                <a:tc>
                  <a:txBody>
                    <a:bodyPr/>
                    <a:lstStyle/>
                    <a:p>
                      <a:pPr lvl="0" indent="0" marL="0" algn="r">
                        <a:buNone/>
                      </a:pPr>
                      <a:r>
                        <a:rPr/>
                        <a:t>2.514428e-08</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2. Welch’s two-sample t-test of leaf weight by side.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Shady-side leaves were significantly </a:t>
            </a:r>
            <a:r>
              <a:rPr b="1"/>
              <a:t>heavier</a:t>
            </a:r>
            <a:r>
              <a:rPr/>
              <a:t> than sunny-side leaves: the group means, SE, and </a:t>
            </a:r>
            <a:r>
              <a:rPr i="1"/>
              <a:t>n</a:t>
            </a:r>
            <a:r>
              <a:rPr/>
              <a:t> are in Table 1, and the </a:t>
            </a:r>
            <a:r>
              <a:rPr i="1"/>
              <a:t>t</a:t>
            </a:r>
            <a:r>
              <a:rPr/>
              <a:t>, df, and </a:t>
            </a:r>
            <a:r>
              <a:rPr i="1"/>
              <a:t>p</a:t>
            </a:r>
            <a:r>
              <a:rPr/>
              <a:t>-value of the Welch’s test are in Table 2. The </a:t>
            </a:r>
            <a:r>
              <a:rPr i="1"/>
              <a:t>p</a:t>
            </a:r>
            <a:r>
              <a:rPr/>
              <a:t>-value is below the 0.05 threshold, so the difference is significant.</a:t>
            </a:r>
          </a:p>
          <a:p>
            <a:pPr lvl="0" indent="0" marL="1270000">
              <a:buNone/>
            </a:pPr>
            <a:r>
              <a:rPr sz="2000" b="1"/>
              <a:t>Note</a:t>
            </a:r>
          </a:p>
          <a:p>
            <a:pPr lvl="0" indent="0" marL="1270000">
              <a:buNone/>
            </a:pPr>
            <a:r>
              <a:rPr sz="2000"/>
              <a:t>Every number in Tables 1 and 2 is computed from the raw data when the document renders — nothing was typed or pasted. If a leaf measurement changed, you would fix the data file, press </a:t>
            </a:r>
            <a:r>
              <a:rPr sz="2000" b="1"/>
              <a:t>Render</a:t>
            </a:r>
            <a:r>
              <a:rPr sz="2000"/>
              <a:t>, and both tables would update themselves. In a plain script you would retype all of these by hand.</a:t>
            </a:r>
          </a:p>
        </p:txBody>
      </p:sp>
      <p:pic>
        <p:nvPicPr>
          <p:cNvPr descr="t_test_report_files/figure-pptx/box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Points show individual leaves; the test result is printed in the subtitle.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t>
                </a:r>
                <a14:m>
                  <m:oMath xmlns:m="http://schemas.openxmlformats.org/officeDocument/2006/math">
                    <m:r>
                      <m:t>α</m:t>
                    </m:r>
                    <m:r>
                      <m:rPr>
                        <m:sty m:val="p"/>
                      </m:rPr>
                      <m:t>=</m:t>
                    </m:r>
                    <m:r>
                      <m:t>0.05</m:t>
                    </m:r>
                  </m:oMath>
                </a14:m>
                <a:r>
                  <a:rPr/>
                  <a:t> we </a:t>
                </a:r>
                <a:r>
                  <a:rPr b="1"/>
                  <a:t>reject the null hypothesis</a:t>
                </a:r>
                <a:r>
                  <a:rPr/>
                  <a:t>: mean leaf weight differs between the sunny and shady sides of the tree, with shady leaves heavier. This matches the biological prediction that shade leaves grow larger to capture more of the limited light. </a:t>
                </a:r>
                <a:r>
                  <a:rPr i="1"/>
                  <a:t>(Add a sentence of your own interpretation here.)</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Whitlock, M. &amp; Schluter, D. </a:t>
            </a:r>
            <a:r>
              <a:rPr i="1"/>
              <a:t>The Analysis of Biological Data</a:t>
            </a:r>
            <a:r>
              <a:rPr/>
              <a:t> (2nd ed.).</a:t>
            </a:r>
          </a:p>
          <a:p>
            <a:pPr lvl="0"/>
            <a:r>
              <a:rPr/>
              <a:t>Wickham, H. </a:t>
            </a:r>
            <a:r>
              <a:rPr i="1"/>
              <a:t>R for Data Science (2nd ed.)</a:t>
            </a:r>
            <a:r>
              <a:rPr/>
              <a:t> — </a:t>
            </a:r>
            <a:r>
              <a:rPr>
                <a:hlinkClick r:id="rId2"/>
              </a:rPr>
              <a:t>https://r4ds.hadley.nz/</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Shady Leaves Weigh More? A Two-Sample t-Test</dc:title>
  <dc:creator>Your Name Here</dc:creator>
  <cp:keywords/>
  <dcterms:created xsi:type="dcterms:W3CDTF">2026-08-27T17:12:42Z</dcterms:created>
  <dcterms:modified xsi:type="dcterms:W3CDTF">2026-08-27T17:12:42Z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2026-08-27</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A reproducible write-up of the Worksheets 09–10 analysis</vt:lpwstr>
  </property>
  <property fmtid="{D5CDD505-2E9C-101B-9397-08002B2CF9AE}" pid="14" name="toc-title">
    <vt:lpwstr>Table of contents</vt:lpwstr>
  </property>
  <property fmtid="{D5CDD505-2E9C-101B-9397-08002B2CF9AE}" pid="15" name="week">
    <vt:lpwstr>3</vt:lpwstr>
  </property>
</Properties>
</file>