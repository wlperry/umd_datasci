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 Id="rId3" Type="http://schemas.openxmlformats.org/officeDocument/2006/relationships/hyperlink" Target="https://datacarpentry.github.io/R-ecology-less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Leaf Morphology: Sunny vs. Shady Sides of a Tree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report built in Quarto</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Leaves on the shady side of a tree may grow </a:t>
            </a:r>
            <a:r>
              <a:rPr b="1"/>
              <a:t>larger</a:t>
            </a:r>
            <a:r>
              <a:rPr/>
              <a:t> to capture more of the limited light. In this study we measured leaf weight on the </a:t>
            </a:r>
            <a:r>
              <a:rPr i="1"/>
              <a:t>sunny</a:t>
            </a:r>
            <a:r>
              <a:rPr/>
              <a:t> and </a:t>
            </a:r>
            <a:r>
              <a:rPr i="1"/>
              <a:t>shady</a:t>
            </a:r>
            <a:r>
              <a:rPr/>
              <a:t> sides of a tree and tested whether the two sides differ.</a:t>
            </a:r>
          </a:p>
          <a:p>
            <a:pPr lvl="0"/>
            <a:r>
              <a:rPr b="1"/>
              <a:t>Null hypothesis (H₀):</a:t>
            </a:r>
            <a:r>
              <a:rPr/>
              <a:t> there is no difference in mean leaf weight between sides.</a:t>
            </a:r>
          </a:p>
          <a:p>
            <a:pPr lvl="0"/>
            <a:r>
              <a:rPr b="1"/>
              <a:t>Alternate hypothesis (Hₐ):</a:t>
            </a:r>
            <a:r>
              <a:rPr/>
              <a:t> mean leaf weight differs between sides.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recorded the weight (g) of leaves sampled from each side of the tree. All analysis was done in R with the tidyverse, and this report was produced in Quarto so that every number and figure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Results</a:t>
            </a:r>
          </a:p>
        </p:txBody>
      </p:sp>
      <p:sp>
        <p:nvSpPr>
          <p:cNvPr id="4" name="Text Placeholder 3"/>
          <p:cNvSpPr>
            <a:spLocks noGrp="1"/>
          </p:cNvSpPr>
          <p:nvPr>
            <p:ph idx="2" sz="half" type="body"/>
          </p:nvPr>
        </p:nvSpPr>
        <p:spPr/>
        <p:txBody>
          <a:bodyPr/>
          <a:lstStyle/>
          <a:p>
            <a:pPr lvl="0" indent="0" marL="0">
              <a:buNone/>
            </a:pPr>
            <a:r>
              <a:rPr/>
              <a:t>Table 1 shows the summary statistics for each side of the tree.</a:t>
            </a:r>
          </a:p>
        </p:txBody>
      </p:sp>
      <p:graphicFrame>
        <p:nvGraphicFramePr>
          <p:cNvPr id="6" name="Content Placeholder 5"/>
          <p:cNvGraphicFramePr>
            <a:graphicFrameLocks noGrp="1"/>
          </p:cNvGraphicFramePr>
          <p:nvPr>
            <p:ph idx="1"/>
          </p:nvPr>
        </p:nvGraphicFramePr>
        <p:xfrm>
          <a:off x="127000" y="2819400"/>
          <a:ext cx="8750300" cy="1435100"/>
        </p:xfrm>
        <a:graphic>
          <a:graphicData uri="http://schemas.openxmlformats.org/drawingml/2006/table">
            <a:tbl>
              <a:tblPr firstRow="1" bandRow="1">
                <a:tableStyleId>{5C22544A-7EE6-4342-B048-85BDC9FD1C3A}</a:tableStyleId>
              </a:tblPr>
              <a:tblGrid>
                <a:gridCol w="1739900"/>
                <a:gridCol w="1739900"/>
                <a:gridCol w="1739900"/>
                <a:gridCol w="1739900"/>
                <a:gridCol w="17399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Table 1. Leaf weight (g) by side of tree.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On average, shady-side leaves weighed </a:t>
            </a:r>
            <a:r>
              <a:rPr b="1"/>
              <a:t>7.8 g</a:t>
            </a:r>
            <a:r>
              <a:rPr/>
              <a:t> and sunny-side leaves weighed </a:t>
            </a:r>
            <a:r>
              <a:rPr b="1"/>
              <a:t>3.8 g</a:t>
            </a:r>
            <a:r>
              <a:rPr/>
              <a:t>. </a:t>
            </a:r>
            <a:r>
              <a:rPr i="1"/>
              <a:t>(Notice: those numbers are inserted with inline code — change the data and the sentence updates itself.)</a:t>
            </a:r>
          </a:p>
        </p:txBody>
      </p:sp>
      <p:pic>
        <p:nvPicPr>
          <p:cNvPr descr="leaf_report_template_files/figure-pptx/leaf-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with individual leaves shown.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Discussion</a:t>
            </a:r>
          </a:p>
        </p:txBody>
      </p:sp>
      <p:sp>
        <p:nvSpPr>
          <p:cNvPr id="3" name="Content Placeholder 2"/>
          <p:cNvSpPr>
            <a:spLocks noGrp="1"/>
          </p:cNvSpPr>
          <p:nvPr>
            <p:ph idx="1"/>
          </p:nvPr>
        </p:nvSpPr>
        <p:spPr/>
        <p:txBody>
          <a:bodyPr/>
          <a:lstStyle/>
          <a:p>
            <a:pPr lvl="0" indent="0" marL="0">
              <a:buNone/>
            </a:pPr>
            <a:r>
              <a:rPr/>
              <a:t>Write one short paragraph here: did the data support the hypothesis? Were shady leaves heavier? Mention the size of the difference and anything you noticed in Figure 1. In Lecture 05 you will add the formal t-test result to this section.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Wickham, H. </a:t>
            </a:r>
            <a:r>
              <a:rPr i="1"/>
              <a:t>R for Data Science (2nd ed.)</a:t>
            </a:r>
            <a:r>
              <a:rPr/>
              <a:t> — </a:t>
            </a:r>
            <a:r>
              <a:rPr>
                <a:hlinkClick r:id="rId2"/>
              </a:rPr>
              <a:t>https://r4ds.hadley.nz/</a:t>
            </a:r>
          </a:p>
          <a:p>
            <a:pPr lvl="0"/>
            <a:r>
              <a:rPr/>
              <a:t>Data Carpentry — </a:t>
            </a:r>
            <a:r>
              <a:rPr>
                <a:hlinkClick r:id="rId3"/>
              </a:rPr>
              <a:t>https://datacarpentry.github.io/R-ecology-lesson/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Leaf Morphology: Sunny vs. Shady Sides of a Tree</dc:title>
  <dc:creator>Your Name Here</dc:creator>
  <cp:keywords/>
  <dcterms:created xsi:type="dcterms:W3CDTF">2026-07-05T19:43:40Z</dcterms:created>
  <dcterms:modified xsi:type="dcterms:W3CDTF">2026-07-05T19:43:40Z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report built in Quarto</vt:lpwstr>
  </property>
  <property fmtid="{D5CDD505-2E9C-101B-9397-08002B2CF9AE}" pid="15" name="toc-title">
    <vt:lpwstr>Table of contents</vt:lpwstr>
  </property>
  <property fmtid="{D5CDD505-2E9C-101B-9397-08002B2CF9AE}" pid="16" name="week">
    <vt:lpwstr>3</vt:lpwstr>
  </property>
</Properties>
</file>