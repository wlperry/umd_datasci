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 TargetMode="External" /><Relationship Id="rId3" Type="http://schemas.openxmlformats.org/officeDocument/2006/relationships/hyperlink" Target="https://datacarpentry.github.io/R-ecology-lesson/"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Leaf Morphology: Sunny vs. Shady Sides of a Tree</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 reproducible report built in Quarto</a:t>
            </a:r>
            <a:br/>
            <a:br/>
            <a:r>
              <a:rPr/>
              <a:t>Your Name Here</a:t>
            </a:r>
          </a:p>
        </p:txBody>
      </p:sp>
      <p:sp>
        <p:nvSpPr>
          <p:cNvPr id="4" name="Date Placeholder 3"/>
          <p:cNvSpPr>
            <a:spLocks noGrp="1"/>
          </p:cNvSpPr>
          <p:nvPr>
            <p:ph idx="10" sz="half" type="dt"/>
          </p:nvPr>
        </p:nvSpPr>
        <p:spPr/>
        <p:txBody>
          <a:bodyPr/>
          <a:lstStyle/>
          <a:p>
            <a:pPr lvl="0" indent="0" marL="0">
              <a:buNone/>
            </a:pPr>
            <a:r>
              <a:rPr/>
              <a:t>2026-08-27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Introduction</a:t>
            </a:r>
          </a:p>
        </p:txBody>
      </p:sp>
      <p:sp>
        <p:nvSpPr>
          <p:cNvPr id="3" name="Content Placeholder 2"/>
          <p:cNvSpPr>
            <a:spLocks noGrp="1"/>
          </p:cNvSpPr>
          <p:nvPr>
            <p:ph idx="1"/>
          </p:nvPr>
        </p:nvSpPr>
        <p:spPr/>
        <p:txBody>
          <a:bodyPr/>
          <a:lstStyle/>
          <a:p>
            <a:pPr lvl="0" indent="0" marL="0">
              <a:buNone/>
            </a:pPr>
            <a:r>
              <a:rPr/>
              <a:t>Leaves on the shady side of a tree may grow </a:t>
            </a:r>
            <a:r>
              <a:rPr b="1"/>
              <a:t>larger</a:t>
            </a:r>
            <a:r>
              <a:rPr/>
              <a:t> to capture more of the limited light. In this study we measured leaf weight on the </a:t>
            </a:r>
            <a:r>
              <a:rPr i="1"/>
              <a:t>sunny</a:t>
            </a:r>
            <a:r>
              <a:rPr/>
              <a:t> and </a:t>
            </a:r>
            <a:r>
              <a:rPr i="1"/>
              <a:t>shady</a:t>
            </a:r>
            <a:r>
              <a:rPr/>
              <a:t> sides of a tree and tested whether the two sides differ.</a:t>
            </a:r>
          </a:p>
          <a:p>
            <a:pPr lvl="0"/>
            <a:r>
              <a:rPr b="1"/>
              <a:t>Null hypothesis (H₀):</a:t>
            </a:r>
            <a:r>
              <a:rPr/>
              <a:t> there is no difference in mean leaf weight between sides.</a:t>
            </a:r>
          </a:p>
          <a:p>
            <a:pPr lvl="0"/>
            <a:r>
              <a:rPr b="1"/>
              <a:t>Alternate hypothesis (Hₐ):</a:t>
            </a:r>
            <a:r>
              <a:rPr/>
              <a:t> mean leaf weight differs between sides.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Methods</a:t>
            </a:r>
          </a:p>
        </p:txBody>
      </p:sp>
      <p:sp>
        <p:nvSpPr>
          <p:cNvPr id="3" name="Content Placeholder 2"/>
          <p:cNvSpPr>
            <a:spLocks noGrp="1"/>
          </p:cNvSpPr>
          <p:nvPr>
            <p:ph idx="1"/>
          </p:nvPr>
        </p:nvSpPr>
        <p:spPr/>
        <p:txBody>
          <a:bodyPr/>
          <a:lstStyle/>
          <a:p>
            <a:pPr lvl="0" indent="0" marL="0">
              <a:buNone/>
            </a:pPr>
            <a:r>
              <a:rPr/>
              <a:t>We recorded the weight (g) of leaves sampled from each side of the tree. All analysis was done in R with the tidyverse, and this report was produced in Quarto so that every number and figure below is computed directly from the raw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Results</a:t>
            </a:r>
          </a:p>
        </p:txBody>
      </p:sp>
      <p:sp>
        <p:nvSpPr>
          <p:cNvPr id="4" name="Text Placeholder 3"/>
          <p:cNvSpPr>
            <a:spLocks noGrp="1"/>
          </p:cNvSpPr>
          <p:nvPr>
            <p:ph idx="2" sz="half" type="body"/>
          </p:nvPr>
        </p:nvSpPr>
        <p:spPr/>
        <p:txBody>
          <a:bodyPr/>
          <a:lstStyle/>
          <a:p>
            <a:pPr lvl="0" indent="0" marL="0">
              <a:buNone/>
            </a:pPr>
            <a:r>
              <a:rPr/>
              <a:t>Table 1 shows the summary statistics for each side of the tree.</a:t>
            </a:r>
          </a:p>
        </p:txBody>
      </p:sp>
      <p:graphicFrame>
        <p:nvGraphicFramePr>
          <p:cNvPr id="6" name="Content Placeholder 5"/>
          <p:cNvGraphicFramePr>
            <a:graphicFrameLocks noGrp="1"/>
          </p:cNvGraphicFramePr>
          <p:nvPr>
            <p:ph idx="1"/>
          </p:nvPr>
        </p:nvGraphicFramePr>
        <p:xfrm>
          <a:off x="127000" y="2819400"/>
          <a:ext cx="8750300" cy="1435100"/>
        </p:xfrm>
        <a:graphic>
          <a:graphicData uri="http://schemas.openxmlformats.org/drawingml/2006/table">
            <a:tbl>
              <a:tblPr firstRow="1" bandRow="1">
                <a:tableStyleId>{5C22544A-7EE6-4342-B048-85BDC9FD1C3A}</a:tableStyleId>
              </a:tblPr>
              <a:tblGrid>
                <a:gridCol w="1739900"/>
                <a:gridCol w="1739900"/>
                <a:gridCol w="1739900"/>
                <a:gridCol w="1739900"/>
                <a:gridCol w="1739900"/>
              </a:tblGrid>
              <a:tr h="0">
                <a:tc>
                  <a:txBody>
                    <a:bodyPr/>
                    <a:lstStyle/>
                    <a:p>
                      <a:pPr lvl="0" indent="0" marL="0" algn="l">
                        <a:buNone/>
                      </a:pPr>
                      <a:r>
                        <a:rPr/>
                        <a:t>side</a:t>
                      </a:r>
                    </a:p>
                  </a:txBody>
                  <a:tcPr/>
                </a:tc>
                <a:tc>
                  <a:txBody>
                    <a:bodyPr/>
                    <a:lstStyle/>
                    <a:p>
                      <a:pPr lvl="0" indent="0" marL="0" algn="r">
                        <a:buNone/>
                      </a:pPr>
                      <a:r>
                        <a:rPr/>
                        <a:t>n</a:t>
                      </a:r>
                    </a:p>
                  </a:txBody>
                  <a:tcPr/>
                </a:tc>
                <a:tc>
                  <a:txBody>
                    <a:bodyPr/>
                    <a:lstStyle/>
                    <a:p>
                      <a:pPr lvl="0" indent="0" marL="0" algn="r">
                        <a:buNone/>
                      </a:pPr>
                      <a:r>
                        <a:rPr/>
                        <a:t>mean_wt</a:t>
                      </a:r>
                    </a:p>
                  </a:txBody>
                  <a:tcPr/>
                </a:tc>
                <a:tc>
                  <a:txBody>
                    <a:bodyPr/>
                    <a:lstStyle/>
                    <a:p>
                      <a:pPr lvl="0" indent="0" marL="0" algn="r">
                        <a:buNone/>
                      </a:pPr>
                      <a:r>
                        <a:rPr/>
                        <a:t>sd_wt</a:t>
                      </a:r>
                    </a:p>
                  </a:txBody>
                  <a:tcPr/>
                </a:tc>
                <a:tc>
                  <a:txBody>
                    <a:bodyPr/>
                    <a:lstStyle/>
                    <a:p>
                      <a:pPr lvl="0" indent="0" marL="0" algn="r">
                        <a:buNone/>
                      </a:pPr>
                      <a:r>
                        <a:rPr/>
                        <a:t>se_wt</a:t>
                      </a:r>
                    </a:p>
                  </a:txBody>
                  <a:tcPr/>
                </a:tc>
              </a:tr>
              <a:tr h="0">
                <a:tc>
                  <a:txBody>
                    <a:bodyPr/>
                    <a:lstStyle/>
                    <a:p>
                      <a:pPr lvl="0" indent="0" marL="0" algn="l">
                        <a:buNone/>
                      </a:pPr>
                      <a:r>
                        <a:rPr/>
                        <a:t>shady</a:t>
                      </a:r>
                    </a:p>
                  </a:txBody>
                </a:tc>
                <a:tc>
                  <a:txBody>
                    <a:bodyPr/>
                    <a:lstStyle/>
                    <a:p>
                      <a:pPr lvl="0" indent="0" marL="0" algn="r">
                        <a:buNone/>
                      </a:pPr>
                      <a:r>
                        <a:rPr/>
                        <a:t>10</a:t>
                      </a:r>
                    </a:p>
                  </a:txBody>
                </a:tc>
                <a:tc>
                  <a:txBody>
                    <a:bodyPr/>
                    <a:lstStyle/>
                    <a:p>
                      <a:pPr lvl="0" indent="0" marL="0" algn="r">
                        <a:buNone/>
                      </a:pPr>
                      <a:r>
                        <a:rPr/>
                        <a:t>7.8</a:t>
                      </a:r>
                    </a:p>
                  </a:txBody>
                </a:tc>
                <a:tc>
                  <a:txBody>
                    <a:bodyPr/>
                    <a:lstStyle/>
                    <a:p>
                      <a:pPr lvl="0" indent="0" marL="0" algn="r">
                        <a:buNone/>
                      </a:pPr>
                      <a:r>
                        <a:rPr/>
                        <a:t>1.03</a:t>
                      </a:r>
                    </a:p>
                  </a:txBody>
                </a:tc>
                <a:tc>
                  <a:txBody>
                    <a:bodyPr/>
                    <a:lstStyle/>
                    <a:p>
                      <a:pPr lvl="0" indent="0" marL="0" algn="r">
                        <a:buNone/>
                      </a:pPr>
                      <a:r>
                        <a:rPr/>
                        <a:t>0.33</a:t>
                      </a:r>
                    </a:p>
                  </a:txBody>
                </a:tc>
              </a:tr>
              <a:tr h="0">
                <a:tc>
                  <a:txBody>
                    <a:bodyPr/>
                    <a:lstStyle/>
                    <a:p>
                      <a:pPr lvl="0" indent="0" marL="0" algn="l">
                        <a:buNone/>
                      </a:pPr>
                      <a:r>
                        <a:rPr/>
                        <a:t>sunny</a:t>
                      </a:r>
                    </a:p>
                  </a:txBody>
                </a:tc>
                <a:tc>
                  <a:txBody>
                    <a:bodyPr/>
                    <a:lstStyle/>
                    <a:p>
                      <a:pPr lvl="0" indent="0" marL="0" algn="r">
                        <a:buNone/>
                      </a:pPr>
                      <a:r>
                        <a:rPr/>
                        <a:t>10</a:t>
                      </a:r>
                    </a:p>
                  </a:txBody>
                </a:tc>
                <a:tc>
                  <a:txBody>
                    <a:bodyPr/>
                    <a:lstStyle/>
                    <a:p>
                      <a:pPr lvl="0" indent="0" marL="0" algn="r">
                        <a:buNone/>
                      </a:pPr>
                      <a:r>
                        <a:rPr/>
                        <a:t>3.8</a:t>
                      </a:r>
                    </a:p>
                  </a:txBody>
                </a:tc>
                <a:tc>
                  <a:txBody>
                    <a:bodyPr/>
                    <a:lstStyle/>
                    <a:p>
                      <a:pPr lvl="0" indent="0" marL="0" algn="r">
                        <a:buNone/>
                      </a:pPr>
                      <a:r>
                        <a:rPr/>
                        <a:t>0.79</a:t>
                      </a:r>
                    </a:p>
                  </a:txBody>
                </a:tc>
                <a:tc>
                  <a:txBody>
                    <a:bodyPr/>
                    <a:lstStyle/>
                    <a:p>
                      <a:pPr lvl="0" indent="0" marL="0" algn="r">
                        <a:buNone/>
                      </a:pPr>
                      <a:r>
                        <a:rPr/>
                        <a:t>0.25</a:t>
                      </a:r>
                    </a:p>
                  </a:txBody>
                </a:tc>
              </a:tr>
            </a:tbl>
          </a:graphicData>
        </a:graphic>
      </p:graphicFrame>
      <p:sp>
        <p:nvSpPr>
          <p:cNvPr id="1" name="TextBox 3"/>
          <p:cNvSpPr txBox="1"/>
          <p:nvPr>
            <p:ph idx="1"/>
          </p:nvPr>
        </p:nvSpPr>
        <p:spPr>
          <a:xfrm>
            <a:off x="127000" y="4254500"/>
            <a:ext cx="8750300" cy="508000"/>
          </a:xfrm>
          <a:prstGeom prst="rect">
            <a:avLst/>
          </a:prstGeom>
          <a:noFill/>
        </p:spPr>
        <p:txBody>
          <a:bodyPr/>
          <a:lstStyle/>
          <a:p>
            <a:pPr lvl="0" indent="0" marL="0" algn="ctr">
              <a:buNone/>
            </a:pPr>
            <a:r>
              <a:rPr/>
              <a:t>Table 1. Leaf weight (g) by side of tree.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Read the mean weight for each side straight from the </a:t>
            </a:r>
            <a:r>
              <a:rPr>
                <a:latin typeface="Courier"/>
              </a:rPr>
              <a:t>mean_wt</a:t>
            </a:r>
            <a:r>
              <a:rPr/>
              <a:t> column of Table 1. Because the table is built from the data every time the document renders, the numbers update themselves whenever the data file changes — nothing is typed by hand.</a:t>
            </a:r>
          </a:p>
        </p:txBody>
      </p:sp>
      <p:pic>
        <p:nvPicPr>
          <p:cNvPr descr="leaf_report_template_files/figure-pptx/leaf-plot-1.png" id="0" name="Picture 1"/>
          <p:cNvPicPr>
            <a:picLocks noGrp="1" noChangeAspect="1"/>
          </p:cNvPicPr>
          <p:nvPr/>
        </p:nvPicPr>
        <p:blipFill>
          <a:blip r:embed="rId2"/>
          <a:stretch>
            <a:fillRect/>
          </a:stretch>
        </p:blipFill>
        <p:spPr bwMode="auto">
          <a:xfrm>
            <a:off x="3340100" y="2819400"/>
            <a:ext cx="2336800" cy="1435100"/>
          </a:xfrm>
          <a:prstGeom prst="rect">
            <a:avLst/>
          </a:prstGeom>
          <a:noFill/>
          <a:ln w="9525">
            <a:noFill/>
            <a:headEnd/>
            <a:tailEnd/>
          </a:ln>
        </p:spPr>
      </p:pic>
      <p:sp>
        <p:nvSpPr>
          <p:cNvPr id="1" name="TextBox 3"/>
          <p:cNvSpPr txBox="1"/>
          <p:nvPr>
            <p:ph idx="1"/>
          </p:nvPr>
        </p:nvSpPr>
        <p:spPr>
          <a:xfrm>
            <a:off x="127000" y="4254500"/>
            <a:ext cx="8750300" cy="508000"/>
          </a:xfrm>
          <a:prstGeom prst="rect">
            <a:avLst/>
          </a:prstGeom>
          <a:noFill/>
        </p:spPr>
        <p:txBody>
          <a:bodyPr/>
          <a:lstStyle/>
          <a:p>
            <a:pPr lvl="0" indent="0" marL="0" algn="ctr">
              <a:buNone/>
            </a:pPr>
            <a:r>
              <a:rPr/>
              <a:t>Figure 1. Leaf weight by side of tree, with individual leaves shown.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Discussion</a:t>
            </a:r>
          </a:p>
        </p:txBody>
      </p:sp>
      <p:sp>
        <p:nvSpPr>
          <p:cNvPr id="3" name="Content Placeholder 2"/>
          <p:cNvSpPr>
            <a:spLocks noGrp="1"/>
          </p:cNvSpPr>
          <p:nvPr>
            <p:ph idx="1"/>
          </p:nvPr>
        </p:nvSpPr>
        <p:spPr/>
        <p:txBody>
          <a:bodyPr/>
          <a:lstStyle/>
          <a:p>
            <a:pPr lvl="0" indent="0" marL="0">
              <a:buNone/>
            </a:pPr>
            <a:r>
              <a:rPr/>
              <a:t>Write one short paragraph here: did the data support the hypothesis? Were shady leaves heavier? Mention the size of the difference and anything you noticed in Figure 1. In Lecture 05 you will add the formal t-test result to this section.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Wickham, H. </a:t>
            </a:r>
            <a:r>
              <a:rPr i="1"/>
              <a:t>R for Data Science (2nd ed.)</a:t>
            </a:r>
            <a:r>
              <a:rPr/>
              <a:t> — </a:t>
            </a:r>
            <a:r>
              <a:rPr>
                <a:hlinkClick r:id="rId2"/>
              </a:rPr>
              <a:t>https://r4ds.hadley.nz/</a:t>
            </a:r>
          </a:p>
          <a:p>
            <a:pPr lvl="0"/>
            <a:r>
              <a:rPr/>
              <a:t>Data Carpentry — </a:t>
            </a:r>
            <a:r>
              <a:rPr>
                <a:hlinkClick r:id="rId3"/>
              </a:rPr>
              <a:t>https://datacarpentry.github.io/R-ecology-lesson/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Leaf Morphology: Sunny vs. Shady Sides of a Tree</dc:title>
  <dc:creator>Your Name Here</dc:creator>
  <cp:keywords/>
  <dcterms:created xsi:type="dcterms:W3CDTF">2026-08-27T17:12:32Z</dcterms:created>
  <dcterms:modified xsi:type="dcterms:W3CDTF">2026-08-27T17:12:32Z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2026-08-27</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5</vt:lpwstr>
  </property>
  <property fmtid="{D5CDD505-2E9C-101B-9397-08002B2CF9AE}" pid="12" name="resources">
    <vt:lpwstr/>
  </property>
  <property fmtid="{D5CDD505-2E9C-101B-9397-08002B2CF9AE}" pid="13" name="subtitle">
    <vt:lpwstr>A reproducible report built in Quarto</vt:lpwstr>
  </property>
  <property fmtid="{D5CDD505-2E9C-101B-9397-08002B2CF9AE}" pid="14" name="toc-title">
    <vt:lpwstr>Table of contents</vt:lpwstr>
  </property>
  <property fmtid="{D5CDD505-2E9C-101B-9397-08002B2CF9AE}" pid="15" name="week">
    <vt:lpwstr>3</vt:lpwstr>
  </property>
</Properties>
</file>