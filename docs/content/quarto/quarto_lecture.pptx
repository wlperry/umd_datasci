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downloads/leaf_report_skeleton.qmd" TargetMode="External" /><Relationship Id="rId3" Type="http://schemas.openxmlformats.org/officeDocument/2006/relationships/hyperlink" Target="https://r4ds.hadley.nz/quarto" TargetMode="External" /><Relationship Id="rId4" Type="http://schemas.openxmlformats.org/officeDocument/2006/relationships/hyperlink" Target="https://r4ds.hadley.nz/quarto-formats" TargetMode="External" /><Relationship Id="rId5" Type="http://schemas.openxmlformats.org/officeDocument/2006/relationships/hyperlink" Target="https://quarto.org/docs/computations/execution-options.html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downloads/leaf_report_skeleton.qmd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07 — From Script to Report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One Quarto file: read the data, plot it, describe it, test it — Word, PDF, and slides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(Lectures 03–06)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Read</a:t>
            </a:r>
            <a:r>
              <a:rPr/>
              <a:t> the leaf data with </a:t>
            </a:r>
            <a:r>
              <a:rPr>
                <a:latin typeface="Courier"/>
              </a:rPr>
              <a:t>read_excel()</a:t>
            </a:r>
            <a:r>
              <a:rPr/>
              <a:t> + </a:t>
            </a:r>
            <a:r>
              <a:rPr>
                <a:latin typeface="Courier"/>
              </a:rPr>
              <a:t>clean_names()</a:t>
            </a:r>
          </a:p>
          <a:p>
            <a:pPr lvl="0"/>
            <a:r>
              <a:rPr b="1"/>
              <a:t>Plotted</a:t>
            </a:r>
            <a:r>
              <a:rPr/>
              <a:t> it — box plots, mean ± SE with </a:t>
            </a:r>
            <a:r>
              <a:rPr>
                <a:latin typeface="Courier"/>
              </a:rPr>
              <a:t>stat_summary()</a:t>
            </a:r>
            <a:r>
              <a:rPr/>
              <a:t>, histograms</a:t>
            </a:r>
          </a:p>
          <a:p>
            <a:pPr lvl="0"/>
            <a:r>
              <a:rPr b="1"/>
              <a:t>Described</a:t>
            </a:r>
            <a:r>
              <a:rPr/>
              <a:t> it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summary_stats()</a:t>
            </a:r>
            <a:r>
              <a:rPr/>
              <a:t>: n, mean, SD, SE, 95% CI</a:t>
            </a:r>
          </a:p>
          <a:p>
            <a:pPr lvl="0"/>
            <a:r>
              <a:rPr/>
              <a:t>Everything so far lives in a </a:t>
            </a:r>
            <a:r>
              <a:rPr b="1">
                <a:latin typeface="Courier"/>
              </a:rPr>
              <a:t>.R</a:t>
            </a:r>
            <a:r>
              <a:rPr b="1"/>
              <a:t> script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You already know every piece of a real analysis. Today we put all of it — plus a t-test — into </a:t>
            </a:r>
            <a:r>
              <a:rPr sz="2000" b="1"/>
              <a:t>one document a human can read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</a:t>
            </a:r>
            <a:r>
              <a:rPr b="1"/>
              <a:t>why</a:t>
            </a:r>
            <a:r>
              <a:rPr/>
              <a:t> a script alone is not enough</a:t>
            </a:r>
          </a:p>
          <a:p>
            <a:pPr lvl="0"/>
            <a:r>
              <a:rPr/>
              <a:t>Know </a:t>
            </a:r>
            <a:r>
              <a:rPr b="1"/>
              <a:t>where</a:t>
            </a:r>
            <a:r>
              <a:rPr/>
              <a:t> a Quarto file lives in your project</a:t>
            </a:r>
          </a:p>
          <a:p>
            <a:pPr lvl="0"/>
            <a:r>
              <a:rPr/>
              <a:t>Learn the three ingredients:</a:t>
            </a:r>
          </a:p>
          <a:p>
            <a:pPr lvl="1"/>
            <a:r>
              <a:rPr b="1"/>
              <a:t>YAML</a:t>
            </a:r>
            <a:r>
              <a:rPr/>
              <a:t> — the recipe at the top (one switch hides all the code)</a:t>
            </a:r>
          </a:p>
          <a:p>
            <a:pPr lvl="1"/>
            <a:r>
              <a:rPr b="1"/>
              <a:t>Markdown</a:t>
            </a:r>
            <a:r>
              <a:rPr/>
              <a:t> — formatted text, no clicking</a:t>
            </a:r>
          </a:p>
          <a:p>
            <a:pPr lvl="1"/>
            <a:r>
              <a:rPr b="1"/>
              <a:t>Code chunks</a:t>
            </a:r>
            <a:r>
              <a:rPr/>
              <a:t> — R that runs, plus the </a:t>
            </a:r>
            <a:r>
              <a:rPr b="1"/>
              <a:t>chunk options</a:t>
            </a:r>
            <a:r>
              <a:rPr/>
              <a:t> that control it</a:t>
            </a:r>
          </a:p>
          <a:p>
            <a:pPr lvl="0"/>
            <a:r>
              <a:rPr/>
              <a:t>Take the leaf data </a:t>
            </a:r>
            <a:r>
              <a:rPr b="1"/>
              <a:t>start to finish</a:t>
            </a:r>
            <a:r>
              <a:rPr/>
              <a:t>: plots → summary table → </a:t>
            </a:r>
            <a:r>
              <a:rPr b="1"/>
              <a:t>Welch’s t-test</a:t>
            </a:r>
          </a:p>
          <a:p>
            <a:pPr lvl="0"/>
            <a:r>
              <a:rPr/>
              <a:t>Render </a:t>
            </a:r>
            <a:r>
              <a:rPr b="1"/>
              <a:t>one file</a:t>
            </a:r>
            <a:r>
              <a:rPr/>
              <a:t> to </a:t>
            </a:r>
            <a:r>
              <a:rPr b="1"/>
              <a:t>Word, PDF, and RevealJS slides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You will hand in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leaf_report.qmd</a:t>
            </a:r>
            <a:r>
              <a:rPr sz="2000"/>
              <a:t>, </a:t>
            </a:r>
            <a:r>
              <a:rPr sz="2000">
                <a:latin typeface="Courier"/>
              </a:rPr>
              <a:t>leaf_report.docx</a:t>
            </a:r>
            <a:r>
              <a:rPr sz="2000"/>
              <a:t>, and </a:t>
            </a:r>
            <a:r>
              <a:rPr sz="2000">
                <a:latin typeface="Courier"/>
              </a:rPr>
              <a:t>leaf_report.pdf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/>
              <a:t>Positron + Quarto (built in)</a:t>
            </a:r>
          </a:p>
          <a:p>
            <a:pPr lvl="0"/>
            <a:r>
              <a:rPr>
                <a:latin typeface="Courier"/>
              </a:rPr>
              <a:t>broom</a:t>
            </a:r>
            <a:r>
              <a:rPr/>
              <a:t> — turns test output into a table (installed with tidyverse)</a:t>
            </a:r>
          </a:p>
          <a:p>
            <a:pPr lvl="0" indent="0" marL="0">
              <a:buNone/>
            </a:pPr>
            <a:r>
              <a:rPr b="1"/>
              <a:t>Get the starter file:</a:t>
            </a:r>
          </a:p>
          <a:p>
            <a:pPr lvl="0"/>
            <a:r>
              <a:rPr/>
              <a:t>📥 </a:t>
            </a:r>
            <a:r>
              <a:rPr b="1">
                <a:hlinkClick r:id="rId2"/>
                <a:latin typeface="Courier"/>
              </a:rPr>
              <a:t>leaf_report_skeleton.qmd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28 — Quarto</a:t>
            </a:r>
          </a:p>
          <a:p>
            <a:pPr lvl="0"/>
            <a:r>
              <a:rPr/>
              <a:t>📖 </a:t>
            </a:r>
            <a:r>
              <a:rPr>
                <a:hlinkClick r:id="rId4"/>
              </a:rPr>
              <a:t>R4DS Ch 29 — Quarto formats</a:t>
            </a:r>
          </a:p>
          <a:p>
            <a:pPr lvl="0"/>
            <a:r>
              <a:rPr/>
              <a:t>🌐 </a:t>
            </a:r>
            <a:r>
              <a:rPr>
                <a:hlinkClick r:id="rId5"/>
              </a:rPr>
              <a:t>Quarto chunk options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runs in </a:t>
            </a:r>
            <a:r>
              <a:rPr b="1"/>
              <a:t>four short chunks</a:t>
            </a:r>
            <a:r>
              <a:rPr/>
              <a:t>. After each chunk you switch to the </a:t>
            </a:r>
            <a:r>
              <a:rPr b="1"/>
              <a:t>activity</a:t>
            </a:r>
            <a:r>
              <a:rPr/>
              <a:t> and fill in your own report.</a:t>
            </a:r>
          </a:p>
          <a:p>
            <a:pPr lvl="0" indent="0" marL="0">
              <a:buNone/>
            </a:pPr>
            <a:r>
              <a:rPr b="1"/>
              <a:t>For every snippet, do three things: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— before you Render, say what the document will show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it out by hand — do not copy-paste</a:t>
            </a:r>
          </a:p>
          <a:p>
            <a:pPr lvl="0" indent="-342900" marL="342900">
              <a:buAutoNum type="arabicPeriod"/>
            </a:pPr>
            <a:r>
              <a:rPr b="1"/>
              <a:t>Render</a:t>
            </a:r>
            <a:r>
              <a:rPr/>
              <a:t> and compare to your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 (the evidence)</a:t>
            </a:r>
          </a:p>
          <a:p>
            <a:pPr lvl="0"/>
            <a:r>
              <a:rPr sz="2000" b="1"/>
              <a:t>Predicting first</a:t>
            </a:r>
            <a:r>
              <a:rPr sz="2000"/>
              <a:t> forces you to </a:t>
            </a:r>
            <a:r>
              <a:rPr sz="2000" i="1"/>
              <a:t>retrieve</a:t>
            </a:r>
            <a:r>
              <a:rPr sz="2000"/>
              <a:t> how Markdown and chunks behave. The surprise when you’re wrong is what makes it stick.</a:t>
            </a:r>
          </a:p>
          <a:p>
            <a:pPr lvl="0"/>
            <a:r>
              <a:rPr sz="2000" b="1"/>
              <a:t>Typing by hand</a:t>
            </a:r>
            <a:r>
              <a:rPr sz="2000"/>
              <a:t> builds muscle memory for YAML indentation and chunk syntax — exactly where beginners slip.</a:t>
            </a:r>
          </a:p>
          <a:p>
            <a:pPr lvl="0"/>
            <a:r>
              <a:rPr sz="2000" b="1"/>
              <a:t>Chunk → immediate practice</a:t>
            </a:r>
            <a:r>
              <a:rPr sz="2000"/>
              <a:t> keeps each new idea in working memory long enough to form a lasting schema.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4 · Why Quarto, and Where the File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the pain of script-plus-copy-paste, literate programming, reproducibility, and where to save a </a:t>
            </a:r>
            <a:r>
              <a:rPr>
                <a:latin typeface="Courier"/>
              </a:rPr>
              <a:t>.qmd</a:t>
            </a:r>
            <a:r>
              <a:rPr/>
              <a:t> so your paths just work.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 1</a:t>
            </a:r>
            <a:r>
              <a:rPr sz="2000"/>
              <a:t> (save the starter file at the top of your project and Render it).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The problem with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happens after the analysis?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</a:t>
            </a:r>
            <a:r>
              <a:rPr>
                <a:latin typeface="Courier"/>
              </a:rPr>
              <a:t>.R</a:t>
            </a:r>
            <a:r>
              <a:rPr/>
              <a:t> script is great for </a:t>
            </a:r>
            <a:r>
              <a:rPr i="1"/>
              <a:t>running</a:t>
            </a:r>
            <a:r>
              <a:rPr/>
              <a:t> code. But when the lab report is due you have to:</a:t>
            </a:r>
          </a:p>
          <a:p>
            <a:pPr lvl="0"/>
            <a:r>
              <a:rPr/>
              <a:t>Run the script</a:t>
            </a:r>
          </a:p>
          <a:p>
            <a:pPr lvl="0"/>
            <a:r>
              <a:rPr b="1"/>
              <a:t>Copy</a:t>
            </a:r>
            <a:r>
              <a:rPr/>
              <a:t> each number into Word by hand</a:t>
            </a:r>
          </a:p>
          <a:p>
            <a:pPr lvl="0"/>
            <a:r>
              <a:rPr b="1"/>
              <a:t>Export</a:t>
            </a:r>
            <a:r>
              <a:rPr/>
              <a:t> every plot, then drag it in</a:t>
            </a:r>
          </a:p>
          <a:p>
            <a:pPr lvl="0"/>
            <a:r>
              <a:rPr/>
              <a:t>Re-do </a:t>
            </a:r>
            <a:r>
              <a:rPr i="1"/>
              <a:t>all of it</a:t>
            </a:r>
            <a:r>
              <a:rPr/>
              <a:t> when the data changes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Every hand-copied number is a chance for a typo. Change one data point and the whole report is out of date.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This is the same pain as pasting a chart into Word, then editing the spreadsheet and forgetting to update the chart.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idea: keep code and writing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Literate programming</a:t>
            </a:r>
            <a:r>
              <a:rPr/>
              <a:t> — write the </a:t>
            </a:r>
            <a:r>
              <a:rPr i="1"/>
              <a:t>story</a:t>
            </a:r>
            <a:r>
              <a:rPr/>
              <a:t> and the </a:t>
            </a:r>
            <a:r>
              <a:rPr i="1"/>
              <a:t>code</a:t>
            </a:r>
            <a:r>
              <a:rPr/>
              <a:t> in the </a:t>
            </a:r>
            <a:r>
              <a:rPr b="1"/>
              <a:t>same file</a:t>
            </a:r>
            <a:r>
              <a:rPr/>
              <a:t>.</a:t>
            </a:r>
          </a:p>
          <a:p>
            <a:pPr lvl="0"/>
            <a:r>
              <a:rPr/>
              <a:t>Your explanation sits next to the code that made it</a:t>
            </a:r>
          </a:p>
          <a:p>
            <a:pPr lvl="0"/>
            <a:r>
              <a:rPr/>
              <a:t>Tables and plots are </a:t>
            </a:r>
            <a:r>
              <a:rPr b="1"/>
              <a:t>computed</a:t>
            </a:r>
            <a:r>
              <a:rPr/>
              <a:t>, never copied</a:t>
            </a:r>
          </a:p>
          <a:p>
            <a:pPr lvl="0"/>
            <a:r>
              <a:rPr/>
              <a:t>Press </a:t>
            </a:r>
            <a:r>
              <a:rPr b="1"/>
              <a:t>Render</a:t>
            </a:r>
            <a:r>
              <a:rPr/>
              <a:t> → a finished document appears</a:t>
            </a:r>
          </a:p>
          <a:p>
            <a:pPr lvl="0" indent="0">
              <a:buNone/>
            </a:pPr>
            <a:r>
              <a:rPr>
                <a:latin typeface="Courier"/>
              </a:rPr>
              <a:t>one .qmd file  →  Render  →  Word  /  PDF  /  slides</a:t>
            </a:r>
          </a:p>
          <a:p>
            <a:pPr lvl="0" indent="0" marL="0">
              <a:buNone/>
            </a:pPr>
            <a:r>
              <a:rPr/>
              <a:t>Change the data, Render again, and every table and figure </a:t>
            </a:r>
            <a:r>
              <a:rPr b="1"/>
              <a:t>rebuilds itself</a:t>
            </a:r>
            <a:r>
              <a:rPr/>
              <a:t>. That is what scientists mean by </a:t>
            </a:r>
            <a:r>
              <a:rPr b="1"/>
              <a:t>reproducible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Quarto</a:t>
            </a:r>
            <a:r>
              <a:rPr sz="2000"/>
              <a:t> = the tool that turns one plain-text </a:t>
            </a:r>
            <a:r>
              <a:rPr sz="2000">
                <a:latin typeface="Courier"/>
              </a:rPr>
              <a:t>.qmd</a:t>
            </a:r>
            <a:r>
              <a:rPr sz="2000"/>
              <a:t> file into a polished document.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script </a:t>
            </a:r>
            <a:r>
              <a:rPr sz="2000" i="1"/>
              <a:t>does</a:t>
            </a:r>
            <a:r>
              <a:rPr sz="2000"/>
              <a:t> the analysis. A </a:t>
            </a:r>
            <a:r>
              <a:rPr sz="2000" b="1"/>
              <a:t>Quarto document</a:t>
            </a:r>
            <a:r>
              <a:rPr sz="2000"/>
              <a:t> does the analysis </a:t>
            </a:r>
            <a:r>
              <a:rPr sz="2000" b="1"/>
              <a:t>and explains it</a:t>
            </a:r>
            <a:r>
              <a:rPr sz="2000"/>
              <a:t> — and rebuilds itself on demand.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does the </a:t>
            </a:r>
            <a:r>
              <a:rPr>
                <a:latin typeface="Courier"/>
              </a:rPr>
              <a:t>.qmd</a:t>
            </a:r>
            <a:r>
              <a:rPr/>
              <a:t> go? — the top of your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leaf_project/
├── data/
│   └── 2026_09_03_data_sci_leaf_area.xlsx
├── figures/
├── scripts/
├── themes/
│   ├── r_themes_for_3_sizes.R
│   └── summary_stats_function.R
└── leaf_report.qmd      &lt;- HERE</a:t>
            </a:r>
          </a:p>
          <a:p>
            <a:pPr lvl="0" indent="0" marL="0">
              <a:buNone/>
            </a:pPr>
            <a:r>
              <a:rPr/>
              <a:t>Quarto runs the code </a:t>
            </a:r>
            <a:r>
              <a:rPr b="1"/>
              <a:t>from the folder the </a:t>
            </a:r>
            <a:r>
              <a:rPr b="1">
                <a:latin typeface="Courier"/>
              </a:rPr>
              <a:t>.qmd</a:t>
            </a:r>
            <a:r>
              <a:rPr b="1"/>
              <a:t> is saved in</a:t>
            </a:r>
            <a:r>
              <a:rPr/>
              <a:t>. Save it at the </a:t>
            </a:r>
            <a:r>
              <a:rPr b="1"/>
              <a:t>top</a:t>
            </a:r>
            <a:r>
              <a:rPr/>
              <a:t> of the project and these paths work exactly as they do in your scripts: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"data/2026_09_03_data_sci_leaf_area.xlsx"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source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"themes/summary_stats_function.R"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.qmd</a:t>
            </a:r>
            <a:r>
              <a:rPr sz="2000"/>
              <a:t> at the top + short paths into subfolders = </a:t>
            </a:r>
            <a:r>
              <a:rPr sz="2000" b="1"/>
              <a:t>no </a:t>
            </a:r>
            <a:r>
              <a:rPr sz="2000" b="1">
                <a:latin typeface="Courier"/>
              </a:rPr>
              <a:t>here</a:t>
            </a:r>
            <a:r>
              <a:rPr sz="2000" b="1"/>
              <a:t> package, no </a:t>
            </a:r>
            <a:r>
              <a:rPr sz="2000" b="1">
                <a:latin typeface="Courier"/>
              </a:rPr>
              <a:t>../</a:t>
            </a:r>
            <a:r>
              <a:rPr sz="2000"/>
              <a:t>. Same paths in the Console, in your scripts, and in the report.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Save it inside </a:t>
            </a:r>
            <a:r>
              <a:rPr sz="2000">
                <a:latin typeface="Courier"/>
              </a:rPr>
              <a:t>documents/</a:t>
            </a:r>
            <a:r>
              <a:rPr sz="2000"/>
              <a:t> and </a:t>
            </a:r>
            <a:r>
              <a:rPr sz="2000">
                <a:latin typeface="Courier"/>
              </a:rPr>
              <a:t>"data/..."</a:t>
            </a:r>
            <a:r>
              <a:rPr sz="2000"/>
              <a:t> breaks — Quarto would look for </a:t>
            </a:r>
            <a:r>
              <a:rPr sz="2000">
                <a:latin typeface="Courier"/>
              </a:rPr>
              <a:t>documents/data/</a:t>
            </a:r>
            <a:r>
              <a:rPr sz="2000"/>
              <a:t>. You would need </a:t>
            </a:r>
            <a:r>
              <a:rPr sz="2000">
                <a:latin typeface="Courier"/>
              </a:rPr>
              <a:t>"../data/..."</a:t>
            </a:r>
            <a:r>
              <a:rPr sz="2000"/>
              <a:t> everywhere. Don’t.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 1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 1 now</a:t>
            </a:r>
          </a:p>
          <a:p>
            <a:pPr lvl="0" indent="0" marL="0">
              <a:buNone/>
            </a:pPr>
            <a:r>
              <a:rPr/>
              <a:t>Download </a:t>
            </a:r>
            <a:r>
              <a:rPr>
                <a:hlinkClick r:id="rId2"/>
                <a:latin typeface="Courier"/>
              </a:rPr>
              <a:t>leaf_report_skeleton.qmd</a:t>
            </a:r>
            <a:r>
              <a:rPr/>
              <a:t>, save it at the </a:t>
            </a:r>
            <a:r>
              <a:rPr b="1"/>
              <a:t>top</a:t>
            </a:r>
            <a:r>
              <a:rPr/>
              <a:t> of your project as </a:t>
            </a:r>
            <a:r>
              <a:rPr>
                <a:latin typeface="Courier"/>
              </a:rPr>
              <a:t>leaf_report.qmd</a:t>
            </a:r>
            <a:r>
              <a:rPr/>
              <a:t>, and press </a:t>
            </a:r>
            <a:r>
              <a:rPr b="1"/>
              <a:t>Render</a:t>
            </a:r>
            <a:r>
              <a:rPr/>
              <a:t> before you change anything.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4 · Anatomy of a </a:t>
            </a:r>
            <a:r>
              <a:rPr>
                <a:latin typeface="Courier"/>
              </a:rPr>
              <a:t>.qmd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YAML (and the one line that hides all the code), Markdown, code chunks, and the chunk options you will use all term.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2–4</a:t>
            </a:r>
            <a:r>
              <a:rPr sz="2000"/>
              <a:t> (YAML, Markdown, chunk options).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Three parts, top to bottom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Quarto document has the same three ingredients:</a:t>
            </a:r>
          </a:p>
          <a:p>
            <a:pPr lvl="0" indent="0">
              <a:buNone/>
            </a:pPr>
            <a:r>
              <a:rPr>
                <a:latin typeface="Courier"/>
              </a:rPr>
              <a:t>1. YAML front matter  ← the recipe (title, outputs, defaults)
2. Markdown text      ← your writing, formatted
3. Code chunks        ← R that runs and shows results</a:t>
            </a:r>
          </a:p>
          <a:p>
            <a:pPr lvl="0" indent="0" marL="0">
              <a:buNone/>
            </a:pPr>
            <a:r>
              <a:rPr/>
              <a:t>You already </a:t>
            </a:r>
            <a:r>
              <a:rPr i="1"/>
              <a:t>read</a:t>
            </a:r>
            <a:r>
              <a:rPr/>
              <a:t> these every day — this whole lecture is a </a:t>
            </a:r>
            <a:r>
              <a:rPr>
                <a:latin typeface="Courier"/>
              </a:rPr>
              <a:t>.qmd</a:t>
            </a:r>
            <a:r>
              <a:rPr/>
              <a:t> file.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>
                <a:latin typeface="Courier"/>
              </a:rPr>
              <a:t>.qmd</a:t>
            </a:r>
            <a:r>
              <a:rPr sz="2000"/>
              <a:t> = a </a:t>
            </a:r>
            <a:r>
              <a:rPr sz="2000" b="1"/>
              <a:t>Q</a:t>
            </a:r>
            <a:r>
              <a:rPr sz="2000"/>
              <a:t>uarto </a:t>
            </a:r>
            <a:r>
              <a:rPr sz="2000" b="1"/>
              <a:t>m</a:t>
            </a:r>
            <a:r>
              <a:rPr sz="2000"/>
              <a:t>ark</a:t>
            </a:r>
            <a:r>
              <a:rPr sz="2000" b="1"/>
              <a:t>d</a:t>
            </a:r>
            <a:r>
              <a:rPr sz="2000"/>
              <a:t>own file. Plain text you can open anywhere.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Ingredient 1 · YAML — the recipe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The </a:t>
            </a:r>
            <a:r>
              <a:rPr sz="2000">
                <a:latin typeface="Courier"/>
              </a:rPr>
              <a:t>execute:</a:t>
            </a:r>
            <a:r>
              <a:rPr sz="2000"/>
              <a:t> block below says </a:t>
            </a:r>
            <a:r>
              <a:rPr sz="2000">
                <a:latin typeface="Courier"/>
              </a:rPr>
              <a:t>echo: true</a:t>
            </a:r>
            <a:r>
              <a:rPr sz="2000"/>
              <a:t>. What changes in the whole document if you switch it to </a:t>
            </a:r>
            <a:r>
              <a:rPr sz="2000">
                <a:latin typeface="Courier"/>
              </a:rPr>
              <a:t>false</a:t>
            </a:r>
            <a:r>
              <a:rPr sz="2000"/>
              <a:t>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title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on the Sunny and Shady Sides of a Tree"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author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"Your Name"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date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today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5E5E5E"/>
                </a:solidFill>
                <a:latin typeface="Courier"/>
              </a:rPr>
              <a:t>            # one file -&gt; three documents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docx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toc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number-sections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pdf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toc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number-sections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fig-pos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"H"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revealjs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scrollable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smaller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execute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5E5E5E"/>
                </a:solidFill>
                <a:latin typeface="Courier"/>
              </a:rPr>
              <a:t>           # defaults for EVERY chunk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echo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r>
              <a:rPr>
                <a:solidFill>
                  <a:srgbClr val="5E5E5E"/>
                </a:solidFill>
                <a:latin typeface="Courier"/>
              </a:rPr>
              <a:t>       # false = hide ALL the code at once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warning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false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message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false</a:t>
            </a:r>
            <a:br/>
            <a:r>
              <a:rPr>
                <a:solidFill>
                  <a:srgbClr val="AD0000"/>
                </a:solidFill>
                <a:latin typeface="Courier"/>
              </a:rPr>
              <a:t>---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format:</a:t>
            </a:r>
            <a:r>
              <a:rPr/>
              <a:t> — </a:t>
            </a:r>
            <a:r>
              <a:rPr b="1"/>
              <a:t>which</a:t>
            </a:r>
            <a:r>
              <a:rPr/>
              <a:t> documents to build</a:t>
            </a:r>
          </a:p>
          <a:p>
            <a:pPr lvl="0"/>
            <a:r>
              <a:rPr>
                <a:latin typeface="Courier"/>
              </a:rPr>
              <a:t>execute:</a:t>
            </a:r>
            <a:r>
              <a:rPr/>
              <a:t> — settings for </a:t>
            </a:r>
            <a:r>
              <a:rPr b="1"/>
              <a:t>every chunk</a:t>
            </a:r>
            <a:r>
              <a:rPr/>
              <a:t>; one line turns all the code on or off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One switch</a:t>
            </a:r>
          </a:p>
          <a:p>
            <a:pPr lvl="0" indent="0" marL="1270000">
              <a:buNone/>
            </a:pPr>
            <a:r>
              <a:rPr sz="2000"/>
              <a:t>Write with </a:t>
            </a:r>
            <a:r>
              <a:rPr sz="2000">
                <a:latin typeface="Courier"/>
              </a:rPr>
              <a:t>echo: true</a:t>
            </a:r>
            <a:r>
              <a:rPr sz="2000"/>
              <a:t> so you can see your code. Flip to </a:t>
            </a:r>
            <a:r>
              <a:rPr sz="2000">
                <a:latin typeface="Courier"/>
              </a:rPr>
              <a:t>echo: false</a:t>
            </a:r>
            <a:r>
              <a:rPr sz="2000"/>
              <a:t> for the version you hand in.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YAML is </a:t>
            </a:r>
            <a:r>
              <a:rPr sz="2000" b="1"/>
              <a:t>space-sensitive</a:t>
            </a:r>
            <a:r>
              <a:rPr sz="2000"/>
              <a:t>: two spaces, never tabs.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Ingredient 2 · Markdown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Before it renders, sketch what this becomes — which line is a big heading, which are bullets, what turns bold?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# Introduction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Leaves on the **shady** side of a tree may grow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larger to catch more of the limited light.</a:t>
            </a:r>
            <a:br/>
            <a:br/>
            <a:r>
              <a:rPr>
                <a:solidFill>
                  <a:srgbClr val="20794D"/>
                </a:solidFill>
                <a:latin typeface="Courier"/>
              </a:rPr>
              <a:t>- </a:t>
            </a:r>
            <a:r>
              <a:rPr>
                <a:solidFill>
                  <a:srgbClr val="003B4F"/>
                </a:solidFill>
                <a:latin typeface="Courier"/>
              </a:rPr>
              <a:t>**Null hypothesis:** mean mass is the same on both sides</a:t>
            </a:r>
            <a:br/>
            <a:r>
              <a:rPr>
                <a:solidFill>
                  <a:srgbClr val="20794D"/>
                </a:solidFill>
                <a:latin typeface="Courier"/>
              </a:rPr>
              <a:t>- </a:t>
            </a:r>
            <a:r>
              <a:rPr>
                <a:solidFill>
                  <a:srgbClr val="003B4F"/>
                </a:solidFill>
                <a:latin typeface="Courier"/>
              </a:rPr>
              <a:t>**Alternate hypothesis:** mean mass differs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&lt;!-- a comment: never shows up in the output --&gt;</a:t>
            </a:r>
          </a:p>
          <a:p>
            <a:pPr lvl="0"/>
            <a:r>
              <a:rPr>
                <a:latin typeface="Courier"/>
              </a:rPr>
              <a:t>#</a:t>
            </a:r>
            <a:r>
              <a:rPr/>
              <a:t> heading, </a:t>
            </a:r>
            <a:r>
              <a:rPr>
                <a:latin typeface="Courier"/>
              </a:rPr>
              <a:t>##</a:t>
            </a:r>
            <a:r>
              <a:rPr/>
              <a:t> smaller heading</a:t>
            </a:r>
          </a:p>
          <a:p>
            <a:pPr lvl="0"/>
            <a:r>
              <a:rPr>
                <a:latin typeface="Courier"/>
              </a:rPr>
              <a:t>**bold**</a:t>
            </a:r>
            <a:r>
              <a:rPr/>
              <a:t>, </a:t>
            </a:r>
            <a:r>
              <a:rPr>
                <a:latin typeface="Courier"/>
              </a:rPr>
              <a:t>*italic*</a:t>
            </a:r>
            <a:r>
              <a:rPr/>
              <a:t>, </a:t>
            </a:r>
            <a:r>
              <a:rPr>
                <a:latin typeface="Courier"/>
              </a:rPr>
              <a:t>-</a:t>
            </a:r>
            <a:r>
              <a:rPr/>
              <a:t> bullets</a:t>
            </a:r>
          </a:p>
          <a:p>
            <a:pPr lvl="0"/>
            <a:r>
              <a:rPr>
                <a:latin typeface="Courier"/>
              </a:rPr>
              <a:t>&lt;!-- --&gt;</a:t>
            </a:r>
            <a:r>
              <a:rPr/>
              <a:t> a note to yourself — the skeleton is full of them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Word?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**bold**</a:t>
            </a:r>
            <a:r>
              <a:rPr sz="2000"/>
              <a:t> is just the </a:t>
            </a:r>
            <a:r>
              <a:rPr sz="2000" i="1"/>
              <a:t>keyboard</a:t>
            </a:r>
            <a:r>
              <a:rPr sz="2000"/>
              <a:t> version of clicking the </a:t>
            </a:r>
            <a:r>
              <a:rPr sz="2000" b="1"/>
              <a:t>B</a:t>
            </a:r>
            <a:r>
              <a:rPr sz="2000"/>
              <a:t> button. Same result, no mouse.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🎞 Bonus</a:t>
            </a:r>
          </a:p>
          <a:p>
            <a:pPr lvl="0" indent="0" marL="1270000">
              <a:buNone/>
            </a:pPr>
            <a:r>
              <a:rPr sz="2000"/>
              <a:t>In the slide version, every </a:t>
            </a:r>
            <a:r>
              <a:rPr sz="2000">
                <a:latin typeface="Courier"/>
              </a:rPr>
              <a:t>#</a:t>
            </a:r>
            <a:r>
              <a:rPr sz="2000"/>
              <a:t> becomes a </a:t>
            </a:r>
            <a:r>
              <a:rPr sz="2000" b="1"/>
              <a:t>section slide</a:t>
            </a:r>
            <a:r>
              <a:rPr sz="2000"/>
              <a:t> and every </a:t>
            </a:r>
            <a:r>
              <a:rPr sz="2000">
                <a:latin typeface="Courier"/>
              </a:rPr>
              <a:t>##</a:t>
            </a:r>
            <a:r>
              <a:rPr sz="2000"/>
              <a:t> becomes a </a:t>
            </a:r>
            <a:r>
              <a:rPr sz="2000" b="1"/>
              <a:t>slide</a:t>
            </a:r>
            <a:r>
              <a:rPr sz="2000"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Ingredient 3 · Code chunks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code chunk</a:t>
            </a:r>
            <a:r>
              <a:rPr/>
              <a:t> is fenced R that actually </a:t>
            </a:r>
            <a:r>
              <a:rPr b="1"/>
              <a:t>runs</a:t>
            </a:r>
            <a:r>
              <a:rPr/>
              <a:t> when you render: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```{r}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label: load-data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read the leaf data from the data/ folder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"data/2026_09_03_data_sci_leaf_area.xlsx"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</a:p>
          <a:p>
            <a:pPr lvl="0"/>
            <a:r>
              <a:rPr/>
              <a:t>Opening fence </a:t>
            </a:r>
            <a:r>
              <a:rPr>
                <a:latin typeface="Courier"/>
              </a:rPr>
              <a:t>```{r}</a:t>
            </a:r>
            <a:r>
              <a:rPr/>
              <a:t> — closing fence </a:t>
            </a:r>
            <a:r>
              <a:rPr>
                <a:latin typeface="Courier"/>
              </a:rPr>
              <a:t>```</a:t>
            </a:r>
          </a:p>
          <a:p>
            <a:pPr lvl="0"/>
            <a:r>
              <a:rPr/>
              <a:t>Lines starting </a:t>
            </a:r>
            <a:r>
              <a:rPr>
                <a:latin typeface="Courier"/>
              </a:rPr>
              <a:t>#|</a:t>
            </a:r>
            <a:r>
              <a:rPr/>
              <a:t> are </a:t>
            </a:r>
            <a:r>
              <a:rPr b="1"/>
              <a:t>chunk options</a:t>
            </a:r>
          </a:p>
          <a:p>
            <a:pPr lvl="0"/>
            <a:r>
              <a:rPr/>
              <a:t>Then a </a:t>
            </a:r>
            <a:r>
              <a:rPr>
                <a:latin typeface="Courier"/>
              </a:rPr>
              <a:t>#</a:t>
            </a:r>
            <a:r>
              <a:rPr/>
              <a:t> comment saying what it does — same rule as your scripts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Insert a chunk: </a:t>
            </a:r>
            <a:r>
              <a:rPr sz="2000" b="1"/>
              <a:t>Ctrl/Cmd + Alt + I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Every </a:t>
            </a:r>
            <a:r>
              <a:rPr sz="2000">
                <a:latin typeface="Courier"/>
              </a:rPr>
              <a:t>label</a:t>
            </a:r>
            <a:r>
              <a:rPr sz="2000"/>
              <a:t> must be </a:t>
            </a:r>
            <a:r>
              <a:rPr sz="2000" b="1"/>
              <a:t>unique</a:t>
            </a:r>
            <a:r>
              <a:rPr sz="2000"/>
              <a:t>. Two chunks named </a:t>
            </a:r>
            <a:r>
              <a:rPr sz="2000">
                <a:latin typeface="Courier"/>
              </a:rPr>
              <a:t>plot</a:t>
            </a:r>
            <a:r>
              <a:rPr sz="2000"/>
              <a:t> stop the Render: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Duplicate chunk label 'plot'</a:t>
            </a:r>
          </a:p>
          <a:p>
            <a:pPr lvl="0" indent="0" marL="1270000">
              <a:buNone/>
            </a:pPr>
            <a:r>
              <a:rPr sz="2000"/>
              <a:t>The error names the label — go straight to it.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Chunk options — the reference card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09600"/>
          <a:ext cx="90805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100"/>
                <a:gridCol w="4546600"/>
                <a:gridCol w="2717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label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Names the chunk. </a:t>
                      </a:r>
                      <a:r>
                        <a:rPr>
                          <a:latin typeface="Courier"/>
                        </a:rPr>
                        <a:t>fig-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tbl-</a:t>
                      </a:r>
                      <a:r>
                        <a:rPr/>
                        <a:t> at the front numbers it as a Figure / Table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#| label: fig-boxplot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echo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Show (</a:t>
                      </a:r>
                      <a:r>
                        <a:rPr>
                          <a:latin typeface="Courier"/>
                        </a:rPr>
                        <a:t>true</a:t>
                      </a:r>
                      <a:r>
                        <a:rPr/>
                        <a:t>) or hide (</a:t>
                      </a:r>
                      <a:r>
                        <a:rPr>
                          <a:latin typeface="Courier"/>
                        </a:rPr>
                        <a:t>false</a:t>
                      </a:r>
                      <a:r>
                        <a:rPr/>
                        <a:t>) the </a:t>
                      </a:r>
                      <a:r>
                        <a:rPr b="1"/>
                        <a:t>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#| echo: 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eval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Run the code (</a:t>
                      </a:r>
                      <a:r>
                        <a:rPr>
                          <a:latin typeface="Courier"/>
                        </a:rPr>
                        <a:t>true</a:t>
                      </a:r>
                      <a:r>
                        <a:rPr/>
                        <a:t>) or only show it (</a:t>
                      </a:r>
                      <a:r>
                        <a:rPr>
                          <a:latin typeface="Courier"/>
                        </a:rPr>
                        <a:t>false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#| eval: 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include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false</a:t>
                      </a:r>
                      <a:r>
                        <a:rPr/>
                        <a:t> runs the code but hides </a:t>
                      </a:r>
                      <a:r>
                        <a:rPr b="1"/>
                        <a:t>both</a:t>
                      </a:r>
                      <a:r>
                        <a:rPr/>
                        <a:t> code and 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#| include: 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false</a:t>
                      </a:r>
                      <a:r>
                        <a:rPr/>
                        <a:t> hides the </a:t>
                      </a:r>
                      <a:r>
                        <a:rPr b="1"/>
                        <a:t>results</a:t>
                      </a:r>
                      <a:r>
                        <a:rPr/>
                        <a:t> but keeps the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#| output: 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warning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message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Show or hide warnings / package messages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#| message: 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fig-width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fig-height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Figure size in inches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#| fig-width: 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fig-cap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Figure caption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#| fig-cap: "Leaf mass by side"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tbl-cap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Table caption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#| tbl-cap: "Summary statistics"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tbl-colwidths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widths in percent — tidy Word tables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#| tbl-colwidths: [30, 70]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0" y="4013200"/>
            <a:ext cx="90805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</a:t>
            </a:r>
            <a:r>
              <a:rPr>
                <a:latin typeface="Courier"/>
              </a:rPr>
              <a:t>execute:</a:t>
            </a:r>
            <a:r>
              <a:rPr/>
              <a:t> block in the YAML sets the default for every chunk; a chunk’s own </a:t>
            </a:r>
            <a:r>
              <a:rPr>
                <a:latin typeface="Courier"/>
              </a:rPr>
              <a:t>#|</a:t>
            </a:r>
            <a:r>
              <a:rPr/>
              <a:t> line overrides it for that one chunk.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2–4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2–4 now</a:t>
            </a:r>
          </a:p>
          <a:p>
            <a:pPr lvl="0" indent="0" marL="0">
              <a:buNone/>
            </a:pPr>
            <a:r>
              <a:rPr/>
              <a:t>Put your name in the YAML and try the </a:t>
            </a:r>
            <a:r>
              <a:rPr>
                <a:latin typeface="Courier"/>
              </a:rPr>
              <a:t>echo</a:t>
            </a:r>
            <a:r>
              <a:rPr/>
              <a:t> switch; write the Introduction and Methods in Markdown; then use the reference card to hide the </a:t>
            </a:r>
            <a:r>
              <a:rPr>
                <a:latin typeface="Courier"/>
              </a:rPr>
              <a:t>setup</a:t>
            </a:r>
            <a:r>
              <a:rPr/>
              <a:t> chunk. Predict each Render before you press it.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4 · Plot It, Then Describe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the three plots you already know — box plot, mean ± SE, histogram — as named chunks with numbered captions, then a summary statistics </a:t>
            </a:r>
            <a:r>
              <a:rPr b="1"/>
              <a:t>table</a:t>
            </a:r>
            <a:r>
              <a:rPr/>
              <a:t> that looks right in Word.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Your skeleton already has a plain, working version of every chunk below.</a:t>
            </a:r>
            <a:r>
              <a:rPr sz="2000"/>
              <a:t> You add the finishing touches — colors, labels, </a:t>
            </a:r>
            <a:r>
              <a:rPr sz="2000">
                <a:latin typeface="Courier"/>
              </a:rPr>
              <a:t>theme_regular()</a:t>
            </a:r>
            <a:r>
              <a:rPr sz="2000"/>
              <a:t>, table formatting — in </a:t>
            </a:r>
            <a:r>
              <a:rPr sz="2000" b="1"/>
              <a:t>Activity Parts 5–6</a:t>
            </a:r>
            <a:r>
              <a:rPr sz="2000"/>
              <a:t>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Start at the top: load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```{r}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label: load-data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read the leaf data from the data/ folder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"data/2026_09_03_data_sci_leaf_area.xlsx"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setup</a:t>
            </a:r>
            <a:r>
              <a:rPr/>
              <a:t> chunk above it (already in your skeleton) loads </a:t>
            </a:r>
            <a:r>
              <a:rPr>
                <a:latin typeface="Courier"/>
              </a:rPr>
              <a:t>readxl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janitor</a:t>
            </a:r>
            <a:r>
              <a:rPr/>
              <a:t>, </a:t>
            </a:r>
            <a:r>
              <a:rPr>
                <a:latin typeface="Courier"/>
              </a:rPr>
              <a:t>broom</a:t>
            </a:r>
            <a:r>
              <a:rPr/>
              <a:t>, and </a:t>
            </a:r>
            <a:r>
              <a:rPr>
                <a:latin typeface="Courier"/>
              </a:rPr>
              <a:t>source()</a:t>
            </a:r>
            <a:r>
              <a:rPr/>
              <a:t>s the theme file and </a:t>
            </a:r>
            <a:r>
              <a:rPr>
                <a:latin typeface="Courier"/>
              </a:rPr>
              <a:t>summary_stats()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Quarto runs the file </a:t>
            </a:r>
            <a:r>
              <a:rPr sz="2000" b="1"/>
              <a:t>top to bottom in a fresh R session</a:t>
            </a:r>
            <a:r>
              <a:rPr sz="2000"/>
              <a:t> — not whatever is sitting in your Console. Libraries and data must load in a chunk </a:t>
            </a:r>
            <a:r>
              <a:rPr sz="2000" b="1"/>
              <a:t>above</a:t>
            </a:r>
            <a:r>
              <a:rPr sz="2000"/>
              <a:t> anything that uses them.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1 · Box plot with the raw points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```{r}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label: fig-boxplot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output-location: column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fig-cap: "Leaf mass by side; each point is one leaf."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fig-width: 5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fig-height: 4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box plot with raw points on top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</a:p>
        </p:txBody>
      </p:sp>
      <p:pic>
        <p:nvPicPr>
          <p:cNvPr descr="quarto_lecture_files/figure-pptx/fig-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2819400"/>
            <a:ext cx="1790700" cy="143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254500"/>
            <a:ext cx="8750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Leaf mass by side; each point is one leaf.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🔮 </a:t>
            </a:r>
            <a:r>
              <a:rPr b="1"/>
              <a:t>Predict:</a:t>
            </a:r>
            <a:r>
              <a:rPr/>
              <a:t> the label starts with </a:t>
            </a:r>
            <a:r>
              <a:rPr>
                <a:latin typeface="Courier"/>
              </a:rPr>
              <a:t>fig-</a:t>
            </a:r>
            <a:r>
              <a:rPr/>
              <a:t> — what does the caption start with?</a:t>
            </a:r>
          </a:p>
          <a:p>
            <a:pPr lvl="0"/>
            <a:r>
              <a:rPr/>
              <a:t>✏️ </a:t>
            </a:r>
            <a:r>
              <a:rPr b="1"/>
              <a:t>You add:</a:t>
            </a:r>
            <a:r>
              <a:rPr/>
              <a:t> your two colors, </a:t>
            </a:r>
            <a:r>
              <a:rPr>
                <a:latin typeface="Courier"/>
              </a:rPr>
              <a:t>labs()</a:t>
            </a:r>
            <a:r>
              <a:rPr/>
              <a:t>, </a:t>
            </a:r>
            <a:r>
              <a:rPr>
                <a:latin typeface="Courier"/>
              </a:rPr>
              <a:t>theme_regular()</a:t>
            </a:r>
            <a:r>
              <a:rPr/>
              <a:t>, no legend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2 · Mean ± 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```{r}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label: fig-mean-se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output-location: column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fig-cap: "Mean leaf mass (± 1 SE) by side."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fig-width: 5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fig-height: 4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mean +/- standard error plot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</a:p>
        </p:txBody>
      </p:sp>
      <p:pic>
        <p:nvPicPr>
          <p:cNvPr descr="quarto_lecture_files/figure-pptx/fig-mean-s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2819400"/>
            <a:ext cx="1790700" cy="143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254500"/>
            <a:ext cx="8750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2: Mean leaf mass (± 1 SE) by side.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🔮 </a:t>
            </a:r>
            <a:r>
              <a:rPr b="1"/>
              <a:t>Predict:</a:t>
            </a:r>
            <a:r>
              <a:rPr/>
              <a:t> the error bars overlap almost completely — what will the t-test say?</a:t>
            </a:r>
          </a:p>
          <a:p>
            <a:pPr lvl="0"/>
            <a:r>
              <a:rPr/>
              <a:t>✏️ </a:t>
            </a:r>
            <a:r>
              <a:rPr b="1"/>
              <a:t>You add:</a:t>
            </a:r>
            <a:r>
              <a:rPr/>
              <a:t> the same four finishing lines — but this plot maps </a:t>
            </a:r>
            <a:r>
              <a:rPr>
                <a:latin typeface="Courier"/>
              </a:rPr>
              <a:t>color</a:t>
            </a:r>
            <a:r>
              <a:rPr/>
              <a:t>, not </a:t>
            </a:r>
            <a:r>
              <a:rPr>
                <a:latin typeface="Courier"/>
              </a:rPr>
              <a:t>fill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3 · Histogram — the shape of each group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```{r}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label: fig-histogram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output-location: column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fig-cap: "Distribution of leaf mass on each side."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fig-width: 6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fig-height: 3.5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one histogram per side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shade)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</a:p>
        </p:txBody>
      </p:sp>
      <p:pic>
        <p:nvPicPr>
          <p:cNvPr descr="quarto_lecture_files/figure-pptx/fig-histo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76600" y="2819400"/>
            <a:ext cx="2463800" cy="143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254500"/>
            <a:ext cx="8750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3: Distribution of leaf mass on each side.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Wider and shorter (</a:t>
            </a:r>
            <a:r>
              <a:rPr>
                <a:latin typeface="Courier"/>
              </a:rPr>
              <a:t>6 × 3.5</a:t>
            </a:r>
            <a:r>
              <a:rPr/>
              <a:t>) because it has </a:t>
            </a:r>
            <a:r>
              <a:rPr b="1"/>
              <a:t>two panels</a:t>
            </a:r>
          </a:p>
          <a:p>
            <a:pPr lvl="0"/>
            <a:r>
              <a:rPr/>
              <a:t>The box plot hides the shape; the histogram shows it</a:t>
            </a:r>
          </a:p>
          <a:p>
            <a:pPr lvl="0"/>
            <a:r>
              <a:rPr/>
              <a:t>✏️ </a:t>
            </a:r>
            <a:r>
              <a:rPr b="1"/>
              <a:t>You add:</a:t>
            </a:r>
            <a:r>
              <a:rPr/>
              <a:t> colors, </a:t>
            </a:r>
            <a:r>
              <a:rPr>
                <a:latin typeface="Courier"/>
              </a:rPr>
              <a:t>labs()</a:t>
            </a:r>
            <a:r>
              <a:rPr/>
              <a:t>, </a:t>
            </a:r>
            <a:r>
              <a:rPr>
                <a:latin typeface="Courier"/>
              </a:rPr>
              <a:t>theme_regular()</a:t>
            </a:r>
            <a:r>
              <a:rPr/>
              <a:t>, no legend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Describe it · a summary statistics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```{r}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label: tbl-summary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tbl-cap: "Summary statistics for leaf mass (g) by side."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tbl-colwidths: [12, 7, 12, 15, 12, 12, 15, 15]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summary statistics by side, printed as a table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mass_stats_df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summary_stats</a:t>
            </a:r>
            <a:r>
              <a:rPr>
                <a:solidFill>
                  <a:srgbClr val="003B4F"/>
                </a:solidFill>
                <a:latin typeface="Courier"/>
              </a:rPr>
              <a:t>(mass_g)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mass_stats_df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knitr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"Mean"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"Variance"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20794D"/>
                </a:solidFill>
                <a:latin typeface="Courier"/>
              </a:rPr>
              <a:t>"SD"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"CI low"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"CI high"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"/>
                <a:gridCol w="546100"/>
                <a:gridCol w="546100"/>
                <a:gridCol w="546100"/>
                <a:gridCol w="546100"/>
                <a:gridCol w="546100"/>
                <a:gridCol w="546100"/>
                <a:gridCol w="5461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ci_lower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ci_upper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0.592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summary_stats()</a:t>
            </a:r>
            <a:r>
              <a:rPr/>
              <a:t> — same helper as Activity 06</a:t>
            </a:r>
          </a:p>
          <a:p>
            <a:pPr lvl="0"/>
            <a:r>
              <a:rPr>
                <a:latin typeface="Courier"/>
              </a:rPr>
              <a:t>knitr::kable()</a:t>
            </a:r>
            <a:r>
              <a:rPr/>
              <a:t> — data frame → </a:t>
            </a:r>
            <a:r>
              <a:rPr b="1"/>
              <a:t>real table</a:t>
            </a:r>
          </a:p>
          <a:p>
            <a:pPr lvl="0"/>
            <a:r>
              <a:rPr>
                <a:latin typeface="Courier"/>
              </a:rPr>
              <a:t>digits = 3</a:t>
            </a:r>
            <a:r>
              <a:rPr/>
              <a:t> — rounds the whole table</a:t>
            </a:r>
          </a:p>
          <a:p>
            <a:pPr lvl="0"/>
            <a:r>
              <a:rPr>
                <a:latin typeface="Courier"/>
              </a:rPr>
              <a:t>col.names =</a:t>
            </a:r>
            <a:r>
              <a:rPr/>
              <a:t> — readable headers, one per column</a:t>
            </a:r>
          </a:p>
          <a:p>
            <a:pPr lvl="0"/>
            <a:r>
              <a:rPr>
                <a:latin typeface="Courier"/>
              </a:rPr>
              <a:t>tbl-colwidths:</a:t>
            </a:r>
            <a:r>
              <a:rPr/>
              <a:t> — </a:t>
            </a:r>
            <a:r>
              <a:rPr b="1"/>
              <a:t>eight columns, eight percents</a:t>
            </a:r>
          </a:p>
          <a:p>
            <a:pPr lvl="0" indent="0" marL="0">
              <a:buNone/>
            </a:pPr>
            <a:r>
              <a:rPr/>
              <a:t>In your text write </a:t>
            </a:r>
            <a:r>
              <a:rPr>
                <a:latin typeface="Courier"/>
              </a:rPr>
              <a:t>@tbl-summary</a:t>
            </a:r>
            <a:r>
              <a:rPr/>
              <a:t> and Quarto prints </a:t>
            </a:r>
            <a:r>
              <a:rPr b="1"/>
              <a:t>“Table 1”</a:t>
            </a:r>
            <a:r>
              <a:rPr/>
              <a:t> for you.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</a:t>
            </a:r>
            <a:r>
              <a:rPr>
                <a:latin typeface="Courier"/>
              </a:rPr>
              <a:t>tbl-colwidths</a:t>
            </a:r>
            <a:r>
              <a:rPr/>
              <a:t>? Tables in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Without widths, Word </a:t>
            </a:r>
            <a:r>
              <a:rPr b="1"/>
              <a:t>guesses</a:t>
            </a:r>
            <a:r>
              <a:rPr/>
              <a:t> — and it often guesses badly: a fat first column and the last column squashed until the numbers wrap.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#| tbl-colwidths: [12, 7, 12, 15, 12, 12, 15, 15]</a:t>
            </a:r>
          </a:p>
          <a:p>
            <a:pPr lvl="0"/>
            <a:r>
              <a:rPr/>
              <a:t>One number per column, in order</a:t>
            </a:r>
          </a:p>
          <a:p>
            <a:pPr lvl="0"/>
            <a:r>
              <a:rPr/>
              <a:t>They are </a:t>
            </a:r>
            <a:r>
              <a:rPr b="1"/>
              <a:t>percents</a:t>
            </a:r>
            <a:r>
              <a:rPr/>
              <a:t> of the page width — aim for a total of 100</a:t>
            </a:r>
          </a:p>
          <a:p>
            <a:pPr lvl="0"/>
            <a:r>
              <a:rPr/>
              <a:t>Give short columns (like </a:t>
            </a:r>
            <a:r>
              <a:rPr>
                <a:latin typeface="Courier"/>
              </a:rPr>
              <a:t>n</a:t>
            </a:r>
            <a:r>
              <a:rPr/>
              <a:t>) less, headers like </a:t>
            </a:r>
            <a:r>
              <a:rPr>
                <a:latin typeface="Courier"/>
              </a:rPr>
              <a:t>Variance</a:t>
            </a:r>
            <a:r>
              <a:rPr/>
              <a:t> more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kable()</a:t>
            </a:r>
            <a:r>
              <a:rPr sz="2000"/>
              <a:t> makes the table; </a:t>
            </a:r>
            <a:r>
              <a:rPr sz="2000">
                <a:latin typeface="Courier"/>
              </a:rPr>
              <a:t>tbl-colwidths</a:t>
            </a:r>
            <a:r>
              <a:rPr sz="2000"/>
              <a:t> makes it </a:t>
            </a:r>
            <a:r>
              <a:rPr sz="2000" b="1"/>
              <a:t>line up</a:t>
            </a:r>
            <a:r>
              <a:rPr sz="2000"/>
              <a:t> in Word and PDF. Same numbers, readable layout.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5–6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5–6 now</a:t>
            </a:r>
          </a:p>
          <a:p>
            <a:pPr lvl="0" indent="0" marL="0">
              <a:buNone/>
            </a:pPr>
            <a:r>
              <a:rPr/>
              <a:t>Render the plain plots and table first, then finish them: colors, axis labels, </a:t>
            </a:r>
            <a:r>
              <a:rPr>
                <a:latin typeface="Courier"/>
              </a:rPr>
              <a:t>theme_regular()</a:t>
            </a:r>
            <a:r>
              <a:rPr/>
              <a:t>, no legend, and </a:t>
            </a:r>
            <a:r>
              <a:rPr>
                <a:latin typeface="Courier"/>
              </a:rPr>
              <a:t>digits</a:t>
            </a:r>
            <a:r>
              <a:rPr/>
              <a:t> + </a:t>
            </a:r>
            <a:r>
              <a:rPr>
                <a:latin typeface="Courier"/>
              </a:rPr>
              <a:t>col.names</a:t>
            </a:r>
            <a:r>
              <a:rPr/>
              <a:t> in </a:t>
            </a:r>
            <a:r>
              <a:rPr>
                <a:latin typeface="Courier"/>
              </a:rPr>
              <a:t>kable()</a:t>
            </a:r>
            <a:r>
              <a:rPr/>
              <a:t>. Render after </a:t>
            </a:r>
            <a:r>
              <a:rPr b="1"/>
              <a:t>each</a:t>
            </a:r>
            <a:r>
              <a:rPr/>
              <a:t> one.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4 of 4 · Test It, Then Render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a Welch’s two-sample t-test (you met the t-test in intro bio), a clean results table, then hiding the code and rendering Word, PDF, and slides.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7–9</a:t>
            </a:r>
            <a:r>
              <a:rPr sz="2000"/>
              <a:t> (t-test, render all three and hand in, then play).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Welch’s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Question:</a:t>
            </a:r>
            <a:r>
              <a:rPr/>
              <a:t> is the difference between the two means bigger than we’d expect by chance?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```{r}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label: ttest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Welch's t-test (does NOT assume equal variances)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leaf_ttest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leaf_df,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leaf_ttest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mass_g by shade
t = 0.35579, df = 42.527, p-value = 0.7238
alternative hypothesis: true difference in means between group shady and group sunny is not equal to 0
95 percent confidence interval:
 -0.08392774  0.11987117
sample estimates:
mean in group shady mean in group sunny 
          0.5230357           0.5050640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mass_g ~ shade</a:t>
            </a:r>
            <a:r>
              <a:rPr/>
              <a:t> — “mass </a:t>
            </a:r>
            <a:r>
              <a:rPr b="1"/>
              <a:t>by</a:t>
            </a:r>
            <a:r>
              <a:rPr/>
              <a:t> shade”: number on the left, two groups on the right</a:t>
            </a:r>
          </a:p>
          <a:p>
            <a:pPr lvl="0"/>
            <a:r>
              <a:rPr>
                <a:latin typeface="Courier"/>
              </a:rPr>
              <a:t>var.equal = FALSE</a:t>
            </a:r>
            <a:r>
              <a:rPr/>
              <a:t> — </a:t>
            </a:r>
            <a:r>
              <a:rPr b="1"/>
              <a:t>Welch’s</a:t>
            </a:r>
            <a:r>
              <a:rPr/>
              <a:t> version: does </a:t>
            </a:r>
            <a:r>
              <a:rPr b="1"/>
              <a:t>not</a:t>
            </a:r>
            <a:r>
              <a:rPr/>
              <a:t> assume the two sides have the same variance</a:t>
            </a:r>
          </a:p>
          <a:p>
            <a:pPr lvl="0"/>
            <a:r>
              <a:rPr/>
              <a:t>Look for </a:t>
            </a:r>
            <a:r>
              <a:rPr b="1"/>
              <a:t>t</a:t>
            </a:r>
            <a:r>
              <a:rPr/>
              <a:t>, </a:t>
            </a:r>
            <a:r>
              <a:rPr b="1"/>
              <a:t>df</a:t>
            </a:r>
            <a:r>
              <a:rPr/>
              <a:t>, and </a:t>
            </a:r>
            <a:r>
              <a:rPr b="1"/>
              <a:t>p-value</a:t>
            </a:r>
            <a:r>
              <a:rPr/>
              <a:t> in the printout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Why Welch’s?</a:t>
            </a:r>
          </a:p>
          <a:p>
            <a:pPr lvl="0" indent="0" marL="1270000">
              <a:buNone/>
            </a:pPr>
            <a:r>
              <a:rPr sz="2000"/>
              <a:t>It is safe whether or not the variances match, so it is R’s default and a sensible first choice. Next lecture takes it apart properly.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same result as a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```{r}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label: tbl-ttest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tbl-cap: "Welch's t-test of leaf mass by side of the tree."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tbl-colwidths: [20, 20, 15, 15, 15, 15]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the same result as a clean table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leaf_ttest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(estimate1, estimate2, statistic, parameter,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p.value, conf.low)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knitr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shady"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"Mean 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20794D"/>
                </a:solidFill>
                <a:latin typeface="Courier"/>
              </a:rPr>
              <a:t>"df"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"p-value"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"CI low"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/>
                <a:gridCol w="876300"/>
                <a:gridCol w="876300"/>
                <a:gridCol w="876300"/>
                <a:gridCol w="8763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estimate1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estimate2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p.value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42.527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0.724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tidy()</a:t>
            </a:r>
            <a:r>
              <a:rPr/>
              <a:t> (from </a:t>
            </a:r>
            <a:r>
              <a:rPr>
                <a:latin typeface="Courier"/>
              </a:rPr>
              <a:t>broom</a:t>
            </a:r>
            <a:r>
              <a:rPr/>
              <a:t>) turns the printout into a </a:t>
            </a:r>
            <a:r>
              <a:rPr b="1"/>
              <a:t>data frame</a:t>
            </a:r>
          </a:p>
          <a:p>
            <a:pPr lvl="0"/>
            <a:r>
              <a:rPr/>
              <a:t>then it is just </a:t>
            </a:r>
            <a:r>
              <a:rPr>
                <a:latin typeface="Courier"/>
              </a:rPr>
              <a:t>select()</a:t>
            </a:r>
            <a:r>
              <a:rPr/>
              <a:t> + </a:t>
            </a:r>
            <a:r>
              <a:rPr>
                <a:latin typeface="Courier"/>
              </a:rPr>
              <a:t>kable()</a:t>
            </a:r>
            <a:r>
              <a:rPr/>
              <a:t> — tools you already have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Reading it</a:t>
            </a:r>
          </a:p>
          <a:p>
            <a:pPr lvl="0" indent="0" marL="1270000">
              <a:buNone/>
            </a:pPr>
            <a:r>
              <a:rPr sz="2000" i="1"/>
              <a:t>p</a:t>
            </a:r>
            <a:r>
              <a:rPr sz="2000"/>
              <a:t> is well above 0.05, so we </a:t>
            </a:r>
            <a:r>
              <a:rPr sz="2000" b="1"/>
              <a:t>fail to reject</a:t>
            </a:r>
            <a:r>
              <a:rPr sz="2000"/>
              <a:t> the null: these data show no difference in mean leaf mass between sides — just what the overlapping error bars predicted. That is a real result; report it honestly.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Hide the code — one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version you hand in, flip the switch in the YAML: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execute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echo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false</a:t>
            </a:r>
            <a:r>
              <a:rPr>
                <a:solidFill>
                  <a:srgbClr val="5E5E5E"/>
                </a:solidFill>
                <a:latin typeface="Courier"/>
              </a:rPr>
              <a:t>      # hide ALL the code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warning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false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message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false</a:t>
            </a:r>
          </a:p>
          <a:p>
            <a:pPr lvl="0" indent="0" marL="0">
              <a:buNone/>
            </a:pPr>
            <a:r>
              <a:rPr/>
              <a:t>…and hide the raw t-test printout — the table already has those numbers. The chunk still </a:t>
            </a:r>
            <a:r>
              <a:rPr b="1"/>
              <a:t>runs</a:t>
            </a:r>
            <a:r>
              <a:rPr/>
              <a:t>, so </a:t>
            </a:r>
            <a:r>
              <a:rPr>
                <a:latin typeface="Courier"/>
              </a:rPr>
              <a:t>leaf_ttest</a:t>
            </a:r>
            <a:r>
              <a:rPr/>
              <a:t> still exists: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```{r}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label: ttest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#| output: 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leaf_ttest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leaf_df,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leaf_ttest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```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execute:</a:t>
            </a:r>
            <a:r>
              <a:rPr sz="2000"/>
              <a:t> in the YAML = the </a:t>
            </a:r>
            <a:r>
              <a:rPr sz="2000" b="1"/>
              <a:t>default for every chunk</a:t>
            </a:r>
            <a:r>
              <a:rPr sz="2000"/>
              <a:t>. A chunk’s own </a:t>
            </a:r>
            <a:r>
              <a:rPr sz="2000">
                <a:latin typeface="Courier"/>
              </a:rPr>
              <a:t>#|</a:t>
            </a:r>
            <a:r>
              <a:rPr sz="2000"/>
              <a:t> line = the </a:t>
            </a:r>
            <a:r>
              <a:rPr sz="2000" b="1"/>
              <a:t>exception</a:t>
            </a:r>
            <a:r>
              <a:rPr sz="2000"/>
              <a:t> for that one chunk.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One file → Word, PDF, and slides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Render</a:t>
            </a:r>
            <a:r>
              <a:rPr/>
              <a:t> button previews </a:t>
            </a:r>
            <a:r>
              <a:rPr b="1"/>
              <a:t>one</a:t>
            </a:r>
            <a:r>
              <a:rPr/>
              <a:t> format. To build </a:t>
            </a:r>
            <a:r>
              <a:rPr b="1"/>
              <a:t>everything</a:t>
            </a:r>
            <a:r>
              <a:rPr/>
              <a:t> listed under </a:t>
            </a:r>
            <a:r>
              <a:rPr>
                <a:latin typeface="Courier"/>
              </a:rPr>
              <a:t>format:</a:t>
            </a:r>
            <a:r>
              <a:rPr/>
              <a:t>, use the </a:t>
            </a:r>
            <a:r>
              <a:rPr b="1"/>
              <a:t>Terminal</a:t>
            </a:r>
            <a:r>
              <a:rPr/>
              <a:t> tab (not the Console):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quarto render leaf_report.qmd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/>
                <a:gridCol w="28829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What it 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leaf_report.docx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Word report — hand 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leaf_report.pdf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PDF report — hand 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leaf_report.html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RevealJS slide show — press </a:t>
                      </a:r>
                      <a:r>
                        <a:rPr b="1"/>
                        <a:t>F</a:t>
                      </a:r>
                      <a:r>
                        <a:rPr/>
                        <a:t> for full screen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PDF needs LaTeX — once per computer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quarto install tinytex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🎞 RevealJS</a:t>
            </a:r>
          </a:p>
          <a:p>
            <a:pPr lvl="0" indent="0" marL="1270000">
              <a:buNone/>
            </a:pPr>
            <a:r>
              <a:rPr sz="2000"/>
              <a:t>The same report becomes a web-based slide show: each </a:t>
            </a:r>
            <a:r>
              <a:rPr sz="2000">
                <a:latin typeface="Courier"/>
              </a:rPr>
              <a:t>#</a:t>
            </a:r>
            <a:r>
              <a:rPr sz="2000"/>
              <a:t> is a section slide, each </a:t>
            </a:r>
            <a:r>
              <a:rPr sz="2000">
                <a:latin typeface="Courier"/>
              </a:rPr>
              <a:t>##</a:t>
            </a:r>
            <a:r>
              <a:rPr sz="2000"/>
              <a:t> a slide. These lecture slides are made exactly this way.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Making things fit on a slide (RevealJS)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work in </a:t>
            </a:r>
            <a:r>
              <a:rPr b="1"/>
              <a:t>any</a:t>
            </a:r>
            <a:r>
              <a:rPr/>
              <a:t> Quarto presentation — they only change the slides, never the Word or PDF.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1930400"/>
                <a:gridCol w="4203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Where it goes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output-location: column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chunk </a:t>
                      </a:r>
                      <a:r>
                        <a:rPr>
                          <a:latin typeface="Courier"/>
                        </a:rPr>
                        <a:t>#|</a:t>
                      </a:r>
                      <a:r>
                        <a:rPr/>
                        <a:t> 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code on the left, result on the right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output-location: slide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chunk </a:t>
                      </a:r>
                      <a:r>
                        <a:rPr>
                          <a:latin typeface="Courier"/>
                        </a:rPr>
                        <a:t>#|</a:t>
                      </a:r>
                      <a:r>
                        <a:rPr/>
                        <a:t> 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result gets its own slide after the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output-location: fragment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chunk </a:t>
                      </a:r>
                      <a:r>
                        <a:rPr>
                          <a:latin typeface="Courier"/>
                        </a:rPr>
                        <a:t>#|</a:t>
                      </a:r>
                      <a:r>
                        <a:rPr/>
                        <a:t> 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result appears on the next click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fig-width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fig-height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chunk </a:t>
                      </a:r>
                      <a:r>
                        <a:rPr>
                          <a:latin typeface="Courier"/>
                        </a:rPr>
                        <a:t>#|</a:t>
                      </a:r>
                      <a:r>
                        <a:rPr/>
                        <a:t> 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 shorter figure fits under more 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echo: 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chunk or </a:t>
                      </a:r>
                      <a:r>
                        <a:rPr>
                          <a:latin typeface="Courier"/>
                        </a:rPr>
                        <a:t>execute: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hide the code — just show the result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smaller: true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under </a:t>
                      </a:r>
                      <a:r>
                        <a:rPr>
                          <a:latin typeface="Courier"/>
                        </a:rPr>
                        <a:t>revealjs: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smaller text on every slide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scrollable: true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under </a:t>
                      </a:r>
                      <a:r>
                        <a:rPr>
                          <a:latin typeface="Courier"/>
                        </a:rPr>
                        <a:t>revealjs: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 long slide scrolls instead of being cut off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## Title {.smaller}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 one heading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smaller text on </a:t>
                      </a:r>
                      <a:r>
                        <a:rPr b="1"/>
                        <a:t>that</a:t>
                      </a:r>
                      <a:r>
                        <a:rPr/>
                        <a:t> slide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::::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 the Markdown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put any two things side by side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Put </a:t>
            </a:r>
            <a:r>
              <a:rPr sz="2000">
                <a:latin typeface="Courier"/>
              </a:rPr>
              <a:t>output-location: column</a:t>
            </a:r>
            <a:r>
              <a:rPr sz="2000"/>
              <a:t> under </a:t>
            </a:r>
            <a:r>
              <a:rPr sz="2000">
                <a:latin typeface="Courier"/>
              </a:rPr>
              <a:t>revealjs:</a:t>
            </a:r>
            <a:r>
              <a:rPr sz="2000"/>
              <a:t> in the YAML and </a:t>
            </a:r>
            <a:r>
              <a:rPr sz="2000" b="1"/>
              <a:t>every</a:t>
            </a:r>
            <a:r>
              <a:rPr sz="2000"/>
              <a:t> chunk in your slides gets code-left, plot-right.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7–8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7–8 now</a:t>
            </a:r>
          </a:p>
          <a:p>
            <a:pPr lvl="0" indent="0" marL="0">
              <a:buNone/>
            </a:pPr>
            <a:r>
              <a:rPr/>
              <a:t>Read the Welch’s t-test, finish its table, write a short Discussion, set </a:t>
            </a:r>
            <a:r>
              <a:rPr>
                <a:latin typeface="Courier"/>
              </a:rPr>
              <a:t>echo: false</a:t>
            </a:r>
            <a:r>
              <a:rPr/>
              <a:t>, then </a:t>
            </a:r>
            <a:r>
              <a:rPr>
                <a:latin typeface="Courier"/>
              </a:rPr>
              <a:t>quarto render leaf_report.qmd</a:t>
            </a:r>
            <a:r>
              <a:rPr/>
              <a:t> in the Terminal. Hand in the </a:t>
            </a:r>
            <a:r>
              <a:rPr>
                <a:latin typeface="Courier"/>
              </a:rPr>
              <a:t>.qmd</a:t>
            </a:r>
            <a:r>
              <a:rPr/>
              <a:t>, </a:t>
            </a:r>
            <a:r>
              <a:rPr>
                <a:latin typeface="Courier"/>
              </a:rPr>
              <a:t>.docx</a:t>
            </a:r>
            <a:r>
              <a:rPr/>
              <a:t>, and </a:t>
            </a:r>
            <a:r>
              <a:rPr>
                <a:latin typeface="Courier"/>
              </a:rPr>
              <a:t>.pdf</a:t>
            </a:r>
            <a:r>
              <a:rPr/>
              <a:t> — then </a:t>
            </a:r>
            <a:r>
              <a:rPr b="1"/>
              <a:t>play</a:t>
            </a:r>
            <a:r>
              <a:rPr/>
              <a:t> (Activity Part 9).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 · What you can now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Explain </a:t>
            </a:r>
            <a:r>
              <a:rPr b="1"/>
              <a:t>why</a:t>
            </a:r>
            <a:r>
              <a:rPr/>
              <a:t> a Quarto report beats a script plus copy-paste</a:t>
            </a:r>
          </a:p>
          <a:p>
            <a:pPr lvl="0"/>
            <a:r>
              <a:rPr/>
              <a:t>Save a </a:t>
            </a:r>
            <a:r>
              <a:rPr>
                <a:latin typeface="Courier"/>
              </a:rPr>
              <a:t>.qmd</a:t>
            </a:r>
            <a:r>
              <a:rPr/>
              <a:t> at the </a:t>
            </a:r>
            <a:r>
              <a:rPr b="1"/>
              <a:t>project top</a:t>
            </a:r>
            <a:r>
              <a:rPr/>
              <a:t> so </a:t>
            </a:r>
            <a:r>
              <a:rPr>
                <a:latin typeface="Courier"/>
              </a:rPr>
              <a:t>data/...</a:t>
            </a:r>
            <a:r>
              <a:rPr/>
              <a:t> paths just work</a:t>
            </a:r>
          </a:p>
          <a:p>
            <a:pPr lvl="0"/>
            <a:r>
              <a:rPr/>
              <a:t>Use the </a:t>
            </a:r>
            <a:r>
              <a:rPr b="1"/>
              <a:t>YAML</a:t>
            </a:r>
            <a:r>
              <a:rPr/>
              <a:t> to pick outputs and switch all code on/off with </a:t>
            </a:r>
            <a:r>
              <a:rPr>
                <a:latin typeface="Courier"/>
              </a:rPr>
              <a:t>echo</a:t>
            </a:r>
          </a:p>
          <a:p>
            <a:pPr lvl="0"/>
            <a:r>
              <a:rPr/>
              <a:t>Write </a:t>
            </a:r>
            <a:r>
              <a:rPr b="1"/>
              <a:t>Markdown</a:t>
            </a:r>
            <a:r>
              <a:rPr/>
              <a:t> and </a:t>
            </a:r>
            <a:r>
              <a:rPr b="1"/>
              <a:t>named chunks</a:t>
            </a:r>
            <a:r>
              <a:rPr/>
              <a:t> with the options you need</a:t>
            </a:r>
          </a:p>
          <a:p>
            <a:pPr lvl="0"/>
            <a:r>
              <a:rPr/>
              <a:t>Take data </a:t>
            </a:r>
            <a:r>
              <a:rPr b="1"/>
              <a:t>start to finish</a:t>
            </a:r>
            <a:r>
              <a:rPr/>
              <a:t>: plots → summary table → Welch’s t-test</a:t>
            </a:r>
          </a:p>
          <a:p>
            <a:pPr lvl="0"/>
            <a:r>
              <a:rPr/>
              <a:t>Render </a:t>
            </a:r>
            <a:r>
              <a:rPr b="1"/>
              <a:t>one file</a:t>
            </a:r>
            <a:r>
              <a:rPr/>
              <a:t> to </a:t>
            </a:r>
            <a:r>
              <a:rPr b="1"/>
              <a:t>Word, PDF, and RevealJS slides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analysis can now be a document that rebuilds itself from the raw data.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🧰 Keep </a:t>
            </a:r>
            <a:r>
              <a:rPr sz="2000" b="1">
                <a:latin typeface="Courier"/>
              </a:rPr>
              <a:t>leaf_report.qmd</a:t>
            </a:r>
          </a:p>
          <a:p>
            <a:pPr lvl="0" indent="0" marL="1270000">
              <a:buNone/>
            </a:pPr>
            <a:r>
              <a:rPr sz="2000"/>
              <a:t>Your template for every analysis this term: copy it, change the data file and column names, rewrite the text, Render.</a:t>
            </a:r>
          </a:p>
          <a:p>
            <a:pPr lvl="0" indent="0" marL="0">
              <a:buNone/>
            </a:pPr>
            <a:r>
              <a:rPr b="1"/>
              <a:t>Up next — T-Tests I:</a:t>
            </a:r>
          </a:p>
          <a:p>
            <a:pPr lvl="0"/>
            <a:r>
              <a:rPr/>
              <a:t>Where the </a:t>
            </a:r>
            <a:r>
              <a:rPr i="1"/>
              <a:t>t</a:t>
            </a:r>
            <a:r>
              <a:rPr/>
              <a:t>-statistic comes from, and why Welch’s is the safe default</a:t>
            </a:r>
          </a:p>
          <a:p>
            <a:pPr lvl="0"/>
            <a:r>
              <a:rPr/>
              <a:t>Checking assumptions first — normality and equal variance</a:t>
            </a:r>
          </a:p>
          <a:p>
            <a:pPr lvl="0"/>
            <a:r>
              <a:rPr/>
              <a:t>…written up in your Quarto report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 — From Script to Report</dc:title>
  <dc:creator>Bill Perry</dc:creator>
  <cp:keywords/>
  <dc:description>Why we write analyses as Quarto documents instead of loose scripts: YAML, Markdown, and code chunks with a chunk-option reference, then the whole leaf analysis start to finish — box plot, mean ± SE, histogram, summary statistics table, Welch’s t-test — rendered to Word, PDF, and RevealJS slides from one file.</dc:description>
  <dcterms:created xsi:type="dcterms:W3CDTF">2026-10-19T16:11:12Z</dcterms:created>
  <dcterms:modified xsi:type="dcterms:W3CDTF">2026-10-19T16:11:12Z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7</vt:lpwstr>
  </property>
  <property fmtid="{D5CDD505-2E9C-101B-9397-08002B2CF9AE}" pid="13" name="resources">
    <vt:lpwstr/>
  </property>
  <property fmtid="{D5CDD505-2E9C-101B-9397-08002B2CF9AE}" pid="14" name="subtitle">
    <vt:lpwstr>One Quarto file: read the data, plot it, describe it, test it — Word, PDF, and slides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4</vt:lpwstr>
  </property>
</Properties>
</file>