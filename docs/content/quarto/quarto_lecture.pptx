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" TargetMode="External" /><Relationship Id="rId3" Type="http://schemas.openxmlformats.org/officeDocument/2006/relationships/hyperlink" Target="https://r4ds.hadley.nz/quarto-formats" TargetMode="External" /><Relationship Id="rId4" Type="http://schemas.openxmlformats.org/officeDocument/2006/relationships/hyperlink" Target="https://quarto.org/docs/get-started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quarto#code-chunks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quarto.org/docs/guide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From Script to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Quarto? Code chunks, Markdown, and a professional Word document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Figures</a:t>
            </a:r>
            <a:r>
              <a:rPr/>
              <a:t> — boxplots and mean ± SE plots, saved as PNG (GGPlot I)</a:t>
            </a:r>
          </a:p>
          <a:p>
            <a:pPr lvl="0"/>
            <a:r>
              <a:rPr/>
              <a:t>Everything so far lives in a </a:t>
            </a:r>
            <a:r>
              <a:rPr b="1">
                <a:latin typeface="Courier"/>
              </a:rPr>
              <a:t>.R</a:t>
            </a:r>
            <a:r>
              <a:rPr b="1"/>
              <a:t> script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You now have a complete descriptive analysis of the leaf data. Today we turn that pile of code into a </a:t>
            </a:r>
            <a:r>
              <a:rPr sz="2000" b="1"/>
              <a:t>report a human can read</a:t>
            </a:r>
            <a:r>
              <a:rPr sz="2000"/>
              <a:t> — before we even get to formal hypothesis testing.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a script alone is not enough</a:t>
            </a:r>
          </a:p>
          <a:p>
            <a:pPr lvl="0"/>
            <a:r>
              <a:rPr/>
              <a:t>Meet </a:t>
            </a:r>
            <a:r>
              <a:rPr b="1"/>
              <a:t>Quarto</a:t>
            </a:r>
            <a:r>
              <a:rPr/>
              <a:t> — code and writing in one file</a:t>
            </a:r>
          </a:p>
          <a:p>
            <a:pPr lvl="0"/>
            <a:r>
              <a:rPr/>
              <a:t>Learn the three ingredients:</a:t>
            </a:r>
          </a:p>
          <a:p>
            <a:pPr lvl="1"/>
            <a:r>
              <a:rPr b="1"/>
              <a:t>YAML front matter</a:t>
            </a:r>
            <a:r>
              <a:rPr/>
              <a:t> — the recipe at the top</a:t>
            </a:r>
          </a:p>
          <a:p>
            <a:pPr lvl="1"/>
            <a:r>
              <a:rPr b="1"/>
              <a:t>Markdown</a:t>
            </a:r>
            <a:r>
              <a:rPr/>
              <a:t> — formatted text, no clicking</a:t>
            </a:r>
          </a:p>
          <a:p>
            <a:pPr lvl="1"/>
            <a:r>
              <a:rPr b="1"/>
              <a:t>Code chunks</a:t>
            </a:r>
            <a:r>
              <a:rPr/>
              <a:t> — R that runs and shows its output</a:t>
            </a:r>
          </a:p>
          <a:p>
            <a:pPr lvl="0"/>
            <a:r>
              <a:rPr b="1"/>
              <a:t>Render</a:t>
            </a:r>
            <a:r>
              <a:rPr/>
              <a:t> our leaf analysis to a </a:t>
            </a:r>
            <a:r>
              <a:rPr b="1"/>
              <a:t>professional Word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click </a:t>
            </a:r>
            <a:r>
              <a:rPr sz="2000" b="1"/>
              <a:t>Render</a:t>
            </a:r>
            <a:r>
              <a:rPr sz="2000"/>
              <a:t> and get a finished Word report of </a:t>
            </a:r>
            <a:r>
              <a:rPr sz="2000" i="1"/>
              <a:t>our</a:t>
            </a:r>
            <a:r>
              <a:rPr sz="2000"/>
              <a:t> leaf study.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/>
              <a:t>No new packages — just Positron + Quarto (built in)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28 — Quarto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29 — Quarto formats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quarto.org — get started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Render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build your own report.</a:t>
            </a:r>
          </a:p>
          <a:p>
            <a:pPr lvl="0" indent="0" marL="0">
              <a:buNone/>
            </a:pPr>
            <a:r>
              <a:rPr b="1"/>
              <a:t>For every snippet,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you Render, say what the document will show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 b="1"/>
              <a:t>Predicting first</a:t>
            </a:r>
            <a:r>
              <a:rPr sz="2000"/>
              <a:t> forces you to </a:t>
            </a:r>
            <a:r>
              <a:rPr sz="2000" i="1"/>
              <a:t>retrieve</a:t>
            </a:r>
            <a:r>
              <a:rPr sz="2000"/>
              <a:t> how Markdown and chunks behave. The surprise when you’re wrong is what makes it stick.</a:t>
            </a:r>
          </a:p>
          <a:p>
            <a:pPr lvl="0"/>
            <a:r>
              <a:rPr sz="2000" b="1"/>
              <a:t>Typing by hand</a:t>
            </a:r>
            <a:r>
              <a:rPr sz="2000"/>
              <a:t> builds muscle memory for YAML indentation and chunk syntax — exactly where beginners slip.</a:t>
            </a:r>
          </a:p>
          <a:p>
            <a:pPr lvl="0"/>
            <a:r>
              <a:rPr sz="2000" b="1"/>
              <a:t>Chunk → immediate practice</a:t>
            </a:r>
            <a:r>
              <a:rPr sz="2000"/>
              <a:t> keeps each new idea in working memory long enough to form a lasting schema.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Why Quarto?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pain of script-plus-copy-paste, literate programming, and reproducibility — the real payoff.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</a:t>
            </a:r>
            <a:r>
              <a:rPr sz="2000"/>
              <a:t> open the finished example </a:t>
            </a:r>
            <a:r>
              <a:rPr sz="2000" b="1">
                <a:latin typeface="Courier"/>
              </a:rPr>
              <a:t>t_test_report.qmd</a:t>
            </a:r>
            <a:r>
              <a:rPr sz="2000"/>
              <a:t>, Render it, then start </a:t>
            </a:r>
            <a:r>
              <a:rPr sz="2000" b="1"/>
              <a:t>Activity Step 1</a:t>
            </a:r>
            <a:r>
              <a:rPr sz="2000"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problem with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happens after the analysis?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</a:t>
            </a:r>
            <a:r>
              <a:rPr>
                <a:latin typeface="Courier"/>
              </a:rPr>
              <a:t>.R</a:t>
            </a:r>
            <a:r>
              <a:rPr/>
              <a:t> script is great for </a:t>
            </a:r>
            <a:r>
              <a:rPr i="1"/>
              <a:t>running</a:t>
            </a:r>
            <a:r>
              <a:rPr/>
              <a:t> code. But when the lab report is due you have to:</a:t>
            </a:r>
          </a:p>
          <a:p>
            <a:pPr lvl="0"/>
            <a:r>
              <a:rPr/>
              <a:t>Run the script</a:t>
            </a:r>
          </a:p>
          <a:p>
            <a:pPr lvl="0"/>
            <a:r>
              <a:rPr b="1"/>
              <a:t>Copy</a:t>
            </a:r>
            <a:r>
              <a:rPr/>
              <a:t> each number into Word by hand</a:t>
            </a:r>
          </a:p>
          <a:p>
            <a:pPr lvl="0"/>
            <a:r>
              <a:rPr b="1"/>
              <a:t>Export</a:t>
            </a:r>
            <a:r>
              <a:rPr/>
              <a:t> every plot, then drag it in</a:t>
            </a:r>
          </a:p>
          <a:p>
            <a:pPr lvl="0"/>
            <a:r>
              <a:rPr/>
              <a:t>Re-do </a:t>
            </a:r>
            <a:r>
              <a:rPr i="1"/>
              <a:t>all of it</a:t>
            </a:r>
            <a:r>
              <a:rPr/>
              <a:t> when the data changes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Every hand-copied number is a chance for a typo. Change one data point and the whole report is out of date.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Excel?</a:t>
            </a:r>
          </a:p>
          <a:p>
            <a:pPr lvl="0" indent="0" marL="1270000">
              <a:buNone/>
            </a:pPr>
            <a:r>
              <a:rPr sz="2000"/>
              <a:t>This is the same pain as pasting a chart into Word, then editing the spreadsheet and forgetting to update the chart.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idea: keep code and writing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Literate programming</a:t>
            </a:r>
            <a:r>
              <a:rPr/>
              <a:t> — write the </a:t>
            </a:r>
            <a:r>
              <a:rPr i="1"/>
              <a:t>story</a:t>
            </a:r>
            <a:r>
              <a:rPr/>
              <a:t> and the </a:t>
            </a:r>
            <a:r>
              <a:rPr i="1"/>
              <a:t>code</a:t>
            </a:r>
            <a:r>
              <a:rPr/>
              <a:t> in the </a:t>
            </a:r>
            <a:r>
              <a:rPr b="1"/>
              <a:t>same file</a:t>
            </a:r>
            <a:r>
              <a:rPr/>
              <a:t>.</a:t>
            </a:r>
          </a:p>
          <a:p>
            <a:pPr lvl="0"/>
            <a:r>
              <a:rPr/>
              <a:t>Your explanation sits next to the code that made it</a:t>
            </a:r>
          </a:p>
          <a:p>
            <a:pPr lvl="0"/>
            <a:r>
              <a:rPr/>
              <a:t>The numbers and plots are </a:t>
            </a:r>
            <a:r>
              <a:rPr b="1"/>
              <a:t>computed</a:t>
            </a:r>
            <a:r>
              <a:rPr/>
              <a:t>, never copied</a:t>
            </a:r>
          </a:p>
          <a:p>
            <a:pPr lvl="0"/>
            <a:r>
              <a:rPr/>
              <a:t>Press </a:t>
            </a:r>
            <a:r>
              <a:rPr b="1"/>
              <a:t>Render</a:t>
            </a:r>
            <a:r>
              <a:rPr/>
              <a:t> → a finished document appears</a:t>
            </a:r>
          </a:p>
          <a:p>
            <a:pPr lvl="0" indent="0">
              <a:buNone/>
            </a:pPr>
            <a:r>
              <a:rPr>
                <a:latin typeface="Courier"/>
              </a:rPr>
              <a:t>one .qmd file  →  Render  →  Word / HTML / PDF / PowerPoint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Quarto</a:t>
            </a:r>
            <a:r>
              <a:rPr sz="2000"/>
              <a:t> = the tool that turns one plain-text </a:t>
            </a:r>
            <a:r>
              <a:rPr sz="2000">
                <a:latin typeface="Courier"/>
              </a:rPr>
              <a:t>.qmd</a:t>
            </a:r>
            <a:r>
              <a:rPr sz="2000"/>
              <a:t> file into a polished document.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script </a:t>
            </a:r>
            <a:r>
              <a:rPr sz="2000" i="1"/>
              <a:t>does</a:t>
            </a:r>
            <a:r>
              <a:rPr sz="2000"/>
              <a:t> the analysis.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Quarto document</a:t>
            </a:r>
            <a:r>
              <a:rPr sz="2000"/>
              <a:t> does the analysis </a:t>
            </a:r>
            <a:r>
              <a:rPr sz="2000" b="1"/>
              <a:t>and explains it</a:t>
            </a:r>
            <a:r>
              <a:rPr sz="2000"/>
              <a:t> — and rebuilds itself on demand.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Reproducibility — the real payoff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Change your data file, press </a:t>
            </a:r>
            <a:r>
              <a:rPr b="1"/>
              <a:t>Render</a:t>
            </a:r>
            <a:r>
              <a:rPr/>
              <a:t>, and:</a:t>
            </a:r>
          </a:p>
          <a:p>
            <a:pPr lvl="0"/>
            <a:r>
              <a:rPr/>
              <a:t>Every mean, SD, and </a:t>
            </a:r>
            <a:r>
              <a:rPr i="1"/>
              <a:t>p</a:t>
            </a:r>
            <a:r>
              <a:rPr/>
              <a:t>-value </a:t>
            </a:r>
            <a:r>
              <a:rPr b="1"/>
              <a:t>recalculates</a:t>
            </a:r>
          </a:p>
          <a:p>
            <a:pPr lvl="0"/>
            <a:r>
              <a:rPr/>
              <a:t>Every figure </a:t>
            </a:r>
            <a:r>
              <a:rPr b="1"/>
              <a:t>redraws</a:t>
            </a:r>
          </a:p>
          <a:p>
            <a:pPr lvl="0"/>
            <a:r>
              <a:rPr/>
              <a:t>Every sentence with a number </a:t>
            </a:r>
            <a:r>
              <a:rPr b="1"/>
              <a:t>updates itself</a:t>
            </a:r>
          </a:p>
          <a:p>
            <a:pPr lvl="0" indent="0" marL="0">
              <a:buNone/>
            </a:pPr>
            <a:r>
              <a:rPr/>
              <a:t>This is what scientists mean by </a:t>
            </a:r>
            <a:r>
              <a:rPr b="1"/>
              <a:t>reproducible</a:t>
            </a:r>
            <a:r>
              <a:rPr/>
              <a:t> — anyone (including future-you) can regenerate your exact results.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Imagine a reviewer finds one bad leaf measurement. With Quarto the fix is: delete the row, then press Render — every table, figure, and sentence downstream updates to match.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054100"/>
            <a:ext cx="44069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the pipe operator: tree_df flows down into filter(side == “sunny”), then flows down into summary(), read as “take tree_df, then filter, then summarise.”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Same philosophy as Lecture 02: </a:t>
            </a:r>
            <a:r>
              <a:rPr sz="2000" b="1"/>
              <a:t>never overwrite your raw numbers</a:t>
            </a:r>
            <a:r>
              <a:rPr sz="2000"/>
              <a:t> — let the document rebuild from them.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See It, Then Do Activity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1 now</a:t>
            </a:r>
          </a:p>
          <a:p>
            <a:pPr lvl="0" indent="0" marL="0">
              <a:buNone/>
            </a:pPr>
            <a:r>
              <a:rPr/>
              <a:t>Open </a:t>
            </a:r>
            <a:r>
              <a:rPr b="1">
                <a:latin typeface="Courier"/>
              </a:rPr>
              <a:t>t_test_report.qmd</a:t>
            </a:r>
            <a:r>
              <a:rPr/>
              <a:t>, press Render, and watch a script become a finished Word report. Then make your own new </a:t>
            </a:r>
            <a:r>
              <a:rPr>
                <a:latin typeface="Courier"/>
              </a:rPr>
              <a:t>.qmd</a:t>
            </a:r>
            <a:r>
              <a:rPr/>
              <a:t> (Step 1).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Anatomy of a </a:t>
            </a:r>
            <a:r>
              <a:rPr>
                <a:latin typeface="Courier"/>
              </a:rPr>
              <a:t>.qmd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three ingredients — YAML front matter, Markdown text, and named code chunks.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2–4</a:t>
            </a:r>
            <a:r>
              <a:rPr sz="2000"/>
              <a:t> (write the YAML, add Markdown, add named chunks).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Anatomy of a </a:t>
            </a:r>
            <a:r>
              <a:rPr>
                <a:latin typeface="Courier"/>
              </a:rPr>
              <a:t>.qmd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parts, top to bottom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Quarto document has the same three ingredients:</a:t>
            </a:r>
          </a:p>
          <a:p>
            <a:pPr lvl="0" indent="0">
              <a:buNone/>
            </a:pPr>
            <a:r>
              <a:rPr>
                <a:latin typeface="Courier"/>
              </a:rPr>
              <a:t>1. YAML front matter  ← the recipe (title, output type)
2. Markdown text      ← your writing, formatted
3. Code chunks        ← R that runs and shows results</a:t>
            </a:r>
          </a:p>
          <a:p>
            <a:pPr lvl="0" indent="0" marL="0">
              <a:buNone/>
            </a:pPr>
            <a:r>
              <a:rPr/>
              <a:t>You already </a:t>
            </a:r>
            <a:r>
              <a:rPr i="1"/>
              <a:t>read</a:t>
            </a:r>
            <a:r>
              <a:rPr/>
              <a:t> these every day — this whole lecture is a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>
                <a:latin typeface="Courier"/>
              </a:rPr>
              <a:t>.qmd</a:t>
            </a:r>
            <a:r>
              <a:rPr sz="2000"/>
              <a:t> = a </a:t>
            </a:r>
            <a:r>
              <a:rPr sz="2000" b="1"/>
              <a:t>Q</a:t>
            </a:r>
            <a:r>
              <a:rPr sz="2000"/>
              <a:t>uarto </a:t>
            </a:r>
            <a:r>
              <a:rPr sz="2000" b="1"/>
              <a:t>m</a:t>
            </a:r>
            <a:r>
              <a:rPr sz="2000"/>
              <a:t>ark</a:t>
            </a:r>
            <a:r>
              <a:rPr sz="2000" b="1"/>
              <a:t>d</a:t>
            </a:r>
            <a:r>
              <a:rPr sz="2000"/>
              <a:t>own file. Plain text you can open anywhere.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 write a script and write an email, you already know two of the three parts. Only the </a:t>
            </a:r>
            <a:r>
              <a:rPr sz="2000" b="1"/>
              <a:t>YAML</a:t>
            </a:r>
            <a:r>
              <a:rPr sz="2000"/>
              <a:t> is new.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Ingredient 1 · YAML front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block at the very top, fenced by three dashes </a:t>
            </a:r>
            <a:r>
              <a:rPr>
                <a:latin typeface="Courier"/>
              </a:rPr>
              <a:t>---</a:t>
            </a:r>
            <a:r>
              <a:rPr/>
              <a:t>. It is the </a:t>
            </a:r>
            <a:r>
              <a:rPr b="1"/>
              <a:t>recipe</a:t>
            </a:r>
            <a:r>
              <a:rPr/>
              <a:t> — what to build and how: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docx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/>
            <a:r>
              <a:rPr>
                <a:latin typeface="Courier"/>
              </a:rPr>
              <a:t>title</a:t>
            </a:r>
            <a:r>
              <a:rPr/>
              <a:t>, </a:t>
            </a:r>
            <a:r>
              <a:rPr>
                <a:latin typeface="Courier"/>
              </a:rPr>
              <a:t>author</a:t>
            </a:r>
            <a:r>
              <a:rPr/>
              <a:t>, </a:t>
            </a:r>
            <a:r>
              <a:rPr>
                <a:latin typeface="Courier"/>
              </a:rPr>
              <a:t>date</a:t>
            </a:r>
            <a:r>
              <a:rPr/>
              <a:t> — appear at the top of the report</a:t>
            </a:r>
          </a:p>
          <a:p>
            <a:pPr lvl="0"/>
            <a:r>
              <a:rPr>
                <a:latin typeface="Courier"/>
              </a:rPr>
              <a:t>format: docx</a:t>
            </a:r>
            <a:r>
              <a:rPr/>
              <a:t> — </a:t>
            </a:r>
            <a:r>
              <a:rPr b="1"/>
              <a:t>make a Word document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YAML is </a:t>
            </a:r>
            <a:r>
              <a:rPr sz="2000" b="1"/>
              <a:t>space-sensitive</a:t>
            </a:r>
            <a:r>
              <a:rPr sz="2000"/>
              <a:t>. Indent with spaces, never tabs. A stray space is the #1 beginner error.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YAML</a:t>
            </a:r>
            <a:r>
              <a:rPr sz="2000"/>
              <a:t> = “</a:t>
            </a:r>
            <a:r>
              <a:rPr sz="2000" b="1"/>
              <a:t>Y</a:t>
            </a:r>
            <a:r>
              <a:rPr sz="2000"/>
              <a:t>AML </a:t>
            </a:r>
            <a:r>
              <a:rPr sz="2000" b="1"/>
              <a:t>A</a:t>
            </a:r>
            <a:r>
              <a:rPr sz="2000"/>
              <a:t>in’t </a:t>
            </a:r>
            <a:r>
              <a:rPr sz="2000" b="1"/>
              <a:t>M</a:t>
            </a:r>
            <a:r>
              <a:rPr sz="2000"/>
              <a:t>arkup </a:t>
            </a:r>
            <a:r>
              <a:rPr sz="2000" b="1"/>
              <a:t>L</a:t>
            </a:r>
            <a:r>
              <a:rPr sz="2000"/>
              <a:t>anguage.” Just a tidy list of </a:t>
            </a:r>
            <a:r>
              <a:rPr sz="2000">
                <a:latin typeface="Courier"/>
              </a:rPr>
              <a:t>key: value</a:t>
            </a:r>
            <a:r>
              <a:rPr sz="2000"/>
              <a:t> settings.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format:</a:t>
            </a:r>
            <a:r>
              <a:rPr/>
              <a:t> is the only line you change to get Word vs. HTML vs. PowerPoint.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2 · Markdown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Look at the Markdown block below. Before it renders, sketch what it becomes — which line is a big heading, which are bullets, what turns bold?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Markdown is </a:t>
            </a:r>
            <a:r>
              <a:rPr b="1"/>
              <a:t>formatting with symbols</a:t>
            </a:r>
            <a:r>
              <a:rPr/>
              <a:t> instead of toolbar buttons: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A big heading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## A smaller heading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Normal text. Make it **bold** or *italic*.</a:t>
            </a:r>
            <a:br/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 bullet</a:t>
            </a:r>
            <a:br/>
            <a:r>
              <a:rPr>
                <a:solidFill>
                  <a:srgbClr val="20794D"/>
                </a:solidFill>
                <a:latin typeface="Courier"/>
              </a:rPr>
              <a:t>- </a:t>
            </a:r>
            <a:r>
              <a:rPr>
                <a:solidFill>
                  <a:srgbClr val="003B4F"/>
                </a:solidFill>
                <a:latin typeface="Courier"/>
              </a:rPr>
              <a:t>another bullet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[</a:t>
            </a:r>
            <a:r>
              <a:rPr>
                <a:solidFill>
                  <a:srgbClr val="003B4F"/>
                </a:solidFill>
                <a:latin typeface="Courier"/>
              </a:rPr>
              <a:t>a link</a:t>
            </a:r>
            <a:r>
              <a:rPr>
                <a:solidFill>
                  <a:srgbClr val="5E5E5E"/>
                </a:solidFill>
                <a:latin typeface="Courier"/>
              </a:rPr>
              <a:t>](https://r4ds.hadley.nz)</a:t>
            </a:r>
          </a:p>
          <a:p>
            <a:pPr lvl="0" indent="0" marL="0">
              <a:buNone/>
            </a:pPr>
            <a:r>
              <a:rPr/>
              <a:t>You write the symbols; Quarto turns them into real headings, bullets, and links.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Markdown</a:t>
            </a:r>
            <a:r>
              <a:rPr sz="2000"/>
              <a:t> = a simple way to format plain text using a few symbols like </a:t>
            </a:r>
            <a:r>
              <a:rPr sz="2000">
                <a:latin typeface="Courier"/>
              </a:rPr>
              <a:t>#</a:t>
            </a:r>
            <a:r>
              <a:rPr sz="2000"/>
              <a:t>, </a:t>
            </a:r>
            <a:r>
              <a:rPr sz="2000">
                <a:latin typeface="Courier"/>
              </a:rPr>
              <a:t>*</a:t>
            </a:r>
            <a:r>
              <a:rPr sz="2000"/>
              <a:t>, and </a:t>
            </a:r>
            <a:r>
              <a:rPr sz="2000">
                <a:latin typeface="Courier"/>
              </a:rPr>
              <a:t>-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Coming from Word?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**bold**</a:t>
            </a:r>
            <a:r>
              <a:rPr sz="2000"/>
              <a:t> is just the </a:t>
            </a:r>
            <a:r>
              <a:rPr sz="2000" i="1"/>
              <a:t>keyboard</a:t>
            </a:r>
            <a:r>
              <a:rPr sz="2000"/>
              <a:t> version of clicking the </a:t>
            </a:r>
            <a:r>
              <a:rPr sz="2000" b="1"/>
              <a:t>B</a:t>
            </a:r>
            <a:r>
              <a:rPr sz="2000"/>
              <a:t> button. Same result, no mouse.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Ingredient 3 · Code chunks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chunk below runs </a:t>
            </a:r>
            <a:r>
              <a:rPr sz="2000">
                <a:latin typeface="Courier"/>
              </a:rPr>
              <a:t>mean(c(4, 3, 5, 7))</a:t>
            </a:r>
            <a:r>
              <a:rPr sz="2000"/>
              <a:t>. What number will land in the document? Predict before you look.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code chunk</a:t>
            </a:r>
            <a:r>
              <a:rPr/>
              <a:t> is a fenced block of R that actually </a:t>
            </a:r>
            <a:r>
              <a:rPr b="1"/>
              <a:t>runs</a:t>
            </a:r>
            <a:r>
              <a:rPr/>
              <a:t> when you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Opening fence: </a:t>
            </a:r>
            <a:r>
              <a:rPr>
                <a:latin typeface="Courier"/>
              </a:rPr>
              <a:t>```{r}</a:t>
            </a:r>
            <a:r>
              <a:rPr/>
              <a:t> — the </a:t>
            </a:r>
            <a:r>
              <a:rPr>
                <a:latin typeface="Courier"/>
              </a:rPr>
              <a:t>{r}</a:t>
            </a:r>
            <a:r>
              <a:rPr/>
              <a:t> means “this is R”</a:t>
            </a:r>
          </a:p>
          <a:p>
            <a:pPr lvl="0"/>
            <a:r>
              <a:rPr/>
              <a:t>Closing fence: </a:t>
            </a:r>
            <a:r>
              <a:rPr>
                <a:latin typeface="Courier"/>
              </a:rPr>
              <a:t>```</a:t>
            </a:r>
          </a:p>
          <a:p>
            <a:pPr lvl="0"/>
            <a:r>
              <a:rPr/>
              <a:t>The </a:t>
            </a:r>
            <a:r>
              <a:rPr b="1"/>
              <a:t>code</a:t>
            </a:r>
            <a:r>
              <a:rPr/>
              <a:t> </a:t>
            </a:r>
            <a:r>
              <a:rPr i="1"/>
              <a:t>and</a:t>
            </a:r>
            <a:r>
              <a:rPr/>
              <a:t> its </a:t>
            </a:r>
            <a:r>
              <a:rPr b="1"/>
              <a:t>output</a:t>
            </a:r>
            <a:r>
              <a:rPr/>
              <a:t> land in your document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Shortcut to insert a chunk: </a:t>
            </a:r>
            <a:r>
              <a:rPr sz="2000" b="1"/>
              <a:t>Ctrl/Cmd + Alt + I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we write code chunks: the result you see in the report is </a:t>
            </a:r>
            <a:r>
              <a:rPr sz="2000" b="1"/>
              <a:t>computed live</a:t>
            </a:r>
            <a:r>
              <a:rPr sz="2000"/>
              <a:t>, so it can never disagree with your code.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 every chunk (just like your scripts)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Give each chunk a short </a:t>
            </a:r>
            <a:r>
              <a:rPr b="1"/>
              <a:t>label</a:t>
            </a:r>
            <a:r>
              <a:rPr/>
              <a:t> after </a:t>
            </a:r>
            <a:r>
              <a:rPr>
                <a:latin typeface="Courier"/>
              </a:rPr>
              <a:t>r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load-data}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/>
            <a:r>
              <a:rPr/>
              <a:t>If rendering fails, Quarto tells you </a:t>
            </a:r>
            <a:r>
              <a:rPr b="1"/>
              <a:t>which named chunk</a:t>
            </a:r>
            <a:r>
              <a:rPr/>
              <a:t> broke</a:t>
            </a:r>
          </a:p>
          <a:p>
            <a:pPr lvl="0"/>
            <a:r>
              <a:rPr/>
              <a:t>Same habit as our small, named steps in Lectures 03–04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Chunk labels must be </a:t>
            </a:r>
            <a:r>
              <a:rPr sz="2000" b="1"/>
              <a:t>unique</a:t>
            </a:r>
            <a:r>
              <a:rPr sz="2000"/>
              <a:t> — no two chunks named </a:t>
            </a:r>
            <a:r>
              <a:rPr sz="2000">
                <a:latin typeface="Courier"/>
              </a:rPr>
              <a:t>plot</a:t>
            </a:r>
            <a:r>
              <a:rPr sz="2000"/>
              <a:t>. Same rule as never overwriting a </a:t>
            </a:r>
            <a:r>
              <a:rPr sz="2000">
                <a:latin typeface="Courier"/>
              </a:rPr>
              <a:t>_plot</a:t>
            </a:r>
            <a:r>
              <a:rPr sz="2000"/>
              <a:t> object.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Small, </a:t>
            </a:r>
            <a:r>
              <a:rPr sz="2000" b="1"/>
              <a:t>named</a:t>
            </a:r>
            <a:r>
              <a:rPr sz="2000"/>
              <a:t> chunks = easy to find the one line that failed. This is the same debugging strategy from your scripts.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I’ll give </a:t>
            </a:r>
            <a:r>
              <a:rPr b="1"/>
              <a:t>two chunks the same label</a:t>
            </a:r>
            <a:r>
              <a:rPr/>
              <a:t> and Render: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… the </a:t>
            </a:r>
            <a:r>
              <a:rPr i="1"/>
              <a:t>same</a:t>
            </a:r>
            <a:r>
              <a:rPr/>
              <a:t> label again 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plot}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  <a:p>
            <a:pPr lvl="0" indent="0" marL="0">
              <a:buNone/>
            </a:pPr>
            <a:r>
              <a:rPr/>
              <a:t>Quarto stops: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ERROR: Duplicate chunk label 'plot'</a:t>
            </a:r>
          </a:p>
          <a:p>
            <a:pPr lvl="0" indent="0" marL="0">
              <a:buNone/>
            </a:pPr>
            <a:r>
              <a:rPr/>
              <a:t>The fix — make every label unique: </a:t>
            </a:r>
            <a:r>
              <a:rPr>
                <a:latin typeface="Courier"/>
              </a:rPr>
              <a:t>plot-box</a:t>
            </a:r>
            <a:r>
              <a:rPr/>
              <a:t> and </a:t>
            </a:r>
            <a:r>
              <a:rPr>
                <a:latin typeface="Courier"/>
              </a:rPr>
              <a:t>plot-mean-se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render?</a:t>
            </a:r>
          </a:p>
          <a:p>
            <a:pPr lvl="0" indent="0" marL="1270000">
              <a:buNone/>
            </a:pPr>
            <a:r>
              <a:rPr sz="2000"/>
              <a:t>Quarto names the exact problem — </a:t>
            </a:r>
            <a:r>
              <a:rPr sz="2000" i="1"/>
              <a:t>“Duplicate chunk label ‘plot’”</a:t>
            </a:r>
            <a:r>
              <a:rPr sz="2000"/>
              <a:t>. Once you know to read the error for the chunk name, you’ll go straight to the repeated label instead of guessing.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2–4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2–4 now</a:t>
            </a:r>
          </a:p>
          <a:p>
            <a:pPr lvl="0" indent="0" marL="0">
              <a:buNone/>
            </a:pPr>
            <a:r>
              <a:rPr/>
              <a:t>Type the YAML by hand (spaces, not tabs), add a heading and bullets in Markdown, and create two uniquely named chunks. Predict what each renders before you press Render.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Chunk Options &amp; Inline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#|</a:t>
            </a:r>
            <a:r>
              <a:rPr/>
              <a:t> options to control what shows, and inline </a:t>
            </a:r>
            <a:r>
              <a:rPr>
                <a:latin typeface="Courier"/>
              </a:rPr>
              <a:t>`r `</a:t>
            </a:r>
            <a:r>
              <a:rPr/>
              <a:t> to drop live numbers into sentences.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 5</a:t>
            </a:r>
            <a:r>
              <a:rPr sz="2000"/>
              <a:t> (compute a value and drop it into a sentence).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Chunk options — control what shows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Lines starting with </a:t>
            </a:r>
            <a:r>
              <a:rPr>
                <a:latin typeface="Courier"/>
              </a:rPr>
              <a:t>#|</a:t>
            </a:r>
            <a:r>
              <a:rPr/>
              <a:t> are </a:t>
            </a:r>
            <a:r>
              <a:rPr b="1"/>
              <a:t>chunk options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```{r leaf-plot}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echo: false      # hide the code, show the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#| fig-width: 6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#tree_box_plot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```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Effect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echo: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the code, keep the output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warning: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warning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message: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hide package startup messages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eval: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code but do </a:t>
                      </a:r>
                      <a:r>
                        <a:rPr b="1"/>
                        <a:t>not</a:t>
                      </a:r>
                      <a:r>
                        <a:rPr/>
                        <a:t> run it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For a clean report set </a:t>
            </a:r>
            <a:r>
              <a:rPr sz="2000">
                <a:latin typeface="Courier"/>
              </a:rPr>
              <a:t>echo: false</a:t>
            </a:r>
            <a:r>
              <a:rPr sz="2000"/>
              <a:t> — readers see the </a:t>
            </a:r>
            <a:r>
              <a:rPr sz="2000" b="1"/>
              <a:t>results</a:t>
            </a:r>
            <a:r>
              <a:rPr sz="2000"/>
              <a:t>, not the code. For a teaching handout, keep </a:t>
            </a:r>
            <a:r>
              <a:rPr sz="2000">
                <a:latin typeface="Courier"/>
              </a:rPr>
              <a:t>echo: true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§28.5 — Code chunks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Inline code — numbers inside sentences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</a:t>
            </a:r>
            <a:r>
              <a:rPr sz="2000">
                <a:latin typeface="Courier"/>
              </a:rPr>
              <a:t>mean(shady_wt)</a:t>
            </a:r>
            <a:r>
              <a:rPr sz="2000"/>
              <a:t> is 7.8, what exact sentence will render from the inline-code line below? Say it out loud before you check.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a live result </a:t>
            </a:r>
            <a:r>
              <a:rPr b="1"/>
              <a:t>into a sentence</a:t>
            </a:r>
            <a:r>
              <a:rPr/>
              <a:t> with </a:t>
            </a:r>
            <a:r>
              <a:rPr>
                <a:latin typeface="Courier"/>
              </a:rPr>
              <a:t>`r `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# Shady leaves averaged `# r mean(shady_wt)` g.</a:t>
            </a:r>
          </a:p>
          <a:p>
            <a:pPr lvl="0" indent="0" marL="0">
              <a:buNone/>
            </a:pPr>
            <a:r>
              <a:rPr/>
              <a:t>renders as:</a:t>
            </a:r>
          </a:p>
          <a:p>
            <a:pPr lvl="0" indent="0" marL="1270000">
              <a:buNone/>
            </a:pPr>
            <a:r>
              <a:rPr sz="2000"/>
              <a:t>Shady leaves averaged </a:t>
            </a:r>
            <a:r>
              <a:rPr sz="2000" b="1"/>
              <a:t>7.8</a:t>
            </a:r>
            <a:r>
              <a:rPr sz="2000"/>
              <a:t> g.</a:t>
            </a:r>
          </a:p>
          <a:p>
            <a:pPr lvl="0"/>
            <a:r>
              <a:rPr/>
              <a:t>The number is </a:t>
            </a:r>
            <a:r>
              <a:rPr b="1"/>
              <a:t>computed</a:t>
            </a:r>
            <a:r>
              <a:rPr/>
              <a:t>, never typed</a:t>
            </a:r>
          </a:p>
          <a:p>
            <a:pPr lvl="0"/>
            <a:r>
              <a:rPr/>
              <a:t>Fix the data → the sentence fixes itself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why inline code is worth the syntax: your </a:t>
            </a:r>
            <a:r>
              <a:rPr sz="2000" i="1"/>
              <a:t>prose</a:t>
            </a:r>
            <a:r>
              <a:rPr sz="2000"/>
              <a:t> stays true to your </a:t>
            </a:r>
            <a:r>
              <a:rPr sz="2000" i="1"/>
              <a:t>data</a:t>
            </a:r>
            <a:r>
              <a:rPr sz="2000"/>
              <a:t> without you retyping a single number.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Inline code only works if the object exists. Load and compute it in a chunk </a:t>
            </a:r>
            <a:r>
              <a:rPr sz="2000" b="1"/>
              <a:t>above</a:t>
            </a:r>
            <a:r>
              <a:rPr sz="2000"/>
              <a:t> the sentence.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 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 5 now</a:t>
            </a:r>
          </a:p>
          <a:p>
            <a:pPr lvl="0" indent="0" marL="0">
              <a:buNone/>
            </a:pPr>
            <a:r>
              <a:rPr/>
              <a:t>Compute a group mean, then insert it into a sentence with inline code. Predict the number that will appear before you Render.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Rendering to Word &amp; Beyond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YAML for a professional Word doc, one file → many outputs, and the render-often workflow.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Steps 6–7</a:t>
            </a:r>
            <a:r>
              <a:rPr sz="2000"/>
              <a:t> (make it professional; one file, three outputs).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Rendering to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YAML block, a professional </a:t>
            </a:r>
            <a:r>
              <a:rPr b="1">
                <a:latin typeface="Courier"/>
              </a:rPr>
              <a:t>.docx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front matter produces a clean, structured Word document: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title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Morphology Report"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author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"Your Name"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date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today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toc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r>
              <a:rPr>
                <a:solidFill>
                  <a:srgbClr val="5E5E5E"/>
                </a:solidFill>
                <a:latin typeface="Courier"/>
              </a:rPr>
              <a:t>            # table of contents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number-sections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true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fig-width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fig-height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AD0000"/>
                </a:solidFill>
                <a:latin typeface="Courier"/>
              </a:rPr>
              <a:t>---</a:t>
            </a:r>
          </a:p>
          <a:p>
            <a:pPr lvl="0" indent="0" marL="0">
              <a:buNone/>
            </a:pPr>
            <a:r>
              <a:rPr/>
              <a:t>Then press </a:t>
            </a:r>
            <a:r>
              <a:rPr b="1"/>
              <a:t>Render</a:t>
            </a:r>
            <a:r>
              <a:rPr/>
              <a:t> (or </a:t>
            </a:r>
            <a:r>
              <a:rPr b="1"/>
              <a:t>Ctrl/Cmd + Shift + K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toc: true</a:t>
            </a:r>
            <a:r>
              <a:rPr sz="2000"/>
              <a:t> and </a:t>
            </a:r>
            <a:r>
              <a:rPr sz="2000">
                <a:latin typeface="Courier"/>
              </a:rPr>
              <a:t>number-sections: true</a:t>
            </a:r>
            <a:r>
              <a:rPr sz="2000"/>
              <a:t> are what make it look like a </a:t>
            </a:r>
            <a:r>
              <a:rPr sz="2000" i="1"/>
              <a:t>report</a:t>
            </a:r>
            <a:r>
              <a:rPr sz="2000"/>
              <a:t>, not a printout.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The activity gives you a ready-made template with exactly this front matter. You just add your writing and render.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Ch 29 — Quarto formats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file, many outputs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best part: </a:t>
            </a:r>
            <a:r>
              <a:rPr b="1"/>
              <a:t>one </a:t>
            </a:r>
            <a:r>
              <a:rPr b="1">
                <a:latin typeface="Courier"/>
              </a:rPr>
              <a:t>.qmd</a:t>
            </a:r>
            <a:r>
              <a:rPr b="1"/>
              <a:t>, many documents</a:t>
            </a:r>
            <a:r>
              <a:rPr/>
              <a:t>. Just list formats: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format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docx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Word report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html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web page</a:t>
            </a:r>
            <a:br/>
            <a:r>
              <a:rPr>
                <a:solidFill>
                  <a:srgbClr val="657422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pptx</a:t>
            </a:r>
            <a:r>
              <a:rPr b="1">
                <a:solidFill>
                  <a:srgbClr val="003B4F"/>
                </a:solidFill>
                <a:latin typeface="Courier"/>
              </a:rPr>
              <a:t>:</a:t>
            </a:r>
            <a:r>
              <a:rPr>
                <a:solidFill>
                  <a:srgbClr val="657422"/>
                </a:solidFill>
                <a:latin typeface="Courier"/>
              </a:rPr>
              <a:t> default</a:t>
            </a:r>
            <a:r>
              <a:rPr>
                <a:solidFill>
                  <a:srgbClr val="5E5E5E"/>
                </a:solidFill>
                <a:latin typeface="Courier"/>
              </a:rPr>
              <a:t>     # PowerPoint</a:t>
            </a:r>
          </a:p>
          <a:p>
            <a:pPr lvl="0"/>
            <a:r>
              <a:rPr/>
              <a:t>Hand in the </a:t>
            </a:r>
            <a:r>
              <a:rPr b="1"/>
              <a:t>Word</a:t>
            </a:r>
            <a:r>
              <a:rPr/>
              <a:t> file</a:t>
            </a:r>
          </a:p>
          <a:p>
            <a:pPr lvl="0"/>
            <a:r>
              <a:rPr/>
              <a:t>Post the </a:t>
            </a:r>
            <a:r>
              <a:rPr b="1"/>
              <a:t>HTML</a:t>
            </a:r>
            <a:r>
              <a:rPr/>
              <a:t> to a site</a:t>
            </a:r>
          </a:p>
          <a:p>
            <a:pPr lvl="0"/>
            <a:r>
              <a:rPr/>
              <a:t>Present the </a:t>
            </a:r>
            <a:r>
              <a:rPr b="1"/>
              <a:t>PowerPoint</a:t>
            </a:r>
            <a:r>
              <a:rPr/>
              <a:t> in lab</a:t>
            </a:r>
          </a:p>
          <a:p>
            <a:pPr lvl="0" indent="0" marL="0">
              <a:buNone/>
            </a:pPr>
            <a:r>
              <a:rPr/>
              <a:t>All from the </a:t>
            </a:r>
            <a:r>
              <a:rPr b="1"/>
              <a:t>same</a:t>
            </a:r>
            <a:r>
              <a:rPr/>
              <a:t> analysis — no re-doing anything.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is exactly how </a:t>
            </a:r>
            <a:r>
              <a:rPr sz="2000" i="1"/>
              <a:t>these lecture slides</a:t>
            </a:r>
            <a:r>
              <a:rPr sz="2000"/>
              <a:t> are built. One file → slides, Word, and PowerPoint.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render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time, it is the same three moves:</a:t>
            </a:r>
          </a:p>
          <a:p>
            <a:pPr lvl="0" indent="-342900" marL="342900">
              <a:buAutoNum type="arabicPeriod"/>
            </a:pPr>
            <a:r>
              <a:rPr b="1"/>
              <a:t>Write</a:t>
            </a:r>
            <a:r>
              <a:rPr/>
              <a:t> — add Markdown text and named code chunks</a:t>
            </a:r>
          </a:p>
          <a:p>
            <a:pPr lvl="0" indent="-342900" marL="342900">
              <a:buAutoNum type="arabicPeriod"/>
            </a:pPr>
            <a:r>
              <a:rPr b="1"/>
              <a:t>Render</a:t>
            </a:r>
            <a:r>
              <a:rPr/>
              <a:t> — Ctrl/Cmd + Shift + K</a:t>
            </a:r>
          </a:p>
          <a:p>
            <a:pPr lvl="0" indent="-342900" marL="342900">
              <a:buAutoNum type="arabicPeriod"/>
            </a:pPr>
            <a:r>
              <a:rPr b="1"/>
              <a:t>Read</a:t>
            </a:r>
            <a:r>
              <a:rPr/>
              <a:t> the output; fix the named chunk if it errors</a:t>
            </a:r>
          </a:p>
          <a:p>
            <a:pPr lvl="0" indent="0" marL="0">
              <a:buNone/>
            </a:pPr>
            <a:r>
              <a:rPr/>
              <a:t>Quarto runs your code </a:t>
            </a:r>
            <a:r>
              <a:rPr b="1"/>
              <a:t>top to bottom in a fresh session</a:t>
            </a:r>
            <a:r>
              <a:rPr/>
              <a:t> — so the order of your chunks matters.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it renders differently than the console, it is almost always </a:t>
            </a:r>
            <a:r>
              <a:rPr sz="2000" b="1"/>
              <a:t>chunk order</a:t>
            </a:r>
            <a:r>
              <a:rPr sz="2000"/>
              <a:t>: load libraries and data </a:t>
            </a:r>
            <a:r>
              <a:rPr sz="2000" b="1"/>
              <a:t>first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Render </a:t>
            </a:r>
            <a:r>
              <a:rPr sz="2000" b="1"/>
              <a:t>often</a:t>
            </a:r>
            <a:r>
              <a:rPr sz="2000"/>
              <a:t> — after every few chunks — so a break is easy to trace. Same as running your script line by line.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Steps 6–7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Steps 6–7 now</a:t>
            </a:r>
          </a:p>
          <a:p>
            <a:pPr lvl="0" indent="0" marL="0">
              <a:buNone/>
            </a:pPr>
            <a:r>
              <a:rPr/>
              <a:t>Upgrade the YAML for a TOC and numbered sections, copy in the template’s table and figure, then render to Word, HTML, and PowerPoint.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 · What you can now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Explain </a:t>
            </a:r>
            <a:r>
              <a:rPr b="1"/>
              <a:t>why</a:t>
            </a:r>
            <a:r>
              <a:rPr/>
              <a:t> a Quarto report beats a bare script</a:t>
            </a:r>
          </a:p>
          <a:p>
            <a:pPr lvl="0"/>
            <a:r>
              <a:rPr/>
              <a:t>Recognize the three parts: </a:t>
            </a:r>
            <a:r>
              <a:rPr b="1"/>
              <a:t>YAML</a:t>
            </a:r>
            <a:r>
              <a:rPr/>
              <a:t>, </a:t>
            </a:r>
            <a:r>
              <a:rPr b="1"/>
              <a:t>Markdown</a:t>
            </a:r>
            <a:r>
              <a:rPr/>
              <a:t>, </a:t>
            </a:r>
            <a:r>
              <a:rPr b="1"/>
              <a:t>code chunks</a:t>
            </a:r>
          </a:p>
          <a:p>
            <a:pPr lvl="0"/>
            <a:r>
              <a:rPr/>
              <a:t>Write and </a:t>
            </a:r>
            <a:r>
              <a:rPr b="1"/>
              <a:t>name</a:t>
            </a:r>
            <a:r>
              <a:rPr/>
              <a:t> a code chunk, set </a:t>
            </a:r>
            <a:r>
              <a:rPr>
                <a:latin typeface="Courier"/>
              </a:rPr>
              <a:t>echo</a:t>
            </a:r>
            <a:r>
              <a:rPr/>
              <a:t>/</a:t>
            </a:r>
            <a:r>
              <a:rPr>
                <a:latin typeface="Courier"/>
              </a:rPr>
              <a:t>warning</a:t>
            </a:r>
            <a:r>
              <a:rPr/>
              <a:t> options</a:t>
            </a:r>
          </a:p>
          <a:p>
            <a:pPr lvl="0"/>
            <a:r>
              <a:rPr/>
              <a:t>Put a </a:t>
            </a:r>
            <a:r>
              <a:rPr b="1"/>
              <a:t>live number in a sentence</a:t>
            </a:r>
            <a:r>
              <a:rPr/>
              <a:t> with inline code</a:t>
            </a:r>
          </a:p>
          <a:p>
            <a:pPr lvl="0"/>
            <a:r>
              <a:rPr/>
              <a:t>Set up YAML to render a </a:t>
            </a:r>
            <a:r>
              <a:rPr b="1"/>
              <a:t>professional Word document</a:t>
            </a:r>
          </a:p>
          <a:p>
            <a:pPr lvl="0"/>
            <a:r>
              <a:rPr/>
              <a:t>Render one file to </a:t>
            </a:r>
            <a:r>
              <a:rPr b="1"/>
              <a:t>Word, HTML, and PowerPoint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Open the activity template, drop in your Lecture 06 summary statistics, and render it to Word.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You turned a script into a </a:t>
            </a:r>
            <a:r>
              <a:rPr sz="2000" b="1"/>
              <a:t>reproducible report</a:t>
            </a:r>
            <a:r>
              <a:rPr sz="2000"/>
              <a:t>. From here on, every analysis can be a document that rebuilds itself — including the t-test you’ll run in Lecture 09.</a:t>
            </a:r>
          </a:p>
          <a:p>
            <a:pPr lvl="0" indent="0" marL="0">
              <a:buNone/>
            </a:pPr>
            <a:r>
              <a:rPr b="1"/>
              <a:t>Up next — Lecture 08 (Flex/Catch-up), then Lecture 09:</a:t>
            </a:r>
          </a:p>
          <a:p>
            <a:pPr lvl="0"/>
            <a:r>
              <a:rPr/>
              <a:t>The two-sample t-test — formally testing our leaf hypothesis</a:t>
            </a:r>
          </a:p>
          <a:p>
            <a:pPr lvl="0"/>
            <a:r>
              <a:rPr/>
              <a:t>…written up in your new Quarto report!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Render breaks (it will — that is normal):</a:t>
            </a:r>
          </a:p>
          <a:p>
            <a:pPr lvl="0"/>
            <a:r>
              <a:rPr/>
              <a:t>Read which </a:t>
            </a:r>
            <a:r>
              <a:rPr b="1"/>
              <a:t>named chunk</a:t>
            </a:r>
            <a:r>
              <a:rPr/>
              <a:t> failed — it is in the message</a:t>
            </a:r>
          </a:p>
          <a:p>
            <a:pPr lvl="0"/>
            <a:r>
              <a:rPr/>
              <a:t>Did you load </a:t>
            </a:r>
            <a:r>
              <a:rPr>
                <a:latin typeface="Courier"/>
              </a:rPr>
              <a:t>library(...)</a:t>
            </a:r>
            <a:r>
              <a:rPr/>
              <a:t> and the </a:t>
            </a:r>
            <a:r>
              <a:rPr b="1"/>
              <a:t>data</a:t>
            </a:r>
            <a:r>
              <a:rPr/>
              <a:t> in a chunk </a:t>
            </a:r>
            <a:r>
              <a:rPr i="1"/>
              <a:t>above</a:t>
            </a:r>
            <a:r>
              <a:rPr/>
              <a:t>?</a:t>
            </a:r>
          </a:p>
          <a:p>
            <a:pPr lvl="0"/>
            <a:r>
              <a:rPr/>
              <a:t>Check the </a:t>
            </a:r>
            <a:r>
              <a:rPr b="1"/>
              <a:t>YAML</a:t>
            </a:r>
            <a:r>
              <a:rPr/>
              <a:t>: spaces not tabs, </a:t>
            </a:r>
            <a:r>
              <a:rPr>
                <a:latin typeface="Courier"/>
              </a:rPr>
              <a:t>---</a:t>
            </a:r>
            <a:r>
              <a:rPr/>
              <a:t> on its own line</a:t>
            </a:r>
          </a:p>
          <a:p>
            <a:pPr lvl="0"/>
            <a:r>
              <a:rPr/>
              <a:t>Is every chunk label </a:t>
            </a:r>
            <a:r>
              <a:rPr b="1"/>
              <a:t>unique</a:t>
            </a:r>
            <a:r>
              <a:rPr/>
              <a:t>?</a:t>
            </a:r>
          </a:p>
          <a:p>
            <a:pPr lvl="0"/>
            <a:r>
              <a:rPr/>
              <a:t>Render often so the break is easy to find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Quarto error names the chunk. That is a gift — go straight to that block.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📊 Reference</a:t>
            </a:r>
          </a:p>
          <a:p>
            <a:pPr lvl="0" indent="0" marL="1270000">
              <a:buNone/>
            </a:pPr>
            <a:r>
              <a:rPr sz="2000"/>
              <a:t>The Quarto guide is excellent and searchable: </a:t>
            </a:r>
            <a:r>
              <a:rPr sz="2000">
                <a:hlinkClick r:id="rId2"/>
              </a:rPr>
              <a:t>quarto.org/docs/guide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From Script to Report</dc:title>
  <dc:creator>Bill Perry</dc:creator>
  <cp:keywords/>
  <dc:description>Why we write analyses as Quarto documents instead of loose scripts: literate programming, code chunks, Markdown, and rendering our leaf analysis to a professional Word document.</dc:description>
  <dcterms:created xsi:type="dcterms:W3CDTF">2026-09-01T21:15:46Z</dcterms:created>
  <dcterms:modified xsi:type="dcterms:W3CDTF">2026-09-01T21:15:46Z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7</vt:lpwstr>
  </property>
  <property fmtid="{D5CDD505-2E9C-101B-9397-08002B2CF9AE}" pid="13" name="resources">
    <vt:lpwstr/>
  </property>
  <property fmtid="{D5CDD505-2E9C-101B-9397-08002B2CF9AE}" pid="14" name="subtitle">
    <vt:lpwstr>Why Quarto? Code chunks, Markdown, and a professional Word document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