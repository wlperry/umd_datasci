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ownloads/leaf_report_skeleton.qmd" TargetMode="External" /><Relationship Id="rId3" Type="http://schemas.openxmlformats.org/officeDocument/2006/relationships/hyperlink" Target="https://r4ds.hadley.nz/quarto" TargetMode="External" /><Relationship Id="rId4" Type="http://schemas.openxmlformats.org/officeDocument/2006/relationships/hyperlink" Target="https://r4ds.hadley.nz/quarto-formats" TargetMode="External" /><Relationship Id="rId5" Type="http://schemas.openxmlformats.org/officeDocument/2006/relationships/hyperlink" Target="https://quarto.org/docs/computations/execution-option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downloads/leaf_report_skeleton.qmd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Quarto file: read the data, plot it, describe it, test it — Word, PDF, and slides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03–06)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leaf data with </a:t>
            </a:r>
            <a:r>
              <a:rPr>
                <a:latin typeface="Courier"/>
              </a:rPr>
              <a:t>read_excel()</a:t>
            </a:r>
            <a:r>
              <a:rPr/>
              <a:t> +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Plotted</a:t>
            </a:r>
            <a:r>
              <a:rPr/>
              <a:t> it — box plots, mean ± SE with </a:t>
            </a:r>
            <a:r>
              <a:rPr>
                <a:latin typeface="Courier"/>
              </a:rPr>
              <a:t>stat_summary()</a:t>
            </a:r>
            <a:r>
              <a:rPr/>
              <a:t>, histograms</a:t>
            </a:r>
          </a:p>
          <a:p>
            <a:pPr lvl="0"/>
            <a:r>
              <a:rPr b="1"/>
              <a:t>Described</a:t>
            </a:r>
            <a:r>
              <a:rPr/>
              <a:t> it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: n, mean, SD, SE, 95% CI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already know every piece of a real analysis. Today we put all of it — plus a t-test — into </a:t>
            </a:r>
            <a:r>
              <a:rPr sz="2000" b="1"/>
              <a:t>one document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Know </a:t>
            </a:r>
            <a:r>
              <a:rPr b="1"/>
              <a:t>where</a:t>
            </a:r>
            <a:r>
              <a:rPr/>
              <a:t> a Quarto file lives in your project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</a:t>
            </a:r>
            <a:r>
              <a:rPr/>
              <a:t> — the recipe at the top (one switch hides all the code)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runs, plus the </a:t>
            </a:r>
            <a:r>
              <a:rPr b="1"/>
              <a:t>chunk options</a:t>
            </a:r>
            <a:r>
              <a:rPr/>
              <a:t> that control it</a:t>
            </a:r>
          </a:p>
          <a:p>
            <a:pPr lvl="0"/>
            <a:r>
              <a:rPr/>
              <a:t>Take the leaf data </a:t>
            </a:r>
            <a:r>
              <a:rPr b="1"/>
              <a:t>start to finish</a:t>
            </a:r>
            <a:r>
              <a:rPr/>
              <a:t>: plots → summary table → </a:t>
            </a:r>
            <a:r>
              <a:rPr b="1"/>
              <a:t>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will hand in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leaf_report.qmd</a:t>
            </a:r>
            <a:r>
              <a:rPr sz="2000"/>
              <a:t>, </a:t>
            </a:r>
            <a:r>
              <a:rPr sz="2000">
                <a:latin typeface="Courier"/>
              </a:rPr>
              <a:t>leaf_report.docx</a:t>
            </a:r>
            <a:r>
              <a:rPr sz="2000"/>
              <a:t>, and </a:t>
            </a:r>
            <a:r>
              <a:rPr sz="2000">
                <a:latin typeface="Courier"/>
              </a:rPr>
              <a:t>leaf_report.pdf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Positron + Quarto (built in)</a:t>
            </a:r>
          </a:p>
          <a:p>
            <a:pPr lvl="0"/>
            <a:r>
              <a:rPr>
                <a:latin typeface="Courier"/>
              </a:rPr>
              <a:t>broom</a:t>
            </a:r>
            <a:r>
              <a:rPr/>
              <a:t> — turns test output into a table (installed with tidyverse)</a:t>
            </a:r>
          </a:p>
          <a:p>
            <a:pPr lvl="0" indent="0" marL="0">
              <a:buNone/>
            </a:pPr>
            <a:r>
              <a:rPr b="1"/>
              <a:t>Get the starter file:</a:t>
            </a:r>
          </a:p>
          <a:p>
            <a:pPr lvl="0"/>
            <a:r>
              <a:rPr/>
              <a:t>📥 </a:t>
            </a:r>
            <a:r>
              <a:rPr b="1">
                <a:hlinkClick r:id="rId2"/>
                <a:latin typeface="Courier"/>
              </a:rPr>
              <a:t>leaf_report_skeleton.qmd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Quarto chunk options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fill in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Quarto, and Where the File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reproducibility, and where to save a </a:t>
            </a:r>
            <a:r>
              <a:rPr>
                <a:latin typeface="Courier"/>
              </a:rPr>
              <a:t>.qmd</a:t>
            </a:r>
            <a:r>
              <a:rPr/>
              <a:t> so your paths just work.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1</a:t>
            </a:r>
            <a:r>
              <a:rPr sz="2000"/>
              <a:t> (save the starter file at the top of your project and Render it).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Tables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 /  PDF  /  slides</a:t>
            </a:r>
          </a:p>
          <a:p>
            <a:pPr lvl="0" indent="0" marL="0">
              <a:buNone/>
            </a:pPr>
            <a:r>
              <a:rPr/>
              <a:t>Change the data, Render again, and every table and figure </a:t>
            </a:r>
            <a:r>
              <a:rPr b="1"/>
              <a:t>rebuilds itself</a:t>
            </a:r>
            <a:r>
              <a:rPr/>
              <a:t>. That is what scientists mean by </a:t>
            </a:r>
            <a:r>
              <a:rPr b="1"/>
              <a:t>reproducible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 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the </a:t>
            </a:r>
            <a:r>
              <a:rPr>
                <a:latin typeface="Courier"/>
              </a:rPr>
              <a:t>.qmd</a:t>
            </a:r>
            <a:r>
              <a:rPr/>
              <a:t> go? — the top of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leaf_project/
├── data/
│   └── 2026_09_03_data_sci_leaf_area.xlsx
├── figures/
├── scripts/
├── themes/
│   ├── r_themes_for_3_sizes.R
│   └── summary_stats_function.R
└── leaf_report.qmd      &lt;- HERE</a:t>
            </a:r>
          </a:p>
          <a:p>
            <a:pPr lvl="0" indent="0" marL="0">
              <a:buNone/>
            </a:pPr>
            <a:r>
              <a:rPr/>
              <a:t>Quarto runs the code </a:t>
            </a:r>
            <a:r>
              <a:rPr b="1"/>
              <a:t>from the folder the </a:t>
            </a:r>
            <a:r>
              <a:rPr b="1">
                <a:latin typeface="Courier"/>
              </a:rPr>
              <a:t>.qmd</a:t>
            </a:r>
            <a:r>
              <a:rPr b="1"/>
              <a:t> is saved in</a:t>
            </a:r>
            <a:r>
              <a:rPr/>
              <a:t>. Save it at the </a:t>
            </a:r>
            <a:r>
              <a:rPr b="1"/>
              <a:t>top</a:t>
            </a:r>
            <a:r>
              <a:rPr/>
              <a:t> of the project and these paths work exactly as they do in your scripts: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.qmd</a:t>
            </a:r>
            <a:r>
              <a:rPr sz="2000"/>
              <a:t> at the top + short paths into subfolders = </a:t>
            </a:r>
            <a:r>
              <a:rPr sz="2000" b="1"/>
              <a:t>no </a:t>
            </a:r>
            <a:r>
              <a:rPr sz="2000" b="1">
                <a:latin typeface="Courier"/>
              </a:rPr>
              <a:t>here</a:t>
            </a:r>
            <a:r>
              <a:rPr sz="2000" b="1"/>
              <a:t> package, no </a:t>
            </a:r>
            <a:r>
              <a:rPr sz="2000" b="1">
                <a:latin typeface="Courier"/>
              </a:rPr>
              <a:t>../</a:t>
            </a:r>
            <a:r>
              <a:rPr sz="2000"/>
              <a:t>. Same paths in the Console, in your scripts, and in the report.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Save it inside </a:t>
            </a:r>
            <a:r>
              <a:rPr sz="2000">
                <a:latin typeface="Courier"/>
              </a:rPr>
              <a:t>documents/</a:t>
            </a:r>
            <a:r>
              <a:rPr sz="2000"/>
              <a:t> and </a:t>
            </a:r>
            <a:r>
              <a:rPr sz="2000">
                <a:latin typeface="Courier"/>
              </a:rPr>
              <a:t>"data/..."</a:t>
            </a:r>
            <a:r>
              <a:rPr sz="2000"/>
              <a:t> breaks — Quarto would look for </a:t>
            </a:r>
            <a:r>
              <a:rPr sz="2000">
                <a:latin typeface="Courier"/>
              </a:rPr>
              <a:t>documents/data/</a:t>
            </a:r>
            <a:r>
              <a:rPr sz="2000"/>
              <a:t>. You would need </a:t>
            </a:r>
            <a:r>
              <a:rPr sz="2000">
                <a:latin typeface="Courier"/>
              </a:rPr>
              <a:t>"../data/..."</a:t>
            </a:r>
            <a:r>
              <a:rPr sz="2000"/>
              <a:t> everywhere. Don’t.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>
                <a:hlinkClick r:id="rId2"/>
                <a:latin typeface="Courier"/>
              </a:rPr>
              <a:t>leaf_report_skeleton.qmd</a:t>
            </a:r>
            <a:r>
              <a:rPr/>
              <a:t>, save it at the </a:t>
            </a:r>
            <a:r>
              <a:rPr b="1"/>
              <a:t>top</a:t>
            </a:r>
            <a:r>
              <a:rPr/>
              <a:t> of your project as </a:t>
            </a:r>
            <a:r>
              <a:rPr>
                <a:latin typeface="Courier"/>
              </a:rPr>
              <a:t>leaf_report.qmd</a:t>
            </a:r>
            <a:r>
              <a:rPr/>
              <a:t>, and press </a:t>
            </a:r>
            <a:r>
              <a:rPr b="1"/>
              <a:t>Render</a:t>
            </a:r>
            <a:r>
              <a:rPr/>
              <a:t> before you change anything.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(and the one line that hides all the code), Markdown, code chunks, and the chunk options you will use all term.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2–4</a:t>
            </a:r>
            <a:r>
              <a:rPr sz="2000"/>
              <a:t> (YAML, Markdown, chunk options).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Three parts, top to bottom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outputs, defaults)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1 · YAML — the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</a:t>
            </a:r>
            <a:r>
              <a:rPr sz="2000">
                <a:latin typeface="Courier"/>
              </a:rPr>
              <a:t>execute:</a:t>
            </a:r>
            <a:r>
              <a:rPr sz="2000"/>
              <a:t> block below says </a:t>
            </a:r>
            <a:r>
              <a:rPr sz="2000">
                <a:latin typeface="Courier"/>
              </a:rPr>
              <a:t>echo: true</a:t>
            </a:r>
            <a:r>
              <a:rPr sz="2000"/>
              <a:t>. What changes in the whole document if you switch it to </a:t>
            </a:r>
            <a:r>
              <a:rPr sz="2000">
                <a:latin typeface="Courier"/>
              </a:rPr>
              <a:t>false</a:t>
            </a:r>
            <a:r>
              <a:rPr sz="2000"/>
              <a:t>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on the Sunny and Shady Sides of a Tree"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 # one file -&gt; three documents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fig-pos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revealjs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scrollable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smaller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           # defaults for EVERY chunk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# false = hide ALL the code at once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format:</a:t>
            </a:r>
            <a:r>
              <a:rPr/>
              <a:t> — </a:t>
            </a:r>
            <a:r>
              <a:rPr b="1"/>
              <a:t>which</a:t>
            </a:r>
            <a:r>
              <a:rPr/>
              <a:t> documents to build</a:t>
            </a:r>
          </a:p>
          <a:p>
            <a:pPr lvl="0"/>
            <a:r>
              <a:rPr>
                <a:latin typeface="Courier"/>
              </a:rPr>
              <a:t>execute:</a:t>
            </a:r>
            <a:r>
              <a:rPr/>
              <a:t> — settings for </a:t>
            </a:r>
            <a:r>
              <a:rPr b="1"/>
              <a:t>every chunk</a:t>
            </a:r>
            <a:r>
              <a:rPr/>
              <a:t>; one line turns all the code on or off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One switch</a:t>
            </a:r>
          </a:p>
          <a:p>
            <a:pPr lvl="0" indent="0" marL="1270000">
              <a:buNone/>
            </a:pPr>
            <a:r>
              <a:rPr sz="2000"/>
              <a:t>Write with </a:t>
            </a:r>
            <a:r>
              <a:rPr sz="2000">
                <a:latin typeface="Courier"/>
              </a:rPr>
              <a:t>echo: true</a:t>
            </a:r>
            <a:r>
              <a:rPr sz="2000"/>
              <a:t> so you can see your code. Flip to </a:t>
            </a:r>
            <a:r>
              <a:rPr sz="2000">
                <a:latin typeface="Courier"/>
              </a:rPr>
              <a:t>echo: false</a:t>
            </a:r>
            <a:r>
              <a:rPr sz="2000"/>
              <a:t> for the version you hand in.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: two spaces, never tabs.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it renders, sketch what this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Introduction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Leaves on the **shady** side of a tree may grow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larger to catch more of the limited light.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**Null hypothesis:** mean mass is the same on both sides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**Alternate hypothesis:** mean mass differs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&lt;!-- a comment: never shows up in the output --&gt;</a:t>
            </a:r>
          </a:p>
          <a:p>
            <a:pPr lvl="0"/>
            <a:r>
              <a:rPr>
                <a:latin typeface="Courier"/>
              </a:rPr>
              <a:t>#</a:t>
            </a:r>
            <a:r>
              <a:rPr/>
              <a:t> heading, </a:t>
            </a:r>
            <a:r>
              <a:rPr>
                <a:latin typeface="Courier"/>
              </a:rPr>
              <a:t>##</a:t>
            </a:r>
            <a:r>
              <a:rPr/>
              <a:t> smaller heading</a:t>
            </a:r>
          </a:p>
          <a:p>
            <a:pPr lvl="0"/>
            <a:r>
              <a:rPr>
                <a:latin typeface="Courier"/>
              </a:rPr>
              <a:t>**bold**</a:t>
            </a:r>
            <a:r>
              <a:rPr/>
              <a:t>, </a:t>
            </a:r>
            <a:r>
              <a:rPr>
                <a:latin typeface="Courier"/>
              </a:rPr>
              <a:t>*italic*</a:t>
            </a:r>
            <a:r>
              <a:rPr/>
              <a:t>, </a:t>
            </a:r>
            <a:r>
              <a:rPr>
                <a:latin typeface="Courier"/>
              </a:rPr>
              <a:t>-</a:t>
            </a:r>
            <a:r>
              <a:rPr/>
              <a:t> bullets</a:t>
            </a:r>
          </a:p>
          <a:p>
            <a:pPr lvl="0"/>
            <a:r>
              <a:rPr>
                <a:latin typeface="Courier"/>
              </a:rPr>
              <a:t>&lt;!-- --&gt;</a:t>
            </a:r>
            <a:r>
              <a:rPr/>
              <a:t> a note to yourself — the skeleton is full of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Bonus</a:t>
            </a:r>
          </a:p>
          <a:p>
            <a:pPr lvl="0" indent="0" marL="1270000">
              <a:buNone/>
            </a:pPr>
            <a:r>
              <a:rPr sz="2000"/>
              <a:t>In the slide version, every </a:t>
            </a:r>
            <a:r>
              <a:rPr sz="2000">
                <a:latin typeface="Courier"/>
              </a:rPr>
              <a:t>#</a:t>
            </a:r>
            <a:r>
              <a:rPr sz="2000"/>
              <a:t> becomes a </a:t>
            </a:r>
            <a:r>
              <a:rPr sz="2000" b="1"/>
              <a:t>section slide</a:t>
            </a:r>
            <a:r>
              <a:rPr sz="2000"/>
              <a:t> and every </a:t>
            </a:r>
            <a:r>
              <a:rPr sz="2000">
                <a:latin typeface="Courier"/>
              </a:rPr>
              <a:t>##</a:t>
            </a:r>
            <a:r>
              <a:rPr sz="2000"/>
              <a:t> becomes a </a:t>
            </a:r>
            <a:r>
              <a:rPr sz="2000" b="1"/>
              <a:t>slide</a:t>
            </a:r>
            <a:r>
              <a:rPr sz="20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fenced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 </a:t>
            </a:r>
            <a:r>
              <a:rPr>
                <a:latin typeface="Courier"/>
              </a:rPr>
              <a:t>```{r}</a:t>
            </a:r>
            <a:r>
              <a:rPr/>
              <a:t> — closing fence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Lines starting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</a:p>
          <a:p>
            <a:pPr lvl="0"/>
            <a:r>
              <a:rPr/>
              <a:t>Then a </a:t>
            </a:r>
            <a:r>
              <a:rPr>
                <a:latin typeface="Courier"/>
              </a:rPr>
              <a:t>#</a:t>
            </a:r>
            <a:r>
              <a:rPr/>
              <a:t> comment saying what it does — same rule as your scripts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Insert a chunk: </a:t>
            </a:r>
            <a:r>
              <a:rPr sz="2000" b="1"/>
              <a:t>Ctrl/Cmd + Alt + I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</a:t>
            </a:r>
            <a:r>
              <a:rPr sz="2000">
                <a:latin typeface="Courier"/>
              </a:rPr>
              <a:t>label</a:t>
            </a:r>
            <a:r>
              <a:rPr sz="2000"/>
              <a:t> must be </a:t>
            </a:r>
            <a:r>
              <a:rPr sz="2000" b="1"/>
              <a:t>unique</a:t>
            </a:r>
            <a:r>
              <a:rPr sz="2000"/>
              <a:t>.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 stop the Render: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Duplicate chunk label 'plot'</a:t>
            </a:r>
          </a:p>
          <a:p>
            <a:pPr lvl="0" indent="0" marL="1270000">
              <a:buNone/>
            </a:pPr>
            <a:r>
              <a:rPr sz="2000"/>
              <a:t>The error names the label — go straight to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the reference card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4546600"/>
                <a:gridCol w="2717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Names the chunk. </a:t>
                      </a:r>
                      <a:r>
                        <a:rPr>
                          <a:latin typeface="Courier"/>
                        </a:rPr>
                        <a:t>fig-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tbl-</a:t>
                      </a:r>
                      <a:r>
                        <a:rPr/>
                        <a:t> at the front numbers it as a Figure / 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label: fig-boxplot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hide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 the </a:t>
                      </a:r>
                      <a:r>
                        <a:rPr b="1"/>
                        <a:t>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echo: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Run the code (</a:t>
                      </a: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) or only show it (</a:t>
                      </a: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eval: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include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runs the code but hides </a:t>
                      </a:r>
                      <a:r>
                        <a:rPr b="1"/>
                        <a:t>both</a:t>
                      </a:r>
                      <a:r>
                        <a:rPr/>
                        <a:t> code and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include: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false</a:t>
                      </a:r>
                      <a:r>
                        <a:rPr/>
                        <a:t> hides the </a:t>
                      </a:r>
                      <a:r>
                        <a:rPr b="1"/>
                        <a:t>results</a:t>
                      </a:r>
                      <a:r>
                        <a:rPr/>
                        <a:t> but keeps the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output: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warning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message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Show or hide warnings / package messages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message: false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size in inches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fig-width: 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fig-cap: "Leaf mass by side"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Table 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tbl-cap: "Summary statistics"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tbl-colwidths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widths in percent — tidy Word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#| tbl-colwidths: [30, 70]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</a:t>
            </a:r>
            <a:r>
              <a:rPr>
                <a:latin typeface="Courier"/>
              </a:rPr>
              <a:t>execute:</a:t>
            </a:r>
            <a:r>
              <a:rPr/>
              <a:t> block in the YAML sets the default for every chunk; a chunk’s own </a:t>
            </a:r>
            <a:r>
              <a:rPr>
                <a:latin typeface="Courier"/>
              </a:rPr>
              <a:t>#|</a:t>
            </a:r>
            <a:r>
              <a:rPr/>
              <a:t> line overrides it for that one chunk.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2–4 now</a:t>
            </a:r>
          </a:p>
          <a:p>
            <a:pPr lvl="0" indent="0" marL="0">
              <a:buNone/>
            </a:pPr>
            <a:r>
              <a:rPr/>
              <a:t>Put your name in the YAML and try the </a:t>
            </a:r>
            <a:r>
              <a:rPr>
                <a:latin typeface="Courier"/>
              </a:rPr>
              <a:t>echo</a:t>
            </a:r>
            <a:r>
              <a:rPr/>
              <a:t> switch; write the Introduction and Methods in Markdown; then use the reference card to hide the </a:t>
            </a:r>
            <a:r>
              <a:rPr>
                <a:latin typeface="Courier"/>
              </a:rPr>
              <a:t>setup</a:t>
            </a:r>
            <a:r>
              <a:rPr/>
              <a:t> chunk. Predict each Render before you press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Plot It, Then Describe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plots you already know — box plot, mean ± SE, histogram — as named chunks with numbered captions, then a summary statistics </a:t>
            </a:r>
            <a:r>
              <a:rPr b="1"/>
              <a:t>table</a:t>
            </a:r>
            <a:r>
              <a:rPr/>
              <a:t> that looks right in Word.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Your skeleton already has a plain, working version of every chunk below.</a:t>
            </a:r>
            <a:r>
              <a:rPr sz="2000"/>
              <a:t> You add the finishing touches — colors, labels, </a:t>
            </a:r>
            <a:r>
              <a:rPr sz="2000">
                <a:latin typeface="Courier"/>
              </a:rPr>
              <a:t>theme_regular()</a:t>
            </a:r>
            <a:r>
              <a:rPr sz="2000"/>
              <a:t>, table formatting — in </a:t>
            </a:r>
            <a:r>
              <a:rPr sz="2000" b="1"/>
              <a:t>Activity Parts 5–6</a:t>
            </a:r>
            <a:r>
              <a:rPr sz="2000"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Start at the top: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load-data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the leaf data from the data/ folder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setup</a:t>
            </a:r>
            <a:r>
              <a:rPr/>
              <a:t> chunk above it (already in your skeleton) loads </a:t>
            </a:r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  <a:r>
              <a:rPr/>
              <a:t>, </a:t>
            </a:r>
            <a:r>
              <a:rPr>
                <a:latin typeface="Courier"/>
              </a:rPr>
              <a:t>broom</a:t>
            </a:r>
            <a:r>
              <a:rPr/>
              <a:t>, and </a:t>
            </a:r>
            <a:r>
              <a:rPr>
                <a:latin typeface="Courier"/>
              </a:rPr>
              <a:t>source()</a:t>
            </a:r>
            <a:r>
              <a:rPr/>
              <a:t>s the theme file and </a:t>
            </a:r>
            <a:r>
              <a:rPr>
                <a:latin typeface="Courier"/>
              </a:rPr>
              <a:t>summary_stats()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Quarto runs the file </a:t>
            </a:r>
            <a:r>
              <a:rPr sz="2000" b="1"/>
              <a:t>top to bottom in a fresh R session</a:t>
            </a:r>
            <a:r>
              <a:rPr sz="2000"/>
              <a:t> — not whatever is sitting in your Console. Libraries and data must load in a chunk </a:t>
            </a:r>
            <a:r>
              <a:rPr sz="2000" b="1"/>
              <a:t>above</a:t>
            </a:r>
            <a:r>
              <a:rPr sz="2000"/>
              <a:t> anything that uses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1 · Box plot with the raw points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"Leaf mass by side; each point is one leaf."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box plot with raw points on top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Leaf mass by side; each point is one leaf.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label starts with </a:t>
            </a:r>
            <a:r>
              <a:rPr>
                <a:latin typeface="Courier"/>
              </a:rPr>
              <a:t>fig-</a:t>
            </a:r>
            <a:r>
              <a:rPr/>
              <a:t> — what does the caption start with?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your two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2 · Mean ± 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fig-mean-se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"Mean leaf mass (± 1 SE)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4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+/- standard error plot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mean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819400"/>
            <a:ext cx="17907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Mean leaf mass (± 1 SE) by side.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🔮 </a:t>
            </a:r>
            <a:r>
              <a:rPr b="1"/>
              <a:t>Predict:</a:t>
            </a:r>
            <a:r>
              <a:rPr/>
              <a:t> the error bars overlap almost completely — what will the t-test say?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the same four finishing lines — but this plot maps </a:t>
            </a:r>
            <a:r>
              <a:rPr>
                <a:latin typeface="Courier"/>
              </a:rPr>
              <a:t>color</a:t>
            </a:r>
            <a:r>
              <a:rPr/>
              <a:t>, not </a:t>
            </a:r>
            <a:r>
              <a:rPr>
                <a:latin typeface="Courier"/>
              </a:rPr>
              <a:t>fill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3 · Histogram — the shape of each group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fig-histogram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output-location: column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fig-cap: "Distribution of leaf mass on each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3.5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one histogram per side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pic>
        <p:nvPicPr>
          <p:cNvPr descr="quarto_lecture_files/figure-pptx/fig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76600" y="2819400"/>
            <a:ext cx="2463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Distribution of leaf mass on each side.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Wider and shorter (</a:t>
            </a:r>
            <a:r>
              <a:rPr>
                <a:latin typeface="Courier"/>
              </a:rPr>
              <a:t>6 × 3.5</a:t>
            </a:r>
            <a:r>
              <a:rPr/>
              <a:t>) because it has </a:t>
            </a:r>
            <a:r>
              <a:rPr b="1"/>
              <a:t>two panels</a:t>
            </a:r>
          </a:p>
          <a:p>
            <a:pPr lvl="0"/>
            <a:r>
              <a:rPr/>
              <a:t>The box plot hides the shape; the histogram shows it</a:t>
            </a:r>
          </a:p>
          <a:p>
            <a:pPr lvl="0"/>
            <a:r>
              <a:rPr/>
              <a:t>✏️ </a:t>
            </a:r>
            <a:r>
              <a:rPr b="1"/>
              <a:t>You add:</a:t>
            </a:r>
            <a:r>
              <a:rPr/>
              <a:t> colors, </a:t>
            </a:r>
            <a:r>
              <a:rPr>
                <a:latin typeface="Courier"/>
              </a:rPr>
              <a:t>labs()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no legend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Describe it · a summary statistics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tbl-summary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"Summary statistics for leaf mass (g) by side."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 by side, printed as a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mass_stats_df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"Variance"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high"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ci_upper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summary_stats()</a:t>
            </a:r>
            <a:r>
              <a:rPr/>
              <a:t> — same helper as Activity 06</a:t>
            </a:r>
          </a:p>
          <a:p>
            <a:pPr lvl="0"/>
            <a:r>
              <a:rPr>
                <a:latin typeface="Courier"/>
              </a:rPr>
              <a:t>knitr::kable()</a:t>
            </a:r>
            <a:r>
              <a:rPr/>
              <a:t> — data frame → </a:t>
            </a:r>
            <a:r>
              <a:rPr b="1"/>
              <a:t>real table</a:t>
            </a:r>
          </a:p>
          <a:p>
            <a:pPr lvl="0"/>
            <a:r>
              <a:rPr>
                <a:latin typeface="Courier"/>
              </a:rPr>
              <a:t>digits = 3</a:t>
            </a:r>
            <a:r>
              <a:rPr/>
              <a:t> — rounds the whole table</a:t>
            </a:r>
          </a:p>
          <a:p>
            <a:pPr lvl="0"/>
            <a:r>
              <a:rPr>
                <a:latin typeface="Courier"/>
              </a:rPr>
              <a:t>col.names =</a:t>
            </a:r>
            <a:r>
              <a:rPr/>
              <a:t> — readable headers, one per column</a:t>
            </a:r>
          </a:p>
          <a:p>
            <a:pPr lvl="0"/>
            <a:r>
              <a:rPr>
                <a:latin typeface="Courier"/>
              </a:rPr>
              <a:t>tbl-colwidths:</a:t>
            </a:r>
            <a:r>
              <a:rPr/>
              <a:t> — </a:t>
            </a:r>
            <a:r>
              <a:rPr b="1"/>
              <a:t>eight columns, eight percents</a:t>
            </a:r>
          </a:p>
          <a:p>
            <a:pPr lvl="0" indent="0" marL="0">
              <a:buNone/>
            </a:pPr>
            <a:r>
              <a:rPr/>
              <a:t>In your text write </a:t>
            </a:r>
            <a:r>
              <a:rPr>
                <a:latin typeface="Courier"/>
              </a:rPr>
              <a:t>@tbl-summary</a:t>
            </a:r>
            <a:r>
              <a:rPr/>
              <a:t> and Quarto prints </a:t>
            </a:r>
            <a:r>
              <a:rPr b="1"/>
              <a:t>“Table 1”</a:t>
            </a:r>
            <a:r>
              <a:rPr/>
              <a:t> for you.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</a:t>
            </a:r>
            <a:r>
              <a:rPr>
                <a:latin typeface="Courier"/>
              </a:rPr>
              <a:t>tbl-colwidths</a:t>
            </a:r>
            <a:r>
              <a:rPr/>
              <a:t>? Tables in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Without widths, Word </a:t>
            </a:r>
            <a:r>
              <a:rPr b="1"/>
              <a:t>guesses</a:t>
            </a:r>
            <a:r>
              <a:rPr/>
              <a:t> — and it often guesses badly: a fat first column and the last column squashed until the numbers wrap.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tbl-colwidths: [12, 7, 12, 15, 12, 12, 15, 15]</a:t>
            </a:r>
          </a:p>
          <a:p>
            <a:pPr lvl="0"/>
            <a:r>
              <a:rPr/>
              <a:t>One number per column, in order</a:t>
            </a:r>
          </a:p>
          <a:p>
            <a:pPr lvl="0"/>
            <a:r>
              <a:rPr/>
              <a:t>They are </a:t>
            </a:r>
            <a:r>
              <a:rPr b="1"/>
              <a:t>percents</a:t>
            </a:r>
            <a:r>
              <a:rPr/>
              <a:t> of the page width — aim for a total of 100</a:t>
            </a:r>
          </a:p>
          <a:p>
            <a:pPr lvl="0"/>
            <a:r>
              <a:rPr/>
              <a:t>Give short columns (like </a:t>
            </a:r>
            <a:r>
              <a:rPr>
                <a:latin typeface="Courier"/>
              </a:rPr>
              <a:t>n</a:t>
            </a:r>
            <a:r>
              <a:rPr/>
              <a:t>) less, headers like </a:t>
            </a:r>
            <a:r>
              <a:rPr>
                <a:latin typeface="Courier"/>
              </a:rPr>
              <a:t>Variance</a:t>
            </a:r>
            <a:r>
              <a:rPr/>
              <a:t> more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kable()</a:t>
            </a:r>
            <a:r>
              <a:rPr sz="2000"/>
              <a:t> makes the table; </a:t>
            </a:r>
            <a:r>
              <a:rPr sz="2000">
                <a:latin typeface="Courier"/>
              </a:rPr>
              <a:t>tbl-colwidths</a:t>
            </a:r>
            <a:r>
              <a:rPr sz="2000"/>
              <a:t> makes it </a:t>
            </a:r>
            <a:r>
              <a:rPr sz="2000" b="1"/>
              <a:t>line up</a:t>
            </a:r>
            <a:r>
              <a:rPr sz="2000"/>
              <a:t> in Word and PDF. Same numbers, readable layout.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5–6 now</a:t>
            </a:r>
          </a:p>
          <a:p>
            <a:pPr lvl="0" indent="0" marL="0">
              <a:buNone/>
            </a:pPr>
            <a:r>
              <a:rPr/>
              <a:t>Render the plain plots and table first, then finish them: colors, axis labels, </a:t>
            </a:r>
            <a:r>
              <a:rPr>
                <a:latin typeface="Courier"/>
              </a:rPr>
              <a:t>theme_regular()</a:t>
            </a:r>
            <a:r>
              <a:rPr/>
              <a:t>, no legend, and </a:t>
            </a:r>
            <a:r>
              <a:rPr>
                <a:latin typeface="Courier"/>
              </a:rPr>
              <a:t>digits</a:t>
            </a:r>
            <a:r>
              <a:rPr/>
              <a:t> + </a:t>
            </a:r>
            <a:r>
              <a:rPr>
                <a:latin typeface="Courier"/>
              </a:rPr>
              <a:t>col.names</a:t>
            </a:r>
            <a:r>
              <a:rPr/>
              <a:t> in </a:t>
            </a:r>
            <a:r>
              <a:rPr>
                <a:latin typeface="Courier"/>
              </a:rPr>
              <a:t>kable()</a:t>
            </a:r>
            <a:r>
              <a:rPr/>
              <a:t>. Render after </a:t>
            </a:r>
            <a:r>
              <a:rPr b="1"/>
              <a:t>each</a:t>
            </a:r>
            <a:r>
              <a:rPr/>
              <a:t> one.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Test It, Then Render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Welch’s two-sample t-test (you met the t-test in intro bio), a clean results table, then hiding the code and rendering Word, PDF, and slides.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(t-test, render all three and hand in, then play).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difference between the two means bigger than we’d expect by chance?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Welch's t-test (does NOT assume equal variances)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mass_g ~ shade</a:t>
            </a:r>
            <a:r>
              <a:rPr/>
              <a:t> — “mass </a:t>
            </a:r>
            <a:r>
              <a:rPr b="1"/>
              <a:t>by</a:t>
            </a:r>
            <a:r>
              <a:rPr/>
              <a:t> shade”: number on the left, two groups on the right</a:t>
            </a:r>
          </a:p>
          <a:p>
            <a:pPr lvl="0"/>
            <a:r>
              <a:rPr>
                <a:latin typeface="Courier"/>
              </a:rPr>
              <a:t>var.equal = FALSE</a:t>
            </a:r>
            <a:r>
              <a:rPr/>
              <a:t> — </a:t>
            </a:r>
            <a:r>
              <a:rPr b="1"/>
              <a:t>Welch’s</a:t>
            </a:r>
            <a:r>
              <a:rPr/>
              <a:t> version: does </a:t>
            </a:r>
            <a:r>
              <a:rPr b="1"/>
              <a:t>not</a:t>
            </a:r>
            <a:r>
              <a:rPr/>
              <a:t> assume the two sides have the same variance</a:t>
            </a:r>
          </a:p>
          <a:p>
            <a:pPr lvl="0"/>
            <a:r>
              <a:rPr/>
              <a:t>Look for </a:t>
            </a:r>
            <a:r>
              <a:rPr b="1"/>
              <a:t>t</a:t>
            </a:r>
            <a:r>
              <a:rPr/>
              <a:t>, </a:t>
            </a:r>
            <a:r>
              <a:rPr b="1"/>
              <a:t>df</a:t>
            </a:r>
            <a:r>
              <a:rPr/>
              <a:t>, and </a:t>
            </a:r>
            <a:r>
              <a:rPr b="1"/>
              <a:t>p-value</a:t>
            </a:r>
            <a:r>
              <a:rPr/>
              <a:t> in the printout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Why Welch’s?</a:t>
            </a:r>
          </a:p>
          <a:p>
            <a:pPr lvl="0" indent="0" marL="1270000">
              <a:buNone/>
            </a:pPr>
            <a:r>
              <a:rPr sz="2000"/>
              <a:t>It is safe whether or not the variances match, so it is R’s default and a sensible first choice. Next lecture takes it apart properly.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result as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tbl-ttest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tbl-cap: "Welch's t-test of leaf mass by side of the tree."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tbl-colwidths: [20, 20, 15, 15, 15, 15]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same result as a clean table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(estimate1, estimate2, statistic, 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p.value, conf.low)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knitr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"Mean 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"p-value"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"CI low"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p.value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42.527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tidy()</a:t>
            </a:r>
            <a:r>
              <a:rPr/>
              <a:t> (from </a:t>
            </a:r>
            <a:r>
              <a:rPr>
                <a:latin typeface="Courier"/>
              </a:rPr>
              <a:t>broom</a:t>
            </a:r>
            <a:r>
              <a:rPr/>
              <a:t>) turns the printout into a </a:t>
            </a:r>
            <a:r>
              <a:rPr b="1"/>
              <a:t>data frame</a:t>
            </a:r>
          </a:p>
          <a:p>
            <a:pPr lvl="0"/>
            <a:r>
              <a:rPr/>
              <a:t>then it is just </a:t>
            </a:r>
            <a:r>
              <a:rPr>
                <a:latin typeface="Courier"/>
              </a:rPr>
              <a:t>select()</a:t>
            </a:r>
            <a:r>
              <a:rPr/>
              <a:t> + </a:t>
            </a:r>
            <a:r>
              <a:rPr>
                <a:latin typeface="Courier"/>
              </a:rPr>
              <a:t>kable()</a:t>
            </a:r>
            <a:r>
              <a:rPr/>
              <a:t> — tools you already have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Reading it</a:t>
            </a:r>
          </a:p>
          <a:p>
            <a:pPr lvl="0" indent="0" marL="1270000">
              <a:buNone/>
            </a:pPr>
            <a:r>
              <a:rPr sz="2000" i="1"/>
              <a:t>p</a:t>
            </a:r>
            <a:r>
              <a:rPr sz="2000"/>
              <a:t> is well above 0.05, so we </a:t>
            </a:r>
            <a:r>
              <a:rPr sz="2000" b="1"/>
              <a:t>fail to reject</a:t>
            </a:r>
            <a:r>
              <a:rPr sz="2000"/>
              <a:t> the null: these data show no difference in mean leaf mass between sides — just what the overlapping error bars predicted. That is a real result; report it honestly.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Hide the code — one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version you hand in, flip the switch in the YAML: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execute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echo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r>
              <a:rPr>
                <a:solidFill>
                  <a:srgbClr val="5E5E5E"/>
                </a:solidFill>
                <a:latin typeface="Courier"/>
              </a:rPr>
              <a:t>      # hide ALL the code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warning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message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…and hide the raw t-test printout — the table already has those numbers. The chunk still </a:t>
            </a:r>
            <a:r>
              <a:rPr b="1"/>
              <a:t>runs</a:t>
            </a:r>
            <a:r>
              <a:rPr/>
              <a:t>, so </a:t>
            </a:r>
            <a:r>
              <a:rPr>
                <a:latin typeface="Courier"/>
              </a:rPr>
              <a:t>leaf_ttest</a:t>
            </a:r>
            <a:r>
              <a:rPr/>
              <a:t> still exists: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label: 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output: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execute:</a:t>
            </a:r>
            <a:r>
              <a:rPr sz="2000"/>
              <a:t> in the YAML = the </a:t>
            </a:r>
            <a:r>
              <a:rPr sz="2000" b="1"/>
              <a:t>default for every chunk</a:t>
            </a:r>
            <a:r>
              <a:rPr sz="2000"/>
              <a:t>. A chunk’s own </a:t>
            </a:r>
            <a:r>
              <a:rPr sz="2000">
                <a:latin typeface="Courier"/>
              </a:rPr>
              <a:t>#|</a:t>
            </a:r>
            <a:r>
              <a:rPr sz="2000"/>
              <a:t> line = the </a:t>
            </a:r>
            <a:r>
              <a:rPr sz="2000" b="1"/>
              <a:t>exception</a:t>
            </a:r>
            <a:r>
              <a:rPr sz="2000"/>
              <a:t> for that one chunk.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file → Word, PDF, and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Render</a:t>
            </a:r>
            <a:r>
              <a:rPr/>
              <a:t> button previews </a:t>
            </a:r>
            <a:r>
              <a:rPr b="1"/>
              <a:t>one</a:t>
            </a:r>
            <a:r>
              <a:rPr/>
              <a:t> format. To build </a:t>
            </a:r>
            <a:r>
              <a:rPr b="1"/>
              <a:t>everything</a:t>
            </a:r>
            <a:r>
              <a:rPr/>
              <a:t> listed under </a:t>
            </a:r>
            <a:r>
              <a:rPr>
                <a:latin typeface="Courier"/>
              </a:rPr>
              <a:t>format:</a:t>
            </a:r>
            <a:r>
              <a:rPr/>
              <a:t>, use the </a:t>
            </a:r>
            <a:r>
              <a:rPr b="1"/>
              <a:t>Terminal</a:t>
            </a:r>
            <a:r>
              <a:rPr/>
              <a:t> tab (not the Console):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render leaf_report.qmd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400"/>
                <a:gridCol w="2882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Word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 report — hand 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leaf_report.html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RevealJS slide show — press </a:t>
                      </a:r>
                      <a:r>
                        <a:rPr b="1"/>
                        <a:t>F</a:t>
                      </a:r>
                      <a:r>
                        <a:rPr/>
                        <a:t> for full screen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PDF needs LaTeX — once per computer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quarto install tinytex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🎞 RevealJS</a:t>
            </a:r>
          </a:p>
          <a:p>
            <a:pPr lvl="0" indent="0" marL="1270000">
              <a:buNone/>
            </a:pPr>
            <a:r>
              <a:rPr sz="2000"/>
              <a:t>The same report becomes a web-based slide show: each </a:t>
            </a:r>
            <a:r>
              <a:rPr sz="2000">
                <a:latin typeface="Courier"/>
              </a:rPr>
              <a:t>#</a:t>
            </a:r>
            <a:r>
              <a:rPr sz="2000"/>
              <a:t> is a section slide, each </a:t>
            </a:r>
            <a:r>
              <a:rPr sz="2000">
                <a:latin typeface="Courier"/>
              </a:rPr>
              <a:t>##</a:t>
            </a:r>
            <a:r>
              <a:rPr sz="2000"/>
              <a:t> a slide. These lecture slides are made exactly this way.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Making things fit on a slide (RevealJS)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work in </a:t>
            </a:r>
            <a:r>
              <a:rPr b="1"/>
              <a:t>any</a:t>
            </a:r>
            <a:r>
              <a:rPr/>
              <a:t> Quarto presentation — they only change the slides, never the Word or PDF.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930400"/>
                <a:gridCol w="4203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Where it goes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column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 on the left, result on the 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slide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gets its own slide after the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output-location: fragment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result appears on the next click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fig-width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fig-height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</a:t>
                      </a:r>
                      <a:r>
                        <a:rPr>
                          <a:latin typeface="Courier"/>
                        </a:rPr>
                        <a:t>#|</a:t>
                      </a:r>
                      <a:r>
                        <a:rPr/>
                        <a:t>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shorter figure fits under more text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chunk or </a:t>
                      </a:r>
                      <a:r>
                        <a:rPr>
                          <a:latin typeface="Courier"/>
                        </a:rPr>
                        <a:t>execute: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hide the code — just show the result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smaller: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every 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scrollable: true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under </a:t>
                      </a:r>
                      <a:r>
                        <a:rPr>
                          <a:latin typeface="Courier"/>
                        </a:rPr>
                        <a:t>revealjs: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 long slide scrolls instead of being cut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## Title {.smaller}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 one heading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smaller text on </a:t>
                      </a:r>
                      <a:r>
                        <a:rPr b="1"/>
                        <a:t>that</a:t>
                      </a:r>
                      <a:r>
                        <a:rPr/>
                        <a:t> slide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::::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 the Markdown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put any two things side by side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Put </a:t>
            </a:r>
            <a:r>
              <a:rPr sz="2000">
                <a:latin typeface="Courier"/>
              </a:rPr>
              <a:t>output-location: column</a:t>
            </a:r>
            <a:r>
              <a:rPr sz="2000"/>
              <a:t> under </a:t>
            </a:r>
            <a:r>
              <a:rPr sz="2000">
                <a:latin typeface="Courier"/>
              </a:rPr>
              <a:t>revealjs:</a:t>
            </a:r>
            <a:r>
              <a:rPr sz="2000"/>
              <a:t> in the YAML and </a:t>
            </a:r>
            <a:r>
              <a:rPr sz="2000" b="1"/>
              <a:t>every</a:t>
            </a:r>
            <a:r>
              <a:rPr sz="2000"/>
              <a:t> chunk in your slides gets code-left, plot-right.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7–8 now</a:t>
            </a:r>
          </a:p>
          <a:p>
            <a:pPr lvl="0" indent="0" marL="0">
              <a:buNone/>
            </a:pPr>
            <a:r>
              <a:rPr/>
              <a:t>Read the Welch’s t-test, finish its table, write a short Discussion, set </a:t>
            </a:r>
            <a:r>
              <a:rPr>
                <a:latin typeface="Courier"/>
              </a:rPr>
              <a:t>echo: false</a:t>
            </a:r>
            <a:r>
              <a:rPr/>
              <a:t>, then </a:t>
            </a:r>
            <a:r>
              <a:rPr>
                <a:latin typeface="Courier"/>
              </a:rPr>
              <a:t>quarto render leaf_report.qmd</a:t>
            </a:r>
            <a:r>
              <a:rPr/>
              <a:t> in the Terminal. Hand in the </a:t>
            </a:r>
            <a:r>
              <a:rPr>
                <a:latin typeface="Courier"/>
              </a:rPr>
              <a:t>.qmd</a:t>
            </a:r>
            <a:r>
              <a:rPr/>
              <a:t>, </a:t>
            </a:r>
            <a:r>
              <a:rPr>
                <a:latin typeface="Courier"/>
              </a:rPr>
              <a:t>.docx</a:t>
            </a:r>
            <a:r>
              <a:rPr/>
              <a:t>, and </a:t>
            </a:r>
            <a:r>
              <a:rPr>
                <a:latin typeface="Courier"/>
              </a:rPr>
              <a:t>.pdf</a:t>
            </a:r>
            <a:r>
              <a:rPr/>
              <a:t> — then </a:t>
            </a:r>
            <a:r>
              <a:rPr b="1"/>
              <a:t>play</a:t>
            </a:r>
            <a:r>
              <a:rPr/>
              <a:t> (Activity Part 9).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script plus copy-paste</a:t>
            </a:r>
          </a:p>
          <a:p>
            <a:pPr lvl="0"/>
            <a:r>
              <a:rPr/>
              <a:t>Save a </a:t>
            </a:r>
            <a:r>
              <a:rPr>
                <a:latin typeface="Courier"/>
              </a:rPr>
              <a:t>.qmd</a:t>
            </a:r>
            <a:r>
              <a:rPr/>
              <a:t> at the </a:t>
            </a:r>
            <a:r>
              <a:rPr b="1"/>
              <a:t>project top</a:t>
            </a:r>
            <a:r>
              <a:rPr/>
              <a:t> so </a:t>
            </a:r>
            <a:r>
              <a:rPr>
                <a:latin typeface="Courier"/>
              </a:rPr>
              <a:t>data/...</a:t>
            </a:r>
            <a:r>
              <a:rPr/>
              <a:t> paths just work</a:t>
            </a:r>
          </a:p>
          <a:p>
            <a:pPr lvl="0"/>
            <a:r>
              <a:rPr/>
              <a:t>Use the </a:t>
            </a:r>
            <a:r>
              <a:rPr b="1"/>
              <a:t>YAML</a:t>
            </a:r>
            <a:r>
              <a:rPr/>
              <a:t> to pick outputs and switch all code on/off with </a:t>
            </a:r>
            <a:r>
              <a:rPr>
                <a:latin typeface="Courier"/>
              </a:rPr>
              <a:t>echo</a:t>
            </a:r>
          </a:p>
          <a:p>
            <a:pPr lvl="0"/>
            <a:r>
              <a:rPr/>
              <a:t>Write </a:t>
            </a:r>
            <a:r>
              <a:rPr b="1"/>
              <a:t>Markdown</a:t>
            </a:r>
            <a:r>
              <a:rPr/>
              <a:t> and </a:t>
            </a:r>
            <a:r>
              <a:rPr b="1"/>
              <a:t>named chunks</a:t>
            </a:r>
            <a:r>
              <a:rPr/>
              <a:t> with the options you need</a:t>
            </a:r>
          </a:p>
          <a:p>
            <a:pPr lvl="0"/>
            <a:r>
              <a:rPr/>
              <a:t>Take data </a:t>
            </a:r>
            <a:r>
              <a:rPr b="1"/>
              <a:t>start to finish</a:t>
            </a:r>
            <a:r>
              <a:rPr/>
              <a:t>: plots → summary table → Welch’s t-test</a:t>
            </a:r>
          </a:p>
          <a:p>
            <a:pPr lvl="0"/>
            <a:r>
              <a:rPr/>
              <a:t>Render </a:t>
            </a:r>
            <a:r>
              <a:rPr b="1"/>
              <a:t>one file</a:t>
            </a:r>
            <a:r>
              <a:rPr/>
              <a:t> to </a:t>
            </a:r>
            <a:r>
              <a:rPr b="1"/>
              <a:t>Word, PDF, and RevealJS slides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analysis can now be a document that rebuilds itself from the raw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🧰 Keep </a:t>
            </a:r>
            <a:r>
              <a:rPr sz="2000" b="1">
                <a:latin typeface="Courier"/>
              </a:rPr>
              <a:t>leaf_report.qmd</a:t>
            </a:r>
          </a:p>
          <a:p>
            <a:pPr lvl="0" indent="0" marL="1270000">
              <a:buNone/>
            </a:pPr>
            <a:r>
              <a:rPr sz="2000"/>
              <a:t>Your template for every analysis this term: copy it, change the data file and column names, rewrite the text, Render.</a:t>
            </a:r>
          </a:p>
          <a:p>
            <a:pPr lvl="0" indent="0" marL="0">
              <a:buNone/>
            </a:pPr>
            <a:r>
              <a:rPr b="1"/>
              <a:t>Up next — T-Tests I:</a:t>
            </a:r>
          </a:p>
          <a:p>
            <a:pPr lvl="0"/>
            <a:r>
              <a:rPr/>
              <a:t>Where the </a:t>
            </a:r>
            <a:r>
              <a:rPr i="1"/>
              <a:t>t</a:t>
            </a:r>
            <a:r>
              <a:rPr/>
              <a:t>-statistic comes from, and why Welch’s is the safe default</a:t>
            </a:r>
          </a:p>
          <a:p>
            <a:pPr lvl="0"/>
            <a:r>
              <a:rPr/>
              <a:t>Checking assumptions first — normality and equal variance</a:t>
            </a:r>
          </a:p>
          <a:p>
            <a:pPr lvl="0"/>
            <a:r>
              <a:rPr/>
              <a:t>…written up in your Quarto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YAML, Markdown, and code chunks with a chunk-option reference, then the whole leaf analysis start to finish — box plot, mean ± SE, histogram, summary statistics table, Welch’s t-test — rendered to Word, PDF, and RevealJS slides from one file.</dc:description>
  <dcterms:created xsi:type="dcterms:W3CDTF">2026-10-08T20:17:55Z</dcterms:created>
  <dcterms:modified xsi:type="dcterms:W3CDTF">2026-10-08T20:17:55Z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One Quarto file: read the data, plot it, describe it, test it — Word, PDF, and slides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