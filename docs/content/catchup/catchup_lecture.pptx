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Flex / Catch-up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lab: revisit whatever isn’t sticking yet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 New Material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flex day</a:t>
            </a:r>
            <a:r>
              <a:rPr/>
              <a:t>. We use it to go back over whatever from Lectures 01–07 is not sticking yet — as a class, in small groups, or one-on-one while everyone else works ahead on the Wrangling / Summary Statistics extensions or gets a head start on Worksheet 07.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How today works</a:t>
            </a:r>
          </a:p>
          <a:p>
            <a:pPr lvl="0" indent="0" marL="1270000">
              <a:buNone/>
            </a:pPr>
            <a:r>
              <a:rPr sz="2000"/>
              <a:t>Bring your own script with whatever is broken or confusing. We will fix real code, not hypothetical examples.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Getting stuck and asking about it </a:t>
            </a:r>
            <a:r>
              <a:rPr sz="2000" i="1"/>
              <a:t>today</a:t>
            </a:r>
            <a:r>
              <a:rPr sz="2000"/>
              <a:t> is cheaper than carrying a shaky foundation into Wrangling, Summary Statistics, and eventually t-tests.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We’ve Covered So Far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2095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Asking a question, designing the leaf study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Meeting R, Positron, and project structure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GGPlot I — colors, facets, </a:t>
                      </a:r>
                      <a:r>
                        <a:rPr>
                          <a:latin typeface="Courier"/>
                        </a:rPr>
                        <a:t>stat_summary()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GGPlot II — more geoms, coordinates, themes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Wrangling — </a:t>
                      </a:r>
                      <a:r>
                        <a:rPr>
                          <a:latin typeface="Courier"/>
                        </a:rPr>
                        <a:t>filter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select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arrange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statistics — mean, SD, SE,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Quarto — reproducible reports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Where to look things up</a:t>
            </a:r>
          </a:p>
          <a:p>
            <a:pPr lvl="0"/>
            <a:r>
              <a:rPr sz="2000">
                <a:latin typeface="Courier"/>
              </a:rPr>
              <a:t>common_code/</a:t>
            </a:r>
            <a:r>
              <a:rPr sz="2000"/>
              <a:t> on the course site has a standalone reference page for every one of these topics</a:t>
            </a:r>
          </a:p>
          <a:p>
            <a:pPr lvl="0"/>
            <a:r>
              <a:rPr sz="2000"/>
              <a:t>Each lecture’s </a:t>
            </a:r>
            <a:r>
              <a:rPr sz="2000" b="1"/>
              <a:t>References</a:t>
            </a:r>
            <a:r>
              <a:rPr sz="2000"/>
              <a:t> slide links the relevant Whitlock &amp; Schluter and R4DS chapters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Self-Check — Can You Do These?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☐ Load an Excel file with </a:t>
            </a:r>
            <a:r>
              <a:rPr>
                <a:latin typeface="Courier"/>
              </a:rPr>
              <a:t>read_excel()</a:t>
            </a:r>
            <a:r>
              <a:rPr/>
              <a:t> and clean names with </a:t>
            </a:r>
            <a:r>
              <a:rPr>
                <a:latin typeface="Courier"/>
              </a:rPr>
              <a:t>clean_names()</a:t>
            </a:r>
          </a:p>
          <a:p>
            <a:pPr lvl="0"/>
            <a:r>
              <a:rPr/>
              <a:t>☐ Explain what </a:t>
            </a:r>
            <a:r>
              <a:rPr>
                <a:latin typeface="Courier"/>
              </a:rPr>
              <a:t>%&gt;%</a:t>
            </a:r>
            <a:r>
              <a:rPr/>
              <a:t> does, out loud, in one sentence</a:t>
            </a:r>
          </a:p>
          <a:p>
            <a:pPr lvl="0"/>
            <a:r>
              <a:rPr/>
              <a:t>☐ Build a boxplot with jittered points, colored on purpose with </a:t>
            </a:r>
            <a:r>
              <a:rPr>
                <a:latin typeface="Courier"/>
              </a:rPr>
              <a:t>scale_fill_manual()</a:t>
            </a:r>
          </a:p>
          <a:p>
            <a:pPr lvl="0"/>
            <a:r>
              <a:rPr/>
              <a:t>☐ Facet a plot with </a:t>
            </a:r>
            <a:r>
              <a:rPr>
                <a:latin typeface="Courier"/>
              </a:rPr>
              <a:t>facet_wrap()</a:t>
            </a:r>
          </a:p>
          <a:p>
            <a:pPr lvl="0"/>
            <a:r>
              <a:rPr/>
              <a:t>☐ Chain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into one pipeline</a:t>
            </a:r>
          </a:p>
          <a:p>
            <a:pPr lvl="0"/>
            <a:r>
              <a:rPr/>
              <a:t>☐ Compute mean, SD, and SE for a group — by hand and with </a:t>
            </a:r>
            <a:r>
              <a:rPr>
                <a:latin typeface="Courier"/>
              </a:rPr>
              <a:t>group_by() + summarize()</a:t>
            </a:r>
          </a:p>
          <a:p>
            <a:pPr lvl="0"/>
            <a:r>
              <a:rPr/>
              <a:t>☐ Explain why </a:t>
            </a:r>
            <a:r>
              <a:rPr>
                <a:latin typeface="Courier"/>
              </a:rPr>
              <a:t>sum(!is.na(x))</a:t>
            </a:r>
            <a:r>
              <a:rPr/>
              <a:t> is safer than </a:t>
            </a:r>
            <a:r>
              <a:rPr>
                <a:latin typeface="Courier"/>
              </a:rPr>
              <a:t>length(x)</a:t>
            </a:r>
          </a:p>
          <a:p>
            <a:pPr lvl="0"/>
            <a:r>
              <a:rPr/>
              <a:t>☐ Render a Quarto document that mixes prose, code, and a figure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If you checked fewer than 6 boxes</a:t>
            </a:r>
          </a:p>
          <a:p>
            <a:pPr lvl="0" indent="0" marL="1270000">
              <a:buNone/>
            </a:pPr>
            <a:r>
              <a:rPr sz="2000"/>
              <a:t>Start there today — with me, with a classmate, or with the worksheet for that lecture. That is exactly what this session is for.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Options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Rebuild a worksheet from scratch</a:t>
            </a:r>
            <a:r>
              <a:rPr/>
              <a:t>, no peeking at the answer key, then compare</a:t>
            </a:r>
          </a:p>
          <a:p>
            <a:pPr lvl="0" indent="-342900" marL="342900">
              <a:buAutoNum type="arabicPeriod"/>
            </a:pPr>
            <a:r>
              <a:rPr b="1"/>
              <a:t>Trade scripts with a neighbor</a:t>
            </a:r>
            <a:r>
              <a:rPr/>
              <a:t> and try to explain what each line does</a:t>
            </a:r>
          </a:p>
          <a:p>
            <a:pPr lvl="0" indent="-342900" marL="342900">
              <a:buAutoNum type="arabicPeriod"/>
            </a:pPr>
            <a:r>
              <a:rPr b="1"/>
              <a:t>Re-run a lecture’s code chunks</a:t>
            </a:r>
            <a:r>
              <a:rPr/>
              <a:t> one at a time, predicting the output first</a:t>
            </a:r>
          </a:p>
          <a:p>
            <a:pPr lvl="0" indent="-342900" marL="342900">
              <a:buAutoNum type="arabicPeriod"/>
            </a:pPr>
            <a:r>
              <a:rPr b="1"/>
              <a:t>Get ahead</a:t>
            </a:r>
            <a:r>
              <a:rPr/>
              <a:t>: start Worksheet 07 (Quarto) or the Summary Statistics extension if you’re solid on everything above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“I understand it when I watch it” and “I can type it myself with no notes” are two different skills. Today is for practicing the second one.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Up Next — Lecture 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Two-sample </a:t>
            </a:r>
            <a:r>
              <a:rPr b="1"/>
              <a:t>t-test</a:t>
            </a:r>
            <a:r>
              <a:rPr/>
              <a:t>: formally testing our sunny-vs-shady hypothesis</a:t>
            </a:r>
          </a:p>
          <a:p>
            <a:pPr lvl="0"/>
            <a:r>
              <a:rPr/>
              <a:t>Checking assumptions (normality, equal variance)</a:t>
            </a:r>
          </a:p>
          <a:p>
            <a:pPr lvl="0"/>
            <a:r>
              <a:rPr/>
              <a:t>Everything from Lectures 05–06 (wrangling and summary statistics) is a direct prerequisite — that is why today exists.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Flex / Catch-up</dc:title>
  <dc:creator>Bill Perry</dc:creator>
  <cp:keywords/>
  <dc:description>A flexible catch-up session — no new material. Revisit R basics, ggplot, wrangling, or summary statistics, whichever the class needs most.</dc:description>
  <dcterms:created xsi:type="dcterms:W3CDTF">2026-10-22T13:13:00Z</dcterms:created>
  <dcterms:modified xsi:type="dcterms:W3CDTF">2026-10-22T13:13:00Z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2026-10-22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8</vt:lpwstr>
  </property>
  <property fmtid="{D5CDD505-2E9C-101B-9397-08002B2CF9AE}" pid="13" name="resources">
    <vt:lpwstr/>
  </property>
  <property fmtid="{D5CDD505-2E9C-101B-9397-08002B2CF9AE}" pid="14" name="subtitle">
    <vt:lpwstr>Open lab: revisit whatever isn’t sticking yet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4</vt:lpwstr>
  </property>
</Properties>
</file>