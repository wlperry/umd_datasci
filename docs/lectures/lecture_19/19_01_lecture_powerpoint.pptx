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19 -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19: Introduction to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Logistic Regression?</a:t>
            </a:r>
          </a:p>
          <a:p>
            <a:pPr lvl="0" indent="0" marL="0">
              <a:buNone/>
            </a:pPr>
            <a:r>
              <a:rPr/>
              <a:t>Logistic regression is used when: - The response variable is </a:t>
            </a:r>
            <a:r>
              <a:rPr b="1"/>
              <a:t>binary</a:t>
            </a:r>
            <a:r>
              <a:rPr/>
              <a:t> (yes/no, 1/0, present/absent) - Data follows a </a:t>
            </a:r>
            <a:r>
              <a:rPr b="1"/>
              <a:t>binomial distribution</a:t>
            </a:r>
            <a:r>
              <a:rPr/>
              <a:t> (not normal) - We want to model the </a:t>
            </a:r>
            <a:r>
              <a:rPr b="1"/>
              <a:t>probability</a:t>
            </a:r>
            <a:r>
              <a:rPr/>
              <a:t> of an outcome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Example: Lizard Sexual Maturity</a:t>
            </a:r>
          </a:p>
          <a:p>
            <a:pPr lvl="0" indent="0" marL="0">
              <a:buNone/>
            </a:pPr>
            <a:r>
              <a:rPr/>
              <a:t>We’ll explore the relationship between body length and sexual maturity in female lizards - </a:t>
            </a:r>
            <a:r>
              <a:rPr b="1"/>
              <a:t>Response variable</a:t>
            </a:r>
            <a:r>
              <a:rPr/>
              <a:t>: Sexual maturity (mature: 1 = yes, 0 = no) - </a:t>
            </a:r>
            <a:r>
              <a:rPr b="1"/>
              <a:t>Predictor variable</a:t>
            </a:r>
            <a:r>
              <a:rPr/>
              <a:t>: Body length in cm - </a:t>
            </a:r>
            <a:r>
              <a:rPr b="1"/>
              <a:t>Question</a:t>
            </a:r>
            <a:r>
              <a:rPr/>
              <a:t>: Can we predict the probability of sexual maturity from body size?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Difference from Linear Regression</a:t>
            </a:r>
          </a:p>
          <a:p>
            <a:pPr lvl="0"/>
            <a:r>
              <a:rPr/>
              <a:t>Linear regression: Models the actual values of Y</a:t>
            </a:r>
          </a:p>
          <a:p>
            <a:pPr lvl="0"/>
            <a:r>
              <a:rPr/>
              <a:t>Logistic regression: Models the probability of Y = 1</a:t>
            </a:r>
          </a:p>
          <a:p>
            <a:pPr lvl="0"/>
            <a:r>
              <a:rPr/>
              <a:t>Uses Generalized Linear Models (GLM) instead of General Linear Models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1: Load and Explore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length mature
1   10.2      0
2   10.4      0
3   11.8      0
4   12.3      0
5   13.8      0
6   16.9      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2: Initial Data Visualization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Creating a Boxplot</a:t>
            </a:r>
          </a:p>
          <a:p>
            <a:pPr lvl="0" indent="0" marL="0">
              <a:buNone/>
            </a:pPr>
            <a:r>
              <a:rPr/>
              <a:t>Let’s visualize how body length differs between sexually mature and immature lizards:</a:t>
            </a:r>
          </a:p>
        </p:txBody>
      </p:sp>
      <p:pic>
        <p:nvPicPr>
          <p:cNvPr descr="19_01_lecture_powerpoint_files/figure-pptx/initial_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do we see?</a:t>
            </a:r>
          </a:p>
          <a:p>
            <a:pPr lvl="0"/>
            <a:r>
              <a:rPr/>
              <a:t>There appears to be a relationship between size and sexual maturity</a:t>
            </a:r>
          </a:p>
          <a:p>
            <a:pPr lvl="0"/>
            <a:r>
              <a:rPr/>
              <a:t>Mature lizards tend to be longer than immature ones</a:t>
            </a:r>
          </a:p>
          <a:p>
            <a:pPr lvl="0"/>
            <a:r>
              <a:rPr/>
              <a:t>But there’s overlap - not a perfect separation</a:t>
            </a:r>
          </a:p>
          <a:p>
            <a:pPr lvl="0"/>
            <a:r>
              <a:rPr/>
              <a:t>This suggests logistic regression might be appropriate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3: Fit the Logistic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glm() for Logistic Regression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glm()</a:t>
            </a:r>
            <a:r>
              <a:rPr/>
              <a:t> function is similar to </a:t>
            </a:r>
            <a:r>
              <a:rPr>
                <a:latin typeface="Courier"/>
              </a:rPr>
              <a:t>lm()</a:t>
            </a:r>
            <a:r>
              <a:rPr/>
              <a:t> but requires specifying the distribution family: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glm(formula = mature ~ length, family = binomial, data = lizards_df)
Coefficients:
            Estimate Std. Error z value Pr(&gt;|z|)   
(Intercept)  -6.6899     2.1401  -3.126  0.00177 **
length        0.2503     0.0775   3.229  0.00124 **
---
Signif. codes:  0 '***' 0.001 '**' 0.01 '*' 0.05 '.' 0.1 ' ' 1
(Dispersion parameter for binomial family taken to be 1)
    Null deviance: 60.176  on 43  degrees of freedom
Residual deviance: 34.041  on 42  degrees of freedom
AIC: 38.041
Number of Fisher Scoring iterations: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Interpreting the Model Output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Coefficients:</a:t>
            </a:r>
          </a:p>
          <a:p>
            <a:pPr lvl="0"/>
            <a:r>
              <a:rPr b="1"/>
              <a:t>Intercept (β₀)</a:t>
            </a:r>
            <a:r>
              <a:rPr/>
              <a:t>: -5.5847 - The log-odds when length = 0</a:t>
            </a:r>
          </a:p>
          <a:p>
            <a:pPr lvl="0"/>
            <a:r>
              <a:rPr b="1"/>
              <a:t>Slope (β₁)</a:t>
            </a:r>
            <a:r>
              <a:rPr/>
              <a:t>: 0.2503 - Change in log-odds for each 1 cm increase in length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P-values:</a:t>
            </a:r>
          </a:p>
          <a:p>
            <a:pPr lvl="0"/>
            <a:r>
              <a:rPr/>
              <a:t>Both coefficients are significant (p &lt; 0.05)</a:t>
            </a:r>
          </a:p>
          <a:p>
            <a:pPr lvl="0"/>
            <a:r>
              <a:rPr/>
              <a:t>We reject the null hypothesis that β₁ = 0</a:t>
            </a:r>
          </a:p>
          <a:p>
            <a:pPr lvl="0"/>
            <a:r>
              <a:rPr/>
              <a:t>There IS a relationship between length and sexual maturity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the Slope:</a:t>
            </a:r>
          </a:p>
          <a:p>
            <a:pPr lvl="0" indent="0" marL="0">
              <a:buNone/>
            </a:pPr>
            <a:r>
              <a:rPr/>
              <a:t>The positive slope (0.2503) indicates: - Longer lizards are more likely to be sexually mature - For each 1 cm increase in length, the log-odds of maturity increase by 0.2503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4: Convert Log-Odds to Odds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Making the Results More Interpretable</a:t>
            </a:r>
          </a:p>
          <a:p>
            <a:pPr lvl="0" indent="0" marL="0">
              <a:buNone/>
            </a:pPr>
            <a:r>
              <a:rPr/>
              <a:t>Log-odds are hard to interpret. Let’s convert to odds:</a:t>
            </a:r>
          </a:p>
          <a:p>
            <a:pPr lvl="0" indent="0">
              <a:buNone/>
            </a:pPr>
            <a:r>
              <a:rPr>
                <a:latin typeface="Courier"/>
              </a:rPr>
              <a:t>  length 
1.284388 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5: Create the Logistic Regression 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the Probability Curve</a:t>
            </a:r>
          </a:p>
        </p:txBody>
      </p:sp>
      <p:pic>
        <p:nvPicPr>
          <p:cNvPr descr="19_01_lecture_powerpoint_files/figure-pptx/logistic_regress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the S-curve tells us:</a:t>
            </a:r>
          </a:p>
          <a:p>
            <a:pPr lvl="0"/>
            <a:r>
              <a:rPr/>
              <a:t>The red line shows how probability changes with length</a:t>
            </a:r>
          </a:p>
          <a:p>
            <a:pPr lvl="0"/>
            <a:r>
              <a:rPr/>
              <a:t>Small lizards (&lt;20 cm) have very low probability of being mature</a:t>
            </a:r>
          </a:p>
          <a:p>
            <a:pPr lvl="0"/>
            <a:r>
              <a:rPr/>
              <a:t>Large lizards (&gt;40 cm) have very high probability of being mature</a:t>
            </a:r>
          </a:p>
          <a:p>
            <a:pPr lvl="0"/>
            <a:r>
              <a:rPr/>
              <a:t>The steepest change occurs around 25-30 cm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6: Making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the Model for Prediction</a:t>
            </a:r>
          </a:p>
          <a:p>
            <a:pPr lvl="0" indent="0" marL="0">
              <a:buNone/>
            </a:pPr>
            <a:r>
              <a:rPr/>
              <a:t>Let’s predict the probability of sexual maturity for specific lizard sizes: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1 
0.1565304 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1 
0.6939292 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1 
0.9651551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Interpretation:</a:t>
            </a:r>
          </a:p>
          <a:p>
            <a:pPr lvl="0"/>
            <a:r>
              <a:rPr/>
              <a:t>A 20 cm lizard has about 14% probability of being sexually mature</a:t>
            </a:r>
          </a:p>
          <a:p>
            <a:pPr lvl="0"/>
            <a:r>
              <a:rPr/>
              <a:t>A 30 cm lizard has about 70% probability of being sexually mature</a:t>
            </a:r>
          </a:p>
          <a:p>
            <a:pPr lvl="0"/>
            <a:r>
              <a:rPr/>
              <a:t>A 40 cm lizard has about 96% probability of being sexually mature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7: Model Fit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Calculating Pseudo-R2 Values</a:t>
            </a:r>
          </a:p>
          <a:p>
            <a:pPr lvl="0" indent="0" marL="0">
              <a:buNone/>
            </a:pPr>
            <a:r>
              <a:rPr/>
              <a:t>Unlike linear regression, logistic regression doesn’t have a traditional R². We use pseudo-R² instead:</a:t>
            </a:r>
          </a:p>
          <a:p>
            <a:pPr lvl="0" indent="0">
              <a:buNone/>
            </a:pPr>
            <a:r>
              <a:rPr>
                <a:latin typeface="Courier"/>
              </a:rPr>
              <a:t>fitting null model for pseudo-r2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llh     llhNull          G2    McFadden        r2ML        r2CU 
-17.0204762 -30.0881077  26.1352630   0.4343122   0.4478763   0.6009400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Interpreting Pseudo-R2 Values</a:t>
            </a:r>
          </a:p>
          <a:p>
            <a:pPr lvl="0" indent="0" marL="0">
              <a:buNone/>
            </a:pPr>
            <a:r>
              <a:rPr/>
              <a:t>The last three values are the pseudo-R² statistics:</a:t>
            </a:r>
          </a:p>
          <a:p>
            <a:pPr lvl="0"/>
            <a:r>
              <a:rPr b="1"/>
              <a:t>McFadden</a:t>
            </a:r>
            <a:r>
              <a:rPr/>
              <a:t>: Compares model to null model</a:t>
            </a:r>
          </a:p>
          <a:p>
            <a:pPr lvl="0"/>
            <a:r>
              <a:rPr b="1"/>
              <a:t>r2ML</a:t>
            </a:r>
            <a:r>
              <a:rPr/>
              <a:t>: Maximum likelihood based R²</a:t>
            </a:r>
          </a:p>
          <a:p>
            <a:pPr lvl="0"/>
            <a:r>
              <a:rPr b="1"/>
              <a:t>r2CU</a:t>
            </a:r>
            <a:r>
              <a:rPr/>
              <a:t>: Cragg-Uhler (Nagelkerke) R²</a:t>
            </a:r>
          </a:p>
          <a:p>
            <a:pPr lvl="0" indent="0" marL="0">
              <a:buNone/>
            </a:pPr>
            <a:r>
              <a:rPr/>
              <a:t>Values around 0.4-0.5 indicate moderate to good fit. Our model explains approximately 40-50% of the variation in sexual maturity status.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8: Additional Diagnostics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Creating a More Detailed Summary Plot</a:t>
            </a:r>
          </a:p>
        </p:txBody>
      </p:sp>
      <p:pic>
        <p:nvPicPr>
          <p:cNvPr descr="19_01_lecture_powerpoint_files/figure-pptx/diagnostic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Learned:</a:t>
            </a:r>
          </a:p>
          <a:p>
            <a:pPr lvl="0" indent="-342900" marL="342900">
              <a:buAutoNum type="arabicPeriod"/>
            </a:pPr>
            <a:r>
              <a:rPr b="1"/>
              <a:t>Logistic regression</a:t>
            </a:r>
            <a:r>
              <a:rPr/>
              <a:t> models probability of binary outcomes</a:t>
            </a:r>
          </a:p>
          <a:p>
            <a:pPr lvl="0" indent="-342900" marL="342900">
              <a:buAutoNum type="arabicPeriod"/>
            </a:pPr>
            <a:r>
              <a:rPr/>
              <a:t>Uses </a:t>
            </a:r>
            <a:r>
              <a:rPr b="1"/>
              <a:t>glm()</a:t>
            </a:r>
            <a:r>
              <a:rPr/>
              <a:t> with </a:t>
            </a:r>
            <a:r>
              <a:rPr>
                <a:latin typeface="Courier"/>
              </a:rPr>
              <a:t>family = binomial</a:t>
            </a:r>
          </a:p>
          <a:p>
            <a:pPr lvl="0" indent="-342900" marL="342900">
              <a:buAutoNum type="arabicPeriod"/>
            </a:pPr>
            <a:r>
              <a:rPr/>
              <a:t>Coefficients represent changes in </a:t>
            </a:r>
            <a:r>
              <a:rPr b="1"/>
              <a:t>log-odds</a:t>
            </a:r>
          </a:p>
          <a:p>
            <a:pPr lvl="0" indent="-342900" marL="342900">
              <a:buAutoNum type="arabicPeriod"/>
            </a:pPr>
            <a:r>
              <a:rPr/>
              <a:t>Convert to </a:t>
            </a:r>
            <a:r>
              <a:rPr b="1"/>
              <a:t>odds ratios</a:t>
            </a:r>
            <a:r>
              <a:rPr/>
              <a:t> for interpretation: exp(coefficient)</a:t>
            </a:r>
          </a:p>
          <a:p>
            <a:pPr lvl="0" indent="-342900" marL="342900">
              <a:buAutoNum type="arabicPeriod"/>
            </a:pPr>
            <a:r>
              <a:rPr/>
              <a:t>Creates </a:t>
            </a:r>
            <a:r>
              <a:rPr b="1"/>
              <a:t>S-shaped probability curves</a:t>
            </a:r>
          </a:p>
          <a:p>
            <a:pPr lvl="0" indent="-342900" marL="342900">
              <a:buAutoNum type="arabicPeriod"/>
            </a:pPr>
            <a:r>
              <a:rPr/>
              <a:t>Use </a:t>
            </a:r>
            <a:r>
              <a:rPr b="1"/>
              <a:t>pseudo-R²</a:t>
            </a:r>
            <a:r>
              <a:rPr/>
              <a:t> to assess model fit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Results:</a:t>
            </a:r>
          </a:p>
          <a:p>
            <a:pPr lvl="0"/>
            <a:r>
              <a:rPr/>
              <a:t>Significant positive relationship between body length and sexual maturity</a:t>
            </a:r>
          </a:p>
          <a:p>
            <a:pPr lvl="0"/>
            <a:r>
              <a:rPr/>
              <a:t>Each 1 cm increase in length increases odds of maturity by ~28%</a:t>
            </a:r>
          </a:p>
          <a:p>
            <a:pPr lvl="0"/>
            <a:r>
              <a:rPr/>
              <a:t>Model explains ~40-50% of variation in maturity status</a:t>
            </a:r>
          </a:p>
          <a:p>
            <a:pPr lvl="0"/>
            <a:r>
              <a:rPr/>
              <a:t>Can predict probability of maturity for any given length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to Use Logistic Regression:</a:t>
            </a:r>
          </a:p>
          <a:p>
            <a:pPr lvl="0"/>
            <a:r>
              <a:rPr/>
              <a:t>Binary response variable (0/1, yes/no, success/failure)</a:t>
            </a:r>
          </a:p>
          <a:p>
            <a:pPr lvl="0"/>
            <a:r>
              <a:rPr/>
              <a:t>Want to predict probabilities</a:t>
            </a:r>
          </a:p>
          <a:p>
            <a:pPr lvl="0"/>
            <a:r>
              <a:rPr/>
              <a:t>Relationships that follow S-shaped curves</a:t>
            </a:r>
          </a:p>
          <a:p>
            <a:pPr lvl="0"/>
            <a:r>
              <a:rPr/>
              <a:t>When assumptions of linear regression are violated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19 - Logistic Regression</dc:title>
  <dc:creator>Bill Perry</dc:creator>
  <cp:keywords/>
  <dcterms:created xsi:type="dcterms:W3CDTF">2026-05-05T14:06:15Z</dcterms:created>
  <dcterms:modified xsi:type="dcterms:W3CDTF">2026-05-05T14:06:15Z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