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06</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5: Review</a:t>
            </a:r>
          </a:p>
        </p:txBody>
      </p:sp>
      <p:sp>
        <p:nvSpPr>
          <p:cNvPr id="3" name="Content Placeholder 2"/>
          <p:cNvSpPr>
            <a:spLocks noGrp="1"/>
          </p:cNvSpPr>
          <p:nvPr>
            <p:ph idx="1"/>
          </p:nvPr>
        </p:nvSpPr>
        <p:spPr/>
        <p:txBody>
          <a:bodyPr/>
          <a:lstStyle/>
          <a:p>
            <a:pPr lvl="0" indent="0" marL="0">
              <a:buNone/>
            </a:pPr>
            <a:r>
              <a:rPr/>
              <a:t>Covered</a:t>
            </a:r>
          </a:p>
          <a:p>
            <a:pPr lvl="0"/>
            <a:r>
              <a:rPr/>
              <a:t>Statistical inference fundamentals</a:t>
            </a:r>
          </a:p>
          <a:p>
            <a:pPr lvl="0"/>
            <a:r>
              <a:rPr/>
              <a:t>Hypothesis testing principles</a:t>
            </a:r>
          </a:p>
          <a:p>
            <a:pPr lvl="0"/>
            <a:r>
              <a:rPr/>
              <a:t>T Distributions</a:t>
            </a:r>
          </a:p>
          <a:p>
            <a:pPr lvl="0"/>
            <a:r>
              <a:rPr/>
              <a:t>One sample T Tests</a:t>
            </a:r>
          </a:p>
          <a:p>
            <a:pPr lvl="0"/>
            <a:r>
              <a:rPr/>
              <a:t>Two sample T Tests</a:t>
            </a:r>
          </a:p>
          <a:p>
            <a:pPr lvl="0"/>
            <a:r>
              <a:rPr/>
              <a:t>Paired T Tests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Overview</a:t>
            </a:r>
          </a:p>
        </p:txBody>
      </p:sp>
      <p:sp>
        <p:nvSpPr>
          <p:cNvPr id="3" name="Content Placeholder 2"/>
          <p:cNvSpPr>
            <a:spLocks noGrp="1"/>
          </p:cNvSpPr>
          <p:nvPr>
            <p:ph idx="1" sz="half"/>
          </p:nvPr>
        </p:nvSpPr>
        <p:spPr/>
        <p:txBody>
          <a:bodyPr/>
          <a:lstStyle/>
          <a:p>
            <a:pPr lvl="0" indent="0" marL="0">
              <a:spcBef>
                <a:spcPts val="3000"/>
              </a:spcBef>
              <a:buNone/>
            </a:pPr>
            <a:r>
              <a:rPr b="1"/>
              <a:t>The objectives:</a:t>
            </a:r>
          </a:p>
          <a:p>
            <a:pPr lvl="0"/>
            <a:r>
              <a:rPr/>
              <a:t>Brief review</a:t>
            </a:r>
          </a:p>
          <a:p>
            <a:pPr lvl="0"/>
            <a:r>
              <a:rPr/>
              <a:t>Hypothesis tests for two populations</a:t>
            </a:r>
          </a:p>
          <a:p>
            <a:pPr lvl="0"/>
            <a:r>
              <a:rPr/>
              <a:t>Assumptions of parametric tests</a:t>
            </a:r>
          </a:p>
          <a:p>
            <a:pPr lvl="0"/>
            <a:r>
              <a:rPr/>
              <a:t>Power of Parametric Tests</a:t>
            </a:r>
          </a:p>
          <a:p>
            <a:pPr lvl="0"/>
            <a:r>
              <a:rPr/>
              <a:t>Introduction to Non-Parametric Tests</a:t>
            </a:r>
          </a:p>
        </p:txBody>
      </p:sp>
      <p:pic>
        <p:nvPicPr>
          <p:cNvPr descr="images/pine_needles.jp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hypothesis testing</a:t>
            </a:r>
          </a:p>
        </p:txBody>
      </p:sp>
      <p:sp>
        <p:nvSpPr>
          <p:cNvPr id="3" name="Content Placeholder 2"/>
          <p:cNvSpPr>
            <a:spLocks noGrp="1"/>
          </p:cNvSpPr>
          <p:nvPr>
            <p:ph idx="1" sz="half"/>
          </p:nvPr>
        </p:nvSpPr>
        <p:spPr/>
        <p:txBody>
          <a:bodyPr/>
          <a:lstStyle/>
          <a:p>
            <a:pPr lvl="0"/>
            <a:r>
              <a:rPr/>
              <a:t>Major goal of statistics:</a:t>
            </a:r>
          </a:p>
          <a:p>
            <a:pPr lvl="1"/>
            <a:r>
              <a:rPr/>
              <a:t>inferences about populations from samples…</a:t>
            </a:r>
          </a:p>
          <a:p>
            <a:pPr lvl="2"/>
            <a:r>
              <a:rPr/>
              <a:t>assign degree of confidence to inferences</a:t>
            </a:r>
          </a:p>
          <a:p>
            <a:pPr lvl="1"/>
            <a:r>
              <a:rPr/>
              <a:t>Statistical hypothesis testing:</a:t>
            </a:r>
          </a:p>
          <a:p>
            <a:pPr lvl="2"/>
            <a:r>
              <a:rPr/>
              <a:t>formalized approach to inference</a:t>
            </a:r>
          </a:p>
          <a:p>
            <a:pPr lvl="1"/>
            <a:r>
              <a:rPr/>
              <a:t>Hypotheses ask whether samples come from populations with certain properties</a:t>
            </a:r>
          </a:p>
          <a:p>
            <a:pPr lvl="1"/>
            <a:r>
              <a:rPr/>
              <a:t>Often interested in questions about population means</a:t>
            </a:r>
          </a:p>
          <a:p>
            <a:pPr lvl="2"/>
            <a:r>
              <a:rPr/>
              <a:t>but other questions are of interest</a:t>
            </a:r>
          </a:p>
        </p:txBody>
      </p:sp>
      <p:pic>
        <p:nvPicPr>
          <p:cNvPr descr="images/pine_tree.png" id="0" name="Picture 1"/>
          <p:cNvPicPr>
            <a:picLocks noGrp="1" noChangeAspect="1"/>
          </p:cNvPicPr>
          <p:nvPr/>
        </p:nvPicPr>
        <p:blipFill>
          <a:blip r:embed="rId2"/>
          <a:stretch>
            <a:fillRect/>
          </a:stretch>
        </p:blipFill>
        <p:spPr bwMode="auto">
          <a:xfrm>
            <a:off x="6121400" y="15113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Components</a:t>
            </a:r>
          </a:p>
        </p:txBody>
      </p:sp>
      <p:sp>
        <p:nvSpPr>
          <p:cNvPr id="3" name="Content Placeholder 2"/>
          <p:cNvSpPr>
            <a:spLocks noGrp="1"/>
          </p:cNvSpPr>
          <p:nvPr>
            <p:ph idx="1" sz="half"/>
          </p:nvPr>
        </p:nvSpPr>
        <p:spPr/>
        <p:txBody>
          <a:bodyPr/>
          <a:lstStyle/>
          <a:p>
            <a:pPr lvl="0" indent="0" marL="0">
              <a:buNone/>
            </a:pPr>
            <a:r>
              <a:rPr/>
              <a:t>Useful hypotheses:</a:t>
            </a:r>
          </a:p>
          <a:p>
            <a:pPr lvl="0"/>
            <a:r>
              <a:rPr/>
              <a:t>Rely on specifying</a:t>
            </a:r>
          </a:p>
          <a:p>
            <a:pPr lvl="1"/>
            <a:r>
              <a:rPr/>
              <a:t>Ho is the hypothesis of “no effect”</a:t>
            </a:r>
          </a:p>
          <a:p>
            <a:pPr lvl="2"/>
            <a:r>
              <a:rPr/>
              <a:t>two samples from population with same mean</a:t>
            </a:r>
          </a:p>
          <a:p>
            <a:pPr lvl="2"/>
            <a:r>
              <a:rPr/>
              <a:t>sample is from population of mean = X</a:t>
            </a:r>
          </a:p>
          <a:p>
            <a:pPr lvl="1"/>
            <a:r>
              <a:rPr/>
              <a:t>Ha (research or alternate hypothesis)</a:t>
            </a:r>
          </a:p>
          <a:p>
            <a:pPr lvl="2"/>
            <a:r>
              <a:rPr/>
              <a:t>is the opposite of the Ho</a:t>
            </a:r>
          </a:p>
          <a:p>
            <a:pPr lvl="2"/>
            <a:r>
              <a:rPr/>
              <a:t>or predicts that there is an effect of x on y</a:t>
            </a:r>
          </a:p>
          <a:p>
            <a:pPr lvl="2"/>
            <a:r>
              <a:rPr i="1"/>
              <a:t>but does NOT suggest a direction which is a prediction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Examples</a:t>
            </a:r>
          </a:p>
        </p:txBody>
      </p:sp>
      <p:sp>
        <p:nvSpPr>
          <p:cNvPr id="3" name="Content Placeholder 2"/>
          <p:cNvSpPr>
            <a:spLocks noGrp="1"/>
          </p:cNvSpPr>
          <p:nvPr>
            <p:ph idx="1" sz="half"/>
          </p:nvPr>
        </p:nvSpPr>
        <p:spPr/>
        <p:txBody>
          <a:bodyPr/>
          <a:lstStyle/>
          <a:p>
            <a:pPr lvl="0" indent="0" marL="0">
              <a:buNone/>
            </a:pPr>
            <a:r>
              <a:rPr/>
              <a:t>Together Ho and Ha encompass all possible outcomes:</a:t>
            </a:r>
          </a:p>
          <a:p>
            <a:pPr lvl="0"/>
            <a:r>
              <a:rPr/>
              <a:t>Ho: µ=0, Ha: µ ≠ 0</a:t>
            </a:r>
          </a:p>
          <a:p>
            <a:pPr lvl="1"/>
            <a:r>
              <a:rPr/>
              <a:t>mean equals 0 or mean does not equal 0</a:t>
            </a:r>
          </a:p>
          <a:p>
            <a:pPr lvl="0"/>
            <a:r>
              <a:rPr/>
              <a:t>Ho: µ = 35, Ha: µ ≠ 35</a:t>
            </a:r>
          </a:p>
          <a:p>
            <a:pPr lvl="1"/>
            <a:r>
              <a:rPr/>
              <a:t>mean equals 35 or mean does not equal 35</a:t>
            </a:r>
          </a:p>
          <a:p>
            <a:pPr lvl="0"/>
            <a:r>
              <a:rPr/>
              <a:t>Ho: µ1 = µ2, Ha: µ1 ≠ µ2</a:t>
            </a:r>
          </a:p>
          <a:p>
            <a:pPr lvl="1"/>
            <a:r>
              <a:rPr/>
              <a:t>mean of population 1 equals mean of population 2 or it does not</a:t>
            </a:r>
          </a:p>
          <a:p>
            <a:pPr lvl="0"/>
            <a:r>
              <a:rPr/>
              <a:t>Ho: µ &gt; 0, Ha: µ ≤ 0</a:t>
            </a:r>
          </a:p>
          <a:p>
            <a:pPr lvl="1"/>
            <a:r>
              <a:rPr/>
              <a:t>can be directional mean is greater than 0 or mean is not equal or less than 0</a:t>
            </a:r>
          </a:p>
          <a:p>
            <a:pPr lvl="1"/>
            <a:r>
              <a:rPr/>
              <a:t>this becomes a one sided test as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Testing Framework</a:t>
            </a:r>
          </a:p>
        </p:txBody>
      </p:sp>
      <p:sp>
        <p:nvSpPr>
          <p:cNvPr id="3" name="Content Placeholder 2"/>
          <p:cNvSpPr>
            <a:spLocks noGrp="1"/>
          </p:cNvSpPr>
          <p:nvPr>
            <p:ph idx="1" sz="half"/>
          </p:nvPr>
        </p:nvSpPr>
        <p:spPr/>
        <p:txBody>
          <a:bodyPr/>
          <a:lstStyle/>
          <a:p>
            <a:pPr lvl="0" indent="0" marL="0">
              <a:buNone/>
            </a:pPr>
            <a:r>
              <a:rPr/>
              <a:t>Statistical tests assess likelihood of the null hypothesis being true</a:t>
            </a:r>
          </a:p>
          <a:p>
            <a:pPr lvl="0"/>
            <a:r>
              <a:rPr/>
              <a:t>If the Ho is likely false, then Ha assumed to be correct</a:t>
            </a:r>
          </a:p>
          <a:p>
            <a:pPr lvl="0"/>
            <a:r>
              <a:rPr/>
              <a:t>More precisely:</a:t>
            </a:r>
          </a:p>
          <a:p>
            <a:pPr lvl="1"/>
            <a:r>
              <a:rPr/>
              <a:t>the long run probability of obtaining sample value (or more extreme one) if the null hypothesis is true</a:t>
            </a:r>
          </a:p>
          <a:p>
            <a:pPr lvl="2"/>
            <a:r>
              <a:rPr/>
              <a:t>p(data|Ho) - the probability of observing the data given that the null hypothesis Ho is true</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a:t>
            </a:r>
          </a:p>
        </p:txBody>
      </p:sp>
      <p:sp>
        <p:nvSpPr>
          <p:cNvPr id="3" name="Content Placeholder 2"/>
          <p:cNvSpPr>
            <a:spLocks noGrp="1"/>
          </p:cNvSpPr>
          <p:nvPr>
            <p:ph idx="1" sz="half"/>
          </p:nvPr>
        </p:nvSpPr>
        <p:spPr/>
        <p:txBody>
          <a:bodyPr/>
          <a:lstStyle/>
          <a:p>
            <a:pPr lvl="0" indent="0" marL="0">
              <a:buNone/>
            </a:pPr>
            <a:r>
              <a:rPr/>
              <a:t>Hypothesis tests</a:t>
            </a:r>
          </a:p>
          <a:p>
            <a:pPr lvl="0"/>
            <a:r>
              <a:rPr/>
              <a:t>Expressed as p-value (0-never to 1-always )</a:t>
            </a:r>
          </a:p>
          <a:p>
            <a:pPr lvl="0"/>
            <a:r>
              <a:rPr/>
              <a:t>Interpret p-value as:</a:t>
            </a:r>
          </a:p>
          <a:p>
            <a:pPr lvl="1"/>
            <a:r>
              <a:rPr/>
              <a:t>probability of obtaining sample value of statistic (or more extreme one) if Ho is true</a:t>
            </a:r>
          </a:p>
          <a:p>
            <a:pPr lvl="0"/>
            <a:r>
              <a:rPr/>
              <a:t>High p-value:</a:t>
            </a:r>
          </a:p>
          <a:p>
            <a:pPr lvl="1"/>
            <a:r>
              <a:rPr/>
              <a:t>high probability of obtaining sample statistic under Ho</a:t>
            </a:r>
          </a:p>
          <a:p>
            <a:pPr lvl="2"/>
            <a:r>
              <a:rPr/>
              <a:t>if the null hypothesis (Ho) were true, you would frequently observe data similar to your sample statistic</a:t>
            </a:r>
          </a:p>
          <a:p>
            <a:pPr lvl="2"/>
            <a:r>
              <a:rPr/>
              <a:t>your observed results are quite compatible with what the null hypothesis predicts</a:t>
            </a:r>
          </a:p>
          <a:p>
            <a:pPr lvl="0"/>
            <a:r>
              <a:rPr/>
              <a:t>Low p-value: low probability of obtaining sample statistic under Ho</a:t>
            </a:r>
          </a:p>
          <a:p>
            <a:pPr lvl="1"/>
            <a:r>
              <a:rPr/>
              <a:t>if the null hypothesis (Ho) were true, you would rarely observe data similar to or more extreme than your sample statistic</a:t>
            </a:r>
          </a:p>
          <a:p>
            <a:pPr lvl="1"/>
            <a:r>
              <a:rPr/>
              <a:t>Your results are unusual under the null hypothesis, suggesting that either you’ve witnessed a rare event or the null hypothesis may be incorrect</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P-value Interpretation</a:t>
            </a:r>
          </a:p>
        </p:txBody>
      </p:sp>
      <p:sp>
        <p:nvSpPr>
          <p:cNvPr id="3" name="Content Placeholder 2"/>
          <p:cNvSpPr>
            <a:spLocks noGrp="1"/>
          </p:cNvSpPr>
          <p:nvPr>
            <p:ph idx="1"/>
          </p:nvPr>
        </p:nvSpPr>
        <p:spPr/>
        <p:txBody>
          <a:bodyPr/>
          <a:lstStyle/>
          <a:p>
            <a:pPr lvl="0" indent="0" marL="0">
              <a:buNone/>
            </a:pPr>
            <a:r>
              <a:rPr/>
              <a:t>Statistical test results:</a:t>
            </a:r>
          </a:p>
          <a:p>
            <a:pPr lvl="0"/>
            <a:r>
              <a:rPr/>
              <a:t>p = 0.3 means that if I repeated the study 100 times, I would get this (or more extreme) result due to chance </a:t>
            </a:r>
            <a:r>
              <a:rPr b="1"/>
              <a:t>30 times</a:t>
            </a:r>
          </a:p>
          <a:p>
            <a:pPr lvl="0"/>
            <a:r>
              <a:rPr/>
              <a:t>p = 0.03 means that if I repeated the study 100 times, I would get this (or more extreme) result due to chance </a:t>
            </a:r>
            <a:r>
              <a:rPr b="1"/>
              <a:t>3 times</a:t>
            </a:r>
          </a:p>
          <a:p>
            <a:pPr lvl="0" indent="0" marL="0">
              <a:buNone/>
            </a:pPr>
            <a:r>
              <a:rPr i="1"/>
              <a:t>Which p-value suggests Ho likely false?</a:t>
            </a:r>
          </a:p>
          <a:p>
            <a:pPr lvl="0" indent="0" marL="0">
              <a:buNone/>
            </a:pPr>
            <a:r>
              <a:rPr/>
              <a:t>At what point reject Ho?</a:t>
            </a:r>
          </a:p>
          <a:p>
            <a:pPr lvl="0" indent="0" marL="0">
              <a:buNone/>
            </a:pPr>
            <a:r>
              <a:rPr/>
              <a:t>p &lt; 0.05 conventional “significance threshold” (α = alpha or p value)</a:t>
            </a:r>
          </a:p>
          <a:p>
            <a:pPr lvl="0" indent="0" marL="0">
              <a:buNone/>
            </a:pPr>
            <a:r>
              <a:rPr/>
              <a:t>p &lt; 0.05 means: if Ho is true and we repeated the study 100 times</a:t>
            </a:r>
          </a:p>
          <a:p>
            <a:pPr lvl="0"/>
            <a:r>
              <a:rPr/>
              <a:t>we would get this (or more extreme) result less than 5 times due to chance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6:</a:t>
            </a:r>
            <a:r>
              <a:rPr/>
              <a:t> Significance Levels and Interpretation</a:t>
            </a:r>
          </a:p>
        </p:txBody>
      </p:sp>
      <p:sp>
        <p:nvSpPr>
          <p:cNvPr id="4" name="Text Placeholder 3"/>
          <p:cNvSpPr>
            <a:spLocks noGrp="1"/>
          </p:cNvSpPr>
          <p:nvPr>
            <p:ph idx="2" sz="half" type="body"/>
          </p:nvPr>
        </p:nvSpPr>
        <p:spPr/>
        <p:txBody>
          <a:bodyPr/>
          <a:lstStyle/>
          <a:p>
            <a:pPr lvl="0" indent="0" marL="0">
              <a:buNone/>
            </a:pPr>
            <a:r>
              <a:rPr/>
              <a:t>Statistical test results:</a:t>
            </a:r>
          </a:p>
          <a:p>
            <a:pPr lvl="0"/>
            <a:r>
              <a:rPr b="1"/>
              <a:t>α is the rate at which we will reject a true null hypothesis (Type I error rate)</a:t>
            </a:r>
          </a:p>
          <a:p>
            <a:pPr lvl="0"/>
            <a:r>
              <a:rPr/>
              <a:t>Lowering α will lower likelihood of incorrectly rejecting a true null hypothesis (e.g., 0.01, 0.001)</a:t>
            </a:r>
          </a:p>
          <a:p>
            <a:pPr lvl="0"/>
            <a:r>
              <a:rPr i="1"/>
              <a:t>Both Hs and α are specified</a:t>
            </a:r>
            <a:r>
              <a:rPr/>
              <a:t> </a:t>
            </a:r>
            <a:r>
              <a:rPr i="1"/>
              <a:t>BEFORE collection of data and analysis</a:t>
            </a:r>
          </a:p>
          <a:p>
            <a:pPr lvl="0" indent="0" marL="0">
              <a:buNone/>
            </a:pPr>
            <a:r>
              <a:rPr/>
              <a:t>Traditionally α=0.05 is used as a cut off for rejecting null hypothesis</a:t>
            </a:r>
          </a:p>
          <a:p>
            <a:pPr lvl="0" indent="0" marL="0">
              <a:buNone/>
            </a:pPr>
            <a:r>
              <a:rPr/>
              <a:t>There is nothing magical about 0.05 - actual p-values need to be reported - also need to decide prior to study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2616200"/>
                <a:gridCol w="26162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Ho - data appear consistent with Ho</a:t>
                      </a:r>
                    </a:p>
                  </a:txBody>
                </a:tc>
              </a:tr>
              <a:tr h="0">
                <a:tc>
                  <a:txBody>
                    <a:bodyPr/>
                    <a:lstStyle/>
                    <a:p>
                      <a:pPr lvl="0" indent="0" marL="0">
                        <a:buNone/>
                      </a:pPr>
                      <a:r>
                        <a:rPr/>
                        <a:t>0.05 &lt; P &lt; 0.10</a:t>
                      </a:r>
                    </a:p>
                  </a:txBody>
                </a:tc>
                <a:tc>
                  <a:txBody>
                    <a:bodyPr/>
                    <a:lstStyle/>
                    <a:p>
                      <a:pPr lvl="0" indent="0" marL="0">
                        <a:buNone/>
                      </a:pPr>
                      <a:r>
                        <a:rPr/>
                        <a:t>Weak evidence against the Ho in favor of Ha</a:t>
                      </a:r>
                    </a:p>
                  </a:txBody>
                </a:tc>
              </a:tr>
              <a:tr h="0">
                <a:tc>
                  <a:txBody>
                    <a:bodyPr/>
                    <a:lstStyle/>
                    <a:p>
                      <a:pPr lvl="0" indent="0" marL="0">
                        <a:buNone/>
                      </a:pPr>
                      <a:r>
                        <a:rPr/>
                        <a:t>0.01 &lt; P &lt; 0.05</a:t>
                      </a:r>
                    </a:p>
                  </a:txBody>
                </a:tc>
                <a:tc>
                  <a:txBody>
                    <a:bodyPr/>
                    <a:lstStyle/>
                    <a:p>
                      <a:pPr lvl="0" indent="0" marL="0">
                        <a:buNone/>
                      </a:pPr>
                      <a:r>
                        <a:rPr/>
                        <a:t>Moderate evidence against Ho in favor of Ha</a:t>
                      </a:r>
                    </a:p>
                  </a:txBody>
                </a:tc>
              </a:tr>
              <a:tr h="0">
                <a:tc>
                  <a:txBody>
                    <a:bodyPr/>
                    <a:lstStyle/>
                    <a:p>
                      <a:pPr lvl="0" indent="0" marL="0">
                        <a:buNone/>
                      </a:pPr>
                      <a:r>
                        <a:rPr/>
                        <a:t>0.001 &lt; P &lt; 0.01</a:t>
                      </a:r>
                    </a:p>
                  </a:txBody>
                </a:tc>
                <a:tc>
                  <a:txBody>
                    <a:bodyPr/>
                    <a:lstStyle/>
                    <a:p>
                      <a:pPr lvl="0" indent="0" marL="0">
                        <a:buNone/>
                      </a:pPr>
                      <a:r>
                        <a:rPr/>
                        <a:t>Strong evidence against Ho in favor of Ha</a:t>
                      </a:r>
                    </a:p>
                  </a:txBody>
                </a:tc>
              </a:tr>
              <a:tr h="0">
                <a:tc>
                  <a:txBody>
                    <a:bodyPr/>
                    <a:lstStyle/>
                    <a:p>
                      <a:pPr lvl="0" indent="0" marL="0">
                        <a:buNone/>
                      </a:pPr>
                      <a:r>
                        <a:rPr/>
                        <a:t>P &lt; 0.001</a:t>
                      </a:r>
                    </a:p>
                  </a:txBody>
                </a:tc>
                <a:tc>
                  <a:txBody>
                    <a:bodyPr/>
                    <a:lstStyle/>
                    <a:p>
                      <a:pPr lvl="0" indent="0" marL="0">
                        <a:buNone/>
                      </a:pPr>
                      <a:r>
                        <a:rPr/>
                        <a:t>Very strong evidence against Ho in favor of Ha</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a:r>
              <a:rPr b="1"/>
              <a:t>Common interpretations:</a:t>
            </a:r>
          </a:p>
          <a:p>
            <a:pPr lvl="1"/>
            <a:r>
              <a:rPr/>
              <a:t>p &lt; 0.05: Strong evidence against H₀</a:t>
            </a:r>
          </a:p>
          <a:p>
            <a:pPr lvl="1"/>
            <a:r>
              <a:rPr/>
              <a:t>0.05 ≤ p &lt; 0.10: Moderate evidence against H₀</a:t>
            </a:r>
          </a:p>
          <a:p>
            <a:pPr lvl="1"/>
            <a:r>
              <a:rPr/>
              <a:t>p ≥ 0.10: Insufficient evidence against H₀</a:t>
            </a:r>
          </a:p>
          <a:p>
            <a:pPr lvl="0"/>
            <a:r>
              <a:rPr b="1"/>
              <a:t>Common misinterpretations:</a:t>
            </a:r>
          </a:p>
          <a:p>
            <a:pPr lvl="1"/>
            <a:r>
              <a:rPr/>
              <a:t>p-value is NOT the probability that H₀ is true</a:t>
            </a:r>
          </a:p>
          <a:p>
            <a:pPr lvl="1"/>
            <a:r>
              <a:rPr/>
              <a:t>p-value is NOT the probability that results occurred by chance</a:t>
            </a:r>
          </a:p>
          <a:p>
            <a:pPr lvl="1"/>
            <a:r>
              <a:rPr/>
              <a:t>Statistical significance ≠ practical significance</a:t>
            </a:r>
          </a:p>
          <a:p>
            <a:pPr lvl="0"/>
            <a:r>
              <a:rPr/>
              <a:t>Note that there is a difference in how to state the hypotheses</a:t>
            </a:r>
          </a:p>
          <a:p>
            <a:pPr lvl="1"/>
            <a:r>
              <a:rPr/>
              <a:t>one sample T-TEST</a:t>
            </a:r>
          </a:p>
          <a:p>
            <a:pPr lvl="1"/>
            <a:r>
              <a:rPr/>
              <a:t>two sample T-TEST</a:t>
            </a:r>
          </a:p>
        </p:txBody>
      </p:sp>
      <p:pic>
        <p:nvPicPr>
          <p:cNvPr descr="06_lecture_powerpoint_files/figure-pptx/unnamed-chunk-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Historical Context</a:t>
            </a:r>
          </a:p>
        </p:txBody>
      </p:sp>
      <p:pic>
        <p:nvPicPr>
          <p:cNvPr descr="images/clipboard-3329723408.png" id="0" name="Picture 1"/>
          <p:cNvPicPr>
            <a:picLocks noGrp="1" noChangeAspect="1"/>
          </p:cNvPicPr>
          <p:nvPr/>
        </p:nvPicPr>
        <p:blipFill>
          <a:blip r:embed="rId2"/>
          <a:stretch>
            <a:fillRect/>
          </a:stretch>
        </p:blipFill>
        <p:spPr bwMode="auto">
          <a:xfrm>
            <a:off x="2628900" y="609600"/>
            <a:ext cx="38227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Fisher’s Perspective</a:t>
            </a:r>
          </a:p>
        </p:txBody>
      </p:sp>
      <p:sp>
        <p:nvSpPr>
          <p:cNvPr id="3" name="Content Placeholder 2"/>
          <p:cNvSpPr>
            <a:spLocks noGrp="1"/>
          </p:cNvSpPr>
          <p:nvPr>
            <p:ph idx="1"/>
          </p:nvPr>
        </p:nvSpPr>
        <p:spPr/>
        <p:txBody>
          <a:bodyPr/>
          <a:lstStyle/>
          <a:p>
            <a:pPr lvl="0" indent="0" marL="0">
              <a:buNone/>
            </a:pPr>
            <a:r>
              <a:rPr/>
              <a:t>Fisher:</a:t>
            </a:r>
          </a:p>
          <a:p>
            <a:pPr lvl="0" indent="0" marL="0">
              <a:buNone/>
            </a:pPr>
            <a:r>
              <a:rPr/>
              <a:t>p-value as informal measure of discrepancy between data and Ho</a:t>
            </a:r>
          </a:p>
          <a:p>
            <a:pPr lvl="0" indent="0" marL="0">
              <a:buNone/>
            </a:pPr>
            <a:r>
              <a:rPr/>
              <a:t>“If p is between 0.1 and 0.9 there is certainly no reason to suspect the hypothesis tested. If it is below 0.02 it is strongly indicated that the hypothesis fails to account for the whole of the facts. We shall not often be astray if we draw a conventional line at .05 …”</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Decision errors</a:t>
            </a:r>
          </a:p>
        </p:txBody>
      </p:sp>
      <p:sp>
        <p:nvSpPr>
          <p:cNvPr id="3" name="Content Placeholder 2"/>
          <p:cNvSpPr>
            <a:spLocks noGrp="1"/>
          </p:cNvSpPr>
          <p:nvPr>
            <p:ph idx="1" sz="half"/>
          </p:nvPr>
        </p:nvSpPr>
        <p:spPr/>
        <p:txBody>
          <a:bodyPr/>
          <a:lstStyle/>
          <a:p>
            <a:pPr lvl="0"/>
            <a:r>
              <a:rPr b="1"/>
              <a:t>Even good studies can reach incorrect conclusions</a:t>
            </a:r>
          </a:p>
          <a:p>
            <a:pPr lvl="0"/>
            <a:r>
              <a:rPr/>
              <a:t>“Decision errors”</a:t>
            </a:r>
          </a:p>
          <a:p>
            <a:pPr lvl="0"/>
            <a:r>
              <a:rPr/>
              <a:t>Two types of decision errors</a:t>
            </a:r>
          </a:p>
          <a:p>
            <a:pPr lvl="0"/>
            <a:r>
              <a:rPr/>
              <a:t>Want to know probability of making these errors</a:t>
            </a:r>
          </a:p>
        </p:txBody>
      </p:sp>
      <p:pic>
        <p:nvPicPr>
          <p:cNvPr descr="images/clipboard-1430957016.png" id="0" name="Picture 1"/>
          <p:cNvPicPr>
            <a:picLocks noGrp="1" noChangeAspect="1"/>
          </p:cNvPicPr>
          <p:nvPr/>
        </p:nvPicPr>
        <p:blipFill>
          <a:blip r:embed="rId2"/>
          <a:stretch>
            <a:fillRect/>
          </a:stretch>
        </p:blipFill>
        <p:spPr bwMode="auto">
          <a:xfrm>
            <a:off x="6121400" y="2070100"/>
            <a:ext cx="2781300" cy="1651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Type I and Type II Errors - Concept</a:t>
            </a:r>
          </a:p>
        </p:txBody>
      </p:sp>
      <p:sp>
        <p:nvSpPr>
          <p:cNvPr id="3" name="Content Placeholder 2"/>
          <p:cNvSpPr>
            <a:spLocks noGrp="1"/>
          </p:cNvSpPr>
          <p:nvPr>
            <p:ph idx="1" sz="half"/>
          </p:nvPr>
        </p:nvSpPr>
        <p:spPr/>
        <p:txBody>
          <a:bodyPr/>
          <a:lstStyle/>
          <a:p>
            <a:pPr lvl="0"/>
            <a:r>
              <a:rPr b="1"/>
              <a:t>Type I error rate</a:t>
            </a:r>
          </a:p>
          <a:p>
            <a:pPr lvl="1"/>
            <a:r>
              <a:rPr b="1"/>
              <a:t>α</a:t>
            </a:r>
            <a:r>
              <a:rPr/>
              <a:t>: wrongly reject H₀ when it’s true</a:t>
            </a:r>
          </a:p>
          <a:p>
            <a:pPr lvl="1"/>
            <a:r>
              <a:rPr/>
              <a:t>α = 0.05 means a type I error rate of 5%</a:t>
            </a:r>
          </a:p>
          <a:p>
            <a:pPr lvl="0"/>
            <a:r>
              <a:rPr b="1"/>
              <a:t>Type II error rate, β</a:t>
            </a:r>
          </a:p>
          <a:p>
            <a:pPr lvl="1"/>
            <a:r>
              <a:rPr/>
              <a:t>wrongly fail to reject H₀ when it’s false</a:t>
            </a:r>
          </a:p>
          <a:p>
            <a:pPr lvl="0"/>
            <a:r>
              <a:rPr b="1"/>
              <a:t>Power = 1-β</a:t>
            </a:r>
            <a:r>
              <a:rPr/>
              <a:t>: </a:t>
            </a:r>
            <a:r>
              <a:rPr b="1"/>
              <a:t>probability of correctly rejecting H₀ when H₁ is true</a:t>
            </a:r>
          </a:p>
          <a:p>
            <a:pPr lvl="0"/>
            <a:r>
              <a:rPr/>
              <a:t>Inverse relationship between type I and type II error - but not straightforward</a:t>
            </a:r>
          </a:p>
          <a:p>
            <a:pPr lvl="0"/>
            <a:r>
              <a:rPr/>
              <a:t>Result of chance - sample not representative of population</a:t>
            </a:r>
          </a:p>
          <a:p>
            <a:pPr lvl="0"/>
            <a:r>
              <a:rPr b="1"/>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905000"/>
            <a:ext cx="2781300" cy="1968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Details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 - CLICK TO NEXT AS SAME TEXT</a:t>
            </a:r>
          </a:p>
        </p:txBody>
      </p:sp>
      <p:pic>
        <p:nvPicPr>
          <p:cNvPr descr="images/clipboard-3204206464.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Visualization</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a:t>
            </a:r>
          </a:p>
        </p:txBody>
      </p:sp>
      <p:pic>
        <p:nvPicPr>
          <p:cNvPr descr="06_lecture_powerpoint_files/figure-pptx/unnamed-chunk-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island mice size is larger, when in fact it is not.</a:t>
            </a:r>
          </a:p>
          <a:p>
            <a:pPr lvl="0" indent="-342900" marL="342900">
              <a:buAutoNum type="arabicPeriod"/>
            </a:pPr>
            <a:r>
              <a:rPr sz="2000"/>
              <a:t>A study fails to detect a real difference in mouse size on islands when there is and concludes there is no effect.</a:t>
            </a:r>
          </a:p>
          <a:p>
            <a:pPr lvl="0" indent="-342900" marL="342900">
              <a:buAutoNum type="arabicPeriod"/>
            </a:pPr>
            <a:r>
              <a:rPr sz="2000"/>
              <a:t>Let’s calculate the power of our t-test to detect a 5 mm difference in mass sampling_sites:</a:t>
            </a:r>
          </a:p>
          <a:p>
            <a:pPr lvl="0"/>
            <a:r>
              <a:rPr sz="2000"/>
              <a:t>pooled standard deviation</a:t>
            </a:r>
          </a:p>
          <a:p>
            <a:pPr lvl="1"/>
            <a:r>
              <a:rPr sz="2000"/>
              <a:t>This is the combined standard deviation of both groups weighted by respective degrees of freedom.</a:t>
            </a:r>
          </a:p>
          <a:p>
            <a:pPr lvl="0"/>
            <a:r>
              <a:rPr sz="2000"/>
              <a:t>Cohen’s d</a:t>
            </a:r>
          </a:p>
          <a:p>
            <a:pPr lvl="1"/>
            <a:r>
              <a:rPr sz="2000"/>
              <a:t>standardized difference between means - here assuming a difference of 1 units (g)</a:t>
            </a:r>
          </a:p>
          <a:p>
            <a:pPr lvl="1"/>
            <a:r>
              <a:rPr sz="2000">
                <a:latin typeface="Courier"/>
              </a:rPr>
              <a:t>delta = 0.423</a:t>
            </a:r>
            <a:r>
              <a:rPr sz="2000"/>
              <a:t>: The standardized effect size (Cohen’s d)</a:t>
            </a:r>
          </a:p>
          <a:p>
            <a:pPr lvl="0" indent="0">
              <a:buNone/>
            </a:pPr>
            <a:r>
              <a:rPr sz="2000">
                <a:latin typeface="Courier"/>
              </a:rPr>
              <a:t>
     Two-sample t test power calculation 
              n = 28
          delta = 0.4231154
             sd = 1
      sig.level = 0.05
          power = 0.3427604
    alternative = two.sided
NOTE: n is number in *each* group</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if we calculated power for the pine needles you measured?</a:t>
            </a:r>
          </a:p>
        </p:txBody>
      </p:sp>
      <p:sp>
        <p:nvSpPr>
          <p:cNvPr id="3" name="Content Placeholder 2"/>
          <p:cNvSpPr>
            <a:spLocks noGrp="1"/>
          </p:cNvSpPr>
          <p:nvPr>
            <p:ph idx="1"/>
          </p:nvPr>
        </p:nvSpPr>
        <p:spPr/>
        <p:txBody>
          <a:bodyPr/>
          <a:lstStyle/>
          <a:p>
            <a:pPr lvl="0" indent="0">
              <a:buNone/>
            </a:pPr>
            <a:r>
              <a:rPr>
                <a:latin typeface="Courier"/>
              </a:rPr>
              <a:t>Pooled SD: 2.58 mm</a:t>
            </a:r>
          </a:p>
          <a:p>
            <a:pPr lvl="0" indent="0">
              <a:buNone/>
            </a:pPr>
            <a:r>
              <a:rPr>
                <a:latin typeface="Courier"/>
              </a:rPr>
              <a:t>Effect size for observed 1.45 mm difference: Cohen's d = 0.56 </a:t>
            </a:r>
          </a:p>
          <a:p>
            <a:pPr lvl="0" indent="0">
              <a:buNone/>
            </a:pPr>
            <a:r>
              <a:rPr>
                <a:latin typeface="Courier"/>
              </a:rPr>
              <a:t>Power for observed 1.45 mm difference: 0.182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is Power</a:t>
            </a:r>
          </a:p>
        </p:txBody>
      </p:sp>
      <p:sp>
        <p:nvSpPr>
          <p:cNvPr id="3" name="Content Placeholder 2"/>
          <p:cNvSpPr>
            <a:spLocks noGrp="1"/>
          </p:cNvSpPr>
          <p:nvPr>
            <p:ph idx="1"/>
          </p:nvPr>
        </p:nvSpPr>
        <p:spPr/>
        <p:txBody>
          <a:bodyPr/>
          <a:lstStyle/>
          <a:p>
            <a:pPr lvl="0" indent="0" marL="0">
              <a:buNone/>
            </a:pPr>
            <a:r>
              <a:rPr/>
              <a:t>Statistical power represents the probability of detecting a true effect (rejecting the null hypothesis when it is false). In this case, with a power of 97%, there’s a 97% chance of detecting a true difference of X units between the means of the two groups if such a difference actually exists.</a:t>
            </a:r>
          </a:p>
          <a:p>
            <a:pPr lvl="0" indent="0" marL="0">
              <a:buNone/>
            </a:pPr>
            <a:r>
              <a:rPr/>
              <a:t>A power analysis like this is typically done for one of these purposes:</a:t>
            </a:r>
          </a:p>
          <a:p>
            <a:pPr lvl="0" indent="-342900" marL="342900">
              <a:buAutoNum type="arabicPeriod"/>
            </a:pPr>
            <a:r>
              <a:rPr/>
              <a:t>Before data collection to determine required sample size</a:t>
            </a:r>
          </a:p>
          <a:p>
            <a:pPr lvl="0" indent="-342900" marL="342900">
              <a:buAutoNum type="arabicPeriod"/>
            </a:pPr>
            <a:r>
              <a:rPr/>
              <a:t>After a study to evaluate if the sample size was adequate</a:t>
            </a:r>
          </a:p>
          <a:p>
            <a:pPr lvl="0" indent="-342900" marL="342900">
              <a:buAutoNum type="arabicPeriod"/>
            </a:pPr>
            <a:r>
              <a:rPr/>
              <a:t>To determine the minimum detectable effect size with the given sample</a:t>
            </a:r>
          </a:p>
          <a:p>
            <a:pPr lvl="0" indent="0" marL="0">
              <a:buNone/>
            </a:pPr>
            <a:r>
              <a:rPr/>
              <a:t>With 97% power, this test has excellent ability to detect the specified effect size. Generally, </a:t>
            </a:r>
            <a:r>
              <a:rPr b="1"/>
              <a:t>80% power is considered acceptable</a:t>
            </a:r>
            <a:r>
              <a:rPr/>
              <a:t>, so 97% indicates a very well-powered study for detecting a difference of XXg between the groups.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Shows precision of the mean</a:t>
            </a:r>
          </a:p>
          <a:p>
            <a:pPr lvl="0" indent="-342900" marL="342900">
              <a:buAutoNum type="arabicPeriod"/>
            </a:pPr>
            <a:r>
              <a:rPr b="1"/>
              <a:t>Standard Deviation (SD)</a:t>
            </a:r>
            <a:r>
              <a:rPr/>
              <a:t>: Shows variability in the data</a:t>
            </a:r>
          </a:p>
          <a:p>
            <a:pPr lvl="0" indent="-342900" marL="342900">
              <a:buAutoNum type="arabicPeriod"/>
            </a:pPr>
            <a:r>
              <a:rPr b="1"/>
              <a:t>Confidence Interval (CI)</a:t>
            </a:r>
            <a:r>
              <a:rPr/>
              <a:t>: Shows plausible range for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06_lecture_powerpoint_files/figure-pptx/unnamed-chunk-5-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p:txBody>
      </p:sp>
      <p:pic>
        <p:nvPicPr>
          <p:cNvPr descr="06_lecture_powerpoint_files/figure-pptx/unnamed-chunk-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Summary and Key Takeaways</a:t>
            </a:r>
          </a:p>
        </p:txBody>
      </p:sp>
      <p:sp>
        <p:nvSpPr>
          <p:cNvPr id="3" name="Content Placeholder 2"/>
          <p:cNvSpPr>
            <a:spLocks noGrp="1"/>
          </p:cNvSpPr>
          <p:nvPr>
            <p:ph idx="1"/>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Type I error rate</a:t>
            </a:r>
          </a:p>
          <a:p>
            <a:pPr lvl="0" indent="-342900" marL="342900">
              <a:buAutoNum type="arabicPeriod"/>
            </a:pPr>
            <a:r>
              <a:rPr b="1"/>
              <a:t>Type I and Type II errors</a:t>
            </a:r>
            <a:r>
              <a:rPr/>
              <a:t> represent different kinds of mistakes</a:t>
            </a:r>
          </a:p>
          <a:p>
            <a:pPr lvl="1"/>
            <a:r>
              <a:rPr/>
              <a:t>Type I (α): False positive - rejecting true H₀</a:t>
            </a:r>
          </a:p>
          <a:p>
            <a:pPr lvl="1"/>
            <a:r>
              <a:rPr/>
              <a:t>Type II (β): False negative - failing to reject false H₀</a:t>
            </a:r>
          </a:p>
          <a:p>
            <a:pPr lvl="1"/>
            <a:r>
              <a:rPr/>
              <a:t>Statistical power = 1 - β</a:t>
            </a:r>
          </a:p>
          <a:p>
            <a:pPr lvl="0" indent="-342900" marL="342900">
              <a:buAutoNum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06</dc:title>
  <dc:creator>Bill Perry</dc:creator>
  <cp:keywords/>
  <dcterms:created xsi:type="dcterms:W3CDTF">2026-05-06T17:43:42Z</dcterms:created>
  <dcterms:modified xsi:type="dcterms:W3CDTF">2026-05-06T17:43:42Z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ngines">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toc-title">
    <vt:lpwstr>Table of contents</vt:lpwstr>
  </property>
</Properties>
</file>