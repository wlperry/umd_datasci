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short chunks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type the code yourself.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 (the evidence)</a:t>
            </a:r>
          </a:p>
          <a:p>
            <a:pPr lvl="0"/>
            <a:r>
              <a:rPr sz="2000" b="1"/>
              <a:t>Predicting first</a:t>
            </a:r>
            <a:r>
              <a:rPr sz="2000"/>
              <a:t> forces your brain to </a:t>
            </a:r>
            <a:r>
              <a:rPr sz="2000" i="1"/>
              <a:t>retrieve</a:t>
            </a:r>
            <a:r>
              <a:rPr sz="2000"/>
              <a:t> what it knows — the gap between guess and answer is what makes it stick.</a:t>
            </a:r>
          </a:p>
          <a:p>
            <a:pPr lvl="0"/>
            <a:r>
              <a:rPr sz="2000" b="1"/>
              <a:t>Typing by hand</a:t>
            </a:r>
            <a:r>
              <a:rPr sz="2000"/>
              <a:t> builds the finger-memory and error-spotting that copy-paste skips.</a:t>
            </a:r>
          </a:p>
          <a:p>
            <a:pPr lvl="0"/>
            <a:r>
              <a:rPr sz="2000" b="1"/>
              <a:t>Chunk → immediate practice</a:t>
            </a:r>
            <a:r>
              <a:rPr sz="2000"/>
              <a:t> keeps a new idea in working memory long enough to form a lasting schema.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Why Wide Data Is 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where the ice data comes from, why “wide” data breaks tidy tools, and reading the messy text file into R.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1–2</a:t>
            </a:r>
            <a:r>
              <a:rPr sz="2000"/>
              <a:t> (read the raw file and inspect its wide shape).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This table has one column per year — 53 of them. Before the next slides: can </a:t>
            </a:r>
            <a:r>
              <a:rPr sz="2000">
                <a:latin typeface="Courier"/>
              </a:rPr>
              <a:t>ggplot()</a:t>
            </a:r>
            <a:r>
              <a:rPr sz="2000"/>
              <a:t> use this shape directly? If not, what has to change first?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</a:t>
            </a:r>
            <a:r>
              <a:rPr>
                <a:latin typeface="Courier"/>
              </a:rPr>
              <a:t>sup.txt</a:t>
            </a:r>
            <a:r>
              <a:rPr/>
              <a:t> straight from the web with </a:t>
            </a:r>
            <a:r>
              <a:rPr>
                <a:latin typeface="Courier"/>
              </a:rPr>
              <a:t>read.table()</a:t>
            </a:r>
            <a:r>
              <a:rPr/>
              <a:t>, turn the row labels into a real </a:t>
            </a:r>
            <a:r>
              <a:rPr>
                <a:latin typeface="Courier"/>
              </a:rPr>
              <a:t>date</a:t>
            </a:r>
            <a:r>
              <a:rPr/>
              <a:t> column, and look at the wide shape. Predict how many columns it has before you run 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Reshape with pivot_longer &amp; Fix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pivot_longer()</a:t>
            </a:r>
            <a:r>
              <a:rPr/>
              <a:t> to make the data tidy, the before/after shape, and the tricky winters-cross-the-new-year date fix.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3–4</a:t>
            </a:r>
            <a:r>
              <a:rPr sz="2000"/>
              <a:t> (pivot to long, then fix the calendar-year wrinkle).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ice_raw</a:t>
            </a:r>
            <a:r>
              <a:rPr sz="2000"/>
              <a:t> is ~190 rows × 53 columns. After </a:t>
            </a:r>
            <a:r>
              <a:rPr sz="2000">
                <a:latin typeface="Courier"/>
              </a:rPr>
              <a:t>pivot_longer()</a:t>
            </a:r>
            <a:r>
              <a:rPr sz="2000"/>
              <a:t> collapses every year column, how many </a:t>
            </a:r>
            <a:r>
              <a:rPr sz="2000" b="1"/>
              <a:t>columns</a:t>
            </a:r>
            <a:r>
              <a:rPr sz="2000"/>
              <a:t> will </a:t>
            </a:r>
            <a:r>
              <a:rPr sz="2000">
                <a:latin typeface="Courier"/>
              </a:rPr>
              <a:t>ice_long</a:t>
            </a:r>
            <a:r>
              <a:rPr sz="2000"/>
              <a:t> have, and roughly how many </a:t>
            </a:r>
            <a:r>
              <a:rPr sz="2000" b="1"/>
              <a:t>rows</a:t>
            </a:r>
            <a:r>
              <a:rPr sz="2000"/>
              <a:t>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Live Demo — Watch It Break (on purpose)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Suppose I forgot </a:t>
            </a:r>
            <a:r>
              <a:rPr>
                <a:latin typeface="Courier"/>
              </a:rPr>
              <a:t>rownames_to_column()</a:t>
            </a:r>
            <a:r>
              <a:rPr/>
              <a:t>, so there is no </a:t>
            </a:r>
            <a:r>
              <a:rPr>
                <a:latin typeface="Courier"/>
              </a:rPr>
              <a:t>date</a:t>
            </a:r>
            <a:r>
              <a:rPr/>
              <a:t> column yet: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to pivot every column except date...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 stops: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`pivot_longer()`:
! Can't select columns that don't exist.
✖ Column `date` doesn't exist.</a:t>
            </a:r>
          </a:p>
          <a:p>
            <a:pPr lvl="0" indent="0" marL="0">
              <a:buNone/>
            </a:pPr>
            <a:r>
              <a:rPr/>
              <a:t>The fix — make the row labels a real column first: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ice_raw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✅ Why show a broken run?</a:t>
            </a:r>
          </a:p>
          <a:p>
            <a:pPr lvl="0" indent="0" marL="1270000">
              <a:buNone/>
            </a:pPr>
            <a:r>
              <a:rPr sz="2000"/>
              <a:t>“Column </a:t>
            </a:r>
            <a:r>
              <a:rPr sz="2000">
                <a:latin typeface="Courier"/>
              </a:rPr>
              <a:t>date</a:t>
            </a:r>
            <a:r>
              <a:rPr sz="2000"/>
              <a:t> doesn’t exist” means you referenced a column R can’t see — here because the day labels were still </a:t>
            </a:r>
            <a:r>
              <a:rPr sz="2000" b="1"/>
              <a:t>row names</a:t>
            </a:r>
            <a:r>
              <a:rPr sz="2000"/>
              <a:t>, not data. Reading the message points you straight to the fix.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3–4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the data long with </a:t>
            </a:r>
            <a:r>
              <a:rPr>
                <a:latin typeface="Courier"/>
              </a:rPr>
              <a:t>pivot_longer()</a:t>
            </a:r>
            <a:r>
              <a:rPr/>
              <a:t>, then fix the winters that cross the new year with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. Predict the new shape before you run 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Summarize &amp; Pivot Back Wider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group_by() %&gt;% summarize()</a:t>
            </a:r>
            <a:r>
              <a:rPr/>
              <a:t> on the newly-tidy data, and </a:t>
            </a:r>
            <a:r>
              <a:rPr>
                <a:latin typeface="Courier"/>
              </a:rPr>
              <a:t>pivot_wider()</a:t>
            </a:r>
            <a:r>
              <a:rPr/>
              <a:t> to build a readable year-by-month table.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5–6</a:t>
            </a:r>
            <a:r>
              <a:rPr sz="2000"/>
              <a:t> (summarize by month, then make a pivot table).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5–6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mean ice cover by year-month, then use </a:t>
            </a:r>
            <a:r>
              <a:rPr>
                <a:latin typeface="Courier"/>
              </a:rPr>
              <a:t>pivot_wider()</a:t>
            </a:r>
            <a:r>
              <a:rPr/>
              <a:t> to build the Excel-style table. Predict how many rows and columns the wide table will have.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Visualize &amp; Model the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rebuilding NOAA’s spaghetti plot, pulling each year’s peak ice with </a:t>
            </a:r>
            <a:r>
              <a:rPr>
                <a:latin typeface="Courier"/>
              </a:rPr>
              <a:t>slice_max()</a:t>
            </a:r>
            <a:r>
              <a:rPr/>
              <a:t>, and modeling whether maximum ice cover is declining.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7–9</a:t>
            </a:r>
            <a:r>
              <a:rPr sz="2000"/>
              <a:t> (spaghetti plot, yearly maximum, trend model).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Commit now — over 50+ years, is Lake Superior’s </a:t>
            </a:r>
            <a:r>
              <a:rPr sz="2000" i="1"/>
              <a:t>maximum</a:t>
            </a:r>
            <a:r>
              <a:rPr sz="2000"/>
              <a:t> winter ice cover </a:t>
            </a:r>
            <a:r>
              <a:rPr sz="2000" b="1"/>
              <a:t>declining, flat, or rising</a:t>
            </a:r>
            <a:r>
              <a:rPr sz="2000"/>
              <a:t>? Write your guess before the model runs.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Given the huge year-to-year scatter in Great Lakes ice, do you expect the slope’s p-value to be </a:t>
            </a:r>
            <a:r>
              <a:rPr sz="2000" b="1"/>
              <a:t>below or above 0.05</a:t>
            </a:r>
            <a:r>
              <a:rPr sz="2000"/>
              <a:t>? Predict before you read </a:t>
            </a:r>
            <a:r>
              <a:rPr sz="2000">
                <a:latin typeface="Courier"/>
              </a:rPr>
              <a:t>summary()</a:t>
            </a:r>
            <a:r>
              <a:rPr sz="2000"/>
              <a:t>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7–9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spaghetti plot, pull each winter’s peak with </a:t>
            </a:r>
            <a:r>
              <a:rPr>
                <a:latin typeface="Courier"/>
              </a:rPr>
              <a:t>slice_max()</a:t>
            </a:r>
            <a:r>
              <a:rPr/>
              <a:t>, and fit </a:t>
            </a:r>
            <a:r>
              <a:rPr>
                <a:latin typeface="Courier"/>
              </a:rPr>
              <a:t>lm(ice_cover ~ year)</a:t>
            </a:r>
            <a:r>
              <a:rPr/>
              <a:t>. Predict the trend’s direction and significance before you run it.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— Wide, Long, and Wild: Pivoting Real Data</dc:title>
  <dc:creator>Bill Perry</dc:creator>
  <cp:keywords/>
  <dc:description>Lake Superior Ice Data and how to pivot and summarize data.</dc:description>
  <dcterms:created xsi:type="dcterms:W3CDTF">2026-07-04T21:14:02Z</dcterms:created>
  <dcterms:modified xsi:type="dcterms:W3CDTF">2026-07-04T21:14:02Z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2026-07-04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9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5</vt:lpwstr>
  </property>
</Properties>
</file>