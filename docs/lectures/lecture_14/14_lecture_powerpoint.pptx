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lecture_powerpoint_files/figure-pptx/glm-distributions-1.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latin typeface="Courier"/>
              </a:rPr>
              <a:t>## logged response variable
##  treatment response    SE df lower.CL upper.CL
##  Control       7.93 0.818 57     6.45     9.75
##  High         21.18 2.180 57    17.23    26.04
##  Low          11.87 1.220 57     9.66    14.60
## 
## Confidence level used: 0.95 
## Intervals are back-transformed from the log scale
## using glm opn original scale
##  treatment response    SE df lower.CL upper.CL
##  Control       8.86 0.939 57     7.16     11.0
##  High         23.73 2.520 57    19.19     29.3
##  Low          12.84 1.360 57    10.39     15.9
## 
## Confidence level used: 0.95 
## Intervals are back-transformed from the log scale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r>
                        <m:rPr>
                          <m:sty m:val="p"/>
                        </m:rPr>
                        <m:t>(</m:t>
                      </m:r>
                      <m:r>
                        <m:t>μ</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14_lecture_powerpoint_files/figure-pptx/summary-gaussian_2-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14_lecture_powerpoint_files/figure-pptx/summarygaussian_2a-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14_lecture_powerpoint_files/figure-pptx/gaussian-plot-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with Poisson Distribution: Setup</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LR Chisq Df Pr(&gt;Chisq)    </a:t>
            </a:r>
            <a:br/>
            <a:r>
              <a:rPr i="1">
                <a:solidFill>
                  <a:srgbClr val="5E5E5E"/>
                </a:solidFill>
                <a:latin typeface="Courier"/>
              </a:rPr>
              <a:t>## size_category    566.5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Endemics ~ size_category, family = poisson(link = "log"), 
##     data = gala)
## 
## Coefficients:
##                     Estimate Std. Error z value Pr(&gt;|z|)    
## (Intercept)           1.7292     0.1270  13.616   &lt;2e-16 ***
## size_categoryMedium   1.3465     0.1413   9.527   &lt;2e-16 ***
## size_categoryLarge    2.4582     0.1353  18.173   &lt;2e-16 ***
## ---
## Signif. codes:  0 '***' 0.001 '**' 0.01 '*' 0.05 '.' 0.1 ' ' 1
## 
## (Dispersion parameter for poisson family taken to be 1)
## 
##     Null deviance: 743.55  on 29  degrees of freedom
## Residual deviance: 177.05  on 27  degrees of freedom
## AIC: 316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latin typeface="Courier"/>
              </a:rPr>
              <a:t>## Dispersion parameter: 6.05</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latin typeface="Courier"/>
              </a:rPr>
              <a:t>##  size_category  rate    SE  df asymp.LCL asymp.UCL
##  Small          5.64 0.716 Inf      4.39      7.23
##  Medium        21.67 1.340 Inf     19.19     24.47
##  Large         65.86 3.070 Inf     60.11     72.15
## 
## Confidence level used: 0.95 
##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0.2601 0.0368 Inf    1  -9.527 &lt;0.0001
##  Small / Large  0.0856 0.0116 Inf    1 -18.173 &lt;0.0001
##  Medium / Large 0.3290 0.0255 Inf    1 -14.334 &lt;0.0001
## 
## P value adjustment: tukey method for comparing a family of 3 estimates 
## Tests are performed on the log scale
##  size_category  rate    SE  df asymp.LCL asymp.UCL .group
##  Small          5.64 0.716 Inf      4.39      7.23  a    
##  Medium        21.67 1.340 Inf     19.19     24.47   b   
##  Large         65.86 3.070 Inf     60.11     72.15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14_lecture_powerpoint_files/figure-pptx/gala-compare-models-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a:r>
                  <a:rPr/>
                  <a:t>To linearize this relationship, we use the logit link function:</a:t>
                </a:r>
              </a:p>
              <a:p>
                <a:pPr lvl="1"/>
                <a14:m>
                  <m:oMath xmlns:m="http://schemas.openxmlformats.org/officeDocument/2006/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p:txBody>
          </p:sp>
        </mc:Choice>
      </mc:AlternateContent>
      <p:pic>
        <p:nvPicPr>
          <p:cNvPr descr="14_lecture_powerpoint_files/figure-pptx/logistic-curve-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latin typeface="Courier"/>
              </a:rPr>
              <a:t>## 
## Call:
## glm(formula = uta_present ~ pa_ratio, family = binomial(link = "logit"), 
##     data = island_data)
## 
## Coefficients:
##             Estimate Std. Error z value Pr(&gt;|z|)   
## (Intercept)   5.9374     2.1297   2.788  0.00530 **
## pa_ratio     -0.1493     0.0517  -2.887  0.00388 **
## ---
## Signif. codes:  0 '***' 0.001 '**' 0.01 '*' 0.05 '.' 0.1 ' ' 1
## 
## (Dispersion parameter for binomial family taken to be 1)
## 
##     Null deviance: 41.455  on 29  degrees of freedom
## Residual deviance: 19.090  on 28  degrees of freedom
## AIC: 23.09
## 
## Number of Fisher Scoring iterations: 6</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14_lecture_powerpoint_files/figure-pptx/lizard-plot-1.png" id="0" name="Picture 1"/>
          <p:cNvPicPr>
            <a:picLocks noGrp="1" noChangeAspect="1"/>
          </p:cNvPicPr>
          <p:nvPr/>
        </p:nvPicPr>
        <p:blipFill>
          <a:blip r:embed="rId2"/>
          <a:stretch>
            <a:fillRect/>
          </a:stretch>
        </p:blipFill>
        <p:spPr bwMode="auto">
          <a:xfrm>
            <a:off x="127000" y="1816100"/>
            <a:ext cx="4432300" cy="22098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latin typeface="Courier"/>
              </a:rPr>
              <a:t>## Analysis of Deviance Table
## 
## Model 1: uta_present ~ 1
## Model 2: uta_present ~ pa_ratio
##   Resid. Df Resid. Dev Df Deviance  Pr(&gt;Chi)    
## 1        29     41.455                          
## 2        28     19.090  1   22.365 2.254e-06 ***
## ---
## Signif. codes:  0 '***' 0.001 '**' 0.01 '*' 0.05 '.' 0.1 ' ' 1</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latin typeface="Courier"/>
              </a:rPr>
              <a:t>## Odds Ratio: 0.861 
## 
##  95% CI: 0.753 to 0.932</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14_lecture_powerpoint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14_lecture_powerpoint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2026-05-06T17:42:02Z</dcterms:created>
  <dcterms:modified xsi:type="dcterms:W3CDTF">2026-05-06T17:42:02Z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knitr">
    <vt:lpwstr/>
  </property>
  <property fmtid="{D5CDD505-2E9C-101B-9397-08002B2CF9AE}" pid="11" name="labels">
    <vt:lpwstr/>
  </property>
  <property fmtid="{D5CDD505-2E9C-101B-9397-08002B2CF9AE}" pid="12" name="toc-title">
    <vt:lpwstr>Table of contents</vt:lpwstr>
  </property>
</Properties>
</file>