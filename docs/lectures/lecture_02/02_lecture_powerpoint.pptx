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Relationship Id="rId4" Type="http://schemas.openxmlformats.org/officeDocument/2006/relationships/hyperlink" Target="https://docs.posit.co/ide/user/#rstudio-ide-oss-downloads" TargetMode="External" /><Relationship Id="rId5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 — Meeting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console to your first plot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Learning goals</a:t>
            </a:r>
            <a:r>
              <a:rPr/>
              <a:t> — data organization, Excel → R workflow, hypothesis testing, interpretation</a:t>
            </a:r>
          </a:p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terms, units, clean sheet design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set up and oriented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</a:p>
          <a:p>
            <a:pPr lvl="1"/>
            <a:r>
              <a:rPr b="1"/>
              <a:t>functions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By the end you’ll run real code on </a:t>
            </a:r>
            <a:r>
              <a:rPr b="1"/>
              <a:t>our</a:t>
            </a:r>
            <a:r>
              <a:rPr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statistics. On its own it is plain; this plain version is called </a:t>
            </a:r>
            <a:r>
              <a:rPr b="1"/>
              <a:t>base R</a:t>
            </a:r>
            <a:r>
              <a:rPr/>
              <a:t>.</a:t>
            </a:r>
          </a:p>
          <a:p>
            <a:pPr lvl="0"/>
            <a:r>
              <a:rPr/>
              <a:t>We drive that engine through a friendlier dashboard called an </a:t>
            </a:r>
            <a:r>
              <a:rPr b="1"/>
              <a:t>IDE</a:t>
            </a:r>
            <a:r>
              <a:rPr/>
              <a:t> (an editor for code).</a:t>
            </a:r>
          </a:p>
          <a:p>
            <a:pPr lvl="0"/>
            <a:r>
              <a:rPr/>
              <a:t>Two good IDEs — you can try both:</a:t>
            </a:r>
          </a:p>
          <a:p>
            <a:pPr lvl="1"/>
            <a:r>
              <a:rPr b="1"/>
              <a:t>Positron</a:t>
            </a:r>
            <a:r>
              <a:rPr/>
              <a:t> — what we’ll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IDE</a:t>
            </a:r>
            <a:r>
              <a:rPr/>
              <a:t> = </a:t>
            </a:r>
            <a:r>
              <a:rPr i="1"/>
              <a:t>Integrated Development Environment</a:t>
            </a:r>
            <a:r>
              <a:rPr/>
              <a:t>. Think of R as the car’s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Download the two pieces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</a:t>
            </a:r>
            <a:r>
              <a:rPr/>
              <a:t> (the engine)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 i="1"/>
              <a:t>Can you find the file after it downloads?</a:t>
            </a:r>
          </a:p>
          <a:p>
            <a:pPr lvl="0" indent="-342900" marL="342900">
              <a:buAutoNum type="arabicPeriod"/>
            </a:pPr>
            <a:r>
              <a:rPr b="1"/>
              <a:t>Positron</a:t>
            </a:r>
            <a:r>
              <a:rPr/>
              <a:t> (the dashboard)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 i="1"/>
              <a:t>Where did it land on your computer?</a:t>
            </a:r>
          </a:p>
          <a:p>
            <a:pPr lvl="0" indent="-342900" marL="342900">
              <a:buAutoNum type="arabicPeriod"/>
            </a:pPr>
            <a:r>
              <a:rPr i="1"/>
              <a:t>(Optional)</a:t>
            </a:r>
            <a:r>
              <a:rPr/>
              <a:t> </a:t>
            </a:r>
            <a:r>
              <a:rPr b="1"/>
              <a:t>RStudio</a:t>
            </a:r>
            <a:r>
              <a:rPr/>
              <a:t>, if you want to compare — </a:t>
            </a:r>
            <a:r>
              <a:rPr>
                <a:hlinkClick r:id="rId4"/>
              </a:rPr>
              <a:t>posit.co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Install </a:t>
            </a:r>
            <a:r>
              <a:rPr b="1"/>
              <a:t>R first</a:t>
            </a:r>
            <a:r>
              <a:rPr/>
              <a:t>, then Positron. Positron needs to find R already on your machine.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data_raw/      &lt;- the untouched Excel file
├── scripts/       &lt;- your .R code
├── figures/       &lt;- plots you save
└── data_clean/    &lt;- tidied files you create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folder.</a:t>
            </a:r>
          </a:p>
          <a:p>
            <a:pPr lvl="0"/>
            <a:r>
              <a:rPr/>
              <a:t>Now every path is relative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In Excel you keep one big file. In R we keep </a:t>
            </a:r>
            <a:r>
              <a:rPr b="1"/>
              <a:t>raw data read-only</a:t>
            </a:r>
            <a:r>
              <a:rPr/>
              <a:t> and write </a:t>
            </a:r>
            <a:r>
              <a:rPr i="1"/>
              <a:t>new</a:t>
            </a:r>
            <a:r>
              <a:rPr/>
              <a:t> clean files — so you can always trace your steps and never overwrite your original numbers.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you’ll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you’ve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Find each pane on your screen now. Click the </a:t>
            </a:r>
            <a:r>
              <a:rPr b="1"/>
              <a:t>Console</a:t>
            </a:r>
            <a:r>
              <a:rPr/>
              <a:t> tab — that’s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“what’s the answer?” questions.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>
                <a:latin typeface="Courier"/>
              </a:rPr>
              <a:t>+</a:t>
            </a:r>
            <a:r>
              <a:rPr/>
              <a:t> at the start of the console line means R is </a:t>
            </a:r>
            <a:r>
              <a:rPr b="1"/>
              <a:t>still waiting</a:t>
            </a:r>
            <a:r>
              <a:rPr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This is just like typing </a:t>
            </a:r>
            <a:r>
              <a:rPr>
                <a:latin typeface="Courier"/>
              </a:rPr>
              <a:t>=3+5</a:t>
            </a:r>
            <a:r>
              <a:rPr/>
              <a:t> into an Excel cell — except there are no cells, just a line you type and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values: the </a:t>
            </a:r>
            <a:r>
              <a:rPr b="1"/>
              <a:t>ladder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now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</a:t>
            </a:r>
            <a:r>
              <a:rPr b="1"/>
              <a:t>into your environment</a:t>
            </a:r>
            <a:r>
              <a:rPr/>
              <a:t> (look right!).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you.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 = “take the thing on the right and store it under the name on the left.”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weight_kg</a:t>
            </a:r>
            <a:r>
              <a:rPr/>
              <a:t> ≠ </a:t>
            </a:r>
            <a:r>
              <a:rPr>
                <a:latin typeface="Courier"/>
              </a:rPr>
              <a:t>Weight_kg</a:t>
            </a:r>
          </a:p>
          <a:p>
            <a:pPr lvl="0"/>
            <a:r>
              <a:rPr/>
              <a:t>Avoid names of built-in functions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data</a:t>
            </a:r>
            <a:r>
              <a:rPr/>
              <a:t>, </a:t>
            </a:r>
            <a:r>
              <a:rPr>
                <a:latin typeface="Courier"/>
              </a:rPr>
              <a:t>c</a:t>
            </a:r>
            <a:r>
              <a:rPr/>
              <a:t>)</a:t>
            </a:r>
          </a:p>
          <a:p>
            <a:pPr lvl="0"/>
            <a:r>
              <a:rPr/>
              <a:t>Avoid dots; use </a:t>
            </a:r>
            <a:r>
              <a:rPr b="1">
                <a:latin typeface="Courier"/>
              </a:rPr>
              <a:t>lower_snake_case</a:t>
            </a:r>
            <a:r>
              <a:rPr/>
              <a:t> like the tidyverse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weight_g</a:t>
            </a:r>
            <a:r>
              <a:rPr/>
              <a:t> and </a:t>
            </a:r>
            <a:r>
              <a:rPr>
                <a:latin typeface="Courier"/>
              </a:rPr>
              <a:t>weight_G</a:t>
            </a:r>
            <a:r>
              <a:rPr/>
              <a:t> are two </a:t>
            </a:r>
            <a:r>
              <a:rPr i="1"/>
              <a:t>different</a:t>
            </a:r>
            <a:r>
              <a:rPr/>
              <a:t> objects. Pick one style and stick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Object</a:t>
            </a:r>
            <a:r>
              <a:rPr/>
              <a:t> (R) = </a:t>
            </a:r>
            <a:r>
              <a:rPr b="1"/>
              <a:t>variable</a:t>
            </a:r>
            <a:r>
              <a:rPr/>
              <a:t> (Excel/other languages). Same idea: a named box that holds something.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Nouns for objects (</a:t>
            </a:r>
            <a:r>
              <a:rPr>
                <a:latin typeface="Courier"/>
              </a:rPr>
              <a:t>tree_df</a:t>
            </a:r>
            <a:r>
              <a:rPr/>
              <a:t>), verbs for functions (</a:t>
            </a:r>
            <a:r>
              <a:rPr>
                <a:latin typeface="Courier"/>
              </a:rPr>
              <a:t>filter</a:t>
            </a:r>
            <a:r>
              <a:rPr/>
              <a:t>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it’s a note to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you.</a:t>
            </a:r>
          </a:p>
          <a:p>
            <a:pPr lvl="0"/>
            <a:r>
              <a:rPr/>
              <a:t>Shortcut to toggle a line: Ctrl/Cmd + Shift + C.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If a line confused you while writing it, comment </a:t>
            </a:r>
            <a:r>
              <a:rPr i="1"/>
              <a:t>why</a:t>
            </a:r>
            <a:r>
              <a:rPr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Comments are like the little notes you scribble in a spreadsheet cell — but they never get in the way of the numbers.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-&gt;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two digits     -&gt;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named</a:t>
            </a:r>
          </a:p>
          <a:p>
            <a:pPr lvl="0" indent="0" marL="0">
              <a:buNone/>
            </a:pPr>
            <a:r>
              <a:rPr/>
              <a:t>Stuck on a function? Ask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Argument</a:t>
            </a:r>
            <a:r>
              <a:rPr/>
              <a:t> = an input you hand to a function, inside its </a:t>
            </a:r>
            <a:r>
              <a:rPr>
                <a:latin typeface="Courier"/>
              </a:rPr>
              <a:t>( )</a:t>
            </a:r>
            <a:r>
              <a:rPr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Quotes matter: </a:t>
            </a:r>
            <a:r>
              <a:rPr>
                <a:latin typeface="Courier"/>
              </a:rPr>
              <a:t>"sunny"</a:t>
            </a:r>
            <a:r>
              <a:rPr/>
              <a:t> is text. Without quotes, R hunts for an </a:t>
            </a:r>
            <a:r>
              <a:rPr b="1"/>
              <a:t>object</a:t>
            </a:r>
            <a:r>
              <a:rPr/>
              <a:t> named </a:t>
            </a:r>
            <a:r>
              <a:rPr>
                <a:latin typeface="Courier"/>
              </a:rPr>
              <a:t>sunny</a:t>
            </a:r>
            <a:r>
              <a:rPr/>
              <a:t> and errors when it can’t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A vector is the workhorse of R. A spreadsheet </a:t>
            </a:r>
            <a:r>
              <a:rPr b="1"/>
              <a:t>column</a:t>
            </a:r>
            <a:r>
              <a:rPr/>
              <a:t> is really just a vector.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/>
            <a:r>
              <a:rPr>
                <a:latin typeface="Courier"/>
              </a:rPr>
              <a:t>integer</a:t>
            </a:r>
            <a:r>
              <a:rPr/>
              <a:t> — </a:t>
            </a:r>
            <a:r>
              <a:rPr>
                <a:latin typeface="Courier"/>
              </a:rPr>
              <a:t>2L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all become numeric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Coercion</a:t>
            </a:r>
            <a:r>
              <a:rPr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Don’t retype — use a script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</a:t>
            </a:r>
            <a:r>
              <a:rPr>
                <a:latin typeface="Courier"/>
              </a:rPr>
              <a:t>Untitled-1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text &lt;- </a:t>
            </a:r>
            <a:r>
              <a:rPr>
                <a:solidFill>
                  <a:srgbClr val="20794D"/>
                </a:solidFill>
                <a:latin typeface="Courier"/>
              </a:rPr>
              <a:t>"say hello"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Console = scratch paper. 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217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vs. 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/>
            <a:r>
              <a:rPr b="1"/>
              <a:t>Install once</a:t>
            </a:r>
            <a:r>
              <a:rPr/>
              <a:t> (download the app):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Load every session</a:t>
            </a:r>
            <a:r>
              <a:rPr/>
              <a:t> (open the app):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A common first-day error: forgetting </a:t>
            </a:r>
            <a:r>
              <a:rPr>
                <a:latin typeface="Courier"/>
              </a:rPr>
              <a:t>library(tidyverse)</a:t>
            </a:r>
            <a:r>
              <a:rPr/>
              <a:t>. If R says </a:t>
            </a:r>
            <a:r>
              <a:rPr i="1"/>
              <a:t>“could not find function </a:t>
            </a:r>
            <a:r>
              <a:rPr i="1">
                <a:latin typeface="Courier"/>
              </a:rPr>
              <a:t>read_excel</a:t>
            </a:r>
            <a:r>
              <a:rPr i="1"/>
              <a:t>”</a:t>
            </a:r>
            <a:r>
              <a:rPr/>
              <a:t>, you skipped the </a:t>
            </a:r>
            <a:r>
              <a:rPr>
                <a:latin typeface="Courier"/>
              </a:rPr>
              <a:t>library()</a:t>
            </a:r>
            <a:r>
              <a:rPr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Package</a:t>
            </a:r>
            <a:r>
              <a:rPr/>
              <a:t> = the installed toolbox (one time). </a:t>
            </a:r>
            <a:r>
              <a:rPr b="1"/>
              <a:t>Library</a:t>
            </a:r>
            <a:r>
              <a:rPr/>
              <a:t> = loading that toolbox into today’s session (every time).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our tree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Excel file in your project’s </a:t>
            </a:r>
            <a:r>
              <a:rPr>
                <a:latin typeface="Courier"/>
              </a:rPr>
              <a:t>data_raw/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the Excel file into a data frame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"data_raw/2026_06_25_tree_experiment_raw_data.xlsx"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tree_df          </a:t>
            </a:r>
            <a:r>
              <a:rPr>
                <a:solidFill>
                  <a:srgbClr val="5E5E5E"/>
                </a:solidFill>
                <a:latin typeface="Courier"/>
              </a:rPr>
              <a:t># print it to the console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 b="1"/>
              <a:t>What did you name your project folder?</a:t>
            </a:r>
            <a:r>
              <a:rPr/>
              <a:t> </a:t>
            </a:r>
            <a:r>
              <a:rPr b="1"/>
              <a:t>What did you call your script?</a:t>
            </a:r>
            <a:r>
              <a:rPr/>
              <a:t> Write them down — we’ll reuse them all term.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read_excel()</a:t>
            </a:r>
            <a:r>
              <a:rPr/>
              <a:t> is the bridge from your spreadsheet into R. Your sheet’s first row becomes the </a:t>
            </a:r>
            <a:r>
              <a:rPr b="1"/>
              <a:t>column names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Data frame</a:t>
            </a:r>
            <a:r>
              <a:rPr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-&gt;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type of every column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(tree_df)  </a:t>
            </a:r>
            <a:r>
              <a:rPr>
                <a:solidFill>
                  <a:srgbClr val="5E5E5E"/>
                </a:solidFill>
                <a:latin typeface="Courier"/>
              </a:rPr>
              <a:t># min/mean/max per column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str(tree_df)</a:t>
            </a:r>
            <a:r>
              <a:rPr/>
              <a:t>. </a:t>
            </a:r>
            <a:r>
              <a:rPr b="1"/>
              <a:t>How many rows? What type is </a:t>
            </a:r>
            <a:r>
              <a:rPr b="1">
                <a:latin typeface="Courier"/>
              </a:rPr>
              <a:t>side</a:t>
            </a:r>
            <a:r>
              <a:rPr b="1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Check </a:t>
            </a:r>
            <a:r>
              <a:rPr>
                <a:latin typeface="Courier"/>
              </a:rPr>
              <a:t>dim()</a:t>
            </a:r>
            <a:r>
              <a:rPr/>
              <a:t> and </a:t>
            </a:r>
            <a:r>
              <a:rPr>
                <a:latin typeface="Courier"/>
              </a:rPr>
              <a:t>str()</a:t>
            </a:r>
            <a:r>
              <a:rPr/>
              <a:t> every single time you load data. Typos and wrong types hide here.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If a number column shows as </a:t>
            </a:r>
            <a:r>
              <a:rPr>
                <a:latin typeface="Courier"/>
              </a:rPr>
              <a:t>character</a:t>
            </a:r>
            <a:r>
              <a:rPr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chute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— the pipe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command. Read it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 marL="1270000">
              <a:buNone/>
            </a:pPr>
            <a:r>
              <a:rPr sz="2000"/>
              <a:t>Take </a:t>
            </a:r>
            <a:r>
              <a:rPr sz="2000">
                <a:latin typeface="Courier"/>
              </a:rPr>
              <a:t>tree_df</a:t>
            </a:r>
            <a:r>
              <a:rPr sz="2000"/>
              <a:t>, </a:t>
            </a:r>
            <a:r>
              <a:rPr sz="2000" b="1"/>
              <a:t>then</a:t>
            </a:r>
            <a:r>
              <a:rPr sz="2000"/>
              <a:t> group by side, </a:t>
            </a:r>
            <a:r>
              <a:rPr sz="2000" b="1"/>
              <a:t>then</a:t>
            </a:r>
            <a:r>
              <a:rPr sz="2000"/>
              <a:t> average the weights.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= “take what’s on the left and feed it to the function on the right.” You may also see </a:t>
            </a:r>
            <a:r>
              <a:rPr>
                <a:latin typeface="Courier"/>
              </a:rPr>
              <a:t>%&gt;%</a:t>
            </a:r>
            <a:r>
              <a:rPr/>
              <a:t> from the tidyverse — same idea.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layers,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</a:t>
            </a:r>
            <a:r>
              <a:rPr i="1"/>
              <a:t>(</a:t>
            </a:r>
            <a:r>
              <a:rPr i="1">
                <a:latin typeface="Courier"/>
              </a:rPr>
              <a:t>tree_df</a:t>
            </a:r>
            <a:r>
              <a:rPr i="1"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 marL="0">
              <a:buNone/>
            </a:pPr>
            <a:r>
              <a:rPr/>
              <a:t>Add the geom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+</a:t>
            </a:r>
            <a:r>
              <a:rPr/>
              <a:t> must sit at the </a:t>
            </a:r>
            <a:r>
              <a:rPr b="1"/>
              <a:t>end</a:t>
            </a:r>
            <a:r>
              <a:rPr/>
              <a:t> of a line, never the start. </a:t>
            </a:r>
            <a:r>
              <a:rPr>
                <a:latin typeface="Courier"/>
              </a:rPr>
              <a:t>+</a:t>
            </a:r>
            <a:r>
              <a:rPr/>
              <a:t> at the start = error.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Swap </a:t>
            </a:r>
            <a:r>
              <a:rPr>
                <a:latin typeface="Courier"/>
              </a:rPr>
              <a:t>weight_g</a:t>
            </a:r>
            <a:r>
              <a:rPr/>
              <a:t> for </a:t>
            </a:r>
            <a:r>
              <a:rPr>
                <a:latin typeface="Courier"/>
              </a:rPr>
              <a:t>height_cm</a:t>
            </a:r>
            <a:r>
              <a:rPr/>
              <a:t>. What changes? Now try </a:t>
            </a:r>
            <a:r>
              <a:rPr>
                <a:latin typeface="Courier"/>
              </a:rPr>
              <a:t>geom_violin()</a:t>
            </a:r>
            <a:r>
              <a:rPr/>
              <a:t> instead of </a:t>
            </a:r>
            <a:r>
              <a:rPr>
                <a:latin typeface="Courier"/>
              </a:rPr>
              <a:t>geom_boxplot()</a:t>
            </a:r>
            <a:r>
              <a:rPr/>
              <a:t>.</a:t>
            </a:r>
          </a:p>
        </p:txBody>
      </p:sp>
      <p:pic>
        <p:nvPicPr>
          <p:cNvPr descr="images/past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clean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my_plot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my_plot,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Save a tidy data file too: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20794D"/>
                </a:solidFill>
                <a:latin typeface="Courier"/>
              </a:rPr>
              <a:t>"data_clean/tree_clean.csv"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Or use the </a:t>
            </a:r>
            <a:r>
              <a:rPr b="1"/>
              <a:t>disk icon</a:t>
            </a:r>
            <a:r>
              <a:rPr/>
              <a:t> above the Plots pane → the Save dialog.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ggsave()</a:t>
            </a:r>
            <a:r>
              <a:rPr/>
              <a:t> wants the </a:t>
            </a:r>
            <a:r>
              <a:rPr b="1"/>
              <a:t>filename first</a:t>
            </a:r>
            <a:r>
              <a:rPr/>
              <a:t>, then </a:t>
            </a:r>
            <a:r>
              <a:rPr>
                <a:latin typeface="Courier"/>
              </a:rPr>
              <a:t>plot =</a:t>
            </a:r>
            <a:r>
              <a:rPr/>
              <a:t>. Mixing that order is the classic first save error.</a:t>
            </a:r>
          </a:p>
        </p:txBody>
      </p:sp>
      <p:pic>
        <p:nvPicPr>
          <p:cNvPr descr="images/past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can now do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</a:t>
            </a:r>
            <a:r>
              <a:rPr b="1"/>
              <a:t>types</a:t>
            </a:r>
          </a:p>
          <a:p>
            <a:pPr lvl="0"/>
            <a:r>
              <a:rPr/>
              <a:t>Load Excel data into a </a:t>
            </a:r>
            <a:r>
              <a:rPr b="1"/>
              <a:t>data frame</a:t>
            </a:r>
            <a:r>
              <a:rPr/>
              <a:t> and inspect it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to summarise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You went from a blank console to a saved figure of </a:t>
            </a:r>
            <a:r>
              <a:rPr b="1"/>
              <a:t>our</a:t>
            </a:r>
            <a:r>
              <a:rPr/>
              <a:t> data. That’s the whole workflow in miniature.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Before next class: load </a:t>
            </a:r>
            <a:r>
              <a:rPr>
                <a:latin typeface="Courier"/>
              </a:rPr>
              <a:t>tree_df</a:t>
            </a:r>
            <a:r>
              <a:rPr/>
              <a:t>, run </a:t>
            </a:r>
            <a:r>
              <a:rPr>
                <a:latin typeface="Courier"/>
              </a:rPr>
              <a:t>summary()</a:t>
            </a:r>
            <a:r>
              <a:rPr/>
              <a:t>, and make one plot of </a:t>
            </a:r>
            <a:r>
              <a:rPr>
                <a:latin typeface="Courier"/>
              </a:rPr>
              <a:t>width_cm</a:t>
            </a:r>
            <a:r>
              <a:rPr/>
              <a:t> by </a:t>
            </a:r>
            <a:r>
              <a:rPr>
                <a:latin typeface="Courier"/>
              </a:rPr>
              <a:t>side</a:t>
            </a:r>
            <a:r>
              <a:rPr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that’s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gold</a:t>
            </a:r>
          </a:p>
          <a:p>
            <a:pPr lvl="0"/>
            <a:r>
              <a:rPr/>
              <a:t>Bring the exact error to class or office hours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Every coder googles error messages daily. Getting stuck isn’t failing — it’s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In Excel you fix errors by clicking around. In R you fix them by </a:t>
            </a:r>
            <a:r>
              <a:rPr b="1"/>
              <a:t>reading the message</a:t>
            </a:r>
            <a:r>
              <a:rPr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 — Meeting R</dc:title>
  <dc:creator/>
  <cp:keywords/>
  <dcterms:created xsi:type="dcterms:W3CDTF">2026-06-27T23:18:59Z</dcterms:created>
  <dcterms:modified xsi:type="dcterms:W3CDTF">2026-06-27T23:18:59Z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From the console to your first plot</vt:lpwstr>
  </property>
  <property fmtid="{D5CDD505-2E9C-101B-9397-08002B2CF9AE}" pid="9" name="toc-title">
    <vt:lpwstr>Table of contents</vt:lpwstr>
  </property>
</Properties>
</file>