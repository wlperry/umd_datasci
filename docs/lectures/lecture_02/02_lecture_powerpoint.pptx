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posit.co/resources/cheatsheet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02 — Meeting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the console to your first plot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2026-06-28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Science fundamentals</a:t>
            </a:r>
            <a:r>
              <a:rPr/>
              <a:t> — falsifiable predictions; null vs. alternate hypotheses</a:t>
            </a:r>
          </a:p>
          <a:p>
            <a:pPr lvl="0"/>
            <a:r>
              <a:rPr b="1"/>
              <a:t>Our class project</a:t>
            </a:r>
            <a:r>
              <a:rPr/>
              <a:t> — leaf morphology: </a:t>
            </a:r>
            <a:r>
              <a:rPr i="1"/>
              <a:t>sunny vs. shady</a:t>
            </a:r>
            <a:r>
              <a:rPr/>
              <a:t> sides of trees</a:t>
            </a:r>
          </a:p>
          <a:p>
            <a:pPr lvl="0"/>
            <a:r>
              <a:rPr b="1"/>
              <a:t>Design</a:t>
            </a:r>
            <a:r>
              <a:rPr/>
              <a:t> — randomization, replication (multiple trees), sampling limits</a:t>
            </a:r>
          </a:p>
          <a:p>
            <a:pPr lvl="0"/>
            <a:r>
              <a:rPr b="1"/>
              <a:t>Variables</a:t>
            </a:r>
            <a:r>
              <a:rPr/>
              <a:t> — dependent (leaf mass/size) vs. independent (side of tree)</a:t>
            </a:r>
          </a:p>
          <a:p>
            <a:pPr lvl="0"/>
            <a:r>
              <a:rPr b="1"/>
              <a:t>Spreadsheet hygiene</a:t>
            </a:r>
            <a:r>
              <a:rPr/>
              <a:t> — metadata, consistent column names, units, clean sheet design</a:t>
            </a:r>
          </a:p>
          <a:p>
            <a:pPr lvl="0"/>
            <a:r>
              <a:rPr b="1"/>
              <a:t>Installed</a:t>
            </a:r>
            <a:r>
              <a:rPr/>
              <a:t> R and Positron before today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Today we take that tidy spreadsheet and bring it to life in 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Get </a:t>
            </a:r>
            <a:r>
              <a:rPr b="1"/>
              <a:t>R</a:t>
            </a:r>
            <a:r>
              <a:rPr/>
              <a:t> and </a:t>
            </a:r>
            <a:r>
              <a:rPr b="1"/>
              <a:t>Positron</a:t>
            </a:r>
            <a:r>
              <a:rPr/>
              <a:t> oriented — the four panes</a:t>
            </a:r>
          </a:p>
          <a:p>
            <a:pPr lvl="0"/>
            <a:r>
              <a:rPr/>
              <a:t>Organize a project so future-you can find things</a:t>
            </a:r>
          </a:p>
          <a:p>
            <a:pPr lvl="0"/>
            <a:r>
              <a:rPr/>
              <a:t>Learn how R actually works:</a:t>
            </a:r>
          </a:p>
          <a:p>
            <a:pPr lvl="1"/>
            <a:r>
              <a:rPr/>
              <a:t>using it as a </a:t>
            </a:r>
            <a:r>
              <a:rPr b="1"/>
              <a:t>calculator</a:t>
            </a:r>
          </a:p>
          <a:p>
            <a:pPr lvl="1"/>
            <a:r>
              <a:rPr/>
              <a:t>storing things with </a:t>
            </a:r>
            <a:r>
              <a:rPr>
                <a:latin typeface="Courier"/>
              </a:rPr>
              <a:t>&lt;-</a:t>
            </a:r>
          </a:p>
          <a:p>
            <a:pPr lvl="1"/>
            <a:r>
              <a:rPr b="1"/>
              <a:t>functions</a:t>
            </a:r>
            <a:r>
              <a:rPr/>
              <a:t>, </a:t>
            </a:r>
            <a:r>
              <a:rPr b="1"/>
              <a:t>vectors</a:t>
            </a:r>
            <a:r>
              <a:rPr/>
              <a:t>, and </a:t>
            </a:r>
            <a:r>
              <a:rPr b="1"/>
              <a:t>data types</a:t>
            </a:r>
          </a:p>
          <a:p>
            <a:pPr lvl="1"/>
            <a:r>
              <a:rPr/>
              <a:t>writing a </a:t>
            </a:r>
            <a:r>
              <a:rPr b="1"/>
              <a:t>script</a:t>
            </a:r>
          </a:p>
          <a:p>
            <a:pPr lvl="0"/>
            <a:r>
              <a:rPr/>
              <a:t>Load our tree data and make a </a:t>
            </a:r>
            <a:r>
              <a:rPr b="1"/>
              <a:t>first 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real code on </a:t>
            </a:r>
            <a:r>
              <a:rPr sz="2000" b="1"/>
              <a:t>our</a:t>
            </a:r>
            <a:r>
              <a:rPr sz="2000"/>
              <a:t> leaf data — not a toy dataset.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698500"/>
            <a:ext cx="4406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Setting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R, really?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</a:t>
            </a:r>
            <a:r>
              <a:rPr/>
              <a:t> is the engine — a free language for data and statistics</a:t>
            </a:r>
          </a:p>
          <a:p>
            <a:pPr lvl="0"/>
            <a:r>
              <a:rPr/>
              <a:t>We drive that engine through an </a:t>
            </a:r>
            <a:r>
              <a:rPr b="1"/>
              <a:t>IDE</a:t>
            </a:r>
            <a:r>
              <a:rPr/>
              <a:t> (a code editor)</a:t>
            </a:r>
          </a:p>
          <a:p>
            <a:pPr lvl="0"/>
            <a:r>
              <a:rPr/>
              <a:t>Two good IDEs — you may try both:</a:t>
            </a:r>
          </a:p>
          <a:p>
            <a:pPr lvl="1"/>
            <a:r>
              <a:rPr b="1"/>
              <a:t>Positron</a:t>
            </a:r>
            <a:r>
              <a:rPr/>
              <a:t> — what we use </a:t>
            </a:r>
            <a:r>
              <a:rPr i="1"/>
              <a:t>(recommended)</a:t>
            </a:r>
          </a:p>
          <a:p>
            <a:pPr lvl="1"/>
            <a:r>
              <a:rPr b="1"/>
              <a:t>RStudio</a:t>
            </a:r>
            <a:r>
              <a:rPr/>
              <a:t> — the long-time classic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IDE</a:t>
            </a:r>
            <a:r>
              <a:rPr sz="2000"/>
              <a:t> = </a:t>
            </a:r>
            <a:r>
              <a:rPr sz="2000" i="1"/>
              <a:t>Integrated Development Environment</a:t>
            </a:r>
            <a:r>
              <a:rPr sz="2000"/>
              <a:t>. Think of R as the car engine and the IDE as the seat, wheel, and dashboard.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40005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Organize the project </a:t>
            </a:r>
            <a:r>
              <a:rPr i="1"/>
              <a:t>before</a:t>
            </a:r>
            <a:r>
              <a:rPr/>
              <a:t> you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</a:t>
            </a:r>
            <a:r>
              <a:rPr b="1"/>
              <a:t>one folder per project</a:t>
            </a:r>
            <a:r>
              <a:rPr/>
              <a:t>. Everything for the tree experiment lives together:</a:t>
            </a:r>
          </a:p>
          <a:p>
            <a:pPr lvl="0" indent="0">
              <a:buNone/>
            </a:pPr>
            <a:r>
              <a:rPr>
                <a:latin typeface="Courier"/>
              </a:rPr>
              <a:t>tree_project/
├── data/          ← your Excel and CSV files
├── scripts/       ← your .R code files
└── figures/       ← plots you save</a:t>
            </a:r>
          </a:p>
          <a:p>
            <a:pPr lvl="0"/>
            <a:r>
              <a:rPr/>
              <a:t>In Positron: </a:t>
            </a:r>
            <a:r>
              <a:rPr b="1"/>
              <a:t>File → Open Folder…</a:t>
            </a:r>
            <a:r>
              <a:rPr/>
              <a:t> and pick this folder</a:t>
            </a:r>
          </a:p>
          <a:p>
            <a:pPr lvl="0"/>
            <a:r>
              <a:rPr/>
              <a:t>Every path is then </a:t>
            </a:r>
            <a:r>
              <a:rPr b="1"/>
              <a:t>relative</a:t>
            </a:r>
            <a:r>
              <a:rPr/>
              <a:t> to the project — no more </a:t>
            </a:r>
            <a:r>
              <a:rPr>
                <a:latin typeface="Courier"/>
              </a:rPr>
              <a:t>C:/Users/.../Desktop/...</a:t>
            </a:r>
            <a:r>
              <a:rPr/>
              <a:t> nightmares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tidy folder today saves an hour of “where did I put that file?” next week.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In Excel you keep one big file. In R we keep </a:t>
            </a:r>
            <a:r>
              <a:rPr sz="2000" b="1"/>
              <a:t>raw data untouched</a:t>
            </a:r>
            <a:r>
              <a:rPr sz="2000"/>
              <a:t> and write </a:t>
            </a:r>
            <a:r>
              <a:rPr sz="2000" i="1"/>
              <a:t>new</a:t>
            </a:r>
            <a:r>
              <a:rPr sz="2000"/>
              <a:t> processed files — so you can always trace your steps and never overwrite your original numbers.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quick tour of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panes you will use constantly:</a:t>
            </a:r>
          </a:p>
          <a:p>
            <a:pPr lvl="0"/>
            <a:r>
              <a:rPr b="1"/>
              <a:t>Editor</a:t>
            </a:r>
            <a:r>
              <a:rPr/>
              <a:t> (top-left) — your scripts live here</a:t>
            </a:r>
          </a:p>
          <a:p>
            <a:pPr lvl="0"/>
            <a:r>
              <a:rPr b="1"/>
              <a:t>Console / Terminal</a:t>
            </a:r>
            <a:r>
              <a:rPr/>
              <a:t> (bottom) — where code runs</a:t>
            </a:r>
          </a:p>
          <a:p>
            <a:pPr lvl="0"/>
            <a:r>
              <a:rPr b="1"/>
              <a:t>Variables / Session</a:t>
            </a:r>
            <a:r>
              <a:rPr/>
              <a:t> (right) — everything you have stored</a:t>
            </a:r>
          </a:p>
          <a:p>
            <a:pPr lvl="0"/>
            <a:r>
              <a:rPr b="1"/>
              <a:t>Plots</a:t>
            </a:r>
            <a:r>
              <a:rPr/>
              <a:t> (right) — your figures appear here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Find each pane on your screen now. Click the </a:t>
            </a:r>
            <a:r>
              <a:rPr sz="2000" b="1"/>
              <a:t>Console</a:t>
            </a:r>
            <a:r>
              <a:rPr sz="2000"/>
              <a:t> tab — that is where we start next.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40005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How 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is a calculator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math straight into the </a:t>
            </a:r>
            <a:r>
              <a:rPr b="1"/>
              <a:t>console</a:t>
            </a:r>
            <a:r>
              <a:rPr/>
              <a:t> and press Enter: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 marL="0">
              <a:buNone/>
            </a:pPr>
            <a:r>
              <a:rPr/>
              <a:t>R answers immediately. The console is great for quick “what is the answer?” questions.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>
                <a:latin typeface="Courier"/>
              </a:rPr>
              <a:t>+</a:t>
            </a:r>
            <a:r>
              <a:rPr sz="2000"/>
              <a:t> at the start of the console line means R is </a:t>
            </a:r>
            <a:r>
              <a:rPr sz="2000" b="1"/>
              <a:t>still waiting</a:t>
            </a:r>
            <a:r>
              <a:rPr sz="2000"/>
              <a:t> for you to finish a command. Press Esc to start over.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This is just like typing </a:t>
            </a:r>
            <a:r>
              <a:rPr sz="2000">
                <a:latin typeface="Courier"/>
              </a:rPr>
              <a:t>=3+5</a:t>
            </a:r>
            <a:r>
              <a:rPr sz="2000"/>
              <a:t> into an Excel cell — except there are no cells, just a line you type and run.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Storing values with </a:t>
            </a:r>
            <a:r>
              <a:rPr>
                <a:latin typeface="Courier"/>
              </a:rPr>
              <a:t>&lt;-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keep a value, give it a </a:t>
            </a:r>
            <a:r>
              <a:rPr b="1"/>
              <a:t>name</a:t>
            </a:r>
            <a:r>
              <a:rPr/>
              <a:t> with the assignment operator </a:t>
            </a:r>
            <a:r>
              <a:rPr>
                <a:latin typeface="Courier"/>
              </a:rPr>
              <a:t>&lt;-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    </a:t>
            </a:r>
            <a:r>
              <a:rPr>
                <a:solidFill>
                  <a:srgbClr val="5E5E5E"/>
                </a:solidFill>
                <a:latin typeface="Courier"/>
              </a:rPr>
              <a:t># type the name to read it back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 puts the value into your </a:t>
            </a:r>
            <a:r>
              <a:rPr b="1"/>
              <a:t>environment</a:t>
            </a:r>
            <a:r>
              <a:rPr/>
              <a:t> (look in the Variables pane!)</a:t>
            </a:r>
          </a:p>
          <a:p>
            <a:pPr lvl="0"/>
            <a:r>
              <a:rPr/>
              <a:t>Shortcut: Alt + - (Win) or Option + - (Mac) types </a:t>
            </a:r>
            <a:r>
              <a:rPr>
                <a:latin typeface="Courier"/>
              </a:rPr>
              <a:t>&lt;-</a:t>
            </a:r>
            <a:r>
              <a:rPr/>
              <a:t> for you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Assignment operator</a:t>
            </a:r>
            <a:r>
              <a:rPr sz="2000"/>
              <a:t> </a:t>
            </a:r>
            <a:r>
              <a:rPr sz="2000">
                <a:latin typeface="Courier"/>
              </a:rPr>
              <a:t>&lt;-</a:t>
            </a:r>
            <a:r>
              <a:rPr sz="2000"/>
              <a:t> = “take the thing on the right and store it under the name on the left.”</a:t>
            </a:r>
          </a:p>
        </p:txBody>
      </p:sp>
      <p:pic>
        <p:nvPicPr>
          <p:cNvPr descr="images/diagram_assign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Naming your objects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names make code readable months later:</a:t>
            </a:r>
          </a:p>
          <a:p>
            <a:pPr lvl="0"/>
            <a:r>
              <a:rPr/>
              <a:t>Be </a:t>
            </a:r>
            <a:r>
              <a:rPr b="1"/>
              <a:t>explicit</a:t>
            </a:r>
            <a:r>
              <a:rPr/>
              <a:t>, not too long: </a:t>
            </a:r>
            <a:r>
              <a:rPr>
                <a:latin typeface="Courier"/>
              </a:rPr>
              <a:t>leaf_mass</a:t>
            </a:r>
            <a:r>
              <a:rPr/>
              <a:t>, not </a:t>
            </a:r>
            <a:r>
              <a:rPr>
                <a:latin typeface="Courier"/>
              </a:rPr>
              <a:t>x2</a:t>
            </a:r>
          </a:p>
          <a:p>
            <a:pPr lvl="0"/>
            <a:r>
              <a:rPr b="1"/>
              <a:t>Cannot start with a number</a:t>
            </a:r>
            <a:r>
              <a:rPr/>
              <a:t> — </a:t>
            </a:r>
            <a:r>
              <a:rPr>
                <a:latin typeface="Courier"/>
              </a:rPr>
              <a:t>x2</a:t>
            </a:r>
            <a:r>
              <a:rPr/>
              <a:t> ✅, </a:t>
            </a:r>
            <a:r>
              <a:rPr>
                <a:latin typeface="Courier"/>
              </a:rPr>
              <a:t>2x</a:t>
            </a:r>
            <a:r>
              <a:rPr/>
              <a:t> ❌</a:t>
            </a:r>
          </a:p>
          <a:p>
            <a:pPr lvl="0"/>
            <a:r>
              <a:rPr/>
              <a:t>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weight_g</a:t>
            </a:r>
            <a:r>
              <a:rPr/>
              <a:t> ≠ </a:t>
            </a:r>
            <a:r>
              <a:rPr>
                <a:latin typeface="Courier"/>
              </a:rPr>
              <a:t>Weight_g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lower_snake_case</a:t>
            </a:r>
            <a:r>
              <a:rPr/>
              <a:t> — words separated by underscores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good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LeafMass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works but avoid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leaf.mass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avoid dots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weight_g</a:t>
            </a:r>
            <a:r>
              <a:rPr sz="2000"/>
              <a:t> and </a:t>
            </a:r>
            <a:r>
              <a:rPr sz="2000">
                <a:latin typeface="Courier"/>
              </a:rPr>
              <a:t>weight_G</a:t>
            </a:r>
            <a:r>
              <a:rPr sz="2000"/>
              <a:t> are two </a:t>
            </a:r>
            <a:r>
              <a:rPr sz="2000" i="1"/>
              <a:t>different</a:t>
            </a:r>
            <a:r>
              <a:rPr sz="2000"/>
              <a:t> objects. Pick one style and stick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Object</a:t>
            </a:r>
            <a:r>
              <a:rPr sz="2000"/>
              <a:t> (R) = </a:t>
            </a:r>
            <a:r>
              <a:rPr sz="2000" b="1"/>
              <a:t>variable</a:t>
            </a:r>
            <a:r>
              <a:rPr sz="2000"/>
              <a:t> (Excel/other languages). Same idea: a named container that holds something.</a:t>
            </a:r>
          </a:p>
          <a:p>
            <a:pPr lvl="0" indent="0" marL="1270000">
              <a:buNone/>
            </a:pPr>
            <a:r>
              <a:rPr sz="2000"/>
              <a:t>Our naming convention throughout this course: - data frames → </a:t>
            </a:r>
            <a:r>
              <a:rPr sz="2000">
                <a:latin typeface="Courier"/>
              </a:rPr>
              <a:t>_df</a:t>
            </a:r>
            <a:r>
              <a:rPr sz="2000"/>
              <a:t> - plots → </a:t>
            </a:r>
            <a:r>
              <a:rPr sz="2000">
                <a:latin typeface="Courier"/>
              </a:rPr>
              <a:t>_plot</a:t>
            </a:r>
            <a:r>
              <a:rPr sz="2000"/>
              <a:t> - models → </a:t>
            </a:r>
            <a:r>
              <a:rPr sz="2000">
                <a:latin typeface="Courier"/>
              </a:rPr>
              <a:t>_model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Leave notes with comments </a:t>
            </a:r>
            <a:r>
              <a:rPr>
                <a:latin typeface="Courier"/>
              </a:rP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Anything to the right of </a:t>
            </a:r>
            <a:r>
              <a:rPr>
                <a:latin typeface="Courier"/>
              </a:rPr>
              <a:t>#</a:t>
            </a:r>
            <a:r>
              <a:rPr/>
              <a:t> is </a:t>
            </a:r>
            <a:r>
              <a:rPr b="1"/>
              <a:t>ignored by R</a:t>
            </a:r>
            <a:r>
              <a:rPr/>
              <a:t> — it is a note for humans: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weights of four leaves, in 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leaf_mass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(leaf_mass)   </a:t>
            </a:r>
            <a:r>
              <a:rPr>
                <a:solidFill>
                  <a:srgbClr val="5E5E5E"/>
                </a:solidFill>
                <a:latin typeface="Courier"/>
              </a:rPr>
              <a:t># average leaf mass</a:t>
            </a:r>
          </a:p>
          <a:p>
            <a:pPr lvl="0"/>
            <a:r>
              <a:rPr/>
              <a:t>Comment generously — your future self will thank you</a:t>
            </a:r>
          </a:p>
          <a:p>
            <a:pPr lvl="0"/>
            <a:r>
              <a:rPr/>
              <a:t>Shortcut to toggle: Ctrl/Cmd + Shift + 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a line confused you while writing it, comment </a:t>
            </a:r>
            <a:r>
              <a:rPr sz="2000" i="1"/>
              <a:t>why</a:t>
            </a:r>
            <a:r>
              <a:rPr sz="2000"/>
              <a:t> you did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Comments are like the notes you scribble in a cell — but they never get in the way of the numbers or the code.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Functions and their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function</a:t>
            </a:r>
            <a:r>
              <a:rPr/>
              <a:t> is a canned script you call by name. You feed it </a:t>
            </a:r>
            <a:r>
              <a:rPr b="1"/>
              <a:t>arguments</a:t>
            </a:r>
            <a:r>
              <a:rPr/>
              <a:t> (inputs); it </a:t>
            </a:r>
            <a:r>
              <a:rPr b="1"/>
              <a:t>returns</a:t>
            </a:r>
            <a:r>
              <a:rPr/>
              <a:t> a result: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one argument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)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default: 0 digits → 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              </a:t>
            </a:r>
            <a:r>
              <a:rPr>
                <a:solidFill>
                  <a:srgbClr val="5E5E5E"/>
                </a:solidFill>
                <a:latin typeface="Courier"/>
              </a:rPr>
              <a:t># two digits → 3.14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named arguments</a:t>
            </a:r>
          </a:p>
          <a:p>
            <a:pPr lvl="0" indent="0" marL="0">
              <a:buNone/>
            </a:pPr>
            <a:r>
              <a:rPr/>
              <a:t>Stuck on a function?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?round        </a:t>
            </a:r>
            <a:r>
              <a:rPr>
                <a:solidFill>
                  <a:srgbClr val="5E5E5E"/>
                </a:solidFill>
                <a:latin typeface="Courier"/>
              </a:rPr>
              <a:t># open the help page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args</a:t>
            </a:r>
            <a:r>
              <a:rPr>
                <a:solidFill>
                  <a:srgbClr val="003B4F"/>
                </a:solidFill>
                <a:latin typeface="Courier"/>
              </a:rPr>
              <a:t>(round)   </a:t>
            </a:r>
            <a:r>
              <a:rPr>
                <a:solidFill>
                  <a:srgbClr val="5E5E5E"/>
                </a:solidFill>
                <a:latin typeface="Courier"/>
              </a:rPr>
              <a:t># what arguments does it take?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Argument</a:t>
            </a:r>
            <a:r>
              <a:rPr sz="2000"/>
              <a:t> = an input you hand to a function inside its </a:t>
            </a:r>
            <a:r>
              <a:rPr sz="2000">
                <a:latin typeface="Courier"/>
              </a:rPr>
              <a:t>( )</a:t>
            </a:r>
            <a:r>
              <a:rPr sz="2000"/>
              <a:t>.</a:t>
            </a:r>
          </a:p>
        </p:txBody>
      </p:sp>
      <p:pic>
        <p:nvPicPr>
          <p:cNvPr descr="images/diagram_fun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76300"/>
            <a:ext cx="440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Vectors — a row of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series of values built with </a:t>
            </a:r>
            <a:r>
              <a:rPr>
                <a:latin typeface="Courier"/>
              </a:rPr>
              <a:t>c()</a:t>
            </a:r>
            <a:r>
              <a:rPr/>
              <a:t> (“combine”):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weight_g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       </a:t>
            </a:r>
            <a:r>
              <a:rPr>
                <a:solidFill>
                  <a:srgbClr val="5E5E5E"/>
                </a:solidFill>
                <a:latin typeface="Courier"/>
              </a:rPr>
              <a:t># numbers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text needs quotes</a:t>
            </a:r>
          </a:p>
          <a:p>
            <a:pPr lvl="0" indent="0" marL="0">
              <a:buNone/>
            </a:pPr>
            <a:r>
              <a:rPr/>
              <a:t>Inspect any vector: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(weight_g)   </a:t>
            </a:r>
            <a:r>
              <a:rPr>
                <a:solidFill>
                  <a:srgbClr val="5E5E5E"/>
                </a:solidFill>
                <a:latin typeface="Courier"/>
              </a:rPr>
              <a:t># how many values?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(weight_g)    </a:t>
            </a:r>
            <a:r>
              <a:rPr>
                <a:solidFill>
                  <a:srgbClr val="5E5E5E"/>
                </a:solidFill>
                <a:latin typeface="Courier"/>
              </a:rPr>
              <a:t># what type?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(weight_g)      </a:t>
            </a:r>
            <a:r>
              <a:rPr>
                <a:solidFill>
                  <a:srgbClr val="5E5E5E"/>
                </a:solidFill>
                <a:latin typeface="Courier"/>
              </a:rPr>
              <a:t># quick structure overview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Quotes matter: </a:t>
            </a:r>
            <a:r>
              <a:rPr sz="2000">
                <a:latin typeface="Courier"/>
              </a:rPr>
              <a:t>"sunny"</a:t>
            </a:r>
            <a:r>
              <a:rPr sz="2000"/>
              <a:t> is text. Without quotes, R hunts for an </a:t>
            </a:r>
            <a:r>
              <a:rPr sz="2000" b="1"/>
              <a:t>object</a:t>
            </a:r>
            <a:r>
              <a:rPr sz="2000"/>
              <a:t> named </a:t>
            </a:r>
            <a:r>
              <a:rPr sz="2000">
                <a:latin typeface="Courier"/>
              </a:rPr>
              <a:t>sunny</a:t>
            </a:r>
            <a:r>
              <a:rPr sz="2000"/>
              <a:t> and errors when it cannot find one.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vector is the workhorse of R. A spreadsheet </a:t>
            </a:r>
            <a:r>
              <a:rPr sz="2000" b="1"/>
              <a:t>column</a:t>
            </a:r>
            <a:r>
              <a:rPr sz="2000"/>
              <a:t> is really just a vector.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 live inside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vector holds </a:t>
            </a:r>
            <a:r>
              <a:rPr b="1"/>
              <a:t>one type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numeric</a:t>
            </a:r>
            <a:r>
              <a:rPr/>
              <a:t> — </a:t>
            </a:r>
            <a:r>
              <a:rPr>
                <a:latin typeface="Courier"/>
              </a:rPr>
              <a:t>4</a:t>
            </a:r>
            <a:r>
              <a:rPr/>
              <a:t>, </a:t>
            </a:r>
            <a:r>
              <a:rPr>
                <a:latin typeface="Courier"/>
              </a:rPr>
              <a:t>3.5</a:t>
            </a:r>
          </a:p>
          <a:p>
            <a:pPr lvl="0"/>
            <a:r>
              <a:rPr>
                <a:latin typeface="Courier"/>
              </a:rPr>
              <a:t>character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</a:p>
          <a:p>
            <a:pPr lvl="0"/>
            <a:r>
              <a:rPr>
                <a:latin typeface="Courier"/>
              </a:rPr>
              <a:t>logical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</a:p>
          <a:p>
            <a:pPr lvl="0" indent="0" marL="0">
              <a:buNone/>
            </a:pPr>
            <a:r>
              <a:rPr/>
              <a:t>Mix types and R quietly </a:t>
            </a:r>
            <a:r>
              <a:rPr b="1"/>
              <a:t>coerces</a:t>
            </a:r>
            <a:r>
              <a:rPr/>
              <a:t> them all to one: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all become character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TRUE becomes 1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Coercion</a:t>
            </a:r>
            <a:r>
              <a:rPr sz="2000"/>
              <a:t> = R automatically converting everything in a vector to a single shared type.</a:t>
            </a:r>
          </a:p>
        </p:txBody>
      </p:sp>
      <p:pic>
        <p:nvPicPr>
          <p:cNvPr descr="images/diagram_data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From console to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not retype — use a script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console forgets. A </a:t>
            </a:r>
            <a:r>
              <a:rPr b="1"/>
              <a:t>script</a:t>
            </a:r>
            <a:r>
              <a:rPr/>
              <a:t> (</a:t>
            </a:r>
            <a:r>
              <a:rPr>
                <a:latin typeface="Courier"/>
              </a:rPr>
              <a:t>.R</a:t>
            </a:r>
            <a:r>
              <a:rPr/>
              <a:t> file) remembers and re-runs.</a:t>
            </a:r>
          </a:p>
          <a:p>
            <a:pPr lvl="0"/>
            <a:r>
              <a:rPr b="1"/>
              <a:t>File → New File → R File</a:t>
            </a:r>
            <a:r>
              <a:rPr/>
              <a:t> opens a blank script</a:t>
            </a:r>
          </a:p>
          <a:p>
            <a:pPr lvl="0"/>
            <a:r>
              <a:rPr/>
              <a:t>Type your commands, one per line</a:t>
            </a:r>
          </a:p>
          <a:p>
            <a:pPr lvl="0"/>
            <a:r>
              <a:rPr/>
              <a:t>Put the cursor on a line and press Ctrl/Cmd + Enter to run it</a:t>
            </a:r>
          </a:p>
          <a:p>
            <a:pPr lvl="0"/>
            <a:r>
              <a:rPr b="1"/>
              <a:t>Save</a:t>
            </a:r>
            <a:r>
              <a:rPr/>
              <a:t> with Ctrl/Cmd + S — reopen later and re-run everything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  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  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Console = scratch paper. Script = the lab notebook you keep.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38200"/>
            <a:ext cx="4406900" cy="344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Packages — extending what R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 apps for your phone, </a:t>
            </a:r>
            <a:r>
              <a:rPr b="1"/>
              <a:t>packages</a:t>
            </a:r>
            <a:r>
              <a:rPr/>
              <a:t> add new abilities to R.</a:t>
            </a:r>
          </a:p>
          <a:p>
            <a:pPr lvl="0" indent="0" marL="0">
              <a:buNone/>
            </a:pPr>
            <a:r>
              <a:rPr b="1"/>
              <a:t>Install once</a:t>
            </a:r>
            <a:r>
              <a:rPr/>
              <a:t> — downloads to your computer (do this in the Console, not in your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"readxl"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Load every session</a:t>
            </a:r>
            <a:r>
              <a:rPr/>
              <a:t> — activates it for today (put this at the top of every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wrangling + plotting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 Excel files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R says </a:t>
            </a:r>
            <a:r>
              <a:rPr sz="2000" i="1"/>
              <a:t>“could not find function </a:t>
            </a:r>
            <a:r>
              <a:rPr sz="2000" i="1">
                <a:latin typeface="Courier"/>
              </a:rPr>
              <a:t>read_excel</a:t>
            </a:r>
            <a:r>
              <a:rPr sz="2000" i="1"/>
              <a:t>”</a:t>
            </a:r>
            <a:r>
              <a:rPr sz="2000"/>
              <a:t>, you forgot the </a:t>
            </a:r>
            <a:r>
              <a:rPr sz="2000">
                <a:latin typeface="Courier"/>
              </a:rPr>
              <a:t>library(readxl)</a:t>
            </a:r>
            <a:r>
              <a:rPr sz="2000"/>
              <a:t> 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 indent="0" marL="1270000">
              <a:buNone/>
            </a:pPr>
            <a:r>
              <a:rPr sz="2000" b="1"/>
              <a:t>Package</a:t>
            </a:r>
            <a:r>
              <a:rPr sz="2000"/>
              <a:t> = the installed toolbox (install once).</a:t>
            </a:r>
          </a:p>
          <a:p>
            <a:pPr lvl="0" indent="0" marL="1270000">
              <a:buNone/>
            </a:pPr>
            <a:r>
              <a:rPr sz="2000" b="1"/>
              <a:t>Library</a:t>
            </a:r>
            <a:r>
              <a:rPr sz="2000"/>
              <a:t> = loading that toolbox into today’s session (every session).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Loading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functions for two file types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files in the project’s </a:t>
            </a:r>
            <a:r>
              <a:rPr>
                <a:latin typeface="Courier"/>
              </a:rPr>
              <a:t>data/</a:t>
            </a:r>
            <a:r>
              <a:rPr/>
              <a:t> folder, then: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 files (.xlsx)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CSV files (.csv) — used by NOAA, iNaturalist, many databases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noaa_df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"data/noaa_global_yearly_temps.csv"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needs </a:t>
            </a:r>
            <a:r>
              <a:rPr sz="2000">
                <a:latin typeface="Courier"/>
              </a:rPr>
              <a:t>library(readxl)</a:t>
            </a:r>
            <a:r>
              <a:rPr sz="2000"/>
              <a:t>. </a:t>
            </a:r>
            <a:r>
              <a:rPr sz="2000">
                <a:latin typeface="Courier"/>
              </a:rPr>
              <a:t>read_csv()</a:t>
            </a:r>
            <a:r>
              <a:rPr sz="2000"/>
              <a:t> comes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 — no extra install needed.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and </a:t>
            </a:r>
            <a:r>
              <a:rPr sz="2000">
                <a:latin typeface="Courier"/>
              </a:rPr>
              <a:t>read_csv()</a:t>
            </a:r>
            <a:r>
              <a:rPr sz="2000"/>
              <a:t> are the bridge from your file into R. Your file’s first row becomes the </a:t>
            </a:r>
            <a:r>
              <a:rPr sz="2000" b="1"/>
              <a:t>column names</a:t>
            </a:r>
            <a:r>
              <a:rPr sz="2000"/>
              <a:t> in 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data frame</a:t>
            </a:r>
            <a:r>
              <a:rPr/>
              <a:t> is a table: each </a:t>
            </a:r>
            <a:r>
              <a:rPr b="1"/>
              <a:t>column is a vector</a:t>
            </a:r>
            <a:r>
              <a:rPr/>
              <a:t> of one type, and the rows line up.</a:t>
            </a:r>
          </a:p>
          <a:p>
            <a:pPr lvl="0" indent="0" marL="0">
              <a:buNone/>
            </a:pPr>
            <a:r>
              <a:rPr/>
              <a:t>Our </a:t>
            </a:r>
            <a:r>
              <a:rPr>
                <a:latin typeface="Courier"/>
              </a:rPr>
              <a:t>tree_df</a:t>
            </a:r>
            <a:r>
              <a:rPr/>
              <a:t> has five columns:</a:t>
            </a:r>
          </a:p>
          <a:p>
            <a:pPr lvl="0"/>
            <a:r>
              <a:rPr>
                <a:latin typeface="Courier"/>
              </a:rPr>
              <a:t>index</a:t>
            </a:r>
            <a:r>
              <a:rPr/>
              <a:t> — leaf number </a:t>
            </a:r>
            <a:r>
              <a:rPr i="1"/>
              <a:t>(numeric)</a:t>
            </a:r>
          </a:p>
          <a:p>
            <a:pPr lvl="0"/>
            <a:r>
              <a:rPr>
                <a:latin typeface="Courier"/>
              </a:rPr>
              <a:t>side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  <a:r>
              <a:rPr/>
              <a:t> / </a:t>
            </a:r>
            <a:r>
              <a:rPr>
                <a:latin typeface="Courier"/>
              </a:rPr>
              <a:t>"shady"</a:t>
            </a:r>
            <a:r>
              <a:rPr/>
              <a:t> </a:t>
            </a:r>
            <a:r>
              <a:rPr i="1"/>
              <a:t>(character)</a:t>
            </a:r>
          </a:p>
          <a:p>
            <a:pPr lvl="0"/>
            <a:r>
              <a:rPr>
                <a:latin typeface="Courier"/>
              </a:rPr>
              <a:t>weight_g</a:t>
            </a:r>
            <a:r>
              <a:rPr/>
              <a:t>, </a:t>
            </a:r>
            <a:r>
              <a:rPr>
                <a:latin typeface="Courier"/>
              </a:rPr>
              <a:t>width_cm</a:t>
            </a:r>
            <a:r>
              <a:rPr/>
              <a:t>, </a:t>
            </a:r>
            <a:r>
              <a:rPr>
                <a:latin typeface="Courier"/>
              </a:rPr>
              <a:t>height_cm</a:t>
            </a:r>
            <a:r>
              <a:rPr/>
              <a:t> </a:t>
            </a:r>
            <a:r>
              <a:rPr i="1"/>
              <a:t>(numeric)</a:t>
            </a:r>
          </a:p>
          <a:p>
            <a:pPr lvl="0" indent="0" marL="0">
              <a:buNone/>
            </a:pPr>
            <a:r>
              <a:rPr/>
              <a:t>Pull a single column with </a:t>
            </a:r>
            <a:r>
              <a:rPr>
                <a:latin typeface="Courier"/>
              </a:rPr>
              <a:t>$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weight_g     </a:t>
            </a:r>
            <a:r>
              <a:rPr>
                <a:solidFill>
                  <a:srgbClr val="5E5E5E"/>
                </a:solidFill>
                <a:latin typeface="Courier"/>
              </a:rPr>
              <a:t># just the weights, as a vector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Data frame</a:t>
            </a:r>
            <a:r>
              <a:rPr sz="2000"/>
              <a:t> = R’s word for a spreadsheet-style table.</a:t>
            </a:r>
          </a:p>
        </p:txBody>
      </p:sp>
      <p:pic>
        <p:nvPicPr>
          <p:cNvPr descr="images/diagram_datafra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 at your data before trusting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Always eyeball a new data frame: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last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rows, columns  → 20  5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(tree_df)     </a:t>
            </a:r>
            <a:r>
              <a:rPr>
                <a:solidFill>
                  <a:srgbClr val="5E5E5E"/>
                </a:solidFill>
                <a:latin typeface="Courier"/>
              </a:rPr>
              <a:t># column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Tidyverse-style structure check (prefer this over str):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   </a:t>
            </a:r>
            <a:r>
              <a:rPr>
                <a:solidFill>
                  <a:srgbClr val="5E5E5E"/>
                </a:solidFill>
                <a:latin typeface="Courier"/>
              </a:rPr>
              <a:t># one line per column: name, type, first values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 R equivalent: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same information, different layout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Run </a:t>
            </a:r>
            <a:r>
              <a:rPr sz="2000">
                <a:latin typeface="Courier"/>
              </a:rPr>
              <a:t>glimpse(tree_df)</a:t>
            </a:r>
            <a:r>
              <a:rPr sz="2000"/>
              <a:t>. How many rows? What type is </a:t>
            </a:r>
            <a:r>
              <a:rPr sz="2000">
                <a:latin typeface="Courier"/>
              </a:rPr>
              <a:t>side</a:t>
            </a:r>
            <a:r>
              <a:rPr sz="2000"/>
              <a:t>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Check </a:t>
            </a:r>
            <a:r>
              <a:rPr sz="2000">
                <a:latin typeface="Courier"/>
              </a:rPr>
              <a:t>dim()</a:t>
            </a:r>
            <a:r>
              <a:rPr sz="2000"/>
              <a:t> and </a:t>
            </a:r>
            <a:r>
              <a:rPr sz="2000">
                <a:latin typeface="Courier"/>
              </a:rPr>
              <a:t>glimpse()</a:t>
            </a:r>
            <a:r>
              <a:rPr sz="2000"/>
              <a:t> every single time you load data. Typos and wrong column types hide here.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a number column shows as </a:t>
            </a:r>
            <a:r>
              <a:rPr sz="2000">
                <a:latin typeface="Courier"/>
              </a:rPr>
              <a:t>&lt;chr&gt;</a:t>
            </a:r>
            <a:r>
              <a:rPr sz="2000"/>
              <a:t>, a stray letter or comma snuck into your spreadsheet.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pipe </a:t>
            </a:r>
            <a:r>
              <a:rPr>
                <a:latin typeface="Courier"/>
              </a:rPr>
              <a:t>%&gt;%</a:t>
            </a:r>
            <a:r>
              <a:rPr/>
              <a:t> — read it as “then”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pipe</a:t>
            </a:r>
            <a:r>
              <a:rPr/>
              <a:t> sends a result straight into the next function. Read </a:t>
            </a:r>
            <a:r>
              <a:rPr>
                <a:latin typeface="Courier"/>
              </a:rPr>
              <a:t>%&gt;%</a:t>
            </a:r>
            <a:r>
              <a:rPr/>
              <a:t> as the word </a:t>
            </a:r>
            <a:r>
              <a:rPr b="1"/>
              <a:t>“then”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Start with simple examples: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count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()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list column names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summarize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Chain two steps: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show first 3 rows</a:t>
            </a:r>
          </a:p>
          <a:p>
            <a:pPr lvl="0" indent="0" marL="0">
              <a:buNone/>
            </a:pPr>
            <a:r>
              <a:rPr/>
              <a:t>In Lecture 03 we will chain more steps together.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Pipe</a:t>
            </a:r>
            <a:r>
              <a:rPr sz="2000"/>
              <a:t> </a:t>
            </a:r>
            <a:r>
              <a:rPr sz="2000">
                <a:latin typeface="Courier"/>
              </a:rPr>
              <a:t>%&gt;%</a:t>
            </a:r>
            <a:r>
              <a:rPr sz="2000"/>
              <a:t> = “take what is on the left and feed it to the function on the right.”</a:t>
            </a:r>
          </a:p>
        </p:txBody>
      </p:sp>
      <p:pic>
        <p:nvPicPr>
          <p:cNvPr descr="images/diagram_pi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ggplot: build a picture in layers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Plots are built from three core pieces,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 (</a:t>
            </a:r>
            <a:r>
              <a:rPr>
                <a:latin typeface="Courier"/>
              </a:rPr>
              <a:t>tree_df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aes</a:t>
            </a:r>
            <a:r>
              <a:rPr/>
              <a:t> — which columns map to x and y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 (add with </a:t>
            </a:r>
            <a:r>
              <a:rPr>
                <a:latin typeface="Courier"/>
              </a:rPr>
              <a:t>+</a:t>
            </a:r>
            <a:r>
              <a:rPr/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The </a:t>
            </a:r>
            <a:r>
              <a:rPr sz="2000">
                <a:latin typeface="Courier"/>
              </a:rPr>
              <a:t>+</a:t>
            </a:r>
            <a:r>
              <a:rPr sz="2000"/>
              <a:t> must sit at the </a:t>
            </a:r>
            <a:r>
              <a:rPr sz="2000" b="1"/>
              <a:t>end</a:t>
            </a:r>
            <a:r>
              <a:rPr sz="2000"/>
              <a:t> of a line, never the start. </a:t>
            </a:r>
            <a:r>
              <a:rPr sz="2000">
                <a:latin typeface="Courier"/>
              </a:rPr>
              <a:t>+</a:t>
            </a:r>
            <a:r>
              <a:rPr sz="2000"/>
              <a:t> at the start = error.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698500"/>
            <a:ext cx="4406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Improve it one layer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</a:t>
            </a:r>
            <a:r>
              <a:rPr>
                <a:latin typeface="Courier"/>
              </a:rPr>
              <a:t>side</a:t>
            </a:r>
            <a:r>
              <a:rPr/>
              <a:t> is a category, a </a:t>
            </a:r>
            <a:r>
              <a:rPr b="1"/>
              <a:t>boxplot</a:t>
            </a:r>
            <a:r>
              <a:rPr/>
              <a:t> with the raw points on top tells the story well: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vs. shady leaves"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Swap </a:t>
            </a:r>
            <a:r>
              <a:rPr sz="2000">
                <a:latin typeface="Courier"/>
              </a:rPr>
              <a:t>weight_g</a:t>
            </a:r>
            <a:r>
              <a:rPr sz="2000"/>
              <a:t> for </a:t>
            </a:r>
            <a:r>
              <a:rPr sz="2000">
                <a:latin typeface="Courier"/>
              </a:rPr>
              <a:t>height_cm</a:t>
            </a:r>
            <a:r>
              <a:rPr sz="2000"/>
              <a:t>. What changes? Try </a:t>
            </a:r>
            <a:r>
              <a:rPr sz="2000">
                <a:latin typeface="Courier"/>
              </a:rPr>
              <a:t>geom_violin()</a:t>
            </a:r>
            <a:r>
              <a:rPr sz="2000"/>
              <a:t> instead of </a:t>
            </a:r>
            <a:r>
              <a:rPr sz="2000">
                <a:latin typeface="Courier"/>
              </a:rPr>
              <a:t>geom_boxplot()</a:t>
            </a:r>
            <a:r>
              <a:rPr sz="2000"/>
              <a:t>.</a:t>
            </a:r>
          </a:p>
        </p:txBody>
      </p:sp>
      <p:pic>
        <p:nvPicPr>
          <p:cNvPr descr="images/past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76300"/>
            <a:ext cx="440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Save your plot and your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 the plot in an object, then save it as a PNG: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Save to the figures/ folder — always use PNG, dpi = 300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leaf_plot,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Also: </a:t>
            </a:r>
            <a:r>
              <a:rPr sz="2000">
                <a:latin typeface="Courier"/>
              </a:rPr>
              <a:t>dpi = 300</a:t>
            </a:r>
            <a:r>
              <a:rPr sz="2000"/>
              <a:t> is publication quality — always use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File format tip</a:t>
            </a:r>
          </a:p>
          <a:p>
            <a:pPr lvl="0" indent="0" marL="1270000">
              <a:buNone/>
            </a:pPr>
            <a:r>
              <a:rPr sz="2000"/>
              <a:t>Save figures as </a:t>
            </a:r>
            <a:r>
              <a:rPr sz="2000" b="1"/>
              <a:t>PNG</a:t>
            </a:r>
            <a:r>
              <a:rPr sz="2000"/>
              <a:t> (</a:t>
            </a:r>
            <a:r>
              <a:rPr sz="2000">
                <a:latin typeface="Courier"/>
              </a:rPr>
              <a:t>.png</a:t>
            </a:r>
            <a:r>
              <a:rPr sz="2000"/>
              <a:t>) for reports and Canvas submissions.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dpi = 300</a:t>
            </a:r>
            <a:r>
              <a:rPr sz="2000"/>
              <a:t> means 300 dots per inch — high enough for print and posters.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 · What you can now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Set up R + Positron and organize a project folder</a:t>
            </a:r>
          </a:p>
          <a:p>
            <a:pPr lvl="0"/>
            <a:r>
              <a:rPr/>
              <a:t>Use R as a calculator and </a:t>
            </a:r>
            <a:r>
              <a:rPr b="1"/>
              <a:t>store values</a:t>
            </a:r>
            <a:r>
              <a:rPr/>
              <a:t>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Write and run a </a:t>
            </a:r>
            <a:r>
              <a:rPr b="1"/>
              <a:t>script</a:t>
            </a:r>
            <a:r>
              <a:rPr/>
              <a:t>, with </a:t>
            </a:r>
            <a:r>
              <a:rPr>
                <a:latin typeface="Courier"/>
              </a:rPr>
              <a:t>#</a:t>
            </a:r>
            <a:r>
              <a:rPr/>
              <a:t> comments</a:t>
            </a:r>
          </a:p>
          <a:p>
            <a:pPr lvl="0"/>
            <a:r>
              <a:rPr/>
              <a:t>Call </a:t>
            </a:r>
            <a:r>
              <a:rPr b="1"/>
              <a:t>functions</a:t>
            </a:r>
            <a:r>
              <a:rPr/>
              <a:t> and read their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/>
              <a:t>Build </a:t>
            </a:r>
            <a:r>
              <a:rPr b="1"/>
              <a:t>vectors</a:t>
            </a:r>
            <a:r>
              <a:rPr/>
              <a:t>, know their types</a:t>
            </a:r>
          </a:p>
          <a:p>
            <a:pPr lvl="0"/>
            <a:r>
              <a:rPr/>
              <a:t>Load Excel and CSV data with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</a:p>
          <a:p>
            <a:pPr lvl="0"/>
            <a:r>
              <a:rPr/>
              <a:t>Inspect a data frame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Use the </a:t>
            </a:r>
            <a:r>
              <a:rPr b="1"/>
              <a:t>pipe</a:t>
            </a:r>
            <a:r>
              <a:rPr/>
              <a:t>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/>
            <a:r>
              <a:rPr/>
              <a:t>Make and </a:t>
            </a:r>
            <a:r>
              <a:rPr b="1"/>
              <a:t>save</a:t>
            </a:r>
            <a:r>
              <a:rPr/>
              <a:t> a first </a:t>
            </a:r>
            <a:r>
              <a:rPr>
                <a:latin typeface="Courier"/>
              </a:rPr>
              <a:t>ggplot</a:t>
            </a:r>
            <a:r>
              <a:rPr/>
              <a:t> as a PNG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Load </a:t>
            </a:r>
            <a:r>
              <a:rPr sz="2000">
                <a:latin typeface="Courier"/>
              </a:rPr>
              <a:t>tree_df</a:t>
            </a:r>
            <a:r>
              <a:rPr sz="2000"/>
              <a:t>, run </a:t>
            </a:r>
            <a:r>
              <a:rPr sz="2000">
                <a:latin typeface="Courier"/>
              </a:rPr>
              <a:t>glimpse()</a:t>
            </a:r>
            <a:r>
              <a:rPr sz="2000"/>
              <a:t>, and make one plot of </a:t>
            </a:r>
            <a:r>
              <a:rPr sz="2000">
                <a:latin typeface="Courier"/>
              </a:rPr>
              <a:t>width_cm</a:t>
            </a:r>
            <a:r>
              <a:rPr sz="2000"/>
              <a:t> by </a:t>
            </a:r>
            <a:r>
              <a:rPr sz="2000">
                <a:latin typeface="Courier"/>
              </a:rPr>
              <a:t>side</a:t>
            </a:r>
            <a:r>
              <a:rPr sz="2000"/>
              <a:t>.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went from a blank console to a saved figure of </a:t>
            </a:r>
            <a:r>
              <a:rPr sz="2000" b="1"/>
              <a:t>our</a:t>
            </a:r>
            <a:r>
              <a:rPr sz="2000"/>
              <a:t> data. That is the whole workflow in miniature.</a:t>
            </a:r>
          </a:p>
          <a:p>
            <a:pPr lvl="0" indent="0" marL="0">
              <a:buNone/>
            </a:pPr>
            <a:r>
              <a:rPr b="1"/>
              <a:t>Up next — Lecture 03: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Then: descriptive statistics on our leaf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(it will — that is normal):</a:t>
            </a:r>
          </a:p>
          <a:p>
            <a:pPr lvl="0"/>
            <a:r>
              <a:rPr>
                <a:latin typeface="Courier"/>
              </a:rPr>
              <a:t>?function_name</a:t>
            </a:r>
            <a:r>
              <a:rPr/>
              <a:t> — the built-in help page</a:t>
            </a:r>
          </a:p>
          <a:p>
            <a:pPr lvl="0"/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/>
            <a:r>
              <a:rPr/>
              <a:t>Check: did you load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?</a:t>
            </a:r>
          </a:p>
          <a:p>
            <a:pPr lvl="0"/>
            <a:r>
              <a:rPr/>
              <a:t>Check: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+</a:t>
            </a:r>
            <a:r>
              <a:rPr/>
              <a:t>?</a:t>
            </a:r>
          </a:p>
          <a:p>
            <a:pPr lvl="0"/>
            <a:r>
              <a:rPr/>
              <a:t>The </a:t>
            </a:r>
            <a:r>
              <a:rPr b="1"/>
              <a:t>posit/tidyverse cheatsheets</a:t>
            </a:r>
            <a:r>
              <a:rPr/>
              <a:t> are excellent: </a:t>
            </a:r>
            <a:r>
              <a:rPr>
                <a:hlinkClick r:id="rId2"/>
              </a:rPr>
              <a:t>posit.co/resources/cheatsheets</a:t>
            </a:r>
          </a:p>
          <a:p>
            <a:pPr lvl="0"/>
            <a:r>
              <a:rPr/>
              <a:t>Bring the exact error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coder googles error messages daily. Getting stuck is not failing — it is the job.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In Excel you fix errors by clicking around. In R you fix them by </a:t>
            </a:r>
            <a:r>
              <a:rPr sz="2000" b="1"/>
              <a:t>reading the message</a:t>
            </a:r>
            <a:r>
              <a:rPr sz="2000"/>
              <a:t> and editing one line. Slower at first, far more powerful soon.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 — Meeting R</dc:title>
  <dc:creator>Bill Perry</dc:creator>
  <cp:keywords/>
  <dcterms:created xsi:type="dcterms:W3CDTF">2026-06-28T23:56:17Z</dcterms:created>
  <dcterms:modified xsi:type="dcterms:W3CDTF">2026-06-28T23:56:17Z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2026-06-28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From the console to your first plot</vt:lpwstr>
  </property>
  <property fmtid="{D5CDD505-2E9C-101B-9397-08002B2CF9AE}" pid="12" name="toc-title">
    <vt:lpwstr>Table of contents</vt:lpwstr>
  </property>
</Properties>
</file>