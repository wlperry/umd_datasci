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3" Type="http://schemas.openxmlformats.org/officeDocument/2006/relationships/viewProps" Target="viewProps.xml" /><Relationship Id="rId3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5" Type="http://schemas.openxmlformats.org/officeDocument/2006/relationships/tableStyles" Target="tableStyles.xml" /><Relationship Id="rId3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ran.r-project.org/" TargetMode="External" /><Relationship Id="rId3" Type="http://schemas.openxmlformats.org/officeDocument/2006/relationships/hyperlink" Target="https://positron.posit.co/download.html" TargetMode="External" /><Relationship Id="rId4" Type="http://schemas.openxmlformats.org/officeDocument/2006/relationships/hyperlink" Target="https://docs.posit.co/ide/user/#rstudio-ide-oss-downloads" TargetMode="External" /><Relationship Id="rId5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 — Meeting 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the console to your first plot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Learning goals</a:t>
            </a:r>
            <a:r>
              <a:rPr/>
              <a:t> — data organization, Excel → R workflow, hypothesis testing, interpretation</a:t>
            </a:r>
          </a:p>
          <a:p>
            <a:pPr lvl="0"/>
            <a:r>
              <a:rPr b="1"/>
              <a:t>Science fundamentals</a:t>
            </a:r>
            <a:r>
              <a:rPr/>
              <a:t> — falsifiable predictions; null vs. alternate hypotheses</a:t>
            </a:r>
          </a:p>
          <a:p>
            <a:pPr lvl="0"/>
            <a:r>
              <a:rPr b="1"/>
              <a:t>Our class project</a:t>
            </a:r>
            <a:r>
              <a:rPr/>
              <a:t> — leaf morphology: </a:t>
            </a:r>
            <a:r>
              <a:rPr i="1"/>
              <a:t>sunny vs. shady</a:t>
            </a:r>
            <a:r>
              <a:rPr/>
              <a:t> sides of trees</a:t>
            </a:r>
          </a:p>
          <a:p>
            <a:pPr lvl="0"/>
            <a:r>
              <a:rPr b="1"/>
              <a:t>Design</a:t>
            </a:r>
            <a:r>
              <a:rPr/>
              <a:t> — randomization, replication (multiple trees), sampling limits</a:t>
            </a:r>
          </a:p>
          <a:p>
            <a:pPr lvl="0"/>
            <a:r>
              <a:rPr b="1"/>
              <a:t>Variables</a:t>
            </a:r>
            <a:r>
              <a:rPr/>
              <a:t> — dependent (leaf mass/size) vs. independent (side of tree)</a:t>
            </a:r>
          </a:p>
          <a:p>
            <a:pPr lvl="0"/>
            <a:r>
              <a:rPr b="1"/>
              <a:t>Spreadsheet hygiene</a:t>
            </a:r>
            <a:r>
              <a:rPr/>
              <a:t> — metadata, consistent terms, units, clean sheet design</a:t>
            </a:r>
          </a:p>
          <a:p>
            <a:pPr lvl="0" indent="0" marL="0">
              <a:buNone/>
            </a:pPr>
            <a:r>
              <a:rPr b="1"/>
              <a:t>✅ Key idea</a:t>
            </a:r>
          </a:p>
          <a:p>
            <a:pPr lvl="0" indent="0" marL="0">
              <a:buNone/>
            </a:pPr>
            <a:r>
              <a:rPr/>
              <a:t>Today we take that tidy spreadsheet and bring it to life in R.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Get </a:t>
            </a:r>
            <a:r>
              <a:rPr b="1"/>
              <a:t>R</a:t>
            </a:r>
            <a:r>
              <a:rPr/>
              <a:t> and </a:t>
            </a:r>
            <a:r>
              <a:rPr b="1"/>
              <a:t>Positron</a:t>
            </a:r>
            <a:r>
              <a:rPr/>
              <a:t> set up and oriented</a:t>
            </a:r>
          </a:p>
          <a:p>
            <a:pPr lvl="0"/>
            <a:r>
              <a:rPr/>
              <a:t>Organize a project so future-you can find things</a:t>
            </a:r>
          </a:p>
          <a:p>
            <a:pPr lvl="0"/>
            <a:r>
              <a:rPr/>
              <a:t>Learn how R actually works:</a:t>
            </a:r>
          </a:p>
          <a:p>
            <a:pPr lvl="1"/>
            <a:r>
              <a:rPr/>
              <a:t>using it as a </a:t>
            </a:r>
            <a:r>
              <a:rPr b="1"/>
              <a:t>calculator</a:t>
            </a:r>
          </a:p>
          <a:p>
            <a:pPr lvl="1"/>
            <a:r>
              <a:rPr/>
              <a:t>storing things with the </a:t>
            </a:r>
            <a:r>
              <a:rPr b="1"/>
              <a:t>assignment operator</a:t>
            </a:r>
            <a:r>
              <a:rPr/>
              <a:t> </a:t>
            </a:r>
            <a:r>
              <a:rPr>
                <a:latin typeface="Courier"/>
              </a:rPr>
              <a:t>&lt;-</a:t>
            </a:r>
          </a:p>
          <a:p>
            <a:pPr lvl="1"/>
            <a:r>
              <a:rPr b="1"/>
              <a:t>functions</a:t>
            </a:r>
            <a:r>
              <a:rPr/>
              <a:t>, </a:t>
            </a:r>
            <a:r>
              <a:rPr b="1"/>
              <a:t>vectors</a:t>
            </a:r>
            <a:r>
              <a:rPr/>
              <a:t>, and </a:t>
            </a:r>
            <a:r>
              <a:rPr b="1"/>
              <a:t>data types</a:t>
            </a:r>
          </a:p>
          <a:p>
            <a:pPr lvl="0"/>
            <a:r>
              <a:rPr/>
              <a:t>Load our tree data and make a </a:t>
            </a:r>
            <a:r>
              <a:rPr b="1"/>
              <a:t>first plot</a:t>
            </a:r>
          </a:p>
          <a:p>
            <a:pPr lvl="0" indent="0" marL="0">
              <a:buNone/>
            </a:pPr>
            <a:r>
              <a:rPr b="1"/>
              <a:t>🖐 Try it yourself</a:t>
            </a:r>
          </a:p>
          <a:p>
            <a:pPr lvl="0" indent="0" marL="0">
              <a:buNone/>
            </a:pPr>
            <a:r>
              <a:rPr/>
              <a:t>By the end you’ll run real code on </a:t>
            </a:r>
            <a:r>
              <a:rPr b="1"/>
              <a:t>our</a:t>
            </a:r>
            <a:r>
              <a:rPr/>
              <a:t> leaf data — not a toy dataset.</a:t>
            </a:r>
          </a:p>
        </p:txBody>
      </p:sp>
      <p:pic>
        <p:nvPicPr>
          <p:cNvPr descr="images/diagram_ggplot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2349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Setting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R, really?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</a:t>
            </a:r>
            <a:r>
              <a:rPr/>
              <a:t> is the engine — a free language for data and statistics. On its own it is plain; this plain version is called </a:t>
            </a:r>
            <a:r>
              <a:rPr b="1"/>
              <a:t>base R</a:t>
            </a:r>
            <a:r>
              <a:rPr/>
              <a:t>.</a:t>
            </a:r>
          </a:p>
          <a:p>
            <a:pPr lvl="0"/>
            <a:r>
              <a:rPr/>
              <a:t>We drive that engine through a friendlier dashboard called an </a:t>
            </a:r>
            <a:r>
              <a:rPr b="1"/>
              <a:t>IDE</a:t>
            </a:r>
            <a:r>
              <a:rPr/>
              <a:t> (an editor for code).</a:t>
            </a:r>
          </a:p>
          <a:p>
            <a:pPr lvl="0"/>
            <a:r>
              <a:rPr/>
              <a:t>Two good IDEs — you can try both:</a:t>
            </a:r>
          </a:p>
          <a:p>
            <a:pPr lvl="1"/>
            <a:r>
              <a:rPr b="1"/>
              <a:t>Positron</a:t>
            </a:r>
            <a:r>
              <a:rPr/>
              <a:t> — what we’ll use </a:t>
            </a:r>
            <a:r>
              <a:rPr i="1"/>
              <a:t>(recommended)</a:t>
            </a:r>
          </a:p>
          <a:p>
            <a:pPr lvl="1"/>
            <a:r>
              <a:rPr b="1"/>
              <a:t>RStudio</a:t>
            </a:r>
            <a:r>
              <a:rPr/>
              <a:t> — the long-time classic</a:t>
            </a:r>
          </a:p>
          <a:p>
            <a:pPr lvl="0" indent="0" marL="0">
              <a:buNone/>
            </a:pPr>
            <a:r>
              <a:rPr b="1"/>
              <a:t>📖 New word</a:t>
            </a:r>
          </a:p>
          <a:p>
            <a:pPr lvl="0" indent="0" marL="0">
              <a:buNone/>
            </a:pPr>
            <a:r>
              <a:rPr b="1"/>
              <a:t>IDE</a:t>
            </a:r>
            <a:r>
              <a:rPr/>
              <a:t> = </a:t>
            </a:r>
            <a:r>
              <a:rPr i="1"/>
              <a:t>Integrated Development Environment</a:t>
            </a:r>
            <a:r>
              <a:rPr/>
              <a:t>. Think of R as the car’s engine and the IDE as the seat, wheel, and dashboard.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74800"/>
            <a:ext cx="2781300" cy="265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Download the two pieces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</a:t>
            </a:r>
            <a:r>
              <a:rPr/>
              <a:t> (the engine) — </a:t>
            </a:r>
            <a:r>
              <a:rPr>
                <a:hlinkClick r:id="rId2"/>
              </a:rPr>
              <a:t>cran.r-project.org</a:t>
            </a:r>
          </a:p>
          <a:p>
            <a:pPr lvl="1"/>
            <a:r>
              <a:rPr i="1"/>
              <a:t>Can you find the file after it downloads?</a:t>
            </a:r>
          </a:p>
          <a:p>
            <a:pPr lvl="0" indent="-342900" marL="342900">
              <a:buAutoNum type="arabicPeriod"/>
            </a:pPr>
            <a:r>
              <a:rPr b="1"/>
              <a:t>Positron</a:t>
            </a:r>
            <a:r>
              <a:rPr/>
              <a:t> (the dashboard) — </a:t>
            </a:r>
            <a:r>
              <a:rPr>
                <a:hlinkClick r:id="rId3"/>
              </a:rPr>
              <a:t>positron.posit.co</a:t>
            </a:r>
          </a:p>
          <a:p>
            <a:pPr lvl="1"/>
            <a:r>
              <a:rPr i="1"/>
              <a:t>Where did it land on your computer?</a:t>
            </a:r>
          </a:p>
          <a:p>
            <a:pPr lvl="0" indent="-342900" marL="342900">
              <a:buAutoNum type="arabicPeriod"/>
            </a:pPr>
            <a:r>
              <a:rPr i="1"/>
              <a:t>(Optional)</a:t>
            </a:r>
            <a:r>
              <a:rPr/>
              <a:t> </a:t>
            </a:r>
            <a:r>
              <a:rPr b="1"/>
              <a:t>RStudio</a:t>
            </a:r>
            <a:r>
              <a:rPr/>
              <a:t>, if you want to compare — </a:t>
            </a:r>
            <a:r>
              <a:rPr>
                <a:hlinkClick r:id="rId4"/>
              </a:rPr>
              <a:t>posit.co</a:t>
            </a:r>
          </a:p>
          <a:p>
            <a:pPr lvl="0" indent="0" marL="0">
              <a:buNone/>
            </a:pPr>
            <a:r>
              <a:rPr b="1"/>
              <a:t>⚠️ Watch out!</a:t>
            </a:r>
          </a:p>
          <a:p>
            <a:pPr lvl="0" indent="0" marL="0">
              <a:buNone/>
            </a:pPr>
            <a:r>
              <a:rPr/>
              <a:t>Install </a:t>
            </a:r>
            <a:r>
              <a:rPr b="1"/>
              <a:t>R first</a:t>
            </a:r>
            <a:r>
              <a:rPr/>
              <a:t>, then Positron. Positron needs to find R already on your machine.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6121400" y="1574800"/>
            <a:ext cx="2781300" cy="265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Organize the project </a:t>
            </a:r>
            <a:r>
              <a:rPr i="1"/>
              <a:t>before</a:t>
            </a:r>
            <a:r>
              <a:rPr/>
              <a:t> you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</a:t>
            </a:r>
            <a:r>
              <a:rPr b="1"/>
              <a:t>one folder per project</a:t>
            </a:r>
            <a:r>
              <a:rPr/>
              <a:t>. Everything for the tree experiment lives together:</a:t>
            </a:r>
          </a:p>
          <a:p>
            <a:pPr lvl="0" indent="0">
              <a:buNone/>
            </a:pPr>
            <a:r>
              <a:rPr>
                <a:latin typeface="Courier"/>
              </a:rPr>
              <a:t>tree_project/
├── data_raw/      &lt;- the untouched Excel file
├── scripts/       &lt;- your .R code
├── figures/       &lt;- plots you save
└── data_clean/    &lt;- tidied files you create</a:t>
            </a:r>
          </a:p>
          <a:p>
            <a:pPr lvl="0"/>
            <a:r>
              <a:rPr/>
              <a:t>In Positron: </a:t>
            </a:r>
            <a:r>
              <a:rPr b="1"/>
              <a:t>File → Open Folder…</a:t>
            </a:r>
            <a:r>
              <a:rPr/>
              <a:t> and pick this folder.</a:t>
            </a:r>
          </a:p>
          <a:p>
            <a:pPr lvl="0"/>
            <a:r>
              <a:rPr/>
              <a:t>Now every path is relative to the project — no more </a:t>
            </a:r>
            <a:r>
              <a:rPr>
                <a:latin typeface="Courier"/>
              </a:rPr>
              <a:t>C:/Users/.../Desktop/...</a:t>
            </a:r>
            <a:r>
              <a:rPr/>
              <a:t> nightmares.</a:t>
            </a:r>
          </a:p>
          <a:p>
            <a:pPr lvl="0" indent="0" marL="0">
              <a:buNone/>
            </a:pPr>
            <a:r>
              <a:rPr b="1"/>
              <a:t>✅ Key idea</a:t>
            </a:r>
          </a:p>
          <a:p>
            <a:pPr lvl="0" indent="0" marL="0">
              <a:buNone/>
            </a:pPr>
            <a:r>
              <a:rPr/>
              <a:t>A tidy folder today saves an hour of “where did I put that file?” next week.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📊 Coming from Excel?</a:t>
            </a:r>
          </a:p>
          <a:p>
            <a:pPr lvl="0" indent="0" marL="0">
              <a:buNone/>
            </a:pPr>
            <a:r>
              <a:rPr/>
              <a:t>In Excel you keep one big file. In R we keep </a:t>
            </a:r>
            <a:r>
              <a:rPr b="1"/>
              <a:t>raw data read-only</a:t>
            </a:r>
            <a:r>
              <a:rPr/>
              <a:t> and write </a:t>
            </a:r>
            <a:r>
              <a:rPr i="1"/>
              <a:t>new</a:t>
            </a:r>
            <a:r>
              <a:rPr/>
              <a:t> clean files — so you can always trace your steps and never overwrite your original numbers.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quick tour of Positron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panes you’ll use constantly:</a:t>
            </a:r>
          </a:p>
          <a:p>
            <a:pPr lvl="0"/>
            <a:r>
              <a:rPr b="1"/>
              <a:t>Editor</a:t>
            </a:r>
            <a:r>
              <a:rPr/>
              <a:t> (top-left) — your scripts live here</a:t>
            </a:r>
          </a:p>
          <a:p>
            <a:pPr lvl="0"/>
            <a:r>
              <a:rPr b="1"/>
              <a:t>Console / Terminal</a:t>
            </a:r>
            <a:r>
              <a:rPr/>
              <a:t> (bottom) — where code runs</a:t>
            </a:r>
          </a:p>
          <a:p>
            <a:pPr lvl="0"/>
            <a:r>
              <a:rPr b="1"/>
              <a:t>Variables / Session</a:t>
            </a:r>
            <a:r>
              <a:rPr/>
              <a:t> (right) — everything you’ve stored</a:t>
            </a:r>
          </a:p>
          <a:p>
            <a:pPr lvl="0"/>
            <a:r>
              <a:rPr b="1"/>
              <a:t>Plots</a:t>
            </a:r>
            <a:r>
              <a:rPr/>
              <a:t> (right) — your figures appear here</a:t>
            </a:r>
          </a:p>
          <a:p>
            <a:pPr lvl="0" indent="0" marL="0">
              <a:buNone/>
            </a:pPr>
            <a:r>
              <a:rPr b="1"/>
              <a:t>🖐 Try it yourself</a:t>
            </a:r>
          </a:p>
          <a:p>
            <a:pPr lvl="0" indent="0" marL="0">
              <a:buNone/>
            </a:pPr>
            <a:r>
              <a:rPr/>
              <a:t>Find each pane on your screen now. Click the </a:t>
            </a:r>
            <a:r>
              <a:rPr b="1"/>
              <a:t>Console</a:t>
            </a:r>
            <a:r>
              <a:rPr/>
              <a:t> tab — that’s where we start next.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74800"/>
            <a:ext cx="2781300" cy="265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How R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 is a calculator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math straight into the </a:t>
            </a:r>
            <a:r>
              <a:rPr b="1"/>
              <a:t>console</a:t>
            </a:r>
            <a:r>
              <a:rPr/>
              <a:t> and press Enter: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br/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</a:p>
          <a:p>
            <a:pPr lvl="0" indent="0" marL="0">
              <a:buNone/>
            </a:pPr>
            <a:r>
              <a:rPr/>
              <a:t>R answers immediately. The console is great for quick “what’s the answer?” questions.</a:t>
            </a:r>
          </a:p>
          <a:p>
            <a:pPr lvl="0" indent="0" marL="0">
              <a:buNone/>
            </a:pPr>
            <a:r>
              <a:rPr b="1"/>
              <a:t>⚠️ Watch out!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>
                <a:latin typeface="Courier"/>
              </a:rPr>
              <a:t>+</a:t>
            </a:r>
            <a:r>
              <a:rPr/>
              <a:t> at the start of the console line means R is </a:t>
            </a:r>
            <a:r>
              <a:rPr b="1"/>
              <a:t>still waiting</a:t>
            </a:r>
            <a:r>
              <a:rPr/>
              <a:t> for you to finish a command. Press Esc to start over.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📊 Coming from Excel?</a:t>
            </a:r>
          </a:p>
          <a:p>
            <a:pPr lvl="0" indent="0" marL="0">
              <a:buNone/>
            </a:pPr>
            <a:r>
              <a:rPr/>
              <a:t>This is just like typing </a:t>
            </a:r>
            <a:r>
              <a:rPr>
                <a:latin typeface="Courier"/>
              </a:rPr>
              <a:t>=3+5</a:t>
            </a:r>
            <a:r>
              <a:rPr/>
              <a:t> into an Excel cell — except there are no cells, just a line you type and run.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Storing values: the </a:t>
            </a:r>
            <a:r>
              <a:rPr b="1"/>
              <a:t>ladder</a:t>
            </a:r>
            <a:r>
              <a:rPr/>
              <a:t> </a:t>
            </a:r>
            <a:r>
              <a:rPr>
                <a:latin typeface="Courier"/>
              </a:rPr>
              <a:t>&lt;-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keep a value, give it a </a:t>
            </a:r>
            <a:r>
              <a:rPr b="1"/>
              <a:t>name</a:t>
            </a:r>
            <a:r>
              <a:rPr/>
              <a:t> with the assignment operator </a:t>
            </a:r>
            <a:r>
              <a:rPr>
                <a:latin typeface="Courier"/>
              </a:rPr>
              <a:t>&lt;-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5E5E5E"/>
                </a:solidFill>
                <a:latin typeface="Courier"/>
              </a:rPr>
              <a:t># store 7 under the name 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              </a:t>
            </a:r>
            <a:r>
              <a:rPr>
                <a:solidFill>
                  <a:srgbClr val="5E5E5E"/>
                </a:solidFill>
                <a:latin typeface="Courier"/>
              </a:rPr>
              <a:t># type the name to read it back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# now use it in math</a:t>
            </a:r>
          </a:p>
          <a:p>
            <a:pPr lvl="0"/>
            <a:r>
              <a:rPr>
                <a:latin typeface="Courier"/>
              </a:rPr>
              <a:t>&lt;-</a:t>
            </a:r>
            <a:r>
              <a:rPr/>
              <a:t> puts the value </a:t>
            </a:r>
            <a:r>
              <a:rPr b="1"/>
              <a:t>into your environment</a:t>
            </a:r>
            <a:r>
              <a:rPr/>
              <a:t> (look right!).</a:t>
            </a:r>
          </a:p>
          <a:p>
            <a:pPr lvl="0"/>
            <a:r>
              <a:rPr/>
              <a:t>Shortcut: Alt + - (Win) or Option + - (Mac) types </a:t>
            </a:r>
            <a:r>
              <a:rPr>
                <a:latin typeface="Courier"/>
              </a:rPr>
              <a:t>&lt;-</a:t>
            </a:r>
            <a:r>
              <a:rPr/>
              <a:t> for you.</a:t>
            </a:r>
          </a:p>
          <a:p>
            <a:pPr lvl="0" indent="0" marL="0">
              <a:buNone/>
            </a:pPr>
            <a:r>
              <a:rPr b="1"/>
              <a:t>📖 New word</a:t>
            </a:r>
          </a:p>
          <a:p>
            <a:pPr lvl="0" indent="0" marL="0">
              <a:buNone/>
            </a:pPr>
            <a:r>
              <a:rPr b="1"/>
              <a:t>Assignment operator</a:t>
            </a:r>
            <a:r>
              <a:rPr/>
              <a:t> </a:t>
            </a:r>
            <a:r>
              <a:rPr>
                <a:latin typeface="Courier"/>
              </a:rPr>
              <a:t>&lt;-</a:t>
            </a:r>
            <a:r>
              <a:rPr/>
              <a:t> = “take the thing on the right and store it under the name on the left.”</a:t>
            </a:r>
          </a:p>
        </p:txBody>
      </p:sp>
      <p:pic>
        <p:nvPicPr>
          <p:cNvPr descr="images/diagram_assignme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4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Naming your objects well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Good names make code readable months later:</a:t>
            </a:r>
          </a:p>
          <a:p>
            <a:pPr lvl="0"/>
            <a:r>
              <a:rPr/>
              <a:t>Be </a:t>
            </a:r>
            <a:r>
              <a:rPr b="1"/>
              <a:t>explicit</a:t>
            </a:r>
            <a:r>
              <a:rPr/>
              <a:t>, not too long: </a:t>
            </a:r>
            <a:r>
              <a:rPr>
                <a:latin typeface="Courier"/>
              </a:rPr>
              <a:t>leaf_mass</a:t>
            </a:r>
            <a:r>
              <a:rPr/>
              <a:t>, not </a:t>
            </a:r>
            <a:r>
              <a:rPr>
                <a:latin typeface="Courier"/>
              </a:rPr>
              <a:t>x2</a:t>
            </a:r>
          </a:p>
          <a:p>
            <a:pPr lvl="0"/>
            <a:r>
              <a:rPr b="1"/>
              <a:t>Cannot start with a number</a:t>
            </a:r>
            <a:r>
              <a:rPr/>
              <a:t> — </a:t>
            </a:r>
            <a:r>
              <a:rPr>
                <a:latin typeface="Courier"/>
              </a:rPr>
              <a:t>x2</a:t>
            </a:r>
            <a:r>
              <a:rPr/>
              <a:t> ✅, </a:t>
            </a:r>
            <a:r>
              <a:rPr>
                <a:latin typeface="Courier"/>
              </a:rPr>
              <a:t>2x</a:t>
            </a:r>
            <a:r>
              <a:rPr/>
              <a:t> ❌</a:t>
            </a:r>
          </a:p>
          <a:p>
            <a:pPr lvl="0"/>
            <a:r>
              <a:rPr/>
              <a:t>R is </a:t>
            </a:r>
            <a:r>
              <a:rPr b="1"/>
              <a:t>case-sensitive</a:t>
            </a:r>
            <a:r>
              <a:rPr/>
              <a:t> — </a:t>
            </a:r>
            <a:r>
              <a:rPr>
                <a:latin typeface="Courier"/>
              </a:rPr>
              <a:t>weight_kg</a:t>
            </a:r>
            <a:r>
              <a:rPr/>
              <a:t> ≠ </a:t>
            </a:r>
            <a:r>
              <a:rPr>
                <a:latin typeface="Courier"/>
              </a:rPr>
              <a:t>Weight_kg</a:t>
            </a:r>
          </a:p>
          <a:p>
            <a:pPr lvl="0"/>
            <a:r>
              <a:rPr/>
              <a:t>Avoid names of built-in functions (</a:t>
            </a:r>
            <a:r>
              <a:rPr>
                <a:latin typeface="Courier"/>
              </a:rPr>
              <a:t>mean</a:t>
            </a:r>
            <a:r>
              <a:rPr/>
              <a:t>, </a:t>
            </a:r>
            <a:r>
              <a:rPr>
                <a:latin typeface="Courier"/>
              </a:rPr>
              <a:t>data</a:t>
            </a:r>
            <a:r>
              <a:rPr/>
              <a:t>, </a:t>
            </a:r>
            <a:r>
              <a:rPr>
                <a:latin typeface="Courier"/>
              </a:rPr>
              <a:t>c</a:t>
            </a:r>
            <a:r>
              <a:rPr/>
              <a:t>)</a:t>
            </a:r>
          </a:p>
          <a:p>
            <a:pPr lvl="0"/>
            <a:r>
              <a:rPr/>
              <a:t>Avoid dots; use </a:t>
            </a:r>
            <a:r>
              <a:rPr b="1">
                <a:latin typeface="Courier"/>
              </a:rPr>
              <a:t>lower_snake_case</a:t>
            </a:r>
            <a:r>
              <a:rPr/>
              <a:t> like the tidyverse</a:t>
            </a:r>
          </a:p>
          <a:p>
            <a:pPr lvl="0" indent="0" marL="0">
              <a:buNone/>
            </a:pPr>
            <a:r>
              <a:rPr b="1"/>
              <a:t>⚠️ Watch out!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weight_g</a:t>
            </a:r>
            <a:r>
              <a:rPr/>
              <a:t> and </a:t>
            </a:r>
            <a:r>
              <a:rPr>
                <a:latin typeface="Courier"/>
              </a:rPr>
              <a:t>weight_G</a:t>
            </a:r>
            <a:r>
              <a:rPr/>
              <a:t> are two </a:t>
            </a:r>
            <a:r>
              <a:rPr i="1"/>
              <a:t>different</a:t>
            </a:r>
            <a:r>
              <a:rPr/>
              <a:t> objects. Pick one style and stick with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📖 New word</a:t>
            </a:r>
          </a:p>
          <a:p>
            <a:pPr lvl="0" indent="0" marL="0">
              <a:buNone/>
            </a:pPr>
            <a:r>
              <a:rPr b="1"/>
              <a:t>Object</a:t>
            </a:r>
            <a:r>
              <a:rPr/>
              <a:t> (R) = </a:t>
            </a:r>
            <a:r>
              <a:rPr b="1"/>
              <a:t>variable</a:t>
            </a:r>
            <a:r>
              <a:rPr/>
              <a:t> (Excel/other languages). Same idea: a named box that holds something.</a:t>
            </a:r>
          </a:p>
          <a:p>
            <a:pPr lvl="0" indent="0" marL="0">
              <a:buNone/>
            </a:pPr>
            <a:r>
              <a:rPr b="1"/>
              <a:t>✅ Key idea</a:t>
            </a:r>
          </a:p>
          <a:p>
            <a:pPr lvl="0" indent="0" marL="0">
              <a:buNone/>
            </a:pPr>
            <a:r>
              <a:rPr/>
              <a:t>Nouns for objects (</a:t>
            </a:r>
            <a:r>
              <a:rPr>
                <a:latin typeface="Courier"/>
              </a:rPr>
              <a:t>tree_df</a:t>
            </a:r>
            <a:r>
              <a:rPr/>
              <a:t>), verbs for functions (</a:t>
            </a:r>
            <a:r>
              <a:rPr>
                <a:latin typeface="Courier"/>
              </a:rPr>
              <a:t>filter</a:t>
            </a:r>
            <a:r>
              <a:rPr/>
              <a:t>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Leave notes with comments </a:t>
            </a:r>
            <a:r>
              <a:rPr>
                <a:latin typeface="Courier"/>
              </a:rPr>
              <a:t>#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Anything to the right of </a:t>
            </a:r>
            <a:r>
              <a:rPr>
                <a:latin typeface="Courier"/>
              </a:rPr>
              <a:t>#</a:t>
            </a:r>
            <a:r>
              <a:rPr/>
              <a:t> is </a:t>
            </a:r>
            <a:r>
              <a:rPr b="1"/>
              <a:t>ignored by R</a:t>
            </a:r>
            <a:r>
              <a:rPr/>
              <a:t> — it’s a note to humans: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weights of four leaves, in grams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leaf_mass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(leaf_mass)   </a:t>
            </a:r>
            <a:r>
              <a:rPr>
                <a:solidFill>
                  <a:srgbClr val="5E5E5E"/>
                </a:solidFill>
                <a:latin typeface="Courier"/>
              </a:rPr>
              <a:t># average leaf mass</a:t>
            </a:r>
          </a:p>
          <a:p>
            <a:pPr lvl="0"/>
            <a:r>
              <a:rPr/>
              <a:t>Comment generously — your future self will thank you.</a:t>
            </a:r>
          </a:p>
          <a:p>
            <a:pPr lvl="0"/>
            <a:r>
              <a:rPr/>
              <a:t>Shortcut to toggle a line: Ctrl/Cmd + Shift + C.</a:t>
            </a:r>
          </a:p>
          <a:p>
            <a:pPr lvl="0" indent="0" marL="0">
              <a:buNone/>
            </a:pPr>
            <a:r>
              <a:rPr b="1"/>
              <a:t>✅ Key idea</a:t>
            </a:r>
          </a:p>
          <a:p>
            <a:pPr lvl="0" indent="0" marL="0">
              <a:buNone/>
            </a:pPr>
            <a:r>
              <a:rPr/>
              <a:t>If a line confused you while writing it, comment </a:t>
            </a:r>
            <a:r>
              <a:rPr i="1"/>
              <a:t>why</a:t>
            </a:r>
            <a:r>
              <a:rPr/>
              <a:t> you did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📊 Coming from Excel?</a:t>
            </a:r>
          </a:p>
          <a:p>
            <a:pPr lvl="0" indent="0" marL="0">
              <a:buNone/>
            </a:pPr>
            <a:r>
              <a:rPr/>
              <a:t>Comments are like the little notes you scribble in a spreadsheet cell — but they never get in the way of the numbers.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Functions and their arguments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function</a:t>
            </a:r>
            <a:r>
              <a:rPr/>
              <a:t> is a canned script you call by name. You feed it </a:t>
            </a:r>
            <a:r>
              <a:rPr b="1"/>
              <a:t>arguments</a:t>
            </a:r>
            <a:r>
              <a:rPr/>
              <a:t> (inputs); it </a:t>
            </a:r>
            <a:r>
              <a:rPr b="1"/>
              <a:t>returns</a:t>
            </a:r>
            <a:r>
              <a:rPr/>
              <a:t> a result.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              </a:t>
            </a:r>
            <a:r>
              <a:rPr>
                <a:solidFill>
                  <a:srgbClr val="5E5E5E"/>
                </a:solidFill>
                <a:latin typeface="Courier"/>
              </a:rPr>
              <a:t># one argument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)         </a:t>
            </a:r>
            <a:r>
              <a:rPr>
                <a:solidFill>
                  <a:srgbClr val="5E5E5E"/>
                </a:solidFill>
                <a:latin typeface="Courier"/>
              </a:rPr>
              <a:t># default: 0 digits -&gt; 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    </a:t>
            </a:r>
            <a:r>
              <a:rPr>
                <a:solidFill>
                  <a:srgbClr val="5E5E5E"/>
                </a:solidFill>
                <a:latin typeface="Courier"/>
              </a:rPr>
              <a:t># two digits     -&gt; 3.14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digits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named</a:t>
            </a:r>
          </a:p>
          <a:p>
            <a:pPr lvl="0" indent="0" marL="0">
              <a:buNone/>
            </a:pPr>
            <a:r>
              <a:rPr/>
              <a:t>Stuck on a function? Ask 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?round        </a:t>
            </a:r>
            <a:r>
              <a:rPr>
                <a:solidFill>
                  <a:srgbClr val="5E5E5E"/>
                </a:solidFill>
                <a:latin typeface="Courier"/>
              </a:rPr>
              <a:t># open the help page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args</a:t>
            </a:r>
            <a:r>
              <a:rPr>
                <a:solidFill>
                  <a:srgbClr val="003B4F"/>
                </a:solidFill>
                <a:latin typeface="Courier"/>
              </a:rPr>
              <a:t>(round)   </a:t>
            </a:r>
            <a:r>
              <a:rPr>
                <a:solidFill>
                  <a:srgbClr val="5E5E5E"/>
                </a:solidFill>
                <a:latin typeface="Courier"/>
              </a:rPr>
              <a:t># what arguments does it take?</a:t>
            </a:r>
          </a:p>
          <a:p>
            <a:pPr lvl="0" indent="0" marL="0">
              <a:buNone/>
            </a:pPr>
            <a:r>
              <a:rPr b="1"/>
              <a:t>📖 New word</a:t>
            </a:r>
          </a:p>
          <a:p>
            <a:pPr lvl="0" indent="0" marL="0">
              <a:buNone/>
            </a:pPr>
            <a:r>
              <a:rPr b="1"/>
              <a:t>Argument</a:t>
            </a:r>
            <a:r>
              <a:rPr/>
              <a:t> = an input you hand to a function, inside its </a:t>
            </a:r>
            <a:r>
              <a:rPr>
                <a:latin typeface="Courier"/>
              </a:rPr>
              <a:t>( )</a:t>
            </a:r>
            <a:r>
              <a:rPr/>
              <a:t>.</a:t>
            </a:r>
          </a:p>
        </p:txBody>
      </p:sp>
      <p:pic>
        <p:nvPicPr>
          <p:cNvPr descr="images/diagram_fun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28800"/>
            <a:ext cx="2781300" cy="213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Vectors — a row of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vector</a:t>
            </a:r>
            <a:r>
              <a:rPr/>
              <a:t> is a series of values built with </a:t>
            </a:r>
            <a:r>
              <a:rPr>
                <a:latin typeface="Courier"/>
              </a:rPr>
              <a:t>c()</a:t>
            </a:r>
            <a:r>
              <a:rPr/>
              <a:t> (“combine”):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weight_g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numbers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side  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text needs quotes</a:t>
            </a:r>
          </a:p>
          <a:p>
            <a:pPr lvl="0" indent="0" marL="0">
              <a:buNone/>
            </a:pPr>
            <a:r>
              <a:rPr/>
              <a:t>Inspect any vector: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(weight_g)   </a:t>
            </a:r>
            <a:r>
              <a:rPr>
                <a:solidFill>
                  <a:srgbClr val="5E5E5E"/>
                </a:solidFill>
                <a:latin typeface="Courier"/>
              </a:rPr>
              <a:t># how many values?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(weight_g)    </a:t>
            </a:r>
            <a:r>
              <a:rPr>
                <a:solidFill>
                  <a:srgbClr val="5E5E5E"/>
                </a:solidFill>
                <a:latin typeface="Courier"/>
              </a:rPr>
              <a:t># what type?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(weight_g)      </a:t>
            </a:r>
            <a:r>
              <a:rPr>
                <a:solidFill>
                  <a:srgbClr val="5E5E5E"/>
                </a:solidFill>
                <a:latin typeface="Courier"/>
              </a:rPr>
              <a:t># quick structure overview</a:t>
            </a:r>
          </a:p>
          <a:p>
            <a:pPr lvl="0" indent="0" marL="0">
              <a:buNone/>
            </a:pPr>
            <a:r>
              <a:rPr b="1"/>
              <a:t>⚠️ Watch out!</a:t>
            </a:r>
          </a:p>
          <a:p>
            <a:pPr lvl="0" indent="0" marL="0">
              <a:buNone/>
            </a:pPr>
            <a:r>
              <a:rPr/>
              <a:t>Quotes matter: </a:t>
            </a:r>
            <a:r>
              <a:rPr>
                <a:latin typeface="Courier"/>
              </a:rPr>
              <a:t>"sunny"</a:t>
            </a:r>
            <a:r>
              <a:rPr/>
              <a:t> is text. Without quotes, R hunts for an </a:t>
            </a:r>
            <a:r>
              <a:rPr b="1"/>
              <a:t>object</a:t>
            </a:r>
            <a:r>
              <a:rPr/>
              <a:t> named </a:t>
            </a:r>
            <a:r>
              <a:rPr>
                <a:latin typeface="Courier"/>
              </a:rPr>
              <a:t>sunny</a:t>
            </a:r>
            <a:r>
              <a:rPr/>
              <a:t> and errors when it can’t find one.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✅ Key idea</a:t>
            </a:r>
          </a:p>
          <a:p>
            <a:pPr lvl="0" indent="0" marL="0">
              <a:buNone/>
            </a:pPr>
            <a:r>
              <a:rPr/>
              <a:t>A vector is the workhorse of R. A spreadsheet </a:t>
            </a:r>
            <a:r>
              <a:rPr b="1"/>
              <a:t>column</a:t>
            </a:r>
            <a:r>
              <a:rPr/>
              <a:t> is really just a vector.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 live inside vectors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vector holds </a:t>
            </a:r>
            <a:r>
              <a:rPr b="1"/>
              <a:t>one type</a:t>
            </a:r>
            <a:r>
              <a:rPr/>
              <a:t>:</a:t>
            </a:r>
          </a:p>
          <a:p>
            <a:pPr lvl="0"/>
            <a:r>
              <a:rPr>
                <a:latin typeface="Courier"/>
              </a:rPr>
              <a:t>numeric</a:t>
            </a:r>
            <a:r>
              <a:rPr/>
              <a:t> — </a:t>
            </a:r>
            <a:r>
              <a:rPr>
                <a:latin typeface="Courier"/>
              </a:rPr>
              <a:t>4</a:t>
            </a:r>
            <a:r>
              <a:rPr/>
              <a:t>, </a:t>
            </a:r>
            <a:r>
              <a:rPr>
                <a:latin typeface="Courier"/>
              </a:rPr>
              <a:t>3.5</a:t>
            </a:r>
          </a:p>
          <a:p>
            <a:pPr lvl="0"/>
            <a:r>
              <a:rPr>
                <a:latin typeface="Courier"/>
              </a:rPr>
              <a:t>character</a:t>
            </a:r>
            <a:r>
              <a:rPr/>
              <a:t> — </a:t>
            </a:r>
            <a:r>
              <a:rPr>
                <a:latin typeface="Courier"/>
              </a:rPr>
              <a:t>"sunny"</a:t>
            </a:r>
          </a:p>
          <a:p>
            <a:pPr lvl="0"/>
            <a:r>
              <a:rPr>
                <a:latin typeface="Courier"/>
              </a:rPr>
              <a:t>logical</a:t>
            </a:r>
            <a:r>
              <a:rPr/>
              <a:t> — </a:t>
            </a:r>
            <a:r>
              <a:rPr>
                <a:latin typeface="Courier"/>
              </a:rPr>
              <a:t>TRUE</a:t>
            </a:r>
            <a:r>
              <a:rPr/>
              <a:t> / </a:t>
            </a:r>
            <a:r>
              <a:rPr>
                <a:latin typeface="Courier"/>
              </a:rPr>
              <a:t>FALSE</a:t>
            </a:r>
          </a:p>
          <a:p>
            <a:pPr lvl="0"/>
            <a:r>
              <a:rPr>
                <a:latin typeface="Courier"/>
              </a:rPr>
              <a:t>integer</a:t>
            </a:r>
            <a:r>
              <a:rPr/>
              <a:t> — </a:t>
            </a:r>
            <a:r>
              <a:rPr>
                <a:latin typeface="Courier"/>
              </a:rPr>
              <a:t>2L</a:t>
            </a:r>
          </a:p>
          <a:p>
            <a:pPr lvl="0" indent="0" marL="0">
              <a:buNone/>
            </a:pPr>
            <a:r>
              <a:rPr/>
              <a:t>Mix types and R quietly </a:t>
            </a:r>
            <a:r>
              <a:rPr b="1"/>
              <a:t>coerces</a:t>
            </a:r>
            <a:r>
              <a:rPr/>
              <a:t> them all to one: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all become character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   </a:t>
            </a:r>
            <a:r>
              <a:rPr>
                <a:solidFill>
                  <a:srgbClr val="5E5E5E"/>
                </a:solidFill>
                <a:latin typeface="Courier"/>
              </a:rPr>
              <a:t># all become numeric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 b="1"/>
              <a:t>📖 New word</a:t>
            </a:r>
          </a:p>
          <a:p>
            <a:pPr lvl="0" indent="0" marL="0">
              <a:buNone/>
            </a:pPr>
            <a:r>
              <a:rPr b="1"/>
              <a:t>Coercion</a:t>
            </a:r>
            <a:r>
              <a:rPr/>
              <a:t> = R automatically converting everything in a vector to a single shared type.</a:t>
            </a:r>
          </a:p>
        </p:txBody>
      </p:sp>
      <p:pic>
        <p:nvPicPr>
          <p:cNvPr descr="images/diagram_datatyp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4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From console to script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Don’t retype — use a script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console forgets. A </a:t>
            </a:r>
            <a:r>
              <a:rPr b="1"/>
              <a:t>script</a:t>
            </a:r>
            <a:r>
              <a:rPr/>
              <a:t> (</a:t>
            </a:r>
            <a:r>
              <a:rPr>
                <a:latin typeface="Courier"/>
              </a:rPr>
              <a:t>.R</a:t>
            </a:r>
            <a:r>
              <a:rPr/>
              <a:t> file) remembers and re-runs.</a:t>
            </a:r>
          </a:p>
          <a:p>
            <a:pPr lvl="0"/>
            <a:r>
              <a:rPr b="1"/>
              <a:t>File → New File → R File</a:t>
            </a:r>
            <a:r>
              <a:rPr/>
              <a:t> opens </a:t>
            </a:r>
            <a:r>
              <a:rPr>
                <a:latin typeface="Courier"/>
              </a:rPr>
              <a:t>Untitled-1</a:t>
            </a:r>
          </a:p>
          <a:p>
            <a:pPr lvl="0"/>
            <a:r>
              <a:rPr/>
              <a:t>Type your commands, one per line</a:t>
            </a:r>
          </a:p>
          <a:p>
            <a:pPr lvl="0"/>
            <a:r>
              <a:rPr/>
              <a:t>Put the cursor on a line and press Ctrl/Cmd + Enter to run it</a:t>
            </a:r>
          </a:p>
          <a:p>
            <a:pPr lvl="0"/>
            <a:r>
              <a:rPr b="1"/>
              <a:t>Save</a:t>
            </a:r>
            <a:r>
              <a:rPr/>
              <a:t> with Ctrl/Cmd + S — reopen later and rerun everything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   &lt;-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    &lt;-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text &lt;- </a:t>
            </a:r>
            <a:r>
              <a:rPr>
                <a:solidFill>
                  <a:srgbClr val="20794D"/>
                </a:solidFill>
                <a:latin typeface="Courier"/>
              </a:rPr>
              <a:t>"say hello"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y</a:t>
            </a:r>
          </a:p>
          <a:p>
            <a:pPr lvl="0" indent="0" marL="0">
              <a:buNone/>
            </a:pPr>
            <a:r>
              <a:rPr b="1"/>
              <a:t>✅ Key idea</a:t>
            </a:r>
          </a:p>
          <a:p>
            <a:pPr lvl="0" indent="0" marL="0">
              <a:buNone/>
            </a:pPr>
            <a:r>
              <a:rPr/>
              <a:t>Console = scratch paper. Script = the lab notebook you keep.</a:t>
            </a:r>
          </a:p>
        </p:txBody>
      </p:sp>
      <p:pic>
        <p:nvPicPr>
          <p:cNvPr descr="images/paste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03400"/>
            <a:ext cx="2781300" cy="217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Packages vs. libraries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Like apps for your phone, </a:t>
            </a:r>
            <a:r>
              <a:rPr b="1"/>
              <a:t>packages</a:t>
            </a:r>
            <a:r>
              <a:rPr/>
              <a:t> add new abilities to R.</a:t>
            </a:r>
          </a:p>
          <a:p>
            <a:pPr lvl="0"/>
            <a:r>
              <a:rPr b="1"/>
              <a:t>Install once</a:t>
            </a:r>
            <a:r>
              <a:rPr/>
              <a:t> (download the app):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"tidyverse"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"readxl"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 b="1"/>
              <a:t>Load every session</a:t>
            </a:r>
            <a:r>
              <a:rPr/>
              <a:t> (open the app):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</a:t>
            </a:r>
            <a:r>
              <a:rPr>
                <a:solidFill>
                  <a:srgbClr val="5E5E5E"/>
                </a:solidFill>
                <a:latin typeface="Courier"/>
              </a:rPr>
              <a:t># data wrangling + plotting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   </a:t>
            </a:r>
            <a:r>
              <a:rPr>
                <a:solidFill>
                  <a:srgbClr val="5E5E5E"/>
                </a:solidFill>
                <a:latin typeface="Courier"/>
              </a:rPr>
              <a:t># read Excel files</a:t>
            </a:r>
          </a:p>
          <a:p>
            <a:pPr lvl="0" indent="0" marL="0">
              <a:buNone/>
            </a:pPr>
            <a:r>
              <a:rPr b="1"/>
              <a:t>⚠️ Watch out!</a:t>
            </a:r>
          </a:p>
          <a:p>
            <a:pPr lvl="0" indent="0" marL="0">
              <a:buNone/>
            </a:pPr>
            <a:r>
              <a:rPr/>
              <a:t>A common first-day error: forgetting </a:t>
            </a:r>
            <a:r>
              <a:rPr>
                <a:latin typeface="Courier"/>
              </a:rPr>
              <a:t>library(tidyverse)</a:t>
            </a:r>
            <a:r>
              <a:rPr/>
              <a:t>. If R says </a:t>
            </a:r>
            <a:r>
              <a:rPr i="1"/>
              <a:t>“could not find function </a:t>
            </a:r>
            <a:r>
              <a:rPr i="1">
                <a:latin typeface="Courier"/>
              </a:rPr>
              <a:t>read_excel</a:t>
            </a:r>
            <a:r>
              <a:rPr i="1"/>
              <a:t>”</a:t>
            </a:r>
            <a:r>
              <a:rPr/>
              <a:t>, you skipped the </a:t>
            </a:r>
            <a:r>
              <a:rPr>
                <a:latin typeface="Courier"/>
              </a:rPr>
              <a:t>library()</a:t>
            </a:r>
            <a:r>
              <a:rPr/>
              <a:t> line.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📖 New word</a:t>
            </a:r>
          </a:p>
          <a:p>
            <a:pPr lvl="0" indent="0" marL="0">
              <a:buNone/>
            </a:pPr>
            <a:r>
              <a:rPr b="1"/>
              <a:t>Package</a:t>
            </a:r>
            <a:r>
              <a:rPr/>
              <a:t> = the installed toolbox (one time). </a:t>
            </a:r>
            <a:r>
              <a:rPr b="1"/>
              <a:t>Library</a:t>
            </a:r>
            <a:r>
              <a:rPr/>
              <a:t> = loading that toolbox into today’s session (every time).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our tree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Put the Excel file in your project’s </a:t>
            </a:r>
            <a:r>
              <a:rPr>
                <a:latin typeface="Courier"/>
              </a:rPr>
              <a:t>data_raw/</a:t>
            </a:r>
            <a:r>
              <a:rPr/>
              <a:t> folder, then: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read the Excel file into a data frame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"data_raw/2026_06_25_tree_experiment_raw_data.xlsx"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tree_df          </a:t>
            </a:r>
            <a:r>
              <a:rPr>
                <a:solidFill>
                  <a:srgbClr val="5E5E5E"/>
                </a:solidFill>
                <a:latin typeface="Courier"/>
              </a:rPr>
              <a:t># print it to the console</a:t>
            </a:r>
          </a:p>
          <a:p>
            <a:pPr lvl="0" indent="0" marL="0">
              <a:buNone/>
            </a:pPr>
            <a:r>
              <a:rPr b="1"/>
              <a:t>🖐 Try it yourself</a:t>
            </a:r>
          </a:p>
          <a:p>
            <a:pPr lvl="0" indent="0" marL="0">
              <a:buNone/>
            </a:pPr>
            <a:r>
              <a:rPr b="1"/>
              <a:t>What did you name your project folder?</a:t>
            </a:r>
            <a:r>
              <a:rPr/>
              <a:t> </a:t>
            </a:r>
            <a:r>
              <a:rPr b="1"/>
              <a:t>What did you call your script?</a:t>
            </a:r>
            <a:r>
              <a:rPr/>
              <a:t> Write them down — we’ll reuse them all term.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📊 Coming from Excel?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read_excel()</a:t>
            </a:r>
            <a:r>
              <a:rPr/>
              <a:t> is the bridge from your spreadsheet into R. Your sheet’s first row becomes the </a:t>
            </a:r>
            <a:r>
              <a:rPr b="1"/>
              <a:t>column names</a:t>
            </a:r>
            <a:r>
              <a:rPr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data frame</a:t>
            </a:r>
            <a:r>
              <a:rPr/>
              <a:t> is a table: each </a:t>
            </a:r>
            <a:r>
              <a:rPr b="1"/>
              <a:t>column is a vector</a:t>
            </a:r>
            <a:r>
              <a:rPr/>
              <a:t> of one type, and the rows line up.</a:t>
            </a:r>
          </a:p>
          <a:p>
            <a:pPr lvl="0" indent="0" marL="0">
              <a:buNone/>
            </a:pPr>
            <a:r>
              <a:rPr/>
              <a:t>Our </a:t>
            </a:r>
            <a:r>
              <a:rPr>
                <a:latin typeface="Courier"/>
              </a:rPr>
              <a:t>tree_df</a:t>
            </a:r>
            <a:r>
              <a:rPr/>
              <a:t> has five columns:</a:t>
            </a:r>
          </a:p>
          <a:p>
            <a:pPr lvl="0"/>
            <a:r>
              <a:rPr>
                <a:latin typeface="Courier"/>
              </a:rPr>
              <a:t>index</a:t>
            </a:r>
            <a:r>
              <a:rPr/>
              <a:t> — leaf number </a:t>
            </a:r>
            <a:r>
              <a:rPr i="1"/>
              <a:t>(numeric)</a:t>
            </a:r>
          </a:p>
          <a:p>
            <a:pPr lvl="0"/>
            <a:r>
              <a:rPr>
                <a:latin typeface="Courier"/>
              </a:rPr>
              <a:t>side</a:t>
            </a:r>
            <a:r>
              <a:rPr/>
              <a:t> — </a:t>
            </a:r>
            <a:r>
              <a:rPr>
                <a:latin typeface="Courier"/>
              </a:rPr>
              <a:t>"sunny"</a:t>
            </a:r>
            <a:r>
              <a:rPr/>
              <a:t> / </a:t>
            </a:r>
            <a:r>
              <a:rPr>
                <a:latin typeface="Courier"/>
              </a:rPr>
              <a:t>"shady"</a:t>
            </a:r>
            <a:r>
              <a:rPr/>
              <a:t> </a:t>
            </a:r>
            <a:r>
              <a:rPr i="1"/>
              <a:t>(character)</a:t>
            </a:r>
          </a:p>
          <a:p>
            <a:pPr lvl="0"/>
            <a:r>
              <a:rPr>
                <a:latin typeface="Courier"/>
              </a:rPr>
              <a:t>weight_g</a:t>
            </a:r>
            <a:r>
              <a:rPr/>
              <a:t>, </a:t>
            </a:r>
            <a:r>
              <a:rPr>
                <a:latin typeface="Courier"/>
              </a:rPr>
              <a:t>width_cm</a:t>
            </a:r>
            <a:r>
              <a:rPr/>
              <a:t>, </a:t>
            </a:r>
            <a:r>
              <a:rPr>
                <a:latin typeface="Courier"/>
              </a:rPr>
              <a:t>height_cm</a:t>
            </a:r>
            <a:r>
              <a:rPr/>
              <a:t> </a:t>
            </a:r>
            <a:r>
              <a:rPr i="1"/>
              <a:t>(numeric)</a:t>
            </a:r>
          </a:p>
          <a:p>
            <a:pPr lvl="0" indent="0" marL="0">
              <a:buNone/>
            </a:pPr>
            <a:r>
              <a:rPr/>
              <a:t>Pull a single column with </a:t>
            </a:r>
            <a:r>
              <a:rPr>
                <a:latin typeface="Courier"/>
              </a:rPr>
              <a:t>$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tree_df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weight_g     </a:t>
            </a:r>
            <a:r>
              <a:rPr>
                <a:solidFill>
                  <a:srgbClr val="5E5E5E"/>
                </a:solidFill>
                <a:latin typeface="Courier"/>
              </a:rPr>
              <a:t># just the weights, as a vector</a:t>
            </a:r>
          </a:p>
          <a:p>
            <a:pPr lvl="0" indent="0" marL="0">
              <a:buNone/>
            </a:pPr>
            <a:r>
              <a:rPr b="1"/>
              <a:t>📖 New word</a:t>
            </a:r>
          </a:p>
          <a:p>
            <a:pPr lvl="0" indent="0" marL="0">
              <a:buNone/>
            </a:pPr>
            <a:r>
              <a:rPr b="1"/>
              <a:t>Data frame</a:t>
            </a:r>
            <a:r>
              <a:rPr/>
              <a:t> = R’s word for a spreadsheet-style table.</a:t>
            </a:r>
          </a:p>
        </p:txBody>
      </p:sp>
      <p:pic>
        <p:nvPicPr>
          <p:cNvPr descr="images/diagram_datafram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4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at your data before trusting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Always eyeball a new data frame: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(tree_df)     </a:t>
            </a:r>
            <a:r>
              <a:rPr>
                <a:solidFill>
                  <a:srgbClr val="5E5E5E"/>
                </a:solidFill>
                <a:latin typeface="Courier"/>
              </a:rPr>
              <a:t># first 6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tail</a:t>
            </a:r>
            <a:r>
              <a:rPr>
                <a:solidFill>
                  <a:srgbClr val="003B4F"/>
                </a:solidFill>
                <a:latin typeface="Courier"/>
              </a:rPr>
              <a:t>(tree_df)     </a:t>
            </a:r>
            <a:r>
              <a:rPr>
                <a:solidFill>
                  <a:srgbClr val="5E5E5E"/>
                </a:solidFill>
                <a:latin typeface="Courier"/>
              </a:rPr>
              <a:t># last 6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(tree_df)      </a:t>
            </a:r>
            <a:r>
              <a:rPr>
                <a:solidFill>
                  <a:srgbClr val="5E5E5E"/>
                </a:solidFill>
                <a:latin typeface="Courier"/>
              </a:rPr>
              <a:t># rows, columns  -&gt; 20  5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(tree_df)    </a:t>
            </a:r>
            <a:r>
              <a:rPr>
                <a:solidFill>
                  <a:srgbClr val="5E5E5E"/>
                </a:solidFill>
                <a:latin typeface="Courier"/>
              </a:rPr>
              <a:t># column names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(tree_df)      </a:t>
            </a:r>
            <a:r>
              <a:rPr>
                <a:solidFill>
                  <a:srgbClr val="5E5E5E"/>
                </a:solidFill>
                <a:latin typeface="Courier"/>
              </a:rPr>
              <a:t># type of every column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(tree_df)  </a:t>
            </a:r>
            <a:r>
              <a:rPr>
                <a:solidFill>
                  <a:srgbClr val="5E5E5E"/>
                </a:solidFill>
                <a:latin typeface="Courier"/>
              </a:rPr>
              <a:t># min/mean/max per column</a:t>
            </a:r>
          </a:p>
          <a:p>
            <a:pPr lvl="0" indent="0" marL="0">
              <a:buNone/>
            </a:pPr>
            <a:r>
              <a:rPr b="1"/>
              <a:t>🖐 Try it yourself</a:t>
            </a:r>
          </a:p>
          <a:p>
            <a:pPr lvl="0" indent="0" marL="0">
              <a:buNone/>
            </a:pPr>
            <a:r>
              <a:rPr/>
              <a:t>Run </a:t>
            </a:r>
            <a:r>
              <a:rPr>
                <a:latin typeface="Courier"/>
              </a:rPr>
              <a:t>str(tree_df)</a:t>
            </a:r>
            <a:r>
              <a:rPr/>
              <a:t>. </a:t>
            </a:r>
            <a:r>
              <a:rPr b="1"/>
              <a:t>How many rows? What type is </a:t>
            </a:r>
            <a:r>
              <a:rPr b="1">
                <a:latin typeface="Courier"/>
              </a:rPr>
              <a:t>side</a:t>
            </a:r>
            <a:r>
              <a:rPr b="1"/>
              <a:t>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✅ Key idea</a:t>
            </a:r>
          </a:p>
          <a:p>
            <a:pPr lvl="0" indent="0" marL="0">
              <a:buNone/>
            </a:pPr>
            <a:r>
              <a:rPr/>
              <a:t>Check </a:t>
            </a:r>
            <a:r>
              <a:rPr>
                <a:latin typeface="Courier"/>
              </a:rPr>
              <a:t>dim()</a:t>
            </a:r>
            <a:r>
              <a:rPr/>
              <a:t> and </a:t>
            </a:r>
            <a:r>
              <a:rPr>
                <a:latin typeface="Courier"/>
              </a:rPr>
              <a:t>str()</a:t>
            </a:r>
            <a:r>
              <a:rPr/>
              <a:t> every single time you load data. Typos and wrong types hide here.</a:t>
            </a:r>
          </a:p>
          <a:p>
            <a:pPr lvl="0" indent="0" marL="0">
              <a:buNone/>
            </a:pPr>
            <a:r>
              <a:rPr b="1"/>
              <a:t>⚠️ Watch out!</a:t>
            </a:r>
          </a:p>
          <a:p>
            <a:pPr lvl="0" indent="0" marL="0">
              <a:buNone/>
            </a:pPr>
            <a:r>
              <a:rPr/>
              <a:t>If a number column shows as </a:t>
            </a:r>
            <a:r>
              <a:rPr>
                <a:latin typeface="Courier"/>
              </a:rPr>
              <a:t>character</a:t>
            </a:r>
            <a:r>
              <a:rPr/>
              <a:t>, a stray letter or comma snuck into your spreadsheet.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chute</a:t>
            </a:r>
            <a:r>
              <a:rPr/>
              <a:t> </a:t>
            </a:r>
            <a:r>
              <a:rPr>
                <a:latin typeface="Courier"/>
              </a:rPr>
              <a:t>|&gt;</a:t>
            </a:r>
            <a:r>
              <a:rPr/>
              <a:t> — the pipe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pipe</a:t>
            </a:r>
            <a:r>
              <a:rPr/>
              <a:t> sends a result straight into the next command. Read it as the word </a:t>
            </a:r>
            <a:r>
              <a:rPr b="1"/>
              <a:t>“then”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mean_weight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</a:p>
          <a:p>
            <a:pPr lvl="0" indent="0" marL="1270000">
              <a:buNone/>
            </a:pPr>
            <a:r>
              <a:rPr sz="2000"/>
              <a:t>Take </a:t>
            </a:r>
            <a:r>
              <a:rPr sz="2000">
                <a:latin typeface="Courier"/>
              </a:rPr>
              <a:t>tree_df</a:t>
            </a:r>
            <a:r>
              <a:rPr sz="2000"/>
              <a:t>, </a:t>
            </a:r>
            <a:r>
              <a:rPr sz="2000" b="1"/>
              <a:t>then</a:t>
            </a:r>
            <a:r>
              <a:rPr sz="2000"/>
              <a:t> group by side, </a:t>
            </a:r>
            <a:r>
              <a:rPr sz="2000" b="1"/>
              <a:t>then</a:t>
            </a:r>
            <a:r>
              <a:rPr sz="2000"/>
              <a:t> average the weights.</a:t>
            </a:r>
          </a:p>
          <a:p>
            <a:pPr lvl="0" indent="0" marL="0">
              <a:buNone/>
            </a:pPr>
            <a:r>
              <a:rPr b="1"/>
              <a:t>📖 New word</a:t>
            </a:r>
          </a:p>
          <a:p>
            <a:pPr lvl="0" indent="0" marL="0">
              <a:buNone/>
            </a:pPr>
            <a:r>
              <a:rPr b="1"/>
              <a:t>Pipe</a:t>
            </a:r>
            <a:r>
              <a:rPr/>
              <a:t> </a:t>
            </a:r>
            <a:r>
              <a:rPr>
                <a:latin typeface="Courier"/>
              </a:rPr>
              <a:t>|&gt;</a:t>
            </a:r>
            <a:r>
              <a:rPr/>
              <a:t> = “take what’s on the left and feed it to the function on the right.” You may also see </a:t>
            </a:r>
            <a:r>
              <a:rPr>
                <a:latin typeface="Courier"/>
              </a:rPr>
              <a:t>%&gt;%</a:t>
            </a:r>
            <a:r>
              <a:rPr/>
              <a:t> from the tidyverse — same idea.</a:t>
            </a:r>
          </a:p>
        </p:txBody>
      </p:sp>
      <p:pic>
        <p:nvPicPr>
          <p:cNvPr descr="images/diagram_pip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4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Your first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ggplot: build a picture in layers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Plots are built from three core layers, joined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</a:t>
            </a:r>
          </a:p>
          <a:p>
            <a:pPr lvl="0" indent="-342900" marL="342900">
              <a:buAutoNum type="arabicPeriod"/>
            </a:pPr>
            <a:r>
              <a:rPr b="1"/>
              <a:t>data</a:t>
            </a:r>
            <a:r>
              <a:rPr/>
              <a:t> — which data frame </a:t>
            </a:r>
            <a:r>
              <a:rPr i="1"/>
              <a:t>(</a:t>
            </a:r>
            <a:r>
              <a:rPr i="1">
                <a:latin typeface="Courier"/>
              </a:rPr>
              <a:t>tree_df</a:t>
            </a:r>
            <a:r>
              <a:rPr i="1"/>
              <a:t>)</a:t>
            </a:r>
          </a:p>
          <a:p>
            <a:pPr lvl="0" indent="-342900" marL="342900">
              <a:buAutoNum type="arabicPeriod"/>
            </a:pPr>
            <a:r>
              <a:rPr b="1"/>
              <a:t>aes</a:t>
            </a:r>
            <a:r>
              <a:rPr/>
              <a:t> — which columns map to x and y</a:t>
            </a:r>
          </a:p>
          <a:p>
            <a:pPr lvl="0" indent="-342900" marL="342900">
              <a:buAutoNum type="arabicPeriod"/>
            </a:pPr>
            <a:r>
              <a:rPr b="1"/>
              <a:t>geom</a:t>
            </a:r>
            <a:r>
              <a:rPr/>
              <a:t> — how to draw it</a:t>
            </a:r>
          </a:p>
          <a:p>
            <a:pPr lvl="0" indent="0" marL="0">
              <a:buNone/>
            </a:pPr>
            <a:r>
              <a:rPr/>
              <a:t>Add the geom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 b="1"/>
              <a:t>⚠️ Watch out!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+</a:t>
            </a:r>
            <a:r>
              <a:rPr/>
              <a:t> must sit at the </a:t>
            </a:r>
            <a:r>
              <a:rPr b="1"/>
              <a:t>end</a:t>
            </a:r>
            <a:r>
              <a:rPr/>
              <a:t> of a line, never the start. </a:t>
            </a:r>
            <a:r>
              <a:rPr>
                <a:latin typeface="Courier"/>
              </a:rPr>
              <a:t>+</a:t>
            </a:r>
            <a:r>
              <a:rPr/>
              <a:t> at the start = error.</a:t>
            </a:r>
          </a:p>
        </p:txBody>
      </p:sp>
      <p:pic>
        <p:nvPicPr>
          <p:cNvPr descr="images/diagram_ggplot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2349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Improve it one layer at a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Since </a:t>
            </a:r>
            <a:r>
              <a:rPr>
                <a:latin typeface="Courier"/>
              </a:rPr>
              <a:t>side</a:t>
            </a:r>
            <a:r>
              <a:rPr/>
              <a:t> is a category, a </a:t>
            </a:r>
            <a:r>
              <a:rPr b="1"/>
              <a:t>boxplot</a:t>
            </a:r>
            <a:r>
              <a:rPr/>
              <a:t> with the raw points on top tells the story well: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 vs. shady leaves"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🖐 Try it yourself</a:t>
            </a:r>
          </a:p>
          <a:p>
            <a:pPr lvl="0" indent="0" marL="0">
              <a:buNone/>
            </a:pPr>
            <a:r>
              <a:rPr/>
              <a:t>Swap </a:t>
            </a:r>
            <a:r>
              <a:rPr>
                <a:latin typeface="Courier"/>
              </a:rPr>
              <a:t>weight_g</a:t>
            </a:r>
            <a:r>
              <a:rPr/>
              <a:t> for </a:t>
            </a:r>
            <a:r>
              <a:rPr>
                <a:latin typeface="Courier"/>
              </a:rPr>
              <a:t>height_cm</a:t>
            </a:r>
            <a:r>
              <a:rPr/>
              <a:t>. What changes? Now try </a:t>
            </a:r>
            <a:r>
              <a:rPr>
                <a:latin typeface="Courier"/>
              </a:rPr>
              <a:t>geom_violin()</a:t>
            </a:r>
            <a:r>
              <a:rPr/>
              <a:t> instead of </a:t>
            </a:r>
            <a:r>
              <a:rPr>
                <a:latin typeface="Courier"/>
              </a:rPr>
              <a:t>geom_boxplot()</a:t>
            </a:r>
            <a:r>
              <a:rPr/>
              <a:t>.</a:t>
            </a:r>
          </a:p>
        </p:txBody>
      </p:sp>
      <p:pic>
        <p:nvPicPr>
          <p:cNvPr descr="images/paste-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28800"/>
            <a:ext cx="2781300" cy="213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Save your plot and your clean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Store the plot in an object, then save it: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my_plot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"figures/leaf_weight.pdf"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my_plot,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Save a tidy data file too: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20794D"/>
                </a:solidFill>
                <a:latin typeface="Courier"/>
              </a:rPr>
              <a:t>"data_clean/tree_clean.csv"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Or use the </a:t>
            </a:r>
            <a:r>
              <a:rPr b="1"/>
              <a:t>disk icon</a:t>
            </a:r>
            <a:r>
              <a:rPr/>
              <a:t> above the Plots pane → the Save dialog.</a:t>
            </a:r>
          </a:p>
          <a:p>
            <a:pPr lvl="0" indent="0" marL="0">
              <a:buNone/>
            </a:pPr>
            <a:r>
              <a:rPr b="1"/>
              <a:t>⚠️ Watch out!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ggsave()</a:t>
            </a:r>
            <a:r>
              <a:rPr/>
              <a:t> wants the </a:t>
            </a:r>
            <a:r>
              <a:rPr b="1"/>
              <a:t>filename first</a:t>
            </a:r>
            <a:r>
              <a:rPr/>
              <a:t>, then </a:t>
            </a:r>
            <a:r>
              <a:rPr>
                <a:latin typeface="Courier"/>
              </a:rPr>
              <a:t>plot =</a:t>
            </a:r>
            <a:r>
              <a:rPr/>
              <a:t>. Mixing that order is the classic first save error.</a:t>
            </a:r>
          </a:p>
        </p:txBody>
      </p:sp>
      <p:pic>
        <p:nvPicPr>
          <p:cNvPr descr="images/paste-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28800"/>
            <a:ext cx="2781300" cy="213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you can now do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Set up R + Positron and organize a project</a:t>
            </a:r>
          </a:p>
          <a:p>
            <a:pPr lvl="0"/>
            <a:r>
              <a:rPr/>
              <a:t>Use R as a calculator and </a:t>
            </a:r>
            <a:r>
              <a:rPr b="1"/>
              <a:t>store values</a:t>
            </a:r>
            <a:r>
              <a:rPr/>
              <a:t> with </a:t>
            </a:r>
            <a:r>
              <a:rPr>
                <a:latin typeface="Courier"/>
              </a:rPr>
              <a:t>&lt;-</a:t>
            </a:r>
          </a:p>
          <a:p>
            <a:pPr lvl="0"/>
            <a:r>
              <a:rPr/>
              <a:t>Write and run a </a:t>
            </a:r>
            <a:r>
              <a:rPr b="1"/>
              <a:t>script</a:t>
            </a:r>
            <a:r>
              <a:rPr/>
              <a:t>, with comments</a:t>
            </a:r>
          </a:p>
          <a:p>
            <a:pPr lvl="0"/>
            <a:r>
              <a:rPr/>
              <a:t>Call </a:t>
            </a:r>
            <a:r>
              <a:rPr b="1"/>
              <a:t>functions</a:t>
            </a:r>
            <a:r>
              <a:rPr/>
              <a:t> and read their help</a:t>
            </a:r>
          </a:p>
          <a:p>
            <a:pPr lvl="0"/>
            <a:r>
              <a:rPr/>
              <a:t>Build </a:t>
            </a:r>
            <a:r>
              <a:rPr b="1"/>
              <a:t>vectors</a:t>
            </a:r>
            <a:r>
              <a:rPr/>
              <a:t>, know their </a:t>
            </a:r>
            <a:r>
              <a:rPr b="1"/>
              <a:t>types</a:t>
            </a:r>
          </a:p>
          <a:p>
            <a:pPr lvl="0"/>
            <a:r>
              <a:rPr/>
              <a:t>Load Excel data into a </a:t>
            </a:r>
            <a:r>
              <a:rPr b="1"/>
              <a:t>data frame</a:t>
            </a:r>
            <a:r>
              <a:rPr/>
              <a:t> and inspect it</a:t>
            </a:r>
          </a:p>
          <a:p>
            <a:pPr lvl="0"/>
            <a:r>
              <a:rPr/>
              <a:t>Use the </a:t>
            </a:r>
            <a:r>
              <a:rPr b="1"/>
              <a:t>pipe</a:t>
            </a:r>
            <a:r>
              <a:rPr/>
              <a:t> </a:t>
            </a:r>
            <a:r>
              <a:rPr>
                <a:latin typeface="Courier"/>
              </a:rPr>
              <a:t>|&gt;</a:t>
            </a:r>
            <a:r>
              <a:rPr/>
              <a:t> to summarise</a:t>
            </a:r>
          </a:p>
          <a:p>
            <a:pPr lvl="0"/>
            <a:r>
              <a:rPr/>
              <a:t>Make and </a:t>
            </a:r>
            <a:r>
              <a:rPr b="1"/>
              <a:t>save</a:t>
            </a:r>
            <a:r>
              <a:rPr/>
              <a:t> a first </a:t>
            </a:r>
            <a:r>
              <a:rPr>
                <a:latin typeface="Courier"/>
              </a:rPr>
              <a:t>ggplot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✅ Key idea</a:t>
            </a:r>
          </a:p>
          <a:p>
            <a:pPr lvl="0" indent="0" marL="0">
              <a:buNone/>
            </a:pPr>
            <a:r>
              <a:rPr/>
              <a:t>You went from a blank console to a saved figure of </a:t>
            </a:r>
            <a:r>
              <a:rPr b="1"/>
              <a:t>our</a:t>
            </a:r>
            <a:r>
              <a:rPr/>
              <a:t> data. That’s the whole workflow in miniature.</a:t>
            </a:r>
          </a:p>
          <a:p>
            <a:pPr lvl="0" indent="0" marL="0">
              <a:buNone/>
            </a:pPr>
            <a:r>
              <a:rPr b="1"/>
              <a:t>🖐 Try it yourself</a:t>
            </a:r>
          </a:p>
          <a:p>
            <a:pPr lvl="0" indent="0" marL="0">
              <a:buNone/>
            </a:pPr>
            <a:r>
              <a:rPr/>
              <a:t>Before next class: load </a:t>
            </a:r>
            <a:r>
              <a:rPr>
                <a:latin typeface="Courier"/>
              </a:rPr>
              <a:t>tree_df</a:t>
            </a:r>
            <a:r>
              <a:rPr/>
              <a:t>, run </a:t>
            </a:r>
            <a:r>
              <a:rPr>
                <a:latin typeface="Courier"/>
              </a:rPr>
              <a:t>summary()</a:t>
            </a:r>
            <a:r>
              <a:rPr/>
              <a:t>, and make one plot of </a:t>
            </a:r>
            <a:r>
              <a:rPr>
                <a:latin typeface="Courier"/>
              </a:rPr>
              <a:t>width_cm</a:t>
            </a:r>
            <a:r>
              <a:rPr/>
              <a:t> by </a:t>
            </a:r>
            <a:r>
              <a:rPr>
                <a:latin typeface="Courier"/>
              </a:rPr>
              <a:t>side</a:t>
            </a:r>
            <a:r>
              <a:rPr/>
              <a:t>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(it will — that’s normal):</a:t>
            </a:r>
          </a:p>
          <a:p>
            <a:pPr lvl="0"/>
            <a:r>
              <a:rPr>
                <a:latin typeface="Courier"/>
              </a:rPr>
              <a:t>?function_name</a:t>
            </a:r>
            <a:r>
              <a:rPr/>
              <a:t> — the built-in help page</a:t>
            </a:r>
          </a:p>
          <a:p>
            <a:pPr lvl="0"/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/>
            <a:r>
              <a:rPr/>
              <a:t>Check: did you load </a:t>
            </a:r>
            <a:r>
              <a:rPr>
                <a:latin typeface="Courier"/>
              </a:rPr>
              <a:t>library(tidyverse)</a:t>
            </a:r>
            <a:r>
              <a:rPr/>
              <a:t>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+</a:t>
            </a:r>
            <a:r>
              <a:rPr/>
              <a:t>?</a:t>
            </a:r>
          </a:p>
          <a:p>
            <a:pPr lvl="0"/>
            <a:r>
              <a:rPr/>
              <a:t>The </a:t>
            </a:r>
            <a:r>
              <a:rPr b="1"/>
              <a:t>posit/tidyverse cheatsheets</a:t>
            </a:r>
            <a:r>
              <a:rPr/>
              <a:t> are gold</a:t>
            </a:r>
          </a:p>
          <a:p>
            <a:pPr lvl="0"/>
            <a:r>
              <a:rPr/>
              <a:t>Bring the exact error to class or office hours</a:t>
            </a:r>
          </a:p>
          <a:p>
            <a:pPr lvl="0" indent="0" marL="0">
              <a:buNone/>
            </a:pPr>
            <a:r>
              <a:rPr b="1"/>
              <a:t>✅ Key idea</a:t>
            </a:r>
          </a:p>
          <a:p>
            <a:pPr lvl="0" indent="0" marL="0">
              <a:buNone/>
            </a:pPr>
            <a:r>
              <a:rPr/>
              <a:t>Every coder googles error messages daily. Getting stuck isn’t failing — it’s the job.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📊 Coming from Excel?</a:t>
            </a:r>
          </a:p>
          <a:p>
            <a:pPr lvl="0" indent="0" marL="0">
              <a:buNone/>
            </a:pPr>
            <a:r>
              <a:rPr/>
              <a:t>In Excel you fix errors by clicking around. In R you fix them by </a:t>
            </a:r>
            <a:r>
              <a:rPr b="1"/>
              <a:t>reading the message</a:t>
            </a:r>
            <a:r>
              <a:rPr/>
              <a:t> and editing one line. Slower at first, far more powerful soon.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 — Meeting R</dc:title>
  <dc:creator/>
  <cp:keywords/>
  <dcterms:created xsi:type="dcterms:W3CDTF">2026-06-27T00:48:01Z</dcterms:created>
  <dcterms:modified xsi:type="dcterms:W3CDTF">2026-06-27T00:48:01Z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ngines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From the console to your first plot</vt:lpwstr>
  </property>
  <property fmtid="{D5CDD505-2E9C-101B-9397-08002B2CF9AE}" pid="9" name="toc-title">
    <vt:lpwstr>Table of contents</vt:lpwstr>
  </property>
</Properties>
</file>