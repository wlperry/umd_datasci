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.html" TargetMode="Externa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openculture.com/2019/07/napoleons-disastrous-invasion-of-russia-explained-in-an-1869-data-visualization.html" TargetMode="Externa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Review of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Inductive vs deductive reasoning</a:t>
            </a:r>
          </a:p>
          <a:p>
            <a:pPr lvl="0"/>
            <a:r>
              <a:rPr/>
              <a:t>Formulating research questions</a:t>
            </a:r>
          </a:p>
          <a:p>
            <a:pPr lvl="0"/>
            <a:r>
              <a:rPr/>
              <a:t>Accuracy vs precision</a:t>
            </a:r>
          </a:p>
          <a:p>
            <a:pPr lvl="0"/>
            <a:r>
              <a:rPr/>
              <a:t>Data types and classifications</a:t>
            </a:r>
          </a:p>
          <a:p>
            <a:pPr lvl="0"/>
            <a:r>
              <a:rPr/>
              <a:t>Setting up R projects</a:t>
            </a:r>
          </a:p>
          <a:p>
            <a:pPr lvl="0"/>
            <a:r>
              <a:rPr/>
              <a:t>Installing and loading libraries</a:t>
            </a:r>
          </a:p>
          <a:p>
            <a:pPr lvl="0"/>
            <a:r>
              <a:rPr/>
              <a:t>Reading files into R</a:t>
            </a:r>
          </a:p>
          <a:p>
            <a:pPr lvl="0"/>
            <a:r>
              <a:rPr/>
              <a:t>Creating basic graphs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Project Design &amp;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-342900" marL="342900">
              <a:buAutoNum type="arabicPeriod"/>
            </a:pPr>
            <a:r>
              <a:rPr/>
              <a:t>Design a well-organized project</a:t>
            </a:r>
          </a:p>
          <a:p>
            <a:pPr lvl="0" indent="-342900" marL="342900">
              <a:buAutoNum type="arabicPeriod"/>
            </a:pPr>
            <a:r>
              <a:rPr/>
              <a:t>Implement good naming conventions</a:t>
            </a:r>
          </a:p>
          <a:p>
            <a:pPr lvl="1"/>
            <a:r>
              <a:rPr/>
              <a:t>Controlled vocabulary</a:t>
            </a:r>
          </a:p>
          <a:p>
            <a:pPr lvl="1"/>
            <a:r>
              <a:rPr/>
              <a:t>Including units in names</a:t>
            </a:r>
          </a:p>
          <a:p>
            <a:pPr lvl="0" indent="-342900" marL="342900">
              <a:buAutoNum type="arabicPeriod"/>
            </a:pPr>
            <a:r>
              <a:rPr/>
              <a:t>Create and use metadata effectively</a:t>
            </a:r>
          </a:p>
          <a:p>
            <a:pPr lvl="0" indent="-342900" marL="342900">
              <a:buAutoNum type="arabicPeriod"/>
            </a:pPr>
            <a:r>
              <a:rPr/>
              <a:t>Build tidy, well-structured spreadsheets</a:t>
            </a:r>
          </a:p>
          <a:p>
            <a:pPr lvl="0" indent="-342900" marL="342900">
              <a:buAutoNum type="arabicPeriod"/>
            </a:pPr>
            <a:r>
              <a:rPr/>
              <a:t>Understand data repositories</a:t>
            </a:r>
          </a:p>
          <a:p>
            <a:pPr lvl="0" indent="-342900" marL="342900">
              <a:buAutoNum type="arabicPeriod"/>
            </a:pPr>
            <a:r>
              <a:rPr/>
              <a:t>Create effective visualizations with ggplot2</a:t>
            </a:r>
          </a:p>
        </p:txBody>
      </p:sp>
      <p:pic>
        <p:nvPicPr>
          <p:cNvPr descr="images/data_pas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Data: the raw material of science</a:t>
            </a:r>
          </a:p>
          <a:p>
            <a:pPr lvl="0"/>
            <a:r>
              <a:rPr/>
              <a:t>Wide variety of formats, sizes, complexity</a:t>
            </a:r>
          </a:p>
          <a:p>
            <a:pPr lvl="0"/>
            <a:r>
              <a:rPr/>
              <a:t>Data management and curation often under emphasized</a:t>
            </a:r>
          </a:p>
          <a:p>
            <a:pPr lvl="0"/>
            <a:r>
              <a:rPr/>
              <a:t>Good data management: owe it to our funding agencies, colleagues, supervisors, and study systems</a:t>
            </a:r>
          </a:p>
        </p:txBody>
      </p:sp>
      <p:pic>
        <p:nvPicPr>
          <p:cNvPr descr="images/clipboard-280099655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73300"/>
            <a:ext cx="27813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Determine data types</a:t>
            </a:r>
            <a:r>
              <a:rPr/>
              <a:t> you’ll collect</a:t>
            </a:r>
          </a:p>
          <a:p>
            <a:pPr lvl="0" indent="-342900" marL="342900">
              <a:buAutoNum type="arabicPeriod"/>
            </a:pPr>
            <a:r>
              <a:rPr b="1"/>
              <a:t>Establish controlled vocabulary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do_mgl</a:t>
            </a:r>
            <a:r>
              <a:rPr/>
              <a:t> for dissolved oxygen in mg/L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drp_ugl</a:t>
            </a:r>
            <a:r>
              <a:rPr/>
              <a:t> for dissolved reactive phosphorus in μg/L</a:t>
            </a:r>
          </a:p>
          <a:p>
            <a:pPr lvl="0" indent="-342900" marL="342900">
              <a:buAutoNum type="arabicPeriod"/>
            </a:pPr>
            <a:r>
              <a:rPr b="1"/>
              <a:t>Plan your data flow</a:t>
            </a:r>
            <a:r>
              <a:rPr/>
              <a:t> from collection to analysis</a:t>
            </a:r>
          </a:p>
          <a:p>
            <a:pPr lvl="0" indent="-342900" marL="342900">
              <a:buAutoNum type="arabicPeriod"/>
            </a:pPr>
            <a:r>
              <a:rPr b="1"/>
              <a:t>Organize your project structure</a:t>
            </a:r>
            <a:r>
              <a:rPr/>
              <a:t> (folders, files)</a:t>
            </a:r>
          </a:p>
          <a:p>
            <a:pPr lvl="0" indent="-342900" marL="342900">
              <a:buAutoNum type="arabicPeriod"/>
            </a:pPr>
            <a:r>
              <a:rPr b="1"/>
              <a:t>Enter data promptly</a:t>
            </a:r>
            <a:r>
              <a:rPr/>
              <a:t> after collection</a:t>
            </a:r>
          </a:p>
          <a:p>
            <a:pPr lvl="0" indent="-342900" marL="342900">
              <a:buAutoNum type="arabicPeriod"/>
            </a:pPr>
            <a:r>
              <a:rPr b="1"/>
              <a:t>Save in multiple formats</a:t>
            </a:r>
            <a:r>
              <a:rPr/>
              <a:t> (Excel and CSV)</a:t>
            </a:r>
          </a:p>
          <a:p>
            <a:pPr lvl="0" indent="-342900" marL="342900">
              <a:buAutoNum type="arabicPeriod"/>
            </a:pPr>
            <a:r>
              <a:rPr b="1"/>
              <a:t>Ensure tidy data principles</a:t>
            </a:r>
            <a:r>
              <a:rPr/>
              <a:t> from the start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See Hadley Wickham’s </a:t>
            </a:r>
            <a:r>
              <a:rPr sz="2000">
                <a:hlinkClick r:id="rId2"/>
              </a:rPr>
              <a:t>Tidy Data principles</a:t>
            </a:r>
            <a:r>
              <a:rPr sz="2000"/>
              <a:t> for best practices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a </a:t>
            </a:r>
            <a:r>
              <a:rPr b="1"/>
              <a:t>Metadata Sheet</a:t>
            </a:r>
            <a:r>
              <a:rPr/>
              <a:t> that includes:</a:t>
            </a:r>
          </a:p>
          <a:p>
            <a:pPr lvl="0"/>
            <a:r>
              <a:rPr/>
              <a:t>Variable descriptions</a:t>
            </a:r>
          </a:p>
          <a:p>
            <a:pPr lvl="0"/>
            <a:r>
              <a:rPr/>
              <a:t>Units of measurement</a:t>
            </a:r>
          </a:p>
          <a:p>
            <a:pPr lvl="0"/>
            <a:r>
              <a:rPr/>
              <a:t>Collection methods</a:t>
            </a:r>
          </a:p>
          <a:p>
            <a:pPr lvl="0"/>
            <a:r>
              <a:rPr/>
              <a:t>Instrument details</a:t>
            </a:r>
          </a:p>
          <a:p>
            <a:pPr lvl="0"/>
            <a:r>
              <a:rPr/>
              <a:t>Dates and locations</a:t>
            </a:r>
          </a:p>
          <a:p>
            <a:pPr lvl="0"/>
            <a:r>
              <a:rPr/>
              <a:t>Any other relevant contextual information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Pine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Pine Data Organization</a:t>
            </a:r>
          </a:p>
          <a:p>
            <a:pPr lvl="0" indent="0" marL="1270000">
              <a:buNone/>
            </a:pPr>
            <a:r>
              <a:rPr sz="2000"/>
              <a:t>Let’s examine our pine needle data:</a:t>
            </a:r>
          </a:p>
          <a:p>
            <a:pPr lvl="0"/>
            <a:r>
              <a:rPr sz="2000"/>
              <a:t>- What naming conventions did you choose?</a:t>
            </a:r>
          </a:p>
          <a:p>
            <a:pPr lvl="0"/>
            <a:r>
              <a:rPr sz="2000"/>
              <a:t>- How did you organize the data?</a:t>
            </a:r>
          </a:p>
          <a:p>
            <a:pPr lvl="0"/>
            <a:r>
              <a:rPr sz="2000"/>
              <a:t>- How can you verify data formats (numeric vs categorical)?</a:t>
            </a:r>
          </a:p>
          <a:p>
            <a:pPr lvl="0"/>
            <a:r>
              <a:rPr sz="2000"/>
              <a:t>- What’s your plan for organizing outputs and figures?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20
 2 3/20/25 cephalopods n     lee         1        21
 3 3/20/25 cephalopods n     lee         1        23
 4 3/20/25 cephalopods n     lee         1        25
 5 3/20/25 cephalopods n     lee         1        21
 6 3/20/25 cephalopods n     lee         1        16
 7 3/20/25 cephalopods s     wind        1        15
 8 3/20/25 cephalopods s     wind        1        16
 9 3/20/25 cephalopods s     wind        1        14
10 3/20/25 cephalopods s     wind        1        17
# ℹ 38 more rows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Storage and Backup Strategy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Store raw data and metadata securely</a:t>
            </a:r>
          </a:p>
          <a:p>
            <a:pPr lvl="1"/>
            <a:r>
              <a:rPr/>
              <a:t>Save in both Excel and CSV formats</a:t>
            </a:r>
          </a:p>
          <a:p>
            <a:pPr lvl="1"/>
            <a:r>
              <a:rPr/>
              <a:t>Consider write-protecting raw data files</a:t>
            </a:r>
          </a:p>
          <a:p>
            <a:pPr lvl="0" indent="-342900" marL="342900">
              <a:buAutoNum type="arabicPeriod"/>
            </a:pPr>
            <a:r>
              <a:rPr/>
              <a:t>Implement the 3-2-1 backup rule:</a:t>
            </a:r>
          </a:p>
          <a:p>
            <a:pPr lvl="1"/>
            <a:r>
              <a:rPr/>
              <a:t>3 total copies of data</a:t>
            </a:r>
          </a:p>
          <a:p>
            <a:pPr lvl="1"/>
            <a:r>
              <a:rPr/>
              <a:t>2 different storage media</a:t>
            </a:r>
          </a:p>
          <a:p>
            <a:pPr lvl="1"/>
            <a:r>
              <a:rPr/>
              <a:t>1 offsite location (cloud storage)</a:t>
            </a:r>
          </a:p>
          <a:p>
            <a:pPr lvl="0" indent="-342900" marL="342900">
              <a:buAutoNum type="arabicPeriod"/>
            </a:pPr>
            <a:r>
              <a:rPr/>
              <a:t>Establish a regular backup schedule</a:t>
            </a:r>
          </a:p>
        </p:txBody>
      </p:sp>
      <p:pic>
        <p:nvPicPr>
          <p:cNvPr descr="images/clipboard-1271123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Initial Data Inspection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Examine data in the Environment tab</a:t>
            </a:r>
          </a:p>
          <a:p>
            <a:pPr lvl="0" indent="-342900" marL="342900">
              <a:buAutoNum type="arabicPeriod"/>
            </a:pPr>
            <a:r>
              <a:rPr/>
              <a:t>Run summary() and glimpse() functions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Check for outliers, errors, and missing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Specify how to handle missing values during import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"N/A"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"missing"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"null"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a quick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</p:txBody>
      </p:sp>
      <p:pic>
        <p:nvPicPr>
          <p:cNvPr descr="images/clipboard-2475111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Try plotting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Try plotting a histogram of your data</a:t>
            </a:r>
          </a:p>
          <a:p>
            <a:pPr lvl="0" indent="0" marL="1270000">
              <a:buNone/>
            </a:pPr>
            <a:r>
              <a:rPr sz="2000"/>
              <a:t>Create a histogram of pine needle lengths to check the distribution: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Cleaning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Correct errors and inconsistencies</a:t>
            </a:r>
          </a:p>
          <a:p>
            <a:pPr lvl="0" indent="-342900" marL="342900">
              <a:buAutoNum type="arabicPeriod"/>
            </a:pPr>
            <a:r>
              <a:rPr/>
              <a:t>Replace missing values with proper NA codes</a:t>
            </a:r>
          </a:p>
          <a:p>
            <a:pPr lvl="0" indent="-342900" marL="342900">
              <a:buAutoNum type="arabicPeriod"/>
            </a:pPr>
            <a:r>
              <a:rPr/>
              <a:t>Document all changes made to raw data</a:t>
            </a:r>
          </a:p>
          <a:p>
            <a:pPr lvl="0" indent="-342900" marL="342900">
              <a:buAutoNum type="arabicPeriod"/>
            </a:pPr>
            <a:r>
              <a:rPr/>
              <a:t>Save a clean, master version (consider making read-only)</a:t>
            </a:r>
          </a:p>
          <a:p>
            <a:pPr lvl="0" indent="-342900" marL="342900">
              <a:buAutoNum type="arabicPeriod"/>
            </a:pPr>
            <a:r>
              <a:rPr/>
              <a:t>Keep notes on data cleaning procedures</a:t>
            </a:r>
          </a:p>
        </p:txBody>
      </p:sp>
      <p:pic>
        <p:nvPicPr>
          <p:cNvPr descr="images/clipboard-8141853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35200"/>
            <a:ext cx="27813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 and Visualization Workflow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Summarize and transform data as needed</a:t>
            </a:r>
          </a:p>
          <a:p>
            <a:pPr lvl="0" indent="-342900" marL="342900">
              <a:buAutoNum type="arabicPeriod"/>
            </a:pPr>
            <a:r>
              <a:rPr/>
              <a:t>Document all analysis steps</a:t>
            </a:r>
          </a:p>
          <a:p>
            <a:pPr lvl="0" indent="-342900" marL="342900">
              <a:buAutoNum type="arabicPeriod"/>
            </a:pPr>
            <a:r>
              <a:rPr/>
              <a:t>Save outputs systematically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useful way to organize script files is number them in the order they get run.</a:t>
            </a:r>
          </a:p>
        </p:txBody>
      </p:sp>
      <p:pic>
        <p:nvPicPr>
          <p:cNvPr descr="images/clipboard-22049842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685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Effective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make plots?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 in a group and discuss</a:t>
            </a:r>
          </a:p>
          <a:p>
            <a:pPr lvl="0"/>
            <a:r>
              <a:rPr/>
              <a:t>What is the purpose of a data visualization?</a:t>
            </a:r>
          </a:p>
          <a:p>
            <a:pPr lvl="0"/>
            <a:r>
              <a:rPr/>
              <a:t>What elements are essential in an effective plot?</a:t>
            </a:r>
          </a:p>
          <a:p>
            <a:pPr lvl="0"/>
            <a:r>
              <a:rPr/>
              <a:t>What characteristics define a “good” plot?</a:t>
            </a:r>
          </a:p>
          <a:p>
            <a:pPr lvl="0"/>
            <a:r>
              <a:rPr/>
              <a:t>What common mistakes make plots ineffective?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Napoleon’s Disastrous Invasion of Russia Detailed in an 1869 Data Visualization: It’s Been Called “the Best Statistical Graphic Ever Drawn”</a:t>
            </a:r>
          </a:p>
        </p:txBody>
      </p:sp>
      <p:pic>
        <p:nvPicPr>
          <p:cNvPr descr="images/clipboard-170477401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35200"/>
            <a:ext cx="27813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Tables vs. 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readable are tables?</a:t>
            </a:r>
          </a:p>
          <a:p>
            <a:pPr lvl="0" indent="0" marL="0">
              <a:buNone/>
            </a:pPr>
            <a:r>
              <a:rPr/>
              <a:t>We will get to what these number mean and how to make them in the next lecture.</a:t>
            </a:r>
          </a:p>
          <a:p>
            <a:pPr lvl="0"/>
            <a:r>
              <a:rPr/>
              <a:t>Tables</a:t>
            </a:r>
          </a:p>
          <a:p>
            <a:pPr lvl="1"/>
            <a:r>
              <a:rPr/>
              <a:t>are they useful in a presentation?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86723269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sd_mm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min_mms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how does a table compare to a plot?</a:t>
            </a:r>
          </a:p>
          <a:p>
            <a:pPr lvl="0"/>
            <a:r>
              <a:rPr/>
              <a:t>Does this help?</a:t>
            </a:r>
          </a:p>
          <a:p>
            <a:pPr lvl="0"/>
            <a:r>
              <a:rPr/>
              <a:t>What is this plot?</a:t>
            </a:r>
          </a:p>
          <a:p>
            <a:pPr lvl="1"/>
            <a:r>
              <a:rPr/>
              <a:t>if you don’t explain does the audience know?</a:t>
            </a:r>
          </a:p>
        </p:txBody>
      </p:sp>
      <p:pic>
        <p:nvPicPr>
          <p:cNvPr descr="02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Principles of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 indent="-342900" marL="342900">
              <a:buAutoNum type="arabicPeriod"/>
            </a:pPr>
            <a:r>
              <a:rPr b="1"/>
              <a:t>Show the data</a:t>
            </a:r>
            <a:r>
              <a:rPr/>
              <a:t> without distortion</a:t>
            </a:r>
          </a:p>
          <a:p>
            <a:pPr lvl="0" indent="-342900" marL="342900">
              <a:buAutoNum type="arabicPeriod"/>
            </a:pPr>
            <a:r>
              <a:rPr b="1"/>
              <a:t>Maximize data-ink ratio</a:t>
            </a:r>
            <a:r>
              <a:rPr/>
              <a:t> (minimize non-data elements)</a:t>
            </a:r>
          </a:p>
          <a:p>
            <a:pPr lvl="0" indent="-342900" marL="342900">
              <a:buAutoNum type="arabicPeriod"/>
            </a:pPr>
            <a:r>
              <a:rPr b="1"/>
              <a:t>Make large datasets coherent</a:t>
            </a:r>
            <a:r>
              <a:rPr/>
              <a:t> and understandable</a:t>
            </a:r>
          </a:p>
          <a:p>
            <a:pPr lvl="0" indent="-342900" marL="342900">
              <a:buAutoNum type="arabicPeriod"/>
            </a:pPr>
            <a:r>
              <a:rPr b="1"/>
              <a:t>Encourage comparison</a:t>
            </a:r>
            <a:r>
              <a:rPr/>
              <a:t> between elements</a:t>
            </a:r>
          </a:p>
          <a:p>
            <a:pPr lvl="0" indent="-342900" marL="342900">
              <a:buAutoNum type="arabicPeriod"/>
            </a:pPr>
            <a:r>
              <a:rPr b="1"/>
              <a:t>Reveal multiple layers</a:t>
            </a:r>
            <a:r>
              <a:rPr/>
              <a:t> of information</a:t>
            </a:r>
          </a:p>
          <a:p>
            <a:pPr lvl="0" indent="-342900" marL="342900">
              <a:buAutoNum type="arabicPeriod"/>
            </a:pPr>
            <a:r>
              <a:rPr b="1"/>
              <a:t>Serve a clear purpose</a:t>
            </a:r>
            <a:r>
              <a:rPr/>
              <a:t> in telling your story</a:t>
            </a:r>
          </a:p>
          <a:p>
            <a:pPr lvl="0" indent="-342900" marL="342900">
              <a:buAutoNum type="arabicPeriod"/>
            </a:pPr>
            <a:r>
              <a:rPr b="1"/>
              <a:t>Integrate with statistical methods</a:t>
            </a:r>
            <a:r>
              <a:rPr/>
              <a:t> appropriately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7
  group       mean_mm sd_mm     n se_mm conf_low conf_high
  &lt;chr&gt;         &lt;dbl&gt; &lt;dbl&gt; &lt;int&gt; &lt;dbl&gt;    &lt;dbl&gt;     &lt;dbl&gt;
1 cephalopods    18    3.86    12 1.11      15.5      20.5
2 crayfish       18    3.86    12 1.11      15.5      20.5
3 salmon         16.3  3.94    12 1.14      13.8      18.8
4 snail          18.3  2.27    12 0.655     16.9      19.8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Creating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/>
            <a:r>
              <a:rPr/>
              <a:t>To implement these principles:</a:t>
            </a:r>
          </a:p>
          <a:p>
            <a:pPr lvl="1"/>
            <a:r>
              <a:rPr/>
              <a:t>Focus on the data, not decorative elements</a:t>
            </a:r>
          </a:p>
          <a:p>
            <a:pPr lvl="1"/>
            <a:r>
              <a:rPr/>
              <a:t>Ensure proportional representation of numbers</a:t>
            </a:r>
          </a:p>
          <a:p>
            <a:pPr lvl="1"/>
            <a:r>
              <a:rPr/>
              <a:t>Provide clear and informative labels</a:t>
            </a:r>
          </a:p>
          <a:p>
            <a:pPr lvl="1"/>
            <a:r>
              <a:rPr/>
              <a:t>Remove unnecessary elements (“chart junk”)</a:t>
            </a:r>
          </a:p>
          <a:p>
            <a:pPr lvl="1"/>
            <a:r>
              <a:rPr/>
              <a:t>Revise and refine visualizations iteratively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Good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make good graphics:</a:t>
            </a:r>
          </a:p>
          <a:p>
            <a:pPr lvl="0"/>
            <a:r>
              <a:rPr/>
              <a:t>Above all, focus on data</a:t>
            </a:r>
          </a:p>
          <a:p>
            <a:pPr lvl="0"/>
            <a:r>
              <a:rPr/>
              <a:t>Do not distort data</a:t>
            </a:r>
          </a:p>
          <a:p>
            <a:pPr lvl="0"/>
            <a:r>
              <a:rPr/>
              <a:t>Graphical representation of numbers → directly proportional to numbers</a:t>
            </a:r>
          </a:p>
          <a:p>
            <a:pPr lvl="0"/>
            <a:r>
              <a:rPr/>
              <a:t>Strive for clarity through labeling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01_lecture_powerpoint_files/figure-pptx/good-graphics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Poor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Better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  <a:p>
            <a:pPr lvl="0" indent="0" marL="0">
              <a:buNone/>
            </a:pPr>
            <a:r>
              <a:rPr/>
              <a:t>What is one of the most common plots you make all the time?</a:t>
            </a:r>
          </a:p>
        </p:txBody>
      </p:sp>
      <p:pic>
        <p:nvPicPr>
          <p:cNvPr descr="02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Visualization Problems</a:t>
            </a:r>
          </a:p>
          <a:p>
            <a:pPr lvl="0" indent="-342900" marL="342900">
              <a:buAutoNum type="arabicPeriod"/>
            </a:pPr>
            <a:r>
              <a:rPr b="1"/>
              <a:t>Data distortion</a:t>
            </a:r>
            <a:r>
              <a:rPr/>
              <a:t>:</a:t>
            </a:r>
          </a:p>
          <a:p>
            <a:pPr lvl="1"/>
            <a:r>
              <a:rPr/>
              <a:t>Non-zero baselines on bar charts</a:t>
            </a:r>
          </a:p>
          <a:p>
            <a:pPr lvl="1"/>
            <a:r>
              <a:rPr/>
              <a:t>3D effects that skew perspective</a:t>
            </a:r>
          </a:p>
          <a:p>
            <a:pPr lvl="1"/>
            <a:r>
              <a:rPr/>
              <a:t>Inappropriate scales</a:t>
            </a:r>
          </a:p>
          <a:p>
            <a:pPr lvl="0" indent="-342900" marL="342900">
              <a:buAutoNum type="arabicPeriod"/>
            </a:pPr>
            <a:r>
              <a:rPr b="1"/>
              <a:t>Excessive “chart junk”</a:t>
            </a:r>
            <a:r>
              <a:rPr/>
              <a:t>:</a:t>
            </a:r>
          </a:p>
          <a:p>
            <a:pPr lvl="1"/>
            <a:r>
              <a:rPr/>
              <a:t>Too many grid lines</a:t>
            </a:r>
          </a:p>
          <a:p>
            <a:pPr lvl="1"/>
            <a:r>
              <a:rPr/>
              <a:t>Unnecessary decorative elements</a:t>
            </a:r>
          </a:p>
          <a:p>
            <a:pPr lvl="1"/>
            <a:r>
              <a:rPr/>
              <a:t>Redundant information</a:t>
            </a:r>
          </a:p>
          <a:p>
            <a:pPr lvl="0" indent="-342900" marL="342900">
              <a:buAutoNum type="arabicPeriod"/>
            </a:pPr>
            <a:r>
              <a:rPr b="1"/>
              <a:t>Poor color choices</a:t>
            </a:r>
            <a:r>
              <a:rPr/>
              <a:t>:</a:t>
            </a:r>
          </a:p>
          <a:p>
            <a:pPr lvl="1"/>
            <a:r>
              <a:rPr/>
              <a:t>Too many colors</a:t>
            </a:r>
          </a:p>
          <a:p>
            <a:pPr lvl="1"/>
            <a:r>
              <a:rPr/>
              <a:t>Non-colorblind-friendly palettes</a:t>
            </a:r>
          </a:p>
          <a:p>
            <a:pPr lvl="1"/>
            <a:r>
              <a:rPr/>
              <a:t>Colors that don’t print well in grayscale</a:t>
            </a:r>
          </a:p>
          <a:p>
            <a:pPr lvl="0" indent="-342900" marL="342900">
              <a:buAutoNum type="arabicPeriod"/>
            </a:pPr>
            <a:r>
              <a:rPr b="1"/>
              <a:t>Misleading representations</a:t>
            </a:r>
            <a:r>
              <a:rPr/>
              <a:t>:</a:t>
            </a:r>
          </a:p>
          <a:p>
            <a:pPr lvl="1"/>
            <a:r>
              <a:rPr/>
              <a:t>Pie charts with too many categories</a:t>
            </a:r>
          </a:p>
          <a:p>
            <a:pPr lvl="1"/>
            <a:r>
              <a:rPr/>
              <a:t>Dual y-axes with different scales</a:t>
            </a:r>
          </a:p>
          <a:p>
            <a:pPr lvl="1"/>
            <a:r>
              <a:rPr/>
              <a:t>Truncated axes without clear indication</a:t>
            </a:r>
          </a:p>
        </p:txBody>
      </p:sp>
      <p:pic>
        <p:nvPicPr>
          <p:cNvPr descr="02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Basic Plots with Pine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Lets try some plots with pine data first</a:t>
            </a:r>
          </a:p>
          <a:p>
            <a:pPr lvl="0" indent="0" marL="1270000">
              <a:buNone/>
            </a:pPr>
            <a:r>
              <a:rPr sz="2000"/>
              <a:t>Lets try to make some basic plots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Colors, Shapes, and Fills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OK we are closer but what about colors or shape or fills</a:t>
            </a:r>
          </a:p>
          <a:p>
            <a:pPr lvl="0" indent="0" marL="1270000">
              <a:buNone/>
            </a:pPr>
            <a:r>
              <a:rPr sz="2000"/>
              <a:t>Lets try to make some more basic plots</a:t>
            </a:r>
          </a:p>
          <a:p>
            <a:pPr lvl="0" indent="0" marL="1270000">
              <a:buNone/>
            </a:pPr>
            <a:r>
              <a:rPr sz="2000"/>
              <a:t>This is free time - we will free code this….</a:t>
            </a:r>
          </a:p>
          <a:p>
            <a:pPr lvl="0" indent="0" marL="1270000">
              <a:buNone/>
            </a:pPr>
            <a:r>
              <a:rPr sz="2000"/>
              <a:t>Below are some examples of code you will need for the future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Introduction to the Grammar of Graphics - ggPLOT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learn the anatomy of a GGplot is layers</a:t>
            </a:r>
          </a:p>
          <a:p>
            <a:pPr lvl="0"/>
            <a:r>
              <a:rPr/>
              <a:t>ggplot2 uses a </a:t>
            </a:r>
            <a:r>
              <a:rPr b="1"/>
              <a:t>layered grammar of graphics</a:t>
            </a:r>
            <a:r>
              <a:rPr/>
              <a:t> approach:</a:t>
            </a:r>
          </a:p>
          <a:p>
            <a:pPr lvl="1" indent="-342900" marL="685800">
              <a:buAutoNum type="arabicPeriod"/>
            </a:pPr>
            <a:r>
              <a:rPr b="1"/>
              <a:t>Data</a:t>
            </a:r>
            <a:r>
              <a:rPr/>
              <a:t>: The dataset you’re visualizing</a:t>
            </a:r>
          </a:p>
          <a:p>
            <a:pPr lvl="1" indent="-342900" marL="685800">
              <a:buAutoNum type="arabicPeriod"/>
            </a:pPr>
            <a:r>
              <a:rPr b="1"/>
              <a:t>Aesthetics</a:t>
            </a:r>
            <a:r>
              <a:rPr/>
              <a:t>: Mapping variables to visual properties</a:t>
            </a:r>
          </a:p>
          <a:p>
            <a:pPr lvl="1" indent="-342900" marL="685800">
              <a:buAutoNum type="arabicPeriod"/>
            </a:pPr>
            <a:r>
              <a:rPr b="1"/>
              <a:t>Geometries</a:t>
            </a:r>
            <a:r>
              <a:rPr/>
              <a:t>: The visual elements representing data</a:t>
            </a:r>
          </a:p>
          <a:p>
            <a:pPr lvl="1" indent="-342900" marL="685800">
              <a:buAutoNum type="arabicPeriod"/>
            </a:pPr>
            <a:r>
              <a:rPr b="1"/>
              <a:t>Facets</a:t>
            </a:r>
            <a:r>
              <a:rPr/>
              <a:t>: Splitting visualization into subplots</a:t>
            </a:r>
          </a:p>
          <a:p>
            <a:pPr lvl="1" indent="-342900" marL="685800">
              <a:buAutoNum type="arabicPeriod"/>
            </a:pPr>
            <a:r>
              <a:rPr b="1"/>
              <a:t>Statistics</a:t>
            </a:r>
            <a:r>
              <a:rPr/>
              <a:t>: Statistical transformations of the data</a:t>
            </a:r>
          </a:p>
          <a:p>
            <a:pPr lvl="1" indent="-342900" marL="685800">
              <a:buAutoNum type="arabicPeriod"/>
            </a:pPr>
            <a:r>
              <a:rPr b="1"/>
              <a:t>Coordinates</a:t>
            </a:r>
            <a:r>
              <a:rPr/>
              <a:t>: The space in which data is plotted</a:t>
            </a:r>
          </a:p>
          <a:p>
            <a:pPr lvl="1" indent="-342900" marL="685800">
              <a:buAutoNum type="arabicPeriod"/>
            </a:pPr>
            <a:r>
              <a:rPr b="1"/>
              <a:t>Themes</a:t>
            </a:r>
            <a:r>
              <a:rPr/>
              <a:t>: Overall visual style of the plotWe have aesthetics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Building a ggplot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Aesthetics (aes)</a:t>
            </a:r>
            <a:r>
              <a:rPr/>
              <a:t> map variables to visual properties:</a:t>
            </a:r>
          </a:p>
          <a:p>
            <a:pPr lvl="1"/>
            <a:r>
              <a:rPr/>
              <a:t>x and y positions</a:t>
            </a:r>
          </a:p>
          <a:p>
            <a:pPr lvl="1"/>
            <a:r>
              <a:rPr/>
              <a:t>color, fill, shape, size, alpha</a:t>
            </a:r>
          </a:p>
          <a:p>
            <a:pPr lvl="1"/>
            <a:r>
              <a:rPr/>
              <a:t>group, linetype</a:t>
            </a:r>
          </a:p>
          <a:p>
            <a:pPr lvl="0" indent="-342900" marL="342900">
              <a:buAutoNum type="arabicPeriod"/>
            </a:pPr>
            <a:r>
              <a:rPr/>
              <a:t>**Geometries (geom_*)** determine how data is displayed:</a:t>
            </a:r>
          </a:p>
          <a:p>
            <a:pPr lvl="1"/>
            <a:r>
              <a:rPr>
                <a:latin typeface="Courier"/>
              </a:rPr>
              <a:t>geom_point()</a:t>
            </a:r>
            <a:r>
              <a:rPr/>
              <a:t>: Scatter plots</a:t>
            </a:r>
          </a:p>
          <a:p>
            <a:pPr lvl="1"/>
            <a:r>
              <a:rPr>
                <a:latin typeface="Courier"/>
              </a:rPr>
              <a:t>geom_line()</a:t>
            </a:r>
            <a:r>
              <a:rPr/>
              <a:t>: Line graphs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: Box-and-whisker plots</a:t>
            </a:r>
          </a:p>
          <a:p>
            <a:pPr lvl="1"/>
            <a:r>
              <a:rPr>
                <a:latin typeface="Courier"/>
              </a:rPr>
              <a:t>geom_violin()</a:t>
            </a:r>
            <a:r>
              <a:rPr/>
              <a:t>: Violin plots</a:t>
            </a:r>
          </a:p>
          <a:p>
            <a:pPr lvl="1"/>
            <a:r>
              <a:rPr>
                <a:latin typeface="Courier"/>
              </a:rPr>
              <a:t>geom_histogram()</a:t>
            </a:r>
            <a:r>
              <a:rPr/>
              <a:t>: Histograms</a:t>
            </a:r>
          </a:p>
          <a:p>
            <a:pPr lvl="1"/>
            <a:r>
              <a:rPr>
                <a:latin typeface="Courier"/>
              </a:rPr>
              <a:t>geom_bar()</a:t>
            </a:r>
            <a:r>
              <a:rPr/>
              <a:t>: Bar charts</a:t>
            </a:r>
          </a:p>
          <a:p>
            <a:pPr lvl="0" indent="-342900" marL="342900">
              <a:buAutoNum type="arabicPeriod"/>
            </a:pPr>
            <a:r>
              <a:rPr b="1"/>
              <a:t>Position adjustments</a:t>
            </a:r>
            <a:r>
              <a:rPr/>
              <a:t> control how elements are arranged:</a:t>
            </a:r>
          </a:p>
          <a:p>
            <a:pPr lvl="1"/>
            <a:r>
              <a:rPr>
                <a:latin typeface="Courier"/>
              </a:rPr>
              <a:t>position_dodge()</a:t>
            </a:r>
            <a:r>
              <a:rPr/>
              <a:t>: Side-by-side elements</a:t>
            </a:r>
          </a:p>
          <a:p>
            <a:pPr lvl="1"/>
            <a:r>
              <a:rPr>
                <a:latin typeface="Courier"/>
              </a:rPr>
              <a:t>position_jitter()</a:t>
            </a:r>
            <a:r>
              <a:rPr/>
              <a:t>: Add random noise to points</a:t>
            </a:r>
          </a:p>
          <a:p>
            <a:pPr lvl="1"/>
            <a:r>
              <a:rPr>
                <a:latin typeface="Courier"/>
              </a:rPr>
              <a:t>position_stack()</a:t>
            </a:r>
            <a:r>
              <a:rPr/>
              <a:t>: Stack elements on top of each other</a:t>
            </a:r>
          </a:p>
          <a:p>
            <a:pPr lvl="0" indent="-342900" marL="342900">
              <a:buAutoNum type="arabicPeriod"/>
            </a:pPr>
            <a:r>
              <a:rPr b="1"/>
              <a:t>Labels and annotations</a:t>
            </a:r>
            <a:r>
              <a:rPr/>
              <a:t> provide context:</a:t>
            </a:r>
          </a:p>
          <a:p>
            <a:pPr lvl="1"/>
            <a:r>
              <a:rPr>
                <a:latin typeface="Courier"/>
              </a:rPr>
              <a:t>labs()</a:t>
            </a:r>
            <a:r>
              <a:rPr/>
              <a:t>: Title, subtitle, caption, axis labels</a:t>
            </a:r>
          </a:p>
          <a:p>
            <a:pPr lvl="1"/>
            <a:r>
              <a:rPr>
                <a:latin typeface="Courier"/>
              </a:rPr>
              <a:t>annotate()</a:t>
            </a:r>
            <a:r>
              <a:rPr/>
              <a:t>: Add text, shapes, etc.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Fine-tuning your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Colors, fills, and shapes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scale_color_manual(
  values = c("wind" = "darkblue", "lee" = "darkred"),
  labels = c("wind" = "Windward", "lee" = "Leeward")
)</a:t>
            </a:r>
          </a:p>
          <a:p>
            <a:pPr lvl="0" indent="-342900" marL="342900">
              <a:buAutoNum type="arabicPeriod"/>
            </a:pPr>
            <a:r>
              <a:rPr b="1"/>
              <a:t>Coordinate systems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coord_cartesian(ylim = c(10, 30))  # Zoom in without dropping data</a:t>
            </a:r>
          </a:p>
          <a:p>
            <a:pPr lvl="0" indent="-342900" marL="342900">
              <a:buAutoNum type="arabicPeriod"/>
            </a:pPr>
            <a:r>
              <a:rPr b="1"/>
              <a:t>Themes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theme_minimal() +
theme(
  axis.title = element_text(size = 14),
  legend.position = "bottom"
)</a:t>
            </a:r>
          </a:p>
          <a:p>
            <a:pPr lvl="0" indent="-342900" marL="342900">
              <a:buAutoNum type="arabicPeriod"/>
            </a:pPr>
            <a:r>
              <a:rPr b="1"/>
              <a:t>Combining plots with patchwork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plot1 + plot2 + plot_layout(ncol = 2)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Publication-Quality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Creating a Publication-Quality Plot</a:t>
            </a:r>
          </a:p>
          <a:p>
            <a:pPr lvl="0" indent="0" marL="1270000">
              <a:buNone/>
            </a:pPr>
            <a:r>
              <a:rPr sz="2000"/>
              <a:t>Create a fully customized plot that would be suitable for publication: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Create a publication-quality plot
pine_df %&gt;%
  ggplot(aes(x = wind, y = length_mm, fill = wind)) +
  geom_violin(alpha = 0.4) +
  geom_boxplot(width = 0.2, alpha = 0.7, outlier.shape = NA) +
  geom_jitter(width = 0.1, alpha = 0.5, color = "gray30", size = 2) +
  stat_summary(fun = mean, geom = "point", shape = 23, size = 3, fill = "white") +
  labs(
    title = "Pine Needle Length Varies with Wind Exposure",
    subtitle = "Needles on the leeward side tend to be longer",
    x = "Tree Side", 
    y = "Needle Length (mm)",
    caption = "Data collected Spring 2023") +
  scale_fill_manual(
    values = c("wind" = "#1b9e77", "lee" = "#d95f02"),
    labels = c("wind" = "Windward", "lee" = "Leeward")) +
  theme_minimal() +
  theme(
    plot.title = element_text(face = "bold", size = 16),
    plot.subtitle = element_text(size = 12, color = "gray30"),
    axis.title = element_text(face = "bold"),
    legend.title = element_blank(),
    legend.position = "bottom")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Plan your data management</a:t>
            </a:r>
            <a:r>
              <a:rPr/>
              <a:t> from the beginning</a:t>
            </a:r>
          </a:p>
          <a:p>
            <a:pPr lvl="1"/>
            <a:r>
              <a:rPr/>
              <a:t>Consistent naming conventions</a:t>
            </a:r>
          </a:p>
          <a:p>
            <a:pPr lvl="1"/>
            <a:r>
              <a:rPr/>
              <a:t>Good organization</a:t>
            </a:r>
          </a:p>
          <a:p>
            <a:pPr lvl="1"/>
            <a:r>
              <a:rPr/>
              <a:t>Regular backups</a:t>
            </a:r>
          </a:p>
          <a:p>
            <a:pPr lvl="0" indent="-342900" marL="342900">
              <a:buAutoNum type="arabicPeriod"/>
            </a:pPr>
            <a:r>
              <a:rPr b="1"/>
              <a:t>Make your data tidy</a:t>
            </a:r>
            <a:r>
              <a:rPr/>
              <a:t> from the start</a:t>
            </a:r>
          </a:p>
          <a:p>
            <a:pPr lvl="1"/>
            <a:r>
              <a:rPr/>
              <a:t>One observation per row</a:t>
            </a:r>
          </a:p>
          <a:p>
            <a:pPr lvl="1"/>
            <a:r>
              <a:rPr/>
              <a:t>One variable per column</a:t>
            </a:r>
          </a:p>
          <a:p>
            <a:pPr lvl="1"/>
            <a:r>
              <a:rPr/>
              <a:t>One value per cell</a:t>
            </a:r>
          </a:p>
          <a:p>
            <a:pPr lvl="0" indent="-342900" marL="342900">
              <a:buAutoNum type="arabicPeriod"/>
            </a:pPr>
            <a:r>
              <a:rPr b="1"/>
              <a:t>Create effective visualizations</a:t>
            </a:r>
            <a:r>
              <a:rPr/>
              <a:t> by:</a:t>
            </a:r>
          </a:p>
          <a:p>
            <a:pPr lvl="1"/>
            <a:r>
              <a:rPr/>
              <a:t>Focusing on data, not decoration</a:t>
            </a:r>
          </a:p>
          <a:p>
            <a:pPr lvl="1"/>
            <a:r>
              <a:rPr/>
              <a:t>Using appropriate plot types</a:t>
            </a:r>
          </a:p>
          <a:p>
            <a:pPr lvl="1"/>
            <a:r>
              <a:rPr/>
              <a:t>Following good design principles</a:t>
            </a:r>
          </a:p>
          <a:p>
            <a:pPr lvl="1"/>
            <a:r>
              <a:rPr/>
              <a:t>Customizing for clear communication</a:t>
            </a:r>
          </a:p>
          <a:p>
            <a:pPr lvl="0" indent="-342900" marL="342900">
              <a:buAutoNum type="arabicPeriod"/>
            </a:pPr>
            <a:r>
              <a:rPr b="1"/>
              <a:t>Master the grammar of graphics</a:t>
            </a:r>
            <a:r>
              <a:rPr/>
              <a:t> to:</a:t>
            </a:r>
          </a:p>
          <a:p>
            <a:pPr lvl="1"/>
            <a:r>
              <a:rPr/>
              <a:t>Build plots layer by layer</a:t>
            </a:r>
          </a:p>
          <a:p>
            <a:pPr lvl="1"/>
            <a:r>
              <a:rPr/>
              <a:t>Communicate patterns clearly</a:t>
            </a:r>
          </a:p>
          <a:p>
            <a:pPr lvl="1"/>
            <a:r>
              <a:rPr/>
              <a:t>Tell compelling stories with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Practice creating different types of plots</a:t>
            </a:r>
          </a:p>
          <a:p>
            <a:pPr lvl="0"/>
            <a:r>
              <a:rPr/>
              <a:t>Learn to combine multiple plots effectively</a:t>
            </a:r>
          </a:p>
          <a:p>
            <a:pPr lvl="0"/>
            <a:r>
              <a:rPr/>
              <a:t>Explore statistical transformations in ggplot2</a:t>
            </a:r>
          </a:p>
          <a:p>
            <a:pPr lvl="0"/>
            <a:r>
              <a:rPr/>
              <a:t>Develop a consistent visualization style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</dc:title>
  <dc:creator>Bill Perry</dc:creator>
  <cp:keywords/>
  <dcterms:created xsi:type="dcterms:W3CDTF">2026-05-04T16:02:01Z</dcterms:created>
  <dcterms:modified xsi:type="dcterms:W3CDTF">2026-05-04T16:02:01Z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