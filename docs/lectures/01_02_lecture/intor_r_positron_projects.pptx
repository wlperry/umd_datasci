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posit.co/resources/cheatsheet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 to R and Positron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R, Positron and Projects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column names, units, clean sheet design</a:t>
            </a:r>
          </a:p>
          <a:p>
            <a:pPr lvl="0"/>
            <a:r>
              <a:rPr b="1"/>
              <a:t>Installed</a:t>
            </a:r>
            <a:r>
              <a:rPr/>
              <a:t> R and Positron before today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oriented — the four panes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</a:t>
            </a:r>
            <a:r>
              <a:rPr b="1">
                <a:latin typeface="Courier"/>
              </a:rPr>
              <a:t>&lt;-</a:t>
            </a:r>
            <a:r>
              <a:rPr/>
              <a:t> the assignment operator - alligator eats the minus sign…</a:t>
            </a:r>
          </a:p>
          <a:p>
            <a:pPr lvl="1"/>
            <a:r>
              <a:rPr b="1"/>
              <a:t>values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1"/>
            <a:r>
              <a:rPr/>
              <a:t>writing a </a:t>
            </a:r>
            <a:r>
              <a:rPr b="1"/>
              <a:t>script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real code on </a:t>
            </a:r>
            <a:r>
              <a:rPr sz="2000" b="1"/>
              <a:t>our</a:t>
            </a:r>
            <a:r>
              <a:rPr sz="2000"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</a:t>
            </a:r>
          </a:p>
          <a:p>
            <a:pPr lvl="0"/>
            <a:r>
              <a:rPr/>
              <a:t>We drive that engine through an </a:t>
            </a:r>
            <a:r>
              <a:rPr b="1"/>
              <a:t>IDE</a:t>
            </a:r>
            <a:r>
              <a:rPr/>
              <a:t> (a code editor)</a:t>
            </a:r>
          </a:p>
          <a:p>
            <a:pPr lvl="0"/>
            <a:r>
              <a:rPr/>
              <a:t>Two good IDEs — you may try both:</a:t>
            </a:r>
          </a:p>
          <a:p>
            <a:pPr lvl="1"/>
            <a:r>
              <a:rPr b="1"/>
              <a:t>Positron</a:t>
            </a:r>
            <a:r>
              <a:rPr/>
              <a:t> — what we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</a:t>
            </a:r>
            <a:r>
              <a:rPr sz="2000" i="1"/>
              <a:t>Integrated Development Environment</a:t>
            </a:r>
            <a:r>
              <a:rPr sz="2000"/>
              <a:t>. Think of R as the car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data/          ← your Excel and CSV files
├── scripts/       ← your .R code files
└── figures/       ← plots you save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</a:t>
            </a:r>
          </a:p>
          <a:p>
            <a:pPr lvl="0"/>
            <a:r>
              <a:rPr/>
              <a:t>Every path is then </a:t>
            </a:r>
            <a:r>
              <a:rPr b="1"/>
              <a:t>relative</a:t>
            </a:r>
            <a:r>
              <a:rPr/>
              <a:t>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/>
            <a:r>
              <a:rPr sz="2000"/>
              <a:t>In Excel you keep one big file and it can be hard to figure out what was done and how</a:t>
            </a:r>
          </a:p>
          <a:p>
            <a:pPr lvl="0"/>
            <a:r>
              <a:rPr sz="2000"/>
              <a:t>In R we keep </a:t>
            </a:r>
            <a:r>
              <a:rPr sz="2000" b="1"/>
              <a:t>raw data untouched</a:t>
            </a:r>
            <a:r>
              <a:rPr sz="2000"/>
              <a:t> and</a:t>
            </a:r>
          </a:p>
          <a:p>
            <a:pPr lvl="1"/>
            <a:r>
              <a:rPr sz="2000"/>
              <a:t>write </a:t>
            </a:r>
            <a:r>
              <a:rPr sz="2000" i="1"/>
              <a:t>new</a:t>
            </a:r>
            <a:r>
              <a:rPr sz="2000"/>
              <a:t> processed files</a:t>
            </a:r>
          </a:p>
          <a:p>
            <a:pPr lvl="2"/>
            <a:r>
              <a:rPr sz="2000"/>
              <a:t>— so you can </a:t>
            </a:r>
            <a:r>
              <a:rPr sz="2000" b="1"/>
              <a:t>always trace your steps</a:t>
            </a:r>
            <a:r>
              <a:rPr sz="2000"/>
              <a:t> and n</a:t>
            </a:r>
            <a:r>
              <a:rPr sz="2000" b="1"/>
              <a:t>ever overwrite your original numbers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 will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 when you have a script open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 have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/>
            <a:r>
              <a:rPr sz="2000"/>
              <a:t>Find each pane on your screen now.</a:t>
            </a:r>
          </a:p>
          <a:p>
            <a:pPr lvl="0"/>
            <a:r>
              <a:rPr sz="2000"/>
              <a:t>Click the </a:t>
            </a:r>
            <a:r>
              <a:rPr sz="2000" b="1"/>
              <a:t>Console</a:t>
            </a:r>
            <a:r>
              <a:rPr sz="2000"/>
              <a:t> tab — that is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 is the answer?” questions.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>
                <a:latin typeface="Courier"/>
              </a:rPr>
              <a:t>+</a:t>
            </a:r>
            <a:r>
              <a:rPr sz="2000"/>
              <a:t> at the start of the console line means R is </a:t>
            </a:r>
            <a:r>
              <a:rPr sz="2000" b="1"/>
              <a:t>still waiting</a:t>
            </a:r>
            <a:r>
              <a:rPr sz="2000"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just like typing </a:t>
            </a:r>
            <a:r>
              <a:rPr sz="2000">
                <a:latin typeface="Courier"/>
              </a:rPr>
              <a:t>=3+5</a:t>
            </a:r>
            <a:r>
              <a:rPr sz="2000"/>
              <a:t> into an Excel cell — except there are no cells, just a line you type and run.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 with </a:t>
            </a:r>
            <a:r>
              <a:rPr>
                <a:latin typeface="Courier"/>
              </a:rPr>
              <a:t>&lt;-</a:t>
            </a:r>
            <a:r>
              <a:rPr/>
              <a:t> assignment operator - alligators eats minus 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into your </a:t>
            </a:r>
            <a:r>
              <a:rPr b="1"/>
              <a:t>environment</a:t>
            </a:r>
            <a:r>
              <a:rPr/>
              <a:t> (look in the Variables pane!)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Assignment operator</a:t>
            </a:r>
            <a:r>
              <a:rPr sz="2000"/>
              <a:t> </a:t>
            </a:r>
            <a:r>
              <a:rPr sz="2000">
                <a:latin typeface="Courier"/>
              </a:rPr>
              <a:t>&lt;-</a:t>
            </a:r>
            <a:r>
              <a:rPr sz="2000"/>
              <a:t> “puts the thing on right and stores it in the name on left.” not always the same as =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weight_g</a:t>
            </a:r>
            <a:r>
              <a:rPr/>
              <a:t> ≠ </a:t>
            </a:r>
            <a:r>
              <a:rPr>
                <a:latin typeface="Courier"/>
              </a:rPr>
              <a:t>Weight_g</a:t>
            </a:r>
          </a:p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 — words separated by underscores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LeafMass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works but avoid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leaf.mass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avoid dots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weight_g</a:t>
            </a:r>
            <a:r>
              <a:rPr sz="2000"/>
              <a:t> and </a:t>
            </a:r>
            <a:r>
              <a:rPr sz="2000">
                <a:latin typeface="Courier"/>
              </a:rPr>
              <a:t>weight_G</a:t>
            </a:r>
            <a:r>
              <a:rPr sz="2000"/>
              <a:t> are two </a:t>
            </a:r>
            <a:r>
              <a:rPr sz="2000" i="1"/>
              <a:t>different</a:t>
            </a:r>
            <a:r>
              <a:rPr sz="2000"/>
              <a:t> objects. Pick one style and stick with it. I </a:t>
            </a:r>
            <a:r>
              <a:rPr sz="2000" b="1"/>
              <a:t>URGE</a:t>
            </a:r>
            <a:r>
              <a:rPr sz="2000"/>
              <a:t> you to use lower case and _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(R) = </a:t>
            </a:r>
            <a:r>
              <a:rPr sz="2000" b="1"/>
              <a:t>variable</a:t>
            </a:r>
            <a:r>
              <a:rPr sz="2000"/>
              <a:t> (Excel/other languages). Same idea: a named container that holds something.</a:t>
            </a:r>
          </a:p>
          <a:p>
            <a:pPr lvl="0"/>
            <a:r>
              <a:rPr sz="2000"/>
              <a:t>Our naming convention throughout this course:</a:t>
            </a:r>
          </a:p>
          <a:p>
            <a:pPr lvl="1"/>
            <a:r>
              <a:rPr sz="2000"/>
              <a:t>- data frames → </a:t>
            </a:r>
            <a:r>
              <a:rPr sz="2000">
                <a:latin typeface="Courier"/>
              </a:rPr>
              <a:t>_df</a:t>
            </a:r>
          </a:p>
          <a:p>
            <a:pPr lvl="1"/>
            <a:r>
              <a:rPr sz="2000"/>
              <a:t>- plots → </a:t>
            </a:r>
            <a:r>
              <a:rPr sz="2000">
                <a:latin typeface="Courier"/>
              </a:rPr>
              <a:t>_plot</a:t>
            </a:r>
          </a:p>
          <a:p>
            <a:pPr lvl="1"/>
            <a:r>
              <a:rPr sz="2000"/>
              <a:t>- models → </a:t>
            </a:r>
            <a:r>
              <a:rPr sz="2000">
                <a:latin typeface="Courier"/>
              </a:rPr>
              <a:t>_model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 is a note for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</a:t>
            </a:r>
          </a:p>
          <a:p>
            <a:pPr lvl="0"/>
            <a:r>
              <a:rPr/>
              <a:t>Shortcut to toggle: Ctrl/Cmd + Shift + 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a line confused you while writing it, comment </a:t>
            </a:r>
            <a:r>
              <a:rPr sz="2000" i="1"/>
              <a:t>why</a:t>
            </a:r>
            <a:r>
              <a:rPr sz="2000"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Comments are like the notes you scribble in a cell — but they never get in the way of the numbers or the code.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→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      </a:t>
            </a:r>
            <a:r>
              <a:rPr>
                <a:solidFill>
                  <a:srgbClr val="5E5E5E"/>
                </a:solidFill>
                <a:latin typeface="Courier"/>
              </a:rPr>
              <a:t># two digits →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named arguments</a:t>
            </a:r>
          </a:p>
          <a:p>
            <a:pPr lvl="0" indent="0" marL="0">
              <a:buNone/>
            </a:pPr>
            <a:r>
              <a:rPr/>
              <a:t>Stuck on a function?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Argument</a:t>
            </a:r>
            <a:r>
              <a:rPr sz="2000"/>
              <a:t> = an input you hand to a function inside its </a:t>
            </a:r>
            <a:r>
              <a:rPr sz="2000">
                <a:latin typeface="Courier"/>
              </a:rPr>
              <a:t>( )</a:t>
            </a:r>
            <a:r>
              <a:rPr sz="2000"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63600"/>
            <a:ext cx="440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 or concatenated list: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Quotes matter: </a:t>
            </a:r>
            <a:r>
              <a:rPr sz="2000">
                <a:latin typeface="Courier"/>
              </a:rPr>
              <a:t>"sunny"</a:t>
            </a:r>
            <a:r>
              <a:rPr sz="2000"/>
              <a:t> is text. Without quotes, R hunts for an </a:t>
            </a:r>
            <a:r>
              <a:rPr sz="2000" b="1"/>
              <a:t>object</a:t>
            </a:r>
            <a:r>
              <a:rPr sz="2000"/>
              <a:t> named </a:t>
            </a:r>
            <a:r>
              <a:rPr sz="2000">
                <a:latin typeface="Courier"/>
              </a:rPr>
              <a:t>sunny</a:t>
            </a:r>
            <a:r>
              <a:rPr sz="2000"/>
              <a:t> and errors when it cannot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vector is the workhorse of R. A spreadsheet </a:t>
            </a:r>
            <a:r>
              <a:rPr sz="2000" b="1"/>
              <a:t>column</a:t>
            </a:r>
            <a:r>
              <a:rPr sz="2000"/>
              <a:t> is really just a vector.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TRUE becomes 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Coercion</a:t>
            </a:r>
            <a:r>
              <a:rPr sz="2000"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 not retype — use a script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a blank script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re-run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/>
              <a:t>Console = scratch paper.</a:t>
            </a:r>
          </a:p>
          <a:p>
            <a:pPr lvl="0"/>
            <a:r>
              <a:rPr sz="2000"/>
              <a:t>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38200"/>
            <a:ext cx="4406900" cy="344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 indent="0" marL="0">
              <a:buNone/>
            </a:pPr>
            <a:r>
              <a:rPr b="1"/>
              <a:t>Install once</a:t>
            </a:r>
            <a:r>
              <a:rPr/>
              <a:t> — downloads to your computer (do this in the Console, not in your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activates it for today (put this at the top of every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R says </a:t>
            </a:r>
            <a:r>
              <a:rPr sz="2000" i="1"/>
              <a:t>“could not find function </a:t>
            </a:r>
            <a:r>
              <a:rPr sz="2000" i="1">
                <a:latin typeface="Courier"/>
              </a:rPr>
              <a:t>read_excel</a:t>
            </a:r>
            <a:r>
              <a:rPr sz="2000" i="1"/>
              <a:t>”</a:t>
            </a:r>
            <a:r>
              <a:rPr sz="2000"/>
              <a:t>, you forgot the </a:t>
            </a:r>
            <a:r>
              <a:rPr sz="2000">
                <a:latin typeface="Courier"/>
              </a:rPr>
              <a:t>library(readxl)</a:t>
            </a:r>
            <a:r>
              <a:rPr sz="2000"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 indent="0" marL="1270000">
              <a:buNone/>
            </a:pPr>
            <a:r>
              <a:rPr sz="2000" b="1"/>
              <a:t>Package</a:t>
            </a:r>
            <a:r>
              <a:rPr sz="2000"/>
              <a:t> = the installed toolbox (install once).</a:t>
            </a:r>
          </a:p>
          <a:p>
            <a:pPr lvl="0" indent="0" marL="1270000">
              <a:buNone/>
            </a:pPr>
            <a:r>
              <a:rPr sz="2000" b="1"/>
              <a:t>Library</a:t>
            </a:r>
            <a:r>
              <a:rPr sz="2000"/>
              <a:t> = loading that toolbox into today’s session (every session).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Loading 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functions for two file types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your files in the project’s </a:t>
            </a:r>
            <a:r>
              <a:rPr>
                <a:latin typeface="Courier"/>
              </a:rPr>
              <a:t>data/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 files (.xlsx)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CSV files (.csv) — used by NOAA, iNaturalist, many databases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noaa_df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"data/noaa_global_yearly_temps.csv"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needs </a:t>
            </a:r>
            <a:r>
              <a:rPr sz="2000">
                <a:latin typeface="Courier"/>
              </a:rPr>
              <a:t>library(readxl)</a:t>
            </a:r>
            <a:r>
              <a:rPr sz="2000"/>
              <a:t>. </a:t>
            </a:r>
            <a:r>
              <a:rPr sz="2000">
                <a:latin typeface="Courier"/>
              </a:rPr>
              <a:t>read_csv()</a:t>
            </a:r>
            <a:r>
              <a:rPr sz="2000"/>
              <a:t> comes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 — no extra install needed.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and </a:t>
            </a:r>
            <a:r>
              <a:rPr sz="2000">
                <a:latin typeface="Courier"/>
              </a:rPr>
              <a:t>read_csv()</a:t>
            </a:r>
            <a:r>
              <a:rPr sz="2000"/>
              <a:t> are the bridge from your file into R.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Data frame</a:t>
            </a:r>
            <a:r>
              <a:rPr sz="2000"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→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Tidyverse-style structure check (prefer this over str):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 R equivalent: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same information, different layout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glimpse(tree_df)</a:t>
            </a:r>
            <a:r>
              <a:rPr sz="2000"/>
              <a:t>. How many rows? What type is </a:t>
            </a:r>
            <a:r>
              <a:rPr sz="2000">
                <a:latin typeface="Courier"/>
              </a:rPr>
              <a:t>side</a:t>
            </a:r>
            <a:r>
              <a:rPr sz="2000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Check </a:t>
            </a:r>
            <a:r>
              <a:rPr sz="2000">
                <a:latin typeface="Courier"/>
              </a:rPr>
              <a:t>dim()</a:t>
            </a:r>
            <a:r>
              <a:rPr sz="2000"/>
              <a:t> and </a:t>
            </a:r>
            <a:r>
              <a:rPr sz="2000">
                <a:latin typeface="Courier"/>
              </a:rPr>
              <a:t>glimpse()</a:t>
            </a:r>
            <a:r>
              <a:rPr sz="2000"/>
              <a:t> every single time you load data. Typos and wrong column types hide here.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pipe </a:t>
            </a:r>
            <a:r>
              <a:rPr>
                <a:latin typeface="Courier"/>
              </a:rPr>
              <a:t>%&gt;%</a:t>
            </a:r>
            <a:r>
              <a:rPr/>
              <a:t> — read it as “then”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function. Read </a:t>
            </a:r>
            <a:r>
              <a:rPr>
                <a:latin typeface="Courier"/>
              </a:rPr>
              <a:t>%&gt;%</a:t>
            </a:r>
            <a:r>
              <a:rPr/>
              <a:t>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Start with simple examples: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count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list column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summarize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Chain two steps: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show first 3 rows</a:t>
            </a:r>
          </a:p>
          <a:p>
            <a:pPr lvl="0" indent="0" marL="0">
              <a:buNone/>
            </a:pPr>
            <a:r>
              <a:rPr/>
              <a:t>In Lecture 03 we will chain more steps together.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Pipe</a:t>
            </a:r>
            <a:r>
              <a:rPr sz="2000"/>
              <a:t> </a:t>
            </a:r>
            <a:r>
              <a:rPr sz="2000">
                <a:latin typeface="Courier"/>
              </a:rPr>
              <a:t>%&gt;%</a:t>
            </a:r>
            <a:r>
              <a:rPr sz="2000"/>
              <a:t> = “take what is on the left and feed it to the function on the right.”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pieces,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(</a:t>
            </a:r>
            <a:r>
              <a:rPr>
                <a:latin typeface="Courier"/>
              </a:rPr>
              <a:t>tree_df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 (add with </a:t>
            </a:r>
            <a:r>
              <a:rPr>
                <a:latin typeface="Courier"/>
              </a:rPr>
              <a:t>+</a:t>
            </a:r>
            <a:r>
              <a:rPr/>
              <a:t>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+</a:t>
            </a:r>
            <a:r>
              <a:rPr sz="2000"/>
              <a:t> must sit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/>
            <a:r>
              <a:rPr sz="2000">
                <a:latin typeface="Courier"/>
              </a:rPr>
              <a:t>+</a:t>
            </a:r>
            <a:r>
              <a:rPr sz="2000"/>
              <a:t> at the start = error</a:t>
            </a:r>
          </a:p>
          <a:p>
            <a:pPr lvl="0"/>
            <a:r>
              <a:rPr sz="2000"/>
              <a:t>AND YES - Totally confusing to have %&gt;% for code and + for plots - but its the way it is….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weight_g</a:t>
            </a:r>
            <a:r>
              <a:rPr sz="2000"/>
              <a:t> for </a:t>
            </a:r>
            <a:r>
              <a:rPr sz="2000">
                <a:latin typeface="Courier"/>
              </a:rPr>
              <a:t>height_cm</a:t>
            </a:r>
            <a:r>
              <a:rPr sz="2000"/>
              <a:t>. What changes?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CAN YOU DRAW A SKETCH OF WHAT THIS MIGHT LOOK LIKE???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 as a PNG: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Save to the figures/ folder — always use PNG, dpi = 300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📖 File format tip</a:t>
            </a:r>
          </a:p>
          <a:p>
            <a:pPr lvl="0"/>
            <a:r>
              <a:rPr/>
              <a:t>Save figures as </a:t>
            </a:r>
            <a:r>
              <a:rPr b="1"/>
              <a:t>PNG</a:t>
            </a:r>
            <a:r>
              <a:rPr/>
              <a:t> (</a:t>
            </a:r>
            <a:r>
              <a:rPr>
                <a:latin typeface="Courier"/>
              </a:rPr>
              <a:t>.png</a:t>
            </a:r>
            <a:r>
              <a:rPr/>
              <a:t>) for reports and Canvas submissions.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means 300 dots per inch — high enough for print and posters.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Also: </a:t>
            </a:r>
            <a:r>
              <a:rPr sz="2000">
                <a:latin typeface="Courier"/>
              </a:rPr>
              <a:t>dpi = 300</a:t>
            </a:r>
            <a:r>
              <a:rPr sz="2000"/>
              <a:t> is publication quality — always use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 folder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</a:t>
            </a:r>
            <a:r>
              <a:rPr>
                <a:latin typeface="Courier"/>
              </a:rPr>
              <a:t>#</a:t>
            </a:r>
            <a:r>
              <a:rPr/>
              <a:t>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types</a:t>
            </a:r>
          </a:p>
          <a:p>
            <a:pPr lvl="0"/>
            <a:r>
              <a:rPr/>
              <a:t>Load Excel and CSV data with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</a:p>
          <a:p>
            <a:pPr lvl="0"/>
            <a:r>
              <a:rPr/>
              <a:t>Inspect a data frame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%&gt;%</a:t>
            </a:r>
            <a:r>
              <a:rPr/>
              <a:t> to chain steps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  <a:r>
              <a:rPr/>
              <a:t> as a PNG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Load </a:t>
            </a:r>
            <a:r>
              <a:rPr sz="2000">
                <a:latin typeface="Courier"/>
              </a:rPr>
              <a:t>tree_df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plot of </a:t>
            </a:r>
            <a:r>
              <a:rPr sz="2000">
                <a:latin typeface="Courier"/>
              </a:rPr>
              <a:t>width_cm</a:t>
            </a:r>
            <a:r>
              <a:rPr sz="2000"/>
              <a:t> by </a:t>
            </a:r>
            <a:r>
              <a:rPr sz="2000">
                <a:latin typeface="Courier"/>
              </a:rPr>
              <a:t>side</a:t>
            </a:r>
            <a:r>
              <a:rPr sz="2000"/>
              <a:t>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went from a blank console to a saved figure of </a:t>
            </a:r>
            <a:r>
              <a:rPr sz="2000" b="1"/>
              <a:t>our</a:t>
            </a:r>
            <a:r>
              <a:rPr sz="2000"/>
              <a:t> data. That is the whole workflow in miniature.</a:t>
            </a:r>
          </a:p>
          <a:p>
            <a:pPr lvl="0" indent="0" marL="0">
              <a:buNone/>
            </a:pPr>
            <a:r>
              <a:rPr b="1"/>
              <a:t>Up next — Lecture 03: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Then: descriptive statistics on our leaf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 is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</a:t>
            </a:r>
          </a:p>
          <a:p>
            <a:pPr lvl="0"/>
            <a:r>
              <a:rPr/>
              <a:t>Check: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excellent: </a:t>
            </a:r>
            <a:r>
              <a:rPr>
                <a:hlinkClick r:id="rId2"/>
              </a:rPr>
              <a:t>posit.co/resources/cheatsheets</a:t>
            </a:r>
          </a:p>
          <a:p>
            <a:pPr lvl="0"/>
            <a:r>
              <a:rPr/>
              <a:t>Bring the exact error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coder googles error messages daily. Getting stuck is not failing — it is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In Excel you fix errors by clicking around. In R you fix them by </a:t>
            </a:r>
            <a:r>
              <a:rPr sz="2000" b="1"/>
              <a:t>reading the message</a:t>
            </a:r>
            <a:r>
              <a:rPr sz="2000"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 to R and Positron</dc:title>
  <dc:creator>Bill Perry</dc:creator>
  <cp:keywords/>
  <dc:description>How to we make projects that are repeatable and organize the chaos into structure and how to use R and Posiotron.</dc:description>
  <dcterms:created xsi:type="dcterms:W3CDTF">2026-07-02T20:30:29Z</dcterms:created>
  <dcterms:modified xsi:type="dcterms:W3CDTF">2026-07-02T20:30:29Z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2026-07-02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R, Positron and Projects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