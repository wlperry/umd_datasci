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ransform" TargetMode="External" /><Relationship Id="rId3" Type="http://schemas.openxmlformats.org/officeDocument/2006/relationships/hyperlink" Target="https://r4ds.hadley.nz/numbers" TargetMode="External" /><Relationship Id="rId4" Type="http://schemas.openxmlformats.org/officeDocument/2006/relationships/hyperlink" Target="https://datacarpentry.github.io/R-ecology-lesson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04 — Testing Our Hypothesis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two-sample Welch’s t-test from assumptions to results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Wrangling</a:t>
            </a:r>
            <a:r>
              <a:rPr/>
              <a:t> —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  <a:r>
              <a:rPr/>
              <a:t> as the core tidyverse verbs</a:t>
            </a:r>
          </a:p>
          <a:p>
            <a:pPr lvl="0"/>
            <a:r>
              <a:rPr b="1"/>
              <a:t>Descriptive stats</a:t>
            </a:r>
            <a:r>
              <a:rPr/>
              <a:t> — mean, median, SD, SE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 b="1"/>
              <a:t>NA handling</a:t>
            </a:r>
            <a:r>
              <a:rPr/>
              <a:t> — </a:t>
            </a:r>
            <a:r>
              <a:rPr>
                <a:latin typeface="Courier"/>
              </a:rPr>
              <a:t>sum(!is.na())</a:t>
            </a:r>
            <a:r>
              <a:rPr/>
              <a:t> is the safe way to count </a:t>
            </a:r>
            <a:r>
              <a:rPr i="1"/>
              <a:t>n</a:t>
            </a:r>
          </a:p>
          <a:p>
            <a:pPr lvl="0"/>
            <a:r>
              <a:rPr b="1">
                <a:latin typeface="Courier"/>
              </a:rPr>
              <a:t>skimr</a:t>
            </a:r>
            <a:r>
              <a:rPr/>
              <a:t> — fast full-dataset overview in one line</a:t>
            </a:r>
          </a:p>
          <a:p>
            <a:pPr lvl="0"/>
            <a:r>
              <a:rPr b="1"/>
              <a:t>Boxplot</a:t>
            </a:r>
            <a:r>
              <a:rPr/>
              <a:t> + jittered points; </a:t>
            </a:r>
            <a:r>
              <a:rPr b="1"/>
              <a:t>mean ± SE</a:t>
            </a:r>
            <a:r>
              <a:rPr/>
              <a:t> with </a:t>
            </a:r>
            <a:r>
              <a:rPr>
                <a:latin typeface="Courier"/>
              </a:rPr>
              <a:t>stat_summary()</a:t>
            </a:r>
          </a:p>
          <a:p>
            <a:pPr lvl="0"/>
            <a:r>
              <a:rPr b="1"/>
              <a:t>Finding:</a:t>
            </a:r>
            <a:r>
              <a:rPr/>
              <a:t> shady leaves appear heavier, taller, and wider than sunny leaves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Lecture 03</a:t>
            </a:r>
          </a:p>
          <a:p>
            <a:pPr lvl="0" indent="0" marL="1270000">
              <a:buNone/>
            </a:pPr>
            <a:r>
              <a:rPr sz="2000"/>
              <a:t>We described the pattern in our data. Today we formally test whether that pattern is </a:t>
            </a:r>
            <a:r>
              <a:rPr sz="2000" i="1"/>
              <a:t>statistically significant</a:t>
            </a:r>
            <a:r>
              <a:rPr sz="2000"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</a:t>
            </a:r>
            <a:r>
              <a:rPr/>
              <a:t> why comparing means is not enough — we need a test</a:t>
            </a:r>
          </a:p>
          <a:p>
            <a:pPr lvl="0"/>
            <a:r>
              <a:rPr b="1"/>
              <a:t>State</a:t>
            </a:r>
            <a:r>
              <a:rPr/>
              <a:t> null and alternate hypotheses formally</a:t>
            </a:r>
          </a:p>
          <a:p>
            <a:pPr lvl="0"/>
            <a:r>
              <a:rPr b="1"/>
              <a:t>Check assumptions</a:t>
            </a:r>
            <a:r>
              <a:rPr/>
              <a:t> before running any test</a:t>
            </a:r>
          </a:p>
          <a:p>
            <a:pPr lvl="1"/>
            <a:r>
              <a:rPr/>
              <a:t>normality: histogram, QQ plot, Shapiro-Wilk</a:t>
            </a:r>
          </a:p>
          <a:p>
            <a:pPr lvl="1"/>
            <a:r>
              <a:rPr/>
              <a:t>variance: Levene’s test</a:t>
            </a:r>
          </a:p>
          <a:p>
            <a:pPr lvl="0"/>
            <a:r>
              <a:rPr b="1"/>
              <a:t>Run</a:t>
            </a:r>
            <a:r>
              <a:rPr/>
              <a:t> Welch’s two-sample t-test in R</a:t>
            </a:r>
          </a:p>
          <a:p>
            <a:pPr lvl="0"/>
            <a:r>
              <a:rPr b="1"/>
              <a:t>Read</a:t>
            </a:r>
            <a:r>
              <a:rPr/>
              <a:t> every line of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  <a:p>
            <a:pPr lvl="0"/>
            <a:r>
              <a:rPr b="1"/>
              <a:t>Report</a:t>
            </a:r>
            <a:r>
              <a:rPr/>
              <a:t> results in scientific writing format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 will run and interpret a complete t-test on our leaf data.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added today:</a:t>
            </a:r>
          </a:p>
          <a:p>
            <a:pPr lvl="0"/>
            <a:r>
              <a:rPr>
                <a:latin typeface="Courier"/>
              </a:rPr>
              <a:t>car</a:t>
            </a:r>
            <a:r>
              <a:rPr/>
              <a:t> — Levene’s variance test</a:t>
            </a:r>
          </a:p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</a:p>
          <a:p>
            <a:pPr lvl="0"/>
            <a:r>
              <a:rPr/>
              <a:t>🌐 </a:t>
            </a:r>
            <a:r>
              <a:rPr>
                <a:hlinkClick r:id="rId3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Today’s naming:</a:t>
            </a:r>
          </a:p>
          <a:p>
            <a:pPr lvl="0"/>
            <a:r>
              <a:rPr/>
              <a:t>test objects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Our Hypotheses — A Reminder</a:t></a:r></a:p></p:txBody></p:sp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Biological prediction:</a:t></a:r></a:p><a:p><a:pPr lvl="0" indent="0" marL="0"><a:buNone /></a:pPr><a:r><a:rPr /><a:t>Shady-side leaves will be </a:t></a:r><a:r><a:rPr b="1" /><a:t>larger and heavier</a:t></a:r><a:r><a:rPr /><a:t> — they need more surface area to capture the limited light filtering through the canopy.</a:t></a:r></a:p></p:txBody></p:sp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2209800" /><a:gridCol w="2209800" /></a:tblGrid><a:tr h="0"><a:tc><a:txBody><a:bodyPr /><a:lstStyle /><a:p><a:endParaRPr /></a:p></a:txBody><a:tcPr /></a:tc><a:tc><a:txBody><a:bodyPr /><a:lstStyle /><a:p><a:pPr lvl="0" indent="0" marL="0"><a:buNone /></a:pPr><a:r><a:rPr /><a:t>Formal statement</a:t></a:r></a:p></a:txBody><a:tcPr /></a:tc></a:tr><a:tr h="0"><a:tc><a:txBody><a:bodyPr /><a:lstStyle /><a:p><a:pPr lvl="0" indent="0" marL="0"><a:buNone /></a:pPr><a:r><a:rPr b="1" /><a:t>H₀ — null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a:r><a:rPr /><a:t> — no difference in mean leaf weight</a:t></a:r></a:p></a:txBody></a:tc></a:tr><a:tr h="0"><a:tc><a:txBody><a:bodyPr /><a:lstStyle /><a:p><a:pPr lvl="0" indent="0" marL="0"><a:buNone /></a:pPr><a:r><a:rPr b="1" /><a:t>Hₐ — alternate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a:r><a:rPr /><a:t> — mean leaf weight differs by side</a:t></a:r></a:p></a:txBody></a:tc></a:tr></a:tbl></a:graphicData></a:graphic></p:graphicFrame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/><a:t>We use a </a:t></a:r><a:r><a:rPr b="1" /><a:t>two-tailed</a:t></a:r><a:r><a:rPr /><a:t> test — we will detect a difference in </a:t></a:r><a:r><a:rPr i="1" /><a:t>either</a:t></a:r><a:r><a:rPr /><a:t> direction.</a:t></a:r></a:p></p:txBody></p:sp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Why two-tailed?</a:t></a:r></a:p><a:p><a:pPr lvl="0" /><a:r><a:rPr /><a:t>We predicted shady &gt; sunny</a:t></a:r></a:p><a:p><a:pPr lvl="0" /><a:r><a:rPr /><a:t>A one-tailed test would only reject H₀ in that direction</a:t></a:r></a:p><a:p><a:pPr lvl="0" /><a:r><a:rPr /><a:t>Two-tailed is </a:t></a:r><a:r><a:rPr b="1" /><a:t>more conservative</a:t></a:r><a:r><a:rPr /><a:t> and more broadly accepted</a:t></a:r></a:p><a:p><a:pPr lvl="0" /><a:r><a:rPr /><a:t>If the result is significant two-tailed, it is also significant one-tailed</a:t></a:r></a:p><a:p><a:pPr lvl="0" indent="0" marL="0"><a:buNone /></a:pPr><a:r><a:rPr b="1" /><a:t>α = 0.05</a:t></a:r><a:r><a:rPr /><a:t> — our threshold for rejecting H₀</a:t></a:r></a:p></p:txBody></p:sp></p:spTree></p:cSld>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summaries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</a:t>
            </a:r>
            <a:r>
              <a:rPr>
                <a:solidFill>
                  <a:srgbClr val="5E5E5E"/>
                </a:solidFill>
                <a:latin typeface="Courier"/>
              </a:rPr>
              <a:t># Levene's test for variance equality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leaf data from the data folder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"data/2026_06_25_tree_experiment_raw_data.xlsx"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car</a:t>
            </a:r>
            <a:r>
              <a:rPr sz="2000"/>
              <a:t> is the </a:t>
            </a:r>
            <a:r>
              <a:rPr sz="2000" b="1"/>
              <a:t>C</a:t>
            </a:r>
            <a:r>
              <a:rPr sz="2000"/>
              <a:t>ompanion to </a:t>
            </a:r>
            <a:r>
              <a:rPr sz="2000" b="1"/>
              <a:t>A</a:t>
            </a:r>
            <a:r>
              <a:rPr sz="2000"/>
              <a:t>pplied </a:t>
            </a:r>
            <a:r>
              <a:rPr sz="2000" b="1"/>
              <a:t>R</a:t>
            </a:r>
            <a:r>
              <a:rPr sz="2000"/>
              <a:t>egression package. It contains </a:t>
            </a:r>
            <a:r>
              <a:rPr sz="2000">
                <a:latin typeface="Courier"/>
              </a:rPr>
              <a:t>leveneTest()</a:t>
            </a:r>
            <a:r>
              <a:rPr sz="2000"/>
              <a:t>, which we use to check whether our two groups have similar variance.</a:t>
            </a:r>
          </a:p>
          <a:p>
            <a:pPr lvl="0" indent="0" marL="1270000">
              <a:buNone/>
            </a:pPr>
            <a:r>
              <a:rPr sz="2000"/>
              <a:t>Install once: </a:t>
            </a:r>
            <a:r>
              <a:rPr sz="2000">
                <a:latin typeface="Courier"/>
              </a:rPr>
              <a:t>install.packages("car")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Know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recap from Lecture 03 ----------------------------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(sd_wt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(n),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recap_df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5
  side      n mean_wt sd_wt se_wt
  &lt;chr&gt; &lt;int&gt;   &lt;dbl&gt; &lt;dbl&gt; &lt;dbl&gt;
1 shady    10     7.8  1.03  0.33
2 sunny    10     3.8  0.79  0.25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RESULTS:</a:t>
            </a:r>
          </a:p>
          <a:p>
            <a:pPr lvl="1"/>
            <a:r>
              <a:rPr/>
              <a:t>Shady mean: </a:t>
            </a:r>
            <a:r>
              <a:rPr b="1"/>
              <a:t>7.80 g</a:t>
            </a:r>
          </a:p>
          <a:p>
            <a:pPr lvl="1"/>
            <a:r>
              <a:rPr/>
              <a:t>Sunny mean: </a:t>
            </a:r>
            <a:r>
              <a:rPr b="1"/>
              <a:t>3.80 g</a:t>
            </a:r>
          </a:p>
          <a:p>
            <a:pPr lvl="1"/>
            <a:r>
              <a:rPr/>
              <a:t>Difference: </a:t>
            </a:r>
            <a:r>
              <a:rPr b="1"/>
              <a:t>4.0 g</a:t>
            </a:r>
            <a:r>
              <a:rPr/>
              <a:t> — a big gap!</a:t>
            </a:r>
          </a:p>
          <a:p>
            <a:pPr lvl="0"/>
            <a:r>
              <a:rPr b="1"/>
              <a:t>But is that gap real, or could it just be sampling noise?</a:t>
            </a:r>
          </a:p>
          <a:p>
            <a:pPr lvl="0"/>
            <a:r>
              <a:rPr/>
              <a:t>With only n = 10 per group, random chance could produce apparent differences.</a:t>
            </a:r>
          </a:p>
          <a:p>
            <a:pPr lvl="0"/>
            <a:r>
              <a:rPr b="1"/>
              <a:t>We need a formal test to quantify the probability.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Comparing Means Is Not Enough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Remind ourselves what the data look like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</a:t>
            </a:r>
          </a:p>
        </p:txBody>
      </p:sp>
      <p:pic>
        <p:nvPicPr>
          <p:cNvPr descr="t_tests_and_hypotheses_files/figure-pptx/recap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means look different — but:</a:t>
            </a:r>
          </a:p>
          <a:p>
            <a:pPr lvl="0"/>
            <a:r>
              <a:rPr/>
              <a:t>We only have </a:t>
            </a:r>
            <a:r>
              <a:rPr b="1"/>
              <a:t>10 leaves per group</a:t>
            </a:r>
          </a:p>
          <a:p>
            <a:pPr lvl="0"/>
            <a:r>
              <a:rPr/>
              <a:t>There is </a:t>
            </a:r>
            <a:r>
              <a:rPr b="1"/>
              <a:t>natural variability</a:t>
            </a:r>
            <a:r>
              <a:rPr/>
              <a:t> within each group</a:t>
            </a:r>
          </a:p>
          <a:p>
            <a:pPr lvl="0"/>
            <a:r>
              <a:rPr/>
              <a:t>The groups’ ranges </a:t>
            </a:r>
            <a:r>
              <a:rPr b="1"/>
              <a:t>overlap</a:t>
            </a:r>
            <a:r>
              <a:rPr/>
              <a:t> somewhat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i="1"/>
              <a:t>p</a:t>
            </a:r>
            <a:r>
              <a:rPr/>
              <a:t>-value tells us:</a:t>
            </a:r>
          </a:p>
          <a:p>
            <a:pPr lvl="0" indent="0" marL="1270000">
              <a:buNone/>
            </a:pPr>
            <a:r>
              <a:rPr sz="2000" i="1"/>
              <a:t>“If H₀ were true, how often would we see a gap this large just by chance?”</a:t>
            </a:r>
          </a:p>
          <a:p>
            <a:pPr lvl="0" indent="0" marL="0">
              <a:buNone/>
            </a:pPr>
            <a:r>
              <a:rPr/>
              <a:t>Small </a:t>
            </a:r>
            <a:r>
              <a:rPr i="1"/>
              <a:t>p</a:t>
            </a:r>
            <a:r>
              <a:rPr/>
              <a:t> → the gap is unlikely to be chance.</a:t>
            </a:r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602780" /></a:xfrm><a:solidFill><a:srgbClr val="1A1A2E" /></a:solidFill></p:spPr><p:txBody><a:bodyPr /><a:lstStyle /><a:p><a:pPr lvl="0" indent="0" marL="0"><a:buNone /></a:pPr><a:r><a:rPr /><a:t>What Is a Two-Sample t-Test?</a:t></a:r></a:p></p:txBody></p:sp><mc:AlternateContent xmlns:mc="http://schemas.openxmlformats.org/markup-compatibility/2006"><mc:Choice xmlns:a14="http://schemas.microsoft.com/office/drawing/2010/main" Requires="a14"><p:sp><p:nvSpPr><p:cNvPr id="3" name="Content Placeholder 2" /><p:cNvSpPr><a:spLocks noGrp="1" /></p:cNvSpPr><p:nvPr><p:ph idx="1" sz="half" /></p:nvPr></p:nvSpPr><p:spPr /><p:txBody><a:bodyPr /><a:lstStyle /><a:p><a:pPr lvl="0" indent="0" marL="0"><a:buNone /></a:pPr><a:r><a:rPr /><a:t>A two-sample t-test compares the </a:t></a:r><a:r><a:rPr b="1" /><a:t>means of two independent groups</a:t></a:r><a:r><a:rPr /><a:t>.</a:t></a:r></a:p><a:p><a:pPr lvl="0" indent="0" marL="0"><a:buNone /></a:pPr><a:r><a:rPr /><a:t>It asks: </a:t></a:r><a:r><a:rPr i="1" /><a:t>Could both groups plausibly be drawn from populations with the same mean?</a:t></a:r></a:p><a:p><a:pPr lvl="0" indent="0" marL="0"><a:buNone /></a:pPr><a:r><a:rPr /><a:t>The </a:t></a:r><a:r><a:rPr b="1" /><a:t>t-statistic</a:t></a:r><a:r><a:rPr /><a:t> is:</a:t></a:r></a:p><a:p><a:pPr lvl="0" indent="0" marL="0"><a:buNone /></a:pPr><a14:m><m:oMathPara xmlns:m="http://schemas.openxmlformats.org/officeDocument/2006/math"><m:oMathParaPr><m:jc m:val="center" /></m:oMathParaPr><m:oMath><m:r><m:t>t</m:t></m:r><m:r><m:rPr><m:sty m:val="p" /></m:rPr><m:t>=</m:t></m:r><m:f><m:fPr><m:type m:val="bar" /></m:fPr><m:num><m:sSub><m:e><m:acc><m:accPr><m:chr m:val="‾" /></m:accPr><m:e><m:r><m:t>x</m:t></m:r></m:e></m:acc></m:e><m:sub><m:r><m:t>1</m:t></m:r></m:sub></m:sSub><m:r><m:rPr><m:sty m:val="p" /></m:rPr><m:t>−</m:t></m:r><m:sSub><m:e><m:acc><m:accPr><m:chr m:val="‾" /></m:accPr><m:e><m:r><m:t>x</m:t></m:r></m:e></m:acc></m:e><m:sub><m:r><m:t>2</m:t></m:r></m:sub></m:sSub></m:num><m:den><m:sSub><m:e><m:r><m:rPr><m:nor /><m:sty m:val="p" /></m:rPr><m:t>SE</m:t></m:r></m:e><m:sub><m:r><m:rPr><m:nor /><m:sty m:val="p" /></m:rPr><m:t>diff</m:t></m:r></m:sub></m:sSub></m:den></m:f></m:oMath></m:oMathPara></a14:m></a:p><a:p><a:pPr lvl="0" /><a:r><a:rPr /><a:t>Numerator: the </a:t></a:r><a:r><a:rPr b="1" /><a:t>observed difference</a:t></a:r><a:r><a:rPr /><a:t> in means</a:t></a:r></a:p><a:p><a:pPr lvl="0" /><a:r><a:rPr /><a:t>Denominator: the </a:t></a:r><a:r><a:rPr b="1" /><a:t>uncertainty</a:t></a:r><a:r><a:rPr /><a:t> in that difference (SE of the difference)</a:t></a:r></a:p><a:p><a:pPr lvl="0" indent="0" marL="0"><a:buNone /></a:pPr><a:r><a:rPr b="1" /><a:t>Large |t|</a:t></a:r><a:r><a:rPr /><a:t> → the difference is large relative to the noise → small </a:t></a:r><a:r><a:rPr i="1" /><a:t>p</a:t></a:r><a:r><a:rPr /><a:t>-value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495800" y="660400" /><a:ext cx="4406900" cy="3810000" /></p:xfrm><a:graphic><a:graphicData uri="http://schemas.openxmlformats.org/drawingml/2006/table"><a:tbl><a:tblPr firstRow="1" bandRow="1"><a:tableStyleId>{5C22544A-7EE6-4342-B048-85BDC9FD1C3A}</a:tableStyleId></a:tblPr><a:tblGrid><a:gridCol w="2197100" /><a:gridCol w="2197100" /></a:tblGrid><a:tr h="0"><a:tc><a:txBody><a:bodyPr /><a:lstStyle /><a:p><a:pPr lvl="0" indent="0" marL="0"><a:buNone /></a:pPr><a:r><a:rPr /><a:t>Component</a:t></a:r></a:p></a:txBody><a:tcPr /></a:tc><a:tc><a:txBody><a:bodyPr /><a:lstStyle /><a:p><a:pPr lvl="0" indent="0" marL="0"><a:buNone /></a:pPr><a:r><a:rPr /><a:t>Our context</a:t></a:r></a:p></a:txBody><a:tcPr /></a:tc></a:tr><a:tr h="0"><a:tc><a:txBody><a:bodyPr /><a:lstStyle /><a:p><a:pPr lvl="0" indent="0" marL="0"><a:buNone /></a:pPr><a:r><a:rPr /><a:t>Group 1</a:t></a:r></a:p></a:txBody></a:tc><a:tc><a:txBody><a:bodyPr /><a:lstStyle /><a:p><a:pPr lvl="0" indent="0" marL="0"><a:buNone /></a:pPr><a:r><a:rPr /><a:t>Shady leaves</a:t></a:r></a:p></a:txBody></a:tc></a:tr><a:tr h="0"><a:tc><a:txBody><a:bodyPr /><a:lstStyle /><a:p><a:pPr lvl="0" indent="0" marL="0"><a:buNone /></a:pPr><a:r><a:rPr /><a:t>Group 2</a:t></a:r></a:p></a:txBody></a:tc><a:tc><a:txBody><a:bodyPr /><a:lstStyle /><a:p><a:pPr lvl="0" indent="0" marL="0"><a:buNone /></a:pPr><a:r><a:rPr /><a:t>Sunny leaves</a:t></a:r></a:p></a:txBody></a:tc></a:tr><a:tr h="0"><a:tc><a:txBody><a:bodyPr /><a:lstStyle /><a:p><a:pPr lvl="0" indent="0" marL="0"><a:buNone /></a:pPr><a:r><a:rPr /><a:t>Measurement</a:t></a:r></a:p></a:txBody></a:tc><a:tc><a:txBody><a:bodyPr /><a:lstStyle /><a:p><a:pPr lvl="0" indent="0" marL="0"><a:buNone /></a:pPr><a:r><a:rPr><a:latin typeface="Courier" /></a:rPr><a:t>weight_g</a:t></a:r></a:p></a:txBody></a:tc></a:tr><a:tr h="0"><a:tc><a:txBody><a:bodyPr /><a:lstStyle /><a:p><a:pPr lvl="0" indent="0" marL="0"><a:buNone /></a:pPr><a:r><a:rPr /><a:t>H₀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/a:p></a:txBody></a:tc></a:tr><a:tr h="0"><a:tc><a:txBody><a:bodyPr /><a:lstStyle /><a:p><a:pPr lvl="0" indent="0" marL="0"><a:buNone /></a:pPr><a:r><a:rPr /><a:t>Hₐ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/a:p></a:txBody></a:tc></a:tr></a:tbl></a:graphicData></a:graphic></p:graphicFrame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Welch’s? — Don’t Assume Equal 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Standard t-test</a:t>
                </a:r>
                <a:r>
                  <a:rPr/>
                  <a:t> — pools the two variances into one estimate. Requires both groups to have the </a:t>
                </a:r>
                <a:r>
                  <a:rPr b="1"/>
                  <a:t>same population variance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Welch’s t-test</a:t>
                </a:r>
                <a:r>
                  <a:rPr/>
                  <a:t> — uses each group’s variance separately. Does </a:t>
                </a:r>
                <a:r>
                  <a:rPr b="1"/>
                  <a:t>not</a:t>
                </a:r>
                <a:r>
                  <a:rPr/>
                  <a:t> require equal variance.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W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x</m:t>
                                  </m:r>
                                </m:e>
                              </m:acc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f>
                                <m:fPr>
                                  <m:type m:val="bar"/>
                                </m:fPr>
                                <m:num>
                                  <m:sSubSup>
                                    <m:e>
                                      <m:r>
                                        <m:t>s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  <m:sup>
                                      <m: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e>
                                      <m:r>
                                        <m:t>n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denominator is the </a:t>
                </a:r>
                <a:r>
                  <a:rPr b="1"/>
                  <a:t>true SE of the difference</a:t>
                </a:r>
                <a:r>
                  <a:rPr/>
                  <a:t> — no pooling.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always use Welch’s?</a:t>
            </a:r>
          </a:p>
          <a:p>
            <a:pPr lvl="0"/>
            <a:r>
              <a:rPr/>
              <a:t>When variances </a:t>
            </a:r>
            <a:r>
              <a:rPr b="1"/>
              <a:t>are</a:t>
            </a:r>
            <a:r>
              <a:rPr/>
              <a:t> equal: almost identical result — minimal loss of power</a:t>
            </a:r>
          </a:p>
          <a:p>
            <a:pPr lvl="0"/>
            <a:r>
              <a:rPr/>
              <a:t>When variances </a:t>
            </a:r>
            <a:r>
              <a:rPr b="1"/>
              <a:t>are not</a:t>
            </a:r>
            <a:r>
              <a:rPr/>
              <a:t> equal: standard t-test gives </a:t>
            </a:r>
            <a:r>
              <a:rPr b="1"/>
              <a:t>inflated Type I error</a:t>
            </a:r>
            <a:r>
              <a:rPr/>
              <a:t> (false positives)</a:t>
            </a:r>
          </a:p>
          <a:p>
            <a:pPr lvl="0"/>
            <a:r>
              <a:rPr b="1"/>
              <a:t>Welch’s protects you either way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use Welch’s as your </a:t>
            </a:r>
            <a:r>
              <a:rPr sz="2000" b="1"/>
              <a:t>default</a:t>
            </a:r>
            <a:r>
              <a:rPr sz="2000"/>
              <a:t> for all two-group comparisons.</a:t>
            </a:r>
          </a:p>
          <a:p>
            <a:pPr lvl="0" indent="0" marL="1270000">
              <a:buNone/>
            </a:pPr>
            <a:r>
              <a:rPr sz="2000"/>
              <a:t>In R: </a:t>
            </a:r>
            <a:r>
              <a:rPr sz="2000" b="1">
                <a:latin typeface="Courier"/>
              </a:rPr>
              <a:t>var.equal = FALSE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Welch’s Formula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stats and compute t by hand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stats_df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(weight_g)),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(weight_g,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n_sha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n_sun &lt;- 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n[stats_df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se_diff &lt;- </a:t>
            </a:r>
            <a:r>
              <a:rPr>
                <a:solidFill>
                  <a:srgbClr val="4758AB"/>
                </a:solidFill>
                <a:latin typeface="Courier"/>
              </a:rPr>
              <a:t>sqrt</a:t>
            </a:r>
            <a:r>
              <a:rPr>
                <a:solidFill>
                  <a:srgbClr val="003B4F"/>
                </a:solidFill>
                <a:latin typeface="Courier"/>
              </a:rPr>
              <a:t>((s_sha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n_sha)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(s_sun</a:t>
            </a:r>
            <a:r>
              <a:rPr>
                <a:solidFill>
                  <a:srgbClr val="5E5E5E"/>
                </a:solidFill>
                <a:latin typeface="Courier"/>
              </a:rPr>
              <a:t>^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n_sun))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t_manual &lt;- 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se_diff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"Difference in means:"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(m_sha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m_sun,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Difference in means: 4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"SE of difference: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(se_diff,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SE of difference:    0.411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"t-statistic:    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(t_manual,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t-statistic:         9.733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Step by step: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Difference in means: 7.80 − 3.80 = </a:t>
                </a:r>
                <a:r>
                  <a:rPr b="1"/>
                  <a:t>4.0 g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SE of the difference: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h</m:t>
                                </m:r>
                                <m:r>
                                  <m:t>a</m:t>
                                </m:r>
                                <m:r>
                                  <m:t>d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m:t>+</m:t>
                        </m:r>
                        <m:f>
                          <m:fPr>
                            <m:type m:val="bar"/>
                          </m:fPr>
                          <m:num>
                            <m:sSubSup>
                              <m:e>
                                <m:r>
                                  <m:t>s</m:t>
                                </m:r>
                              </m:e>
                              <m:sub>
                                <m:r>
                                  <m:t>s</m:t>
                                </m:r>
                                <m:r>
                                  <m:t>u</m:t>
                                </m:r>
                                <m:r>
                                  <m:t>n</m:t>
                                </m:r>
                                <m:r>
                                  <m:t>n</m:t>
                                </m:r>
                                <m:r>
                                  <m:t>y</m:t>
                                </m:r>
                              </m:sub>
                              <m:sup>
                                <m: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m:t>10</m:t>
                            </m:r>
                          </m:den>
                        </m:f>
                      </m:e>
                    </m:rad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t = difference / SE</a:t>
                </a:r>
              </a:p>
              <a:p>
                <a:pPr lvl="0" indent="0" marL="0">
                  <a:buNone/>
                </a:pPr>
                <a:r>
                  <a:rPr/>
                  <a:t>The observed difference is ~10 standard errors above zero — very far from what we’d expect if H₀ were true.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Five Steps to a Hypothesis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always follow this sequence: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H₀ and Hₐ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histogram/box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  <a:r>
                        <a:rPr/>
                        <a:t> — QQ plot + Shapiro-Wilk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variance</a:t>
                      </a:r>
                      <a:r>
                        <a:rPr/>
                        <a:t> — Levene’s 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Run</a:t>
                      </a:r>
                      <a:r>
                        <a:rPr/>
                        <a:t> the test; </a:t>
                      </a:r>
                      <a:r>
                        <a:rPr b="1"/>
                        <a:t>interpret</a:t>
                      </a:r>
                      <a:r>
                        <a:rPr/>
                        <a:t> and </a:t>
                      </a:r>
                      <a:r>
                        <a:rPr b="1"/>
                        <a:t>report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assumptions BEFORE running the test.</a:t>
            </a:r>
          </a:p>
          <a:p>
            <a:pPr lvl="0" indent="0" marL="1270000">
              <a:buNone/>
            </a:pPr>
            <a:r>
              <a:rPr sz="2000"/>
              <a:t>If your data seriously violate assumptions, the </a:t>
            </a:r>
            <a:r>
              <a:rPr sz="2000" i="1"/>
              <a:t>p</a:t>
            </a:r>
            <a:r>
              <a:rPr sz="2000"/>
              <a:t>-value from the t-test is unreliable.</a:t>
            </a:r>
          </a:p>
          <a:p>
            <a:pPr lvl="0" indent="0" marL="1270000">
              <a:buNone/>
            </a:pPr>
            <a:r>
              <a:rPr sz="2000"/>
              <a:t>With n = 10 per group, our main concern is </a:t>
            </a:r>
            <a:r>
              <a:rPr sz="2000" b="1"/>
              <a:t>gross non-normality</a:t>
            </a:r>
            <a:r>
              <a:rPr sz="2000"/>
              <a:t>. The t-test is quite robust to mild departures.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1 — Hypotheses (Formal)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Null hypothesis: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Shady and sunny leaves have the </a:t>
                </a:r>
                <a:r>
                  <a:rPr b="1"/>
                  <a:t>same mean weight</a:t>
                </a:r>
                <a:r>
                  <a:rPr/>
                  <a:t> in the population.</a:t>
                </a:r>
              </a:p>
              <a:p>
                <a:pPr lvl="0" indent="0" marL="0">
                  <a:buNone/>
                </a:pPr>
                <a:r>
                  <a:rPr b="1"/>
                  <a:t>Alternate hypothesis (two-tailed):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A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h</m:t>
                          </m:r>
                          <m:r>
                            <m:t>a</m:t>
                          </m:r>
                          <m:r>
                            <m:t>d</m:t>
                          </m:r>
                          <m:r>
                            <m:t>y</m:t>
                          </m:r>
                        </m:sub>
                      </m:sSub>
                      <m:r>
                        <m:rPr>
                          <m:sty m:val="p"/>
                        </m:rPr>
                        <m:t>≠</m:t>
                      </m:r>
                      <m:sSub>
                        <m:e>
                          <m:r>
                            <m:t>μ</m:t>
                          </m:r>
                        </m:e>
                        <m:sub>
                          <m:r>
                            <m:t>s</m:t>
                          </m:r>
                          <m:r>
                            <m:t>u</m:t>
                          </m:r>
                          <m:r>
                            <m:t>n</m:t>
                          </m:r>
                          <m:r>
                            <m:t>n</m:t>
                          </m:r>
                          <m:r>
                            <m:t>y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mean leaf weights </a:t>
                </a:r>
                <a:r>
                  <a:rPr b="1"/>
                  <a:t>differ</a:t>
                </a:r>
                <a:r>
                  <a:rPr/>
                  <a:t> between sides — in either direction.</a:t>
                </a:r>
              </a:p>
              <a:p>
                <a:pPr lvl="0" indent="0" marL="0">
                  <a:buNone/>
                </a:pPr>
                <a:r>
                  <a:rPr b="1"/>
                  <a:t>Significance level:</a:t>
                </a:r>
                <a:r>
                  <a:rPr/>
                  <a:t> α = 0.05</a:t>
                </a:r>
              </a:p>
              <a:p>
                <a:pPr lvl="0" indent="0" marL="0">
                  <a:buNone/>
                </a:pPr>
                <a:r>
                  <a:rPr/>
                  <a:t>We will reject H₀ if </a:t>
                </a:r>
                <a:r>
                  <a:rPr i="1"/>
                  <a:t>p</a:t>
                </a:r>
                <a:r>
                  <a:rPr/>
                  <a:t> &lt; 0.05.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state hypotheses first?</a:t>
            </a:r>
          </a:p>
          <a:p>
            <a:pPr lvl="0"/>
            <a:r>
              <a:rPr/>
              <a:t>Keeps the analysis honest</a:t>
            </a:r>
          </a:p>
          <a:p>
            <a:pPr lvl="0"/>
            <a:r>
              <a:rPr/>
              <a:t>Prevents “HARKing” (Hypothesizing After Results are Known)</a:t>
            </a:r>
          </a:p>
          <a:p>
            <a:pPr lvl="0"/>
            <a:r>
              <a:rPr/>
              <a:t>Forces you to commit to a direction (one-tailed) or not (two-tailed) before seeing the data</a:t>
            </a:r>
          </a:p>
          <a:p>
            <a:pPr lvl="0" indent="0" marL="0">
              <a:buNone/>
            </a:pPr>
            <a:r>
              <a:rPr b="1"/>
              <a:t>Our commitment:</a:t>
            </a:r>
            <a:r>
              <a:rPr/>
              <a:t> two-tailed, α = 0.05, before running any test.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Check Normality: Histogram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Histogram per group to visually check normality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Distribution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</a:t>
            </a:r>
          </a:p>
        </p:txBody>
      </p:sp>
      <p:pic>
        <p:nvPicPr>
          <p:cNvPr descr="t_tests_and_hypotheses_files/figure-pptx/histogram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Roughly </a:t>
            </a:r>
            <a:r>
              <a:rPr b="1"/>
              <a:t>bell-shaped</a:t>
            </a:r>
            <a:r>
              <a:rPr/>
              <a:t> — not heavily skewed</a:t>
            </a:r>
          </a:p>
          <a:p>
            <a:pPr lvl="0"/>
            <a:r>
              <a:rPr/>
              <a:t>No obvious </a:t>
            </a:r>
            <a:r>
              <a:rPr b="1"/>
              <a:t>bimodal</a:t>
            </a:r>
            <a:r>
              <a:rPr/>
              <a:t> peaks</a:t>
            </a:r>
          </a:p>
          <a:p>
            <a:pPr lvl="0"/>
            <a:r>
              <a:rPr/>
              <a:t>No extreme </a:t>
            </a:r>
            <a:r>
              <a:rPr b="1"/>
              <a:t>outliers</a:t>
            </a:r>
          </a:p>
          <a:p>
            <a:pPr lvl="0" indent="0" marL="0">
              <a:buNone/>
            </a:pPr>
            <a:r>
              <a:rPr/>
              <a:t>With n = 10 per group, histograms look lumpy — that is </a:t>
            </a:r>
            <a:r>
              <a:rPr b="1"/>
              <a:t>normal for small samples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Histograms are a visual check only. We also use QQ plots and Shapiro-Wilk.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QQ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Q-Q plot — points should fall along the diagonal line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side, </a:t>
            </a:r>
            <a:r>
              <a:rPr>
                <a:solidFill>
                  <a:srgbClr val="657422"/>
                </a:solidFill>
                <a:latin typeface="Courier"/>
              </a:rPr>
              <a:t>scales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"free"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Q-Q Plots by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qq_norm_plot</a:t>
            </a:r>
          </a:p>
        </p:txBody>
      </p:sp>
      <p:pic>
        <p:nvPicPr>
          <p:cNvPr descr="t_tests_and_hypotheses_files/figure-pptx/qq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read a QQ plot:</a:t>
            </a:r>
          </a:p>
          <a:p>
            <a:pPr lvl="0"/>
            <a:r>
              <a:rPr/>
              <a:t>Points </a:t>
            </a:r>
            <a:r>
              <a:rPr b="1"/>
              <a:t>on the line</a:t>
            </a:r>
            <a:r>
              <a:rPr/>
              <a:t> → data follow a normal distribution</a:t>
            </a:r>
          </a:p>
          <a:p>
            <a:pPr lvl="0"/>
            <a:r>
              <a:rPr/>
              <a:t>Points </a:t>
            </a:r>
            <a:r>
              <a:rPr b="1"/>
              <a:t>curving away</a:t>
            </a:r>
            <a:r>
              <a:rPr/>
              <a:t> at ends → heavy tails or skew</a:t>
            </a:r>
          </a:p>
          <a:p>
            <a:pPr lvl="0"/>
            <a:r>
              <a:rPr/>
              <a:t>With only n = 10, some deviation is expected and acceptable</a:t>
            </a:r>
          </a:p>
          <a:p>
            <a:pPr lvl="0" indent="0" marL="0">
              <a:buNone/>
            </a:pPr>
            <a:r>
              <a:rPr/>
              <a:t>If points follow the line roughly, we are comfortable proceeding with the t-test.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3 — Check Normality: Shapiro-Wilk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sunny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0.8197, p-value = 0.02513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for the shady side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pull</a:t>
            </a:r>
            <a:r>
              <a:rPr>
                <a:solidFill>
                  <a:srgbClr val="003B4F"/>
                </a:solidFill>
                <a:latin typeface="Courier"/>
              </a:rPr>
              <a:t>(weight_g)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.
W = 0.89461, p-value = 0.191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Shapiro-Wilk H₀:</a:t>
            </a:r>
            <a:r>
              <a:rPr/>
              <a:t> the data are normally distributed.</a:t>
            </a:r>
          </a:p>
          <a:p>
            <a:pPr lvl="0"/>
            <a:r>
              <a:rPr i="1"/>
              <a:t>p</a:t>
            </a:r>
            <a:r>
              <a:rPr/>
              <a:t> &gt; 0.05 → </a:t>
            </a:r>
            <a:r>
              <a:rPr b="1"/>
              <a:t>fail to reject</a:t>
            </a:r>
            <a:r>
              <a:rPr/>
              <a:t> normality → proceed with t-test</a:t>
            </a:r>
          </a:p>
          <a:p>
            <a:pPr lvl="0"/>
            <a:r>
              <a:rPr i="1"/>
              <a:t>p</a:t>
            </a:r>
            <a:r>
              <a:rPr/>
              <a:t> &lt; 0.05 → evidence of non-normality → consider a non-parametric alternative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Small-sample caution:</a:t>
            </a:r>
          </a:p>
          <a:p>
            <a:pPr lvl="0" indent="0" marL="1270000">
              <a:buNone/>
            </a:pPr>
            <a:r>
              <a:rPr sz="2000"/>
              <a:t>With n = 10, this test has </a:t>
            </a:r>
            <a:r>
              <a:rPr sz="2000" b="1"/>
              <a:t>low power</a:t>
            </a:r>
            <a:r>
              <a:rPr sz="2000"/>
              <a:t> — it rarely detects non-normality even when present. The QQ plot is equally important.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4 — Check Variance: Levene’s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Levene's test — are the variances similar?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Pr(&gt;F)
group  1     0.6 0.4486
      18          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Levene’s test H₀:</a:t>
            </a:r>
            <a:r>
              <a:rPr/>
              <a:t> the two groups have </a:t>
            </a:r>
            <a:r>
              <a:rPr b="1"/>
              <a:t>equal variance</a:t>
            </a:r>
            <a:r>
              <a:rPr/>
              <a:t>.</a:t>
            </a:r>
          </a:p>
          <a:p>
            <a:pPr lvl="0"/>
            <a:r>
              <a:rPr i="1"/>
              <a:t>p</a:t>
            </a:r>
            <a:r>
              <a:rPr/>
              <a:t> &gt; 0.05 → variances are not significantly different</a:t>
            </a:r>
          </a:p>
          <a:p>
            <a:pPr lvl="0"/>
            <a:r>
              <a:rPr i="1"/>
              <a:t>p</a:t>
            </a:r>
            <a:r>
              <a:rPr/>
              <a:t> &lt; 0.05 → variances are significantly different</a:t>
            </a:r>
          </a:p>
          <a:p>
            <a:pPr lvl="0" indent="0" marL="0">
              <a:buNone/>
            </a:pPr>
            <a:r>
              <a:rPr b="1"/>
              <a:t>Our response regardless of the result:</a:t>
            </a:r>
          </a:p>
          <a:p>
            <a:pPr lvl="0" indent="0" marL="0">
              <a:buNone/>
            </a:pPr>
            <a:r>
              <a:rPr/>
              <a:t>We will use Welch’s t-test (</a:t>
            </a:r>
            <a:r>
              <a:rPr>
                <a:latin typeface="Courier"/>
              </a:rPr>
              <a:t>var.equal = FALSE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/>
              <a:t>Welch’s is valid whether or not the variances are equal. We run Levene’s to </a:t>
            </a:r>
            <a:r>
              <a:rPr i="1"/>
              <a:t>understand our data</a:t>
            </a:r>
            <a:r>
              <a:rPr/>
              <a:t>, not to choose our test.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5 — Run the Welch’s t-Test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— unequal variance 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leaf_ttest_model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weight_g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5E5E5E"/>
                </a:solidFill>
                <a:latin typeface="Courier"/>
              </a:rPr>
              <a:t># formula: response ~ grouping variable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tree_df,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5E5E5E"/>
                </a:solidFill>
                <a:latin typeface="Courier"/>
              </a:rPr>
              <a:t># Welch's — no pooled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alternative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"two.sided"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two-tailed test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leaf_ttest_model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weight_g by side
t = 9.7333, df = 16.834, p-value = 2.514e-08
alternative hypothesis: true difference in means between group shady and group sunny is not equal to 0
95 percent confidence interval:
 3.132297 4.867703
sample estimates:
mean in group shady mean in group sunny 
                7.8                 3.8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arguments: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500"/>
                <a:gridCol w="245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weight_g ~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compare </a:t>
                      </a:r>
                      <a:r>
                        <a:rPr>
                          <a:latin typeface="Courier"/>
                        </a:rPr>
                        <a:t>weight_g</a:t>
                      </a:r>
                      <a:r>
                        <a:rPr/>
                        <a:t> between levels of </a:t>
                      </a:r>
                      <a:r>
                        <a:rPr>
                          <a:latin typeface="Courier"/>
                        </a:rPr>
                        <a:t>side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var.equal = FALSE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Welch’s correction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alternative = "two.sided"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two-tailed 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result is a model object. We decode each line of the output on the next slide.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t.test()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individual values from the model object 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"t-statistic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t-statistic  : 9.733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"df (Welch)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df (Welch)   : 16.83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"p-value   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p-value      : 2.51e-08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"95% CI       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conf.int[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95% CI       : 3.13 to 4.87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shady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shady   : 7.8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"Mean sunny   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sunny   : 3.8 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 by line: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2768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meaning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calculated t-statistic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Welch-Satterthwaite df (non-integer is normal!)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p-value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 of this result if H₀ is true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95% CI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plausible range for the true difference in means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mean of shady/sunny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two group means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95% CI</a:t>
            </a:r>
            <a:r>
              <a:rPr/>
              <a:t> is the range we could expect to see if we repeated this study many times.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5 — Make a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State the decision formally --------------------------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if/else: R checks the condition and runs one of two blocks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We will learn these formally in the functions lecture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alpha &lt;-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br/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(p_val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alpha)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"&lt;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leaf weight differs between sides.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 </a:t>
            </a:r>
            <a:r>
              <a:rPr b="1">
                <a:solidFill>
                  <a:srgbClr val="003B4F"/>
                </a:solidFill>
                <a:latin typeface="Courier"/>
              </a:rPr>
              <a:t>else</a:t>
            </a:r>
            <a:r>
              <a:rPr>
                <a:solidFill>
                  <a:srgbClr val="003B4F"/>
                </a:solidFill>
                <a:latin typeface="Courier"/>
              </a:rPr>
              <a:t>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"&gt;= α ="</a:t>
            </a:r>
            <a:r>
              <a:rPr>
                <a:solidFill>
                  <a:srgbClr val="003B4F"/>
                </a:solidFill>
                <a:latin typeface="Courier"/>
              </a:rPr>
              <a:t>, alpha,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"Decision: FAIL TO REJECT H₀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"Conclusion: insufficient evidence of a difference.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>
                <a:latin typeface="Courier"/>
              </a:rPr>
              <a:t>p = 2.51e-08 &lt; α = 0.05 
Decision: REJECT H₀
Conclusion: leaf weight differs between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What a small p-value means:</a:t>
            </a:r>
          </a:p>
          <a:p>
            <a:pPr lvl="0" indent="0" marL="1270000">
              <a:buNone/>
            </a:pPr>
            <a:r>
              <a:rPr sz="2000"/>
              <a:t>If H₀ were true (no real difference), we would get a t-statistic this large or larger less than </a:t>
            </a:r>
            <a:r>
              <a:rPr sz="2000">
                <a:latin typeface="Courier"/>
              </a:rPr>
              <a:t>p</a:t>
            </a:r>
            <a:r>
              <a:rPr sz="2000"/>
              <a:t> × 100% of the time just by chance.</a:t>
            </a:r>
          </a:p>
          <a:p>
            <a:pPr lvl="0" indent="0" marL="1270000">
              <a:buNone/>
            </a:pPr>
            <a:r>
              <a:rPr sz="2000"/>
              <a:t>We set α = 0.05 </a:t>
            </a:r>
            <a:r>
              <a:rPr sz="2000" i="1"/>
              <a:t>before</a:t>
            </a:r>
            <a:r>
              <a:rPr sz="2000"/>
              <a:t> the test. If </a:t>
            </a:r>
            <a:r>
              <a:rPr sz="2000" i="1"/>
              <a:t>p</a:t>
            </a:r>
            <a:r>
              <a:rPr sz="2000"/>
              <a:t> &lt; α, we reject H₀.</a:t>
            </a:r>
          </a:p>
          <a:p>
            <a:pPr lvl="0" indent="0" marL="0">
              <a:buNone/>
            </a:pPr>
            <a:r>
              <a:rPr b="1"/>
              <a:t>What a small p-value does NOT mean:</a:t>
            </a:r>
          </a:p>
          <a:p>
            <a:pPr lvl="0"/>
            <a:r>
              <a:rPr/>
              <a:t>It is not the probability that H₀ is true</a:t>
            </a:r>
          </a:p>
          <a:p>
            <a:pPr lvl="0"/>
            <a:r>
              <a:rPr/>
              <a:t>Statistical significance ≠ biological importance</a:t>
            </a:r>
          </a:p>
          <a:p>
            <a:pPr lvl="0"/>
            <a:r>
              <a:rPr/>
              <a:t>Report the effect size (difference in means) alongside </a:t>
            </a:r>
            <a:r>
              <a:rPr i="1"/>
              <a:t>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Boxplot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Final boxplot with all points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outlier.shape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NA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2.5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t-test: t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leaf_box_04_plot</a:t>
            </a:r>
          </a:p>
        </p:txBody>
      </p:sp>
      <p:pic>
        <p:nvPicPr>
          <p:cNvPr descr="t_tests_and_hypotheses_files/figure-pptx/boxplot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Including the test result in the figure:</a:t>
            </a:r>
          </a:p>
          <a:p>
            <a:pPr lvl="0"/>
            <a:r>
              <a:rPr>
                <a:latin typeface="Courier"/>
              </a:rPr>
              <a:t>subtitle</a:t>
            </a:r>
            <a:r>
              <a:rPr/>
              <a:t> pulls t and p directly from the model object</a:t>
            </a:r>
          </a:p>
          <a:p>
            <a:pPr lvl="0"/>
            <a:r>
              <a:rPr/>
              <a:t>R fills in the actual numbers automatically</a:t>
            </a:r>
          </a:p>
          <a:p>
            <a:pPr lvl="0"/>
            <a:r>
              <a:rPr/>
              <a:t>If you re-run with new data, the subtitle updates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Embedding test statistics in the plot subtitle saves you from copying numbers by hand — and avoids typos in your report.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Visualize the Result — Mean ± 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± SE plot with individual points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 &lt;- 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side))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position_jitter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"Mean ± SE Leaf Weight by Tree Side"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"Welch's 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")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", p &lt; 0.001"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"Side of Tree"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Weight (g)"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leaf_mean_se_04_plot</a:t>
            </a:r>
          </a:p>
        </p:txBody>
      </p:sp>
      <p:pic>
        <p:nvPicPr>
          <p:cNvPr descr="t_tests_and_hypotheses_files/figure-pptx/mean-se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the error bars tell you:</a:t>
            </a:r>
          </a:p>
          <a:p>
            <a:pPr lvl="0"/>
            <a:r>
              <a:rPr/>
              <a:t>Bars show </a:t>
            </a:r>
            <a:r>
              <a:rPr b="1"/>
              <a:t>± 1 SE</a:t>
            </a:r>
            <a:r>
              <a:rPr/>
              <a:t> — precision of the mean estimate</a:t>
            </a:r>
          </a:p>
          <a:p>
            <a:pPr lvl="0"/>
            <a:r>
              <a:rPr/>
              <a:t>Non-overlapping bars suggest a significant difference</a:t>
            </a:r>
          </a:p>
          <a:p>
            <a:pPr lvl="0" indent="0" marL="0">
              <a:buNone/>
            </a:pPr>
            <a:r>
              <a:rPr b="1"/>
              <a:t>Rule of thumb:</a:t>
            </a:r>
          </a:p>
          <a:p>
            <a:pPr lvl="0" indent="0" marL="0">
              <a:buNone/>
            </a:pPr>
            <a:r>
              <a:rPr/>
              <a:t>If error bars overlap by less than half the bar length, the difference is </a:t>
            </a:r>
            <a:r>
              <a:rPr i="1"/>
              <a:t>likely</a:t>
            </a:r>
            <a:r>
              <a:rPr/>
              <a:t> significant at α = 0.05. The </a:t>
            </a:r>
            <a:r>
              <a:rPr i="1"/>
              <a:t>p</a:t>
            </a:r>
            <a:r>
              <a:rPr/>
              <a:t>-value from the t-test is the definitive answer.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Results in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Compute reporting values from the model object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statistic,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parameter,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p_val2 &lt;-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sentence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sentence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"Shady-side leaves were significantly heavier than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Shady-side leaves were significantly heavier than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"sunny-side leaves (Welch's t-test: t("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df_val,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t_val,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", p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p_val2,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sunny-side leaves (Welch's t-test: t( 16.8 ) = 9.73 , p = 2.5e-08 ).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"Mean ± SE: shady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± SE: shady = 7.8 ± 0.33 g,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         sunny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(leaf_ttest_model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estimate[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"±"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se_wt[recap_df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side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"sunny"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"g.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sunny = 3.8 ± 0.25 g.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format:</a:t>
            </a:r>
          </a:p>
          <a:p>
            <a:pPr lvl="0" indent="0" marL="1270000">
              <a:buNone/>
            </a:pPr>
            <a:r>
              <a:rPr sz="2000" i="1"/>
              <a:t>“[Finding] (Welch’s t-test: t(df) = X.XX, p = X.XXX; mean ± SE: group1 = X.X ± X.X units, group2 = X.X ± X.X units).”</a:t>
            </a:r>
          </a:p>
          <a:p>
            <a:pPr lvl="0" indent="0" marL="0">
              <a:buNone/>
            </a:pPr>
            <a:r>
              <a:rPr b="1"/>
              <a:t>Always include:</a:t>
            </a:r>
          </a:p>
          <a:p>
            <a:pPr lvl="0"/>
            <a:r>
              <a:rPr/>
              <a:t>Test type (Welch’s t-test)</a:t>
            </a:r>
          </a:p>
          <a:p>
            <a:pPr lvl="0"/>
            <a:r>
              <a:rPr/>
              <a:t>t-statistic and df</a:t>
            </a:r>
          </a:p>
          <a:p>
            <a:pPr lvl="0"/>
            <a:r>
              <a:rPr/>
              <a:t>Exact </a:t>
            </a:r>
            <a:r>
              <a:rPr i="1"/>
              <a:t>p</a:t>
            </a:r>
            <a:r>
              <a:rPr/>
              <a:t>-value (or &lt; 0.001)</a:t>
            </a:r>
          </a:p>
          <a:p>
            <a:pPr lvl="0"/>
            <a:r>
              <a:rPr/>
              <a:t>Group means ± SE</a:t>
            </a:r>
          </a:p>
          <a:p>
            <a:pPr lvl="0"/>
            <a:r>
              <a:rPr/>
              <a:t>Units</a:t>
            </a:r>
          </a:p>
          <a:p>
            <a:pPr lvl="0" indent="0" marL="0">
              <a:buNone/>
            </a:pPr>
            <a:r>
              <a:rPr b="1"/>
              <a:t>Never report</a:t>
            </a:r>
            <a:r>
              <a:rPr/>
              <a:t> “p = 0.000” — write “p &lt; 0.001” instead.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Save Your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both plots to the figures folder 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"figures/leaf_weight_boxplot_ttest.png"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leaf_box_04_plot,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"figures/leaf_weight_mean_se_ttest.png"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leaf_mean_se_04_plot,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plots are now in your </a:t>
            </a:r>
            <a:r>
              <a:rPr>
                <a:latin typeface="Courier"/>
              </a:rPr>
              <a:t>figures/</a:t>
            </a:r>
            <a:r>
              <a:rPr/>
              <a:t> folder with the test statistics embedded in the subtitle — ready for a lab report or paper.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dpi = 300</a:t>
            </a:r>
            <a:r>
              <a:rPr sz="2000"/>
              <a:t> is publication quality. Use it for any figure that will appear in a paper, poster, or formal report.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Why we need a hypothesis test — means alone are not enough</a:t>
            </a:r>
          </a:p>
          <a:p>
            <a:pPr lvl="0"/>
            <a:r>
              <a:rPr b="1"/>
              <a:t>Welch’s t-test</a:t>
            </a:r>
            <a:r>
              <a:rPr/>
              <a:t> — use </a:t>
            </a:r>
            <a:r>
              <a:rPr>
                <a:latin typeface="Courier"/>
              </a:rPr>
              <a:t>var.equal = FALSE</a:t>
            </a:r>
            <a:r>
              <a:rPr/>
              <a:t> as the safe default</a:t>
            </a:r>
          </a:p>
          <a:p>
            <a:pPr lvl="0"/>
            <a:r>
              <a:rPr b="1"/>
              <a:t>Two-tailed</a:t>
            </a:r>
            <a:r>
              <a:rPr/>
              <a:t> test — detects differences in either direction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test → report</a:t>
            </a:r>
          </a:p>
          <a:p>
            <a:pPr lvl="0"/>
            <a:r>
              <a:rPr b="1"/>
              <a:t>Reading output</a:t>
            </a:r>
            <a:r>
              <a:rPr/>
              <a:t> — t, df, </a:t>
            </a:r>
            <a:r>
              <a:rPr i="1"/>
              <a:t>p</a:t>
            </a:r>
            <a:r>
              <a:rPr/>
              <a:t>, CI, group means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library(car)</a:t>
            </a:r>
            <a:r>
              <a:rPr/>
              <a:t> + </a:t>
            </a:r>
            <a:r>
              <a:rPr>
                <a:latin typeface="Courier"/>
              </a:rPr>
              <a:t>leveneTest(y ~ group, data)</a:t>
            </a:r>
            <a:r>
              <a:rPr/>
              <a:t> — variance check</a:t>
            </a:r>
          </a:p>
          <a:p>
            <a:pPr lvl="0"/>
            <a:r>
              <a:rPr>
                <a:latin typeface="Courier"/>
              </a:rPr>
              <a:t>filter() %&gt;% pull() %&gt;% shapiro.test()</a:t>
            </a:r>
            <a:r>
              <a:rPr/>
              <a:t> — normality per group</a:t>
            </a:r>
          </a:p>
          <a:p>
            <a:pPr lvl="0"/>
            <a:r>
              <a:rPr>
                <a:latin typeface="Courier"/>
              </a:rPr>
              <a:t>t.test(y ~ group, data, var.equal = FALSE, alternative = "two.sided")</a:t>
            </a:r>
          </a:p>
          <a:p>
            <a:pPr lvl="0"/>
            <a:r>
              <a:rPr>
                <a:latin typeface="Courier"/>
              </a:rPr>
              <a:t>model$statistic</a:t>
            </a:r>
            <a:r>
              <a:rPr/>
              <a:t>, </a:t>
            </a:r>
            <a:r>
              <a:rPr>
                <a:latin typeface="Courier"/>
              </a:rPr>
              <a:t>model$p.value</a:t>
            </a:r>
            <a:r>
              <a:rPr/>
              <a:t>, </a:t>
            </a:r>
            <a:r>
              <a:rPr>
                <a:latin typeface="Courier"/>
              </a:rPr>
              <a:t>model$conf.int</a:t>
            </a:r>
            <a:r>
              <a:rPr/>
              <a:t> — extract results</a:t>
            </a:r>
          </a:p>
          <a:p>
            <a:pPr lvl="0"/>
            <a:r>
              <a:rPr>
                <a:latin typeface="Courier"/>
              </a:rPr>
              <a:t>paste0(...)</a:t>
            </a:r>
            <a:r>
              <a:rPr/>
              <a:t> in subtitle — embed test statistics in figures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§3</a:t>
            </a:r>
            <a:r>
              <a:rPr/>
              <a:t> — Data Transformation</a:t>
            </a:r>
          </a:p>
          <a:p>
            <a:pPr lvl="0"/>
            <a:r>
              <a:rPr/>
              <a:t>📖 </a:t>
            </a:r>
            <a:r>
              <a:rPr>
                <a:hlinkClick r:id="rId3"/>
              </a:rPr>
              <a:t>R4DS §13</a:t>
            </a:r>
            <a:r>
              <a:rPr/>
              <a:t> — Numbers</a:t>
            </a:r>
          </a:p>
          <a:p>
            <a:pPr lvl="0"/>
            <a:r>
              <a:rPr/>
              <a:t>🌐 </a:t>
            </a:r>
            <a:r>
              <a:rPr>
                <a:hlinkClick r:id="rId4"/>
              </a:rPr>
              <a:t>Data Carpentry</a:t>
            </a:r>
          </a:p>
          <a:p>
            <a:pPr lvl="0" indent="0" marL="0">
              <a:buNone/>
            </a:pPr>
            <a:r>
              <a:rPr b="1"/>
              <a:t>Up next — Lecture 05:</a:t>
            </a:r>
          </a:p>
          <a:p>
            <a:pPr lvl="0"/>
            <a:r>
              <a:rPr/>
              <a:t>Linear regression — predicting leaf area from paper tracing mass</a:t>
            </a:r>
          </a:p>
          <a:p>
            <a:pPr lvl="0"/>
            <a:r>
              <a:rPr/>
              <a:t>Building a calibration curve with </a:t>
            </a:r>
            <a:r>
              <a:rPr>
                <a:latin typeface="Courier"/>
              </a:rPr>
              <a:t>lm()</a:t>
            </a:r>
          </a:p>
          <a:p>
            <a:pPr lvl="0"/>
            <a:r>
              <a:rPr/>
              <a:t>R², residuals, and assumption checking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04 — Testing Our Hypothesis</dc:title>
  <dc:creator>Bill Perry</dc:creator>
  <cp:keywords/>
  <dc:description>What are T-Tests and how to run them and test assumptions and interpret.</dc:description>
  <dcterms:created xsi:type="dcterms:W3CDTF">2026-07-02T17:27:57Z</dcterms:created>
  <dcterms:modified xsi:type="dcterms:W3CDTF">2026-07-02T17:27:57Z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4</vt:lpwstr>
  </property>
  <property fmtid="{D5CDD505-2E9C-101B-9397-08002B2CF9AE}" pid="14" name="resources">
    <vt:lpwstr/>
  </property>
  <property fmtid="{D5CDD505-2E9C-101B-9397-08002B2CF9AE}" pid="15" name="subtitle">
    <vt:lpwstr>The two-sample Welch’s t-test from assumptions to results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2</vt:lpwstr>
  </property>
</Properties>
</file>