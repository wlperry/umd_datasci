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atacarpentry.github.io/R-ecology-lesson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Loaded</a:t>
            </a:r>
            <a:r>
              <a:rPr/>
              <a:t> our leaf Excel file with </a:t>
            </a:r>
            <a:r>
              <a:rPr>
                <a:latin typeface="Courier"/>
              </a:rPr>
              <a:t>read_excel()</a:t>
            </a:r>
            <a:r>
              <a:rPr/>
              <a:t>; inspected with </a:t>
            </a:r>
            <a:r>
              <a:rPr>
                <a:latin typeface="Courier"/>
              </a:rPr>
              <a:t>head()</a:t>
            </a:r>
            <a:r>
              <a:rPr/>
              <a:t> and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Companion to Applied Regression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will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Shady mean: </a:t>
            </a:r>
            <a:r>
              <a:rPr b="1"/>
              <a:t>7.80 g</a:t>
            </a:r>
          </a:p>
          <a:p>
            <a:pPr lvl="0"/>
            <a:r>
              <a:rPr/>
              <a:t>Sunny mean: </a:t>
            </a:r>
            <a:r>
              <a:rPr b="1"/>
              <a:t>3.80 g</a:t>
            </a:r>
          </a:p>
          <a:p>
            <a:pPr lvl="0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 indent="0" marL="0">
              <a:buNone/>
            </a:pPr>
            <a:r>
              <a:rPr b="1"/>
              <a:t>But is that gap real, or could it just be sampling noise?</a:t>
            </a:r>
          </a:p>
          <a:p>
            <a:pPr lvl="0" indent="0" marL="0">
              <a:buNone/>
            </a:pPr>
            <a:r>
              <a:rPr/>
              <a:t>With only n = 10 per group, random chance could produce apparent differences. 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04_lecture_powerpoint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to standard t-test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0">
              <a:buNone/>
            </a:pPr>
            <a:r>
              <a:rPr/>
              <a:t>In R: </a:t>
            </a:r>
            <a:r>
              <a:rPr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from the data and compute t by hand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 b="1"/>
                  <a:t>The t-statistic tells us:</a:t>
                </a:r>
                <a:r>
                  <a:rPr/>
                  <a:t> the observed difference is ~10 standard errors above zero — very far from what we’d expect if H₀ were true.</a:t>
                </a:r>
              </a:p>
              <a:p>
                <a:pPr lvl="0" indent="0" marL="0">
                  <a:buNone/>
                </a:pPr>
                <a:r>
                  <a:rPr/>
                  <a:t>We compare this to the </a:t>
                </a:r>
                <a:r>
                  <a:rPr b="1"/>
                  <a:t>t-distribution</a:t>
                </a:r>
                <a:r>
                  <a:rPr/>
                  <a:t> with Welch-Satterthwaite </a:t>
                </a:r>
                <a:r>
                  <a:rPr i="1"/>
                  <a:t>df</a:t>
                </a:r>
                <a:r>
                  <a:rPr/>
                  <a:t> to get the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04_lecture_powerpoint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04_lecture_powerpoint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Data Carpentry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     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formula: 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will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difference in means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04_lecture_powerpoint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shows t and p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title or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     =</a:t>
            </a:r>
            <a:r>
              <a:rPr>
                <a:solidFill>
                  <a:srgbClr val="003B4F"/>
                </a:solidFill>
                <a:latin typeface="Courier"/>
              </a:rPr>
              <a:t> mean,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04_lecture_powerpoint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 (but overlapping bars do NOT necessarily mean no significance!)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ci_lo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ci_hi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t_val,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  <a:r>
              <a:rPr/>
              <a:t> — the test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/>
              <a:t>Embedding results in </a:t>
            </a:r>
            <a:r>
              <a:rPr>
                <a:latin typeface="Courier"/>
              </a:rPr>
              <a:t>subtitle = paste0(...)</a:t>
            </a:r>
            <a:r>
              <a:rPr/>
              <a:t> — reproducible figure labels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More than two groups? → ANOVA</a:t>
            </a:r>
          </a:p>
          <a:p>
            <a:pPr lvl="0"/>
            <a:r>
              <a:rPr/>
              <a:t>Checking ANOVA assumptions</a:t>
            </a:r>
          </a:p>
          <a:p>
            <a:pPr lvl="0"/>
            <a:r>
              <a:rPr/>
              <a:t>Post-hoc tests (which groups differ?)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T-Tests</dc:title>
  <dc:creator>Bill Perry</dc:creator>
  <cp:keywords/>
  <dcterms:created xsi:type="dcterms:W3CDTF">2026-06-28T18:38:23Z</dcterms:created>
  <dcterms:modified xsi:type="dcterms:W3CDTF">2026-06-28T18:38:23Z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2026-06-28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