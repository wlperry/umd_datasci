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05 — Linear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Predicting leaf area from paper tracing mass (Whitlock &amp; Schluter Ch. 17)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Welch’s two-sample t-test</a:t>
            </a:r>
            <a:r>
              <a:rPr/>
              <a:t> — compared mean leaf weight between sunny and shady sides (</a:t>
            </a:r>
            <a:r>
              <a:rPr>
                <a:latin typeface="Courier"/>
              </a:rPr>
              <a:t>var.equal = FALSE</a:t>
            </a:r>
            <a:r>
              <a:rPr/>
              <a:t>, two-tailed)</a:t>
            </a:r>
          </a:p>
          <a:p>
            <a:pPr lvl="0"/>
            <a:r>
              <a:rPr b="1"/>
              <a:t>Five-step framework</a:t>
            </a:r>
            <a:r>
              <a:rPr/>
              <a:t> — hypotheses → normality → variance → run test → report</a:t>
            </a:r>
          </a:p>
          <a:p>
            <a:pPr lvl="1"/>
            <a:r>
              <a:rPr/>
              <a:t>Normality: histogram, QQ plot, Shapiro-Wilk on each group</a:t>
            </a:r>
          </a:p>
          <a:p>
            <a:pPr lvl="1"/>
            <a:r>
              <a:rPr/>
              <a:t>Variance: Levene’s test; Welch’s is safe regardless of the result</a:t>
            </a:r>
          </a:p>
          <a:p>
            <a:pPr lvl="0"/>
            <a:r>
              <a:rPr b="1"/>
              <a:t>Reading </a:t>
            </a:r>
            <a:r>
              <a:rPr b="1">
                <a:latin typeface="Courier"/>
              </a:rPr>
              <a:t>t.test()</a:t>
            </a:r>
            <a:r>
              <a:rPr b="1"/>
              <a:t> output</a:t>
            </a:r>
            <a:r>
              <a:rPr/>
              <a:t> — t-statistic, Welch-Satterthwaite df, </a:t>
            </a:r>
            <a:r>
              <a:rPr i="1"/>
              <a:t>p</a:t>
            </a:r>
            <a:r>
              <a:rPr/>
              <a:t>-value, 95% CI, group means</a:t>
            </a:r>
          </a:p>
          <a:p>
            <a:pPr lvl="0"/>
            <a:r>
              <a:rPr b="1"/>
              <a:t>Result</a:t>
            </a:r>
            <a:r>
              <a:rPr/>
              <a:t> — shady leaves were significantly </a:t>
            </a:r>
            <a:r>
              <a:rPr i="1"/>
              <a:t>heavier</a:t>
            </a:r>
            <a:r>
              <a:rPr/>
              <a:t> than sunny leaves (Welch’s t-test, </a:t>
            </a:r>
            <a:r>
              <a:rPr i="1"/>
              <a:t>p</a:t>
            </a:r>
            <a:r>
              <a:rPr/>
              <a:t> &lt; 0.001)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Transition</a:t>
            </a:r>
          </a:p>
          <a:p>
            <a:pPr lvl="0" indent="0" marL="1270000">
              <a:buNone/>
            </a:pPr>
            <a:r>
              <a:rPr sz="2000"/>
              <a:t>We confirmed that shady and sunny leaves </a:t>
            </a:r>
            <a:r>
              <a:rPr sz="2000" i="1"/>
              <a:t>differ in weight</a:t>
            </a:r>
            <a:r>
              <a:rPr sz="2000"/>
              <a:t>. Today we go further — we build a </a:t>
            </a:r>
            <a:r>
              <a:rPr sz="2000" b="1"/>
              <a:t>calibration curve</a:t>
            </a:r>
            <a:r>
              <a:rPr sz="2000"/>
              <a:t> to convert that weight into a more biologically meaningful measurement: </a:t>
            </a:r>
            <a:r>
              <a:rPr sz="2000" b="1"/>
              <a:t>leaf surface area</a:t>
            </a:r>
            <a:r>
              <a:rPr sz="2000"/>
              <a:t> (cm²).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:r>
                  <a:rPr/>
                  <a:t>Understand what linear regression does and when to use it</a:t>
                </a:r>
              </a:p>
              <a:p>
                <a:pPr lvl="0"/>
                <a:r>
                  <a:rPr/>
                  <a:t>Learn the equation: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t>X</m:t>
                    </m:r>
                  </m:oMath>
                </a14:m>
              </a:p>
              <a:p>
                <a:pPr lvl="1"/>
                <a:r>
                  <a:rPr/>
                  <a:t>slope </a:t>
                </a:r>
                <a:r>
                  <a:rPr i="1"/>
                  <a:t>b</a:t>
                </a:r>
                <a:r>
                  <a:rPr/>
                  <a:t>, intercept </a:t>
                </a:r>
                <a:r>
                  <a:rPr i="1"/>
                  <a:t>a</a:t>
                </a:r>
                <a:r>
                  <a:rPr/>
                  <a:t>, residuals, R²</a:t>
                </a:r>
              </a:p>
              <a:p>
                <a:pPr lvl="0"/>
                <a:r>
                  <a:rPr/>
                  <a:t>Understand </a:t>
                </a:r>
                <a:r>
                  <a:rPr b="1"/>
                  <a:t>least squares</a:t>
                </a:r>
                <a:r>
                  <a:rPr/>
                  <a:t> — what the line minimizes</a:t>
                </a:r>
              </a:p>
              <a:p>
                <a:pPr lvl="0"/>
                <a:r>
                  <a:rPr/>
                  <a:t>Fit a model in R with </a:t>
                </a:r>
                <a:r>
                  <a:rPr>
                    <a:latin typeface="Courier"/>
                  </a:rPr>
                  <a:t>lm()</a:t>
                </a:r>
                <a:r>
                  <a:rPr/>
                  <a:t> and read every line of </a:t>
                </a:r>
                <a:r>
                  <a:rPr>
                    <a:latin typeface="Courier"/>
                  </a:rPr>
                  <a:t>summary()</a:t>
                </a:r>
              </a:p>
              <a:p>
                <a:pPr lvl="0"/>
                <a:r>
                  <a:rPr b="1"/>
                  <a:t>Apply it:</a:t>
                </a:r>
                <a:r>
                  <a:rPr/>
                  <a:t> build a calibration curve to predict leaf area from paper tracing mass</a:t>
                </a:r>
              </a:p>
              <a:p>
                <a:pPr lvl="0"/>
                <a:r>
                  <a:rPr/>
                  <a:t>Check all four assumptions of regression</a:t>
                </a:r>
              </a:p>
              <a:p>
                <a:pPr lvl="0"/>
                <a:r>
                  <a:rPr/>
                  <a:t>Use </a:t>
                </a:r>
                <a:r>
                  <a:rPr>
                    <a:latin typeface="Courier"/>
                  </a:rPr>
                  <a:t>predict()</a:t>
                </a:r>
                <a:r>
                  <a:rPr/>
                  <a:t> to make predictions with intervals</a:t>
                </a:r>
              </a:p>
              <a:p>
                <a:pPr lvl="0"/>
                <a:r>
                  <a:rPr/>
                  <a:t>Use </a:t>
                </a:r>
                <a:r>
                  <a:rPr>
                    <a:latin typeface="Courier"/>
                  </a:rPr>
                  <a:t>mutate()</a:t>
                </a:r>
                <a:r>
                  <a:rPr/>
                  <a:t> to add model results to a data frame</a:t>
                </a:r>
              </a:p>
              <a:p>
                <a:pPr lvl="0" indent="0" marL="1270000">
                  <a:buNone/>
                </a:pPr>
                <a:r>
                  <a:rPr sz="2000" b="1"/>
                  <a:t>Tip</a:t>
                </a:r>
              </a:p>
              <a:p>
                <a:pPr lvl="0" indent="0" marL="1270000">
                  <a:buNone/>
                </a:pPr>
                <a:r>
                  <a:rPr sz="2000" b="1"/>
                  <a:t>🖐 Try it yourself</a:t>
                </a:r>
              </a:p>
              <a:p>
                <a:pPr lvl="0" indent="0" marL="1270000">
                  <a:buNone/>
                </a:pPr>
                <a:r>
                  <a:rPr sz="2000"/>
                  <a:t>By the end you will predict leaf area from a tracing weight.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 today:</a:t>
            </a:r>
          </a:p>
          <a:p>
            <a:pPr lvl="0"/>
            <a:r>
              <a:rPr>
                <a:latin typeface="Courier"/>
              </a:rPr>
              <a:t>readxl</a:t>
            </a:r>
            <a:r>
              <a:rPr/>
              <a:t>, </a:t>
            </a:r>
            <a:r>
              <a:rPr>
                <a:latin typeface="Courier"/>
              </a:rPr>
              <a:t>tidyverse</a:t>
            </a:r>
          </a:p>
          <a:p>
            <a:pPr lvl="0" indent="0" marL="0">
              <a:buNone/>
            </a:pPr>
            <a:r>
              <a:rPr b="1"/>
              <a:t>Textbook:</a:t>
            </a:r>
          </a:p>
          <a:p>
            <a:pPr lvl="0"/>
            <a:r>
              <a:rPr/>
              <a:t>📖 Whitlock &amp; Schluter </a:t>
            </a:r>
            <a:r>
              <a:rPr i="1"/>
              <a:t>Analysis of Biological Data</a:t>
            </a:r>
            <a:r>
              <a:rPr/>
              <a:t> 2nd ed.</a:t>
            </a:r>
          </a:p>
          <a:p>
            <a:pPr lvl="0"/>
            <a:r>
              <a:rPr b="1"/>
              <a:t>Chapter 17 — Regression</a:t>
            </a:r>
            <a:r>
              <a:rPr/>
              <a:t> (pp. 539–575)</a:t>
            </a:r>
          </a:p>
          <a:p>
            <a:pPr lvl="1"/>
            <a:r>
              <a:rPr/>
              <a:t>§17.1 Linear regression</a:t>
            </a:r>
          </a:p>
          <a:p>
            <a:pPr lvl="1"/>
            <a:r>
              <a:rPr/>
              <a:t>§17.3 Testing slope hypotheses</a:t>
            </a:r>
          </a:p>
          <a:p>
            <a:pPr lvl="1"/>
            <a:r>
              <a:rPr/>
              <a:t>§17.4 R²</a:t>
            </a:r>
          </a:p>
          <a:p>
            <a:pPr lvl="1"/>
            <a:r>
              <a:rPr/>
              <a:t>§17.5 Assumptions</a:t>
            </a:r>
          </a:p>
          <a:p>
            <a:pPr lvl="0" indent="0" marL="0">
              <a:buNone/>
            </a:pPr>
            <a:r>
              <a:rPr b="1"/>
              <a:t>Naming conventions:</a:t>
            </a:r>
          </a:p>
          <a:p>
            <a:pPr lvl="0"/>
            <a:r>
              <a:rPr/>
              <a:t>models → </a:t>
            </a:r>
            <a:r>
              <a:rPr>
                <a:latin typeface="Courier"/>
              </a:rPr>
              <a:t>_model</a:t>
            </a:r>
          </a:p>
          <a:p>
            <a:pPr lvl="0"/>
            <a:r>
              <a:rPr/>
              <a:t>plots → </a:t>
            </a:r>
            <a:r>
              <a:rPr>
                <a:latin typeface="Courier"/>
              </a:rPr>
              <a:t>_plot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Our Calibration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problem:</a:t>
            </a:r>
            <a:r>
              <a:rPr/>
              <a:t> measuring leaf surface area without a leaf area meter.</a:t>
            </a:r>
          </a:p>
          <a:p>
            <a:pPr lvl="0" indent="0" marL="0">
              <a:buNone/>
            </a:pPr>
            <a:r>
              <a:rPr b="1"/>
              <a:t>The solution — a calibration curve:</a:t>
            </a:r>
          </a:p>
          <a:p>
            <a:pPr lvl="0" indent="-342900" marL="342900">
              <a:buAutoNum type="arabicPeriod"/>
            </a:pPr>
            <a:r>
              <a:rPr/>
              <a:t>Cut paper squares of </a:t>
            </a:r>
            <a:r>
              <a:rPr b="1"/>
              <a:t>known area</a:t>
            </a:r>
            <a:r>
              <a:rPr/>
              <a:t> (1, 4, 16 … 567 cm²)</a:t>
            </a:r>
          </a:p>
          <a:p>
            <a:pPr lvl="0" indent="-342900" marL="342900">
              <a:buAutoNum type="arabicPeriod"/>
            </a:pPr>
            <a:r>
              <a:rPr b="1"/>
              <a:t>Weigh</a:t>
            </a:r>
            <a:r>
              <a:rPr/>
              <a:t> each square on a precision balance</a:t>
            </a:r>
          </a:p>
          <a:p>
            <a:pPr lvl="0" indent="-342900" marL="342900">
              <a:buAutoNum type="arabicPeriod"/>
            </a:pPr>
            <a:r>
              <a:rPr/>
              <a:t>Fit a </a:t>
            </a:r>
            <a:r>
              <a:rPr b="1"/>
              <a:t>regression line</a:t>
            </a:r>
            <a:r>
              <a:rPr/>
              <a:t>: area ~ mass</a:t>
            </a:r>
          </a:p>
          <a:p>
            <a:pPr lvl="0" indent="-342900" marL="342900">
              <a:buAutoNum type="arabicPeriod"/>
            </a:pPr>
            <a:r>
              <a:rPr/>
              <a:t>Trace a leaf on the </a:t>
            </a:r>
            <a:r>
              <a:rPr i="1"/>
              <a:t>same paper</a:t>
            </a:r>
            <a:r>
              <a:rPr/>
              <a:t>, weigh the tracing</a:t>
            </a:r>
          </a:p>
          <a:p>
            <a:pPr lvl="0" indent="-342900" marL="342900">
              <a:buAutoNum type="arabicPeriod"/>
            </a:pPr>
            <a:r>
              <a:rPr b="1"/>
              <a:t>Plug the tracing mass into the equation</a:t>
            </a:r>
            <a:r>
              <a:rPr/>
              <a:t> → predicted leaf area</a:t>
            </a:r>
          </a:p>
          <a:p>
            <a:pPr lvl="0" indent="0" marL="0">
              <a:buNone/>
            </a:pPr>
            <a:r>
              <a:rPr b="1"/>
              <a:t>Why does this work?</a:t>
            </a:r>
          </a:p>
          <a:p>
            <a:pPr lvl="0" indent="0" marL="0">
              <a:buNone/>
            </a:pPr>
            <a:r>
              <a:rPr/>
              <a:t>Paper of uniform stock has constant </a:t>
            </a:r>
            <a:r>
              <a:rPr i="1"/>
              <a:t>area density</a:t>
            </a:r>
            <a:r>
              <a:rPr/>
              <a:t> (cm² per gram). Mass and area are therefore </a:t>
            </a:r>
            <a:r>
              <a:rPr b="1"/>
              <a:t>perfectly linearly related</a:t>
            </a:r>
            <a:r>
              <a:rPr/>
              <a:t> within a sheet.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495800" y="660400"/>
          <a:ext cx="44069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7100"/>
                <a:gridCol w="2197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Known area (cm²)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 replicates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225–567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Is Linear Regression?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Linear regression</a:t>
            </a:r>
            <a:r>
              <a:rPr/>
              <a:t> draws the </a:t>
            </a:r>
            <a:r>
              <a:rPr i="1"/>
              <a:t>best straight line</a:t>
            </a:r>
            <a:r>
              <a:rPr/>
              <a:t> through a scatter of points to </a:t>
            </a:r>
            <a:r>
              <a:rPr b="1"/>
              <a:t>predict</a:t>
            </a:r>
            <a:r>
              <a:rPr/>
              <a:t> a response variable (Y) from an explanatory variable (X).</a:t>
            </a:r>
          </a:p>
          <a:p>
            <a:pPr lvl="0" indent="0" marL="0">
              <a:buNone/>
            </a:pPr>
            <a:r>
              <a:rPr b="1"/>
              <a:t>Two key roles: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2565400"/>
                <a:gridCol w="812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Our example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Explanatory (X)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 the x-axis; what you measure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mass_g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Response (Y)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 the y-axis; what you want to predict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area_cm2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X is often something easy to measure; Y is what you actually want to know. Regression gives you the equation to convert X → Y.</a:t>
            </a:r>
          </a:p>
          <a:p>
            <a:pPr lvl="0" indent="0" marL="0">
              <a:buNone/>
            </a:pPr>
            <a:r>
              <a:rPr/>
              <a:t>📖 W&amp;S §17.1 p. 540–541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When to use regression:</a:t>
            </a:r>
          </a:p>
          <a:p>
            <a:pPr lvl="0"/>
            <a:r>
              <a:rPr/>
              <a:t>You have </a:t>
            </a:r>
            <a:r>
              <a:rPr b="1"/>
              <a:t>two numeric variables</a:t>
            </a:r>
          </a:p>
          <a:p>
            <a:pPr lvl="0"/>
            <a:r>
              <a:rPr/>
              <a:t>One variable can reasonably </a:t>
            </a:r>
            <a:r>
              <a:rPr b="1"/>
              <a:t>predict or cause</a:t>
            </a:r>
            <a:r>
              <a:rPr/>
              <a:t> the other</a:t>
            </a:r>
          </a:p>
          <a:p>
            <a:pPr lvl="0"/>
            <a:r>
              <a:rPr/>
              <a:t>You want an </a:t>
            </a:r>
            <a:r>
              <a:rPr b="1"/>
              <a:t>equation</a:t>
            </a:r>
            <a:r>
              <a:rPr/>
              <a:t> to make predictions for new observations</a:t>
            </a:r>
          </a:p>
          <a:p>
            <a:pPr lvl="0" indent="0" marL="0">
              <a:buNone/>
            </a:pPr>
            <a:r>
              <a:rPr b="1"/>
              <a:t>Regression vs. our t-test (Lecture 04):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t-test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 two group </a:t>
                      </a:r>
                      <a:r>
                        <a:rPr i="1"/>
                        <a:t>means</a:t>
                      </a:r>
                      <a:r>
                        <a:rPr/>
                        <a:t> differ?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X </a:t>
                      </a:r>
                      <a:r>
                        <a:rPr i="1"/>
                        <a:t>predict</a:t>
                      </a:r>
                      <a:r>
                        <a:rPr/>
                        <a:t> Y numerically?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Regression produces a </a:t>
            </a:r>
            <a:r>
              <a:rPr b="1"/>
              <a:t>predictive equation</a:t>
            </a:r>
            <a:r>
              <a:rPr/>
              <a:t>. The t-test produces a decision about group means.</a:t>
            </a:r>
          </a:p>
        </p:txBody>
      </p:sp>
    </p:spTree>
  </p:cSld>
</p:sld>
</file>

<file path=ppt/slides/slide6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139485" y="78119" /><a:ext cx="8229600" cy="607682" /></a:xfrm></p:spPr><p:txBody><a:bodyPr /><a:lstStyle /><a:p><a:pPr lvl="0" indent="0" marL="0"><a:buNone /></a:pPr><a:r><a:rPr /><a:t>The Regression Equation</a:t></a:r></a:p></p:txBody></p:sp><mc:AlternateContent xmlns:mc="http://schemas.openxmlformats.org/markup-compatibility/2006"><mc:Choice xmlns:a14="http://schemas.microsoft.com/office/drawing/2010/main" Requires="a14"><p:sp><p:nvSpPr><p:cNvPr id="3" name="Text Placeholder 2" /><p:cNvSpPr><a:spLocks noGrp="1" /></p:cNvSpPr><p:nvPr><p:ph idx="1" type="body" /></p:nvPr></p:nvSpPr><p:spPr /><p:txBody><a:bodyPr /><a:lstStyle /><a:p><a:pPr lvl="0" indent="0" marL="0"><a:buNone /></a:pPr><a:r><a:rPr b="1" /><a:t>Population model</a:t></a:r><a:r><a:rPr /><a:t> (W&amp;S §17.1):</a:t></a:r></a:p><a:p><a:pPr lvl="0" indent="0" marL="0"><a:buNone /></a:pPr><a14:m><m:oMathPara xmlns:m="http://schemas.openxmlformats.org/officeDocument/2006/math"><m:oMathParaPr><m:jc m:val="center" /></m:oMathParaPr><m:oMath><m:r><m:t>Y</m:t></m:r><m:r><m:rPr><m:sty m:val="p" /></m:rPr><m:t>=</m:t></m:r><m:r><m:t>α</m:t></m:r><m:r><m:rPr><m:sty m:val="p" /></m:rPr><m:t>+</m:t></m:r><m:r><m:t>β</m:t></m:r><m:r><m:t>X</m:t></m:r><m:r><m:rPr><m:sty m:val="p" /></m:rPr><m:t>+</m:t></m:r><m:r><m:t>ε</m:t></m:r></m:oMath></m:oMathPara></a14:m></a:p><a:p><a:pPr lvl="0" indent="0" marL="0"><a:buNone /></a:pPr><a:r><a:rPr b="1" /><a:t>Sample estimate</a:t></a:r><a:r><a:rPr /><a:t> (what R calculates):</a:t></a:r></a:p><a:p><a:pPr lvl="0" indent="0" marL="0"><a:buNone /></a:pPr><a14:m><m:oMathPara xmlns:m="http://schemas.openxmlformats.org/officeDocument/2006/math"><m:oMathParaPr><m:jc m:val="center" /></m:oMathParaPr><m:oMath><m:acc><m:accPr><m:chr m:val="̂" /></m:accPr><m:e><m:r><m:t>Y</m:t></m:r></m:e></m:acc><m:r><m:rPr><m:sty m:val="p" /></m:rPr><m:t>=</m:t></m:r><m:r><m:t>a</m:t></m:r><m:r><m:rPr><m:sty m:val="p" /></m:rPr><m:t>+</m:t></m:r><m:r><m:t>b</m:t></m:r><m:r><m:t>X</m:t></m:r></m:oMath></m:oMathPara></a14:m></a:p></p:txBody></p:sp></mc:Choice></mc:AlternateContent><p:graphicFrame><p:nvGraphicFramePr><p:cNvPr id="6" name="Content Placeholder 5" /><p:cNvGraphicFramePr><a:graphicFrameLocks noGrp="1" /></p:cNvGraphicFramePr><p:nvPr><p:ph idx="1" /></p:nvPr></p:nvGraphicFramePr><p:xfrm><a:off x="127000" y="1270000" /><a:ext cx="4432300" cy="3302000" /></p:xfrm><a:graphic><a:graphicData uri="http://schemas.openxmlformats.org/drawingml/2006/table"><a:tbl><a:tblPr firstRow="1" bandRow="1"><a:tableStyleId>{5C22544A-7EE6-4342-B048-85BDC9FD1C3A}</a:tableStyleId></a:tblPr><a:tblGrid><a:gridCol w="1473200" /><a:gridCol w="1473200" /><a:gridCol w="1473200" /></a:tblGrid><a:tr h="0"><a:tc><a:txBody><a:bodyPr /><a:lstStyle /><a:p><a:pPr lvl="0" indent="0" marL="0"><a:buNone /></a:pPr><a:r><a:rPr /><a:t>Symbol</a:t></a:r></a:p></a:txBody><a:tcPr /></a:tc><a:tc><a:txBody><a:bodyPr /><a:lstStyle /><a:p><a:pPr lvl="0" indent="0" marL="0"><a:buNone /></a:pPr><a:r><a:rPr /><a:t>Name</a:t></a:r></a:p></a:txBody><a:tcPr /></a:tc><a:tc><a:txBody><a:bodyPr /><a:lstStyle /><a:p><a:pPr lvl="0" indent="0" marL="0"><a:buNone /></a:pPr><a:r><a:rPr /><a:t>Meaning</a:t></a:r></a:p></a:txBody><a:tcPr /></a:tc></a:tr><a:tr h="0"><a:tc><a:txBody><a:bodyPr /><a:lstStyle /><a:p><a:pPr lvl="0" indent="0" marL="0"><a:buNone /></a:pPr><a14:m><m:oMath xmlns:m="http://schemas.openxmlformats.org/officeDocument/2006/math"><m:acc><m:accPr><m:chr m:val="̂" /></m:accPr><m:e><m:r><m:t>Y</m:t></m:r></m:e></m:acc></m:oMath></a14:m></a:p></a:txBody></a:tc><a:tc><a:txBody><a:bodyPr /><a:lstStyle /><a:p><a:pPr lvl="0" indent="0" marL="0"><a:buNone /></a:pPr><a:r><a:rPr /><a:t>predicted Y</a:t></a:r></a:p></a:txBody></a:tc><a:tc><a:txBody><a:bodyPr /><a:lstStyle /><a:p><a:pPr lvl="0" indent="0" marL="0"><a:buNone /></a:pPr><a:r><a:rPr /><a:t>estimated mean area at a given mass</a:t></a:r></a:p></a:txBody></a:tc></a:tr><a:tr h="0"><a:tc><a:txBody><a:bodyPr /><a:lstStyle /><a:p><a:pPr lvl="0" indent="0" marL="0"><a:buNone /></a:pPr><a:r><a:rPr i="1" /><a:t>a</a:t></a:r></a:p></a:txBody></a:tc><a:tc><a:txBody><a:bodyPr /><a:lstStyle /><a:p><a:pPr lvl="0" indent="0" marL="0"><a:buNone /></a:pPr><a:r><a:rPr /><a:t>intercept</a:t></a:r></a:p></a:txBody></a:tc><a:tc><a:txBody><a:bodyPr /><a:lstStyle /><a:p><a:pPr lvl="0" indent="0" marL="0"><a:buNone /></a:pPr><a:r><a:rPr /><a:t>predicted Y when X = 0</a:t></a:r></a:p></a:txBody></a:tc></a:tr><a:tr h="0"><a:tc><a:txBody><a:bodyPr /><a:lstStyle /><a:p><a:pPr lvl="0" indent="0" marL="0"><a:buNone /></a:pPr><a:r><a:rPr i="1" /><a:t>b</a:t></a:r></a:p></a:txBody></a:tc><a:tc><a:txBody><a:bodyPr /><a:lstStyle /><a:p><a:pPr lvl="0" indent="0" marL="0"><a:buNone /></a:pPr><a:r><a:rPr /><a:t>slope</a:t></a:r></a:p></a:txBody></a:tc><a:tc><a:txBody><a:bodyPr /><a:lstStyle /><a:p><a:pPr lvl="0" indent="0" marL="0"><a:buNone /></a:pPr><a:r><a:rPr /><a:t>change in Y per 1-unit increase in X</a:t></a:r></a:p></a:txBody></a:tc></a:tr><a:tr h="0"><a:tc><a:txBody><a:bodyPr /><a:lstStyle /><a:p><a:pPr lvl="0" indent="0" marL="0"><a:buNone /></a:pPr><a14:m><m:oMath xmlns:m="http://schemas.openxmlformats.org/officeDocument/2006/math"><m:r><m:t>ε</m:t></m:r></m:oMath></a14:m></a:p></a:txBody></a:tc><a:tc><a:txBody><a:bodyPr /><a:lstStyle /><a:p><a:pPr lvl="0" indent="0" marL="0"><a:buNone /></a:pPr><a:r><a:rPr /><a:t>residual</a:t></a:r></a:p></a:txBody></a:tc><a:tc><a:txBody><a:bodyPr /><a:lstStyle /><a:p><a:pPr lvl="0" indent="0" marL="0"><a:buNone /></a:pPr><a:r><a:rPr /><a:t>observed − predicted</a:t></a:r></a:p></a:txBody></a:tc></a:tr></a:tbl></a:graphicData></a:graphic></p:graphicFrame><mc:AlternateContent xmlns:mc="http://schemas.openxmlformats.org/markup-compatibility/2006"><mc:Choice xmlns:a14="http://schemas.microsoft.com/office/drawing/2010/main" Requires="a14"><p:sp><p:nvSpPr><p:cNvPr id="4" name="Content Placeholder 3" /><p:cNvSpPr><a:spLocks noGrp="1" /></p:cNvSpPr><p:nvPr><p:ph idx="2" sz="half" /></p:nvPr></p:nvSpPr><p:spPr /><p:txBody><a:bodyPr /><a:lstStyle /><a:p><a:pPr lvl="0" indent="0" marL="0"><a:buNone /></a:pPr><a:r><a:rPr b="1" /><a:t>Our equation will be:</a:t></a:r></a:p><a:p><a:pPr lvl="0" indent="0" marL="0"><a:buNone /></a:pPr><a14:m><m:oMathPara xmlns:m="http://schemas.openxmlformats.org/officeDocument/2006/math"><m:oMathParaPr><m:jc m:val="center" /></m:oMathParaPr><m:oMath><m:acc><m:accPr><m:chr m:val="̂" /></m:accPr><m:e><m:r><m:rPr><m:nor /><m:sty m:val="p" /></m:rPr><m:t>area</m:t></m:r></m:e></m:acc><m:r><m:rPr><m:sty m:val="p" /></m:rPr><m:t>=</m:t></m:r><m:r><m:t>a</m:t></m:r><m:r><m:rPr><m:sty m:val="p" /></m:rPr><m:t>+</m:t></m:r><m:r><m:t>b</m:t></m:r><m:r><m:rPr><m:sty m:val="p" /></m:rPr><m:t>×</m:t></m:r><m:r><m:rPr><m:nor /><m:sty m:val="p" /></m:rPr><m:t>mass_g</m:t></m:r></m:oMath></m:oMathPara></a14:m></a:p></p:txBody></p:sp></mc:Choice></mc:AlternateContent><p:sp><p:nvSpPr><p:cNvPr id="5" name="Text Placeholder 4" /><p:cNvSpPr><a:spLocks noGrp="1" /></p:cNvSpPr><p:nvPr><p:ph idx="3" sz="quarter" type="body" /></p:nvPr></p:nvSpPr><p:spPr /><p:txBody><a:bodyPr /><a:lstStyle /><a:p><a:pPr lvl="0" indent="0" marL="0"><a:buNone /></a:pPr><a:r><a:rPr b="1" /><a:t>Interpreting the slope:</a:t></a:r></a:p><a:p><a:pPr lvl="0" indent="0" marL="1270000"><a:buNone /></a:pPr><a:r><a:rPr sz="2000" i="1" /><a:t>b</a:t></a:r><a:r><a:rPr sz="2000" /><a:t> = the change in area (cm²) for every additional 1 gram of paper</a:t></a:r></a:p><a:p><a:pPr lvl="0" indent="0" marL="0"><a:buNone /></a:pPr><a:r><a:rPr /><a:t>Since 1 g ≈ 130 cm² of paper, the slope is the </a:t></a:r><a:r><a:rPr b="1" /><a:t>area density</a:t></a:r><a:r><a:rPr /><a:t> of the paper stock.</a:t></a:r></a:p><a:p><a:pPr lvl="0" indent="0" marL="0"><a:buNone /></a:pPr><a:r><a:rPr b="1" /><a:t>Interpreting the intercept:</a:t></a:r></a:p><a:p><a:pPr lvl="0" indent="0" marL="1270000"><a:buNone /></a:pPr><a:r><a:rPr sz="2000" i="1" /><a:t>a</a:t></a:r><a:r><a:rPr sz="2000" /><a:t> = predicted area when mass = 0</a:t></a:r></a:p><a:p><a:pPr lvl="0" indent="0" marL="0"><a:buNone /></a:pPr><a:r><a:rPr /><a:t>Physically this should be 0 (no paper, no area). Small non-zero values reflect measurement error.</a:t></a:r></a:p><a:p><a:pPr lvl="0" indent="0" marL="0"><a:buNone /></a:pPr><a:r><a:rPr /><a:t>📖 W&amp;S §17.1 pp. 543–545</a:t></a:r></a:p></p:txBody></p:sp></p:spTree></p:cSld>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Residuals and Least Squares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Residual</a:t>
                </a:r>
                <a:r>
                  <a:rPr/>
                  <a:t> for observation </a:t>
                </a:r>
                <a:r>
                  <a:rPr i="1"/>
                  <a:t>i</a:t>
                </a:r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e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observed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rPr>
                          <m:nor/>
                          <m:sty m:val="p"/>
                        </m:rPr>
                        <m:t>predicted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least-squares line</a:t>
                </a:r>
                <a:r>
                  <a:rPr/>
                  <a:t> minimizes the sum of </a:t>
                </a:r>
                <a:r>
                  <a:rPr i="1"/>
                  <a:t>squared</a:t>
                </a:r>
                <a:r>
                  <a:rPr/>
                  <a:t> residuals: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minimize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m:t>(</m:t>
                          </m:r>
                        </m:e>
                      </m:nary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</m:e>
                        <m:sub>
                          <m:r>
                            <m:t>i</m:t>
                          </m:r>
                        </m:sub>
                      </m:sSub>
                      <m:sSup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</m:oMath>
                  </m:oMathPara>
                </a14:m>
              </a:p>
              <a:p>
                <a:pPr lvl="0"/>
                <a:r>
                  <a:rPr/>
                  <a:t>Squaring serves two purposes:</a:t>
                </a:r>
              </a:p>
              <a:p>
                <a:pPr lvl="1"/>
                <a:r>
                  <a:rPr/>
                  <a:t>- Makes all deviations </a:t>
                </a:r>
                <a:r>
                  <a:rPr b="1"/>
                  <a:t>positive</a:t>
                </a:r>
                <a:r>
                  <a:rPr/>
                  <a:t> (no cancellation)</a:t>
                </a:r>
              </a:p>
              <a:p>
                <a:pPr lvl="1"/>
                <a:r>
                  <a:rPr/>
                  <a:t>- Penalizes </a:t>
                </a:r>
                <a:r>
                  <a:rPr b="1"/>
                  <a:t>large</a:t>
                </a:r>
                <a:r>
                  <a:rPr/>
                  <a:t> deviations more than small ones</a:t>
                </a:r>
              </a:p>
              <a:p>
                <a:pPr lvl="0"/>
                <a:r>
                  <a:rPr/>
                  <a:t>There is only one line that achieves this minimum — it is unique.</a:t>
                </a:r>
              </a:p>
              <a:p>
                <a:pPr lvl="0"/>
                <a:r>
                  <a:rPr/>
                  <a:t>📖 W&amp;S §17.1 p. 542 (Figure 17.1-2)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Visual intuition:</a:t>
            </a:r>
          </a:p>
          <a:p>
            <a:pPr lvl="0" indent="0" marL="0">
              <a:buNone/>
            </a:pPr>
            <a:r>
              <a:rPr/>
              <a:t>Each data point has a </a:t>
            </a:r>
            <a:r>
              <a:rPr b="1"/>
              <a:t>vertical residual</a:t>
            </a:r>
            <a:r>
              <a:rPr/>
              <a:t> — the distance from the point to the regression line.</a:t>
            </a:r>
          </a:p>
          <a:p>
            <a:pPr lvl="0" indent="0">
              <a:buNone/>
            </a:pPr>
            <a:r>
              <a:rPr>
                <a:latin typeface="Courier"/>
              </a:rPr>
              <a:t>observed Y │     ●  ← residual (positive)
           │     |
predicted Ŷ│-----●--- regression line
           │
           └──────────── X</a:t>
            </a:r>
          </a:p>
          <a:p>
            <a:pPr lvl="0" indent="0" marL="0">
              <a:buNone/>
            </a:pPr>
            <a:r>
              <a:rPr/>
              <a:t>A point </a:t>
            </a:r>
            <a:r>
              <a:rPr i="1"/>
              <a:t>above</a:t>
            </a:r>
            <a:r>
              <a:rPr/>
              <a:t> the line has a </a:t>
            </a:r>
            <a:r>
              <a:rPr b="1"/>
              <a:t>positive</a:t>
            </a:r>
            <a:r>
              <a:rPr/>
              <a:t> residual. A point </a:t>
            </a:r>
            <a:r>
              <a:rPr i="1"/>
              <a:t>below</a:t>
            </a:r>
            <a:r>
              <a:rPr/>
              <a:t> has a </a:t>
            </a:r>
            <a:r>
              <a:rPr b="1"/>
              <a:t>negative</a:t>
            </a:r>
            <a:r>
              <a:rPr/>
              <a:t> residual. The sum of all residuals = 0.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R² — How Much Does X Explain?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R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regression</m:t>
                              </m:r>
                            </m:sub>
                          </m:sSub>
                        </m:num>
                        <m:den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total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residual</m:t>
                              </m:r>
                            </m:sub>
                          </m:sSub>
                        </m:num>
                        <m:den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total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/>
                <a:r>
                  <a:rPr b="1"/>
                  <a:t>SS_total</a:t>
                </a:r>
                <a:r>
                  <a:rPr/>
                  <a:t> = total variation in Y around its mean</a:t>
                </a:r>
              </a:p>
              <a:p>
                <a:pPr lvl="0"/>
                <a:r>
                  <a:rPr b="1"/>
                  <a:t>SS_regression</a:t>
                </a:r>
                <a:r>
                  <a:rPr/>
                  <a:t> = variation explained by X</a:t>
                </a:r>
              </a:p>
              <a:p>
                <a:pPr lvl="0"/>
                <a:r>
                  <a:rPr b="1"/>
                  <a:t>SS_residual</a:t>
                </a:r>
                <a:r>
                  <a:rPr/>
                  <a:t> = variation </a:t>
                </a:r>
                <a:r>
                  <a:rPr i="1"/>
                  <a:t>not</a:t>
                </a:r>
                <a:r>
                  <a:rPr/>
                  <a:t> explained (scatter around the line)</a:t>
                </a:r>
              </a:p>
              <a:p>
                <a:pPr lvl="0" indent="0" marL="0">
                  <a:buNone/>
                </a:pPr>
                <a:r>
                  <a:rPr/>
                  <a:t>R² ranges from 0 to 1:</a:t>
                </a:r>
              </a:p>
            </p:txBody>
          </p:sp>
        </mc:Choice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Interpretation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 explains all variation in 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 explains 85% of variation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 explains nothing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📖 W&amp;S §17.4 p. 555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Our calibration data:</a:t>
            </a:r>
          </a:p>
          <a:p>
            <a:pPr lvl="0" indent="0" marL="0">
              <a:buNone/>
            </a:pPr>
            <a:r>
              <a:rPr/>
              <a:t>Because paper has uniform density, mass and area are nearly perfectly linearly related.</a:t>
            </a:r>
          </a:p>
          <a:p>
            <a:pPr lvl="0" indent="0" marL="0">
              <a:buNone/>
            </a:pPr>
            <a:r>
              <a:rPr/>
              <a:t>We expect R² ≈ 1.00.</a:t>
            </a:r>
          </a:p>
          <a:p>
            <a:pPr lvl="0" indent="0" marL="0">
              <a:buNone/>
            </a:pPr>
            <a:r>
              <a:rPr b="1"/>
              <a:t>Important:</a:t>
            </a:r>
            <a:r>
              <a:rPr/>
              <a:t> R² tells you </a:t>
            </a:r>
            <a:r>
              <a:rPr i="1"/>
              <a:t>how well the line fits</a:t>
            </a:r>
            <a:r>
              <a:rPr/>
              <a:t> the data you have. It does not by itself tell you whether the relationship is statistically significant — that requires a test of the slope.</a:t>
            </a:r>
          </a:p>
          <a:p>
            <a:pPr lvl="0" indent="0" marL="0">
              <a:buNone/>
            </a:pPr>
            <a:r>
              <a:rPr/>
              <a:t>A significant slope with a low R² is possible (weak but real relationship). In biology, R² values of 0.3–0.7 are common and meaningful.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Assumptions of Regression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Four assumptions must hold for the p-value and confidence intervals to be valid (W&amp;S §17.5):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/>
                <a:gridCol w="1473200"/>
                <a:gridCol w="147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to check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Linearity</a:t>
                      </a:r>
                      <a:r>
                        <a:rPr/>
                        <a:t> — Y changes linearly with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Residual vs. fitted plot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Independence</a:t>
                      </a:r>
                      <a:r>
                        <a:rPr/>
                        <a:t> — observations are independent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Study design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Equal variance</a:t>
                      </a:r>
                      <a:r>
                        <a:rPr/>
                        <a:t> — spread of residuals is constant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Residual vs. fitted plot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Normality</a:t>
                      </a:r>
                      <a:r>
                        <a:rPr/>
                        <a:t> — residuals are normally distributed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QQ plot + Shapiro-Wilk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Check residuals, not raw data.</a:t>
            </a:r>
          </a:p>
          <a:p>
            <a:pPr lvl="0" indent="0" marL="1270000">
              <a:buNone/>
            </a:pPr>
            <a:r>
              <a:rPr sz="2000"/>
              <a:t>The normality assumption is about the </a:t>
            </a:r>
            <a:r>
              <a:rPr sz="2000" b="1"/>
              <a:t>residuals</a:t>
            </a:r>
            <a:r>
              <a:rPr sz="2000"/>
              <a:t> (observed − predicted), not the original Y values.</a:t>
            </a:r>
          </a:p>
          <a:p>
            <a:pPr lvl="0" indent="0" marL="1270000">
              <a:buNone/>
            </a:pPr>
            <a:r>
              <a:rPr sz="2000"/>
              <a:t>A well-fitted residual plot looks like a random horizontal cloud of points centered at zero — no curves, no funnel shapes.</a:t>
            </a:r>
          </a:p>
          <a:p>
            <a:pPr lvl="0" indent="0" marL="0">
              <a:buNone/>
            </a:pPr>
            <a:r>
              <a:rPr/>
              <a:t>📖 W&amp;S §17.5 pp. 557–560 (Figures 17.5-1, 17.5-4)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Load Libraries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packages at the top of the script 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</a:t>
            </a:r>
            <a:r>
              <a:rPr>
                <a:solidFill>
                  <a:srgbClr val="5E5E5E"/>
                </a:solidFill>
                <a:latin typeface="Courier"/>
              </a:rPr>
              <a:t># reading Excel files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data manipulation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(skimr) </a:t>
            </a:r>
            <a:r>
              <a:rPr>
                <a:solidFill>
                  <a:srgbClr val="5E5E5E"/>
                </a:solidFill>
                <a:latin typeface="Courier"/>
              </a:rPr>
              <a:t># fast data overview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the paper calibration data 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paper_df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"data/paper_area_weights.xlsx"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The file </a:t>
            </a:r>
            <a:r>
              <a:rPr sz="2000">
                <a:latin typeface="Courier"/>
              </a:rPr>
              <a:t>paper_area_weights.xlsx</a:t>
            </a:r>
            <a:r>
              <a:rPr sz="2000"/>
              <a:t> contains 118 paper squares of </a:t>
            </a:r>
            <a:r>
              <a:rPr sz="2000" b="1"/>
              <a:t>known area</a:t>
            </a:r>
            <a:r>
              <a:rPr sz="2000"/>
              <a:t> (1–567 cm²) with their measured masses. This is the calibration dataset we use to predict leaf area from a tracing weight.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Inspect the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Quick overview of the calibration data 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skim</a:t>
            </a:r>
            <a:r>
              <a:rPr>
                <a:solidFill>
                  <a:srgbClr val="003B4F"/>
                </a:solidFill>
                <a:latin typeface="Courier"/>
              </a:rPr>
              <a:t>(paper_df)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27940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paper_df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Number of rows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118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Number of columns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_______________________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Column type frequency: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numeric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________________________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Group variables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None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>
            <p:ph idx="1"/>
          </p:nvPr>
        </p:nvSpPr>
        <p:spPr>
          <a:xfrm>
            <a:off x="127000" y="4064000"/>
            <a:ext cx="4432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Data summary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Variable type: numeric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600"/>
                <a:gridCol w="533400"/>
                <a:gridCol w="736600"/>
                <a:gridCol w="317500"/>
                <a:gridCol w="368300"/>
                <a:gridCol w="152400"/>
                <a:gridCol w="266700"/>
                <a:gridCol w="317500"/>
                <a:gridCol w="317500"/>
                <a:gridCol w="368300"/>
                <a:gridCol w="3175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skim_variable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n_missing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complete_rate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hist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area_cm2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71.64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144.46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16.00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64.00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567.00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▇▁▁▁▁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mass_g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▇▁▁▁▁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How many squares per area group? 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paper_df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(area_cm2)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(mass_g),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10 × 3
   area_cm2     n mean_wt
      &lt;dbl&gt; &lt;int&gt;   &lt;dbl&gt;
 1        1    25 0.00677
 2        4    32 0.0299 
 3       16    24 0.121  
 4       36     3 0.269  
 5       64     7 0.484  
 6      100    14 0.760  
 7      225     1 1.74   
 8      400     6 3.07   
 9      500     1 3.77   
10      567     5 4.35   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First Plot — Scatter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Scatter plot of area vs mass to check linearity 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scatter_05_plot &lt;- paper_df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mass_g,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area_cm2))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"Paper Mass vs. Known Area"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"Mass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"Area (cm²)"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scatter_05_plot</a:t>
            </a:r>
          </a:p>
        </p:txBody>
      </p:sp>
      <p:pic>
        <p:nvPicPr>
          <p:cNvPr descr="regressions_files/figure-pptx/scatter-raw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to look for before fitting:</a:t>
            </a:r>
          </a:p>
          <a:p>
            <a:pPr lvl="0"/>
            <a:r>
              <a:rPr/>
              <a:t>Is the relationship </a:t>
            </a:r>
            <a:r>
              <a:rPr b="1"/>
              <a:t>linear</a:t>
            </a:r>
            <a:r>
              <a:rPr/>
              <a:t>? → points should follow a straight line</a:t>
            </a:r>
          </a:p>
          <a:p>
            <a:pPr lvl="0"/>
            <a:r>
              <a:rPr/>
              <a:t>Is the variance </a:t>
            </a:r>
            <a:r>
              <a:rPr b="1"/>
              <a:t>constant</a:t>
            </a:r>
            <a:r>
              <a:rPr/>
              <a:t>? → spread around the trend should look similar at all X values</a:t>
            </a:r>
          </a:p>
          <a:p>
            <a:pPr lvl="0"/>
            <a:r>
              <a:rPr/>
              <a:t>Any obvious </a:t>
            </a:r>
            <a:r>
              <a:rPr b="1"/>
              <a:t>outliers</a:t>
            </a:r>
            <a:r>
              <a:rPr/>
              <a:t>?</a:t>
            </a:r>
          </a:p>
          <a:p>
            <a:pPr lvl="0" indent="0" marL="0">
              <a:buNone/>
            </a:pPr>
            <a:r>
              <a:rPr/>
              <a:t>Both variables are continuous and numeric → linear regression is appropriate.</a:t>
            </a:r>
          </a:p>
          <a:p>
            <a:pPr lvl="0" indent="0" marL="0">
              <a:buNone/>
            </a:pPr>
            <a:r>
              <a:rPr/>
              <a:t>📖 W&amp;S §17.1 p. 541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Fit the Model with </a:t>
            </a:r>
            <a:r>
              <a:rPr>
                <a:latin typeface="Courier"/>
              </a:rPr>
              <a:t>lm() - Linear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Fit the least-squares regression line ---------------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formula: response ~ predictor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paper_lm_model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(area_cm2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mass_g,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paper_df)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Full model summary — every number matters 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(paper_lm_model)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area_cm2 ~ mass_g, data = paper_df)
Residuals:
    Min      1Q  Median      3Q     Max 
-7.2774 -0.3059 -0.1221  0.2264  8.7592 
Coefficients:
            Estimate Std. Error t value Pr(&gt;|t|)    
(Intercept)   0.2792     0.1812   1.541    0.126    
mass_g      130.5234     0.1473 885.964   &lt;2e-16 ***
---
Signif. codes:  0 '***' 0.001 '**' 0.01 '*' 0.05 '.' 0.1 ' ' 1
Residual standard error: 1.764 on 116 degrees of freedom
Multiple R-squared:  0.9999,    Adjusted R-squared:  0.9999 
F-statistic: 7.849e+05 on 1 and 116 DF,  p-value: &lt; 2.2e-16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</a:t>
            </a:r>
            <a:r>
              <a:rPr b="1">
                <a:latin typeface="Courier"/>
              </a:rPr>
              <a:t>lm()</a:t>
            </a:r>
            <a:r>
              <a:rPr b="1"/>
              <a:t> formula syntax:</a:t>
            </a:r>
          </a:p>
          <a:p>
            <a:pPr lvl="0"/>
            <a:r>
              <a:rPr>
                <a:latin typeface="Courier"/>
              </a:rPr>
              <a:t>lm(Y ~ X, data = df)</a:t>
            </a:r>
          </a:p>
          <a:p>
            <a:pPr lvl="1"/>
            <a:r>
              <a:rPr>
                <a:latin typeface="Courier"/>
              </a:rPr>
              <a:t>Y</a:t>
            </a:r>
            <a:r>
              <a:rPr/>
              <a:t> goes on the </a:t>
            </a:r>
            <a:r>
              <a:rPr b="1"/>
              <a:t>left</a:t>
            </a:r>
            <a:r>
              <a:rPr/>
              <a:t> of </a:t>
            </a:r>
            <a:r>
              <a:rPr>
                <a:latin typeface="Courier"/>
              </a:rPr>
              <a:t>~</a:t>
            </a:r>
          </a:p>
          <a:p>
            <a:pPr lvl="1"/>
            <a:r>
              <a:rPr>
                <a:latin typeface="Courier"/>
              </a:rPr>
              <a:t>X</a:t>
            </a:r>
            <a:r>
              <a:rPr/>
              <a:t> goes on the </a:t>
            </a:r>
            <a:r>
              <a:rPr b="1"/>
              <a:t>right</a:t>
            </a:r>
          </a:p>
          <a:p>
            <a:pPr lvl="1"/>
            <a:r>
              <a:rPr>
                <a:latin typeface="Courier"/>
              </a:rPr>
              <a:t>~</a:t>
            </a:r>
            <a:r>
              <a:rPr/>
              <a:t> reads as “is predicted by”</a:t>
            </a:r>
          </a:p>
          <a:p>
            <a:pPr lvl="0"/>
            <a:r>
              <a:rPr/>
              <a:t>So </a:t>
            </a:r>
            <a:r>
              <a:rPr>
                <a:latin typeface="Courier"/>
              </a:rPr>
              <a:t>area_cm2 ~ mass_g</a:t>
            </a:r>
            <a:r>
              <a:rPr/>
              <a:t> means: “area is predicted by mass”</a:t>
            </a:r>
          </a:p>
          <a:p>
            <a:pPr lvl="0"/>
            <a:r>
              <a:rPr/>
              <a:t>The result is a </a:t>
            </a:r>
            <a:r>
              <a:rPr b="1"/>
              <a:t>model object</a:t>
            </a:r>
            <a:r>
              <a:rPr/>
              <a:t> — we can extract everything from it.</a:t>
            </a:r>
          </a:p>
          <a:p>
            <a:pPr lvl="0"/>
            <a:r>
              <a:rPr/>
              <a:t>📖 W&amp;S §17.1 p. 543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Reading the </a:t>
            </a:r>
            <a:r>
              <a:rPr>
                <a:latin typeface="Courier"/>
              </a:rPr>
              <a:t>summary()</a:t>
            </a:r>
            <a:r>
              <a:rPr/>
              <a:t> Output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Extract the key numbers from the model 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a_intercept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(paper_lm_model)[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 </a:t>
            </a:r>
            <a:r>
              <a:rPr>
                <a:solidFill>
                  <a:srgbClr val="5E5E5E"/>
                </a:solidFill>
                <a:latin typeface="Courier"/>
              </a:rPr>
              <a:t># intercept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b_slope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(paper_lm_model)[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 </a:t>
            </a:r>
            <a:r>
              <a:rPr>
                <a:solidFill>
                  <a:srgbClr val="5E5E5E"/>
                </a:solidFill>
                <a:latin typeface="Courier"/>
              </a:rPr>
              <a:t># slope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"Intercept (a)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(a_intercept,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Intercept (a) = 0.2792 cm²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"Slope (b)  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(b_slope,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"cm²/g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Slope (b)     = 130.52 cm²/g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Decode the Coefficients table: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(Intercept)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a</a:t>
                      </a:r>
                      <a:r>
                        <a:rPr/>
                        <a:t> — predicted area when mass = 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mass_g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b</a:t>
                      </a:r>
                      <a:r>
                        <a:rPr/>
                        <a:t> — cm² per gram of paper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Std. Error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uncertainty in each estimate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 value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b</a:t>
                      </a:r>
                      <a:r>
                        <a:rPr/>
                        <a:t> / SE — tests if slope ≠ 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Pr(&gt;|t|)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p</a:t>
                      </a:r>
                      <a:r>
                        <a:rPr/>
                        <a:t>-value for that t-test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H₀:</a:t>
            </a:r>
            <a:r>
              <a:rPr/>
              <a:t> β = 0 (mass does not predict area)</a:t>
            </a:r>
          </a:p>
          <a:p>
            <a:pPr lvl="0" indent="0" marL="0">
              <a:buNone/>
            </a:pPr>
            <a:r>
              <a:rPr b="1"/>
              <a:t>Hₐ:</a:t>
            </a:r>
            <a:r>
              <a:rPr/>
              <a:t> β ≠ 0 — our slope tests this hypothesis</a:t>
            </a:r>
          </a:p>
          <a:p>
            <a:pPr lvl="0" indent="0" marL="0">
              <a:buNone/>
            </a:pPr>
            <a:r>
              <a:rPr/>
              <a:t>📖 W&amp;S §17.3 p. 551–553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Calibration Equation and R²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Extract R-squared and build the equation label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r2_val &lt;- </a:t>
            </a: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(paper_lm_model)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r.squared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"R²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(r2_val,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R² = 0.999852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"Calibration equation: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Calibration equation: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  area (cm²) ="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(b_slope,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"× mass (g) +"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(a_intercept,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area (cm²) = 130.52 × mass (g) + 0.2792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"Interpretation of slope: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Interpretation of slope: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  Every 1 g of paper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(b_slope,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 of area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Every 1 g of paper = 130.5 cm² of area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What R² = 0.9999 means:</a:t>
            </a:r>
          </a:p>
          <a:p>
            <a:pPr lvl="1"/>
            <a:r>
              <a:rPr/>
              <a:t>99.99% of the variation in paper area is explained by mass. The remaining 0.01% is measurement noise from the balance.</a:t>
            </a:r>
          </a:p>
          <a:p>
            <a:pPr lvl="1"/>
            <a:r>
              <a:rPr/>
              <a:t>This is expected — the relationship between mass and area in uniform paper is essentially perfect.</a:t>
            </a:r>
          </a:p>
          <a:p>
            <a:pPr lvl="1"/>
            <a:r>
              <a:rPr/>
              <a:t>In biological data, R² values of 0.3–0.7 are common and meaningful.</a:t>
            </a:r>
          </a:p>
          <a:p>
            <a:pPr lvl="1"/>
            <a:r>
              <a:rPr/>
              <a:t>📖 W&amp;S §17.4 p. 555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Plot the Calibration Curve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Calibration curve with regression line + 95% CI band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calibration_plot &lt;- paper_df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mass_g,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area_cm2))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"steelblue"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"lightblue"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"Paper Calibration Curve"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paste0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"area = 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(b_slope,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 × mass + 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(a_intercept,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  |  R² = 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(r2_val,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"Paper Mass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"Area (cm²)"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calibration_plot</a:t>
            </a:r>
          </a:p>
        </p:txBody>
      </p:sp>
      <p:pic>
        <p:nvPicPr>
          <p:cNvPr descr="regressions_files/figure-pptx/calibration-line-plot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4"/>
              <p:cNvSpPr>
                <a:spLocks noGrp="1"/>
              </p:cNvSpPr>
              <p:nvPr>
                <p:ph idx="3" sz="quarter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The shaded band</a:t>
                </a:r>
                <a:r>
                  <a:rPr/>
                  <a:t> = 95% confidence band for the </a:t>
                </a:r>
                <a:r>
                  <a:rPr i="1"/>
                  <a:t>mean</a:t>
                </a:r>
                <a:r>
                  <a:rPr/>
                  <a:t> predicted area at each mass value.</a:t>
                </a:r>
              </a:p>
              <a:p>
                <a:pPr lvl="0" indent="0" marL="0">
                  <a:buNone/>
                </a:pPr>
                <a:r>
                  <a:rPr b="1"/>
                  <a:t>Key observation:</a:t>
                </a:r>
                <a:r>
                  <a:rPr/>
                  <a:t> the band is narrowest in the middle of the data range and widens at the extremes — predictions are most precise near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This is exactly Figure 17.2-1 from W&amp;S (p. 549).</a:t>
                </a:r>
              </a:p>
              <a:p>
                <a:pPr lvl="0" indent="0" marL="0">
                  <a:buNone/>
                </a:pPr>
                <a:r>
                  <a:rPr/>
                  <a:t>📖 W&amp;S §17.2 p. 548–550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 Assumptions — Residual Plot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mutate() adds new columns to the data frame ----------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Here we add the model's fitted values and residuals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so we can plot them — recall mutate() from Lecture 03!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paper_resid_df &lt;- paper_df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fitted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fitted</a:t>
            </a:r>
            <a:r>
              <a:rPr>
                <a:solidFill>
                  <a:srgbClr val="003B4F"/>
                </a:solidFill>
                <a:latin typeface="Courier"/>
              </a:rPr>
              <a:t>(paper_lm_model),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residuals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residuals</a:t>
            </a:r>
            <a:r>
              <a:rPr>
                <a:solidFill>
                  <a:srgbClr val="003B4F"/>
                </a:solidFill>
                <a:latin typeface="Courier"/>
              </a:rPr>
              <a:t>(paper_lm_model)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Residuals vs Fitted — checks linearity &amp; equal variance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resid_plot &lt;- paper_resid_df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fitted,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residuals))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yintercept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"dashed"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"Fitted Values (cm²)"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"Residuals (cm²)"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resid_plot</a:t>
            </a:r>
          </a:p>
        </p:txBody>
      </p:sp>
      <p:pic>
        <p:nvPicPr>
          <p:cNvPr descr="regressions_files/figure-pptx/resid-vs-fitted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to look for:</a:t>
            </a:r>
          </a:p>
          <a:p>
            <a:pPr lvl="0"/>
            <a:r>
              <a:rPr/>
              <a:t>✅ </a:t>
            </a:r>
            <a:r>
              <a:rPr b="1"/>
              <a:t>Good:</a:t>
            </a:r>
            <a:r>
              <a:rPr/>
              <a:t> random cloud of points centered at zero; constant spread across all fitted values</a:t>
            </a:r>
          </a:p>
          <a:p>
            <a:pPr lvl="0"/>
            <a:r>
              <a:rPr/>
              <a:t>❌ </a:t>
            </a:r>
            <a:r>
              <a:rPr b="1"/>
              <a:t>Bad:</a:t>
            </a:r>
            <a:r>
              <a:rPr/>
              <a:t> - Curved pattern → linearity violated - Fan shape (funnel) → unequal variance</a:t>
            </a:r>
          </a:p>
          <a:p>
            <a:pPr lvl="0"/>
            <a:r>
              <a:rPr/>
              <a:t>📖 W&amp;S §17.5 p. 559 (Figure 17.5-4)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The residual plot is the most important diagnostic. Always check it before interpreting your results.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 Assumptions — QQ Plot and Shapiro-Wilk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QQ plot of residuals — checks normality assumption 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qq_resid_plot &lt;- paper_resid_df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sample =</a:t>
            </a:r>
            <a:r>
              <a:rPr>
                <a:solidFill>
                  <a:srgbClr val="003B4F"/>
                </a:solidFill>
                <a:latin typeface="Courier"/>
              </a:rPr>
              <a:t> residuals))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stat_qq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stat_qq_line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"Normal QQ Plot of Residuals"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"Theoretical Quantiles"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"Sample Quantiles (residuals)"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qq_resid_plot</a:t>
            </a:r>
          </a:p>
        </p:txBody>
      </p:sp>
      <p:pic>
        <p:nvPicPr>
          <p:cNvPr descr="regressions_files/figure-pptx/qq-resid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Shapiro-Wilk test on residuals — NOT on raw data 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residuals</a:t>
            </a:r>
            <a:r>
              <a:rPr>
                <a:solidFill>
                  <a:srgbClr val="003B4F"/>
                </a:solidFill>
                <a:latin typeface="Courier"/>
              </a:rPr>
              <a:t>(paper_lm_model))</a:t>
            </a:r>
          </a:p>
          <a:p>
            <a:pPr lvl="0" indent="0">
              <a:buNone/>
            </a:pPr>
            <a:r>
              <a:rPr>
                <a:latin typeface="Courier"/>
              </a:rPr>
              <a:t>
    Shapiro-Wilk normality test
data:  residuals(paper_lm_model)
W = 0.67735, p-value = 9.425e-15</a:t>
            </a:r>
          </a:p>
          <a:p>
            <a:pPr lvl="0" indent="0" marL="0">
              <a:buNone/>
            </a:pPr>
            <a:r>
              <a:rPr b="1"/>
              <a:t>Remember:</a:t>
            </a:r>
          </a:p>
          <a:p>
            <a:pPr lvl="0"/>
            <a:r>
              <a:rPr/>
              <a:t>The normality assumption is about </a:t>
            </a:r>
            <a:r>
              <a:rPr b="1"/>
              <a:t>residuals</a:t>
            </a:r>
            <a:r>
              <a:rPr/>
              <a:t>, not raw data</a:t>
            </a:r>
          </a:p>
          <a:p>
            <a:pPr lvl="0"/>
            <a:r>
              <a:rPr/>
              <a:t>H₀ (Shapiro-Wilk): residuals are normally distributed</a:t>
            </a:r>
          </a:p>
          <a:p>
            <a:pPr lvl="0"/>
            <a:r>
              <a:rPr i="1"/>
              <a:t>p</a:t>
            </a:r>
            <a:r>
              <a:rPr/>
              <a:t> &gt; 0.05 → proceed with confidence intervals and </a:t>
            </a:r>
            <a:r>
              <a:rPr i="1"/>
              <a:t>p</a:t>
            </a:r>
            <a:r>
              <a:rPr/>
              <a:t>-values</a:t>
            </a:r>
          </a:p>
          <a:p>
            <a:pPr lvl="0" indent="0" marL="0">
              <a:buNone/>
            </a:pPr>
            <a:r>
              <a:rPr/>
              <a:t>📖 W&amp;S §17.5 p. 559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Predict Leaf Area from Tracing Mass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Plug tracing masses into the calibration line 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Suppose sunny leaf tracing weighs 0.092 g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and shady leaf tracing weighs 0.138 g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mass_sunny &lt;- </a:t>
            </a:r>
            <a:r>
              <a:rPr>
                <a:solidFill>
                  <a:srgbClr val="AD0000"/>
                </a:solidFill>
                <a:latin typeface="Courier"/>
              </a:rPr>
              <a:t>0.092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mass_shady &lt;- </a:t>
            </a:r>
            <a:r>
              <a:rPr>
                <a:solidFill>
                  <a:srgbClr val="AD0000"/>
                </a:solidFill>
                <a:latin typeface="Courier"/>
              </a:rPr>
              <a:t>0.138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area_sunny &lt;- b_slope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mass_sunny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a_intercept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area_shady &lt;- b_slope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mass_shady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a_intercept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"Sunny tracing mass:"</a:t>
            </a:r>
            <a:r>
              <a:rPr>
                <a:solidFill>
                  <a:srgbClr val="003B4F"/>
                </a:solidFill>
                <a:latin typeface="Courier"/>
              </a:rPr>
              <a:t>, mass_sunny,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Sunny tracing mass: 0.092 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"Predicted area:   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(area_sunny,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</a:t>
            </a:r>
            <a:r>
              <a:rPr>
                <a:solidFill>
                  <a:srgbClr val="5E5E5E"/>
                </a:solidFill>
                <a:latin typeface="Courier"/>
              </a:rPr>
              <a:t>\n\n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Predicted area:     12.29 cm²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"Shady tracing mass:"</a:t>
            </a:r>
            <a:r>
              <a:rPr>
                <a:solidFill>
                  <a:srgbClr val="003B4F"/>
                </a:solidFill>
                <a:latin typeface="Courier"/>
              </a:rPr>
              <a:t>, mass_shady,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Shady tracing mass: 0.138 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"Predicted area:   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(area_shady,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Predicted area:     18.29 cm²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The equation in action: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rPr>
                              <m:nor/>
                              <m:sty m:val="p"/>
                            </m:rPr>
                            <m:t>area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r>
                        <m:t>130.5</m:t>
                      </m:r>
                      <m:r>
                        <m:rPr>
                          <m:sty m:val="p"/>
                        </m:rPr>
                        <m:t>×</m:t>
                      </m:r>
                      <m:r>
                        <m:rPr>
                          <m:nor/>
                          <m:sty m:val="p"/>
                        </m:rPr>
                        <m:t>mass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0.28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For a sunny tracing at 0.092 g: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130.5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0.092</m:t>
                    </m:r>
                    <m:r>
                      <m:rPr>
                        <m:sty m:val="p"/>
                      </m:rPr>
                      <m:t>+</m:t>
                    </m:r>
                    <m:r>
                      <m:t>0.28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12.3</m:t>
                    </m:r>
                  </m:oMath>
                </a14:m>
                <a:r>
                  <a:rPr/>
                  <a:t> cm²</a:t>
                </a:r>
              </a:p>
              <a:p>
                <a:pPr lvl="0" indent="0" marL="0">
                  <a:buNone/>
                </a:pPr>
                <a:r>
                  <a:rPr/>
                  <a:t>For a shady tracing at 0.138 g: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130.5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0.138</m:t>
                    </m:r>
                    <m:r>
                      <m:rPr>
                        <m:sty m:val="p"/>
                      </m:rPr>
                      <m:t>+</m:t>
                    </m:r>
                    <m:r>
                      <m:t>0.28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18.3</m:t>
                    </m:r>
                  </m:oMath>
                </a14:m>
                <a:r>
                  <a:rPr/>
                  <a:t> cm²</a:t>
                </a:r>
              </a:p>
              <a:p>
                <a:pPr lvl="0" indent="0" marL="0">
                  <a:buNone/>
                </a:pPr>
                <a:r>
                  <a:rPr/>
                  <a:t>This matches our observation from Lecture 03 — shady leaves are larger!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Using </a:t>
            </a:r>
            <a:r>
              <a:rPr>
                <a:latin typeface="Courier"/>
              </a:rPr>
              <a:t>predict()</a:t>
            </a:r>
            <a:r>
              <a:rPr/>
              <a:t> — with Prediction Intervals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predict() gives uncertainty around predictions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new_masses &lt;- </a:t>
            </a:r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mass_g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0.092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0.138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Confidence interval: for the MEAN area at this mass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predict</a:t>
            </a:r>
            <a:r>
              <a:rPr>
                <a:solidFill>
                  <a:srgbClr val="003B4F"/>
                </a:solidFill>
                <a:latin typeface="Courier"/>
              </a:rPr>
              <a:t>(paper_lm_model, </a:t>
            </a:r>
            <a:r>
              <a:rPr>
                <a:solidFill>
                  <a:srgbClr val="657422"/>
                </a:solidFill>
                <a:latin typeface="Courier"/>
              </a:rPr>
              <a:t>newdata =</a:t>
            </a:r>
            <a:r>
              <a:rPr>
                <a:solidFill>
                  <a:srgbClr val="003B4F"/>
                </a:solidFill>
                <a:latin typeface="Courier"/>
              </a:rPr>
              <a:t> new_masses, </a:t>
            </a:r>
            <a:r>
              <a:rPr>
                <a:solidFill>
                  <a:srgbClr val="657422"/>
                </a:solidFill>
                <a:latin typeface="Courier"/>
              </a:rPr>
              <a:t>interval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"confidence"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   fit    lwr    upr
1 12.287 11.940 12.635
2 18.291 17.948 18.634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Prediction interval: for a SINGLE new observation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predict</a:t>
            </a:r>
            <a:r>
              <a:rPr>
                <a:solidFill>
                  <a:srgbClr val="003B4F"/>
                </a:solidFill>
                <a:latin typeface="Courier"/>
              </a:rPr>
              <a:t>(paper_lm_model, </a:t>
            </a:r>
            <a:r>
              <a:rPr>
                <a:solidFill>
                  <a:srgbClr val="657422"/>
                </a:solidFill>
                <a:latin typeface="Courier"/>
              </a:rPr>
              <a:t>newdata =</a:t>
            </a:r>
            <a:r>
              <a:rPr>
                <a:solidFill>
                  <a:srgbClr val="003B4F"/>
                </a:solidFill>
                <a:latin typeface="Courier"/>
              </a:rPr>
              <a:t> new_masses, </a:t>
            </a:r>
            <a:r>
              <a:rPr>
                <a:solidFill>
                  <a:srgbClr val="657422"/>
                </a:solidFill>
                <a:latin typeface="Courier"/>
              </a:rPr>
              <a:t>interval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"prediction"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   fit    lwr    upr
1 12.287  8.777 15.798
2 18.291 14.782 21.801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Two types of interval (W&amp;S §17.2 p. 549):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Predicts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Width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Confidence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 area for </a:t>
                      </a:r>
                      <a:r>
                        <a:rPr i="1"/>
                        <a:t>all</a:t>
                      </a:r>
                      <a:r>
                        <a:rPr/>
                        <a:t> leaves this mass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narrower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Prediction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area of </a:t>
                      </a:r>
                      <a:r>
                        <a:rPr i="1"/>
                        <a:t>one specific</a:t>
                      </a:r>
                      <a:r>
                        <a:rPr/>
                        <a:t> leaf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wider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predicting a single leaf, use the </a:t>
            </a:r>
            <a:r>
              <a:rPr b="1"/>
              <a:t>prediction interval</a:t>
            </a:r>
            <a:r>
              <a:rPr/>
              <a:t> — it captures individual-to-individual variation within the same mass class.</a:t>
            </a:r>
          </a:p>
          <a:p>
            <a:pPr lvl="0" indent="0" marL="0">
              <a:buNone/>
            </a:pPr>
            <a:r>
              <a:rPr/>
              <a:t>📖 W&amp;S §17.2 pp. 548–550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to Report Regression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Pull reporting values from the model 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f_stat &lt;- </a:t>
            </a: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(paper_lm_model)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fstatistic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f_val &lt;-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(f_stat[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df1 &lt;- f_stat[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df2 &lt;- f_stat[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p_val &lt;- </a:t>
            </a:r>
            <a:r>
              <a:rPr>
                <a:solidFill>
                  <a:srgbClr val="4758AB"/>
                </a:solidFill>
                <a:latin typeface="Courier"/>
              </a:rPr>
              <a:t>pf</a:t>
            </a:r>
            <a:r>
              <a:rPr>
                <a:solidFill>
                  <a:srgbClr val="003B4F"/>
                </a:solidFill>
                <a:latin typeface="Courier"/>
              </a:rPr>
              <a:t>(f_stat[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df1, df2, </a:t>
            </a:r>
            <a:r>
              <a:rPr>
                <a:solidFill>
                  <a:srgbClr val="657422"/>
                </a:solidFill>
                <a:latin typeface="Courier"/>
              </a:rPr>
              <a:t>lower.tail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"--- Results paragraph ---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--- Results paragraph ---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"Paper mass was a strong predictor of paper area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Paper mass was a strong predictor of paper area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"(linear regression: F("</a:t>
            </a:r>
            <a:r>
              <a:rPr>
                <a:solidFill>
                  <a:srgbClr val="003B4F"/>
                </a:solidFill>
                <a:latin typeface="Courier"/>
              </a:rPr>
              <a:t>, df1, </a:t>
            </a:r>
            <a:r>
              <a:rPr>
                <a:solidFill>
                  <a:srgbClr val="20794D"/>
                </a:solidFill>
                <a:latin typeface="Courier"/>
              </a:rPr>
              <a:t>","</a:t>
            </a:r>
            <a:r>
              <a:rPr>
                <a:solidFill>
                  <a:srgbClr val="003B4F"/>
                </a:solidFill>
                <a:latin typeface="Courier"/>
              </a:rPr>
              <a:t>, df2, </a:t>
            </a:r>
            <a:r>
              <a:rPr>
                <a:solidFill>
                  <a:srgbClr val="20794D"/>
                </a:solidFill>
                <a:latin typeface="Courier"/>
              </a:rPr>
              <a:t>") ="</a:t>
            </a:r>
            <a:r>
              <a:rPr>
                <a:solidFill>
                  <a:srgbClr val="003B4F"/>
                </a:solidFill>
                <a:latin typeface="Courier"/>
              </a:rPr>
              <a:t>, f_val, </a:t>
            </a:r>
            <a:r>
              <a:rPr>
                <a:solidFill>
                  <a:srgbClr val="20794D"/>
                </a:solidFill>
                <a:latin typeface="Courier"/>
              </a:rPr>
              <a:t>",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(linear regression: F( 1 , 116 ) = 784932.9 ,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 &lt;"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signif</a:t>
            </a:r>
            <a:r>
              <a:rPr>
                <a:solidFill>
                  <a:srgbClr val="003B4F"/>
                </a:solidFill>
                <a:latin typeface="Courier"/>
              </a:rPr>
              <a:t>(p_val,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", R²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(r2_val,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").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p &lt; 5e-224 , R² = 0.9999 ).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"The calibration equation is: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The calibration equation 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  area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(b_slope,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"× mass +"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(a_intercept,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area = 130.52 × mass + 0.279 cm²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"(slope 95% CI:"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confint</a:t>
            </a:r>
            <a:r>
              <a:rPr>
                <a:solidFill>
                  <a:srgbClr val="003B4F"/>
                </a:solidFill>
                <a:latin typeface="Courier"/>
              </a:rPr>
              <a:t>(paper_lm_model)[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"to"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confint</a:t>
            </a:r>
            <a:r>
              <a:rPr>
                <a:solidFill>
                  <a:srgbClr val="003B4F"/>
                </a:solidFill>
                <a:latin typeface="Courier"/>
              </a:rPr>
              <a:t>(paper_lm_model)[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"cm²/g)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(slope 95% CI: 130.23 to 130.82 cm²/g)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Standard report format:</a:t>
            </a:r>
          </a:p>
          <a:p>
            <a:pPr lvl="0" indent="0" marL="1270000">
              <a:buNone/>
            </a:pPr>
            <a:r>
              <a:rPr sz="2000" i="1"/>
              <a:t>“Paper area was accurately predicted from paper mass (linear regression: F(df₁, df₂) = F, p &lt; 0.001, R² = 0.9999). The regression equation was area = 130.5 × mass + 0.28 (slope 95% CI: X to Y cm²/g).”</a:t>
            </a:r>
          </a:p>
          <a:p>
            <a:pPr lvl="0" indent="0" marL="0">
              <a:buNone/>
            </a:pPr>
            <a:r>
              <a:rPr b="1"/>
              <a:t>Always include:</a:t>
            </a:r>
            <a:r>
              <a:rPr/>
              <a:t> - F-statistic and both df - </a:t>
            </a:r>
            <a:r>
              <a:rPr i="1"/>
              <a:t>p</a:t>
            </a:r>
            <a:r>
              <a:rPr/>
              <a:t>-value (never “p = 0.000” — write “p &lt; 0.001”) - R² - The actual equation - 95% CI for the slope</a:t>
            </a:r>
          </a:p>
          <a:p>
            <a:pPr lvl="0" indent="0" marL="0">
              <a:buNone/>
            </a:pPr>
            <a:r>
              <a:rPr/>
              <a:t>📖 W&amp;S §17.3 p. 553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Concepts:</a:t>
                </a:r>
              </a:p>
              <a:p>
                <a:pPr lvl="0"/>
                <a:r>
                  <a:rPr b="1"/>
                  <a:t>Regression</a:t>
                </a:r>
                <a:r>
                  <a:rPr/>
                  <a:t> predicts Y from X using a straight line equation</a:t>
                </a:r>
              </a:p>
              <a:p>
                <a:pPr lvl="0"/>
                <a:r>
                  <a:rPr/>
                  <a:t>Equation: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t>X</m:t>
                    </m:r>
                  </m:oMath>
                </a14:m>
                <a:r>
                  <a:rPr/>
                  <a:t> — slope </a:t>
                </a:r>
                <a:r>
                  <a:rPr i="1"/>
                  <a:t>b</a:t>
                </a:r>
                <a:r>
                  <a:rPr/>
                  <a:t>, intercept </a:t>
                </a:r>
                <a:r>
                  <a:rPr i="1"/>
                  <a:t>a</a:t>
                </a:r>
              </a:p>
              <a:p>
                <a:pPr lvl="0"/>
                <a:r>
                  <a:rPr b="1"/>
                  <a:t>Least squares</a:t>
                </a:r>
                <a:r>
                  <a:rPr/>
                  <a:t> — minimizes sum of squared residuals</a:t>
                </a:r>
              </a:p>
              <a:p>
                <a:pPr lvl="0"/>
                <a:r>
                  <a:rPr b="1"/>
                  <a:t>R²</a:t>
                </a:r>
                <a:r>
                  <a:rPr/>
                  <a:t> — fraction of Y variation explained by X</a:t>
                </a:r>
              </a:p>
              <a:p>
                <a:pPr lvl="0"/>
                <a:r>
                  <a:rPr b="1"/>
                  <a:t>Four assumptions</a:t>
                </a:r>
                <a:r>
                  <a:rPr/>
                  <a:t> — linearity, independence, equal variance, normality of residuals</a:t>
                </a:r>
              </a:p>
              <a:p>
                <a:pPr lvl="0"/>
                <a:r>
                  <a:rPr b="1"/>
                  <a:t>Two prediction types</a:t>
                </a:r>
                <a:r>
                  <a:rPr/>
                  <a:t> — confidence vs. prediction intervals</a:t>
                </a:r>
              </a:p>
              <a:p>
                <a:pPr lvl="0" indent="0" marL="0">
                  <a:buNone/>
                </a:pPr>
                <a:r>
                  <a:rPr b="1"/>
                  <a:t>R skills:</a:t>
                </a:r>
              </a:p>
              <a:p>
                <a:pPr lvl="0"/>
                <a:r>
                  <a:rPr>
                    <a:latin typeface="Courier"/>
                  </a:rPr>
                  <a:t>lm(Y ~ X, data)</a:t>
                </a:r>
                <a:r>
                  <a:rPr/>
                  <a:t> — fits the model</a:t>
                </a:r>
              </a:p>
              <a:p>
                <a:pPr lvl="0"/>
                <a:r>
                  <a:rPr>
                    <a:latin typeface="Courier"/>
                  </a:rPr>
                  <a:t>summary()</a:t>
                </a:r>
                <a:r>
                  <a:rPr/>
                  <a:t> — extracts slope, intercept, R², p-values</a:t>
                </a:r>
              </a:p>
              <a:p>
                <a:pPr lvl="0"/>
                <a:r>
                  <a:rPr>
                    <a:latin typeface="Courier"/>
                  </a:rPr>
                  <a:t>coef()</a:t>
                </a:r>
                <a:r>
                  <a:rPr/>
                  <a:t>, </a:t>
                </a:r>
                <a:r>
                  <a:rPr>
                    <a:latin typeface="Courier"/>
                  </a:rPr>
                  <a:t>fitted()</a:t>
                </a:r>
                <a:r>
                  <a:rPr/>
                  <a:t>, </a:t>
                </a:r>
                <a:r>
                  <a:rPr>
                    <a:latin typeface="Courier"/>
                  </a:rPr>
                  <a:t>residuals()</a:t>
                </a:r>
                <a:r>
                  <a:rPr/>
                  <a:t> — pull model components</a:t>
                </a:r>
              </a:p>
              <a:p>
                <a:pPr lvl="0"/>
                <a:r>
                  <a:rPr>
                    <a:latin typeface="Courier"/>
                  </a:rPr>
                  <a:t>mutate()</a:t>
                </a:r>
                <a:r>
                  <a:rPr/>
                  <a:t> with </a:t>
                </a:r>
                <a:r>
                  <a:rPr>
                    <a:latin typeface="Courier"/>
                  </a:rPr>
                  <a:t>fitted()</a:t>
                </a:r>
                <a:r>
                  <a:rPr/>
                  <a:t> and </a:t>
                </a:r>
                <a:r>
                  <a:rPr>
                    <a:latin typeface="Courier"/>
                  </a:rPr>
                  <a:t>residuals()</a:t>
                </a:r>
                <a:r>
                  <a:rPr/>
                  <a:t> — add model output to a data frame</a:t>
                </a:r>
              </a:p>
              <a:p>
                <a:pPr lvl="0"/>
                <a:r>
                  <a:rPr>
                    <a:latin typeface="Courier"/>
                  </a:rPr>
                  <a:t>predict(model, newdata, interval = "prediction")</a:t>
                </a:r>
                <a:r>
                  <a:rPr/>
                  <a:t> — predictions with uncertainty</a:t>
                </a:r>
              </a:p>
              <a:p>
                <a:pPr lvl="0"/>
                <a:r>
                  <a:rPr>
                    <a:latin typeface="Courier"/>
                  </a:rPr>
                  <a:t>geom_smooth(method = "lm", se = TRUE)</a:t>
                </a:r>
                <a:r>
                  <a:rPr/>
                  <a:t> — plot the line with CI band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Chapter references:</a:t>
            </a:r>
          </a:p>
          <a:p>
            <a:pPr lvl="0"/>
            <a:r>
              <a:rPr/>
              <a:t>📖 W&amp;S §17.1 — Linear regression</a:t>
            </a:r>
          </a:p>
          <a:p>
            <a:pPr lvl="0"/>
            <a:r>
              <a:rPr/>
              <a:t>📖 W&amp;S §17.2 — Confidence in predictions</a:t>
            </a:r>
          </a:p>
          <a:p>
            <a:pPr lvl="0"/>
            <a:r>
              <a:rPr/>
              <a:t>📖 W&amp;S §17.3 — Testing slope hypotheses</a:t>
            </a:r>
          </a:p>
          <a:p>
            <a:pPr lvl="0"/>
            <a:r>
              <a:rPr/>
              <a:t>📖 W&amp;S §17.4 — R²</a:t>
            </a:r>
          </a:p>
          <a:p>
            <a:pPr lvl="0"/>
            <a:r>
              <a:rPr/>
              <a:t>📖 W&amp;S §17.5 — Assumptions</a:t>
            </a:r>
          </a:p>
          <a:p>
            <a:pPr lvl="0" indent="0" marL="0">
              <a:buNone/>
            </a:pPr>
            <a:r>
              <a:rPr b="1"/>
              <a:t>Up next — Lecture 06:</a:t>
            </a:r>
          </a:p>
          <a:p>
            <a:pPr lvl="0"/>
            <a:r>
              <a:rPr/>
              <a:t>Applying the calibration: predicting and comparing leaf area between sides</a:t>
            </a:r>
          </a:p>
          <a:p>
            <a:pPr lvl="0"/>
            <a:r>
              <a:rPr/>
              <a:t>Revisiting the t-test on </a:t>
            </a:r>
            <a:r>
              <a:rPr i="1"/>
              <a:t>predicted area</a:t>
            </a:r>
            <a:r>
              <a:rPr/>
              <a:t> (cm²) rather than raw weight (g)</a:t>
            </a:r>
          </a:p>
          <a:p>
            <a:pPr lvl="0"/>
            <a:r>
              <a:rPr/>
              <a:t>Discussion: which measurement is more biologically meaningful?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05 — Linear Regression</dc:title>
  <dc:creator>Bill Perry</dc:creator>
  <cp:keywords/>
  <dc:description>How to do regressions and test assumptions and interpret and calculate.</dc:description>
  <dcterms:created xsi:type="dcterms:W3CDTF">2026-07-02T16:42:10Z</dcterms:created>
  <dcterms:modified xsi:type="dcterms:W3CDTF">2026-07-02T16:42:10Z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2026-07-02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5</vt:lpwstr>
  </property>
  <property fmtid="{D5CDD505-2E9C-101B-9397-08002B2CF9AE}" pid="14" name="resources">
    <vt:lpwstr/>
  </property>
  <property fmtid="{D5CDD505-2E9C-101B-9397-08002B2CF9AE}" pid="15" name="subtitle">
    <vt:lpwstr>Predicting leaf area from paper tracing mass (Whitlock &amp; Schluter Ch. 17)</vt:lpwstr>
  </property>
  <property fmtid="{D5CDD505-2E9C-101B-9397-08002B2CF9AE}" pid="16" name="toc-title">
    <vt:lpwstr>Table of contents</vt:lpwstr>
  </property>
  <property fmtid="{D5CDD505-2E9C-101B-9397-08002B2CF9AE}" pid="17" name="type">
    <vt:lpwstr>lecture</vt:lpwstr>
  </property>
  <property fmtid="{D5CDD505-2E9C-101B-9397-08002B2CF9AE}" pid="18" name="week">
    <vt:lpwstr>3</vt:lpwstr>
  </property>
</Properties>
</file>