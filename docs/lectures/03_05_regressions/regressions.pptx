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Welch’s two-sample t-test</a:t>
            </a:r>
            <a:r>
              <a:rPr/>
              <a:t> — compared mean leaf weight between sunny and shady sides (</a:t>
            </a:r>
            <a:r>
              <a:rPr>
                <a:latin typeface="Courier"/>
              </a:rPr>
              <a:t>var.equal = FALSE</a:t>
            </a:r>
            <a:r>
              <a:rPr/>
              <a:t>, two-tailed)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run test → report</a:t>
            </a:r>
          </a:p>
          <a:p>
            <a:pPr lvl="1"/>
            <a:r>
              <a:rPr/>
              <a:t>Normality: histogram, QQ plot, Shapiro-Wilk on each group</a:t>
            </a:r>
          </a:p>
          <a:p>
            <a:pPr lvl="1"/>
            <a:r>
              <a:rPr/>
              <a:t>Variance: Levene’s test; Welch’s is safe regardless of the result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t.test()</a:t>
            </a:r>
            <a:r>
              <a:rPr b="1"/>
              <a:t> output</a:t>
            </a:r>
            <a:r>
              <a:rPr/>
              <a:t> — t-statistic, Welch-Satterthwaite df, </a:t>
            </a:r>
            <a:r>
              <a:rPr i="1"/>
              <a:t>p</a:t>
            </a:r>
            <a:r>
              <a:rPr/>
              <a:t>-value, 95% CI, group means</a:t>
            </a:r>
          </a:p>
          <a:p>
            <a:pPr lvl="0"/>
            <a:r>
              <a:rPr b="1"/>
              <a:t>Result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We confirmed that shady and sunny leaves </a:t>
            </a:r>
            <a:r>
              <a:rPr sz="2000" i="1"/>
              <a:t>differ in weight</a:t>
            </a:r>
            <a:r>
              <a:rPr sz="2000"/>
              <a:t>. Today we go further — we build a </a:t>
            </a:r>
            <a:r>
              <a:rPr sz="2000" b="1"/>
              <a:t>calibration curve</a:t>
            </a:r>
            <a:r>
              <a:rPr sz="2000"/>
              <a:t> to convert that weight into a more biologically meaningful measurement: </a:t>
            </a:r>
            <a:r>
              <a:rPr sz="2000" b="1"/>
              <a:t>leaf surface area</a:t>
            </a:r>
            <a:r>
              <a:rPr sz="2000"/>
              <a:t> (cm²).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 04):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- 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- 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QQ plot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A well-fitted residual plot looks like a random horizontal cloud of points centered at zero — no curves, no funnel shapes.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s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 -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s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Residual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new columns to the data frame 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we add the model's fitted values and residuals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we can plot them — recall mutate() from Lecture 03!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paper_resid_df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fitted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Residuals vs Fitted — checks linearity &amp; equal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 (cm²)"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resid_plot</a:t>
            </a:r>
          </a:p>
        </p:txBody>
      </p:sp>
      <p:pic>
        <p:nvPicPr>
          <p:cNvPr descr="regressions_files/figure-pptx/resid-vs-fitte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random cloud of points centered at zero; constant spread across all fitted values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- Curved pattern → linearity violated - Fan shape (funnel) → unequal variance</a:t>
            </a:r>
          </a:p>
          <a:p>
            <a:pPr lvl="0"/>
            <a:r>
              <a:rPr/>
              <a:t>📖 W&amp;S §17.5 p. 559 (Figure 17.5-4)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residual plot is the most important diagnostic. Always check it before interpreting your results.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QQ Plot and Shapiro-Wilk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residuals — checks normality assumption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QQ Plot of Residuals"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 (residuals)"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qq_resid_plot</a:t>
            </a:r>
          </a:p>
        </p:txBody>
      </p:sp>
      <p:pic>
        <p:nvPicPr>
          <p:cNvPr descr="regressions_files/figure-pptx/qq-resi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observation from Lecture 03 — shady leaves are larger!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- F-statistic and both df - </a:t>
            </a:r>
            <a:r>
              <a:rPr i="1"/>
              <a:t>p</a:t>
            </a:r>
            <a:r>
              <a:rPr/>
              <a:t>-value (never “p = 0.000” — write “p &lt; 0.001”) - R² - The actual equation - 95%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mutate()</a:t>
                </a:r>
                <a:r>
                  <a:rPr/>
                  <a:t> with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add model output to a data frame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06:</a:t>
            </a:r>
          </a:p>
          <a:p>
            <a:pPr lvl="0"/>
            <a:r>
              <a:rPr/>
              <a:t>Applying the calibration: predicting and comparing leaf area between sides</a:t>
            </a:r>
          </a:p>
          <a:p>
            <a:pPr lvl="0"/>
            <a:r>
              <a:rPr/>
              <a:t>Revisiting the t-test on </a:t>
            </a:r>
            <a:r>
              <a:rPr i="1"/>
              <a:t>predicted area</a:t>
            </a:r>
            <a:r>
              <a:rPr/>
              <a:t> (cm²) rather than raw weight (g)</a:t>
            </a:r>
          </a:p>
          <a:p>
            <a:pPr lvl="0"/>
            <a:r>
              <a:rPr/>
              <a:t>Discussion: which measurement is more biologically meaningful?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Linear Regression</dc:title>
  <dc:creator>Bill Perry</dc:creator>
  <cp:keywords/>
  <dc:description>How to do regressions and test assumptions and interpret and calculate.</dc:description>
  <dcterms:created xsi:type="dcterms:W3CDTF">2026-07-02T18:59:31Z</dcterms:created>
  <dcterms:modified xsi:type="dcterms:W3CDTF">2026-07-02T18:59:31Z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Predicting leaf area from paper tracing mass (Whitlock &amp; Schluter Ch. 17)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