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Testing Our Hypothesis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two-sample Welch’s t-test from assumptions to results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>
                <a:latin typeface="Courier"/>
              </a:rPr>
              <a:t>skimr</a:t>
            </a:r>
            <a:r>
              <a:rPr/>
              <a:t> — fast full-dataset overview in one line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We described the pattern in our data. Today we formally test whether that pattern is </a:t>
            </a:r>
            <a:r>
              <a:rPr sz="2000" i="1"/>
              <a:t>statistically significant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QQ plot,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Report</a:t>
            </a:r>
            <a:r>
              <a:rPr/>
              <a:t> results in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and interpret a complete t-test on our leaf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/>
            <a:r>
              <a:rPr/>
              <a:t>🌐 </a:t>
            </a:r>
            <a:r>
              <a:rPr>
                <a:hlinkClick r:id="rId3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summaries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Know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recap from Lecture 03 ----------------------------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RESULTS:</a:t>
            </a:r>
          </a:p>
          <a:p>
            <a:pPr lvl="1"/>
            <a:r>
              <a:rPr/>
              <a:t>Shady mean: </a:t>
            </a:r>
            <a:r>
              <a:rPr b="1"/>
              <a:t>7.80 g</a:t>
            </a:r>
          </a:p>
          <a:p>
            <a:pPr lvl="1"/>
            <a:r>
              <a:rPr/>
              <a:t>Sunny mean: </a:t>
            </a:r>
            <a:r>
              <a:rPr b="1"/>
              <a:t>3.80 g</a:t>
            </a:r>
          </a:p>
          <a:p>
            <a:pPr lvl="1"/>
            <a:r>
              <a:rPr/>
              <a:t>Difference: </a:t>
            </a:r>
            <a:r>
              <a:rPr b="1"/>
              <a:t>4.0 g</a:t>
            </a:r>
            <a:r>
              <a:rPr/>
              <a:t> — a big gap!</a:t>
            </a:r>
          </a:p>
          <a:p>
            <a:pPr lvl="0"/>
            <a:r>
              <a:rPr b="1"/>
              <a:t>But is that gap real, or could it just be sampling noise?</a:t>
            </a:r>
          </a:p>
          <a:p>
            <a:pPr lvl="0"/>
            <a:r>
              <a:rPr/>
              <a:t>With only n = 10 per group, random chance could produce apparent differences.</a:t>
            </a:r>
          </a:p>
          <a:p>
            <a:pPr lvl="0"/>
            <a:r>
              <a:rPr b="1"/>
              <a:t>We need a formal test to quantify the probability.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and_hypotheses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stats and compute t by hand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~10 standard errors above zero — very far from what we’d expect if H₀ were true.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always follow this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histogram/box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QQ plot + Shapiro-Wilk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  <a:r>
                        <a:rPr/>
                        <a:t> — Levene’s 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test; </a:t>
                      </a: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and_hypotheses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Histograms are a visual check only. We also use QQ plots and Shapiro-Wilk.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Q-Q plot — points should fall along the diagonal line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Q-Q Plots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</a:t>
            </a:r>
          </a:p>
        </p:txBody>
      </p:sp>
      <p:pic>
        <p:nvPicPr>
          <p:cNvPr descr="t_tests_and_hypotheses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a QQ plot:</a:t>
            </a:r>
          </a:p>
          <a:p>
            <a:pPr lvl="0"/>
            <a:r>
              <a:rPr/>
              <a:t>Points </a:t>
            </a:r>
            <a:r>
              <a:rPr b="1"/>
              <a:t>on the line</a:t>
            </a:r>
            <a:r>
              <a:rPr/>
              <a:t> → data follow a normal distribution</a:t>
            </a:r>
          </a:p>
          <a:p>
            <a:pPr lvl="0"/>
            <a:r>
              <a:rPr/>
              <a:t>Points </a:t>
            </a:r>
            <a:r>
              <a:rPr b="1"/>
              <a:t>curving away</a:t>
            </a:r>
            <a:r>
              <a:rPr/>
              <a:t> at ends → heavy tails or skew</a:t>
            </a:r>
          </a:p>
          <a:p>
            <a:pPr lvl="0"/>
            <a:r>
              <a:rPr/>
              <a:t>With only n = 10, some deviation is expected and acceptable</a:t>
            </a:r>
          </a:p>
          <a:p>
            <a:pPr lvl="0" indent="0" marL="0">
              <a:buNone/>
            </a:pPr>
            <a:r>
              <a:rPr/>
              <a:t>If points follow the line roughly, we are comfortable proceeding with the t-test.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QQ plot is equally important.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4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Run the Welch’s t-Test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245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range we could expect to see if we repeated this study many times.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</a:t>
            </a:r>
          </a:p>
        </p:txBody>
      </p:sp>
      <p:pic>
        <p:nvPicPr>
          <p:cNvPr descr="t_tests_and_hypotheses_files/figure-pptx/boxplot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± SE plot with individual points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&lt; 0.001"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</a:t>
            </a:r>
          </a:p>
        </p:txBody>
      </p:sp>
      <p:pic>
        <p:nvPicPr>
          <p:cNvPr descr="t_tests_and_hypotheses_files/figure-pptx/mean-se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error bars tell you:</a:t>
            </a:r>
          </a:p>
          <a:p>
            <a:pPr lvl="0"/>
            <a:r>
              <a:rPr/>
              <a:t>Bars show </a:t>
            </a:r>
            <a:r>
              <a:rPr b="1"/>
              <a:t>± 1 SE</a:t>
            </a:r>
            <a:r>
              <a:rPr/>
              <a:t> — precision of the mean estimate</a:t>
            </a:r>
          </a:p>
          <a:p>
            <a:pPr lvl="0"/>
            <a:r>
              <a:rPr/>
              <a:t>Non-overlapping bars suggest a significant difference</a:t>
            </a:r>
          </a:p>
          <a:p>
            <a:pPr lvl="0" indent="0" marL="0">
              <a:buNone/>
            </a:pPr>
            <a:r>
              <a:rPr b="1"/>
              <a:t>Rule of thumb:</a:t>
            </a:r>
          </a:p>
          <a:p>
            <a:pPr lvl="0" indent="0" marL="0">
              <a:buNone/>
            </a:pPr>
            <a:r>
              <a:rPr/>
              <a:t>If error bars overlap by less than half the bar length, the difference is </a:t>
            </a:r>
            <a:r>
              <a:rPr i="1"/>
              <a:t>likely</a:t>
            </a:r>
            <a:r>
              <a:rPr/>
              <a:t> significant at α = 0.05. The </a:t>
            </a:r>
            <a:r>
              <a:rPr i="1"/>
              <a:t>p</a:t>
            </a:r>
            <a:r>
              <a:rPr/>
              <a:t>-value from the t-test is the definitive answer.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df_val,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both plots to the figures folder 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"figures/leaf_weight_mean_se_ttest.png"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leaf_mean_se_04_plot,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plots are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test →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library(car)</a:t>
            </a:r>
            <a:r>
              <a:rPr/>
              <a:t> + </a:t>
            </a:r>
            <a:r>
              <a:rPr>
                <a:latin typeface="Courier"/>
              </a:rPr>
              <a:t>leveneTest(y ~ group, data)</a:t>
            </a:r>
            <a:r>
              <a:rPr/>
              <a:t> — variance check</a:t>
            </a:r>
          </a:p>
          <a:p>
            <a:pPr lvl="0"/>
            <a:r>
              <a:rPr>
                <a:latin typeface="Courier"/>
              </a:rPr>
              <a:t>filter() %&gt;% pull() %&gt;% shapiro.test()</a:t>
            </a:r>
            <a:r>
              <a:rPr/>
              <a:t> — normality per group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subtitle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05: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Testing Our Hypothesis</dc:title>
  <dc:creator>Bill Perry</dc:creator>
  <cp:keywords/>
  <dc:description>What are T-Tests and how to run them and test assumptions and interpret.</dc:description>
  <dcterms:created xsi:type="dcterms:W3CDTF">2026-07-02T22:04:47Z</dcterms:created>
  <dcterms:modified xsi:type="dcterms:W3CDTF">2026-07-02T22:04:47Z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The two-sample Welch’s t-test from assumptions to results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