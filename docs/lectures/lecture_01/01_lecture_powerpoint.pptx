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an.r-project.org/" TargetMode="External" /><Relationship Id="rId3" Type="http://schemas.openxmlformats.org/officeDocument/2006/relationships/hyperlink" Target="https://positron.posit.co/download.html"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01</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Syllabus</a:t>
            </a:r>
          </a:p>
        </p:txBody>
      </p:sp>
      <p:sp>
        <p:nvSpPr>
          <p:cNvPr id="3" name="Content Placeholder 2"/>
          <p:cNvSpPr>
            <a:spLocks noGrp="1"/>
          </p:cNvSpPr>
          <p:nvPr>
            <p:ph idx="1"/>
          </p:nvPr>
        </p:nvSpPr>
        <p:spPr/>
        <p:txBody>
          <a:bodyPr/>
          <a:lstStyle/>
          <a:p>
            <a:pPr lvl="0"/>
            <a:r>
              <a:rPr/>
              <a:t>Please look over the syllabus as it has all the details of the class and how it will run. It will serve as the tentative list of topics and what we will cover each day</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1:</a:t>
            </a:r>
            <a:r>
              <a:rPr/>
              <a:t> Who am I?</a:t>
            </a:r>
          </a:p>
        </p:txBody>
      </p:sp>
      <p:sp>
        <p:nvSpPr>
          <p:cNvPr id="3" name="Content Placeholder 2"/>
          <p:cNvSpPr>
            <a:spLocks noGrp="1"/>
          </p:cNvSpPr>
          <p:nvPr>
            <p:ph idx="1" sz="half"/>
          </p:nvPr>
        </p:nvSpPr>
        <p:spPr/>
        <p:txBody>
          <a:bodyPr/>
          <a:lstStyle/>
          <a:p>
            <a:pPr lvl="0" indent="0" marL="0">
              <a:spcBef>
                <a:spcPts val="3000"/>
              </a:spcBef>
              <a:buNone/>
            </a:pPr>
            <a:r>
              <a:rPr b="1"/>
              <a:t>The objectives:</a:t>
            </a:r>
          </a:p>
          <a:p>
            <a:pPr lvl="0"/>
            <a:r>
              <a:rPr/>
              <a:t>Bill Perry - </a:t>
            </a:r>
            <a:r>
              <a:rPr b="1"/>
              <a:t>Bill</a:t>
            </a:r>
            <a:r>
              <a:rPr/>
              <a:t> or Dr. Perry</a:t>
            </a:r>
          </a:p>
          <a:p>
            <a:pPr lvl="0"/>
            <a:r>
              <a:rPr/>
              <a:t>Office is in SSB 13</a:t>
            </a:r>
          </a:p>
          <a:p>
            <a:pPr lvl="0"/>
            <a:r>
              <a:rPr/>
              <a:t>Phone 218-726-8145</a:t>
            </a:r>
          </a:p>
          <a:p>
            <a:pPr lvl="0"/>
            <a:r>
              <a:rPr/>
              <a:t>Email is wlperry@d.umn.edu</a:t>
            </a:r>
          </a:p>
        </p:txBody>
      </p:sp>
      <p:pic>
        <p:nvPicPr>
          <p:cNvPr descr="images/paste-1.png" id="0" name="Picture 1"/>
          <p:cNvPicPr>
            <a:picLocks noGrp="1" noChangeAspect="1"/>
          </p:cNvPicPr>
          <p:nvPr/>
        </p:nvPicPr>
        <p:blipFill>
          <a:blip r:embed="rId2"/>
          <a:stretch>
            <a:fillRect/>
          </a:stretch>
        </p:blipFill>
        <p:spPr bwMode="auto">
          <a:xfrm>
            <a:off x="6121400" y="1866900"/>
            <a:ext cx="2781300" cy="2070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goals</a:t>
            </a:r>
          </a:p>
        </p:txBody>
      </p:sp>
      <p:sp>
        <p:nvSpPr>
          <p:cNvPr id="3" name="Content Placeholder 2"/>
          <p:cNvSpPr>
            <a:spLocks noGrp="1"/>
          </p:cNvSpPr>
          <p:nvPr>
            <p:ph idx="1"/>
          </p:nvPr>
        </p:nvSpPr>
        <p:spPr/>
        <p:txBody>
          <a:bodyPr/>
          <a:lstStyle/>
          <a:p>
            <a:pPr lvl="0"/>
            <a:r>
              <a:rPr/>
              <a:t>Help you learn the tools to organize and present data from potentially very large data sets</a:t>
            </a:r>
          </a:p>
          <a:p>
            <a:pPr lvl="0"/>
            <a:r>
              <a:rPr/>
              <a:t>How to use basic excel for some tasks</a:t>
            </a:r>
          </a:p>
          <a:p>
            <a:pPr lvl="0"/>
            <a:r>
              <a:rPr/>
              <a:t>How to use R - a coding language - to work with data and graphics</a:t>
            </a:r>
          </a:p>
          <a:p>
            <a:pPr lvl="0"/>
            <a:r>
              <a:rPr/>
              <a:t>How do we organize, clean, summarize, and view the data? The pipeline…</a:t>
            </a:r>
          </a:p>
          <a:p>
            <a:pPr lvl="0"/>
            <a:r>
              <a:rPr/>
              <a:t>How to formulate hypotheses</a:t>
            </a:r>
          </a:p>
          <a:p>
            <a:pPr lvl="0"/>
            <a:r>
              <a:rPr/>
              <a:t>How do we use statistics to test our hypotheses</a:t>
            </a:r>
          </a:p>
          <a:p>
            <a:pPr lvl="0"/>
            <a:r>
              <a:rPr/>
              <a:t>How to interpret what the data is telling us using statistics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 My expectations</a:t>
            </a:r>
          </a:p>
        </p:txBody>
      </p:sp>
      <p:sp>
        <p:nvSpPr>
          <p:cNvPr id="3" name="Content Placeholder 2"/>
          <p:cNvSpPr>
            <a:spLocks noGrp="1"/>
          </p:cNvSpPr>
          <p:nvPr>
            <p:ph idx="1"/>
          </p:nvPr>
        </p:nvSpPr>
        <p:spPr/>
        <p:txBody>
          <a:bodyPr/>
          <a:lstStyle/>
          <a:p>
            <a:pPr lvl="0"/>
            <a:r>
              <a:rPr b="1"/>
              <a:t>Communication</a:t>
            </a:r>
          </a:p>
          <a:p>
            <a:pPr lvl="0"/>
            <a:r>
              <a:rPr b="1"/>
              <a:t>Practice</a:t>
            </a:r>
          </a:p>
          <a:p>
            <a:pPr lvl="0"/>
            <a:r>
              <a:rPr b="1"/>
              <a:t>Failure</a:t>
            </a:r>
          </a:p>
          <a:p>
            <a:pPr lvl="0"/>
            <a:r>
              <a:rPr b="1"/>
              <a:t>Learn to correct and troubleshoot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 Science</a:t>
            </a:r>
          </a:p>
        </p:txBody>
      </p:sp>
      <p:sp>
        <p:nvSpPr>
          <p:cNvPr id="3" name="Content Placeholder 2"/>
          <p:cNvSpPr>
            <a:spLocks noGrp="1"/>
          </p:cNvSpPr>
          <p:nvPr>
            <p:ph idx="1"/>
          </p:nvPr>
        </p:nvSpPr>
        <p:spPr/>
        <p:txBody>
          <a:bodyPr/>
          <a:lstStyle/>
          <a:p>
            <a:pPr lvl="0"/>
            <a:r>
              <a:rPr/>
              <a:t>Way to acquire knowledge, organize it and apply it back to the real world</a:t>
            </a:r>
          </a:p>
          <a:p>
            <a:pPr lvl="0"/>
            <a:r>
              <a:rPr/>
              <a:t>Make predictions and testing these predictions using a falsifiable approach - statistics</a:t>
            </a:r>
          </a:p>
          <a:p>
            <a:pPr lvl="0"/>
            <a:r>
              <a:rPr/>
              <a:t>Explanations that cannot be falsified are not science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Today… real world data science</a:t>
            </a:r>
          </a:p>
        </p:txBody>
      </p:sp>
      <p:sp>
        <p:nvSpPr>
          <p:cNvPr id="3" name="Content Placeholder 2"/>
          <p:cNvSpPr>
            <a:spLocks noGrp="1"/>
          </p:cNvSpPr>
          <p:nvPr>
            <p:ph idx="1"/>
          </p:nvPr>
        </p:nvSpPr>
        <p:spPr/>
        <p:txBody>
          <a:bodyPr/>
          <a:lstStyle/>
          <a:p>
            <a:pPr lvl="0"/>
            <a:r>
              <a:rPr/>
              <a:t>talking about data science is </a:t>
            </a:r>
            <a:r>
              <a:rPr b="1"/>
              <a:t>SUPER BORING</a:t>
            </a:r>
          </a:p>
          <a:p>
            <a:pPr lvl="1"/>
            <a:r>
              <a:rPr/>
              <a:t>How do you tell a story with data using math - statistics - code</a:t>
            </a:r>
          </a:p>
          <a:p>
            <a:pPr lvl="0"/>
            <a:r>
              <a:rPr/>
              <a:t>This lecture and the next will be about how to work with data from the start</a:t>
            </a:r>
          </a:p>
          <a:p>
            <a:pPr lvl="0"/>
            <a:r>
              <a:rPr/>
              <a:t>Your task will be to collect data - organize it - get it into a spreadsheet</a:t>
            </a:r>
          </a:p>
          <a:p>
            <a:pPr lvl="0"/>
            <a:r>
              <a:rPr/>
              <a:t>Develop meta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will we do</a:t>
            </a:r>
          </a:p>
        </p:txBody>
      </p:sp>
      <p:sp>
        <p:nvSpPr>
          <p:cNvPr id="3" name="Content Placeholder 2"/>
          <p:cNvSpPr>
            <a:spLocks noGrp="1"/>
          </p:cNvSpPr>
          <p:nvPr>
            <p:ph idx="1"/>
          </p:nvPr>
        </p:nvSpPr>
        <p:spPr/>
        <p:txBody>
          <a:bodyPr/>
          <a:lstStyle/>
          <a:p>
            <a:pPr lvl="0"/>
            <a:r>
              <a:rPr/>
              <a:t>We are going to measure something</a:t>
            </a:r>
          </a:p>
          <a:p>
            <a:pPr lvl="0"/>
            <a:r>
              <a:rPr/>
              <a:t>My suggestion is leaf mass and surface area from a tree on the sunny side versus shady side?</a:t>
            </a:r>
          </a:p>
          <a:p>
            <a:pPr lvl="1"/>
            <a:r>
              <a:rPr/>
              <a:t>Do leaves respond to light intensity?</a:t>
            </a:r>
          </a:p>
          <a:p>
            <a:pPr lvl="1"/>
            <a:r>
              <a:rPr/>
              <a:t>What is the Null Hypothesis</a:t>
            </a:r>
          </a:p>
          <a:p>
            <a:pPr lvl="1"/>
            <a:r>
              <a:rPr/>
              <a:t>What is the Alternate Hypothesis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does leaf size vary?</a:t>
            </a:r>
          </a:p>
        </p:txBody>
      </p:sp>
      <p:sp>
        <p:nvSpPr>
          <p:cNvPr id="3" name="Content Placeholder 2"/>
          <p:cNvSpPr>
            <a:spLocks noGrp="1"/>
          </p:cNvSpPr>
          <p:nvPr>
            <p:ph idx="1"/>
          </p:nvPr>
        </p:nvSpPr>
        <p:spPr/>
        <p:txBody>
          <a:bodyPr/>
          <a:lstStyle/>
          <a:p>
            <a:pPr lvl="0"/>
            <a:r>
              <a:rPr/>
              <a:t>Does the sunny and shady sides of trees differ due to light?</a:t>
            </a:r>
          </a:p>
          <a:p>
            <a:pPr lvl="0"/>
            <a:r>
              <a:rPr/>
              <a:t>What might we predict versus hypothesize</a:t>
            </a:r>
          </a:p>
          <a:p>
            <a:pPr lvl="1"/>
            <a:r>
              <a:rPr/>
              <a:t>Predict</a:t>
            </a:r>
          </a:p>
          <a:p>
            <a:pPr lvl="1"/>
            <a:r>
              <a:rPr/>
              <a:t>Hypothesize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would we collect data to test this?</a:t>
            </a:r>
          </a:p>
        </p:txBody>
      </p:sp>
      <p:sp>
        <p:nvSpPr>
          <p:cNvPr id="3" name="Content Placeholder 2"/>
          <p:cNvSpPr>
            <a:spLocks noGrp="1"/>
          </p:cNvSpPr>
          <p:nvPr>
            <p:ph idx="1"/>
          </p:nvPr>
        </p:nvSpPr>
        <p:spPr/>
        <p:txBody>
          <a:bodyPr/>
          <a:lstStyle/>
          <a:p>
            <a:pPr lvl="0"/>
            <a:r>
              <a:rPr/>
              <a:t>Can we collect leaves from one tree to do this?</a:t>
            </a:r>
          </a:p>
          <a:p>
            <a:pPr lvl="1"/>
            <a:r>
              <a:rPr/>
              <a:t>YES?</a:t>
            </a:r>
          </a:p>
          <a:p>
            <a:pPr lvl="1"/>
            <a:r>
              <a:rPr/>
              <a:t>NO?</a:t>
            </a:r>
          </a:p>
          <a:p>
            <a:pPr lvl="1"/>
            <a:r>
              <a:rPr/>
              <a:t>Discuss</a:t>
            </a:r>
          </a:p>
          <a:p>
            <a:pPr lvl="0"/>
            <a:r>
              <a:rPr/>
              <a:t>What might be the effect if we used only one tree?</a:t>
            </a:r>
          </a:p>
          <a:p>
            <a:pPr lvl="0"/>
            <a:r>
              <a:rPr/>
              <a:t>How might that differ from many trees?</a:t>
            </a:r>
          </a:p>
          <a:p>
            <a:pPr lvl="0"/>
            <a:r>
              <a:rPr/>
              <a:t>Do we need to be sure our sample is randomly selected?</a:t>
            </a:r>
          </a:p>
          <a:p>
            <a:pPr lvl="1"/>
            <a:r>
              <a:rPr/>
              <a:t>why do we need to randomize sampling?</a:t>
            </a:r>
          </a:p>
          <a:p>
            <a:pPr lvl="1"/>
            <a:r>
              <a:rPr/>
              <a:t>how can we randomize our sampling?</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the different variables we could record?</a:t>
            </a:r>
          </a:p>
        </p:txBody>
      </p:sp>
      <p:sp>
        <p:nvSpPr>
          <p:cNvPr id="3" name="Content Placeholder 2"/>
          <p:cNvSpPr>
            <a:spLocks noGrp="1"/>
          </p:cNvSpPr>
          <p:nvPr>
            <p:ph idx="1"/>
          </p:nvPr>
        </p:nvSpPr>
        <p:spPr/>
        <p:txBody>
          <a:bodyPr/>
          <a:lstStyle/>
          <a:p>
            <a:pPr lvl="0"/>
            <a:r>
              <a:rPr/>
              <a:t>What variables could we record about the tree?</a:t>
            </a:r>
          </a:p>
          <a:p>
            <a:pPr lvl="0"/>
            <a:r>
              <a:rPr/>
              <a:t>What variables could we record about the leaf?</a:t>
            </a:r>
          </a:p>
          <a:p>
            <a:pPr lvl="1"/>
            <a:r>
              <a:rPr/>
              <a:t>what is a dependent variable?</a:t>
            </a:r>
          </a:p>
          <a:p>
            <a:pPr lvl="2"/>
            <a:r>
              <a:rPr/>
              <a:t>[class discussion here]</a:t>
            </a:r>
          </a:p>
          <a:p>
            <a:pPr lvl="1"/>
            <a:r>
              <a:rPr/>
              <a:t>what is an independent variable?</a:t>
            </a:r>
          </a:p>
          <a:p>
            <a:pPr lvl="2"/>
            <a:r>
              <a:rPr/>
              <a:t>[class discussion here]</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Each group needs to collect at least 3 pairs of leaves</a:t>
            </a:r>
          </a:p>
        </p:txBody>
      </p:sp>
      <p:sp>
        <p:nvSpPr>
          <p:cNvPr id="3" name="Content Placeholder 2"/>
          <p:cNvSpPr>
            <a:spLocks noGrp="1"/>
          </p:cNvSpPr>
          <p:nvPr>
            <p:ph idx="1"/>
          </p:nvPr>
        </p:nvSpPr>
        <p:spPr/>
        <p:txBody>
          <a:bodyPr/>
          <a:lstStyle/>
          <a:p>
            <a:pPr lvl="0"/>
            <a:r>
              <a:rPr/>
              <a:t>How can we standardize our collections?</a:t>
            </a:r>
          </a:p>
          <a:p>
            <a:pPr lvl="1"/>
            <a:r>
              <a:rPr/>
              <a:t>A mature leaf from the sunny side and 1 leaf from the shady side?</a:t>
            </a:r>
          </a:p>
          <a:p>
            <a:pPr lvl="1"/>
            <a:r>
              <a:rPr/>
              <a:t>Do this on 2 separate trees - and for this we can use the trees others use as we are limited</a:t>
            </a:r>
          </a:p>
          <a:p>
            <a:pPr lvl="0"/>
            <a:r>
              <a:rPr/>
              <a:t>How high do we collect?</a:t>
            </a:r>
          </a:p>
          <a:p>
            <a:pPr lvl="0"/>
            <a:r>
              <a:rPr/>
              <a:t>Are there other things to do?</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What are the steps we need to decide on when processing this data?</a:t>
            </a:r>
          </a:p>
          <a:p>
            <a:pPr lvl="0"/>
            <a:r>
              <a:rPr/>
              <a:t>What can we measure?</a:t>
            </a:r>
          </a:p>
          <a:p>
            <a:pPr lvl="1"/>
            <a:r>
              <a:rPr/>
              <a:t>mass?</a:t>
            </a:r>
          </a:p>
          <a:p>
            <a:pPr lvl="1"/>
            <a:r>
              <a:rPr/>
              <a:t>length?</a:t>
            </a:r>
          </a:p>
          <a:p>
            <a:pPr lvl="1"/>
            <a:r>
              <a:rPr/>
              <a:t>width?</a:t>
            </a:r>
          </a:p>
          <a:p>
            <a:pPr lvl="1"/>
            <a:r>
              <a:rPr/>
              <a:t>surface area?</a:t>
            </a:r>
          </a:p>
          <a:p>
            <a:pPr lvl="1"/>
            <a:r>
              <a:rPr/>
              <a:t>others?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Back in the laboratory - before we even begin</a:t>
            </a:r>
          </a:p>
        </p:txBody>
      </p:sp>
      <p:sp>
        <p:nvSpPr>
          <p:cNvPr id="3" name="Content Placeholder 2"/>
          <p:cNvSpPr>
            <a:spLocks noGrp="1"/>
          </p:cNvSpPr>
          <p:nvPr>
            <p:ph idx="1"/>
          </p:nvPr>
        </p:nvSpPr>
        <p:spPr/>
        <p:txBody>
          <a:bodyPr/>
          <a:lstStyle/>
          <a:p>
            <a:pPr lvl="0"/>
            <a:r>
              <a:rPr/>
              <a:t>How do you enter this into the excel sheet</a:t>
            </a:r>
          </a:p>
          <a:p>
            <a:pPr lvl="1"/>
            <a:r>
              <a:rPr/>
              <a:t>what does the sheet look like - mock up something to show the rest of the class?</a:t>
            </a:r>
          </a:p>
          <a:p>
            <a:pPr lvl="0"/>
            <a:r>
              <a:rPr/>
              <a:t>What are the terms you will use?</a:t>
            </a:r>
          </a:p>
          <a:p>
            <a:pPr lvl="0"/>
            <a:r>
              <a:rPr/>
              <a:t>What are the units?</a:t>
            </a:r>
          </a:p>
          <a:p>
            <a:pPr lvl="0"/>
            <a:r>
              <a:rPr/>
              <a:t>What is meta data?</a:t>
            </a:r>
          </a:p>
          <a:p>
            <a:pPr lvl="0"/>
            <a:r>
              <a:rPr/>
              <a:t>What vocabulary do you use?</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Can you make a graph of the data in Excel based on what we collected?</a:t>
            </a:r>
          </a:p>
        </p:txBody>
      </p:sp>
      <p:sp>
        <p:nvSpPr>
          <p:cNvPr id="3" name="Content Placeholder 2"/>
          <p:cNvSpPr>
            <a:spLocks noGrp="1"/>
          </p:cNvSpPr>
          <p:nvPr>
            <p:ph idx="1"/>
          </p:nvPr>
        </p:nvSpPr>
        <p:spPr/>
        <p:txBody>
          <a:bodyPr/>
          <a:lstStyle/>
          <a:p>
            <a:pPr lvl="0"/>
            <a:r>
              <a:rPr/>
              <a:t>what would the graph look like?</a:t>
            </a:r>
          </a:p>
          <a:p>
            <a:pPr lvl="0"/>
            <a:r>
              <a:rPr/>
              <a:t>what can you derive from the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Before Thursday Install R and Positron</a:t>
            </a:r>
          </a:p>
        </p:txBody>
      </p:sp>
      <p:sp>
        <p:nvSpPr>
          <p:cNvPr id="3" name="Content Placeholder 2"/>
          <p:cNvSpPr>
            <a:spLocks noGrp="1"/>
          </p:cNvSpPr>
          <p:nvPr>
            <p:ph idx="1"/>
          </p:nvPr>
        </p:nvSpPr>
        <p:spPr/>
        <p:txBody>
          <a:bodyPr/>
          <a:lstStyle/>
          <a:p>
            <a:pPr lvl="0" indent="0" marL="0">
              <a:buNone/>
            </a:pPr>
            <a:r>
              <a:rPr/>
              <a:t>Downloading R and Positron:</a:t>
            </a:r>
          </a:p>
          <a:p>
            <a:pPr lvl="0" indent="-342900" marL="342900">
              <a:buAutoNum type="arabicPeriod"/>
            </a:pPr>
            <a:r>
              <a:rPr/>
              <a:t>Download R - </a:t>
            </a:r>
            <a:r>
              <a:rPr>
                <a:hlinkClick r:id="rId2"/>
              </a:rPr>
              <a:t>download here</a:t>
            </a:r>
          </a:p>
          <a:p>
            <a:pPr lvl="1"/>
            <a:r>
              <a:rPr/>
              <a:t>downloads to your computer - can you find it?</a:t>
            </a:r>
          </a:p>
          <a:p>
            <a:pPr lvl="0" indent="-342900" marL="342900">
              <a:buAutoNum type="arabicPeriod"/>
            </a:pPr>
            <a:r>
              <a:rPr/>
              <a:t>Download Positron - </a:t>
            </a:r>
            <a:r>
              <a:rPr>
                <a:hlinkClick r:id="rId3"/>
              </a:rPr>
              <a:t>download here</a:t>
            </a:r>
          </a:p>
          <a:p>
            <a:pPr lvl="1"/>
            <a:r>
              <a:rPr/>
              <a:t>downloads to your computer - can you find it?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01</dc:title>
  <dc:creator>Bill Perry</dc:creator>
  <cp:keywords/>
  <dcterms:created xsi:type="dcterms:W3CDTF">2026-06-27T00:46:55Z</dcterms:created>
  <dcterms:modified xsi:type="dcterms:W3CDTF">2026-06-27T00:46:55Z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header-includes">
    <vt:lpwstr/>
  </property>
  <property fmtid="{D5CDD505-2E9C-101B-9397-08002B2CF9AE}" pid="7" name="include-after">
    <vt:lpwstr/>
  </property>
  <property fmtid="{D5CDD505-2E9C-101B-9397-08002B2CF9AE}" pid="8" name="include-before">
    <vt:lpwstr/>
  </property>
  <property fmtid="{D5CDD505-2E9C-101B-9397-08002B2CF9AE}" pid="9" name="labels">
    <vt:lpwstr/>
  </property>
  <property fmtid="{D5CDD505-2E9C-101B-9397-08002B2CF9AE}" pid="10" name="toc-title">
    <vt:lpwstr>Table of contents</vt:lpwstr>
  </property>
</Properties>
</file>