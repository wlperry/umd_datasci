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data-transfor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lect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mutate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#numeric-summarie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missing-values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summarize" TargetMode="External" /><Relationship Id="rId3" Type="http://schemas.openxmlformats.org/officeDocument/2006/relationships/hyperlink" Target="https://r4ds.hadley.nz/data-transform#sec-summarize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" TargetMode="External" /><Relationship Id="rId2" Type="http://schemas.openxmlformats.org/officeDocument/2006/relationships/image" Target="../media/image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 — Describing 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Wrangling, summaries, statistics, and our first real comparisons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Setup</a:t>
            </a:r>
            <a:r>
              <a:rPr/>
              <a:t> — R and Positron installed; project folders created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)</a:t>
            </a:r>
          </a:p>
          <a:p>
            <a:pPr lvl="0"/>
            <a:r>
              <a:rPr b="1"/>
              <a:t>R as a calculator</a:t>
            </a:r>
            <a:r>
              <a:rPr/>
              <a:t> — arithmetic, order of operations, assignment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 b="1"/>
              <a:t>Vectors</a:t>
            </a:r>
            <a:r>
              <a:rPr/>
              <a:t> — </a:t>
            </a:r>
            <a:r>
              <a:rPr>
                <a:latin typeface="Courier"/>
              </a:rPr>
              <a:t>c()</a:t>
            </a:r>
            <a:r>
              <a:rPr/>
              <a:t>, data types (</a:t>
            </a:r>
            <a:r>
              <a:rPr>
                <a:latin typeface="Courier"/>
              </a:rPr>
              <a:t>numeric</a:t>
            </a:r>
            <a:r>
              <a:rPr/>
              <a:t>, </a:t>
            </a:r>
            <a:r>
              <a:rPr>
                <a:latin typeface="Courier"/>
              </a:rPr>
              <a:t>character</a:t>
            </a:r>
            <a:r>
              <a:rPr/>
              <a:t>, </a:t>
            </a:r>
            <a:r>
              <a:rPr>
                <a:latin typeface="Courier"/>
              </a:rPr>
              <a:t>logical</a:t>
            </a:r>
            <a:r>
              <a:rPr/>
              <a:t>)</a:t>
            </a:r>
          </a:p>
          <a:p>
            <a:pPr lvl="0"/>
            <a:r>
              <a:rPr b="1"/>
              <a:t>Functions</a:t>
            </a:r>
            <a:r>
              <a:rPr/>
              <a:t> — calling built-in functions, reading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 b="1"/>
              <a:t>Loading data</a:t>
            </a:r>
            <a:r>
              <a:rPr/>
              <a:t> —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  <a:r>
              <a:rPr/>
              <a:t>; inspecting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 b="1"/>
              <a:t>Pipe</a:t>
            </a:r>
            <a:r>
              <a:rPr/>
              <a:t> — </a:t>
            </a:r>
            <a:r>
              <a:rPr>
                <a:latin typeface="Courier"/>
              </a:rPr>
              <a:t>%&gt;%</a:t>
            </a:r>
            <a:r>
              <a:rPr/>
              <a:t> reads as “then”; chains steps together</a:t>
            </a:r>
          </a:p>
          <a:p>
            <a:pPr lvl="0"/>
            <a:r>
              <a:rPr b="1"/>
              <a:t>First ggplot</a:t>
            </a:r>
            <a:r>
              <a:rPr/>
              <a:t> — boxplot + </a:t>
            </a:r>
            <a:r>
              <a:rPr>
                <a:latin typeface="Courier"/>
              </a:rPr>
              <a:t>geom_jitter()</a:t>
            </a:r>
            <a:r>
              <a:rPr/>
              <a:t>, saved as PNG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02</a:t>
            </a:r>
          </a:p>
          <a:p>
            <a:pPr lvl="0" indent="0" marL="1270000">
              <a:buNone/>
            </a:pPr>
            <a:r>
              <a:rPr sz="2000"/>
              <a:t>You can get data into R and make a plot. Today we learn to </a:t>
            </a:r>
            <a:r>
              <a:rPr sz="2000" i="1"/>
              <a:t>wrangle</a:t>
            </a:r>
            <a:r>
              <a:rPr sz="2000"/>
              <a:t> and </a:t>
            </a:r>
            <a:r>
              <a:rPr sz="2000" i="1"/>
              <a:t>describe</a:t>
            </a:r>
            <a:r>
              <a:rPr sz="2000"/>
              <a:t> what we actually have.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 1 — Tidyverse wrangling: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 by a condition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 by name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Chain them all into a </a:t>
            </a:r>
            <a:r>
              <a:rPr b="1"/>
              <a:t>pipeline</a:t>
            </a:r>
          </a:p>
          <a:p>
            <a:pPr lvl="0" indent="0" marL="0">
              <a:buNone/>
            </a:pPr>
            <a:r>
              <a:rPr b="1"/>
              <a:t>Part 2 — Descriptive statistics:</a:t>
            </a:r>
          </a:p>
          <a:p>
            <a:pPr lvl="0"/>
            <a:r>
              <a:rPr/>
              <a:t>mean, median, variance, SD, SE</a:t>
            </a:r>
          </a:p>
          <a:p>
            <a:pPr lvl="0"/>
            <a:r>
              <a:rPr/>
              <a:t>NA handling —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>
                <a:latin typeface="Courier"/>
              </a:rPr>
              <a:t>skimr</a:t>
            </a:r>
            <a:r>
              <a:rPr/>
              <a:t> for a fast full overview</a:t>
            </a:r>
          </a:p>
          <a:p>
            <a:pPr lvl="0"/>
            <a:r>
              <a:rPr/>
              <a:t>Boxplot + mean ± SE plots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wrangle and describe our leaf data in one connected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tools today:</a:t>
            </a:r>
          </a:p>
          <a:p>
            <a:pPr lvl="0"/>
            <a:r>
              <a:rPr>
                <a:latin typeface="Courier"/>
              </a:rPr>
              <a:t>readxl</a:t>
            </a:r>
          </a:p>
          <a:p>
            <a:pPr lvl="0"/>
            <a:r>
              <a:rPr>
                <a:latin typeface="Courier"/>
              </a:rPr>
              <a:t>tidyverse</a:t>
            </a:r>
          </a:p>
          <a:p>
            <a:pPr lvl="0"/>
            <a:r>
              <a:rPr>
                <a:latin typeface="Courier"/>
              </a:rPr>
              <a:t>skimr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Ch 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descriptive summaries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leaf data from the data folder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Install once — load every session</a:t>
            </a:r>
          </a:p>
          <a:p>
            <a:pPr lvl="0"/>
            <a:r>
              <a:rPr sz="2000"/>
              <a:t>Run in the Console one time only: </a:t>
            </a:r>
            <a:r>
              <a:rPr sz="2000">
                <a:latin typeface="Courier"/>
              </a:rPr>
              <a:t>install.packages("skimr")</a:t>
            </a:r>
          </a:p>
          <a:p>
            <a:pPr lvl="0"/>
            <a:r>
              <a:rPr sz="2000"/>
              <a:t>Then every session: </a:t>
            </a:r>
            <a:r>
              <a:rPr sz="2000">
                <a:latin typeface="Courier"/>
              </a:rPr>
              <a:t>library(skimr)</a:t>
            </a:r>
            <a:r>
              <a:rPr sz="2000"/>
              <a:t> activates it.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Preview the first rows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Column names, types, first values 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20
Columns: 5
$ index     &lt;dbl&gt; 1, 2, 3, 4, 5, 6, 7, 8, 9, 10, 11, 12, 13, 14, 15, 16, 17, 1…
$ side      &lt;chr&gt; "sunny", "sunny", "sunny", "sunny", "sunny", "sunny", "sunny…
$ weight_g  &lt;dbl&gt; 4, 3, 5, 3, 4, 3, 5, 4, 3, 4, 7, 8, 6, 9, 8, 7, 8, 9, 9, 7
$ width_cm  &lt;dbl&gt; 12, 14, 12, 13, 15, 13, 16, 13, 14, 15, 9, 18, 17, 18, 19, 1…
$ height_cm &lt;dbl&gt; 21, 22, 21, 23, 22, 23, 21, 24, 23, 23, 28, 29, 27, 28, 27, 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Rows × columns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  5</a:t>
            </a:r>
          </a:p>
          <a:p>
            <a:pPr lvl="0"/>
            <a:r>
              <a:rPr>
                <a:latin typeface="Courier"/>
              </a:rPr>
              <a:t>&lt;chr&gt;</a:t>
            </a:r>
            <a:r>
              <a:rPr/>
              <a:t> = character</a:t>
            </a:r>
          </a:p>
          <a:p>
            <a:pPr lvl="0"/>
            <a:r>
              <a:rPr>
                <a:latin typeface="Courier"/>
              </a:rPr>
              <a:t>&lt;dbl&gt;</a:t>
            </a:r>
            <a:r>
              <a:rPr/>
              <a:t> = numeric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The Core Tidyverse Verbs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functions do most of the work in data wrangling: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rows</a:t>
                      </a:r>
                      <a:r>
                        <a:rPr/>
                        <a:t> matching a condition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columns</a:t>
                      </a:r>
                      <a:r>
                        <a:rPr/>
                        <a:t> by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add or change</a:t>
                      </a:r>
                      <a:r>
                        <a:rPr/>
                        <a:t> a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</a:t>
                      </a:r>
                      <a:r>
                        <a:rPr/>
                        <a:t>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collapse</a:t>
                      </a:r>
                      <a:r>
                        <a:rPr/>
                        <a:t> rows to a summary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take a data frame as first input (via </a:t>
            </a:r>
            <a:r>
              <a:rPr>
                <a:latin typeface="Courier"/>
              </a:rPr>
              <a:t>%&gt;%</a:t>
            </a:r>
            <a:r>
              <a:rPr/>
              <a:t>) and return a data frame.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These five verbs are the tidyverse grammar for data. Learn them once and you can wrangle almost any dataset.</a:t>
            </a:r>
          </a:p>
          <a:p>
            <a:pPr lvl="0" indent="0" marL="0">
              <a:buNone/>
            </a:pPr>
            <a:r>
              <a:rPr/>
              <a:t>Think of them as building blocks:</a:t>
            </a:r>
          </a:p>
          <a:p>
            <a:pPr lvl="0" indent="0">
              <a:buNone/>
            </a:pPr>
            <a:r>
              <a:rPr>
                <a:latin typeface="Courier"/>
              </a:rPr>
              <a:t>filter()   → rows you want
select()   → columns you want
mutate()   → new columns you need
arrange()  → order the rows
summarize()→ collapse to summaries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filter() keeps rows where the condition is TRUE 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sunny leaves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leaves heavier than 5 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11 shady        7        9        28
2    12 shady        8       18        29
3    13 shady        6       17        27
4    14 shady        9       18        28
5    15 shady        8       19        27
6    16 shady        7       19        28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two conditions with &amp; (AND)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, 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12 shady        8       18        29
2    14 shady        9       18        28
3    15 shady        8       19        27
4    17 shady        8       18        29
5    18 shady        9       17        27
6    19 shady        9       19        27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comparison operators: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exactly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 or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NA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!is.na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rows that are </a:t>
                      </a:r>
                      <a:r>
                        <a:rPr b="1"/>
                        <a:t>NOT NA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=</a:t>
            </a:r>
            <a:r>
              <a:rPr sz="2000"/>
              <a:t> assigns a value.</a:t>
            </a:r>
          </a:p>
          <a:p>
            <a:pPr lvl="0"/>
            <a:r>
              <a:rPr sz="2000">
                <a:latin typeface="Courier"/>
              </a:rPr>
              <a:t>==</a:t>
            </a:r>
            <a:r>
              <a:rPr sz="2000"/>
              <a:t> tests equality.</a:t>
            </a:r>
          </a:p>
          <a:p>
            <a:pPr lvl="0"/>
            <a:r>
              <a:rPr sz="2000">
                <a:latin typeface="Courier"/>
              </a:rPr>
              <a:t>filter(side = "sunny")</a:t>
            </a:r>
            <a:r>
              <a:rPr sz="2000"/>
              <a:t> → error.</a:t>
            </a:r>
          </a:p>
          <a:p>
            <a:pPr lvl="0"/>
            <a:r>
              <a:rPr sz="2000">
                <a:latin typeface="Courier"/>
              </a:rPr>
              <a:t>filter(side == "sunny")</a:t>
            </a:r>
            <a:r>
              <a:rPr sz="2000"/>
              <a:t> → correct.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select() keeps the columns you name ------------------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side and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side  weight_g
  &lt;chr&gt;    &lt;dbl&gt;
1 sunny        4
2 sunny        3
3 sunny        5
4 sunny        3
5 sunny        4
6 sunny       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index column (use minus sign)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index)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side  weight_g width_cm height_cm
  &lt;chr&gt;    &lt;dbl&gt;    &lt;dbl&gt;     &lt;dbl&gt;
1 sunny        4       12        21
2 sunny        3       14        22
3 sunny        5       12        21
4 sunny        3       13        23
5 sunny        4       15        22
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columns that start with a word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"weight"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1
  weight_g
     &lt;dbl&gt;
1        4
2        3
3        5
4        3
5        4
6       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matters:</a:t>
            </a:r>
          </a:p>
          <a:p>
            <a:pPr lvl="1"/>
            <a:r>
              <a:rPr/>
              <a:t>Real datasets often have 50–100+ columns</a:t>
            </a:r>
          </a:p>
          <a:p>
            <a:pPr lvl="1"/>
            <a:r>
              <a:rPr/>
              <a:t>You rarely need all of them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keeps your workspace clean</a:t>
            </a:r>
          </a:p>
          <a:p>
            <a:pPr lvl="0"/>
            <a:r>
              <a:rPr b="1"/>
              <a:t>Useful helpers:</a:t>
            </a:r>
          </a:p>
          <a:p>
            <a:pPr lvl="1"/>
            <a:r>
              <a:rPr>
                <a:latin typeface="Courier"/>
              </a:rPr>
              <a:t>starts_with("x")</a:t>
            </a:r>
            <a:r>
              <a:rPr/>
              <a:t> — columns starting with “x”</a:t>
            </a:r>
          </a:p>
          <a:p>
            <a:pPr lvl="1"/>
            <a:r>
              <a:rPr>
                <a:latin typeface="Courier"/>
              </a:rPr>
              <a:t>ends_with("_g")</a:t>
            </a:r>
            <a:r>
              <a:rPr/>
              <a:t> — columns ending with “_g”</a:t>
            </a:r>
          </a:p>
          <a:p>
            <a:pPr lvl="1"/>
            <a:r>
              <a:rPr>
                <a:latin typeface="Courier"/>
              </a:rPr>
              <a:t>contains("cm")</a:t>
            </a:r>
            <a:r>
              <a:rPr/>
              <a:t> — columns containing “cm”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Creating New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a new column to the data frame 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grams to milligrams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weight_mg
  &lt;dbl&gt; &lt;chr&gt;    &lt;dbl&gt;    &lt;dbl&gt;     &lt;dbl&gt;     &lt;dbl&gt;
1     1 sunny        4       12        21      4000
2     2 sunny        3       14        22      3000
3     3 sunny        5       12        21      5000
4     4 sunny        3       13        23      3000
5     5 sunny        4       15        22      4000
6     6 sunny        3       13        23      3000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size category based on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size_class
  &lt;dbl&gt; &lt;chr&gt;    &lt;dbl&gt;    &lt;dbl&gt;     &lt;dbl&gt; &lt;chr&gt;     
1     1 sunny        4       12        21 small     
2     2 sunny        3       14        22 small     
3     3 sunny        5       12        21 small     
4     4 sunny        3       13        23 small     
5     5 sunny        4       15        22 small     
6     6 sunny        3       13        23 small    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can reference multiple existing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area_approx =</a:t>
            </a:r>
            <a:r>
              <a:rPr>
                <a:solidFill>
                  <a:srgbClr val="003B4F"/>
                </a:solidFill>
                <a:latin typeface="Courier"/>
              </a:rPr>
              <a:t> width_cm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height_cm </a:t>
            </a:r>
            <a:r>
              <a:rPr>
                <a:solidFill>
                  <a:srgbClr val="5E5E5E"/>
                </a:solidFill>
                <a:latin typeface="Courier"/>
              </a:rPr>
              <a:t># rough area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index side  weight_g width_cm height_cm weight_mg area_approx
  &lt;dbl&gt; &lt;chr&gt;    &lt;dbl&gt;    &lt;dbl&gt;     &lt;dbl&gt;     &lt;dbl&gt;       &lt;dbl&gt;
1     1 sunny        4       12        21      4000         252
2     2 sunny        3       14        22      3000         308
3     3 sunny        5       12        21      5000         252
4     4 sunny        3       13        23      3000         299
5     5 sunny        4       15        22      4000         330
6     6 sunny        3       13        23      3000         299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mutate()</a:t>
            </a:r>
            <a:r>
              <a:rPr/>
              <a:t> keeps </a:t>
            </a:r>
            <a:r>
              <a:rPr b="1"/>
              <a:t>all existing columns</a:t>
            </a:r>
            <a:r>
              <a:rPr/>
              <a:t> and adds new ones</a:t>
            </a:r>
          </a:p>
          <a:p>
            <a:pPr lvl="0"/>
            <a:r>
              <a:rPr b="1"/>
              <a:t>Use </a:t>
            </a:r>
            <a:r>
              <a:rPr b="1">
                <a:latin typeface="Courier"/>
              </a:rPr>
              <a:t>if_else(condition, value_if_true, value_if_false)</a:t>
            </a:r>
            <a:r>
              <a:rPr b="1"/>
              <a:t> to create categories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mutate()</a:t>
            </a:r>
            <a:r>
              <a:rPr sz="2000"/>
              <a:t> never removes columns — it adds to the right of your data frame.</a:t>
            </a:r>
          </a:p>
          <a:p>
            <a:pPr lvl="0" indent="0" marL="1270000">
              <a:buNone/>
            </a:pPr>
            <a:r>
              <a:rPr sz="2000"/>
              <a:t>To overwrite a column, just use the same name on the left: </a:t>
            </a:r>
            <a:r>
              <a:rPr sz="2000">
                <a:latin typeface="Courier"/>
              </a:rPr>
              <a:t>mutate(weight_g = round(weight_g, 1))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arrange() sorts rows by one or more columns 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Lightest leaves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 2 sunny        3       14        22
 2     4 sunny        3       13        23
 3     6 sunny        3       13        23
 4     9 sunny        3       14        23
 5     1 sunny        4       12        21
 6     5 sunny        4       15        22
 7     8 sunny        4       13        24
 8    10 sunny        4       15        23
 9     3 sunny        5       12        21
10     7 sunny        5       16        21
11    13 shady        6       17        27
12    11 shady        7        9        28
13    16 shady        7       19        28
14    20 shady        7       19        29
15    12 shady        8       18        29
16    15 shady        8       19        27
17    17 shady        8       18        29
18    14 shady        9       18        28
19    18 shady        9       17        27
20    19 shady        9       19        27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Heaviest leaves first (use desc() to reverse)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Sort by side, then by weight within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Default: </a:t>
            </a:r>
            <a:r>
              <a:rPr b="1"/>
              <a:t>ascending</a:t>
            </a:r>
            <a:r>
              <a:rPr/>
              <a:t> order (smallest first)</a:t>
            </a:r>
          </a:p>
          <a:p>
            <a:pPr lvl="0"/>
            <a:r>
              <a:rPr>
                <a:latin typeface="Courier"/>
              </a:rPr>
              <a:t>desc(column)</a:t>
            </a:r>
            <a:r>
              <a:rPr/>
              <a:t> → </a:t>
            </a:r>
            <a:r>
              <a:rPr b="1"/>
              <a:t>descending</a:t>
            </a:r>
            <a:r>
              <a:rPr/>
              <a:t> order (largest first)</a:t>
            </a:r>
          </a:p>
          <a:p>
            <a:pPr lvl="0"/>
            <a:r>
              <a:rPr/>
              <a:t>Very useful before printing a table or checking outliers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arrange()</a:t>
            </a:r>
            <a:r>
              <a:rPr sz="2000"/>
              <a:t> is rarely used in the middle of an analysis pipeline — it is most useful at the </a:t>
            </a:r>
            <a:r>
              <a:rPr sz="2000" b="1"/>
              <a:t>end</a:t>
            </a:r>
            <a:r>
              <a:rPr sz="2000"/>
              <a:t> when you want to inspect your results in a specific order.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Chain all the verbs together 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Read it top to bottom like a recipe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wrangled_df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remove any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weight_g, height_cm)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keep only needed cols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 </a:t>
            </a:r>
            <a:r>
              <a:rPr>
                <a:solidFill>
                  <a:srgbClr val="5E5E5E"/>
                </a:solidFill>
                <a:latin typeface="Courier"/>
              </a:rPr>
              <a:t># sort by side, then weight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(wrangled_df)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side  weight_g height_cm weight_mg size_class
  &lt;chr&gt;    &lt;dbl&gt;     &lt;dbl&gt;     &lt;dbl&gt; &lt;chr&gt;     
1 shady        9        28      9000 large     
2 shady        9        27      9000 large     
3 shady        9        27      9000 large     
4 shady        8        29      8000 large     
5 shady        8        27      8000 large     
6 shady        8        29      8000 large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the pipeline out loud:</a:t>
            </a:r>
          </a:p>
          <a:p>
            <a:pPr lvl="0"/>
            <a:r>
              <a:rPr/>
              <a:t>Take </a:t>
            </a:r>
            <a:r>
              <a:rPr>
                <a:latin typeface="Courier"/>
              </a:rPr>
              <a:t>tree_df</a:t>
            </a:r>
            <a:r>
              <a:rPr/>
              <a:t>,</a:t>
            </a:r>
          </a:p>
          <a:p>
            <a:pPr lvl="1"/>
            <a:r>
              <a:rPr b="1"/>
              <a:t>then</a:t>
            </a:r>
            <a:r>
              <a:rPr/>
              <a:t> filter to non-zero weights,</a:t>
            </a:r>
          </a:p>
          <a:p>
            <a:pPr lvl="2"/>
            <a:r>
              <a:rPr b="1"/>
              <a:t>then</a:t>
            </a:r>
            <a:r>
              <a:rPr/>
              <a:t> select three columns,</a:t>
            </a:r>
          </a:p>
          <a:p>
            <a:pPr lvl="3"/>
            <a:r>
              <a:rPr b="1"/>
              <a:t>then</a:t>
            </a:r>
            <a:r>
              <a:rPr/>
              <a:t> add two new columns,</a:t>
            </a:r>
          </a:p>
          <a:p>
            <a:pPr lvl="4"/>
            <a:r>
              <a:rPr b="1"/>
              <a:t>then</a:t>
            </a:r>
            <a:r>
              <a:rPr/>
              <a:t> sort by side and weight.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pipeline </a:t>
            </a:r>
            <a:r>
              <a:rPr sz="2000">
                <a:latin typeface="Courier"/>
              </a:rPr>
              <a:t>%&gt;%</a:t>
            </a:r>
            <a:r>
              <a:rPr sz="2000"/>
              <a:t> is what makes tidyverse readable. You can see every step in order — unlike nested function calls that read inside-out.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Our Scientific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Biological prediction:</a:t>
            </a:r>
            <a:r>
              <a:rPr/>
              <a:t> Leaves on the </a:t>
            </a:r>
            <a:r>
              <a:rPr i="1"/>
              <a:t>shady</a:t>
            </a:r>
            <a:r>
              <a:rPr/>
              <a:t> side of a tree will be </a:t>
            </a:r>
            <a:r>
              <a:rPr b="1"/>
              <a:t>larger and heavier</a:t>
            </a:r>
            <a:r>
              <a:rPr/>
              <a:t> to capture more of the limited light.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Hypothesis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H₀ —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difference in leaf size between sunny and shady sides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Hₐ — alternate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size differs between sunny and shady sides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Plan for this unit:</a:t>
            </a:r>
          </a:p>
          <a:p>
            <a:pPr lvl="0" indent="-342900" marL="342900">
              <a:buAutoNum type="arabicPeriod"/>
            </a:pPr>
            <a:r>
              <a:rPr b="1"/>
              <a:t>Today</a:t>
            </a:r>
            <a:r>
              <a:rPr/>
              <a:t> — </a:t>
            </a:r>
            <a:r>
              <a:rPr i="1"/>
              <a:t>describe</a:t>
            </a:r>
            <a:r>
              <a:rPr/>
              <a:t> the data</a:t>
            </a:r>
          </a:p>
          <a:p>
            <a:pPr lvl="0" indent="-342900" marL="342900">
              <a:buAutoNum type="arabicPeriod"/>
            </a:pPr>
            <a:r>
              <a:rPr b="1"/>
              <a:t>Lecture 04</a:t>
            </a:r>
            <a:r>
              <a:rPr/>
              <a:t> — formally </a:t>
            </a:r>
            <a:r>
              <a:rPr i="1"/>
              <a:t>test</a:t>
            </a:r>
            <a:r>
              <a:rPr/>
              <a:t> the hypotheses with a t-test</a:t>
            </a:r>
          </a:p>
          <a:p>
            <a:pPr lvl="0" indent="0" marL="0">
              <a:buNone/>
            </a:pPr>
            <a:r>
              <a:rPr/>
              <a:t>Statistics helps us decide which hypothesis is better supported by the data.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Mean?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Add up all values, divide by </a:t>
                </a:r>
                <a:r>
                  <a:rPr i="1"/>
                  <a:t>n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balance point</a:t>
                </a:r>
                <a:r>
                  <a:rPr/>
                  <a:t> of the distribution</a:t>
                </a:r>
              </a:p>
              <a:p>
                <a:pPr lvl="0"/>
                <a:r>
                  <a:rPr b="1"/>
                  <a:t>Sensitive to outliers</a:t>
                </a:r>
                <a:r>
                  <a:rPr/>
                  <a:t> — one very large value pulls the mean up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</a:p>
              <a:p>
                <a:pPr lvl="0" indent="0" marL="0">
                  <a:buNone/>
                </a:pPr>
                <a:r>
                  <a:rPr/>
                  <a:t>Values: 5, 6, 7, 8, </a:t>
                </a:r>
                <a:r>
                  <a:rPr b="1"/>
                  <a:t>50</a:t>
                </a:r>
                <a:r>
                  <a:rPr/>
                  <a:t> → mean = 15.2</a:t>
                </a:r>
              </a:p>
              <a:p>
                <a:pPr lvl="0" indent="0" marL="0">
                  <a:buNone/>
                </a:pPr>
                <a:r>
                  <a:rPr i="1"/>
                  <a:t>Is 15.2 a fair summary? Not really — the outlier dominates!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it matters:</a:t>
            </a:r>
          </a:p>
          <a:p>
            <a:pPr lvl="0"/>
            <a:r>
              <a:rPr/>
              <a:t>The most commonly reported statistic</a:t>
            </a:r>
          </a:p>
          <a:p>
            <a:pPr lvl="0"/>
            <a:r>
              <a:rPr/>
              <a:t>Used in every t-test, ANOVA, and regression</a:t>
            </a:r>
          </a:p>
          <a:p>
            <a:pPr lvl="0"/>
            <a:r>
              <a:rPr/>
              <a:t>Always pair it with a measure of </a:t>
            </a:r>
            <a:r>
              <a:rPr b="1"/>
              <a:t>spread</a:t>
            </a:r>
            <a:r>
              <a:rPr/>
              <a:t> (SD or SE)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 — Numbers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Calculating the Mean — filter() and pull()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Use filter() + pull() to extract one group's values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sunny_wt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sunny_wt </a:t>
            </a:r>
            <a:r>
              <a:rPr>
                <a:solidFill>
                  <a:srgbClr val="5E5E5E"/>
                </a:solidFill>
                <a:latin typeface="Courier"/>
              </a:rPr>
              <a:t># look at the raw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 [1] 4 3 5 3 4 3 5 4 3 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mean 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mean_sunny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weight:"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weight: 3.8 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filter(side == "sunny")</a:t>
            </a:r>
            <a:r>
              <a:rPr/>
              <a:t> — keeps only sunny rows</a:t>
            </a:r>
          </a:p>
          <a:p>
            <a:pPr lvl="0"/>
            <a:r>
              <a:rPr>
                <a:latin typeface="Courier"/>
              </a:rPr>
              <a:t>pull(weight_g)</a:t>
            </a:r>
            <a:r>
              <a:rPr/>
              <a:t> — extracts that column as a </a:t>
            </a:r>
            <a:r>
              <a:rPr b="1"/>
              <a:t>vector</a:t>
            </a:r>
          </a:p>
          <a:p>
            <a:pPr lvl="0"/>
            <a:r>
              <a:rPr>
                <a:latin typeface="Courier"/>
              </a:rPr>
              <a:t>na.rm = TRUE</a:t>
            </a:r>
            <a:r>
              <a:rPr/>
              <a:t> — removes any </a:t>
            </a:r>
            <a:r>
              <a:rPr>
                <a:latin typeface="Courier"/>
              </a:rPr>
              <a:t>NA</a:t>
            </a:r>
            <a:r>
              <a:rPr/>
              <a:t> before computing</a:t>
            </a:r>
          </a:p>
          <a:p>
            <a:pPr lvl="0" indent="0" marL="0">
              <a:buNone/>
            </a:pPr>
            <a:r>
              <a:rPr b="1"/>
              <a:t>Key pattern: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→ picks </a:t>
            </a:r>
            <a:r>
              <a:rPr b="1"/>
              <a:t>rows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pull()</a:t>
            </a:r>
            <a:r>
              <a:rPr/>
              <a:t> → extracts a </a:t>
            </a:r>
            <a:r>
              <a:rPr b="1"/>
              <a:t>column</a:t>
            </a:r>
            <a:r>
              <a:rPr/>
              <a:t> as a vector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the Median?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middle value when data are sorted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Sorted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</a:t>
                      </a:r>
                      <a:r>
                        <a:rPr/>
                        <a:t>, 8,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7, 8</a:t>
                      </a:r>
                      <a:r>
                        <a:rPr/>
                        <a:t>, 50, 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(7 + 8) / 2 = 7.5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Not pulled by outliers → </a:t>
            </a:r>
            <a:r>
              <a:rPr b="1"/>
              <a:t>robust</a:t>
            </a:r>
          </a:p>
          <a:p>
            <a:pPr lvl="0"/>
            <a:r>
              <a:rPr/>
              <a:t>If </a:t>
            </a:r>
            <a:r>
              <a:rPr b="1"/>
              <a:t>mean ≫ median</a:t>
            </a:r>
            <a:r>
              <a:rPr/>
              <a:t> → right-skewed</a:t>
            </a:r>
          </a:p>
          <a:p>
            <a:pPr lvl="0"/>
            <a:r>
              <a:rPr/>
              <a:t>If </a:t>
            </a:r>
            <a:r>
              <a:rPr b="1"/>
              <a:t>mean ≈ median</a:t>
            </a:r>
            <a:r>
              <a:rPr/>
              <a:t> → roughly symmetric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Median for each side 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med_sunny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med_shady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sunny: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shady: 8 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Variance?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For each value, compute distance from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Square</a:t>
                </a:r>
                <a:r>
                  <a:rPr/>
                  <a:t> those distances → all positive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Sum them up, divide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Dividing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gives an </a:t>
                </a:r>
                <a:r>
                  <a:rPr b="1"/>
                  <a:t>unbiased</a:t>
                </a:r>
                <a:r>
                  <a:rPr/>
                  <a:t> estimate of population variance.</a:t>
                </a:r>
              </a:p>
              <a:p>
                <a:pPr lvl="0" indent="0" marL="0">
                  <a:buNone/>
                </a:pPr>
                <a:r>
                  <a:rPr b="1"/>
                  <a:t>Larger variance = more spread = more uncertainty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Variance for each side 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var_sunny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var_shady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sunny: 0.62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shady: 1.07 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Variance is in </a:t>
            </a:r>
            <a:r>
              <a:rPr sz="2000" b="1"/>
              <a:t>squared units</a:t>
            </a:r>
            <a:r>
              <a:rPr sz="2000"/>
              <a:t> (g²) — hard to interpret. That is why we use SD.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Standard Deviation?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∑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square root of variance</a:t>
                </a:r>
                <a:r>
                  <a:rPr/>
                  <a:t> → back in original units (g) ✓</a:t>
                </a:r>
              </a:p>
              <a:p>
                <a:pPr lvl="0"/>
                <a:r>
                  <a:rPr/>
                  <a:t>For a normal distribution: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68%</a:t>
                </a:r>
                <a:r>
                  <a:rPr/>
                  <a:t> of values fall within mean ± 1 SD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95%</a:t>
                </a:r>
                <a:r>
                  <a:rPr/>
                  <a:t> fall within mean ± 2 SD</a:t>
                </a:r>
              </a:p>
              <a:p>
                <a:pPr lvl="0"/>
                <a:r>
                  <a:rPr/>
                  <a:t>Reports how spread out </a:t>
                </a:r>
                <a:r>
                  <a:rPr i="1"/>
                  <a:t>individual</a:t>
                </a:r>
                <a:r>
                  <a:rPr/>
                  <a:t> data points are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Standard deviation for each side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sd_sunny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sd_shady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sunny: 0.79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shady: 1.03 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Standard Error?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Measures how precisely we know the </a:t>
                </a:r>
                <a:r>
                  <a:rPr b="1"/>
                  <a:t>mean</a:t>
                </a:r>
              </a:p>
              <a:p>
                <a:pPr lvl="0"/>
                <a:r>
                  <a:rPr/>
                  <a:t>Not the spread of raw data — the </a:t>
                </a:r>
                <a:r>
                  <a:rPr b="1"/>
                  <a:t>uncertainty of the mean itself</a:t>
                </a:r>
              </a:p>
              <a:p>
                <a:pPr lvl="0"/>
                <a:r>
                  <a:rPr/>
                  <a:t>Gets </a:t>
                </a:r>
                <a:r>
                  <a:rPr b="1"/>
                  <a:t>smaller</a:t>
                </a:r>
                <a:r>
                  <a:rPr/>
                  <a:t> as </a:t>
                </a:r>
                <a:r>
                  <a:rPr i="1"/>
                  <a:t>n</a:t>
                </a:r>
                <a:r>
                  <a:rPr/>
                  <a:t> increases → more data = more precise estimate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Describes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 of </a:t>
                      </a:r>
                      <a:r>
                        <a:rPr i="1"/>
                        <a:t>individual</a:t>
                      </a:r>
                      <a:r>
                        <a:rPr/>
                        <a:t> data points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of the </a:t>
                      </a:r>
                      <a:r>
                        <a:rPr i="1"/>
                        <a:t>sample mean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report SE when making claims about group means.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 = SD / sqrt(n) — need correct n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n_sunny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n_shady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(shady_wt))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se_sunny &lt;- sd_sunny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(n_sunny)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se_shady &lt;- sd_shady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(n_shady)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sunny  ="</a:t>
            </a:r>
            <a:r>
              <a:rPr>
                <a:solidFill>
                  <a:srgbClr val="003B4F"/>
                </a:solidFill>
                <a:latin typeface="Courier"/>
              </a:rPr>
              <a:t>, n_sunny,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sunny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sunny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sunny = 0.25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shady  ="</a:t>
            </a:r>
            <a:r>
              <a:rPr>
                <a:solidFill>
                  <a:srgbClr val="003B4F"/>
                </a:solidFill>
                <a:latin typeface="Courier"/>
              </a:rPr>
              <a:t>, n_shady,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shady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shady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shady = 0.33 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with </a:t>
            </a:r>
            <a:r>
              <a:rPr>
                <a:latin typeface="Courier"/>
              </a:rPr>
              <a:t>length()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length() counts ALL positions — including NAs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a vector with missing values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returns 5 — but 2 are NA!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how many NAs are there?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Using length() in SE gives the WRONG answer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wrong_n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(wrong_n)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n  ="</a:t>
            </a:r>
            <a:r>
              <a:rPr>
                <a:solidFill>
                  <a:srgbClr val="003B4F"/>
                </a:solidFill>
                <a:latin typeface="Courier"/>
              </a:rPr>
              <a:t>, wrong_n,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n  = 5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SE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(wrong_se,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SE = 0.931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length(x)</a:t>
            </a:r>
            <a:r>
              <a:rPr/>
              <a:t> counts </a:t>
            </a:r>
            <a:r>
              <a:rPr b="1"/>
              <a:t>all positions</a:t>
            </a:r>
            <a:r>
              <a:rPr/>
              <a:t> in the vector — including </a:t>
            </a:r>
            <a:r>
              <a:rPr>
                <a:latin typeface="Courier"/>
              </a:rPr>
              <a:t>NA</a:t>
            </a:r>
          </a:p>
          <a:p>
            <a:pPr lvl="0"/>
            <a:r>
              <a:rPr/>
              <a:t>This is a </a:t>
            </a:r>
            <a:r>
              <a:rPr b="1"/>
              <a:t>silent error</a:t>
            </a:r>
            <a:r>
              <a:rPr/>
              <a:t> — R will not warn you!</a:t>
            </a:r>
          </a:p>
          <a:p>
            <a:pPr lvl="0"/>
            <a:r>
              <a:rPr/>
              <a:t>Using n = 5 in SE = SD / √n when n should be 3 gives the wrong answer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§18 — Missing Values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 — </a:t>
            </a:r>
            <a:r>
              <a:rPr>
                <a:latin typeface="Courier"/>
              </a:rPr>
              <a:t>sum(!is.na())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Break it down step by step 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TRUE where NA, FALSE where real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 FALSE  TRUE FALSE  TRUE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FLIP: TRUE where real, FALSE where NA</a:t>
            </a:r>
          </a:p>
          <a:p>
            <a:pPr lvl="0" indent="0">
              <a:buNone/>
            </a:pPr>
            <a:r>
              <a:rPr>
                <a:latin typeface="Courier"/>
              </a:rPr>
              <a:t>[1]  TRUE  TRUE FALSE  TRUE FALSE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count the TRUEs = number of real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Apply to our real leaf data 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n_sun_check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"Non-missing sunny weights ="</a:t>
            </a:r>
            <a:r>
              <a:rPr>
                <a:solidFill>
                  <a:srgbClr val="003B4F"/>
                </a:solidFill>
                <a:latin typeface="Courier"/>
              </a:rPr>
              <a:t>, n_sun_check,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Non-missing sunny weights = 10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it works step by step: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is.na(x)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for each </a:t>
            </a:r>
            <a:r>
              <a:rPr>
                <a:latin typeface="Courier"/>
              </a:rPr>
              <a:t>NA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!is.na(x)</a:t>
            </a:r>
            <a:r>
              <a:rPr/>
              <a:t> → flips it: </a:t>
            </a:r>
            <a:r>
              <a:rPr>
                <a:latin typeface="Courier"/>
              </a:rPr>
              <a:t>TRUE</a:t>
            </a:r>
            <a:r>
              <a:rPr/>
              <a:t> for </a:t>
            </a:r>
            <a:r>
              <a:rPr b="1"/>
              <a:t>real</a:t>
            </a:r>
            <a:r>
              <a:rPr/>
              <a:t> values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sum(...)</a:t>
            </a:r>
            <a:r>
              <a:rPr/>
              <a:t> → counts </a:t>
            </a:r>
            <a:r>
              <a:rPr>
                <a:latin typeface="Courier"/>
              </a:rPr>
              <a:t>TRUE</a:t>
            </a:r>
            <a:r>
              <a:rPr/>
              <a:t>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always use </a:t>
            </a:r>
            <a:r>
              <a:rPr sz="2000">
                <a:latin typeface="Courier"/>
              </a:rPr>
              <a:t>sum(!is.na(x))</a:t>
            </a:r>
            <a:r>
              <a:rPr sz="2000"/>
              <a:t> when you need </a:t>
            </a:r>
            <a:r>
              <a:rPr sz="2000" i="1"/>
              <a:t>n</a:t>
            </a:r>
            <a:r>
              <a:rPr sz="2000"/>
              <a:t> — even when you think there are no NAs.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All Stats — Base R, One Group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All stats for the sunny side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 &lt;- sd_s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Sunny Leaves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Sunny Leaves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     ="</a:t>
            </a:r>
            <a:r>
              <a:rPr>
                <a:solidFill>
                  <a:srgbClr val="003B4F"/>
                </a:solidFill>
                <a:latin typeface="Courier"/>
              </a:rPr>
              <a:t>, n_s,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   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  = 3.8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=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    = 0.79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    = 0.25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Every function takes </a:t>
            </a:r>
            <a:r>
              <a:rPr>
                <a:latin typeface="Courier"/>
              </a:rPr>
              <a:t>na.rm = TRUE</a:t>
            </a:r>
          </a:p>
          <a:p>
            <a:pPr lvl="0"/>
            <a:r>
              <a:rPr>
                <a:latin typeface="Courier"/>
              </a:rPr>
              <a:t>cat()</a:t>
            </a:r>
            <a:r>
              <a:rPr/>
              <a:t> prints clean labelled output</a:t>
            </a:r>
          </a:p>
          <a:p>
            <a:pPr lvl="0"/>
            <a:r>
              <a:rPr/>
              <a:t>This is </a:t>
            </a:r>
            <a:r>
              <a:rPr b="1"/>
              <a:t>clear</a:t>
            </a:r>
            <a:r>
              <a:rPr/>
              <a:t> but repetitive for many groups → that is why we use </a:t>
            </a:r>
            <a:r>
              <a:rPr>
                <a:latin typeface="Courier"/>
              </a:rPr>
              <a:t>group_by()</a:t>
            </a:r>
            <a:r>
              <a:rPr/>
              <a:t> next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Stats the Tidy Way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all stats for both sides at once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side      n mean_wt med_wt sd_wt se_wt
  &lt;chr&gt; &lt;int&gt;   &lt;dbl&gt;  &lt;dbl&gt; &lt;dbl&gt; &lt;dbl&gt;
1 shady    10     7.8      8  1.03  0.33
2 sunny    10     3.8      4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group_by(side)</a:t>
            </a:r>
            <a:r>
              <a:rPr/>
              <a:t> — splits the data by the </a:t>
            </a:r>
            <a:r>
              <a:rPr>
                <a:latin typeface="Courier"/>
              </a:rPr>
              <a:t>side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summarize()</a:t>
            </a:r>
            <a:r>
              <a:rPr/>
              <a:t> — collapses each group to one row of stats</a:t>
            </a:r>
          </a:p>
          <a:p>
            <a:pPr lvl="0"/>
            <a:r>
              <a:rPr/>
              <a:t>You get </a:t>
            </a:r>
            <a:r>
              <a:rPr b="1"/>
              <a:t>both groups in one clean table</a:t>
            </a:r>
          </a:p>
          <a:p>
            <a:pPr lvl="0"/>
            <a:r>
              <a:rPr/>
              <a:t>You can reference a column just created (</a:t>
            </a:r>
            <a:r>
              <a:rPr>
                <a:latin typeface="Courier"/>
              </a:rPr>
              <a:t>sd_wt</a:t>
            </a:r>
            <a:r>
              <a:rPr/>
              <a:t> → </a:t>
            </a:r>
            <a:r>
              <a:rPr>
                <a:latin typeface="Courier"/>
              </a:rPr>
              <a:t>se_wt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§3.5 — </a:t>
            </a:r>
            <a:r>
              <a:rPr>
                <a:hlinkClick r:id="rId3"/>
                <a:latin typeface="Courier"/>
              </a:rPr>
              <a:t>summarize()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Multiple Variables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group_by() pipe summarizes all measurements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size_stats_df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(width_cm,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size_stats_df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mean_ht mean_wd
  &lt;chr&gt; &lt;int&gt;   &lt;dbl&gt;   &lt;dbl&gt;   &lt;dbl&gt;
1 shady    10     7.8    27.9    17.3
2 sunny    10     3.8    22.3    13.7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 one </a:t>
            </a:r>
            <a:r>
              <a:rPr b="1">
                <a:latin typeface="Courier"/>
              </a:rPr>
              <a:t>group_by()</a:t>
            </a:r>
            <a:r>
              <a:rPr b="1"/>
              <a:t> pipe</a:t>
            </a:r>
            <a:r>
              <a:rPr/>
              <a:t> you summarize </a:t>
            </a:r>
            <a:r>
              <a:rPr b="1"/>
              <a:t>all three measurements</a:t>
            </a:r>
            <a:r>
              <a:rPr/>
              <a:t> across both sides.</a:t>
            </a:r>
          </a:p>
          <a:p>
            <a:pPr lvl="0" indent="0" marL="0">
              <a:buNone/>
            </a:pPr>
            <a:r>
              <a:rPr b="1"/>
              <a:t>Do the numbers support our hypothesis?</a:t>
            </a:r>
          </a:p>
          <a:p>
            <a:pPr lvl="0"/>
            <a:r>
              <a:rPr/>
              <a:t>Shady heavier? → check </a:t>
            </a:r>
            <a:r>
              <a:rPr>
                <a:latin typeface="Courier"/>
              </a:rPr>
              <a:t>mean_wt</a:t>
            </a:r>
          </a:p>
          <a:p>
            <a:pPr lvl="0"/>
            <a:r>
              <a:rPr/>
              <a:t>Shady taller? → check </a:t>
            </a:r>
            <a:r>
              <a:rPr>
                <a:latin typeface="Courier"/>
              </a:rPr>
              <a:t>mean_ht</a:t>
            </a:r>
          </a:p>
          <a:p>
            <a:pPr lvl="0"/>
            <a:r>
              <a:rPr/>
              <a:t>Shady wider? → check </a:t>
            </a:r>
            <a:r>
              <a:rPr>
                <a:latin typeface="Courier"/>
              </a:rPr>
              <a:t>mean_wd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Fast Summaries with </a:t>
            </a:r>
            <a:r>
              <a:rPr>
                <a:latin typeface="Courier"/>
              </a:rPr>
              <a:t>skimr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skim() grouped by side — full column summaries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4351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368800"/>
                <a:gridCol w="436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Piped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/>
                <a:gridCol w="622300"/>
                <a:gridCol w="1028700"/>
                <a:gridCol w="1435100"/>
                <a:gridCol w="520700"/>
                <a:gridCol w="520700"/>
                <a:gridCol w="304800"/>
                <a:gridCol w="622300"/>
                <a:gridCol w="520700"/>
                <a:gridCol w="622300"/>
                <a:gridCol w="520700"/>
                <a:gridCol w="622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▂▇▁▇▇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▇▁▇▁▃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▁▁▁▂▇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▅▇▅▅▂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▇▁▆▁▆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▆▃▁▇▂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column and per group: </a:t>
            </a:r>
            <a:r>
              <a:rPr>
                <a:latin typeface="Courier"/>
              </a:rPr>
              <a:t>n_missing</a:t>
            </a:r>
            <a:r>
              <a:rPr/>
              <a:t>, </a:t>
            </a:r>
            <a:r>
              <a:rPr>
                <a:latin typeface="Courier"/>
              </a:rPr>
              <a:t>mean</a:t>
            </a:r>
            <a:r>
              <a:rPr/>
              <a:t>, </a:t>
            </a:r>
            <a:r>
              <a:rPr>
                <a:latin typeface="Courier"/>
              </a:rPr>
              <a:t>sd</a:t>
            </a:r>
            <a:r>
              <a:rPr/>
              <a:t>, percentiles (</a:t>
            </a:r>
            <a:r>
              <a:rPr>
                <a:latin typeface="Courier"/>
              </a:rPr>
              <a:t>p0</a:t>
            </a:r>
            <a:r>
              <a:rPr/>
              <a:t> to </a:t>
            </a:r>
            <a:r>
              <a:rPr>
                <a:latin typeface="Courier"/>
              </a:rPr>
              <a:t>p100</a:t>
            </a:r>
            <a:r>
              <a:rPr/>
              <a:t>), and a mini histogram.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skim()</a:t>
            </a:r>
            <a:r>
              <a:rPr sz="2000"/>
              <a:t> is your fastest </a:t>
            </a:r>
            <a:r>
              <a:rPr sz="2000" b="1"/>
              <a:t>first look</a:t>
            </a:r>
            <a:r>
              <a:rPr sz="2000"/>
              <a:t> at any dataset. Pair it with </a:t>
            </a:r>
            <a:r>
              <a:rPr sz="2000">
                <a:latin typeface="Courier"/>
              </a:rPr>
              <a:t>group_by()</a:t>
            </a:r>
            <a:r>
              <a:rPr sz="2000"/>
              <a:t> to compare groups instantly.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Basic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Basic boxplot — data is already long format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tree_box_plot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tree_box_plot</a:t>
            </a:r>
          </a:p>
        </p:txBody>
      </p:sp>
      <p:pic>
        <p:nvPicPr>
          <p:cNvPr descr="wrangling_summary_stats_stats_files/figure-pptx/boxplot-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Boxplot anatomy:</a:t>
            </a:r>
          </a:p>
          <a:p>
            <a:pPr lvl="0"/>
            <a:r>
              <a:rPr/>
              <a:t>Middle line = </a:t>
            </a:r>
            <a:r>
              <a:rPr b="1"/>
              <a:t>median</a:t>
            </a:r>
          </a:p>
          <a:p>
            <a:pPr lvl="0"/>
            <a:r>
              <a:rPr/>
              <a:t>Box edges = 25th and 75th percentile (</a:t>
            </a:r>
            <a:r>
              <a:rPr b="1"/>
              <a:t>IQR</a:t>
            </a:r>
            <a:r>
              <a:rPr/>
              <a:t>)</a:t>
            </a:r>
          </a:p>
          <a:p>
            <a:pPr lvl="0"/>
            <a:r>
              <a:rPr/>
              <a:t>Whiskers = 1.5 × IQR</a:t>
            </a:r>
          </a:p>
          <a:p>
            <a:pPr lvl="0"/>
            <a:r>
              <a:rPr/>
              <a:t>Dots beyond whiskers =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Because our data is in </a:t>
            </a:r>
            <a:r>
              <a:rPr b="1"/>
              <a:t>long format</a:t>
            </a:r>
            <a:r>
              <a:rPr/>
              <a:t>, </a:t>
            </a:r>
            <a:r>
              <a:rPr>
                <a:latin typeface="Courier"/>
              </a:rPr>
              <a:t>ggplot2</a:t>
            </a:r>
            <a:r>
              <a:rPr/>
              <a:t> reads </a:t>
            </a:r>
            <a:r>
              <a:rPr>
                <a:latin typeface="Courier"/>
              </a:rPr>
              <a:t>side</a:t>
            </a:r>
            <a:r>
              <a:rPr/>
              <a:t> straight off the x-axis — no reshaping needed.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3"/>
              </a:rPr>
              <a:t>R4DS §9 — Layers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Overlay Individual 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raw data points over the boxplot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tree_jitter_plot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tree_jitter_plot</a:t>
            </a:r>
          </a:p>
        </p:txBody>
      </p:sp>
      <p:pic>
        <p:nvPicPr>
          <p:cNvPr descr="wrangling_summary_stats_stats_files/figure-pptx/boxplot-jitt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  <a:p>
            <a:pPr lvl="0"/>
            <a:r>
              <a:rPr>
                <a:latin typeface="Courier"/>
              </a:rPr>
              <a:t>position_jitter(width = 0.15)</a:t>
            </a:r>
            <a:r>
              <a:rPr/>
              <a:t> — spreads points left and right</a:t>
            </a:r>
          </a:p>
          <a:p>
            <a:pPr lvl="0"/>
            <a:r>
              <a:rPr>
                <a:latin typeface="Courier"/>
              </a:rPr>
              <a:t>seed = 42</a:t>
            </a:r>
            <a:r>
              <a:rPr/>
              <a:t> — same jitter layout every render</a:t>
            </a:r>
          </a:p>
          <a:p>
            <a:pPr lvl="0"/>
            <a:r>
              <a:rPr>
                <a:latin typeface="Courier"/>
              </a:rPr>
              <a:t>alpha = 0.6</a:t>
            </a:r>
            <a:r>
              <a:rPr/>
              <a:t> — semi-transparent to show overlap</a:t>
            </a:r>
          </a:p>
          <a:p>
            <a:pPr lvl="0"/>
            <a:r>
              <a:rPr>
                <a:latin typeface="Courier"/>
              </a:rPr>
              <a:t>size = 2.5</a:t>
            </a:r>
            <a:r>
              <a:rPr/>
              <a:t> — point size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Always show raw points with a boxplot — with only 10 leaves per group, every point matters!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 ± SE Plot —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stat_summary() computes and plots mean and SE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tree_mean_se_plot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tree_mean_se_plot</a:t>
            </a:r>
          </a:p>
        </p:txBody>
      </p:sp>
      <p:pic>
        <p:nvPicPr>
          <p:cNvPr descr="wrangling_summary_stats_stats_files/figure-pptx/mean-s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</a:t>
            </a:r>
            <a:r>
              <a:rPr b="1">
                <a:latin typeface="Courier"/>
              </a:rPr>
              <a:t>stat_summary()</a:t>
            </a:r>
            <a:r>
              <a:rPr b="1"/>
              <a:t> layers: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draws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 =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point at the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fun.data = mean_se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bars for ± 1 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Individual points in the </a:t>
            </a:r>
            <a:r>
              <a:rPr b="1"/>
              <a:t>background</a:t>
            </a:r>
            <a:r>
              <a:rPr/>
              <a:t> (</a:t>
            </a:r>
            <a:r>
              <a:rPr>
                <a:latin typeface="Courier"/>
              </a:rPr>
              <a:t>alpha = 0.35</a:t>
            </a:r>
            <a:r>
              <a:rPr/>
              <a:t>)</a:t>
            </a:r>
          </a:p>
          <a:p>
            <a:pPr lvl="0"/>
            <a:r>
              <a:rPr/>
              <a:t>Mean shown as a </a:t>
            </a:r>
            <a:r>
              <a:rPr b="1"/>
              <a:t>larger foreground point</a:t>
            </a:r>
          </a:p>
          <a:p>
            <a:pPr lvl="0"/>
            <a:r>
              <a:rPr/>
              <a:t>Error bars = </a:t>
            </a:r>
            <a:r>
              <a:rPr b="1"/>
              <a:t>± 1 SE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 wrangling skills:</a:t>
            </a:r>
          </a:p>
          <a:p>
            <a:pPr lvl="1"/>
            <a:r>
              <a:rPr>
                <a:latin typeface="Courier"/>
              </a:rPr>
              <a:t>filter()</a:t>
            </a:r>
            <a:r>
              <a:rPr/>
              <a:t> — keep rows by condition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— keep columns by name</a:t>
            </a:r>
          </a:p>
          <a:p>
            <a:pPr lvl="1"/>
            <a:r>
              <a:rPr>
                <a:latin typeface="Courier"/>
              </a:rPr>
              <a:t>mutate()</a:t>
            </a:r>
            <a:r>
              <a:rPr/>
              <a:t> — add new calculated columns</a:t>
            </a:r>
          </a:p>
          <a:p>
            <a:pPr lvl="1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1"/>
            <a:r>
              <a:rPr/>
              <a:t>Full pipeline: chain all verbs with </a:t>
            </a:r>
            <a:r>
              <a:rPr>
                <a:latin typeface="Courier"/>
              </a:rPr>
              <a:t>%&gt;%</a:t>
            </a:r>
          </a:p>
          <a:p>
            <a:pPr lvl="0"/>
            <a:r>
              <a:rPr b="1"/>
              <a:t>Statistics concepts:</a:t>
            </a:r>
          </a:p>
          <a:p>
            <a:pPr lvl="1"/>
            <a:r>
              <a:rPr b="1"/>
              <a:t>Mean</a:t>
            </a:r>
            <a:r>
              <a:rPr/>
              <a:t> — balance point; sensitive to outliers</a:t>
            </a:r>
          </a:p>
          <a:p>
            <a:pPr lvl="1"/>
            <a:r>
              <a:rPr b="1"/>
              <a:t>Median</a:t>
            </a:r>
            <a:r>
              <a:rPr/>
              <a:t> — middle value; robust</a:t>
            </a:r>
          </a:p>
          <a:p>
            <a:pPr lvl="1"/>
            <a:r>
              <a:rPr b="1"/>
              <a:t>Variance / SD</a:t>
            </a:r>
            <a:r>
              <a:rPr/>
              <a:t> — spread of individual data</a:t>
            </a:r>
          </a:p>
          <a:p>
            <a:pPr lvl="1"/>
            <a:r>
              <a:rPr b="1"/>
              <a:t>SE</a:t>
            </a:r>
            <a:r>
              <a:rPr/>
              <a:t> — precision of the sample mean</a:t>
            </a:r>
          </a:p>
          <a:p>
            <a:pPr lvl="0"/>
            <a:r>
              <a:rPr b="1"/>
              <a:t>More R skills:</a:t>
            </a:r>
          </a:p>
          <a:p>
            <a:pPr lvl="1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— all stats for all groups at once</a:t>
            </a:r>
          </a:p>
          <a:p>
            <a:pPr lvl="1"/>
            <a:r>
              <a:rPr>
                <a:latin typeface="Courier"/>
              </a:rPr>
              <a:t>sum(!is.na())</a:t>
            </a:r>
            <a:r>
              <a:rPr/>
              <a:t> — the right way to count </a:t>
            </a:r>
            <a:r>
              <a:rPr i="1"/>
              <a:t>n</a:t>
            </a:r>
          </a:p>
          <a:p>
            <a:pPr lvl="1"/>
            <a:r>
              <a:rPr>
                <a:latin typeface="Courier"/>
              </a:rPr>
              <a:t>skim()</a:t>
            </a:r>
            <a:r>
              <a:rPr/>
              <a:t> — instant full dataset overview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 + </a:t>
            </a:r>
            <a:r>
              <a:rPr>
                <a:latin typeface="Courier"/>
              </a:rPr>
              <a:t>geom_point()</a:t>
            </a:r>
            <a:r>
              <a:rPr/>
              <a:t>,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§18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04:</a:t>
            </a:r>
          </a:p>
          <a:p>
            <a:pPr lvl="0"/>
            <a:r>
              <a:rPr/>
              <a:t>Two-sample t-test</a:t>
            </a:r>
          </a:p>
          <a:p>
            <a:pPr lvl="0"/>
            <a:r>
              <a:rPr/>
              <a:t>Checking assumptions (normality, equal variance)</a:t>
            </a:r>
          </a:p>
          <a:p>
            <a:pPr lvl="0"/>
            <a:r>
              <a:rPr/>
              <a:t>Interpreting and reporting results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— Describing Our Data</dc:title>
  <dc:creator>Bill Perry</dc:creator>
  <cp:keywords/>
  <dc:description>Filter, select, mutate, and arrange with the tidyverse pipe; compute mean, median, variance, SD, and SE; start comparing groups.</dc:description>
  <dcterms:created xsi:type="dcterms:W3CDTF">2026-07-02T17:28:05Z</dcterms:created>
  <dcterms:modified xsi:type="dcterms:W3CDTF">2026-07-02T17:28:05Z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3</vt:lpwstr>
  </property>
  <property fmtid="{D5CDD505-2E9C-101B-9397-08002B2CF9AE}" pid="14" name="resources">
    <vt:lpwstr/>
  </property>
  <property fmtid="{D5CDD505-2E9C-101B-9397-08002B2CF9AE}" pid="15" name="subtitle">
    <vt:lpwstr>Wrangling, summaries, statistics, and our first real comparisons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