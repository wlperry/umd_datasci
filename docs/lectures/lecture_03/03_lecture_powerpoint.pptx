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 indent="0" marL="1270000">
              <a:buNone/>
            </a:pPr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 indent="0" marL="1270000">
              <a:buNone/>
            </a:pPr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  <a:p>
            <a:pPr lvl="0" indent="0" marL="0">
              <a:buNone/>
            </a:pPr>
            <a:r>
              <a:rPr/>
              <a:t>10 sunny + 10 shady = </a:t>
            </a:r>
            <a:r>
              <a:rPr b="1"/>
              <a:t>balanced design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5
   index side  weight_g width_cm height_cm
   &lt;dbl&gt; &lt;chr&gt;    &lt;dbl&gt;    &lt;dbl&gt;     &lt;dbl&gt;
 1     1 sunny        4       12        21
 2     2 sunny        3       14        22
 3     3 sunny        5       12        21
 4     4 sunny        3       13        23
 5     5 sunny        4       15        22
 6     6 sunny        3       13        23
 7     7 sunny        5       16        21
 8     8 sunny        4       13        24
 9     9 sunny        3       14        23
10    10 sunny        4       15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5
   index side  weight_g width_cm height_cm
   &lt;dbl&gt; &lt;chr&gt;    &lt;dbl&gt;    &lt;dbl&gt;     &lt;dbl&gt;
 1    11 shady        7        9        28
 2    12 shady        8       18        29
 3    13 shady        6       17        27
 4    14 shady        9       18        28
 5    15 shady        8       19        27
 6    16 shady        7       19        28
 7    17 shady        8       18        29
 8    18 shady        9       17        27
 9    19 shady        9       19        27
10    20 shady        7       19        29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filter(side = "sunny")</a:t>
            </a:r>
            <a:r>
              <a:rPr sz="2000"/>
              <a:t> → error.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2
   side  weight_g
   &lt;chr&gt;    &lt;dbl&gt;
 1 sunny        4
 2 sunny        3
 3 sunny        5
 4 sunny        3
 5 sunny        4
 6 sunny        3
 7 sunny        5
 8 sunny        4
 9 sunny        3
10 sunny        4
11 shady        7
12 shady        8
13 shady        6
14 shady        9
15 shady        8
16 shady        7
17 shady        8
18 shady        9
19 shady        9
20 shady        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4
   side  weight_g width_cm height_cm
   &lt;chr&gt;    &lt;dbl&gt;    &lt;dbl&gt;     &lt;dbl&gt;
 1 sunny        4       12        21
 2 sunny        3       14        22
 3 sunny        5       12        21
 4 sunny        3       13        23
 5 sunny        4       15        22
 6 sunny        3       13        23
 7 sunny        5       16        21
 8 sunny        4       13        24
 9 sunny        3       14        23
10 sunny        4       15        23
11 shady        7        9        28
12 shady        8       18        29
13 shady        6       17        27
14 shady        9       18        28
15 shady        8       19        27
16 shady        7       19        28
17 shady        8       18        29
18 shady        9       17        27
19 shady        9       19        27
20 shady        7       19        29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1
   weight_g
      &lt;dbl&gt;
 1        4
 2        3
 3        5
 4        3
 5        4
 6        3
 7        5
 8        4
 9        3
10        4
11        7
12        8
13        6
14        9
15        8
16        7
17        8
18        9
19        9
20        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0"/>
            <a:r>
              <a:rPr/>
              <a:t>Real datasets often have 50–100+ columns</a:t>
            </a:r>
          </a:p>
          <a:p>
            <a:pPr lvl="0"/>
            <a:r>
              <a:rPr/>
              <a:t>You rarely need all of them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0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0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6
   index side  weight_g width_cm height_cm weight_mg
   &lt;dbl&gt; &lt;chr&gt;    &lt;dbl&gt;    &lt;dbl&gt;     &lt;dbl&gt;     &lt;dbl&gt;
 1     1 sunny        4       12        21      4000
 2     2 sunny        3       14        22      3000
 3     3 sunny        5       12        21      5000
 4     4 sunny        3       13        23      3000
 5     5 sunny        4       15        22      4000
 6     6 sunny        3       13        23      3000
 7     7 sunny        5       16        21      5000
 8     8 sunny        4       13        24      4000
 9     9 sunny        3       14        23      3000
10    10 sunny        4       15        23      4000
11    11 shady        7        9        28      7000
12    12 shady        8       18        29      8000
13    13 shady        6       17        27      6000
14    14 shady        9       18        28      9000
15    15 shady        8       19        27      8000
16    16 shady        7       19        28      7000
17    17 shady        8       18        29      8000
18    18 shady        9       17        27      9000
19    19 shady        9       19        27      9000
20    20 shady        7       19        29      7000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6
   index side  weight_g width_cm height_cm size_class
   &lt;dbl&gt; &lt;chr&gt;    &lt;dbl&gt;    &lt;dbl&gt;     &lt;dbl&gt; &lt;chr&gt;     
 1     1 sunny        4       12        21 small     
 2     2 sunny        3       14        22 small     
 3     3 sunny        5       12        21 small     
 4     4 sunny        3       13        23 small     
 5     5 sunny        4       15        22 small     
 6     6 sunny        3       13        23 small     
 7     7 sunny        5       16        21 small     
 8     8 sunny        4       13        24 small     
 9     9 sunny        3       14        23 small     
10    10 sunny        4       15        23 small     
11    11 shady        7        9        28 large     
12    12 shady        8       18        29 large     
13    13 shady        6       17        27 large     
14    14 shady        9       18        28 large     
15    15 shady        8       19        27 large     
16    16 shady        7       19        28 large     
17    17 shady        8       18        29 large     
18    18 shady        9       17        27 large     
19    19 shady        9       19        27 large     
20    20 shady        7       19        29 large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 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7
   index side  weight_g width_cm height_cm weight_mg area_approx
   &lt;dbl&gt; &lt;chr&gt;    &lt;dbl&gt;    &lt;dbl&gt;     &lt;dbl&gt;     &lt;dbl&gt;       &lt;dbl&gt;
 1     1 sunny        4       12        21      4000         252
 2     2 sunny        3       14        22      3000         308
 3     3 sunny        5       12        21      5000         252
 4     4 sunny        3       13        23      3000         299
 5     5 sunny        4       15        22      4000         330
 6     6 sunny        3       13        23      3000         299
 7     7 sunny        5       16        21      5000         336
 8     8 sunny        4       13        24      4000         312
 9     9 sunny        3       14        23      3000         322
10    10 sunny        4       15        23      4000         345
11    11 shady        7        9        28      7000         252
12    12 shady        8       18        29      8000         522
13    13 shady        6       17        27      6000         459
14    14 shady        9       18        28      9000         504
15    15 shady        8       19        27      8000         513
16    16 shady        7       19        28      7000         532
17    17 shady        8       18        29      8000         522
18    18 shady        9       17        27      9000         459
19    19 shady        9       19        27      9000         513
20    20 shady        7       19        29      7000         551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if_else(condition, value_if_true, value_if_false)</a:t>
            </a:r>
            <a:r>
              <a:rPr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  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      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filter to non-zero weights, </a:t>
            </a:r>
            <a:r>
              <a:rPr sz="2000" b="1"/>
              <a:t>then</a:t>
            </a:r>
            <a:r>
              <a:rPr sz="2000"/>
              <a:t> select three columns, </a:t>
            </a:r>
            <a:r>
              <a:rPr sz="2000" b="1"/>
              <a:t>then</a:t>
            </a:r>
            <a:r>
              <a:rPr sz="2000"/>
              <a:t> add two new columns, </a:t>
            </a:r>
            <a:r>
              <a:rPr sz="2000" b="1"/>
              <a:t>then</a:t>
            </a:r>
            <a:r>
              <a:rPr sz="2000"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 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   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  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       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 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      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03_lecture_powerpoint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03_lecture_powerpoint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     =</a:t>
            </a:r>
            <a:r>
              <a:rPr>
                <a:solidFill>
                  <a:srgbClr val="003B4F"/>
                </a:solidFill>
                <a:latin typeface="Courier"/>
              </a:rPr>
              <a:t> mean,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03_lecture_powerpoint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wrangling skills: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 indent="0" marL="0">
              <a:buNone/>
            </a:pPr>
            <a:r>
              <a:rPr b="1"/>
              <a:t>Statistics concepts:</a:t>
            </a:r>
          </a:p>
          <a:p>
            <a:pPr lvl="0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0"/>
            <a:r>
              <a:rPr b="1"/>
              <a:t>Median</a:t>
            </a:r>
            <a:r>
              <a:rPr/>
              <a:t> — middle value; robust</a:t>
            </a:r>
          </a:p>
          <a:p>
            <a:pPr lvl="0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0"/>
            <a:r>
              <a:rPr b="1"/>
              <a:t>SE</a:t>
            </a:r>
            <a:r>
              <a:rPr/>
              <a:t> — precision of the sample mean</a:t>
            </a:r>
          </a:p>
          <a:p>
            <a:pPr lvl="0" indent="0" marL="0">
              <a:buNone/>
            </a:pPr>
            <a:r>
              <a:rPr b="1"/>
              <a:t>More R skills: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0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0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terms:created xsi:type="dcterms:W3CDTF">2026-06-28T23:57:29Z</dcterms:created>
  <dcterms:modified xsi:type="dcterms:W3CDTF">2026-06-28T23:57:29Z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Wrangling, summaries, statistics, and our first real comparisons</vt:lpwstr>
  </property>
  <property fmtid="{D5CDD505-2E9C-101B-9397-08002B2CF9AE}" pid="13" name="toc-title">
    <vt:lpwstr>Table of contents</vt:lpwstr>
  </property>
</Properties>
</file>