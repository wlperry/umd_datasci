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" TargetMode="External" /><Relationship Id="rId3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data-tidy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import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#numeric-summaries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missing-values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c-summarize" TargetMode="External" /><Relationship Id="rId3" Type="http://schemas.openxmlformats.org/officeDocument/2006/relationships/hyperlink" Target="https://r4ds.hadley.nz/data-transform#sec-summarize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c-mutate" TargetMode="External" /><Relationship Id="rId3" Type="http://schemas.openxmlformats.org/officeDocument/2006/relationships/hyperlink" Target="https://r4ds.hadley.nz/data-transform#sec-mutate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base-r" TargetMode="Externa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functions" TargetMode="Externa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" TargetMode="External" /><Relationship Id="rId2" Type="http://schemas.openxmlformats.org/officeDocument/2006/relationships/image" Target="../media/image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numbers" TargetMode="External" /><Relationship Id="rId4" Type="http://schemas.openxmlformats.org/officeDocument/2006/relationships/hyperlink" Target="https://r4ds.hadley.nz/missing-values" TargetMode="External" /><Relationship Id="rId5" Type="http://schemas.openxmlformats.org/officeDocument/2006/relationships/hyperlink" Target="https://r4ds.hadley.nz/base-r" TargetMode="External" /><Relationship Id="rId6" Type="http://schemas.openxmlformats.org/officeDocument/2006/relationships/hyperlink" Target="https://datacarpentry.github.io/R-ecology-lesson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 — Describing 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Summaries, statistics, and our first real comparisons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2026-06-28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Setup</a:t>
            </a:r>
            <a:r>
              <a:rPr/>
              <a:t> — R and Positron installed; project folders created (</a:t>
            </a:r>
            <a:r>
              <a:rPr>
                <a:latin typeface="Courier"/>
              </a:rPr>
              <a:t>documents/</a:t>
            </a:r>
            <a:r>
              <a:rPr/>
              <a:t>, 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output/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)</a:t>
            </a:r>
          </a:p>
          <a:p>
            <a:pPr lvl="0"/>
            <a:r>
              <a:rPr b="1"/>
              <a:t>R as a calculator</a:t>
            </a:r>
            <a:r>
              <a:rPr/>
              <a:t> — arithmetic, order of operations</a:t>
            </a:r>
          </a:p>
          <a:p>
            <a:pPr lvl="0"/>
            <a:r>
              <a:rPr b="1"/>
              <a:t>Assignment</a:t>
            </a:r>
            <a:r>
              <a:rPr/>
              <a:t> — storing values with </a:t>
            </a:r>
            <a:r>
              <a:rPr>
                <a:latin typeface="Courier"/>
              </a:rPr>
              <a:t>&lt;-</a:t>
            </a:r>
          </a:p>
          <a:p>
            <a:pPr lvl="0"/>
            <a:r>
              <a:rPr b="1"/>
              <a:t>Vectors</a:t>
            </a:r>
            <a:r>
              <a:rPr/>
              <a:t> — </a:t>
            </a:r>
            <a:r>
              <a:rPr>
                <a:latin typeface="Courier"/>
              </a:rPr>
              <a:t>c()</a:t>
            </a:r>
            <a:r>
              <a:rPr/>
              <a:t>, indexing, data types (</a:t>
            </a:r>
            <a:r>
              <a:rPr>
                <a:latin typeface="Courier"/>
              </a:rPr>
              <a:t>numeric</a:t>
            </a:r>
            <a:r>
              <a:rPr/>
              <a:t>, </a:t>
            </a:r>
            <a:r>
              <a:rPr>
                <a:latin typeface="Courier"/>
              </a:rPr>
              <a:t>character</a:t>
            </a:r>
            <a:r>
              <a:rPr/>
              <a:t>, </a:t>
            </a:r>
            <a:r>
              <a:rPr>
                <a:latin typeface="Courier"/>
              </a:rPr>
              <a:t>logical</a:t>
            </a:r>
            <a:r>
              <a:rPr/>
              <a:t>)</a:t>
            </a:r>
          </a:p>
          <a:p>
            <a:pPr lvl="0"/>
            <a:r>
              <a:rPr b="1"/>
              <a:t>Functions</a:t>
            </a:r>
            <a:r>
              <a:rPr/>
              <a:t> — calling built-in functions, passing arguments</a:t>
            </a:r>
          </a:p>
          <a:p>
            <a:pPr lvl="0"/>
            <a:r>
              <a:rPr b="1"/>
              <a:t>First look</a:t>
            </a:r>
            <a:r>
              <a:rPr/>
              <a:t> — loaded our leaf data with </a:t>
            </a:r>
            <a:r>
              <a:rPr>
                <a:latin typeface="Courier"/>
              </a:rPr>
              <a:t>read_excel()</a:t>
            </a:r>
            <a:r>
              <a:rPr/>
              <a:t> and made a first </a:t>
            </a:r>
            <a:r>
              <a:rPr>
                <a:latin typeface="Courier"/>
              </a:rPr>
              <a:t>ggplot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02</a:t>
            </a:r>
          </a:p>
          <a:p>
            <a:pPr lvl="0" indent="0" marL="1270000">
              <a:buNone/>
            </a:pPr>
            <a:r>
              <a:rPr sz="2000"/>
              <a:t>You can get data into R and make a plot. Today we learn to </a:t>
            </a:r>
            <a:r>
              <a:rPr sz="2000" i="1"/>
              <a:t>describe</a:t>
            </a:r>
            <a:r>
              <a:rPr sz="2000"/>
              <a:t> and </a:t>
            </a:r>
            <a:r>
              <a:rPr sz="2000" i="1"/>
              <a:t>summarize</a:t>
            </a:r>
            <a:r>
              <a:rPr sz="2000"/>
              <a:t> what we actually have.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Review</a:t>
            </a:r>
            <a:r>
              <a:rPr/>
              <a:t> what descriptive statistics really mean</a:t>
            </a:r>
          </a:p>
          <a:p>
            <a:pPr lvl="1"/>
            <a:r>
              <a:rPr/>
              <a:t>mean, median, variance, SD, SE</a:t>
            </a:r>
          </a:p>
          <a:p>
            <a:pPr lvl="1"/>
            <a:r>
              <a:rPr/>
              <a:t>a first look at </a:t>
            </a:r>
            <a:r>
              <a:rPr i="1"/>
              <a:t>p</a:t>
            </a:r>
            <a:r>
              <a:rPr/>
              <a:t>-values</a:t>
            </a:r>
          </a:p>
          <a:p>
            <a:pPr lvl="0"/>
            <a:r>
              <a:rPr b="1"/>
              <a:t>Count observations</a:t>
            </a:r>
            <a:r>
              <a:rPr/>
              <a:t> correctly — the NA problem</a:t>
            </a:r>
          </a:p>
          <a:p>
            <a:pPr lvl="0"/>
            <a:r>
              <a:rPr b="1"/>
              <a:t>Compute stats</a:t>
            </a:r>
            <a:r>
              <a:rPr/>
              <a:t> three ways:</a:t>
            </a:r>
          </a:p>
          <a:p>
            <a:pPr lvl="1"/>
            <a:r>
              <a:rPr/>
              <a:t>base R, </a:t>
            </a:r>
            <a:r>
              <a:rPr>
                <a:latin typeface="Courier"/>
              </a:rPr>
              <a:t>tidyverse</a:t>
            </a:r>
            <a:r>
              <a:rPr/>
              <a:t>, and </a:t>
            </a:r>
            <a:r>
              <a:rPr>
                <a:latin typeface="Courier"/>
              </a:rPr>
              <a:t>skimr</a:t>
            </a:r>
          </a:p>
          <a:p>
            <a:pPr lvl="0"/>
            <a:r>
              <a:rPr b="1"/>
              <a:t>Visualize</a:t>
            </a:r>
            <a:r>
              <a:rPr/>
              <a:t> distributions:</a:t>
            </a:r>
          </a:p>
          <a:p>
            <a:pPr lvl="1"/>
            <a:r>
              <a:rPr/>
              <a:t>boxplots with individual points overlaid</a:t>
            </a:r>
          </a:p>
          <a:p>
            <a:pPr lvl="1"/>
            <a:r>
              <a:rPr/>
              <a:t>mean ± SE summary plots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compute and plot descriptive stats on our own leaf data.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Our tools today:</a:t>
            </a:r>
          </a:p>
          <a:p>
            <a:pPr lvl="0"/>
            <a:r>
              <a:rPr>
                <a:latin typeface="Courier"/>
              </a:rPr>
              <a:t>readxl</a:t>
            </a:r>
          </a:p>
          <a:p>
            <a:pPr lvl="0"/>
            <a:r>
              <a:rPr>
                <a:latin typeface="Courier"/>
              </a:rPr>
              <a:t>tidyverse</a:t>
            </a:r>
          </a:p>
          <a:p>
            <a:pPr lvl="0"/>
            <a:r>
              <a:rPr>
                <a:latin typeface="Courier"/>
              </a:rPr>
              <a:t>skimr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3, 13, 18, 27</a:t>
            </a:r>
          </a:p>
          <a:p>
            <a:pPr lvl="0"/>
            <a:r>
              <a:rPr/>
              <a:t>🌐 </a:t>
            </a:r>
            <a:r>
              <a:rPr>
                <a:hlinkClick r:id="rId3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Scientific Question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Biological prediction:</a:t>
            </a:r>
            <a:r>
              <a:rPr/>
              <a:t> Leaves on the </a:t>
            </a:r>
            <a:r>
              <a:rPr i="1"/>
              <a:t>shady</a:t>
            </a:r>
            <a:r>
              <a:rPr/>
              <a:t> side of a tree will be </a:t>
            </a:r>
            <a:r>
              <a:rPr b="1"/>
              <a:t>larger and heavier</a:t>
            </a:r>
            <a:r>
              <a:rPr/>
              <a:t> to capture more of the limited light.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Hypothesis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H₀ — null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difference in leaf size between sunny and shady sides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Hₐ — alternate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Leaf size differs between sunny and shady sides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Plan for this unit:</a:t>
            </a:r>
          </a:p>
          <a:p>
            <a:pPr lvl="0" indent="-342900" marL="342900">
              <a:buAutoNum type="arabicPeriod"/>
            </a:pPr>
            <a:r>
              <a:rPr b="1"/>
              <a:t>Today</a:t>
            </a:r>
            <a:r>
              <a:rPr/>
              <a:t> — </a:t>
            </a:r>
            <a:r>
              <a:rPr i="1"/>
              <a:t>describe</a:t>
            </a:r>
            <a:r>
              <a:rPr/>
              <a:t> the data</a:t>
            </a:r>
          </a:p>
          <a:p>
            <a:pPr lvl="0" indent="-342900" marL="342900">
              <a:buAutoNum type="arabicPeriod"/>
            </a:pPr>
            <a:r>
              <a:rPr b="1"/>
              <a:t>Lecture 04</a:t>
            </a:r>
            <a:r>
              <a:rPr/>
              <a:t> — formally </a:t>
            </a:r>
            <a:r>
              <a:rPr i="1"/>
              <a:t>test</a:t>
            </a:r>
            <a:r>
              <a:rPr/>
              <a:t> the hypotheses with a t-test</a:t>
            </a:r>
          </a:p>
          <a:p>
            <a:pPr lvl="0" indent="0" marL="0">
              <a:buNone/>
            </a:pPr>
            <a:r>
              <a:rPr/>
              <a:t>Statistics helps us decide which hypothesis is better supported by the data.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Data — Long Format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Each row = one leaf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leaf number (1–20)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"sunny"</a:t>
                      </a:r>
                      <a:r>
                        <a:rPr/>
                        <a:t> or </a:t>
                      </a:r>
                      <a:r>
                        <a:rPr>
                          <a:latin typeface="Courier"/>
                        </a:rPr>
                        <a:t>"shady"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weight_g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leaf weight (g)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width_cm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leaf width (cm)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height_cm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leaf height (cm)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called </a:t>
            </a:r>
            <a:r>
              <a:rPr b="1"/>
              <a:t>long format</a:t>
            </a:r>
            <a:r>
              <a:rPr/>
              <a:t> — one measurement per row, group label in a column.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Long vs Wide format: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Shape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Layout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Long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one row per leaf; </a:t>
                      </a:r>
                      <a:r>
                        <a:rPr>
                          <a:latin typeface="Courier"/>
                        </a:rPr>
                        <a:t>side</a:t>
                      </a:r>
                      <a:r>
                        <a:rPr/>
                        <a:t> in a column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Wide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one row per leaf </a:t>
                      </a:r>
                      <a:r>
                        <a:rPr i="1"/>
                        <a:t>pair</a:t>
                      </a:r>
                      <a:r>
                        <a:rPr/>
                        <a:t>; </a:t>
                      </a:r>
                      <a:r>
                        <a:rPr>
                          <a:latin typeface="Courier"/>
                        </a:rPr>
                        <a:t>sunny_wt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shady_wt</a:t>
                      </a:r>
                      <a:r>
                        <a:rPr/>
                        <a:t> as separate columns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 and </a:t>
            </a:r>
            <a:r>
              <a:rPr>
                <a:latin typeface="Courier"/>
              </a:rPr>
              <a:t>ggplot2</a:t>
            </a:r>
            <a:r>
              <a:rPr/>
              <a:t> work best with </a:t>
            </a:r>
            <a:r>
              <a:rPr b="1"/>
              <a:t>long</a:t>
            </a:r>
            <a:r>
              <a:rPr/>
              <a:t> format. We will convert between the two in a later lecture.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§5 — Data Tidying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— always at the top of every script 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  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 (.xlsx)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      </a:t>
            </a:r>
            <a:r>
              <a:rPr>
                <a:solidFill>
                  <a:srgbClr val="5E5E5E"/>
                </a:solidFill>
                <a:latin typeface="Courier"/>
              </a:rPr>
              <a:t># fast descriptive column summaries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Install once — load every session</a:t>
            </a:r>
          </a:p>
          <a:p>
            <a:pPr lvl="0" indent="0" marL="1270000">
              <a:buNone/>
            </a:pPr>
            <a:r>
              <a:rPr sz="2000"/>
              <a:t>Run in the Console </a:t>
            </a:r>
            <a:r>
              <a:rPr sz="2000" b="1"/>
              <a:t>one time only: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"readxl"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"skimr"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Then every session: </a:t>
            </a:r>
            <a:r>
              <a:rPr sz="2000">
                <a:latin typeface="Courier"/>
              </a:rPr>
              <a:t>library(readxl)</a:t>
            </a:r>
            <a:r>
              <a:rPr sz="2000"/>
              <a:t> activates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</a:t>
            </a:r>
            <a:r>
              <a:rPr b="1">
                <a:latin typeface="Courier"/>
              </a:rPr>
              <a:t>readxl</a:t>
            </a:r>
            <a:r>
              <a:rPr b="1"/>
              <a:t>?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read_csv()</a:t>
            </a:r>
            <a:r>
              <a:rPr/>
              <a:t> reads </a:t>
            </a:r>
            <a:r>
              <a:rPr>
                <a:latin typeface="Courier"/>
              </a:rPr>
              <a:t>.csv</a:t>
            </a:r>
            <a:r>
              <a:rPr/>
              <a:t> files. </a:t>
            </a:r>
            <a:r>
              <a:rPr>
                <a:latin typeface="Courier"/>
              </a:rPr>
              <a:t>read_excel()</a:t>
            </a:r>
            <a:r>
              <a:rPr/>
              <a:t> reads </a:t>
            </a:r>
            <a:r>
              <a:rPr>
                <a:latin typeface="Courier"/>
              </a:rPr>
              <a:t>.xlsx</a:t>
            </a:r>
            <a:r>
              <a:rPr/>
              <a:t> files. Both land the data in an R data frame.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§7 — Data Import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Load Our Leaf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Excel file from the data folder 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Preview the first rows of the data 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index side  weight_g width_cm height_cm
  &lt;dbl&gt; &lt;chr&gt;    &lt;dbl&gt;    &lt;dbl&gt;     &lt;dbl&gt;
1     1 sunny        4       12        21
2     2 sunny        3       14        22
3     3 sunny        5       12        21
4     4 sunny        3       13        23
5     5 sunny        4       15        22
6     6 sunny        3       13        23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Path is </a:t>
            </a:r>
            <a:r>
              <a:rPr b="1"/>
              <a:t>relative</a:t>
            </a:r>
            <a:r>
              <a:rPr/>
              <a:t> to your project folder</a:t>
            </a:r>
          </a:p>
          <a:p>
            <a:pPr lvl="0"/>
            <a:r>
              <a:rPr>
                <a:latin typeface="Courier"/>
              </a:rPr>
              <a:t>"data/..."</a:t>
            </a:r>
            <a:r>
              <a:rPr/>
              <a:t> means: look in the </a:t>
            </a:r>
            <a:r>
              <a:rPr>
                <a:latin typeface="Courier"/>
              </a:rPr>
              <a:t>data/</a:t>
            </a:r>
            <a:r>
              <a:rPr/>
              <a:t> sub-folder</a:t>
            </a:r>
          </a:p>
          <a:p>
            <a:pPr lvl="0"/>
            <a:r>
              <a:rPr/>
              <a:t>This path works on </a:t>
            </a:r>
            <a:r>
              <a:rPr b="1"/>
              <a:t>any</a:t>
            </a:r>
            <a:r>
              <a:rPr/>
              <a:t> computer, not just yours</a:t>
            </a:r>
          </a:p>
          <a:p>
            <a:pPr lvl="0"/>
            <a:r>
              <a:rPr/>
              <a:t>The file stays untouched — R reads; it does not edit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Inspect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Column names, types, and first values 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20
Columns: 5
$ index     &lt;dbl&gt; 1, 2, 3, 4, 5, 6, 7, 8, 9, 10, 11, 12, 13, 14, 15, 16, 17, 1…
$ side      &lt;chr&gt; "sunny", "sunny", "sunny", "sunny", "sunny", "sunny", "sunny…
$ weight_g  &lt;dbl&gt; 4, 3, 5, 3, 4, 3, 5, 4, 3, 4, 7, 8, 6, 9, 8, 7, 8, 9, 9, 7
$ width_cm  &lt;dbl&gt; 12, 14, 12, 13, 15, 13, 16, 13, 14, 15, 9, 18, 17, 18, 19, 1…
$ height_cm &lt;dbl&gt; 21, 22, 21, 23, 22, 23, 21, 24, 23, 23, 28, 29, 27, 28, 27, 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Rows × columns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20  5</a:t>
            </a:r>
          </a:p>
          <a:p>
            <a:pPr lvl="0"/>
            <a:r>
              <a:rPr>
                <a:latin typeface="Courier"/>
              </a:rPr>
              <a:t>&lt;chr&gt;</a:t>
            </a:r>
            <a:r>
              <a:rPr/>
              <a:t> = character (text)</a:t>
            </a:r>
          </a:p>
          <a:p>
            <a:pPr lvl="0"/>
            <a:r>
              <a:rPr>
                <a:latin typeface="Courier"/>
              </a:rPr>
              <a:t>&lt;dbl&gt;</a:t>
            </a:r>
            <a:r>
              <a:rPr/>
              <a:t> = numeric (decimal)</a:t>
            </a:r>
          </a:p>
          <a:p>
            <a:pPr lvl="0" indent="0" marL="0">
              <a:buNone/>
            </a:pPr>
            <a:r>
              <a:rPr b="1"/>
              <a:t>10 sunny leaves, 10 shady leaves</a:t>
            </a:r>
            <a:r>
              <a:rPr/>
              <a:t> — we have a </a:t>
            </a:r>
            <a:r>
              <a:rPr b="1"/>
              <a:t>balanced</a:t>
            </a:r>
            <a:r>
              <a:rPr/>
              <a:t> design.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the Mean?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Add up all values, divide by </a:t>
                </a:r>
                <a:r>
                  <a:rPr i="1"/>
                  <a:t>n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balance point</a:t>
                </a:r>
                <a:r>
                  <a:rPr/>
                  <a:t> of the distribution</a:t>
                </a:r>
              </a:p>
              <a:p>
                <a:pPr lvl="0"/>
                <a:r>
                  <a:rPr b="1"/>
                  <a:t>Sensitive to outliers</a:t>
                </a:r>
                <a:r>
                  <a:rPr/>
                  <a:t> — one very large value pulls the mean up</a:t>
                </a:r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</a:p>
              <a:p>
                <a:pPr lvl="0" indent="0" marL="0">
                  <a:buNone/>
                </a:pPr>
                <a:r>
                  <a:rPr/>
                  <a:t>Values: 5, 6, 7, 8, </a:t>
                </a:r>
                <a:r>
                  <a:rPr b="1"/>
                  <a:t>50</a:t>
                </a:r>
                <a:r>
                  <a:rPr/>
                  <a:t> → mean = 15.2</a:t>
                </a:r>
              </a:p>
              <a:p>
                <a:pPr lvl="0" indent="0" marL="0">
                  <a:buNone/>
                </a:pPr>
                <a:r>
                  <a:rPr i="1"/>
                  <a:t>Is 15.2 a fair summary? Not really — the outlier dominates!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it matters:</a:t>
            </a:r>
          </a:p>
          <a:p>
            <a:pPr lvl="0"/>
            <a:r>
              <a:rPr/>
              <a:t>The most commonly reported statistic</a:t>
            </a:r>
          </a:p>
          <a:p>
            <a:pPr lvl="0"/>
            <a:r>
              <a:rPr/>
              <a:t>Used in every t-test, ANOVA, and regression</a:t>
            </a:r>
          </a:p>
          <a:p>
            <a:pPr lvl="0"/>
            <a:r>
              <a:rPr/>
              <a:t>Always pair it with a measure of </a:t>
            </a:r>
            <a:r>
              <a:rPr b="1"/>
              <a:t>spread</a:t>
            </a:r>
            <a:r>
              <a:rPr/>
              <a:t> (SD or SE)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§13 — Numbers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the Mean — filter() and pull()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sunny leaf weights as a plain vector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sunny_wt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sunny_wt   </a:t>
            </a:r>
            <a:r>
              <a:rPr>
                <a:solidFill>
                  <a:srgbClr val="5E5E5E"/>
                </a:solidFill>
                <a:latin typeface="Courier"/>
              </a:rPr>
              <a:t># look at the raw values</a:t>
            </a:r>
          </a:p>
          <a:p>
            <a:pPr lvl="0" indent="0">
              <a:buNone/>
            </a:pPr>
            <a:r>
              <a:rPr>
                <a:latin typeface="Courier"/>
              </a:rPr>
              <a:t> [1] 4 3 5 3 4 3 5 4 3 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Now calculate the mean of that vector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mean_sunny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sunny weight:"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sunny weight: 3.8 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filter(side == "sunny")</a:t>
            </a:r>
            <a:r>
              <a:rPr/>
              <a:t> — keeps only sunny rows</a:t>
            </a:r>
          </a:p>
          <a:p>
            <a:pPr lvl="0"/>
            <a:r>
              <a:rPr>
                <a:latin typeface="Courier"/>
              </a:rPr>
              <a:t>pull(weight_g)</a:t>
            </a:r>
            <a:r>
              <a:rPr/>
              <a:t> — extracts that column as a </a:t>
            </a:r>
            <a:r>
              <a:rPr b="1"/>
              <a:t>vector</a:t>
            </a:r>
          </a:p>
          <a:p>
            <a:pPr lvl="0"/>
            <a:r>
              <a:rPr>
                <a:latin typeface="Courier"/>
              </a:rPr>
              <a:t>na.rm = TRUE</a:t>
            </a:r>
            <a:r>
              <a:rPr/>
              <a:t> — removes any </a:t>
            </a:r>
            <a:r>
              <a:rPr>
                <a:latin typeface="Courier"/>
              </a:rPr>
              <a:t>NA</a:t>
            </a:r>
            <a:r>
              <a:rPr/>
              <a:t> before computing</a:t>
            </a:r>
          </a:p>
          <a:p>
            <a:pPr lvl="0" indent="0" marL="0">
              <a:buNone/>
            </a:pPr>
            <a:r>
              <a:rPr b="1"/>
              <a:t>Key pattern: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→ picks </a:t>
            </a:r>
            <a:r>
              <a:rPr b="1"/>
              <a:t>rows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pull()</a:t>
            </a:r>
            <a:r>
              <a:rPr/>
              <a:t> → extracts a </a:t>
            </a:r>
            <a:r>
              <a:rPr b="1"/>
              <a:t>column</a:t>
            </a:r>
            <a:r>
              <a:rPr/>
              <a:t> as a vector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 — Data Transformation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the Median?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middle value when data are sorted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Sorted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</a:t>
                      </a:r>
                      <a:r>
                        <a:rPr/>
                        <a:t>, 8,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7, 8</a:t>
                      </a:r>
                      <a:r>
                        <a:rPr/>
                        <a:t>, 50, 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(7 + 8) / 2 = 7.5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Not pulled by outliers → </a:t>
            </a:r>
            <a:r>
              <a:rPr b="1"/>
              <a:t>robust</a:t>
            </a:r>
          </a:p>
          <a:p>
            <a:pPr lvl="0"/>
            <a:r>
              <a:rPr/>
              <a:t>If </a:t>
            </a:r>
            <a:r>
              <a:rPr b="1"/>
              <a:t>mean ≫ median</a:t>
            </a:r>
            <a:r>
              <a:rPr/>
              <a:t> → right-skewed</a:t>
            </a:r>
          </a:p>
          <a:p>
            <a:pPr lvl="0"/>
            <a:r>
              <a:rPr/>
              <a:t>If </a:t>
            </a:r>
            <a:r>
              <a:rPr b="1"/>
              <a:t>mean ≈ median</a:t>
            </a:r>
            <a:r>
              <a:rPr/>
              <a:t> → roughly symmetric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Median for each side via filter + pull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shady_wt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med_sunny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med_shady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(shady_wt,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sunny:"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sunny: 4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shady:"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shady: 8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Variance?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For each value, compute distance from mean: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Square</a:t>
                </a:r>
                <a:r>
                  <a:rPr/>
                  <a:t> those distances → all positive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Sum them up, divide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Dividing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 gives an </a:t>
                </a:r>
                <a:r>
                  <a:rPr b="1"/>
                  <a:t>unbiased</a:t>
                </a:r>
                <a:r>
                  <a:rPr/>
                  <a:t> estimate of population variance.</a:t>
                </a:r>
              </a:p>
              <a:p>
                <a:pPr lvl="0" indent="0" marL="0">
                  <a:buNone/>
                </a:pPr>
                <a:r>
                  <a:rPr b="1"/>
                  <a:t>Larger variance = more spread = more uncertainty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Variance for each side 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var_sunny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var_shady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(shady_wt,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"Variance sunny:"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Variance sunny: 0.62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"Variance shady:"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Variance shady: 1.07 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Variance is in </a:t>
            </a:r>
            <a:r>
              <a:rPr sz="2000" b="1"/>
              <a:t>squared units</a:t>
            </a:r>
            <a:r>
              <a:rPr sz="2000"/>
              <a:t> (g²) — hard to interpret. That is why we use SD.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§13.3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Standard Deviation?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rad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rPr>
                                  <m:sty m:val="p"/>
                                </m:rPr>
                                <m:t>∑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square root of variance</a:t>
                </a:r>
                <a:r>
                  <a:rPr/>
                  <a:t> → back in original units (g) ✓</a:t>
                </a:r>
              </a:p>
              <a:p>
                <a:pPr lvl="0"/>
                <a:r>
                  <a:rPr/>
                  <a:t>For a normal distribution:</a:t>
                </a:r>
              </a:p>
              <a:p>
                <a:pPr lvl="1"/>
                <a:r>
                  <a:rPr/>
                  <a:t>~</a:t>
                </a:r>
                <a:r>
                  <a:rPr b="1"/>
                  <a:t>68%</a:t>
                </a:r>
                <a:r>
                  <a:rPr/>
                  <a:t> of values fall within mean ± 1 SD</a:t>
                </a:r>
              </a:p>
              <a:p>
                <a:pPr lvl="1"/>
                <a:r>
                  <a:rPr/>
                  <a:t>~</a:t>
                </a:r>
                <a:r>
                  <a:rPr b="1"/>
                  <a:t>95%</a:t>
                </a:r>
                <a:r>
                  <a:rPr/>
                  <a:t> fall within mean ± 2 SD</a:t>
                </a:r>
              </a:p>
              <a:p>
                <a:pPr lvl="0"/>
                <a:r>
                  <a:rPr/>
                  <a:t>Reports how spread out </a:t>
                </a:r>
                <a:r>
                  <a:rPr i="1"/>
                  <a:t>individual</a:t>
                </a:r>
                <a:r>
                  <a:rPr/>
                  <a:t> data points are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Standard deviation for each side 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sd_sunny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sd_shady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(shady_wt,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sunny:"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sunny: 0.79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shady:"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shady: 1.03 g</a:t>
            </a:r>
          </a:p>
          <a:p>
            <a:pPr lvl="0" indent="0" marL="0">
              <a:buNone/>
            </a:pPr>
            <a:r>
              <a:rPr/>
              <a:t>Most sunny leaves are within ±0.79 g of the mean.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Standard Error?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Measures how precisely we know the </a:t>
                </a:r>
                <a:r>
                  <a:rPr b="1"/>
                  <a:t>mean</a:t>
                </a:r>
              </a:p>
              <a:p>
                <a:pPr lvl="0"/>
                <a:r>
                  <a:rPr/>
                  <a:t>Not the spread of raw data — the </a:t>
                </a:r>
                <a:r>
                  <a:rPr b="1"/>
                  <a:t>uncertainty of the mean itself</a:t>
                </a:r>
              </a:p>
              <a:p>
                <a:pPr lvl="0"/>
                <a:r>
                  <a:rPr/>
                  <a:t>Gets </a:t>
                </a:r>
                <a:r>
                  <a:rPr b="1"/>
                  <a:t>smaller</a:t>
                </a:r>
                <a:r>
                  <a:rPr/>
                  <a:t> as </a:t>
                </a:r>
                <a:r>
                  <a:rPr i="1"/>
                  <a:t>n</a:t>
                </a:r>
                <a:r>
                  <a:rPr/>
                  <a:t> increases → more data = more precise estimate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Describes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 of </a:t>
                      </a:r>
                      <a:r>
                        <a:rPr i="1"/>
                        <a:t>individual</a:t>
                      </a:r>
                      <a:r>
                        <a:rPr/>
                        <a:t> data points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of the </a:t>
                      </a:r>
                      <a:r>
                        <a:rPr i="1"/>
                        <a:t>sample mean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report SE when making claims about group means.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 = SD / sqrt(n) — need correct n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n_sunny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(sunny_wt))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n_shady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(shady_wt))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se_sunny &lt;- sd_sunny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(n_sunny)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se_shady &lt;- sd_shady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(n_shady)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sunny  ="</a:t>
            </a:r>
            <a:r>
              <a:rPr>
                <a:solidFill>
                  <a:srgbClr val="003B4F"/>
                </a:solidFill>
                <a:latin typeface="Courier"/>
              </a:rPr>
              <a:t>, n_sunny,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sunny  = 10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sunny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sunny = 0.25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shady  ="</a:t>
            </a:r>
            <a:r>
              <a:rPr>
                <a:solidFill>
                  <a:srgbClr val="003B4F"/>
                </a:solidFill>
                <a:latin typeface="Courier"/>
              </a:rPr>
              <a:t>, n_shady,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shady  = 10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shady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shady = 0.33 g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First Look at the </a:t>
            </a:r>
            <a:r>
              <a:rPr i="1"/>
              <a:t>p</a:t>
            </a:r>
            <a:r>
              <a:rPr/>
              <a:t>-value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key question:</a:t>
            </a:r>
            <a:r>
              <a:rPr/>
              <a:t> Could the difference in means be due to </a:t>
            </a:r>
            <a:r>
              <a:rPr i="1"/>
              <a:t>random chance alone?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b="1" i="1"/>
              <a:t>p</a:t>
            </a:r>
            <a:r>
              <a:rPr b="1"/>
              <a:t>-value</a:t>
            </a:r>
            <a:r>
              <a:rPr/>
              <a:t> answers:</a:t>
            </a:r>
          </a:p>
          <a:p>
            <a:pPr lvl="0" indent="0" marL="1270000">
              <a:buNone/>
            </a:pPr>
            <a:r>
              <a:rPr sz="2000" i="1"/>
              <a:t>“If H₀ were true (no real difference), how likely is it that we would see a difference this large, just by chance?”</a:t>
            </a:r>
          </a:p>
          <a:p>
            <a:pPr lvl="0"/>
            <a:r>
              <a:rPr b="1" i="1"/>
              <a:t>p</a:t>
            </a:r>
            <a:r>
              <a:rPr/>
              <a:t> </a:t>
            </a:r>
            <a:r>
              <a:rPr b="1"/>
              <a:t>&lt; 0.05</a:t>
            </a:r>
            <a:r>
              <a:rPr/>
              <a:t> → data are </a:t>
            </a:r>
            <a:r>
              <a:rPr b="1"/>
              <a:t>unlikely</a:t>
            </a:r>
            <a:r>
              <a:rPr/>
              <a:t> under H₀ → </a:t>
            </a:r>
            <a:r>
              <a:rPr b="1"/>
              <a:t>reject H₀</a:t>
            </a:r>
          </a:p>
          <a:p>
            <a:pPr lvl="0"/>
            <a:r>
              <a:rPr b="1" i="1"/>
              <a:t>p</a:t>
            </a:r>
            <a:r>
              <a:rPr/>
              <a:t> </a:t>
            </a:r>
            <a:r>
              <a:rPr b="1"/>
              <a:t>≥ 0.05</a:t>
            </a:r>
            <a:r>
              <a:rPr/>
              <a:t> → data are consistent with H₀ → </a:t>
            </a:r>
            <a:r>
              <a:rPr b="1"/>
              <a:t>fail to reject H₀</a:t>
            </a:r>
          </a:p>
          <a:p>
            <a:pPr lvl="0" indent="0" marL="0">
              <a:buNone/>
            </a:pPr>
            <a:r>
              <a:rPr/>
              <a:t>We will </a:t>
            </a:r>
            <a:r>
              <a:rPr b="1"/>
              <a:t>calculate</a:t>
            </a:r>
            <a:r>
              <a:rPr/>
              <a:t> a </a:t>
            </a:r>
            <a:r>
              <a:rPr i="1"/>
              <a:t>p</a:t>
            </a:r>
            <a:r>
              <a:rPr/>
              <a:t>-value in Lecture 04.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Common misconception</a:t>
            </a:r>
          </a:p>
          <a:p>
            <a:pPr lvl="0" indent="0" marL="1270000">
              <a:buNone/>
            </a:pPr>
            <a:r>
              <a:rPr sz="2000"/>
              <a:t>A </a:t>
            </a:r>
            <a:r>
              <a:rPr sz="2000" i="1"/>
              <a:t>p</a:t>
            </a:r>
            <a:r>
              <a:rPr sz="2000"/>
              <a:t>-value is </a:t>
            </a:r>
            <a:r>
              <a:rPr sz="2000" b="1"/>
              <a:t>not</a:t>
            </a:r>
            <a:r>
              <a:rPr sz="2000"/>
              <a:t> the probability that H₀ is true.</a:t>
            </a:r>
          </a:p>
          <a:p>
            <a:pPr lvl="0" indent="0" marL="1270000">
              <a:buNone/>
            </a:pPr>
            <a:r>
              <a:rPr sz="2000"/>
              <a:t>It is the probability of observing </a:t>
            </a:r>
            <a:r>
              <a:rPr sz="2000" i="1"/>
              <a:t>this data (or more extreme)</a:t>
            </a:r>
            <a:r>
              <a:rPr sz="2000"/>
              <a:t> </a:t>
            </a:r>
            <a:r>
              <a:rPr sz="2000" b="1"/>
              <a:t>given</a:t>
            </a:r>
            <a:r>
              <a:rPr sz="2000"/>
              <a:t> that H₀ is true.</a:t>
            </a:r>
          </a:p>
          <a:p>
            <a:pPr lvl="0" indent="0" marL="0">
              <a:buNone/>
            </a:pPr>
            <a:r>
              <a:rPr/>
              <a:t>Our shady leaves weigh ~7.8 g vs sunny at ~3.8 g.</a:t>
            </a:r>
          </a:p>
          <a:p>
            <a:pPr lvl="0" indent="0" marL="0">
              <a:buNone/>
            </a:pPr>
            <a:r>
              <a:rPr/>
              <a:t>Could that gap be random chance? We will find out next lecture.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Problem with </a:t>
            </a:r>
            <a:r>
              <a:rPr>
                <a:latin typeface="Courier"/>
              </a:rPr>
              <a:t>length()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length() counts ALL positions — including NAs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a vector with missing values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              </a:t>
            </a:r>
            <a:r>
              <a:rPr>
                <a:solidFill>
                  <a:srgbClr val="5E5E5E"/>
                </a:solidFill>
                <a:latin typeface="Courier"/>
              </a:rPr>
              <a:t># returns 5 — but 2 are NA!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         </a:t>
            </a:r>
            <a:r>
              <a:rPr>
                <a:solidFill>
                  <a:srgbClr val="5E5E5E"/>
                </a:solidFill>
                <a:latin typeface="Courier"/>
              </a:rPr>
              <a:t># how many NAs are there?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Using length() in SE gives the WRONG n and SE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wrong_n 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wrong_se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(wrong_n)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"Wrong n  ="</a:t>
            </a:r>
            <a:r>
              <a:rPr>
                <a:solidFill>
                  <a:srgbClr val="003B4F"/>
                </a:solidFill>
                <a:latin typeface="Courier"/>
              </a:rPr>
              <a:t>, wrong_n,            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Wrong n  = 5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"Wrong SE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(wrong_se,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Wrong SE = 0.931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length(x)</a:t>
            </a:r>
            <a:r>
              <a:rPr/>
              <a:t> counts </a:t>
            </a:r>
            <a:r>
              <a:rPr b="1"/>
              <a:t>all positions</a:t>
            </a:r>
            <a:r>
              <a:rPr/>
              <a:t> in the vector — including </a:t>
            </a:r>
            <a:r>
              <a:rPr>
                <a:latin typeface="Courier"/>
              </a:rPr>
              <a:t>NA</a:t>
            </a:r>
          </a:p>
          <a:p>
            <a:pPr lvl="0"/>
            <a:r>
              <a:rPr/>
              <a:t>This is a </a:t>
            </a:r>
            <a:r>
              <a:rPr b="1"/>
              <a:t>silent error</a:t>
            </a:r>
            <a:r>
              <a:rPr/>
              <a:t> — R will not warn you!</a:t>
            </a:r>
          </a:p>
          <a:p>
            <a:pPr lvl="0"/>
            <a:r>
              <a:rPr/>
              <a:t>Using n = 5 in SE = SD / √n when n should be 3 gives the wrong answer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§18 — Missing Values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</a:t>
            </a:r>
            <a:r>
              <a:rPr>
                <a:latin typeface="Courier"/>
              </a:rPr>
              <a:t>sum(!is.na())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Break it down step by step 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         </a:t>
            </a:r>
            <a:r>
              <a:rPr>
                <a:solidFill>
                  <a:srgbClr val="5E5E5E"/>
                </a:solidFill>
                <a:latin typeface="Courier"/>
              </a:rPr>
              <a:t># TRUE where NA, FALSE where real</a:t>
            </a:r>
          </a:p>
          <a:p>
            <a:pPr lvl="0" indent="0">
              <a:buNone/>
            </a:pPr>
            <a:r>
              <a:rPr>
                <a:latin typeface="Courier"/>
              </a:rPr>
              <a:t>[1] FALSE FALSE  TRUE FALSE  TRUE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        </a:t>
            </a:r>
            <a:r>
              <a:rPr>
                <a:solidFill>
                  <a:srgbClr val="5E5E5E"/>
                </a:solidFill>
                <a:latin typeface="Courier"/>
              </a:rPr>
              <a:t># FLIP: TRUE where real, FALSE where NA</a:t>
            </a:r>
          </a:p>
          <a:p>
            <a:pPr lvl="0" indent="0">
              <a:buNone/>
            </a:pPr>
            <a:r>
              <a:rPr>
                <a:latin typeface="Courier"/>
              </a:rPr>
              <a:t>[1]  TRUE  TRUE FALSE  TRUE FALSE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   </a:t>
            </a:r>
            <a:r>
              <a:rPr>
                <a:solidFill>
                  <a:srgbClr val="5E5E5E"/>
                </a:solidFill>
                <a:latin typeface="Courier"/>
              </a:rPr>
              <a:t># count the TRUEs = number of real values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Apply to our real leaf data ------------------------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(Our data has no NAs — but always use this pattern!)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n_sun_check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(sunny_wt))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"Non-missing sunny weights ="</a:t>
            </a:r>
            <a:r>
              <a:rPr>
                <a:solidFill>
                  <a:srgbClr val="003B4F"/>
                </a:solidFill>
                <a:latin typeface="Courier"/>
              </a:rPr>
              <a:t>, n_sun_check,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Non-missing sunny weights = 10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it works step by step: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is.na(x)</a:t>
            </a:r>
            <a:r>
              <a:rPr/>
              <a:t> → </a:t>
            </a:r>
            <a:r>
              <a:rPr>
                <a:latin typeface="Courier"/>
              </a:rPr>
              <a:t>TRUE</a:t>
            </a:r>
            <a:r>
              <a:rPr/>
              <a:t> for each </a:t>
            </a:r>
            <a:r>
              <a:rPr>
                <a:latin typeface="Courier"/>
              </a:rPr>
              <a:t>NA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!is.na(x)</a:t>
            </a:r>
            <a:r>
              <a:rPr/>
              <a:t> → flips it: </a:t>
            </a:r>
            <a:r>
              <a:rPr>
                <a:latin typeface="Courier"/>
              </a:rPr>
              <a:t>TRUE</a:t>
            </a:r>
            <a:r>
              <a:rPr/>
              <a:t> for </a:t>
            </a:r>
            <a:r>
              <a:rPr b="1"/>
              <a:t>real</a:t>
            </a:r>
            <a:r>
              <a:rPr/>
              <a:t> values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sum(...)</a:t>
            </a:r>
            <a:r>
              <a:rPr/>
              <a:t> → counts </a:t>
            </a:r>
            <a:r>
              <a:rPr>
                <a:latin typeface="Courier"/>
              </a:rPr>
              <a:t>TRUE</a:t>
            </a:r>
            <a:r>
              <a:rPr/>
              <a:t>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always use </a:t>
            </a:r>
            <a:r>
              <a:rPr sz="2000">
                <a:latin typeface="Courier"/>
              </a:rPr>
              <a:t>sum(!is.na(x))</a:t>
            </a:r>
            <a:r>
              <a:rPr sz="2000"/>
              <a:t> when you need </a:t>
            </a:r>
            <a:r>
              <a:rPr sz="2000" i="1"/>
              <a:t>n</a:t>
            </a:r>
            <a:r>
              <a:rPr sz="2000"/>
              <a:t> — even when you think there are no NAs.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All Stats — Base R, One Group at a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All stats for the sunny side using our vectors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  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(sunny_wt))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mean_s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(sunny_wt, 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med_s 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sd_s 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(sunny_wt,   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se_s   &lt;- sd_s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Sunny Leaves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Sunny Leaves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     ="</a:t>
            </a:r>
            <a:r>
              <a:rPr>
                <a:solidFill>
                  <a:srgbClr val="003B4F"/>
                </a:solidFill>
                <a:latin typeface="Courier"/>
              </a:rPr>
              <a:t>, n_s,           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     = 10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  = 3.8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= 4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    = 0.79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    = 0.25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Every function takes </a:t>
            </a:r>
            <a:r>
              <a:rPr>
                <a:latin typeface="Courier"/>
              </a:rPr>
              <a:t>na.rm = TRUE</a:t>
            </a:r>
          </a:p>
          <a:p>
            <a:pPr lvl="0"/>
            <a:r>
              <a:rPr>
                <a:latin typeface="Courier"/>
              </a:rPr>
              <a:t>cat()</a:t>
            </a:r>
            <a:r>
              <a:rPr/>
              <a:t> prints clean labelled output</a:t>
            </a:r>
          </a:p>
          <a:p>
            <a:pPr lvl="0"/>
            <a:r>
              <a:rPr/>
              <a:t>This is </a:t>
            </a:r>
            <a:r>
              <a:rPr b="1"/>
              <a:t>clear</a:t>
            </a:r>
            <a:r>
              <a:rPr/>
              <a:t> but repetitive for many groups → that is why we use </a:t>
            </a:r>
            <a:r>
              <a:rPr>
                <a:latin typeface="Courier"/>
              </a:rPr>
              <a:t>group_by()</a:t>
            </a:r>
            <a:r>
              <a:rPr/>
              <a:t> next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Stats the Tidy Way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all stats for both sides at once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med_wt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sd_wt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(weight_g,   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se_wt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(sd_wt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side      n mean_wt med_wt sd_wt se_wt
  &lt;chr&gt; &lt;int&gt;   &lt;dbl&gt;  &lt;dbl&gt; &lt;dbl&gt; &lt;dbl&gt;
1 shady    10     7.8      8  1.03  0.33
2 sunny    10     3.8      4  0.79  0.25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group_by(side)</a:t>
            </a:r>
            <a:r>
              <a:rPr/>
              <a:t> — splits the data by the </a:t>
            </a:r>
            <a:r>
              <a:rPr>
                <a:latin typeface="Courier"/>
              </a:rPr>
              <a:t>side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summarize()</a:t>
            </a:r>
            <a:r>
              <a:rPr/>
              <a:t> — collapses each group to one row of stats</a:t>
            </a:r>
          </a:p>
          <a:p>
            <a:pPr lvl="0"/>
            <a:r>
              <a:rPr/>
              <a:t>You get </a:t>
            </a:r>
            <a:r>
              <a:rPr b="1"/>
              <a:t>both groups in one clean table</a:t>
            </a:r>
          </a:p>
          <a:p>
            <a:pPr lvl="0"/>
            <a:r>
              <a:rPr/>
              <a:t>You can reference a column you just created (</a:t>
            </a:r>
            <a:r>
              <a:rPr>
                <a:latin typeface="Courier"/>
              </a:rPr>
              <a:t>sd_wt</a:t>
            </a:r>
            <a:r>
              <a:rPr/>
              <a:t> → </a:t>
            </a:r>
            <a:r>
              <a:rPr>
                <a:latin typeface="Courier"/>
              </a:rPr>
              <a:t>se_wt</a:t>
            </a:r>
            <a:r>
              <a:rPr/>
              <a:t>)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§3.5 — </a:t>
            </a:r>
            <a:r>
              <a:rPr>
                <a:hlinkClick r:id="rId3"/>
                <a:latin typeface="Courier"/>
              </a:rPr>
              <a:t>summarize()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Multiple Variables at Once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group_by() works on any numeric column you choose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size_stats_df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mean_ht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(height_cm,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mean_wd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(width_cm, 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size_stats_df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    n mean_wt mean_ht mean_wd
  &lt;chr&gt; &lt;int&gt;   &lt;dbl&gt;   &lt;dbl&gt;   &lt;dbl&gt;
1 shady    10     7.8    27.9    17.3
2 sunny    10     3.8    22.3    13.7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With one </a:t>
            </a:r>
            <a:r>
              <a:rPr b="1">
                <a:latin typeface="Courier"/>
              </a:rPr>
              <a:t>group_by()</a:t>
            </a:r>
            <a:r>
              <a:rPr b="1"/>
              <a:t> pipe</a:t>
            </a:r>
            <a:r>
              <a:rPr/>
              <a:t> you can summarize </a:t>
            </a:r>
            <a:r>
              <a:rPr b="1"/>
              <a:t>all three measurements</a:t>
            </a:r>
            <a:r>
              <a:rPr/>
              <a:t> across both sides.</a:t>
            </a:r>
          </a:p>
          <a:p>
            <a:pPr lvl="0" indent="0" marL="0">
              <a:buNone/>
            </a:pPr>
            <a:r>
              <a:rPr b="1"/>
              <a:t>Do the numbers support our hypothesis?</a:t>
            </a:r>
          </a:p>
          <a:p>
            <a:pPr lvl="0"/>
            <a:r>
              <a:rPr/>
              <a:t>Shady heavier? → check </a:t>
            </a:r>
            <a:r>
              <a:rPr>
                <a:latin typeface="Courier"/>
              </a:rPr>
              <a:t>mean_wt</a:t>
            </a:r>
          </a:p>
          <a:p>
            <a:pPr lvl="0"/>
            <a:r>
              <a:rPr/>
              <a:t>Shady taller? → check </a:t>
            </a:r>
            <a:r>
              <a:rPr>
                <a:latin typeface="Courier"/>
              </a:rPr>
              <a:t>mean_ht</a:t>
            </a:r>
          </a:p>
          <a:p>
            <a:pPr lvl="0"/>
            <a:r>
              <a:rPr/>
              <a:t>Shady wider? → check </a:t>
            </a:r>
            <a:r>
              <a:rPr>
                <a:latin typeface="Courier"/>
              </a:rPr>
              <a:t>mean_wd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§3.3 — </a:t>
            </a:r>
            <a:r>
              <a:rPr>
                <a:hlinkClick r:id="rId3"/>
                <a:latin typeface="Courier"/>
              </a:rPr>
              <a:t>mutate()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Fast Summaries with </a:t>
            </a:r>
            <a:r>
              <a:rPr>
                <a:latin typeface="Courier"/>
              </a:rPr>
              <a:t>skimr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skim() grouped by side — full column summaries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4351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368800"/>
                <a:gridCol w="4368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Piped 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side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254500"/>
            <a:ext cx="8750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943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5100"/>
                <a:gridCol w="622300"/>
                <a:gridCol w="1028700"/>
                <a:gridCol w="1435100"/>
                <a:gridCol w="520700"/>
                <a:gridCol w="520700"/>
                <a:gridCol w="304800"/>
                <a:gridCol w="622300"/>
                <a:gridCol w="520700"/>
                <a:gridCol w="622300"/>
                <a:gridCol w="520700"/>
                <a:gridCol w="622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▇▇▇▇▇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▇▇▇▇▇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weight_g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▂▇▁▇▇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weight_g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▇▁▇▁▃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width_cm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▁▁▁▂▇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width_cm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▅▇▅▅▂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height_cm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27.9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27.00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▇▁▆▁▆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height_cm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23.00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▆▃▁▇▂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 column and per group: </a:t>
            </a:r>
            <a:r>
              <a:rPr>
                <a:latin typeface="Courier"/>
              </a:rPr>
              <a:t>n_missing</a:t>
            </a:r>
            <a:r>
              <a:rPr/>
              <a:t>, </a:t>
            </a:r>
            <a:r>
              <a:rPr>
                <a:latin typeface="Courier"/>
              </a:rPr>
              <a:t>mean</a:t>
            </a:r>
            <a:r>
              <a:rPr/>
              <a:t>, </a:t>
            </a:r>
            <a:r>
              <a:rPr>
                <a:latin typeface="Courier"/>
              </a:rPr>
              <a:t>sd</a:t>
            </a:r>
            <a:r>
              <a:rPr/>
              <a:t>, percentiles (</a:t>
            </a:r>
            <a:r>
              <a:rPr>
                <a:latin typeface="Courier"/>
              </a:rPr>
              <a:t>p0</a:t>
            </a:r>
            <a:r>
              <a:rPr/>
              <a:t> to </a:t>
            </a:r>
            <a:r>
              <a:rPr>
                <a:latin typeface="Courier"/>
              </a:rPr>
              <a:t>p100</a:t>
            </a:r>
            <a:r>
              <a:rPr/>
              <a:t>), and a mini histogram.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skim()</a:t>
            </a:r>
            <a:r>
              <a:rPr sz="2000"/>
              <a:t> is your fastest </a:t>
            </a:r>
            <a:r>
              <a:rPr sz="2000" b="1"/>
              <a:t>first look</a:t>
            </a:r>
            <a:r>
              <a:rPr sz="2000"/>
              <a:t> at any dataset. Pair it with </a:t>
            </a:r>
            <a:r>
              <a:rPr sz="2000">
                <a:latin typeface="Courier"/>
              </a:rPr>
              <a:t>group_by()</a:t>
            </a:r>
            <a:r>
              <a:rPr sz="2000"/>
              <a:t> to compare groups instantly.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[[ ]]</a:t>
            </a:r>
            <a:r>
              <a:rPr/>
              <a:t> Notation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Three ways to extract the same column as a vector 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1. Dollar sign notation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weight_g</a:t>
            </a:r>
          </a:p>
          <a:p>
            <a:pPr lvl="0" indent="0">
              <a:buNone/>
            </a:pPr>
            <a:r>
              <a:rPr>
                <a:latin typeface="Courier"/>
              </a:rPr>
              <a:t> [1] 4 3 5 3 4 3 5 4 3 4 7 8 6 9 8 7 8 9 9 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2. Double bracket with name in quotes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tree_df[[</a:t>
            </a:r>
            <a:r>
              <a:rPr>
                <a:solidFill>
                  <a:srgbClr val="20794D"/>
                </a:solidFill>
                <a:latin typeface="Courier"/>
              </a:rPr>
              <a:t>"weight_g"</a:t>
            </a:r>
            <a:r>
              <a:rPr>
                <a:solidFill>
                  <a:srgbClr val="003B4F"/>
                </a:solidFill>
                <a:latin typeface="Courier"/>
              </a:rPr>
              <a:t>]]</a:t>
            </a:r>
          </a:p>
          <a:p>
            <a:pPr lvl="0" indent="0">
              <a:buNone/>
            </a:pPr>
            <a:r>
              <a:rPr>
                <a:latin typeface="Courier"/>
              </a:rPr>
              <a:t> [1] 4 3 5 3 4 3 5 4 3 4 7 8 6 9 8 7 8 9 9 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3. Double bracket with a variable holding the name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col_name &lt;- </a:t>
            </a:r>
            <a:r>
              <a:rPr>
                <a:solidFill>
                  <a:srgbClr val="20794D"/>
                </a:solidFill>
                <a:latin typeface="Courier"/>
              </a:rPr>
              <a:t>"weight_g"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tree_df[[col_name]]      </a:t>
            </a:r>
            <a:r>
              <a:rPr>
                <a:solidFill>
                  <a:srgbClr val="5E5E5E"/>
                </a:solidFill>
                <a:latin typeface="Courier"/>
              </a:rPr>
              <a:t># works!</a:t>
            </a:r>
          </a:p>
          <a:p>
            <a:pPr lvl="0" indent="0">
              <a:buNone/>
            </a:pPr>
            <a:r>
              <a:rPr>
                <a:latin typeface="Courier"/>
              </a:rPr>
              <a:t> [1] 4 3 5 3 4 3 5 4 3 4 7 8 6 9 8 7 8 9 9 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tree_df$col_name        # does NOT work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All three return an identical </a:t>
            </a:r>
            <a:r>
              <a:rPr b="1"/>
              <a:t>vector</a:t>
            </a:r>
            <a:r>
              <a:rPr/>
              <a:t> of all 20 weights</a:t>
            </a:r>
          </a:p>
          <a:p>
            <a:pPr lvl="0"/>
            <a:r>
              <a:rPr>
                <a:latin typeface="Courier"/>
              </a:rPr>
              <a:t>$</a:t>
            </a:r>
            <a:r>
              <a:rPr/>
              <a:t> is great for interactive typing</a:t>
            </a:r>
          </a:p>
          <a:p>
            <a:pPr lvl="0"/>
            <a:r>
              <a:rPr>
                <a:latin typeface="Courier"/>
              </a:rPr>
              <a:t>[[ ]]</a:t>
            </a:r>
            <a:r>
              <a:rPr/>
              <a:t> is more </a:t>
            </a:r>
            <a:r>
              <a:rPr b="1"/>
              <a:t>flexible</a:t>
            </a:r>
            <a:r>
              <a:rPr/>
              <a:t> — accepts names stored in variables</a:t>
            </a:r>
          </a:p>
          <a:p>
            <a:pPr lvl="0"/>
            <a:r>
              <a:rPr/>
              <a:t>Essential for writing functions and loops later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§27 — A Field Guide to Base 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Using </a:t>
            </a:r>
            <a:r>
              <a:rPr>
                <a:latin typeface="Courier"/>
              </a:rPr>
              <a:t>[[ ]]</a:t>
            </a:r>
            <a:r>
              <a:rPr/>
              <a:t> with </a:t>
            </a:r>
            <a:r>
              <a:rPr>
                <a:latin typeface="Courier"/>
              </a:rPr>
              <a:t>filter()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Combine filter() and [[ ]] to get one group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sunny_df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sun_wt   &lt;- sunny_df[[</a:t>
            </a:r>
            <a:r>
              <a:rPr>
                <a:solidFill>
                  <a:srgbClr val="20794D"/>
                </a:solidFill>
                <a:latin typeface="Courier"/>
              </a:rPr>
              <a:t>"weight_g"</a:t>
            </a:r>
            <a:r>
              <a:rPr>
                <a:solidFill>
                  <a:srgbClr val="003B4F"/>
                </a:solidFill>
                <a:latin typeface="Courier"/>
              </a:rPr>
              <a:t>]]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n_sun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(sun_wt))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m_sun 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(sun_wt,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se_sun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(sun_wt, 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(n_sun)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 — n:"</a:t>
            </a:r>
            <a:r>
              <a:rPr>
                <a:solidFill>
                  <a:srgbClr val="003B4F"/>
                </a:solidFill>
                <a:latin typeface="Courier"/>
              </a:rPr>
              <a:t>, n_sun,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"| 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(m_sun,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"| SE:"</a:t>
            </a:r>
            <a:r>
              <a:rPr>
                <a:solidFill>
                  <a:srgbClr val="003B4F"/>
                </a:solidFill>
                <a:latin typeface="Courier"/>
              </a:rPr>
              <a:t>,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(se_sun,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Sunny — n: 10 | mean: 3.8 | SE: 0.25 g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sha_wt   &lt;- shady_df[[</a:t>
            </a:r>
            <a:r>
              <a:rPr>
                <a:solidFill>
                  <a:srgbClr val="20794D"/>
                </a:solidFill>
                <a:latin typeface="Courier"/>
              </a:rPr>
              <a:t>"weight_g"</a:t>
            </a:r>
            <a:r>
              <a:rPr>
                <a:solidFill>
                  <a:srgbClr val="003B4F"/>
                </a:solidFill>
                <a:latin typeface="Courier"/>
              </a:rPr>
              <a:t>]]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n_sha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(sha_wt))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m_sha 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(sha_wt,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se_sha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(sha_wt, 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(n_sha)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"Shady — n:"</a:t>
            </a:r>
            <a:r>
              <a:rPr>
                <a:solidFill>
                  <a:srgbClr val="003B4F"/>
                </a:solidFill>
                <a:latin typeface="Courier"/>
              </a:rPr>
              <a:t>, n_sha,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"| 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(m_sha,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"| SE:"</a:t>
            </a:r>
            <a:r>
              <a:rPr>
                <a:solidFill>
                  <a:srgbClr val="003B4F"/>
                </a:solidFill>
                <a:latin typeface="Courier"/>
              </a:rPr>
              <a:t>,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(se_sha,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Shady — n: 10 | mean: 7.8 | SE: 0.33 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Pattern: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filter()</a:t>
            </a:r>
            <a:r>
              <a:rPr/>
              <a:t> → subset to one group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[[ ]]</a:t>
            </a:r>
            <a:r>
              <a:rPr/>
              <a:t> → extract the column as a vector</a:t>
            </a:r>
          </a:p>
          <a:p>
            <a:pPr lvl="0" indent="-342900" marL="342900">
              <a:buAutoNum type="arabicPeriod"/>
            </a:pPr>
            <a:r>
              <a:rPr/>
              <a:t>Apply </a:t>
            </a:r>
            <a:r>
              <a:rPr>
                <a:latin typeface="Courier"/>
              </a:rPr>
              <a:t>mean()</a:t>
            </a:r>
            <a:r>
              <a:rPr/>
              <a:t>, </a:t>
            </a:r>
            <a:r>
              <a:rPr>
                <a:latin typeface="Courier"/>
              </a:rPr>
              <a:t>sd()</a:t>
            </a:r>
            <a:r>
              <a:rPr/>
              <a:t>, </a:t>
            </a:r>
            <a:r>
              <a:rPr>
                <a:latin typeface="Courier"/>
              </a:rPr>
              <a:t>sum(!is.na())</a:t>
            </a:r>
          </a:p>
          <a:p>
            <a:pPr lvl="0" indent="0" marL="0">
              <a:buNone/>
            </a:pPr>
            <a:r>
              <a:rPr b="1"/>
              <a:t>Do the means match your prediction?</a:t>
            </a:r>
          </a:p>
          <a:p>
            <a:pPr lvl="0"/>
            <a:r>
              <a:rPr/>
              <a:t>Sunny: ~3.8 g</a:t>
            </a:r>
          </a:p>
          <a:p>
            <a:pPr lvl="0"/>
            <a:r>
              <a:rPr/>
              <a:t>Shady: ~7.8 g</a:t>
            </a:r>
          </a:p>
          <a:p>
            <a:pPr lvl="0" indent="0" marL="0">
              <a:buNone/>
            </a:pPr>
            <a:r>
              <a:rPr/>
              <a:t>Shady leaves appear heavier — but is the difference </a:t>
            </a:r>
            <a:r>
              <a:rPr i="1"/>
              <a:t>statistically significant?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Extension: A Simple Stats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reusable function using filter() + [[ ]] 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We will build functions properly in a later lecture!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describe_side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grp, col_name)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x  &lt;- 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grp)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(col_name)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n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m 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(x, 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(grp, </a:t>
            </a:r>
            <a:r>
              <a:rPr>
                <a:solidFill>
                  <a:srgbClr val="20794D"/>
                </a:solidFill>
                <a:latin typeface="Courier"/>
              </a:rPr>
              <a:t>"|"</a:t>
            </a:r>
            <a:r>
              <a:rPr>
                <a:solidFill>
                  <a:srgbClr val="003B4F"/>
                </a:solidFill>
                <a:latin typeface="Courier"/>
              </a:rPr>
              <a:t>, col_name,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"→ n:"</a:t>
            </a:r>
            <a:r>
              <a:rPr>
                <a:solidFill>
                  <a:srgbClr val="003B4F"/>
                </a:solidFill>
                <a:latin typeface="Courier"/>
              </a:rPr>
              <a:t>, 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"| 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"| SE:"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describe_side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"weight_g"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sunny | weight_g → n: 10 | mean: 3.8 | SE: 0.25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describe_side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"weight_g"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shady | weight_g → n: 10 | mean: 7.8 | SE: 0.33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describe_side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"height_cm"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sunny | height_cm → n: 10 | mean: 22.3 | SE: 0.33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describe_side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"height_cm"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shady | height_cm → n: 10 | mean: 27.9 | SE: 0.28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this function does:</a:t>
            </a:r>
          </a:p>
          <a:p>
            <a:pPr lvl="0" indent="-342900" marL="342900">
              <a:buAutoNum type="arabicPeriod"/>
            </a:pPr>
            <a:r>
              <a:rPr/>
              <a:t>Accepts data frame, group name, and column name</a:t>
            </a:r>
          </a:p>
          <a:p>
            <a:pPr lvl="0" indent="-342900" marL="342900">
              <a:buAutoNum type="arabicPeriod"/>
            </a:pPr>
            <a:r>
              <a:rPr/>
              <a:t>Filters to that group with </a:t>
            </a:r>
            <a:r>
              <a:rPr>
                <a:latin typeface="Courier"/>
              </a:rPr>
              <a:t>filter()</a:t>
            </a:r>
          </a:p>
          <a:p>
            <a:pPr lvl="0" indent="-342900" marL="342900">
              <a:buAutoNum type="arabicPeriod"/>
            </a:pPr>
            <a:r>
              <a:rPr/>
              <a:t>Extracts the column with </a:t>
            </a:r>
            <a:r>
              <a:rPr>
                <a:latin typeface="Courier"/>
              </a:rPr>
              <a:t>pull()</a:t>
            </a:r>
          </a:p>
          <a:p>
            <a:pPr lvl="0" indent="-342900" marL="342900">
              <a:buAutoNum type="arabicPeriod"/>
            </a:pPr>
            <a:r>
              <a:rPr/>
              <a:t>Computes n, mean, SE</a:t>
            </a:r>
          </a:p>
          <a:p>
            <a:pPr lvl="0" indent="-342900" marL="342900">
              <a:buAutoNum type="arabicPeriod"/>
            </a:pPr>
            <a:r>
              <a:rPr/>
              <a:t>Prints a compact labelled summary</a:t>
            </a:r>
          </a:p>
          <a:p>
            <a:pPr lvl="0" indent="0" marL="0">
              <a:buNone/>
            </a:pPr>
            <a:r>
              <a:rPr b="1"/>
              <a:t>For grins 🎉</a:t>
            </a:r>
            <a:r>
              <a:rPr/>
              <a:t> — we will build these properly in Lecture 08!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§25 — Functions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— Basic Structure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Basic boxplot — data is ALREADY long format 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No reshaping needed!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tree_box_plot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tree_box_plot</a:t>
            </a:r>
          </a:p>
        </p:txBody>
      </p:sp>
      <p:pic>
        <p:nvPicPr>
          <p:cNvPr descr="03_lecture_powerpoint_files/figure-pptx/boxplot-bas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Boxplot anatomy:</a:t>
            </a:r>
          </a:p>
          <a:p>
            <a:pPr lvl="0"/>
            <a:r>
              <a:rPr/>
              <a:t>Middle line = </a:t>
            </a:r>
            <a:r>
              <a:rPr b="1"/>
              <a:t>median</a:t>
            </a:r>
          </a:p>
          <a:p>
            <a:pPr lvl="0"/>
            <a:r>
              <a:rPr/>
              <a:t>Box edges = 25th and 75th percentile (</a:t>
            </a:r>
            <a:r>
              <a:rPr b="1"/>
              <a:t>IQR</a:t>
            </a:r>
            <a:r>
              <a:rPr/>
              <a:t>)</a:t>
            </a:r>
          </a:p>
          <a:p>
            <a:pPr lvl="0"/>
            <a:r>
              <a:rPr/>
              <a:t>Whiskers = 1.5 × IQR</a:t>
            </a:r>
          </a:p>
          <a:p>
            <a:pPr lvl="0"/>
            <a:r>
              <a:rPr/>
              <a:t>Dots beyond whiskers = </a:t>
            </a:r>
            <a:r>
              <a:rPr b="1"/>
              <a:t>outliers</a:t>
            </a:r>
          </a:p>
          <a:p>
            <a:pPr lvl="0" indent="0" marL="0">
              <a:buNone/>
            </a:pPr>
            <a:r>
              <a:rPr/>
              <a:t>Because our data is already in </a:t>
            </a:r>
            <a:r>
              <a:rPr b="1"/>
              <a:t>long format</a:t>
            </a:r>
            <a:r>
              <a:rPr/>
              <a:t>, we skip the </a:t>
            </a:r>
            <a:r>
              <a:rPr>
                <a:latin typeface="Courier"/>
              </a:rPr>
              <a:t>pivot_longer()</a:t>
            </a:r>
            <a:r>
              <a:rPr/>
              <a:t> step entirely — </a:t>
            </a:r>
            <a:r>
              <a:rPr>
                <a:latin typeface="Courier"/>
              </a:rPr>
              <a:t>ggplot2</a:t>
            </a:r>
            <a:r>
              <a:rPr/>
              <a:t> reads </a:t>
            </a:r>
            <a:r>
              <a:rPr>
                <a:latin typeface="Courier"/>
              </a:rPr>
              <a:t>side</a:t>
            </a:r>
            <a:r>
              <a:rPr/>
              <a:t> straight off the x-axis.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3"/>
              </a:rPr>
              <a:t>R4DS §9 — Layers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— Overlay Individual Points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raw data points over the boxplot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tree_jitter_plot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tree_jitter_plot</a:t>
            </a:r>
          </a:p>
        </p:txBody>
      </p:sp>
      <p:pic>
        <p:nvPicPr>
          <p:cNvPr descr="03_lecture_powerpoint_files/figure-pptx/boxplot-jitter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arguments:</a:t>
            </a:r>
          </a:p>
          <a:p>
            <a:pPr lvl="0"/>
            <a:r>
              <a:rPr>
                <a:latin typeface="Courier"/>
              </a:rPr>
              <a:t>position_jitter(width = 0.15)</a:t>
            </a:r>
            <a:r>
              <a:rPr/>
              <a:t> — spreads points a little left and right</a:t>
            </a:r>
          </a:p>
          <a:p>
            <a:pPr lvl="0"/>
            <a:r>
              <a:rPr>
                <a:latin typeface="Courier"/>
              </a:rPr>
              <a:t>seed = 42</a:t>
            </a:r>
            <a:r>
              <a:rPr/>
              <a:t> — same jitter layout every render</a:t>
            </a:r>
          </a:p>
          <a:p>
            <a:pPr lvl="0"/>
            <a:r>
              <a:rPr>
                <a:latin typeface="Courier"/>
              </a:rPr>
              <a:t>alpha = 0.6</a:t>
            </a:r>
            <a:r>
              <a:rPr/>
              <a:t> — semi-transparent to show overlap</a:t>
            </a:r>
          </a:p>
          <a:p>
            <a:pPr lvl="0"/>
            <a:r>
              <a:rPr>
                <a:latin typeface="Courier"/>
              </a:rPr>
              <a:t>size = 2.5</a:t>
            </a:r>
            <a:r>
              <a:rPr/>
              <a:t> — point size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Always show raw points with a boxplot — with only 10 leaves per group, every point matters!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— Using </a:t>
            </a:r>
            <a:r>
              <a:rPr>
                <a:latin typeface="Courier"/>
              </a:rPr>
              <a:t>position_dodge()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position_dodge() spreads groups apart horizontally 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tree_dodge_plot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position_dodge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tree_dodge_plot</a:t>
            </a:r>
          </a:p>
        </p:txBody>
      </p:sp>
      <p:pic>
        <p:nvPicPr>
          <p:cNvPr descr="03_lecture_powerpoint_files/figure-pptx/boxplot-dodg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>
                <a:latin typeface="Courier"/>
              </a:rPr>
              <a:t>position_dodge(width = 0.3)</a:t>
            </a:r>
          </a:p>
          <a:p>
            <a:pPr lvl="0"/>
            <a:r>
              <a:rPr/>
              <a:t>Spreads overlapping geoms </a:t>
            </a:r>
            <a:r>
              <a:rPr b="1"/>
              <a:t>horizontally</a:t>
            </a:r>
          </a:p>
          <a:p>
            <a:pPr lvl="0"/>
            <a:r>
              <a:rPr/>
              <a:t>Most useful when you have </a:t>
            </a:r>
            <a:r>
              <a:rPr b="1"/>
              <a:t>two grouping variables</a:t>
            </a:r>
            <a:r>
              <a:rPr/>
              <a:t> (e.g., </a:t>
            </a:r>
            <a:r>
              <a:rPr>
                <a:latin typeface="Courier"/>
              </a:rPr>
              <a:t>x = species</a:t>
            </a:r>
            <a:r>
              <a:rPr/>
              <a:t>, </a:t>
            </a:r>
            <a:r>
              <a:rPr>
                <a:latin typeface="Courier"/>
              </a:rPr>
              <a:t>fill = treatment</a:t>
            </a:r>
            <a:r>
              <a:rPr/>
              <a:t>)</a:t>
            </a:r>
          </a:p>
          <a:p>
            <a:pPr lvl="0"/>
            <a:r>
              <a:rPr>
                <a:latin typeface="Courier"/>
              </a:rPr>
              <a:t>width</a:t>
            </a:r>
            <a:r>
              <a:rPr/>
              <a:t> controls how far apart groups are spread</a:t>
            </a:r>
          </a:p>
          <a:p>
            <a:pPr lvl="0" indent="0" marL="0">
              <a:buNone/>
            </a:pPr>
            <a:r>
              <a:rPr/>
              <a:t>We will use </a:t>
            </a:r>
            <a:r>
              <a:rPr>
                <a:latin typeface="Courier"/>
              </a:rPr>
              <a:t>position_dodge()</a:t>
            </a:r>
            <a:r>
              <a:rPr/>
              <a:t> extensively in future lectures when we have </a:t>
            </a:r>
            <a:r>
              <a:rPr b="1"/>
              <a:t>factorial designs</a:t>
            </a:r>
            <a:r>
              <a:rPr/>
              <a:t>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 ± SE Plot — </a:t>
            </a:r>
            <a:r>
              <a:rPr>
                <a:latin typeface="Courier"/>
              </a:rPr>
              <a:t>stat_summary()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stat_summary() computes and plots mean and SE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tree_mean_se_plot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     =</a:t>
            </a:r>
            <a:r>
              <a:rPr>
                <a:solidFill>
                  <a:srgbClr val="003B4F"/>
                </a:solidFill>
                <a:latin typeface="Courier"/>
              </a:rPr>
              <a:t> mean,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tree_mean_se_plot</a:t>
            </a:r>
          </a:p>
        </p:txBody>
      </p:sp>
      <p:pic>
        <p:nvPicPr>
          <p:cNvPr descr="03_lecture_powerpoint_files/figure-pptx/mean-se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</a:t>
            </a:r>
            <a:r>
              <a:rPr b="1">
                <a:latin typeface="Courier"/>
              </a:rPr>
              <a:t>stat_summary()</a:t>
            </a:r>
            <a:r>
              <a:rPr b="1"/>
              <a:t> layers: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draws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 = mean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large point at the mean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fun.data = mean_se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error bars for ± 1 SE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/>
            <a:r>
              <a:rPr/>
              <a:t>Individual points in the </a:t>
            </a:r>
            <a:r>
              <a:rPr b="1"/>
              <a:t>background</a:t>
            </a:r>
            <a:r>
              <a:rPr/>
              <a:t> (</a:t>
            </a:r>
            <a:r>
              <a:rPr>
                <a:latin typeface="Courier"/>
              </a:rPr>
              <a:t>alpha = 0.35</a:t>
            </a:r>
            <a:r>
              <a:rPr/>
              <a:t>)</a:t>
            </a:r>
          </a:p>
          <a:p>
            <a:pPr lvl="0"/>
            <a:r>
              <a:rPr/>
              <a:t>Mean shown as a </a:t>
            </a:r>
            <a:r>
              <a:rPr b="1"/>
              <a:t>larger foreground point</a:t>
            </a:r>
          </a:p>
          <a:p>
            <a:pPr lvl="0"/>
            <a:r>
              <a:rPr/>
              <a:t>Error bars = </a:t>
            </a:r>
            <a:r>
              <a:rPr b="1"/>
              <a:t>± 1 SE</a:t>
            </a:r>
          </a:p>
          <a:p>
            <a:pPr lvl="0" indent="0" marL="0">
              <a:buNone/>
            </a:pPr>
            <a:r>
              <a:rPr/>
              <a:t>This is the standard comparison figure in biology.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the Two Plot Types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Arrange both plots side by side 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tree_jitter_plot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tree_mean_se_plot</a:t>
            </a:r>
          </a:p>
        </p:txBody>
      </p:sp>
      <p:pic>
        <p:nvPicPr>
          <p:cNvPr descr="03_lecture_powerpoint_files/figure-pptx/side-by-side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955800"/>
            <a:ext cx="4432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to use each: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Plot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when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Boxplot + points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showing full </a:t>
                      </a:r>
                      <a:r>
                        <a:rPr b="1"/>
                        <a:t>distribution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 ± 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making </a:t>
                      </a:r>
                      <a:r>
                        <a:rPr b="1"/>
                        <a:t>group comparisons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only n = 10 per group, showing every point is essential — the reader needs to see the raw data.</a:t>
            </a:r>
          </a:p>
          <a:p>
            <a:pPr lvl="0" indent="0" marL="0">
              <a:buNone/>
            </a:pPr>
            <a:r>
              <a:rPr/>
              <a:t>Boxplots show </a:t>
            </a:r>
            <a:r>
              <a:rPr i="1"/>
              <a:t>where</a:t>
            </a:r>
            <a:r>
              <a:rPr/>
              <a:t> data fall. Mean ± SE shows </a:t>
            </a:r>
            <a:r>
              <a:rPr i="1"/>
              <a:t>how confident</a:t>
            </a:r>
            <a:r>
              <a:rPr/>
              <a:t> you are in the mean.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Statistics concepts:</a:t>
            </a:r>
          </a:p>
          <a:p>
            <a:pPr lvl="0"/>
            <a:r>
              <a:rPr b="1"/>
              <a:t>Mean</a:t>
            </a:r>
            <a:r>
              <a:rPr/>
              <a:t> — balance point; sensitive to outliers</a:t>
            </a:r>
          </a:p>
          <a:p>
            <a:pPr lvl="0"/>
            <a:r>
              <a:rPr b="1"/>
              <a:t>Median</a:t>
            </a:r>
            <a:r>
              <a:rPr/>
              <a:t> — middle value; robust</a:t>
            </a:r>
          </a:p>
          <a:p>
            <a:pPr lvl="0"/>
            <a:r>
              <a:rPr b="1"/>
              <a:t>Variance / SD</a:t>
            </a:r>
            <a:r>
              <a:rPr/>
              <a:t> — spread of individual data</a:t>
            </a:r>
          </a:p>
          <a:p>
            <a:pPr lvl="0"/>
            <a:r>
              <a:rPr b="1"/>
              <a:t>SE</a:t>
            </a:r>
            <a:r>
              <a:rPr/>
              <a:t> — precision of the sample mean</a:t>
            </a:r>
          </a:p>
          <a:p>
            <a:pPr lvl="0"/>
            <a:r>
              <a:rPr b="1" i="1"/>
              <a:t>p</a:t>
            </a:r>
            <a:r>
              <a:rPr b="1"/>
              <a:t>-value</a:t>
            </a:r>
            <a:r>
              <a:rPr/>
              <a:t> — how unlikely are the data if H₀ is true?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read_excel()</a:t>
            </a:r>
            <a:r>
              <a:rPr/>
              <a:t> — load real Excel data</a:t>
            </a:r>
          </a:p>
          <a:p>
            <a:pPr lvl="0"/>
            <a:r>
              <a:rPr>
                <a:latin typeface="Courier"/>
              </a:rPr>
              <a:t>filter() %&gt;% pull()</a:t>
            </a:r>
            <a:r>
              <a:rPr/>
              <a:t> — extract a group’s values as a vector</a:t>
            </a:r>
          </a:p>
          <a:p>
            <a:pPr lvl="0"/>
            <a:r>
              <a:rPr>
                <a:latin typeface="Courier"/>
              </a:rPr>
              <a:t>group_by() %&gt;% summarize()</a:t>
            </a:r>
            <a:r>
              <a:rPr/>
              <a:t> — all stats for all groups at once</a:t>
            </a:r>
          </a:p>
          <a:p>
            <a:pPr lvl="0"/>
            <a:r>
              <a:rPr>
                <a:latin typeface="Courier"/>
              </a:rPr>
              <a:t>sum(!is.na())</a:t>
            </a:r>
            <a:r>
              <a:rPr/>
              <a:t> — the right way to count </a:t>
            </a:r>
            <a:r>
              <a:rPr i="1"/>
              <a:t>n</a:t>
            </a:r>
          </a:p>
          <a:p>
            <a:pPr lvl="0"/>
            <a:r>
              <a:rPr>
                <a:latin typeface="Courier"/>
              </a:rPr>
              <a:t>skim()</a:t>
            </a:r>
            <a:r>
              <a:rPr/>
              <a:t> — instant full dataset overview</a:t>
            </a:r>
          </a:p>
          <a:p>
            <a:pPr lvl="0"/>
            <a:r>
              <a:rPr>
                <a:latin typeface="Courier"/>
              </a:rPr>
              <a:t>[[ ]]</a:t>
            </a:r>
            <a:r>
              <a:rPr/>
              <a:t> — flexible column extraction</a:t>
            </a:r>
          </a:p>
          <a:p>
            <a:pPr lvl="0"/>
            <a:r>
              <a:rPr>
                <a:latin typeface="Courier"/>
              </a:rPr>
              <a:t>geom_boxplot()</a:t>
            </a:r>
            <a:r>
              <a:rPr/>
              <a:t> + </a:t>
            </a:r>
            <a:r>
              <a:rPr>
                <a:latin typeface="Courier"/>
              </a:rPr>
              <a:t>geom_point()</a:t>
            </a:r>
            <a:r>
              <a:rPr/>
              <a:t> — no pivot needed with long data!</a:t>
            </a:r>
          </a:p>
          <a:p>
            <a:pPr lvl="0"/>
            <a:r>
              <a:rPr>
                <a:latin typeface="Courier"/>
              </a:rPr>
              <a:t>stat_summary()</a:t>
            </a:r>
            <a:r>
              <a:rPr/>
              <a:t> — mean ± 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§13</a:t>
            </a:r>
            <a:r>
              <a:rPr/>
              <a:t> — Numbers</a:t>
            </a:r>
          </a:p>
          <a:p>
            <a:pPr lvl="0"/>
            <a:r>
              <a:rPr/>
              <a:t>📖 </a:t>
            </a:r>
            <a:r>
              <a:rPr>
                <a:hlinkClick r:id="rId4"/>
              </a:rPr>
              <a:t>R4DS §18</a:t>
            </a:r>
            <a:r>
              <a:rPr/>
              <a:t> — Missing Values</a:t>
            </a:r>
          </a:p>
          <a:p>
            <a:pPr lvl="0"/>
            <a:r>
              <a:rPr/>
              <a:t>📖 </a:t>
            </a:r>
            <a:r>
              <a:rPr>
                <a:hlinkClick r:id="rId5"/>
              </a:rPr>
              <a:t>R4DS §27</a:t>
            </a:r>
            <a:r>
              <a:rPr/>
              <a:t> — Base R</a:t>
            </a:r>
          </a:p>
          <a:p>
            <a:pPr lvl="0"/>
            <a:r>
              <a:rPr/>
              <a:t>🌐 </a:t>
            </a:r>
            <a:r>
              <a:rPr>
                <a:hlinkClick r:id="rId6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Up next — Lecture 04:</a:t>
            </a:r>
          </a:p>
          <a:p>
            <a:pPr lvl="0"/>
            <a:r>
              <a:rPr/>
              <a:t>Two-sample t-test</a:t>
            </a:r>
          </a:p>
          <a:p>
            <a:pPr lvl="0"/>
            <a:r>
              <a:rPr/>
              <a:t>Checking assumptions (normality, equal variance)</a:t>
            </a:r>
          </a:p>
          <a:p>
            <a:pPr lvl="0"/>
            <a:r>
              <a:rPr/>
              <a:t>Interpreting and reporting results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 — Describing Our Data</dc:title>
  <dc:creator>Bill Perry</dc:creator>
  <cp:keywords/>
  <dcterms:created xsi:type="dcterms:W3CDTF">2026-06-28T18:38:43Z</dcterms:created>
  <dcterms:modified xsi:type="dcterms:W3CDTF">2026-06-28T18:38:43Z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2026-06-28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Summaries, statistics, and our first real comparisons</vt:lpwstr>
  </property>
  <property fmtid="{D5CDD505-2E9C-101B-9397-08002B2CF9AE}" pid="12" name="toc-title">
    <vt:lpwstr>Table of contents</vt:lpwstr>
  </property>
</Properties>
</file>