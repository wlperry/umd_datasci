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DCC31"/>
    <a:srgbClr val="70121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726"/>
  </p:normalViewPr>
  <p:slideViewPr>
    <p:cSldViewPr snapToGrid="0" snapToObjects="1">
      <p:cViewPr varScale="1">
        <p:scale>
          <a:sx d="100" n="165"/>
          <a:sy d="100" n="165"/>
        </p:scale>
        <p:origin x="560" y="184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4" Type="http://schemas.openxmlformats.org/officeDocument/2006/relationships/viewProps" Target="viewProps.xml" /><Relationship Id="rId3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6" Type="http://schemas.openxmlformats.org/officeDocument/2006/relationships/tableStyles" Target="tableStyles.xml" /><Relationship Id="rId5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1"/>
            <a:ext cx="9144000" cy="565688"/>
          </a:xfrm>
        </p:spPr>
        <p:txBody>
          <a:bodyPr>
            <a:normAutofit/>
          </a:bodyPr>
          <a:lstStyle>
            <a:lvl1pPr>
              <a:defRPr sz="2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5722" y="565689"/>
            <a:ext cx="6400800" cy="1314450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>
            <a:normAutofit/>
          </a:bodyPr>
          <a:lstStyle>
            <a:lvl1pPr algn="l">
              <a:defRPr sz="2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614605"/>
            <a:ext cx="9089756" cy="3914289"/>
          </a:xfrm>
        </p:spPr>
        <p:txBody>
          <a:bodyPr/>
          <a:lstStyle>
            <a:lvl1pPr marL="230188" indent="-230188">
              <a:tabLst/>
              <a:defRPr sz="2000"/>
            </a:lvl1pPr>
            <a:lvl2pPr marL="514350" indent="-284163">
              <a:spcBef>
                <a:spcPts val="0"/>
              </a:spcBef>
              <a:tabLst/>
              <a:defRPr sz="2000"/>
            </a:lvl2pPr>
            <a:lvl3pPr marL="692150" indent="-177800">
              <a:spcBef>
                <a:spcPts val="0"/>
              </a:spcBef>
              <a:tabLst/>
              <a:defRPr sz="1600"/>
            </a:lvl3pPr>
            <a:lvl4pPr marL="914400" indent="-222250">
              <a:spcBef>
                <a:spcPts val="0"/>
              </a:spcBef>
              <a:tabLst/>
              <a:defRPr sz="1600"/>
            </a:lvl4pPr>
            <a:lvl5pPr marL="1146175" indent="-231775">
              <a:spcBef>
                <a:spcPts val="0"/>
              </a:spcBef>
              <a:tabLst/>
              <a:defRPr sz="16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021556"/>
          </a:xfrm>
        </p:spPr>
        <p:txBody>
          <a:bodyPr anchor="t">
            <a:normAutofit/>
          </a:bodyPr>
          <a:lstStyle>
            <a:lvl1pPr algn="l">
              <a:defRPr sz="2400" b="1" cap="all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41649"/>
            <a:ext cx="7772400" cy="1125140"/>
          </a:xfrm>
        </p:spPr>
        <p:txBody>
          <a:bodyPr anchor="b">
            <a:normAutofit/>
          </a:bodyPr>
          <a:lstStyle>
            <a:lvl1pPr marL="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1A1A2E"/>
          </a:solidFill>
        </p:spPr>
        <p:txBody>
          <a:bodyPr/>
          <a:lstStyle>
            <a:lvl1pPr algn="l">
              <a:defRPr b="0">
                <a:solidFill>
                  <a:srgbClr val="F4CD54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041" y="662663"/>
            <a:ext cx="4201332" cy="3818173"/>
          </a:xfrm>
        </p:spPr>
        <p:txBody>
          <a:bodyPr/>
          <a:lstStyle>
            <a:lvl1pPr marL="230188" indent="-230188">
              <a:tabLst/>
              <a:defRPr sz="2000"/>
            </a:lvl1pPr>
            <a:lvl2pPr marL="460375" indent="-230188">
              <a:tabLst/>
              <a:defRPr sz="1800"/>
            </a:lvl2pPr>
            <a:lvl3pPr marL="630238" indent="-169863">
              <a:tabLst/>
              <a:defRPr sz="1600"/>
            </a:lvl3pPr>
            <a:lvl4pPr marL="914400" indent="-284163">
              <a:tabLst/>
              <a:defRPr sz="1600"/>
            </a:lvl4pPr>
            <a:lvl5pPr marL="1146175" indent="-231775">
              <a:tabLst/>
              <a:defRPr sz="160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02258" y="662664"/>
            <a:ext cx="4418308" cy="3818172"/>
          </a:xfrm>
        </p:spPr>
        <p:txBody>
          <a:bodyPr/>
          <a:lstStyle>
            <a:lvl1pPr marL="342900" indent="-342900">
              <a:defRPr lang="en-U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5937" indent="-285750">
              <a:defRPr lang="en-US"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46125" indent="-285750"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5987" indent="-285750"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00150" indent="-285750"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marL="230188" lvl="0" indent="-230188" algn="l" defTabSz="342900" rtl="0" eaLnBrk="1" latinLnBrk="0" hangingPunct="1">
              <a:spcBef>
                <a:spcPct val="20000"/>
              </a:spcBef>
              <a:buFont typeface="Arial"/>
              <a:buChar char="•"/>
              <a:tabLst/>
            </a:pPr>
            <a:r>
              <a:rPr lang="en-US" dirty="0"/>
              <a:t>Click to edit Master text styles</a:t>
            </a:r>
          </a:p>
          <a:p>
            <a:pPr marL="460375" lvl="1" indent="-230188" algn="l" defTabSz="342900" rtl="0" eaLnBrk="1" latinLnBrk="0" hangingPunct="1">
              <a:spcBef>
                <a:spcPct val="20000"/>
              </a:spcBef>
              <a:buFont typeface="Arial"/>
              <a:buChar char="–"/>
              <a:tabLst/>
            </a:pPr>
            <a:r>
              <a:rPr lang="en-US" dirty="0"/>
              <a:t>Second level</a:t>
            </a:r>
          </a:p>
          <a:p>
            <a:pPr marL="630238" lvl="2" indent="-169863" algn="l" defTabSz="342900" rtl="0" eaLnBrk="1" latinLnBrk="0" hangingPunct="1">
              <a:spcBef>
                <a:spcPct val="20000"/>
              </a:spcBef>
              <a:buFont typeface="Arial"/>
              <a:buChar char="•"/>
              <a:tabLst/>
            </a:pPr>
            <a:r>
              <a:rPr lang="en-US" dirty="0"/>
              <a:t>Third level</a:t>
            </a:r>
          </a:p>
          <a:p>
            <a:pPr marL="914400" lvl="3" indent="-284163" algn="l" defTabSz="342900" rtl="0" eaLnBrk="1" latinLnBrk="0" hangingPunct="1">
              <a:spcBef>
                <a:spcPct val="20000"/>
              </a:spcBef>
              <a:buFont typeface="Arial"/>
              <a:buChar char="–"/>
              <a:tabLst/>
            </a:pPr>
            <a:r>
              <a:rPr lang="en-US" dirty="0"/>
              <a:t>Fourth level</a:t>
            </a:r>
          </a:p>
          <a:p>
            <a:pPr marL="1146175" lvl="4" indent="-231775" algn="l" defTabSz="342900" rtl="0" eaLnBrk="1" latinLnBrk="0" hangingPunct="1">
              <a:spcBef>
                <a:spcPct val="20000"/>
              </a:spcBef>
              <a:buFont typeface="Arial"/>
              <a:buChar char="»"/>
              <a:tabLst/>
            </a:pPr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9485" y="78119"/>
            <a:ext cx="8229600" cy="607682"/>
          </a:xfrm>
        </p:spPr>
        <p:txBody>
          <a:bodyPr>
            <a:normAutofit/>
          </a:bodyPr>
          <a:lstStyle>
            <a:lvl1pPr algn="l">
              <a:defRPr sz="28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6201" y="802623"/>
            <a:ext cx="4435799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36201" y="1282444"/>
            <a:ext cx="4435799" cy="3305054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53514" y="823389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53514" y="1303210"/>
            <a:ext cx="4041775" cy="3284288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871538"/>
          </a:xfrm>
        </p:spPr>
        <p:txBody>
          <a:bodyPr anchor="t" anchorCtr="0">
            <a:normAutofit/>
          </a:bodyPr>
          <a:lstStyle>
            <a:lvl1pPr algn="l">
              <a:defRPr sz="24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9485" y="2822226"/>
            <a:ext cx="8756541" cy="1945037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0" y="960803"/>
            <a:ext cx="354136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7490" y="102393"/>
            <a:ext cx="8934774" cy="582780"/>
          </a:xfrm>
          <a:prstGeom prst="rect">
            <a:avLst/>
          </a:prstGeom>
          <a:solidFill>
            <a:srgbClr val="1A1A2E"/>
          </a:solidFill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77489" y="781696"/>
            <a:ext cx="8934773" cy="3914289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dirty="0" lang="en-US"/>
              <a:t>Click to edit Master text styles</a:t>
            </a:r>
          </a:p>
          <a:p>
            <a:pPr lvl="1"/>
            <a:r>
              <a:rPr dirty="0" lang="en-US"/>
              <a:t>Second level</a:t>
            </a:r>
          </a:p>
          <a:p>
            <a:pPr lvl="2"/>
            <a:r>
              <a:rPr dirty="0" lang="en-US"/>
              <a:t>Third level</a:t>
            </a:r>
          </a:p>
          <a:p>
            <a:pPr lvl="3"/>
            <a:r>
              <a:rPr dirty="0" lang="en-US"/>
              <a:t>Fourth level</a:t>
            </a:r>
          </a:p>
          <a:p>
            <a:pPr lvl="4"/>
            <a:r>
              <a:rPr dirty="0"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342900" eaLnBrk="1" hangingPunct="1" latinLnBrk="0" rtl="0">
        <a:spcBef>
          <a:spcPct val="0"/>
        </a:spcBef>
        <a:buNone/>
        <a:defRPr kern="1200" sz="2800">
          <a:solidFill>
            <a:srgbClr val="F4CD54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ts val="0"/>
        </a:spcBef>
        <a:buFont typeface="Arial"/>
        <a:buChar char="•"/>
        <a:defRPr kern="1200" sz="20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ts val="0"/>
        </a:spcBef>
        <a:buFont typeface="Arial"/>
        <a:buChar char="–"/>
        <a:defRPr kern="1200" sz="20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ts val="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ts val="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ts val="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1"/>
            <a:ext cx="9144000" cy="565688"/>
          </a:xfrm>
        </p:spPr>
        <p:txBody>
          <a:bodyPr/>
          <a:lstStyle/>
          <a:p>
            <a:pPr lvl="0" indent="0" marL="0">
              <a:buNone/>
            </a:pPr>
            <a:r>
              <a:rPr/>
              <a:t>Lecture 11 - Single factor analysis of variance - ANOVA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255722" y="565689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Bill Perry</a:t>
            </a:r>
          </a:p>
        </p:txBody>
      </p:sp>
    </p:spTree>
  </p:cSld>
</p:sld>
</file>

<file path=ppt/theme/theme1.xml><?xml version="1.0" encoding="utf-8"?>
<a:theme xmlns:a="http://schemas.openxmlformats.org/drawingml/2006/main" name="UMD Biostatistics">
  <a:themeElements>
    <a:clrScheme name="UMD">
      <a:dk1>
        <a:sysClr val="windowText" lastClr="000000"/>
      </a:dk1>
      <a:lt1>
        <a:sysClr val="window" lastClr="FFFFFF"/>
      </a:lt1>
      <a:dk2>
        <a:srgbClr val="4A4A4A"/>
      </a:dk2>
      <a:lt2>
        <a:srgbClr val="F0F4F8"/>
      </a:lt2>
      <a:accent1>
        <a:srgbClr val="F4CD54"/>
      </a:accent1>
      <a:accent2>
        <a:srgbClr val="002147"/>
      </a:accent2>
      <a:accent3>
        <a:srgbClr val="0072B2"/>
      </a:accent3>
      <a:accent4>
        <a:srgbClr val="009E73"/>
      </a:accent4>
      <a:accent5>
        <a:srgbClr val="E69F00"/>
      </a:accent5>
      <a:accent6>
        <a:srgbClr val="56B4E9"/>
      </a:accent6>
      <a:hlink>
        <a:srgbClr val="0563C1"/>
      </a:hlink>
      <a:folHlink>
        <a:srgbClr val="1A1A2E"/>
      </a:folHlink>
    </a:clrScheme>
    <a:fontScheme name="UMD">
      <a:majorFont>
        <a:latin typeface="Cambria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UMD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46</Words>
  <Application>Microsoft Macintosh PowerPoint</Application>
  <PresentationFormat>On-screen Show (16:9)</PresentationFormat>
  <Paragraphs>14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Cambria</vt:lpstr>
      <vt:lpstr>UMD Biostatistics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Lecture 11 - Single factor analysis of variance - ANOVA</dc:title>
  <dc:creator>Bill Perry</dc:creator>
  <cp:keywords/>
  <dcterms:created xsi:type="dcterms:W3CDTF">2026-06-30T20:50:15Z</dcterms:created>
  <dcterms:modified xsi:type="dcterms:W3CDTF">2026-06-30T20:50:15Z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uthors">
    <vt:lpwstr/>
  </property>
  <property fmtid="{D5CDD505-2E9C-101B-9397-08002B2CF9AE}" pid="3" name="biblio-config">
    <vt:lpwstr>True</vt:lpwstr>
  </property>
  <property fmtid="{D5CDD505-2E9C-101B-9397-08002B2CF9AE}" pid="4" name="by-author">
    <vt:lpwstr/>
  </property>
  <property fmtid="{D5CDD505-2E9C-101B-9397-08002B2CF9AE}" pid="5" name="engines">
    <vt:lpwstr/>
  </property>
  <property fmtid="{D5CDD505-2E9C-101B-9397-08002B2CF9AE}" pid="6" name="header-includes">
    <vt:lpwstr/>
  </property>
  <property fmtid="{D5CDD505-2E9C-101B-9397-08002B2CF9AE}" pid="7" name="include-after">
    <vt:lpwstr/>
  </property>
  <property fmtid="{D5CDD505-2E9C-101B-9397-08002B2CF9AE}" pid="8" name="include-before">
    <vt:lpwstr/>
  </property>
  <property fmtid="{D5CDD505-2E9C-101B-9397-08002B2CF9AE}" pid="9" name="labels">
    <vt:lpwstr/>
  </property>
  <property fmtid="{D5CDD505-2E9C-101B-9397-08002B2CF9AE}" pid="10" name="toc-title">
    <vt:lpwstr>Table of contents</vt:lpwstr>
  </property>
</Properties>
</file>