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1: Explore the Iris Dataset</a:t>
            </a:r>
          </a:p>
        </p:txBody>
      </p:sp>
      <p:sp>
        <p:nvSpPr>
          <p:cNvPr id="3" name="Content Placeholder 2"/>
          <p:cNvSpPr>
            <a:spLocks noGrp="1"/>
          </p:cNvSpPr>
          <p:nvPr>
            <p:ph idx="1" sz="half"/>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549400"/>
            <a:ext cx="5232400" cy="2616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latin typeface="Courier"/>
              </a:rPr>
              <a:t>[1] "PCA Summary:"</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latin typeface="Courier"/>
              </a:rPr>
              <a:t>[1] "Components with eigenvalue &gt; 1: 1"</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latin typeface="Courier"/>
              </a:rPr>
              <a:t>[1] "Component Loadings:"</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latin typeface="Courier"/>
              </a:rPr>
              <a:t>[1] "PC1 Loadings (all variables contribute similarly):"</a:t>
            </a:r>
          </a:p>
          <a:p>
            <a:pPr lvl="0" indent="0">
              <a:buNone/>
            </a:pPr>
            <a:r>
              <a:rPr>
                <a:latin typeface="Courier"/>
              </a:rPr>
              <a:t>sepal_length  sepal_width petal_length  petal_width 
       0.521       -0.269        0.580        0.565 </a:t>
            </a:r>
          </a:p>
          <a:p>
            <a:pPr lvl="0" indent="0">
              <a:buNone/>
            </a:pPr>
            <a:r>
              <a:rPr>
                <a:latin typeface="Courier"/>
              </a:rPr>
              <a:t>
PC1 Interpretation: Overall flower size</a:t>
            </a:r>
          </a:p>
          <a:p>
            <a:pPr lvl="0" indent="0">
              <a:buNone/>
            </a:pPr>
            <a:r>
              <a:rPr>
                <a:latin typeface="Courier"/>
              </a:rPr>
              <a:t>
- All variables have similar negative loadings</a:t>
            </a:r>
          </a:p>
          <a:p>
            <a:pPr lvl="0" indent="0">
              <a:buNone/>
            </a:pPr>
            <a:r>
              <a:rPr>
                <a:latin typeface="Courier"/>
              </a:rPr>
              <a:t>
- Higher PC1 values = smaller flowers overall</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latin typeface="Courier"/>
              </a:rPr>
              <a:t>[1] "PC2 Loadings:"</a:t>
            </a:r>
          </a:p>
          <a:p>
            <a:pPr lvl="0" indent="0">
              <a:buNone/>
            </a:pPr>
            <a:r>
              <a:rPr>
                <a:latin typeface="Courier"/>
              </a:rPr>
              <a:t>sepal_length  sepal_width petal_length  petal_width 
      -0.377       -0.923       -0.024       -0.067 </a:t>
            </a:r>
          </a:p>
          <a:p>
            <a:pPr lvl="0" indent="0">
              <a:buNone/>
            </a:pPr>
            <a:r>
              <a:rPr>
                <a:latin typeface="Courier"/>
              </a:rPr>
              <a:t>
PC2 Interpretation: Flower shape contrast</a:t>
            </a:r>
          </a:p>
          <a:p>
            <a:pPr lvl="0" indent="0">
              <a:buNone/>
            </a:pPr>
            <a:r>
              <a:rPr>
                <a:latin typeface="Courier"/>
              </a:rPr>
              <a:t>
- Positive loadings: sepal width</a:t>
            </a:r>
          </a:p>
          <a:p>
            <a:pPr lvl="0" indent="0">
              <a:buNone/>
            </a:pPr>
            <a:r>
              <a:rPr>
                <a:latin typeface="Courier"/>
              </a:rPr>
              <a:t>
- Negative loadings: petal length and width, sepal length</a:t>
            </a:r>
          </a:p>
          <a:p>
            <a:pPr lvl="0" indent="0">
              <a:buNone/>
            </a:pPr>
            <a:r>
              <a:rPr>
                <a:latin typeface="Courier"/>
              </a:rPr>
              <a:t>
- Higher PC2 = wider sepals relative to petal size</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2026-05-03T21:39:04Z</dcterms:created>
  <dcterms:modified xsi:type="dcterms:W3CDTF">2026-05-03T21:39:04Z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