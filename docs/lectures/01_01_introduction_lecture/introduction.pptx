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ran.r-project.org/" TargetMode="External" /><Relationship Id="rId3" Type="http://schemas.openxmlformats.org/officeDocument/2006/relationships/hyperlink" Target="https://positron.posit.co/download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01 —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question, our data, and a first look at what we will do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Syllabus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The syllabus has </a:t>
            </a:r>
            <a:r>
              <a:rPr b="1"/>
              <a:t>all the details</a:t>
            </a:r>
            <a:r>
              <a:rPr/>
              <a:t> — topics, grading, policies, schedule</a:t>
            </a:r>
          </a:p>
          <a:p>
            <a:pPr lvl="0"/>
            <a:r>
              <a:rPr/>
              <a:t>Read it before Thursday</a:t>
            </a:r>
          </a:p>
          <a:p>
            <a:pPr lvl="0"/>
            <a:r>
              <a:rPr/>
              <a:t>It will evolve — check Canvas for the current version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Key idea</a:t>
            </a:r>
          </a:p>
          <a:p>
            <a:pPr lvl="0" indent="0" marL="1270000">
              <a:buNone/>
            </a:pPr>
            <a:r>
              <a:rPr sz="2000"/>
              <a:t>The syllabus is the contract between us. If something is unclear, ask now — not at exam time.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Who am 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Bill Perry</a:t>
            </a:r>
            <a:r>
              <a:rPr/>
              <a:t> — call me Bill or Dr. Perry</a:t>
            </a:r>
          </a:p>
          <a:p>
            <a:pPr lvl="0"/>
            <a:r>
              <a:rPr/>
              <a:t>Office: Swenson Science Building 13</a:t>
            </a:r>
          </a:p>
          <a:p>
            <a:pPr lvl="0"/>
            <a:r>
              <a:rPr/>
              <a:t>Phone: 218-726-8145</a:t>
            </a:r>
          </a:p>
          <a:p>
            <a:pPr lvl="0"/>
            <a:r>
              <a:rPr/>
              <a:t>Email: wlperry@d.umn.edu</a:t>
            </a:r>
          </a:p>
          <a:p>
            <a:pPr lvl="0"/>
            <a:r>
              <a:rPr/>
              <a:t>Drop-in hours: Monday 12:15–1:15, Tuesday 2–3 (tentative)</a:t>
            </a:r>
          </a:p>
          <a:p>
            <a:pPr lvl="0"/>
            <a:r>
              <a:rPr/>
              <a:t>Lab: SSB 170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way to reach me:</a:t>
            </a:r>
            <a:r>
              <a:rPr sz="2000"/>
              <a:t> email or drop in. If I am in the lab I am usually around.</a:t>
            </a:r>
          </a:p>
        </p:txBody>
      </p:sp>
      <p:pic>
        <p:nvPicPr>
          <p:cNvPr descr="images/past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800" y="927100"/>
            <a:ext cx="44069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 · My goals for this course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Help you learn the tools to </a:t>
            </a:r>
            <a:r>
              <a:rPr b="1"/>
              <a:t>organize and present data</a:t>
            </a:r>
            <a:r>
              <a:rPr/>
              <a:t> from potentially very large datasets</a:t>
            </a:r>
          </a:p>
          <a:p>
            <a:pPr lvl="0"/>
            <a:r>
              <a:rPr/>
              <a:t>How to use </a:t>
            </a:r>
            <a:r>
              <a:rPr b="1"/>
              <a:t>Excel</a:t>
            </a:r>
            <a:r>
              <a:rPr/>
              <a:t> for some tasks — and when to stop using it</a:t>
            </a:r>
          </a:p>
          <a:p>
            <a:pPr lvl="0"/>
            <a:r>
              <a:rPr/>
              <a:t>How to use </a:t>
            </a:r>
            <a:r>
              <a:rPr b="1"/>
              <a:t>R</a:t>
            </a:r>
            <a:r>
              <a:rPr/>
              <a:t> — a coding language — to work with data and graphics</a:t>
            </a:r>
          </a:p>
          <a:p>
            <a:pPr lvl="0"/>
            <a:r>
              <a:rPr/>
              <a:t>How to </a:t>
            </a:r>
            <a:r>
              <a:rPr b="1"/>
              <a:t>organize, clean, summarize, and visualize</a:t>
            </a:r>
            <a:r>
              <a:rPr/>
              <a:t> data — the pipeline</a:t>
            </a:r>
          </a:p>
          <a:p>
            <a:pPr lvl="0"/>
            <a:r>
              <a:rPr/>
              <a:t>How to formulate and test </a:t>
            </a:r>
            <a:r>
              <a:rPr b="1"/>
              <a:t>hypotheses</a:t>
            </a:r>
          </a:p>
          <a:p>
            <a:pPr lvl="0"/>
            <a:r>
              <a:rPr/>
              <a:t>How to use </a:t>
            </a:r>
            <a:r>
              <a:rPr b="1"/>
              <a:t>statistics</a:t>
            </a:r>
            <a:r>
              <a:rPr/>
              <a:t> to test those hypotheses</a:t>
            </a:r>
          </a:p>
          <a:p>
            <a:pPr lvl="0"/>
            <a:r>
              <a:rPr/>
              <a:t>How to </a:t>
            </a:r>
            <a:r>
              <a:rPr b="1"/>
              <a:t>interpret</a:t>
            </a:r>
            <a:r>
              <a:rPr/>
              <a:t> what the data is telling us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The pipeline:</a:t>
            </a:r>
            <a:r>
              <a:rPr sz="2000"/>
              <a:t> raw data → clean → summarize → visualize → test → report This course teaches every step.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My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Communication</a:t>
            </a:r>
            <a:r>
              <a:rPr/>
              <a:t> — ask questions in class, in office hours, by email</a:t>
            </a:r>
          </a:p>
          <a:p>
            <a:pPr lvl="0"/>
            <a:r>
              <a:rPr b="1"/>
              <a:t>Practice</a:t>
            </a:r>
            <a:r>
              <a:rPr/>
              <a:t> — the only way to learn to code is to write code</a:t>
            </a:r>
          </a:p>
          <a:p>
            <a:pPr lvl="0"/>
            <a:r>
              <a:rPr b="1"/>
              <a:t>Failure</a:t>
            </a:r>
            <a:r>
              <a:rPr/>
              <a:t> — every error message is information; celebrate finding bugs</a:t>
            </a:r>
          </a:p>
          <a:p>
            <a:pPr lvl="0"/>
            <a:r>
              <a:rPr b="1"/>
              <a:t>Learn to troubleshoot</a:t>
            </a:r>
            <a:r>
              <a:rPr/>
              <a:t> — reading error messages is a skill we will practice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Getting stuck is not failing — it is the job.</a:t>
            </a:r>
          </a:p>
          <a:p>
            <a:pPr lvl="0" indent="0" marL="1270000">
              <a:buNone/>
            </a:pPr>
            <a:r>
              <a:rPr sz="2000"/>
              <a:t>Every working data scientist searches Google for error messages every single day.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I will do:</a:t>
            </a:r>
          </a:p>
          <a:p>
            <a:pPr lvl="0"/>
            <a:r>
              <a:rPr/>
              <a:t>Provide clear examples</a:t>
            </a:r>
          </a:p>
          <a:p>
            <a:pPr lvl="0"/>
            <a:r>
              <a:rPr/>
              <a:t>Walk through code line by line</a:t>
            </a:r>
          </a:p>
          <a:p>
            <a:pPr lvl="0"/>
            <a:r>
              <a:rPr/>
              <a:t>Give you real datasets to work with</a:t>
            </a:r>
          </a:p>
          <a:p>
            <a:pPr lvl="0" indent="0" marL="0">
              <a:buNone/>
            </a:pPr>
            <a:r>
              <a:rPr b="1"/>
              <a:t>What you need to do:</a:t>
            </a:r>
          </a:p>
          <a:p>
            <a:pPr lvl="0"/>
            <a:r>
              <a:rPr/>
              <a:t>Type the code yourself (do not copy-paste)</a:t>
            </a:r>
          </a:p>
          <a:p>
            <a:pPr lvl="0"/>
            <a:r>
              <a:rPr/>
              <a:t>Run it, break it, fix it</a:t>
            </a:r>
          </a:p>
          <a:p>
            <a:pPr lvl="0"/>
            <a:r>
              <a:rPr/>
              <a:t>Bring questions to class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Lecture 1 ·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Science is a way to </a:t>
            </a:r>
            <a:r>
              <a:rPr b="1"/>
              <a:t>acquire, organize, and apply knowledge</a:t>
            </a:r>
          </a:p>
          <a:p>
            <a:pPr lvl="0"/>
            <a:r>
              <a:rPr/>
              <a:t>We make </a:t>
            </a:r>
            <a:r>
              <a:rPr b="1"/>
              <a:t>predictions</a:t>
            </a:r>
            <a:r>
              <a:rPr/>
              <a:t> and test them with a </a:t>
            </a:r>
            <a:r>
              <a:rPr b="1"/>
              <a:t>falsifiable approach</a:t>
            </a:r>
            <a:r>
              <a:rPr/>
              <a:t> — statistics</a:t>
            </a:r>
          </a:p>
          <a:p>
            <a:pPr lvl="0"/>
            <a:r>
              <a:rPr/>
              <a:t>Explanations that </a:t>
            </a:r>
            <a:r>
              <a:rPr b="1"/>
              <a:t>cannot be tested or falsified</a:t>
            </a:r>
            <a:r>
              <a:rPr/>
              <a:t> are not science</a:t>
            </a:r>
          </a:p>
          <a:p>
            <a:pPr lvl="0" indent="0" marL="0">
              <a:buNone/>
            </a:pPr>
            <a:r>
              <a:rPr b="1"/>
              <a:t>Example:</a:t>
            </a:r>
          </a:p>
          <a:p>
            <a:pPr lvl="0"/>
            <a:r>
              <a:rPr/>
              <a:t>“Leaves on the shady side are bigger” </a:t>
            </a:r>
            <a:r>
              <a:rPr b="1"/>
              <a:t>testable</a:t>
            </a:r>
          </a:p>
          <a:p>
            <a:pPr lvl="0"/>
            <a:r>
              <a:rPr/>
              <a:t>“The forest has a spirit that controls leaf size” — </a:t>
            </a:r>
            <a:r>
              <a:rPr b="1"/>
              <a:t>not testable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Falsifiable</a:t>
            </a:r>
            <a:r>
              <a:rPr sz="2000"/>
              <a:t> = a prediction that could, in principle, be shown to be wrong.</a:t>
            </a:r>
          </a:p>
          <a:p>
            <a:pPr lvl="0" indent="0" marL="1270000">
              <a:buNone/>
            </a:pPr>
            <a:r>
              <a:rPr sz="2000"/>
              <a:t>A good hypothesis is one you could prove false.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Today · Real-world data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Talking about data science is </a:t>
            </a:r>
            <a:r>
              <a:rPr b="1"/>
              <a:t>super boring</a:t>
            </a:r>
          </a:p>
          <a:p>
            <a:pPr lvl="0"/>
            <a:r>
              <a:rPr/>
              <a:t>The only way to learn it is to </a:t>
            </a:r>
            <a:r>
              <a:rPr b="1"/>
              <a:t>do it</a:t>
            </a:r>
            <a:r>
              <a:rPr/>
              <a:t> — collect data, enter it, analyze it</a:t>
            </a:r>
          </a:p>
          <a:p>
            <a:pPr lvl="0"/>
            <a:r>
              <a:rPr/>
              <a:t>This lecture and the next will be about how to work with data from the </a:t>
            </a:r>
            <a:r>
              <a:rPr b="1"/>
              <a:t>very start</a:t>
            </a:r>
          </a:p>
          <a:p>
            <a:pPr lvl="0"/>
            <a:r>
              <a:rPr/>
              <a:t>Your task: </a:t>
            </a:r>
            <a:r>
              <a:rPr b="1"/>
              <a:t>collect data → organize it → enter it into a spreadsheet → develop metadata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Try it yourself</a:t>
            </a:r>
          </a:p>
          <a:p>
            <a:pPr lvl="0" indent="0" marL="1270000">
              <a:buNone/>
            </a:pPr>
            <a:r>
              <a:rPr sz="2000"/>
              <a:t>We are going to go outside, collect leaves, and build our first dataset today. That dataset will follow us for the first part of the course.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will we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We are going to </a:t>
            </a:r>
            <a:r>
              <a:rPr b="1"/>
              <a:t>measure something in nature</a:t>
            </a:r>
          </a:p>
          <a:p>
            <a:pPr lvl="0"/>
            <a:r>
              <a:rPr/>
              <a:t>Suggestion: leaf mass, width, length, and surface area from the </a:t>
            </a:r>
            <a:r>
              <a:rPr b="1"/>
              <a:t>sunny side vs. shady side</a:t>
            </a:r>
            <a:r>
              <a:rPr/>
              <a:t> of a tree</a:t>
            </a:r>
          </a:p>
          <a:p>
            <a:pPr lvl="1"/>
            <a:r>
              <a:rPr/>
              <a:t>Do leaves respond to light intensity?</a:t>
            </a:r>
          </a:p>
          <a:p>
            <a:pPr lvl="0"/>
            <a:r>
              <a:rPr b="1"/>
              <a:t>The null hypothesis (H₀):</a:t>
            </a:r>
          </a:p>
          <a:p>
            <a:pPr lvl="1"/>
            <a:r>
              <a:rPr i="1"/>
              <a:t>There is no difference in leaf size or shape between the two sides of a tree.</a:t>
            </a:r>
          </a:p>
          <a:p>
            <a:pPr lvl="0"/>
            <a:r>
              <a:rPr b="1"/>
              <a:t>The alternate hypothesis (Hₐ):</a:t>
            </a:r>
          </a:p>
          <a:p>
            <a:pPr lvl="1"/>
            <a:r>
              <a:rPr i="1"/>
              <a:t>Leaf size differs between the sunny and shady sides.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 indent="0" marL="1270000">
              <a:buNone/>
            </a:pPr>
            <a:r>
              <a:rPr sz="2000" b="1"/>
              <a:t>Null hypothesis (H₀)</a:t>
            </a:r>
            <a:r>
              <a:rPr sz="2000"/>
              <a:t> — the “nothing is happening” claim. Statistics will tell us whether the data are consistent with this or not.</a:t>
            </a:r>
          </a:p>
          <a:p>
            <a:pPr lvl="0" indent="0" marL="1270000">
              <a:buNone/>
            </a:pPr>
            <a:r>
              <a:rPr sz="2000" b="1"/>
              <a:t>Alternate hypothesis (Hₐ)</a:t>
            </a:r>
            <a:r>
              <a:rPr sz="2000"/>
              <a:t> — the claim we think might be true.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does leaf size vary?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Does the sunny side vs. shady side of a tree differ due to light?</a:t>
            </a:r>
          </a:p>
          <a:p>
            <a:pPr lvl="1"/>
            <a:r>
              <a:rPr b="1"/>
              <a:t>Predict:</a:t>
            </a:r>
            <a:r>
              <a:rPr/>
              <a:t> what do you think will happen before we collect any data?</a:t>
            </a:r>
          </a:p>
          <a:p>
            <a:pPr lvl="2"/>
            <a:r>
              <a:rPr i="1"/>
              <a:t>Your prediction:</a:t>
            </a:r>
          </a:p>
          <a:p>
            <a:pPr lvl="1"/>
            <a:r>
              <a:rPr b="1"/>
              <a:t>Hypothesize:</a:t>
            </a:r>
            <a:r>
              <a:rPr/>
              <a:t> what is the formal testable statement?</a:t>
            </a:r>
          </a:p>
          <a:p>
            <a:pPr lvl="2"/>
            <a:r>
              <a:rPr i="1"/>
              <a:t>Your null hypothesis: ____________________________</a:t>
            </a:r>
          </a:p>
          <a:p>
            <a:pPr lvl="2"/>
            <a:r>
              <a:rPr i="1"/>
              <a:t>Your alternate hypothesis: ____________________________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Key distinction</a:t>
            </a:r>
          </a:p>
          <a:p>
            <a:pPr lvl="0"/>
            <a:r>
              <a:rPr sz="2000"/>
              <a:t>A </a:t>
            </a:r>
            <a:r>
              <a:rPr sz="2000" b="1"/>
              <a:t>prediction</a:t>
            </a:r>
            <a:r>
              <a:rPr sz="2000"/>
              <a:t> says what you think will happen and usually has a direction.</a:t>
            </a:r>
          </a:p>
          <a:p>
            <a:pPr lvl="0"/>
            <a:r>
              <a:rPr sz="2000"/>
              <a:t>A </a:t>
            </a:r>
            <a:r>
              <a:rPr sz="2000" b="1"/>
              <a:t>hypothesis</a:t>
            </a:r>
            <a:r>
              <a:rPr sz="2000"/>
              <a:t> is a formal statement that can be accepted or rejected with data.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How would we collect data to test this?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we collect leaves from </a:t>
            </a:r>
            <a:r>
              <a:rPr b="1"/>
              <a:t>one tree</a:t>
            </a:r>
            <a:r>
              <a:rPr/>
              <a:t> to do this?</a:t>
            </a:r>
          </a:p>
          <a:p>
            <a:pPr lvl="1"/>
            <a:r>
              <a:rPr/>
              <a:t>YES? or no NO?</a:t>
            </a:r>
          </a:p>
          <a:p>
            <a:pPr lvl="1"/>
            <a:r>
              <a:rPr b="1"/>
              <a:t>Discuss</a:t>
            </a:r>
          </a:p>
          <a:p>
            <a:pPr lvl="0"/>
            <a:r>
              <a:rPr/>
              <a:t>What is the problem with using only one tree?</a:t>
            </a:r>
          </a:p>
          <a:p>
            <a:pPr lvl="0"/>
            <a:r>
              <a:rPr/>
              <a:t>How might results from many trees differ from one tree?</a:t>
            </a:r>
          </a:p>
          <a:p>
            <a:pPr lvl="0"/>
            <a:r>
              <a:rPr/>
              <a:t>Do we need to be sure our sample is </a:t>
            </a:r>
            <a:r>
              <a:rPr b="1"/>
              <a:t>randomly selected</a:t>
            </a:r>
            <a:r>
              <a:rPr/>
              <a:t>?</a:t>
            </a:r>
          </a:p>
          <a:p>
            <a:pPr lvl="1"/>
            <a:r>
              <a:rPr/>
              <a:t>Why do we need to randomize?</a:t>
            </a:r>
          </a:p>
          <a:p>
            <a:pPr lvl="1"/>
            <a:r>
              <a:rPr/>
              <a:t>How can we randomize our sampling?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Replication and randomization</a:t>
            </a:r>
          </a:p>
          <a:p>
            <a:pPr lvl="0" indent="0" marL="1270000">
              <a:buNone/>
            </a:pPr>
            <a:r>
              <a:rPr sz="2000"/>
              <a:t>These two principles are the foundation of all experimental design. One tree is a sample size of one — we cannot generalize from that.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variables could we record?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What variables could we record about the </a:t>
            </a:r>
            <a:r>
              <a:rPr b="1"/>
              <a:t>tree</a:t>
            </a:r>
            <a:r>
              <a:rPr/>
              <a:t>?</a:t>
            </a:r>
          </a:p>
          <a:p>
            <a:pPr lvl="0"/>
            <a:r>
              <a:rPr/>
              <a:t>What variables could we record about the </a:t>
            </a:r>
            <a:r>
              <a:rPr b="1"/>
              <a:t>leaf</a:t>
            </a:r>
            <a:r>
              <a:rPr/>
              <a:t>?</a:t>
            </a:r>
          </a:p>
          <a:p>
            <a:pPr lvl="0" indent="0" marL="0">
              <a:buNone/>
            </a:pPr>
            <a:r>
              <a:rPr b="1"/>
              <a:t>Dependent variable (response):</a:t>
            </a:r>
            <a:r>
              <a:rPr/>
              <a:t> - The thing we measure — it </a:t>
            </a:r>
            <a:r>
              <a:rPr i="1"/>
              <a:t>depends on</a:t>
            </a:r>
            <a:r>
              <a:rPr/>
              <a:t> our treatment - Example: leaf mass, leaf area</a:t>
            </a:r>
          </a:p>
          <a:p>
            <a:pPr lvl="0" indent="0" marL="0">
              <a:buNone/>
            </a:pPr>
            <a:r>
              <a:rPr b="1"/>
              <a:t>Independent variable (explanatory):</a:t>
            </a:r>
            <a:r>
              <a:rPr/>
              <a:t> - The thing we control or group by - Example: side of tree (sunny vs. shady)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Dependent variable</a:t>
            </a:r>
            <a:r>
              <a:rPr sz="2000"/>
              <a:t> → what you measure (Y)</a:t>
            </a:r>
          </a:p>
          <a:p>
            <a:pPr lvl="0"/>
            <a:r>
              <a:rPr sz="2000" b="1"/>
              <a:t>Independent variable</a:t>
            </a:r>
            <a:r>
              <a:rPr sz="2000"/>
              <a:t> → what you control or group by (X)</a:t>
            </a:r>
          </a:p>
          <a:p>
            <a:pPr lvl="1"/>
            <a:r>
              <a:rPr sz="2000"/>
              <a:t>In a graph: Y goes on the vertical axis, X goes on the horizontal axis.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Each group needs to collect at least 2 pairs of leaves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Collect </a:t>
            </a:r>
            <a:r>
              <a:rPr b="1"/>
              <a:t>1 mature leaf from the sunny side</a:t>
            </a:r>
            <a:r>
              <a:rPr/>
              <a:t> and </a:t>
            </a:r>
            <a:r>
              <a:rPr b="1"/>
              <a:t>1 from the shady side</a:t>
            </a:r>
            <a:r>
              <a:rPr/>
              <a:t> of the same tree</a:t>
            </a:r>
          </a:p>
          <a:p>
            <a:pPr lvl="0"/>
            <a:r>
              <a:rPr/>
              <a:t>Do this on </a:t>
            </a:r>
            <a:r>
              <a:rPr b="1"/>
              <a:t>at least 2 separate trees</a:t>
            </a:r>
            <a:r>
              <a:rPr/>
              <a:t> (we share trees since we are limited)</a:t>
            </a:r>
          </a:p>
          <a:p>
            <a:pPr lvl="0"/>
            <a:r>
              <a:rPr/>
              <a:t>Standardize your collection: </a:t>
            </a:r>
            <a:r>
              <a:rPr b="1"/>
              <a:t>(DISCUSS AND FIGURE IT OUT BY YOURSELVES)</a:t>
            </a:r>
          </a:p>
          <a:p>
            <a:pPr lvl="1"/>
            <a:r>
              <a:rPr/>
              <a:t>How high do we collect from?</a:t>
            </a:r>
          </a:p>
          <a:p>
            <a:pPr lvl="1"/>
            <a:r>
              <a:rPr/>
              <a:t>What does “mature” mean?</a:t>
            </a:r>
          </a:p>
          <a:p>
            <a:pPr lvl="1"/>
            <a:r>
              <a:rPr/>
              <a:t>Any other decisions to standardize?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If everyone collects differently (different heights, different leaf ages), we cannot combine our data.</a:t>
            </a:r>
          </a:p>
          <a:p>
            <a:pPr lvl="0" indent="0" marL="1270000">
              <a:buNone/>
            </a:pPr>
            <a:r>
              <a:rPr sz="2000" b="1"/>
              <a:t>Agree on the rules or methods before collecting…..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Back in the lab · Before we begin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What can we measure?</a:t>
            </a:r>
          </a:p>
          <a:p>
            <a:pPr lvl="1"/>
            <a:r>
              <a:rPr/>
              <a:t>mass (grams)</a:t>
            </a:r>
          </a:p>
          <a:p>
            <a:pPr lvl="1"/>
            <a:r>
              <a:rPr/>
              <a:t>length (mm or cm)</a:t>
            </a:r>
          </a:p>
          <a:p>
            <a:pPr lvl="1"/>
            <a:r>
              <a:rPr/>
              <a:t>width (mm or cm)</a:t>
            </a:r>
          </a:p>
          <a:p>
            <a:pPr lvl="1"/>
            <a:r>
              <a:rPr/>
              <a:t>surface area (cm²) — how?</a:t>
            </a:r>
          </a:p>
          <a:p>
            <a:pPr lvl="1"/>
            <a:r>
              <a:rPr/>
              <a:t>others?</a:t>
            </a:r>
          </a:p>
          <a:p>
            <a:pPr lvl="0"/>
            <a:r>
              <a:rPr b="1"/>
              <a:t>Decisions to make as a group:</a:t>
            </a:r>
          </a:p>
          <a:p>
            <a:pPr lvl="1"/>
            <a:r>
              <a:rPr/>
              <a:t>What units?</a:t>
            </a:r>
          </a:p>
          <a:p>
            <a:pPr lvl="1"/>
            <a:r>
              <a:rPr/>
              <a:t>What abbreviations or vocabulary for the variables?</a:t>
            </a:r>
          </a:p>
          <a:p>
            <a:pPr lvl="1"/>
            <a:r>
              <a:rPr/>
              <a:t>What if a leaf is damaged?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📖 New vocabulary</a:t>
            </a:r>
          </a:p>
          <a:p>
            <a:pPr lvl="0"/>
            <a:r>
              <a:rPr sz="2000" b="1"/>
              <a:t>Metadata</a:t>
            </a:r>
            <a:r>
              <a:rPr sz="2000"/>
              <a:t> = data </a:t>
            </a:r>
            <a:r>
              <a:rPr sz="2000" i="1"/>
              <a:t>about</a:t>
            </a:r>
            <a:r>
              <a:rPr sz="2000"/>
              <a:t> your data.</a:t>
            </a:r>
          </a:p>
          <a:p>
            <a:pPr lvl="0"/>
            <a:r>
              <a:rPr sz="2000"/>
              <a:t>Who collected it? When? Where? With what instrument? Under what conditions?</a:t>
            </a:r>
          </a:p>
          <a:p>
            <a:pPr lvl="0"/>
            <a:r>
              <a:rPr sz="2000"/>
              <a:t>Without metadata, data are nearly useless to anyone else — including future you.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Back in the lab · Setting up the spreadsheet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How do you enter this into the Excel sheet?</a:t>
            </a:r>
          </a:p>
          <a:p>
            <a:pPr lvl="1"/>
            <a:r>
              <a:rPr/>
              <a:t>What does the sheet look like? Mock something up</a:t>
            </a:r>
          </a:p>
          <a:p>
            <a:pPr lvl="0"/>
            <a:r>
              <a:rPr/>
              <a:t>What are the </a:t>
            </a:r>
            <a:r>
              <a:rPr b="1"/>
              <a:t>column names</a:t>
            </a:r>
            <a:r>
              <a:rPr/>
              <a:t> you will use?</a:t>
            </a:r>
          </a:p>
          <a:p>
            <a:pPr lvl="0"/>
            <a:r>
              <a:rPr/>
              <a:t>What are the </a:t>
            </a:r>
            <a:r>
              <a:rPr b="1"/>
              <a:t>units</a:t>
            </a:r>
            <a:r>
              <a:rPr/>
              <a:t> for each column?</a:t>
            </a:r>
          </a:p>
          <a:p>
            <a:pPr lvl="0"/>
            <a:r>
              <a:rPr/>
              <a:t>What is the </a:t>
            </a:r>
            <a:r>
              <a:rPr b="1"/>
              <a:t>vocabulary</a:t>
            </a:r>
            <a:r>
              <a:rPr/>
              <a:t>? (no spaces in column names, use </a:t>
            </a:r>
            <a:r>
              <a:rPr>
                <a:latin typeface="Courier"/>
              </a:rPr>
              <a:t>_</a:t>
            </a:r>
            <a:r>
              <a:rPr/>
              <a:t> instead)</a:t>
            </a:r>
          </a:p>
          <a:p>
            <a:pPr lvl="0"/>
            <a:r>
              <a:rPr/>
              <a:t>Where does the </a:t>
            </a:r>
            <a:r>
              <a:rPr b="1"/>
              <a:t>metadata</a:t>
            </a:r>
            <a:r>
              <a:rPr/>
              <a:t> go?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Best practice for column names:</a:t>
            </a:r>
          </a:p>
          <a:p>
            <a:pPr lvl="0" indent="0" marL="1270000">
              <a:buNone/>
            </a:pPr>
            <a:r>
              <a:rPr sz="2000">
                <a:latin typeface="Courier"/>
              </a:rPr>
              <a:t>leaf_mass_g</a:t>
            </a:r>
            <a:r>
              <a:rPr sz="2000"/>
              <a:t>, not </a:t>
            </a:r>
            <a:r>
              <a:rPr sz="2000">
                <a:latin typeface="Courier"/>
              </a:rPr>
              <a:t>Leaf Mass (g) - why???</a:t>
            </a:r>
          </a:p>
          <a:p>
            <a:pPr lvl="0" indent="0" marL="1270000">
              <a:buNone/>
            </a:pPr>
            <a:r>
              <a:rPr sz="2000"/>
              <a:t>Consistent, no spaces, no special characters, units in the name and all lower case - why?????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 you make a graph in Excel?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Using what you collected, make a simple Excel chart</a:t>
            </a:r>
          </a:p>
          <a:p>
            <a:pPr lvl="1"/>
            <a:r>
              <a:rPr/>
              <a:t>What would the graph look like?</a:t>
            </a:r>
          </a:p>
          <a:p>
            <a:pPr lvl="1"/>
            <a:r>
              <a:rPr/>
              <a:t>What goes on the X axis? The Y axis?</a:t>
            </a:r>
          </a:p>
          <a:p>
            <a:pPr lvl="1"/>
            <a:r>
              <a:rPr/>
              <a:t>What can you derive from the data already?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Excel is great for a first look. But as datasets grow larger and analyses more complex, we need another approach - R.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R code looks like · A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do not need to understand this yet — just look at the shape of it.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tools we need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(readxl)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Read our leaf data into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&lt;- </a:t>
            </a:r>
            <a:r>
              <a:rPr>
                <a:solidFill>
                  <a:srgbClr val="4758AB"/>
                </a:solidFill>
                <a:latin typeface="Courier"/>
              </a:rPr>
              <a:t>read_excel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"data/tree_experiment.xlsx"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Compute the mean weight for each side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tree_df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(side)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mean_weight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(weight_g))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Make a plot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(tree_df,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side,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weight_g))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geom_boxplot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Notice</a:t>
            </a:r>
          </a:p>
          <a:p>
            <a:pPr lvl="0" indent="0" marL="1270000">
              <a:buNone/>
            </a:pPr>
            <a:r>
              <a:rPr sz="2000"/>
              <a:t>It reads almost like English: </a:t>
            </a:r>
            <a:r>
              <a:rPr sz="2000" i="1"/>
              <a:t>take tree_df, then group by side, then compute the mean</a:t>
            </a:r>
            <a:r>
              <a:rPr sz="2000"/>
              <a:t>. That is the goal — code that tells a clear story.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Before Thursday · Install R and Positron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Downloading R and Positron: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R</a:t>
            </a:r>
            <a:r>
              <a:rPr/>
              <a:t> — </a:t>
            </a:r>
            <a:r>
              <a:rPr>
                <a:hlinkClick r:id="rId2"/>
              </a:rPr>
              <a:t>cran.r-project.org</a:t>
            </a:r>
          </a:p>
          <a:p>
            <a:pPr lvl="1"/>
            <a:r>
              <a:rPr/>
              <a:t>Installs to your computer — can you find it?</a:t>
            </a:r>
          </a:p>
          <a:p>
            <a:pPr lvl="0" indent="-342900" marL="342900">
              <a:buAutoNum type="arabicPeriod"/>
            </a:pPr>
            <a:r>
              <a:rPr/>
              <a:t>Download </a:t>
            </a:r>
            <a:r>
              <a:rPr b="1"/>
              <a:t>Positron</a:t>
            </a:r>
            <a:r>
              <a:rPr/>
              <a:t> — </a:t>
            </a:r>
            <a:r>
              <a:rPr>
                <a:hlinkClick r:id="rId3"/>
              </a:rPr>
              <a:t>positron.posit.co</a:t>
            </a:r>
          </a:p>
          <a:p>
            <a:pPr lvl="1"/>
            <a:r>
              <a:rPr/>
              <a:t>Install </a:t>
            </a:r>
            <a:r>
              <a:rPr b="1"/>
              <a:t>R first</a:t>
            </a:r>
            <a:r>
              <a:rPr/>
              <a:t>, then Positron — Positron needs to find R on your machine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⚠️ Watch out!</a:t>
            </a:r>
          </a:p>
          <a:p>
            <a:pPr lvl="0" indent="0" marL="1270000">
              <a:buNone/>
            </a:pPr>
            <a:r>
              <a:rPr sz="2000"/>
              <a:t>Install R first, then Positron. If you install Positron first, it may not find R automatically.</a:t>
            </a:r>
          </a:p>
          <a:p>
            <a:pPr lvl="0" indent="0" marL="0">
              <a:buNone/>
            </a:pPr>
            <a:r>
              <a:rPr i="1"/>
              <a:t>See you Thursday — bring your laptop and the leaf data you entered in Excel.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01 — Introduction</dc:title>
  <dc:creator>Bill Perry</dc:creator>
  <cp:keywords/>
  <dc:description>Course logistics and syllabus overview, why we use R alongside Excel, and a first look at what a data science workflow looks like.</dc:description>
  <dcterms:created xsi:type="dcterms:W3CDTF">2026-07-02T19:41:25Z</dcterms:created>
  <dcterms:modified xsi:type="dcterms:W3CDTF">2026-07-02T19:41:25Z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2026-07-02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</vt:lpwstr>
  </property>
  <property fmtid="{D5CDD505-2E9C-101B-9397-08002B2CF9AE}" pid="14" name="resources">
    <vt:lpwstr/>
  </property>
  <property fmtid="{D5CDD505-2E9C-101B-9397-08002B2CF9AE}" pid="15" name="subtitle">
    <vt:lpwstr>Our question, our data, and a first look at what we will do</vt:lpwstr>
  </property>
  <property fmtid="{D5CDD505-2E9C-101B-9397-08002B2CF9AE}" pid="16" name="toc-title">
    <vt:lpwstr>Table of contents</vt:lpwstr>
  </property>
  <property fmtid="{D5CDD505-2E9C-101B-9397-08002B2CF9AE}" pid="17" name="type">
    <vt:lpwstr>lecture</vt:lpwstr>
  </property>
  <property fmtid="{D5CDD505-2E9C-101B-9397-08002B2CF9AE}" pid="18" name="week">
    <vt:lpwstr>1</vt:lpwstr>
  </property>
</Properties>
</file>