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 F Tests - Tukey and others</a:t>
            </a:r>
          </a:p>
          <a:p>
            <a:pPr lvl="0"/>
            <a:r>
              <a:rPr/>
              <a:t>Reporting the results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12: Factorial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2-factor designs (2-way ANOVA)</a:t>
            </a:r>
          </a:p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 but interpretation gets very challenging…</a:t>
            </a:r>
          </a:p>
          <a:p>
            <a:pPr lvl="0"/>
            <a:r>
              <a:rPr/>
              <a:t>Most multifactor designs: are factorial or nested</a:t>
            </a:r>
          </a:p>
          <a:p>
            <a:pPr lvl="0"/>
            <a:r>
              <a:rPr/>
              <a:t>We will cover a 2 Factor Anova - this could be fertilizer and sunlight for plant biomass produced…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in this example…</a:t>
            </a:r>
          </a:p>
          <a:p>
            <a:pPr lvl="2"/>
            <a:r>
              <a:rPr/>
              <a:t>a low light and high light treatment might affect biomass</a:t>
            </a:r>
          </a:p>
          <a:p>
            <a:pPr lvl="2"/>
            <a:r>
              <a:rPr/>
              <a:t>fertilizer also might affect plant biomass</a:t>
            </a:r>
          </a:p>
          <a:p>
            <a:pPr lvl="2"/>
            <a:r>
              <a:rPr/>
              <a:t>but when you have higher light the high fertilizer treatment may grow better than expected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92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Consider two factors:</a:t>
            </a:r>
          </a:p>
          <a:p>
            <a:pPr lvl="0"/>
            <a:r>
              <a:rPr/>
              <a:t>Factorial/crossed:</a:t>
            </a:r>
          </a:p>
          <a:p>
            <a:pPr lvl="1"/>
            <a:r>
              <a:rPr/>
              <a:t>every level of B in every level of A</a:t>
            </a:r>
            <a:br/>
          </a:p>
          <a:p>
            <a:pPr lvl="2" indent="0" marL="685800">
              <a:buNone/>
            </a:pP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5700" y="660400"/>
            <a:ext cx="2552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factorial designs</a:t>
            </a:r>
          </a:p>
          <a:p>
            <a:pPr lvl="0"/>
            <a:r>
              <a:rPr/>
              <a:t>look at two types of factor effects:</a:t>
            </a:r>
          </a:p>
          <a:p>
            <a:pPr lvl="1"/>
            <a:r>
              <a:rPr b="1"/>
              <a:t>Main effect of each factor</a:t>
            </a:r>
            <a:r>
              <a:rPr/>
              <a:t> (polling across other factor)</a:t>
            </a:r>
          </a:p>
          <a:p>
            <a:pPr lvl="1"/>
            <a:r>
              <a:rPr b="1"/>
              <a:t>Interaction effects;</a:t>
            </a:r>
            <a:r>
              <a:rPr/>
              <a:t> is there synergistic/ antagonistic effect of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24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Factorial Designs</a:t>
            </a:r>
          </a:p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/>
              <a:t>Balanced design: equal sample sizes in all cells</a:t>
            </a:r>
          </a:p>
          <a:p>
            <a:pPr lvl="0"/>
            <a:r>
              <a:rPr/>
              <a:t>Type III sums of squares for unbiased estimates - if balanced it does not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- Creating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the Penguin Data</a:t>
            </a:r>
          </a:p>
          <a:p>
            <a:pPr lvl="0" indent="0" marL="0">
              <a:buNone/>
            </a:pPr>
            <a:r>
              <a:rPr/>
              <a:t>The dataframe of penguins is unbalanced - there are unequal samples per cell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/>
                  <a:t>Statistical Mode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grand mean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species 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sex j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interaction effect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random error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 by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12_01_lecture_powerpoint_files/figure-pptx/box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- 2 fixed factors - the focus for today….</a:t>
                </a:r>
              </a:p>
              <a:p>
                <a:pPr lvl="0"/>
                <a:r>
                  <a:rPr/>
                  <a:t>Model 2 - 2 random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- 1 fixed, 1 random (mixed model) - often nested</a:t>
                </a:r>
              </a:p>
              <a:p>
                <a:pPr lvl="0" indent="0" marL="0">
                  <a:buNone/>
                </a:pPr>
                <a:r>
                  <a:rPr/>
                  <a:t>Model 1 ANOVA: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Components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</a:t>
                </a:r>
                <a:r>
                  <a:rPr baseline="-25000"/>
                  <a:t>th</a:t>
                </a:r>
                <a:r>
                  <a:rPr/>
                  <a:t> observation from jth and ith combination of B and A (sex m of species y)</a:t>
                </a:r>
              </a:p>
              <a:p>
                <a:pPr lvl="0"/>
                <a:r>
                  <a:rPr/>
                  <a:t>µ: overall mean (overall mass)</a:t>
                </a:r>
              </a:p>
              <a:p>
                <a:pPr lvl="0"/>
                <a:r>
                  <a:rPr/>
                  <a:t>αi: effect of the ith level of A, pooling across all levels of B: µi- µ (difference between average mass in all “males” for species x and overall mean)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Βj: effect of jth level of B, pooling across all levels of A: µj- µ (difference between average mass in all males treatments and overall mean)</a:t>
                </a:r>
              </a:p>
              <a:p>
                <a:pPr lvl="0"/>
                <a:r>
                  <a:rPr/>
                  <a:t>(αβ)ij: effect of interaction of ith level of A and jth level of B (µij - µi - µj + µ).</a:t>
                </a:r>
              </a:p>
              <a:p>
                <a:pPr lvl="1"/>
                <a:r>
                  <a:rPr/>
                  <a:t>Does effect of B depend on level of A? (is effect of sex different in the 3 species?)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:r>
                  <a:rPr/>
                  <a:t>βj: random variable measuring variance in y across all possible levels of B, pooling across all levels of A</a:t>
                </a:r>
              </a:p>
              <a:p>
                <a:pPr lvl="1"/>
                <a:r>
                  <a:rPr/>
                  <a:t>(αβ)ij is random variable measuring variance of interaction between A and B across all possible levels of B (“is effect of A consistent across all possible levels of B that could have been chosen?”)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\n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SStotal = SSA + SSB + SSAB + SSresidual</a:t>
            </a:r>
          </a:p>
          <a:p>
            <a:pPr lvl="0"/>
            <a:r>
              <a:rPr/>
              <a:t>SStotal = (Y - Grand Mean Y)^2</a:t>
            </a:r>
          </a:p>
          <a:p>
            <a:pPr lvl="0"/>
            <a:r>
              <a:rPr/>
              <a:t>SSresidual = (Y -Yhat)^2 or the difference between each observation and the appropriate cell mean, summed over all observations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 is SS of differences between each marginal mean of A and overall mean</a:t>
            </a:r>
          </a:p>
          <a:p>
            <a:pPr lvl="0"/>
            <a:r>
              <a:rPr/>
              <a:t>If A is species then get the emmeans for factor A down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SSB is SS of differences between each marginal mean of B and overall mean</a:t>
            </a:r>
          </a:p>
          <a:p>
            <a:pPr lvl="0"/>
            <a:r>
              <a:rPr/>
              <a:t>If B is sex then get the emmeans for factor B across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SSAB is SS of cell means minus marginal means plus overall mean</a:t>
            </a:r>
          </a:p>
        </p:txBody>
      </p:sp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748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F-ratio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 converted to MS;</a:t>
            </a:r>
          </a:p>
          <a:p>
            <a:pPr lvl="0"/>
            <a:r>
              <a:rPr/>
              <a:t>F-ratio calculations are different depending on whether factors are fixed, random or mixed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Fixed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</a:t>
            </a:r>
          </a:p>
          <a:p>
            <a:pPr lvl="0"/>
            <a:r>
              <a:rPr/>
              <a:t>A, B, A*B Both factors fixed: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µ1= µ2= µ3=…. µj= µq (no diff. in marginal means of B, pooling across all levels of A)</a:t>
            </a:r>
          </a:p>
          <a:p>
            <a:pPr lvl="1"/>
            <a:r>
              <a:rPr/>
              <a:t>Ho(AB): µij- µi - µj + µ = 0 (no effect of interaction)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Mixed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 A, B, A*B</a:t>
            </a:r>
          </a:p>
          <a:p>
            <a:pPr lvl="0"/>
            <a:r>
              <a:rPr/>
              <a:t>One fixed, one random: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σB2= 0 (no added variance due to levels of B that could have been used)</a:t>
            </a:r>
          </a:p>
          <a:p>
            <a:pPr lvl="1"/>
            <a:r>
              <a:rPr/>
              <a:t>Ho(AB): σAB2= 0 (no added variance due to interaction between all levels of A and B that could have been used)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lets try the example with the penguin data that is in the package penguin</a:t>
            </a:r>
          </a:p>
          <a:p>
            <a:pPr lvl="0"/>
            <a:r>
              <a:rPr/>
              <a:t>Effect of species and sex on body_mass_g</a:t>
            </a:r>
          </a:p>
          <a:p>
            <a:pPr lvl="1"/>
            <a:r>
              <a:rPr/>
              <a:t>3 species (factor A)</a:t>
            </a:r>
          </a:p>
          <a:p>
            <a:pPr lvl="1"/>
            <a:r>
              <a:rPr/>
              <a:t>2 sexes (factor B)</a:t>
            </a:r>
          </a:p>
          <a:p>
            <a:pPr lvl="1"/>
            <a:r>
              <a:rPr/>
              <a:t>34 replicates in each cell</a:t>
            </a:r>
          </a:p>
          <a:p>
            <a:pPr lvl="1"/>
            <a:r>
              <a:rPr/>
              <a:t>This analysis examines the effects of species and sex on the body mass of penguins.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the Model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</a:t>
            </a:r>
            <a:r>
              <a:rPr/>
              <a:t>: Tested after adjusting for sex and interaction</a:t>
            </a:r>
          </a:p>
          <a:p>
            <a:pPr lvl="0"/>
            <a:r>
              <a:rPr b="1"/>
              <a:t>Sex effect</a:t>
            </a:r>
            <a:r>
              <a:rPr/>
              <a:t>: Tested after adjusting for species and interaction</a:t>
            </a:r>
          </a:p>
          <a:p>
            <a:pPr lvl="0"/>
            <a:r>
              <a:rPr b="1"/>
              <a:t>Interaction</a:t>
            </a:r>
            <a:r>
              <a:rPr/>
              <a:t>: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Effect Sizes (Eta-squared):
##        Effect Eta_Squared
## 1     Species  0.67696748
## 2         Sex  0.16968160
## 3 Interaction  0.01290854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Plots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should be the plot of the 4 assumption plots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the formal tests of</a:t>
            </a:r>
          </a:p>
          <a:p>
            <a:pPr lvl="1"/>
            <a:r>
              <a:rPr/>
              <a:t>normality of residuals</a:t>
            </a:r>
          </a:p>
          <a:p>
            <a:pPr lvl="1"/>
            <a:r>
              <a:rPr/>
              <a:t>homogeneity of variances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(EMMs)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"Species pairwise comparisons:\n"
##  contrast           estimate SE  df t.ratio p.value
##  Adelie - Chinstrap    -41.5 52 198  -0.799  0.7041
##  Adelie - Gentoo     -1411.4 52 198 -27.145 &lt;0.0001
##  Chinstrap - Gentoo  -1369.9 52 198 -26.346 &lt;0.0001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&lt;0.0001
##  Chinstrap - Gentoo    -1154 73.5 198 -15.690 &lt;0.0001
## 
## sex = male:
##  contrast           estimate   SE  df t.ratio p.value
##  Adelie - Chinstrap      110 73.5 198   1.490  0.2979
##  Adelie - Gentoo       -1476 73.5 198 -20.079 &lt;0.0001
##  Chinstrap - Gentoo    -1586 73.5 198 -21.569 &lt;0.0001
## 
## P value adjustment: tukey method for comparing a family of 3 estimates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F 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need to do if the interaction is significant is to test the overall interaction and ignore the main effects!!!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Challenge of Unbalanced Data</a:t>
                </a:r>
              </a:p>
              <a:p>
                <a:pPr lvl="0"/>
                <a:r>
                  <a:rPr/>
                  <a:t>Real-world data is often unbalanced:</a:t>
                </a:r>
              </a:p>
              <a:p>
                <a:pPr lvl="1"/>
                <a:r>
                  <a:rPr/>
                  <a:t>Unequal sample sizes across groups</a:t>
                </a:r>
              </a:p>
              <a:p>
                <a:pPr lvl="1"/>
                <a:r>
                  <a:rPr/>
                  <a:t>Missing data patterns</a:t>
                </a:r>
              </a:p>
              <a:p>
                <a:pPr lvl="1"/>
                <a:r>
                  <a:rPr/>
                  <a:t>Natural variation in sampling</a:t>
                </a:r>
              </a:p>
              <a:p>
                <a:pPr lvl="0"/>
                <a:r>
                  <a:rPr/>
                  <a:t>Key Issues:</a:t>
                </a:r>
              </a:p>
              <a:p>
                <a:pPr lvl="1"/>
                <a:r>
                  <a:rPr/>
                  <a:t>Type I, II, and III SS give different results</a:t>
                </a:r>
              </a:p>
              <a:p>
                <a:pPr lvl="1"/>
                <a:r>
                  <a:rPr/>
                  <a:t>Order of terms matters for Type I SS</a:t>
                </a:r>
              </a:p>
              <a:p>
                <a:pPr lvl="1"/>
                <a:r>
                  <a:rPr/>
                  <a:t>Marginal means ≠ Simple averages Interpretation becomes complex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parameter estimation differs!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 Preparation - Using Natural Unbalanced Data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Imbalance</a:t>
            </a:r>
          </a:p>
        </p:txBody>
      </p:sp>
      <p:pic>
        <p:nvPicPr>
          <p:cNvPr descr="12_01_lecture_powerpoint_files/figure-pptx/visualize_imbal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Sums of Squares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 (Sequential)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Type I SS (Species → Sex →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→ Species →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 SS Works</a:t>
            </a:r>
          </a:p>
          <a:p>
            <a:pPr lvl="0" indent="0" marL="0">
              <a:buNone/>
            </a:pPr>
            <a:r>
              <a:rPr b="1"/>
              <a:t>Sequential decomposition:</a:t>
            </a:r>
          </a:p>
          <a:p>
            <a:pPr lvl="0" indent="-342900" marL="342900">
              <a:buAutoNum type="arabicPeriod"/>
            </a:pPr>
            <a:r>
              <a:rPr b="1"/>
              <a:t>First term</a:t>
            </a:r>
            <a:r>
              <a:rPr/>
              <a:t> gets all SS it can explain</a:t>
            </a:r>
          </a:p>
          <a:p>
            <a:pPr lvl="0" indent="-342900" marL="342900">
              <a:buAutoNum type="arabicPeriod"/>
            </a:pPr>
            <a:r>
              <a:rPr b="1"/>
              <a:t>Second term</a:t>
            </a:r>
            <a:r>
              <a:rPr/>
              <a:t> gets SS after removing first</a:t>
            </a:r>
          </a:p>
          <a:p>
            <a:pPr lvl="0" indent="-342900" marL="342900">
              <a:buAutoNum type="arabicPeriod"/>
            </a:pPr>
            <a:r>
              <a:rPr b="1"/>
              <a:t>Third term</a:t>
            </a:r>
            <a:r>
              <a:rPr/>
              <a:t> gets SS after removing first two</a:t>
            </a:r>
          </a:p>
          <a:p>
            <a:pPr lvl="0"/>
            <a:r>
              <a:rPr b="1"/>
              <a:t>Example calculation:</a:t>
            </a:r>
          </a:p>
          <a:p>
            <a:pPr lvl="1"/>
            <a:r>
              <a:rPr/>
              <a:t>SS(Species) = reduction in SS from null to species-only model</a:t>
            </a:r>
          </a:p>
          <a:p>
            <a:pPr lvl="1"/>
            <a:r>
              <a:rPr/>
              <a:t>SS(Sex|Species) = additional reduction adding sex</a:t>
            </a:r>
          </a:p>
          <a:p>
            <a:pPr lvl="1"/>
            <a:r>
              <a:rPr/>
              <a:t>SS(Interaction|Species,Sex) = additional reduction adding interaction</a:t>
            </a:r>
          </a:p>
          <a:p>
            <a:pPr lvl="0"/>
            <a:r>
              <a:rPr b="1"/>
              <a:t>Problems with unbalanced data:</a:t>
            </a:r>
          </a:p>
          <a:p>
            <a:pPr lvl="1"/>
            <a:r>
              <a:rPr/>
              <a:t>Order dependency</a:t>
            </a:r>
          </a:p>
          <a:p>
            <a:pPr lvl="1"/>
            <a:r>
              <a:rPr/>
              <a:t>Biased if factors are correlated</a:t>
            </a:r>
          </a:p>
          <a:p>
            <a:pPr lvl="1"/>
            <a:r>
              <a:rPr/>
              <a:t>Not invariant to coding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III (Marginal)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III SS Works</a:t>
            </a:r>
          </a:p>
          <a:p>
            <a:pPr lvl="0"/>
            <a:r>
              <a:rPr b="1"/>
              <a:t>Marginal decomposition:</a:t>
            </a:r>
          </a:p>
          <a:p>
            <a:pPr lvl="1"/>
            <a:r>
              <a:rPr/>
              <a:t>Each effect tested after adjusting for all others:</a:t>
            </a:r>
          </a:p>
          <a:p>
            <a:pPr lvl="2"/>
            <a:r>
              <a:rPr/>
              <a:t>SS(Species|Sex,Interaction)</a:t>
            </a:r>
          </a:p>
          <a:p>
            <a:pPr lvl="2"/>
            <a:r>
              <a:rPr/>
              <a:t>SS(Sex|Species,Interaction)</a:t>
            </a:r>
          </a:p>
          <a:p>
            <a:pPr lvl="2"/>
            <a:r>
              <a:rPr/>
              <a:t>SS(Interaction|Species,Sex)</a:t>
            </a:r>
          </a:p>
          <a:p>
            <a:pPr lvl="0"/>
            <a:r>
              <a:rPr b="1"/>
              <a:t>Advantages:</a:t>
            </a:r>
          </a:p>
          <a:p>
            <a:pPr lvl="1"/>
            <a:r>
              <a:rPr/>
              <a:t>Order invariant</a:t>
            </a:r>
          </a:p>
          <a:p>
            <a:pPr lvl="1"/>
            <a:r>
              <a:rPr/>
              <a:t>Tests hypotheses about unweighted means</a:t>
            </a:r>
          </a:p>
          <a:p>
            <a:pPr lvl="1"/>
            <a:r>
              <a:rPr/>
              <a:t>Standard in most software</a:t>
            </a:r>
          </a:p>
          <a:p>
            <a:pPr lvl="0"/>
            <a:r>
              <a:rPr b="1"/>
              <a:t>Disadvantages:</a:t>
            </a:r>
          </a:p>
          <a:p>
            <a:pPr lvl="1"/>
            <a:r>
              <a:rPr/>
              <a:t>Lower power with missing cells</a:t>
            </a:r>
          </a:p>
          <a:p>
            <a:pPr lvl="1"/>
            <a:r>
              <a:rPr/>
              <a:t>Tests may not be orthogonal</a:t>
            </a:r>
          </a:p>
          <a:p>
            <a:pPr lvl="1"/>
            <a:r>
              <a:rPr/>
              <a:t>Requires careful interpretation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(Type III):"
##        Effect Eta_Squared
## 1     Species      0.6947
## 2         Sex      0.1450
## 3 Interaction      0.0081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SS Step-by-Step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Decomposing Between-Group SS</a:t>
            </a:r>
          </a:p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38878897
## 
## 
## Sum of main effects: 184069116
## Actual between SS: 183957038
## 
## 
## Difference (due to correlation): -112078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-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&lt;0.0001
##  Adelie female - Adelie male           -714 73.5 198  -9.710 &lt;0.0001
##  Adelie female - Chinstrap male        -604 73.5 198  -8.220 &lt;0.0001
##  Adelie female - Gentoo male          -2190 73.5 198 -29.789 &lt;0.0001
##  Chinstrap female - Gentoo female     -1154 73.5 198 -15.690 &lt;0.0001
##  Chinstrap female - Adelie male        -521 73.5 198  -7.090 &lt;0.0001
##  Chinstrap female - Chinstrap male     -412 73.5 198  -5.600 &lt;0.0001
##  Chinstrap female - Gentoo male       -1998 73.5 198 -27.169 &lt;0.0001
##  Gentoo female - Adelie male            632 73.5 198   8.600 &lt;0.0001
##  Gentoo female - Chinstrap male         742 73.5 198  10.090 &lt;0.0001
##  Gentoo female - Gentoo male           -844 73.5 198 -11.480 &lt;0.0001
##  Adelie male - Chinstrap male           110 73.5 198   1.490  0.6711
##  Adelie male - Gentoo male            -1476 73.5 198 -20.079 &lt;0.0001
##  Chinstrap male - Gentoo male         -1586 73.5 198 -21.569 &lt;0.0001
## 
## P value adjustment: tukey method for comparing a family of 6 estimates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Tukey HSD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&lt;0.0001
##  Chinstrap - Gentoo  -1349.2 47.0 327 -28.682 &lt;0.0001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&lt;0.0001
## 
## species = Chinstrap:
##  contrast      estimate   SE  df t.ratio p.value
##  female - male     -412 75.0 327  -5.487 &lt;0.0001
## 
## species = Gentoo:
##  contrast      estimate   SE  df t.ratio p.value
##  female - male     -805 56.7 327 -14.188 &lt;0.0001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Interaction 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## Sex effect (Male - Female)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Plots - Unbalanced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Diagnostics</a:t>
            </a:r>
          </a:p>
        </p:txBody>
      </p:sp>
      <p:pic>
        <p:nvPicPr>
          <p:cNvPr descr="12_01_lecture_powerpoint_files/figure-pptx/diagnostics_unbalanc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270000"/>
            <a:ext cx="3302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Tests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"\nLevene's test:"
## Levene's Test for Homogeneity of Variance (center = median)
##        Df F value Pr(&gt;F)
## group   5  1.3908 0.2272
##       327
## [1] "\nResidual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Balanced vs Unbalanced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Comparison</a:t>
            </a:r>
          </a:p>
        </p:txBody>
      </p:sp>
      <p:pic>
        <p:nvPicPr>
          <p:cNvPr descr="12_01_lecture_powerpoint_files/figure-pptx/visual_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Unbalanced Designs:</a:t>
            </a:r>
          </a:p>
          <a:p>
            <a:pPr lvl="0" indent="0" marL="0">
              <a:buNone/>
            </a:pPr>
            <a:r>
              <a:rPr b="1"/>
              <a:t>Challenges:</a:t>
            </a:r>
            <a:r>
              <a:rPr/>
              <a:t> - Type I SS depends on order - Simple means ≠ EMMs - Reduced power for interactions - Complex interpretation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- Use Type III SS for main effects - Report EMMs, not simple means - Check assumptions carefully - Consider impact of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</a:p>
          <a:p>
            <a:pPr lvl="1"/>
            <a:r>
              <a:rPr/>
              <a:t>Sample sizes per cell</a:t>
            </a:r>
          </a:p>
          <a:p>
            <a:pPr lvl="1"/>
            <a:r>
              <a:rPr/>
              <a:t>Type of SS used</a:t>
            </a:r>
          </a:p>
          <a:p>
            <a:pPr lvl="1"/>
            <a:r>
              <a:rPr/>
              <a:t>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</a:p>
          <a:p>
            <a:pPr lvl="1"/>
            <a:r>
              <a:rPr/>
              <a:t>Show actual data points</a:t>
            </a:r>
          </a:p>
          <a:p>
            <a:pPr lvl="1"/>
            <a:r>
              <a:rPr/>
              <a:t>Include error bars</a:t>
            </a:r>
          </a:p>
          <a:p>
            <a:pPr lvl="1"/>
            <a:r>
              <a:rPr/>
              <a:t>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</a:p>
          <a:p>
            <a:pPr lvl="1"/>
            <a:r>
              <a:rPr/>
              <a:t>Focus on effect sizes</a:t>
            </a:r>
          </a:p>
          <a:p>
            <a:pPr lvl="1"/>
            <a:r>
              <a:rPr/>
              <a:t>Consider practical significance</a:t>
            </a:r>
          </a:p>
          <a:p>
            <a:pPr lvl="1"/>
            <a:r>
              <a:rPr/>
              <a:t>Acknowledge limitations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- Design for balance when possible - Randomize allocation - Plan for attrition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- Accept imbalance as reality - Use Type III SS - Report EMMs - Consider covariates (ANCOVA)</a:t>
            </a:r>
          </a:p>
          <a:p>
            <a:pPr lvl="0" indent="0" marL="0">
              <a:buNone/>
            </a:pPr>
            <a:r>
              <a:rPr b="1"/>
              <a:t>Statistical Software Defaults:</a:t>
            </a:r>
            <a:r>
              <a:rPr/>
              <a:t> - R: Type I (sequential) - SAS: Type III (marginal) - SPSS: Type III (marginal)</a:t>
            </a:r>
          </a:p>
          <a:p>
            <a:pPr lvl="0" indent="0" marL="0">
              <a:buNone/>
            </a:pPr>
            <a:r>
              <a:rPr/>
              <a:t>Always specify which type you’re using!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2026-05-04T01:34:54Z</dcterms:created>
  <dcterms:modified xsi:type="dcterms:W3CDTF">2026-05-04T01:34:54Z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