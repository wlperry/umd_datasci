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png" ContentType="image/png"/>
  <Override PartName="/docProps/app.xml" ContentType="application/vnd.openxmlformats-officedocument.extended-properties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FDCC31"/>
    <a:srgbClr val="70121D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726"/>
  </p:normalViewPr>
  <p:slideViewPr>
    <p:cSldViewPr snapToGrid="0" snapToObjects="1">
      <p:cViewPr varScale="1">
        <p:scale>
          <a:sx d="100" n="165"/>
          <a:sy d="100" n="165"/>
        </p:scale>
        <p:origin x="560" y="184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2" Type="http://schemas.openxmlformats.org/officeDocument/2006/relationships/slide" Target="slides/slide11.xml" /><Relationship Id="rId13" Type="http://schemas.openxmlformats.org/officeDocument/2006/relationships/slide" Target="slides/slide12.xml" /><Relationship Id="rId14" Type="http://schemas.openxmlformats.org/officeDocument/2006/relationships/slide" Target="slides/slide13.xml" /><Relationship Id="rId15" Type="http://schemas.openxmlformats.org/officeDocument/2006/relationships/slide" Target="slides/slide14.xml" /><Relationship Id="rId16" Type="http://schemas.openxmlformats.org/officeDocument/2006/relationships/slide" Target="slides/slide15.xml" /><Relationship Id="rId17" Type="http://schemas.openxmlformats.org/officeDocument/2006/relationships/slide" Target="slides/slide16.xml" /><Relationship Id="rId18" Type="http://schemas.openxmlformats.org/officeDocument/2006/relationships/slide" Target="slides/slide17.xml" /><Relationship Id="rId19" Type="http://schemas.openxmlformats.org/officeDocument/2006/relationships/slide" Target="slides/slide18.xml" /><Relationship Id="rId20" Type="http://schemas.openxmlformats.org/officeDocument/2006/relationships/slide" Target="slides/slide19.xml" /><Relationship Id="rId21" Type="http://schemas.openxmlformats.org/officeDocument/2006/relationships/slide" Target="slides/slide20.xml" /><Relationship Id="rId23" Type="http://schemas.openxmlformats.org/officeDocument/2006/relationships/viewProps" Target="viewProps.xml" /><Relationship Id="rId22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25" Type="http://schemas.openxmlformats.org/officeDocument/2006/relationships/tableStyles" Target="tableStyles.xml" /><Relationship Id="rId24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0" y="1"/>
            <a:ext cx="9144000" cy="565688"/>
          </a:xfrm>
        </p:spPr>
        <p:txBody>
          <a:bodyPr>
            <a:normAutofit/>
          </a:bodyPr>
          <a:lstStyle>
            <a:lvl1pPr>
              <a:defRPr sz="24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255722" y="565689"/>
            <a:ext cx="6400800" cy="1314450"/>
          </a:xfrm>
        </p:spPr>
        <p:txBody>
          <a:bodyPr>
            <a:normAutofit/>
          </a:bodyPr>
          <a:lstStyle>
            <a:lvl1pPr marL="0" indent="0" algn="ctr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>
            <a:normAutofit/>
          </a:bodyPr>
          <a:lstStyle>
            <a:lvl1pPr algn="l">
              <a:defRPr sz="24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0" y="614605"/>
            <a:ext cx="9089756" cy="3914289"/>
          </a:xfrm>
        </p:spPr>
        <p:txBody>
          <a:bodyPr/>
          <a:lstStyle>
            <a:lvl1pPr marL="230188" indent="-230188">
              <a:tabLst/>
              <a:defRPr sz="2000"/>
            </a:lvl1pPr>
            <a:lvl2pPr marL="514350" indent="-284163">
              <a:spcBef>
                <a:spcPts val="0"/>
              </a:spcBef>
              <a:tabLst/>
              <a:defRPr sz="2000"/>
            </a:lvl2pPr>
            <a:lvl3pPr marL="692150" indent="-177800">
              <a:spcBef>
                <a:spcPts val="0"/>
              </a:spcBef>
              <a:tabLst/>
              <a:defRPr sz="1600"/>
            </a:lvl3pPr>
            <a:lvl4pPr marL="914400" indent="-222250">
              <a:spcBef>
                <a:spcPts val="0"/>
              </a:spcBef>
              <a:tabLst/>
              <a:defRPr sz="1600"/>
            </a:lvl4pPr>
            <a:lvl5pPr marL="1146175" indent="-231775">
              <a:spcBef>
                <a:spcPts val="0"/>
              </a:spcBef>
              <a:tabLst/>
              <a:defRPr sz="16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1021556"/>
          </a:xfrm>
        </p:spPr>
        <p:txBody>
          <a:bodyPr anchor="t">
            <a:normAutofit/>
          </a:bodyPr>
          <a:lstStyle>
            <a:lvl1pPr algn="l">
              <a:defRPr sz="2400" b="1" cap="all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41649"/>
            <a:ext cx="7772400" cy="1125140"/>
          </a:xfrm>
        </p:spPr>
        <p:txBody>
          <a:bodyPr anchor="b">
            <a:normAutofit/>
          </a:bodyPr>
          <a:lstStyle>
            <a:lvl1pPr marL="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1A1A2E"/>
          </a:solidFill>
        </p:spPr>
        <p:txBody>
          <a:bodyPr/>
          <a:lstStyle>
            <a:lvl1pPr algn="l">
              <a:defRPr b="0">
                <a:solidFill>
                  <a:srgbClr val="F4CD54"/>
                </a:solidFill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9041" y="662663"/>
            <a:ext cx="4201332" cy="3818173"/>
          </a:xfrm>
        </p:spPr>
        <p:txBody>
          <a:bodyPr/>
          <a:lstStyle>
            <a:lvl1pPr marL="230188" indent="-230188">
              <a:tabLst/>
              <a:defRPr sz="2000"/>
            </a:lvl1pPr>
            <a:lvl2pPr marL="460375" indent="-230188">
              <a:tabLst/>
              <a:defRPr sz="1800"/>
            </a:lvl2pPr>
            <a:lvl3pPr marL="630238" indent="-169863">
              <a:tabLst/>
              <a:defRPr sz="1600"/>
            </a:lvl3pPr>
            <a:lvl4pPr marL="914400" indent="-284163">
              <a:tabLst/>
              <a:defRPr sz="1600"/>
            </a:lvl4pPr>
            <a:lvl5pPr marL="1146175" indent="-231775">
              <a:tabLst/>
              <a:defRPr sz="160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02258" y="662664"/>
            <a:ext cx="4418308" cy="3818172"/>
          </a:xfrm>
        </p:spPr>
        <p:txBody>
          <a:bodyPr/>
          <a:lstStyle>
            <a:lvl1pPr marL="342900" indent="-342900">
              <a:defRPr lang="en-US" sz="20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515937" indent="-285750">
              <a:defRPr lang="en-US" sz="18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746125" indent="-285750">
              <a:defRPr lang="en-US" sz="16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915987" indent="-285750">
              <a:defRPr lang="en-US" sz="16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200150" indent="-285750">
              <a:defRPr lang="en-US" sz="16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marL="230188" lvl="0" indent="-230188" algn="l" defTabSz="342900" rtl="0" eaLnBrk="1" latinLnBrk="0" hangingPunct="1">
              <a:spcBef>
                <a:spcPct val="20000"/>
              </a:spcBef>
              <a:buFont typeface="Arial"/>
              <a:buChar char="•"/>
              <a:tabLst/>
            </a:pPr>
            <a:r>
              <a:rPr lang="en-US" dirty="0"/>
              <a:t>Click to edit Master text styles</a:t>
            </a:r>
          </a:p>
          <a:p>
            <a:pPr marL="460375" lvl="1" indent="-230188" algn="l" defTabSz="342900" rtl="0" eaLnBrk="1" latinLnBrk="0" hangingPunct="1">
              <a:spcBef>
                <a:spcPct val="20000"/>
              </a:spcBef>
              <a:buFont typeface="Arial"/>
              <a:buChar char="–"/>
              <a:tabLst/>
            </a:pPr>
            <a:r>
              <a:rPr lang="en-US" dirty="0"/>
              <a:t>Second level</a:t>
            </a:r>
          </a:p>
          <a:p>
            <a:pPr marL="630238" lvl="2" indent="-169863" algn="l" defTabSz="342900" rtl="0" eaLnBrk="1" latinLnBrk="0" hangingPunct="1">
              <a:spcBef>
                <a:spcPct val="20000"/>
              </a:spcBef>
              <a:buFont typeface="Arial"/>
              <a:buChar char="•"/>
              <a:tabLst/>
            </a:pPr>
            <a:r>
              <a:rPr lang="en-US" dirty="0"/>
              <a:t>Third level</a:t>
            </a:r>
          </a:p>
          <a:p>
            <a:pPr marL="914400" lvl="3" indent="-284163" algn="l" defTabSz="342900" rtl="0" eaLnBrk="1" latinLnBrk="0" hangingPunct="1">
              <a:spcBef>
                <a:spcPct val="20000"/>
              </a:spcBef>
              <a:buFont typeface="Arial"/>
              <a:buChar char="–"/>
              <a:tabLst/>
            </a:pPr>
            <a:r>
              <a:rPr lang="en-US" dirty="0"/>
              <a:t>Fourth level</a:t>
            </a:r>
          </a:p>
          <a:p>
            <a:pPr marL="1146175" lvl="4" indent="-231775" algn="l" defTabSz="342900" rtl="0" eaLnBrk="1" latinLnBrk="0" hangingPunct="1">
              <a:spcBef>
                <a:spcPct val="20000"/>
              </a:spcBef>
              <a:buFont typeface="Arial"/>
              <a:buChar char="»"/>
              <a:tabLst/>
            </a:pPr>
            <a:r>
              <a:rPr lang="en-US" dirty="0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>
            <a:normAutofit/>
          </a:bodyPr>
          <a:lstStyle>
            <a:lvl1pPr algn="l">
              <a:defRPr sz="28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36201" y="802623"/>
            <a:ext cx="4435799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136201" y="1282444"/>
            <a:ext cx="4435799" cy="3305054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753514" y="823389"/>
            <a:ext cx="4041775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753514" y="1303210"/>
            <a:ext cx="4041775" cy="3284288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871538"/>
          </a:xfrm>
        </p:spPr>
        <p:txBody>
          <a:bodyPr anchor="t" anchorCtr="0">
            <a:normAutofit/>
          </a:bodyPr>
          <a:lstStyle>
            <a:lvl1pPr algn="l">
              <a:defRPr sz="24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139485" y="2822226"/>
            <a:ext cx="8756541" cy="1945037"/>
          </a:xfrm>
        </p:spPr>
        <p:txBody>
          <a:bodyPr/>
          <a:lstStyle>
            <a:lvl1pPr>
              <a:defRPr sz="2000"/>
            </a:lvl1pPr>
            <a:lvl2pPr>
              <a:defRPr sz="1800"/>
            </a:lvl2pPr>
            <a:lvl3pPr>
              <a:defRPr sz="1800"/>
            </a:lvl3pPr>
            <a:lvl4pPr>
              <a:defRPr sz="1800"/>
            </a:lvl4pPr>
            <a:lvl5pPr>
              <a:defRPr sz="18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0" y="960803"/>
            <a:ext cx="3541363" cy="351829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77490" y="102393"/>
            <a:ext cx="8934774" cy="582780"/>
          </a:xfrm>
          <a:prstGeom prst="rect">
            <a:avLst/>
          </a:prstGeom>
          <a:solidFill>
            <a:srgbClr val="1A1A2E"/>
          </a:solidFill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77489" y="781696"/>
            <a:ext cx="8934773" cy="3914289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dirty="0" lang="en-US"/>
              <a:t>Click to edit Master text styles</a:t>
            </a:r>
          </a:p>
          <a:p>
            <a:pPr lvl="1"/>
            <a:r>
              <a:rPr dirty="0" lang="en-US"/>
              <a:t>Second level</a:t>
            </a:r>
          </a:p>
          <a:p>
            <a:pPr lvl="2"/>
            <a:r>
              <a:rPr dirty="0" lang="en-US"/>
              <a:t>Third level</a:t>
            </a:r>
          </a:p>
          <a:p>
            <a:pPr lvl="3"/>
            <a:r>
              <a:rPr dirty="0" lang="en-US"/>
              <a:t>Fourth level</a:t>
            </a:r>
          </a:p>
          <a:p>
            <a:pPr lvl="4"/>
            <a:r>
              <a:rPr dirty="0"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342900" eaLnBrk="1" hangingPunct="1" latinLnBrk="0" rtl="0">
        <a:spcBef>
          <a:spcPct val="0"/>
        </a:spcBef>
        <a:buNone/>
        <a:defRPr kern="1200" sz="2800">
          <a:solidFill>
            <a:srgbClr val="F4CD54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ts val="0"/>
        </a:spcBef>
        <a:buFont typeface="Arial"/>
        <a:buChar char="•"/>
        <a:defRPr kern="1200" sz="20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ts val="0"/>
        </a:spcBef>
        <a:buFont typeface="Arial"/>
        <a:buChar char="–"/>
        <a:defRPr kern="1200" sz="20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ts val="0"/>
        </a:spcBef>
        <a:buFont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ts val="0"/>
        </a:spcBef>
        <a:buFont typeface="Arial"/>
        <a:buChar char="–"/>
        <a:defRPr kern="1200" sz="15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ts val="0"/>
        </a:spcBef>
        <a:buFont typeface="Arial"/>
        <a:buChar char="»"/>
        <a:defRPr kern="1200" sz="15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hyperlink" Target="https://r4ds.hadley.nz/data-transform" TargetMode="External" /><Relationship Id="rId3" Type="http://schemas.openxmlformats.org/officeDocument/2006/relationships/hyperlink" Target="https://r4ds.hadley.nz/datetimes" TargetMode="External" /><Relationship Id="rId4" Type="http://schemas.openxmlformats.org/officeDocument/2006/relationships/hyperlink" Target="https://datacarpentry.github.io/R-ecology-lesson/" TargetMode="External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5.xml" /><Relationship Id="rId2" Type="http://schemas.openxmlformats.org/officeDocument/2006/relationships/image" Target="../media/image1.png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5.xml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5.xml" /><Relationship Id="rId2" Type="http://schemas.openxmlformats.org/officeDocument/2006/relationships/image" Target="../media/image2.png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5.xml" /><Relationship Id="rId2" Type="http://schemas.openxmlformats.org/officeDocument/2006/relationships/image" Target="../media/image3.png" /></Relationships>
</file>

<file path=ppt/slides/_rels/slide11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12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13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14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15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16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17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18.xml.rels><?xml version="1.0" encoding="UTF-8"?><Relationships xmlns="http://schemas.openxmlformats.org/package/2006/relationships"><Relationship Id="rId1" Type="http://schemas.openxmlformats.org/officeDocument/2006/relationships/slideLayout" Target="../slideLayouts/slideLayout5.xml" /><Relationship Id="rId2" Type="http://schemas.openxmlformats.org/officeDocument/2006/relationships/image" Target="../media/image4.png" /></Relationships>
</file>

<file path=ppt/slides/_rels/slide19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20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0" y="1"/>
            <a:ext cx="9144000" cy="565688"/>
          </a:xfrm>
        </p:spPr>
        <p:txBody>
          <a:bodyPr/>
          <a:lstStyle/>
          <a:p>
            <a:pPr lvl="0" indent="0" marL="0">
              <a:buNone/>
            </a:pPr>
            <a:r>
              <a:rPr/>
              <a:t>Lecture 06 — Real Climate Data in R</a:t>
            </a:r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255722" y="565689"/>
            <a:ext cx="6400800" cy="13144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Downloading, summarizing, and modeling Duluth weather station data</a:t>
            </a:r>
            <a:br/>
            <a:br/>
            <a:r>
              <a:rPr/>
              <a:t>Bill Perry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10" sz="half" type="dt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2026-07-02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Where we left off (Lecture 05)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b="1"/>
              <a:t>Linear regression</a:t>
            </a:r>
            <a:r>
              <a:rPr/>
              <a:t> — fit a calibration curve (area ~ mass) with </a:t>
            </a:r>
            <a:r>
              <a:rPr>
                <a:latin typeface="Courier"/>
              </a:rPr>
              <a:t>lm()</a:t>
            </a:r>
          </a:p>
          <a:p>
            <a:pPr lvl="0"/>
            <a:r>
              <a:rPr b="1"/>
              <a:t>Reading </a:t>
            </a:r>
            <a:r>
              <a:rPr b="1">
                <a:latin typeface="Courier"/>
              </a:rPr>
              <a:t>summary()</a:t>
            </a:r>
            <a:r>
              <a:rPr/>
              <a:t> — slope </a:t>
            </a:r>
            <a:r>
              <a:rPr i="1"/>
              <a:t>b</a:t>
            </a:r>
            <a:r>
              <a:rPr/>
              <a:t>, intercept </a:t>
            </a:r>
            <a:r>
              <a:rPr i="1"/>
              <a:t>a</a:t>
            </a:r>
            <a:r>
              <a:rPr/>
              <a:t>, R², p-value for the slope</a:t>
            </a:r>
          </a:p>
          <a:p>
            <a:pPr lvl="0"/>
            <a:r>
              <a:rPr b="1"/>
              <a:t>Least squares</a:t>
            </a:r>
            <a:r>
              <a:rPr/>
              <a:t> — the line that minimizes the sum of squared residuals</a:t>
            </a:r>
          </a:p>
          <a:p>
            <a:pPr lvl="0"/>
            <a:r>
              <a:rPr b="1"/>
              <a:t>Assumption checks</a:t>
            </a:r>
            <a:r>
              <a:rPr/>
              <a:t> — residual vs. fitted plot, QQ plot, Shapiro-Wilk on </a:t>
            </a:r>
            <a:r>
              <a:rPr b="1"/>
              <a:t>residuals</a:t>
            </a:r>
          </a:p>
          <a:p>
            <a:pPr lvl="0"/>
            <a:r>
              <a:rPr b="1">
                <a:latin typeface="Courier"/>
              </a:rPr>
              <a:t>predict()</a:t>
            </a:r>
            <a:r>
              <a:rPr/>
              <a:t> — confidence intervals (mean Y) vs. prediction intervals (one new Y)</a:t>
            </a:r>
          </a:p>
          <a:p>
            <a:pPr lvl="0"/>
            <a:r>
              <a:rPr b="1"/>
              <a:t>Applied it</a:t>
            </a:r>
            <a:r>
              <a:rPr/>
              <a:t> — converted paper tracing mass into predicted leaf area (cm²)</a:t>
            </a:r>
          </a:p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✅ Transition</a:t>
            </a:r>
          </a:p>
          <a:p>
            <a:pPr lvl="0" indent="0" marL="1270000">
              <a:buNone/>
            </a:pPr>
            <a:r>
              <a:rPr sz="2000"/>
              <a:t>So far every regression we have run used a dataset you were handed. Today we </a:t>
            </a:r>
            <a:r>
              <a:rPr sz="2000" b="1"/>
              <a:t>download real data from inside R</a:t>
            </a:r>
            <a:r>
              <a:rPr sz="2000"/>
              <a:t> for the first time — long-term weather records for Duluth, MN — and use that same regression toolkit to ask a much bigger question: </a:t>
            </a:r>
            <a:r>
              <a:rPr sz="2000" i="1"/>
              <a:t>is it getting warmer?</a:t>
            </a:r>
          </a:p>
        </p:txBody>
      </p:sp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1A1A2E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Goals for Today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Download real weather station data </a:t>
            </a:r>
            <a:r>
              <a:rPr b="1"/>
              <a:t>from inside R</a:t>
            </a:r>
            <a:r>
              <a:rPr/>
              <a:t> (no Excel step!)</a:t>
            </a:r>
          </a:p>
          <a:p>
            <a:pPr lvl="0"/>
            <a:r>
              <a:rPr/>
              <a:t>Explore raw daily data — and see why raw data alone is hard to read</a:t>
            </a:r>
          </a:p>
          <a:p>
            <a:pPr lvl="0"/>
            <a:r>
              <a:rPr b="1"/>
              <a:t>Summarize</a:t>
            </a:r>
            <a:r>
              <a:rPr/>
              <a:t> the same data by day, week, month, and year — and watch the story get clearer</a:t>
            </a:r>
          </a:p>
          <a:p>
            <a:pPr lvl="0"/>
            <a:r>
              <a:rPr/>
              <a:t>Reuse </a:t>
            </a:r>
            <a:r>
              <a:rPr>
                <a:latin typeface="Courier"/>
              </a:rPr>
              <a:t>lm()</a:t>
            </a:r>
            <a:r>
              <a:rPr/>
              <a:t> to estimate the </a:t>
            </a:r>
            <a:r>
              <a:rPr b="1"/>
              <a:t>rate of change</a:t>
            </a:r>
            <a:r>
              <a:rPr/>
              <a:t> (slope) in temperature over time</a:t>
            </a:r>
          </a:p>
          <a:p>
            <a:pPr lvl="0"/>
            <a:r>
              <a:rPr/>
              <a:t>Use </a:t>
            </a:r>
            <a:r>
              <a:rPr>
                <a:latin typeface="Courier"/>
              </a:rPr>
              <a:t>case_when()</a:t>
            </a:r>
            <a:r>
              <a:rPr/>
              <a:t> to build a new categorical variable — </a:t>
            </a:r>
            <a:r>
              <a:rPr b="1"/>
              <a:t>summer vs. winter</a:t>
            </a:r>
          </a:p>
          <a:p>
            <a:pPr lvl="0"/>
            <a:r>
              <a:rPr/>
              <a:t>Compare how fast each season is warming</a:t>
            </a:r>
          </a:p>
          <a:p>
            <a:pPr lvl="0" indent="0" marL="1270000">
              <a:buNone/>
            </a:pPr>
            <a:r>
              <a:rPr sz="2000" b="1"/>
              <a:t>Tip</a:t>
            </a:r>
          </a:p>
          <a:p>
            <a:pPr lvl="0" indent="0" marL="1270000">
              <a:buNone/>
            </a:pPr>
            <a:r>
              <a:rPr sz="2000" b="1"/>
              <a:t>🖐 Try it yourself</a:t>
            </a:r>
          </a:p>
          <a:p>
            <a:pPr lvl="0" indent="0" marL="1270000">
              <a:buNone/>
            </a:pPr>
            <a:r>
              <a:rPr sz="2000"/>
              <a:t>By the end you’ll have downloaded a real NOAA climate record and estimated how many degrees per decade Duluth has warmed.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Tools today:</a:t>
            </a:r>
          </a:p>
          <a:p>
            <a:pPr lvl="0"/>
            <a:r>
              <a:rPr>
                <a:latin typeface="Courier"/>
              </a:rPr>
              <a:t>GSODR</a:t>
            </a:r>
            <a:r>
              <a:rPr/>
              <a:t>, </a:t>
            </a:r>
            <a:r>
              <a:rPr>
                <a:latin typeface="Courier"/>
              </a:rPr>
              <a:t>tidyverse</a:t>
            </a:r>
            <a:r>
              <a:rPr/>
              <a:t>, </a:t>
            </a:r>
            <a:r>
              <a:rPr>
                <a:latin typeface="Courier"/>
              </a:rPr>
              <a:t>lubridate</a:t>
            </a:r>
          </a:p>
          <a:p>
            <a:pPr lvl="0" indent="0" marL="0">
              <a:buNone/>
            </a:pPr>
            <a:r>
              <a:rPr b="1"/>
              <a:t>Textbook:</a:t>
            </a:r>
          </a:p>
          <a:p>
            <a:pPr lvl="0"/>
            <a:r>
              <a:rPr/>
              <a:t>📖 R for Data Science 2e — Hadley Wickham</a:t>
            </a:r>
          </a:p>
          <a:p>
            <a:pPr lvl="1"/>
            <a:r>
              <a:rPr>
                <a:hlinkClick r:id="rId2"/>
              </a:rPr>
              <a:t>Ch. 3 Data transformation</a:t>
            </a:r>
          </a:p>
          <a:p>
            <a:pPr lvl="1"/>
            <a:r>
              <a:rPr>
                <a:hlinkClick r:id="rId3"/>
              </a:rPr>
              <a:t>Ch. 17 Dates and times</a:t>
            </a:r>
          </a:p>
          <a:p>
            <a:pPr lvl="0"/>
            <a:r>
              <a:rPr/>
              <a:t>📖 Data Carpentry — </a:t>
            </a:r>
            <a:r>
              <a:rPr>
                <a:hlinkClick r:id="rId4"/>
              </a:rPr>
              <a:t>R for Ecologists</a:t>
            </a:r>
          </a:p>
          <a:p>
            <a:pPr lvl="0" indent="0" marL="0">
              <a:buNone/>
            </a:pPr>
            <a:r>
              <a:rPr b="1"/>
              <a:t>Naming conventions:</a:t>
            </a:r>
          </a:p>
          <a:p>
            <a:pPr lvl="0"/>
            <a:r>
              <a:rPr/>
              <a:t>data frames → </a:t>
            </a:r>
            <a:r>
              <a:rPr>
                <a:latin typeface="Courier"/>
              </a:rPr>
              <a:t>_df</a:t>
            </a:r>
          </a:p>
          <a:p>
            <a:pPr lvl="0"/>
            <a:r>
              <a:rPr/>
              <a:t>plots → </a:t>
            </a:r>
            <a:r>
              <a:rPr>
                <a:latin typeface="Courier"/>
              </a:rPr>
              <a:t>_plot</a:t>
            </a:r>
          </a:p>
          <a:p>
            <a:pPr lvl="0"/>
            <a:r>
              <a:rPr/>
              <a:t>models → </a:t>
            </a:r>
            <a:r>
              <a:rPr>
                <a:latin typeface="Courier"/>
              </a:rPr>
              <a:t>_model</a:t>
            </a:r>
          </a:p>
        </p:txBody>
      </p:sp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1A1A2E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Where Does This Data Come From?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GSOD</a:t>
            </a:r>
            <a:r>
              <a:rPr/>
              <a:t> = Global Surface Summary of the Day, maintained by NOAA. It contains daily weather observations from thousands of stations worldwide, some going back to the </a:t>
            </a:r>
            <a:r>
              <a:rPr b="1"/>
              <a:t>1940s</a:t>
            </a:r>
            <a:r>
              <a:rPr/>
              <a:t>.</a:t>
            </a:r>
          </a:p>
          <a:p>
            <a:pPr lvl="0" indent="0" marL="0">
              <a:buNone/>
            </a:pPr>
            <a:r>
              <a:rPr/>
              <a:t>The </a:t>
            </a:r>
            <a:r>
              <a:rPr>
                <a:latin typeface="Courier"/>
              </a:rPr>
              <a:t>GSODR</a:t>
            </a:r>
            <a:r>
              <a:rPr/>
              <a:t> package lets us pull this data </a:t>
            </a:r>
            <a:r>
              <a:rPr b="1"/>
              <a:t>directly into R</a:t>
            </a:r>
            <a:r>
              <a:rPr/>
              <a:t> — no manual download, no Excel, no copy-paste.</a:t>
            </a:r>
          </a:p>
          <a:p>
            <a:pPr lvl="0" indent="0" marL="0">
              <a:buNone/>
            </a:pPr>
            <a:r>
              <a:rPr b="1"/>
              <a:t>The station we’ll use:</a:t>
            </a:r>
          </a:p>
          <a:p>
            <a:pPr lvl="0"/>
            <a:r>
              <a:rPr/>
              <a:t>Duluth International Airport</a:t>
            </a:r>
          </a:p>
          <a:p>
            <a:pPr lvl="0"/>
            <a:r>
              <a:rPr/>
              <a:t>Station ID </a:t>
            </a:r>
            <a:r>
              <a:rPr>
                <a:latin typeface="Courier"/>
              </a:rPr>
              <a:t>727450-14913</a:t>
            </a:r>
          </a:p>
          <a:p>
            <a:pPr lvl="0"/>
            <a:r>
              <a:rPr/>
              <a:t>Daily records back to </a:t>
            </a:r>
            <a:r>
              <a:rPr b="1"/>
              <a:t>1948</a:t>
            </a:r>
            <a:r>
              <a:rPr/>
              <a:t> — 78 years of data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Why this matters:</a:t>
            </a:r>
          </a:p>
          <a:p>
            <a:pPr lvl="0"/>
            <a:r>
              <a:rPr/>
              <a:t>This is the </a:t>
            </a:r>
            <a:r>
              <a:rPr i="1"/>
              <a:t>same</a:t>
            </a:r>
            <a:r>
              <a:rPr/>
              <a:t> kind of messy, real-world data you’ll meet in your own research</a:t>
            </a:r>
          </a:p>
          <a:p>
            <a:pPr lvl="0"/>
            <a:r>
              <a:rPr/>
              <a:t>Today’s workflow — download → explore → summarize → model — is the same workflow you’ll use for your final project</a:t>
            </a:r>
          </a:p>
          <a:p>
            <a:pPr lvl="0" indent="0" marL="0">
              <a:buNone/>
            </a:pPr>
            <a:r>
              <a:rPr/>
              <a:t>📖 R4DS Ch. 3 — every analysis starts with getting data into R</a:t>
            </a:r>
          </a:p>
        </p:txBody>
      </p:sp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1A1A2E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Load Libraries and Download the Data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Load packages at the top — always -------------------</a:t>
            </a:r>
            <a:br/>
            <a:r>
              <a:rPr>
                <a:solidFill>
                  <a:srgbClr val="4758AB"/>
                </a:solidFill>
                <a:latin typeface="Courier"/>
              </a:rPr>
              <a:t>library</a:t>
            </a:r>
            <a:r>
              <a:rPr>
                <a:solidFill>
                  <a:srgbClr val="003B4F"/>
                </a:solidFill>
                <a:latin typeface="Courier"/>
              </a:rPr>
              <a:t>(tidyverse) </a:t>
            </a:r>
            <a:r>
              <a:rPr>
                <a:solidFill>
                  <a:srgbClr val="5E5E5E"/>
                </a:solidFill>
                <a:latin typeface="Courier"/>
              </a:rPr>
              <a:t># data manipulation + ggplot2</a:t>
            </a:r>
            <a:br/>
            <a:r>
              <a:rPr>
                <a:solidFill>
                  <a:srgbClr val="4758AB"/>
                </a:solidFill>
                <a:latin typeface="Courier"/>
              </a:rPr>
              <a:t>library</a:t>
            </a:r>
            <a:r>
              <a:rPr>
                <a:solidFill>
                  <a:srgbClr val="003B4F"/>
                </a:solidFill>
                <a:latin typeface="Courier"/>
              </a:rPr>
              <a:t>(GSODR) </a:t>
            </a:r>
            <a:r>
              <a:rPr>
                <a:solidFill>
                  <a:srgbClr val="5E5E5E"/>
                </a:solidFill>
                <a:latin typeface="Courier"/>
              </a:rPr>
              <a:t># download NOAA weather station data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Download daily Duluth weather data, 1948-2025 --------</a:t>
            </a:r>
            <a:br/>
            <a:r>
              <a:rPr>
                <a:solidFill>
                  <a:srgbClr val="5E5E5E"/>
                </a:solidFill>
                <a:latin typeface="Courier"/>
              </a:rPr>
              <a:t># this is DAILY data - rows = days, so expect ~28,000 rows</a:t>
            </a:r>
            <a:br/>
            <a:r>
              <a:rPr>
                <a:solidFill>
                  <a:srgbClr val="003B4F"/>
                </a:solidFill>
                <a:latin typeface="Courier"/>
              </a:rPr>
              <a:t>duluth_df &lt;- </a:t>
            </a:r>
            <a:r>
              <a:rPr>
                <a:solidFill>
                  <a:srgbClr val="4758AB"/>
                </a:solidFill>
                <a:latin typeface="Courier"/>
              </a:rPr>
              <a:t>get_GSOD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years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1948</a:t>
            </a:r>
            <a:r>
              <a:rPr>
                <a:solidFill>
                  <a:srgbClr val="5E5E5E"/>
                </a:solidFill>
                <a:latin typeface="Courier"/>
              </a:rPr>
              <a:t>:</a:t>
            </a:r>
            <a:r>
              <a:rPr>
                <a:solidFill>
                  <a:srgbClr val="AD0000"/>
                </a:solidFill>
                <a:latin typeface="Courier"/>
              </a:rPr>
              <a:t>2025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station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"727450-14913"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Look at what we got -----------------------------------</a:t>
            </a:r>
            <a:br/>
            <a:r>
              <a:rPr>
                <a:solidFill>
                  <a:srgbClr val="4758AB"/>
                </a:solidFill>
                <a:latin typeface="Courier"/>
              </a:rPr>
              <a:t>glimpse</a:t>
            </a:r>
            <a:r>
              <a:rPr>
                <a:solidFill>
                  <a:srgbClr val="003B4F"/>
                </a:solidFill>
                <a:latin typeface="Courier"/>
              </a:rPr>
              <a:t>(duluth_df)</a:t>
            </a:r>
          </a:p>
          <a:p>
            <a:pPr lvl="0" indent="0">
              <a:buNone/>
            </a:pPr>
            <a:r>
              <a:rPr>
                <a:latin typeface="Courier"/>
              </a:rPr>
              <a:t>Rows: 25,441
Columns: 47
$ STNID            &lt;chr&gt; "727450-14913", "727450-14913", "727450-14913", "7274…
$ NAME             &lt;chr&gt; "DULUTH INTERNATIONAL AIRPORT", "DULUTH INTERNATIONAL…
$ CTRY             &lt;chr&gt; "US", "US", "US", "US", "US", "US", "US", "US", "US",…
$ COUNTRY_NAME     &lt;chr&gt; "UNITED STATES", "UNITED STATES", "UNITED STATES", "U…
$ ISO2C            &lt;chr&gt; "US", "US", "US", "US", "US", "US", "US", "US", "US",…
$ ISO3C            &lt;chr&gt; "USA", "USA", "USA", "USA", "USA", "USA", "USA", "USA…
$ STATE            &lt;chr&gt; "MN", "MN", "MN", "MN", "MN", "MN", "MN", "MN", "MN",…
$ LATITUDE         &lt;dbl&gt; 46.844, 46.844, 46.844, 46.844, 46.844, 46.844, 46.84…
$ LONGITUDE        &lt;dbl&gt; -92.187, -92.187, -92.187, -92.187, -92.187, -92.187,…
$ ELEVATION        &lt;dbl&gt; 436.8, 436.8, 436.8, 436.8, 436.8, 436.8, 436.8, 436.…
$ BEGIN            &lt;int&gt; 19480101, 19480101, 19480101, 19480101, 19480101, 194…
$ END              &lt;int&gt; 20250827, 20250827, 20250827, 20250827, 20250827, 202…
$ YEARMODA         &lt;date&gt; 1948-01-01, 1948-01-02, 1948-01-03, 1948-01-04, 1948…
$ YEAR             &lt;int&gt; 1948, 1948, 1948, 1948, 1948, 1948, 1948, 1948, 1948,…
$ MONTH            &lt;int&gt; 1, 1, 1, 1, 1, 1, 1, 1, 1, 1, 1, 1, 1, 1, 1, 1, 1, 1,…
$ DAY              &lt;int&gt; 1, 2, 3, 4, 5, 6, 7, 8, 9, 10, 11, 12, 13, 14, 15, 16…
$ YDAY             &lt;int&gt; 1, 2, 3, 4, 5, 6, 7, 8, 9, 10, 11, 12, 13, 14, 15, 16…
$ TEMP             &lt;dbl&gt; -8.2, -4.1, -8.4, -6.5, -2.9, -7.8, -8.8, -4.0, -5.8,…
$ TEMP_ATTRIBUTES  &lt;int&gt; 18, 24, 24, 24, 24, 24, 24, 24, 24, 24, 24, 24, 24, 2…
$ DEWP             &lt;dbl&gt; -9.9, -6.5, -10.8, -8.8, -5.9, -12.2, -13.2, -5.8, -6…
$ DEWP_ATTRIBUTES  &lt;int&gt; 18, 24, 24, 24, 24, 24, 24, 24, 24, 24, 24, 24, 24, 2…
$ SLP              &lt;dbl&gt; 1019.8, 1011.1, 1010.0, 1016.8, 1016.3, 1019.3, 1015.…
$ SLP_ATTRIBUTES   &lt;int&gt; 18, 24, 24, 24, 24, 24, 24, 24, 24, 24, 24, 24, 24, 2…
$ STP              &lt;dbl&gt; 965.3, 958.0, 956.6, 963.1, 962.9, 965.6, 961.8, 957.…
$ STP_ATTRIBUTES   &lt;int&gt; 18, 24, 24, 24, 24, 24, 24, 24, 24, 23, 24, 24, 24, 2…
$ VISIB            &lt;dbl&gt; 22.0, 22.7, 18.0, 22.4, 23.2, 24.0, 23.7, 15.0, 16.6,…
$ VISIB_ATTRIBUTES &lt;int&gt; 18, 24, 24, 24, 24, 24, 24, 24, 24, 24, 24, 24, 24, 2…
$ WDSP             &lt;dbl&gt; 4.4, 4.3, 3.0, 4.9, 6.4, 8.3, 3.8, 2.8, 5.9, 2.7, 5.5…
$ WDSP_ATTRIBUTES  &lt;int&gt; 18, 24, 24, 24, 24, 24, 24, 24, 24, 24, 24, 24, 24, 2…
$ MXSPD            &lt;dbl&gt; 8.2, 8.8, 7.2, 8.2, 11.8, 11.8, 7.2, 6.2, 11.8, 5.2, …
$ GUST             &lt;dbl&gt; NA, NA, NA, NA, NA, NA, NA, NA, NA, NA, NA, NA, NA, N…
$ MAX              &lt;dbl&gt; -3.1, -2.0, -5.4, -1.5, 1.3, -1.7, -2.6, -2.0, -2.2, …
$ MAX_ATTRIBUTES   &lt;chr&gt; NA, NA, NA, NA, NA, "*", NA, NA, "*", NA, NA, "*", "*…
$ MIN              &lt;dbl&gt; -15.6, -8.7, -12.8, -9.8, -7.0, -15.4, -15.0, -6.5, -…
$ MIN_ATTRIBUTES   &lt;chr&gt; "*", NA, "*", NA, NA, NA, "*", NA, NA, "*", "*", NA, …
$ PRCP             &lt;dbl&gt; 0.00, 0.00, 0.00, 0.00, 0.00, 0.00, 0.00, 7.87, 0.00,…
$ PRCP_ATTRIBUTES  &lt;chr&gt; "G", "G", "G", "G", "G", "G", "G", "G", "G", "G", "G"…
$ SNDP             &lt;dbl&gt; 279.4, 279.4, 279.4, 279.4, 248.9, 248.9, 248.9, 248.…
$ I_FOG            &lt;dbl&gt; 0, 1, 1, 1, 0, 0, 0, 0, 0, 0, 1, 0, 0, 0, 0, 0, 0, 0,…
$ I_RAIN_DRIZZLE   &lt;dbl&gt; 0, 0, 0, 0, 0, 0, 0, 1, 1, 0, 0, 0, 0, 0, 0, 0, 0, 0,…
$ I_SNOW_ICE       &lt;dbl&gt; 1, 1, 1, 1, 1, 0, 0, 1, 1, 0, 1, 1, 1, 0, 1, 0, 0, 1,…
$ I_HAIL           &lt;dbl&gt; 0, 0, 0, 0, 0, 0, 0, 0, 0, 0, 0, 0, 0, 0, 0, 0, 0, 0,…
$ I_THUNDER        &lt;dbl&gt; 0, 0, 0, 0, 0, 0, 0, 0, 0, 0, 0, 0, 0, 0, 0, 0, 0, 0,…
$ I_TORNADO_FUNNEL &lt;dbl&gt; 0, 0, 0, 0, 0, 0, 0, 0, 0, 0, 0, 0, 0, 0, 0, 0, 0, 0,…
$ EA               &lt;dbl&gt; 0.3, 0.4, 0.3, 0.3, 0.4, 0.2, 0.2, 0.4, 0.4, 0.1, 0.3…
$ ES               &lt;dbl&gt; 0.3, 0.5, 0.3, 0.4, 0.5, 0.3, 0.3, 0.5, 0.4, 0.1, 0.3…
$ RH               &lt;dbl&gt; 87.5, 83.4, 82.8, 83.7, 79.8, 70.7, 70.5, 87.3, 91.9,…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What just happened:</a:t>
            </a:r>
          </a:p>
          <a:p>
            <a:pPr lvl="0"/>
            <a:r>
              <a:rPr>
                <a:latin typeface="Courier"/>
              </a:rPr>
              <a:t>get_GSOD()</a:t>
            </a:r>
            <a:r>
              <a:rPr/>
              <a:t> reached out to NOAA’s servers and pulled every daily record for this station</a:t>
            </a:r>
          </a:p>
          <a:p>
            <a:pPr lvl="0"/>
            <a:r>
              <a:rPr>
                <a:latin typeface="Courier"/>
              </a:rPr>
              <a:t>years = 1948:2025</a:t>
            </a:r>
            <a:r>
              <a:rPr/>
              <a:t> is a vector — shorthand for “every year in this range”</a:t>
            </a:r>
          </a:p>
          <a:p>
            <a:pPr lvl="0"/>
            <a:r>
              <a:rPr/>
              <a:t>This download can take a minute — daily data for 78 years is a lot of rows!</a:t>
            </a:r>
          </a:p>
          <a:p>
            <a:pPr lvl="0" indent="0" marL="1270000">
              <a:buNone/>
            </a:pPr>
            <a:r>
              <a:rPr sz="2000" b="1"/>
              <a:t>Important</a:t>
            </a:r>
          </a:p>
          <a:p>
            <a:pPr lvl="0" indent="0" marL="1270000">
              <a:buNone/>
            </a:pPr>
            <a:r>
              <a:rPr sz="2000"/>
              <a:t>Don’t panic at the row count. </a:t>
            </a:r>
            <a:r>
              <a:rPr sz="2000" b="1"/>
              <a:t>Daily</a:t>
            </a:r>
            <a:r>
              <a:rPr sz="2000"/>
              <a:t> data for 78 years ≈ 28,000 rows. We will fix that with summarizing.</a:t>
            </a:r>
          </a:p>
        </p:txBody>
      </p:sp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1A1A2E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Trim to What We Need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Keep only the columns we actually need -----------------</a:t>
            </a:r>
            <a:br/>
            <a:r>
              <a:rPr>
                <a:solidFill>
                  <a:srgbClr val="003B4F"/>
                </a:solidFill>
                <a:latin typeface="Courier"/>
              </a:rPr>
              <a:t>dlh_temp_df &lt;- duluth_df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select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STNID,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NAME,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YEARMODA,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YEAR,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MONTH,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DAY,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TEMP,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MXSPD,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PRCP,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I_SNOW_ICE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)</a:t>
            </a:r>
            <a:br/>
            <a:br/>
            <a:r>
              <a:rPr>
                <a:solidFill>
                  <a:srgbClr val="4758AB"/>
                </a:solidFill>
                <a:latin typeface="Courier"/>
              </a:rPr>
              <a:t>head</a:t>
            </a:r>
            <a:r>
              <a:rPr>
                <a:solidFill>
                  <a:srgbClr val="003B4F"/>
                </a:solidFill>
                <a:latin typeface="Courier"/>
              </a:rPr>
              <a:t>(dlh_temp_df)</a:t>
            </a:r>
          </a:p>
          <a:p>
            <a:pPr lvl="0" indent="0">
              <a:buNone/>
            </a:pPr>
            <a:r>
              <a:rPr>
                <a:latin typeface="Courier"/>
              </a:rPr>
              <a:t>          STNID                         NAME   YEARMODA  YEAR MONTH   DAY  TEMP
         &lt;char&gt;                       &lt;char&gt;     &lt;Date&gt; &lt;int&gt; &lt;int&gt; &lt;int&gt; &lt;num&gt;
1: 727450-14913 DULUTH INTERNATIONAL AIRPORT 1948-01-01  1948     1     1  -8.2
2: 727450-14913 DULUTH INTERNATIONAL AIRPORT 1948-01-02  1948     1     2  -4.1
3: 727450-14913 DULUTH INTERNATIONAL AIRPORT 1948-01-03  1948     1     3  -8.4
4: 727450-14913 DULUTH INTERNATIONAL AIRPORT 1948-01-04  1948     1     4  -6.5
5: 727450-14913 DULUTH INTERNATIONAL AIRPORT 1948-01-05  1948     1     5  -2.9
6: 727450-14913 DULUTH INTERNATIONAL AIRPORT 1948-01-06  1948     1     6  -7.8
   MXSPD  PRCP I_SNOW_ICE
   &lt;num&gt; &lt;num&gt;      &lt;num&gt;
1:   8.2     0          1
2:   8.8     0          1
3:   7.2     0          1
4:   8.2     0          1
5:  11.8     0          1
6:  11.8     0          0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Why </a:t>
            </a:r>
            <a:r>
              <a:rPr b="1">
                <a:latin typeface="Courier"/>
              </a:rPr>
              <a:t>select()</a:t>
            </a:r>
            <a:r>
              <a:rPr b="1"/>
              <a:t> here:</a:t>
            </a:r>
          </a:p>
          <a:p>
            <a:pPr lvl="0"/>
            <a:r>
              <a:rPr>
                <a:latin typeface="Courier"/>
              </a:rPr>
              <a:t>get_GSOD()</a:t>
            </a:r>
            <a:r>
              <a:rPr/>
              <a:t> returns 40+ columns — station metadata, multiple temperature scales, attribute flags</a:t>
            </a:r>
          </a:p>
          <a:p>
            <a:pPr lvl="0"/>
            <a:r>
              <a:rPr/>
              <a:t>We only need a handful for this question</a:t>
            </a:r>
          </a:p>
          <a:p>
            <a:pPr lvl="0"/>
            <a:r>
              <a:rPr/>
              <a:t>This is the same </a:t>
            </a:r>
            <a:r>
              <a:rPr>
                <a:latin typeface="Courier"/>
              </a:rPr>
              <a:t>select()</a:t>
            </a:r>
            <a:r>
              <a:rPr/>
              <a:t> skill from Lecture 02 — applied to a much wider real-world file</a:t>
            </a:r>
          </a:p>
          <a:p>
            <a:pPr lvl="0" indent="0" marL="0">
              <a:buNone/>
            </a:pPr>
            <a:r>
              <a:rPr/>
              <a:t>📖 R4DS Ch. 3.2 — </a:t>
            </a:r>
            <a:r>
              <a:rPr>
                <a:latin typeface="Courier"/>
              </a:rPr>
              <a:t>select()</a:t>
            </a:r>
            <a:r>
              <a:rPr/>
              <a:t> for picking columns</a:t>
            </a:r>
          </a:p>
        </p:txBody>
      </p:sp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/>
          <a:lstStyle/>
          <a:p>
            <a:pPr lvl="0" indent="0" marL="0">
              <a:buNone/>
            </a:pPr>
            <a:r>
              <a:rPr/>
              <a:t>First Look — Plot the Raw Daily Data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Plot every single daily temperature ---------------------</a:t>
            </a:r>
            <a:br/>
            <a:r>
              <a:rPr>
                <a:solidFill>
                  <a:srgbClr val="003B4F"/>
                </a:solidFill>
                <a:latin typeface="Courier"/>
              </a:rPr>
              <a:t>raw_temp_plot &lt;- dlh_temp_df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ggplot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aes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YEARMODA,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TEMP))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geom_point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alpha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0.2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size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0.5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geom_line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alpha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0.3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labs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title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"Duluth Daily Mean Temperature, 1948–2025"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"Date"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"Temperature (°C)"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theme_minimal</a:t>
            </a:r>
            <a:r>
              <a:rPr>
                <a:solidFill>
                  <a:srgbClr val="003B4F"/>
                </a:solidFill>
                <a:latin typeface="Courier"/>
              </a:rPr>
              <a:t>()</a:t>
            </a:r>
            <a:br/>
            <a:br/>
            <a:r>
              <a:rPr>
                <a:solidFill>
                  <a:srgbClr val="003B4F"/>
                </a:solidFill>
                <a:latin typeface="Courier"/>
              </a:rPr>
              <a:t>raw_temp_plot</a:t>
            </a:r>
          </a:p>
        </p:txBody>
      </p:sp>
      <p:pic>
        <p:nvPicPr>
          <p:cNvPr descr="weather_data_r_download_summarize_files/figure-pptx/raw-plot-06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127000" y="1562100"/>
            <a:ext cx="4432300" cy="27305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5" name="Text Placeholder 4"/>
          <p:cNvSpPr>
            <a:spLocks noGrp="1"/>
          </p:cNvSpPr>
          <p:nvPr>
            <p:ph idx="3" sz="quarter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What do you see?</a:t>
            </a:r>
          </a:p>
          <a:p>
            <a:pPr lvl="0"/>
            <a:r>
              <a:rPr/>
              <a:t>A dense, fuzzy band — the seasonal cycle (winter ↔ summer) dominates the plot</a:t>
            </a:r>
          </a:p>
          <a:p>
            <a:pPr lvl="0"/>
            <a:r>
              <a:rPr/>
              <a:t>~28,000 points overlapping each other</a:t>
            </a:r>
          </a:p>
          <a:p>
            <a:pPr lvl="0"/>
            <a:r>
              <a:rPr/>
              <a:t>Any long-term </a:t>
            </a:r>
            <a:r>
              <a:rPr i="1"/>
              <a:t>trend</a:t>
            </a:r>
            <a:r>
              <a:rPr/>
              <a:t> is completely hidden inside the seasonal noise</a:t>
            </a:r>
          </a:p>
          <a:p>
            <a:pPr lvl="0" indent="0" marL="0">
              <a:buNone/>
            </a:pPr>
            <a:r>
              <a:rPr b="1"/>
              <a:t>The problem:</a:t>
            </a:r>
            <a:r>
              <a:rPr/>
              <a:t> raw daily data shows you </a:t>
            </a:r>
            <a:r>
              <a:rPr i="1"/>
              <a:t>everything</a:t>
            </a:r>
            <a:r>
              <a:rPr/>
              <a:t> — which means it can hide the </a:t>
            </a:r>
            <a:r>
              <a:rPr i="1"/>
              <a:t>one thing</a:t>
            </a:r>
            <a:r>
              <a:rPr/>
              <a:t> you’re looking for.</a:t>
            </a:r>
          </a:p>
        </p:txBody>
      </p:sp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/>
          <a:lstStyle/>
          <a:p>
            <a:pPr lvl="0" indent="0" marL="0">
              <a:buNone/>
            </a:pPr>
            <a:r>
              <a:rPr/>
              <a:t>The Fix — Summarize the Story Out of the Noise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The idea:</a:t>
            </a:r>
            <a:r>
              <a:rPr/>
              <a:t> group the data into bigger time chunks, then take the </a:t>
            </a:r>
            <a:r>
              <a:rPr b="1"/>
              <a:t>mean</a:t>
            </a:r>
            <a:r>
              <a:rPr/>
              <a:t> within each chunk.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127000" y="1270000"/>
          <a:ext cx="4432300" cy="3302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473200"/>
                <a:gridCol w="1473200"/>
                <a:gridCol w="14732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Summary level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>
                          <a:latin typeface="Courier"/>
                        </a:rPr>
                        <a:t>group_by()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Rows after summary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Daily (raw)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none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~28,000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Monthly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>
                          <a:latin typeface="Courier"/>
                        </a:rPr>
                        <a:t>YEAR, MONTH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~936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Yearly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>
                          <a:latin typeface="Courier"/>
                        </a:rPr>
                        <a:t>YEAR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78</a:t>
                      </a:r>
                    </a:p>
                  </a:txBody>
                </a:tc>
              </a:tr>
            </a:tbl>
          </a:graphicData>
        </a:graphic>
      </p:graphicFrame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Each step </a:t>
            </a:r>
            <a:r>
              <a:rPr b="1"/>
              <a:t>trades detail for clarity</a:t>
            </a:r>
            <a:r>
              <a:rPr/>
              <a:t>. We lose day-to-day weather noise, but the climate signal becomes visible.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idx="3" sz="quarter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This is the same logic as Lecture 03’s </a:t>
            </a:r>
            <a:r>
              <a:rPr b="1">
                <a:latin typeface="Courier"/>
              </a:rPr>
              <a:t>group_by()</a:t>
            </a:r>
            <a:r>
              <a:rPr b="1"/>
              <a:t> + </a:t>
            </a:r>
            <a:r>
              <a:rPr b="1">
                <a:latin typeface="Courier"/>
              </a:rPr>
              <a:t>summarize()</a:t>
            </a:r>
            <a:r>
              <a:rPr/>
              <a:t> — just applied to time instead of to </a:t>
            </a:r>
            <a:r>
              <a:rPr>
                <a:latin typeface="Courier"/>
              </a:rPr>
              <a:t>side</a:t>
            </a:r>
            <a:r>
              <a:rPr/>
              <a:t> (sunny/shady).</a:t>
            </a:r>
          </a:p>
          <a:p>
            <a:pPr lvl="0" indent="0" marL="1270000">
              <a:buNone/>
            </a:pPr>
            <a:r>
              <a:rPr sz="2000" b="1"/>
              <a:t>Tip</a:t>
            </a:r>
          </a:p>
          <a:p>
            <a:pPr lvl="0" indent="0" marL="1270000">
              <a:buNone/>
            </a:pPr>
            <a:r>
              <a:rPr sz="2000" b="1"/>
              <a:t>🖐 Try it yourself</a:t>
            </a:r>
          </a:p>
          <a:p>
            <a:pPr lvl="0" indent="0" marL="1270000">
              <a:buNone/>
            </a:pPr>
            <a:r>
              <a:rPr sz="2000"/>
              <a:t>Watch the </a:t>
            </a:r>
            <a:r>
              <a:rPr sz="2000" i="1"/>
              <a:t>same</a:t>
            </a:r>
            <a:r>
              <a:rPr sz="2000"/>
              <a:t> underlying data tell three different stories as we change the summary level.</a:t>
            </a:r>
          </a:p>
        </p:txBody>
      </p:sp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/>
          <a:lstStyle/>
          <a:p>
            <a:pPr lvl="0" indent="0" marL="0">
              <a:buNone/>
            </a:pPr>
            <a:r>
              <a:rPr/>
              <a:t>Summarize by Month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Mean temperature per year-month -----------------------</a:t>
            </a:r>
            <a:br/>
            <a:r>
              <a:rPr>
                <a:solidFill>
                  <a:srgbClr val="003B4F"/>
                </a:solidFill>
                <a:latin typeface="Courier"/>
              </a:rPr>
              <a:t>dlh_month_df &lt;- dlh_temp_df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group_by</a:t>
            </a:r>
            <a:r>
              <a:rPr>
                <a:solidFill>
                  <a:srgbClr val="003B4F"/>
                </a:solidFill>
                <a:latin typeface="Courier"/>
              </a:rPr>
              <a:t>(YEAR, MONTH)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summarize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YEARMODA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first</a:t>
            </a:r>
            <a:r>
              <a:rPr>
                <a:solidFill>
                  <a:srgbClr val="003B4F"/>
                </a:solidFill>
                <a:latin typeface="Courier"/>
              </a:rPr>
              <a:t>(YEARMODA),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TEMP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mean</a:t>
            </a:r>
            <a:r>
              <a:rPr>
                <a:solidFill>
                  <a:srgbClr val="003B4F"/>
                </a:solidFill>
                <a:latin typeface="Courier"/>
              </a:rPr>
              <a:t>(TEMP, </a:t>
            </a:r>
            <a:r>
              <a:rPr>
                <a:solidFill>
                  <a:srgbClr val="657422"/>
                </a:solidFill>
                <a:latin typeface="Courier"/>
              </a:rPr>
              <a:t>na.rm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8F5902"/>
                </a:solidFill>
                <a:latin typeface="Courier"/>
              </a:rPr>
              <a:t>TRUE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)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Plot the monthly means ----------------------------------</a:t>
            </a:r>
            <a:br/>
            <a:r>
              <a:rPr>
                <a:solidFill>
                  <a:srgbClr val="003B4F"/>
                </a:solidFill>
                <a:latin typeface="Courier"/>
              </a:rPr>
              <a:t>month_temp_plot &lt;- dlh_month_df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ggplot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aes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YEARMODA,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TEMP))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geom_point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alpha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0.4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size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0.8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geom_line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alpha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0.4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geom_smooth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method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"lm"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color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"steelblue"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labs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title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"Duluth Monthly Mean Temperature"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"Date"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"Temperature (°C)"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theme_minimal</a:t>
            </a:r>
            <a:r>
              <a:rPr>
                <a:solidFill>
                  <a:srgbClr val="003B4F"/>
                </a:solidFill>
                <a:latin typeface="Courier"/>
              </a:rPr>
              <a:t>()</a:t>
            </a:r>
            <a:br/>
            <a:br/>
            <a:r>
              <a:rPr>
                <a:solidFill>
                  <a:srgbClr val="003B4F"/>
                </a:solidFill>
                <a:latin typeface="Courier"/>
              </a:rPr>
              <a:t>month_temp_plot</a:t>
            </a:r>
          </a:p>
        </p:txBody>
      </p:sp>
      <p:pic>
        <p:nvPicPr>
          <p:cNvPr descr="weather_data_r_download_summarize_files/figure-pptx/monthly-plot-06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127000" y="1562100"/>
            <a:ext cx="4432300" cy="27305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5" name="Text Placeholder 4"/>
          <p:cNvSpPr>
            <a:spLocks noGrp="1"/>
          </p:cNvSpPr>
          <p:nvPr>
            <p:ph idx="3" sz="quarter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Better — but still busy.</a:t>
            </a:r>
          </a:p>
          <a:p>
            <a:pPr lvl="0"/>
            <a:r>
              <a:rPr/>
              <a:t>The seasonal cycle (summer peaks, winter dips) is now a clean, regular wave</a:t>
            </a:r>
          </a:p>
          <a:p>
            <a:pPr lvl="0"/>
            <a:r>
              <a:rPr/>
              <a:t>A faint regression line is visible, but the seasonal swing still dominates the y-axis range</a:t>
            </a:r>
          </a:p>
          <a:p>
            <a:pPr lvl="0" indent="0" marL="0">
              <a:buNone/>
            </a:pPr>
            <a:r>
              <a:rPr>
                <a:latin typeface="Courier"/>
              </a:rPr>
              <a:t>first(YEARMODA)</a:t>
            </a:r>
            <a:r>
              <a:rPr/>
              <a:t> keeps one representative date per month so we can still plot on a time axis.</a:t>
            </a:r>
          </a:p>
        </p:txBody>
      </p:sp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/>
          <a:lstStyle/>
          <a:p>
            <a:pPr lvl="0" indent="0" marL="0">
              <a:buNone/>
            </a:pPr>
            <a:r>
              <a:rPr/>
              <a:t>Summarize by Year — The Story Gets Clear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Mean temperature per year -------------------------------</a:t>
            </a:r>
            <a:br/>
            <a:r>
              <a:rPr>
                <a:solidFill>
                  <a:srgbClr val="003B4F"/>
                </a:solidFill>
                <a:latin typeface="Courier"/>
              </a:rPr>
              <a:t>dlh_year_df &lt;- dlh_temp_df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group_by</a:t>
            </a:r>
            <a:r>
              <a:rPr>
                <a:solidFill>
                  <a:srgbClr val="003B4F"/>
                </a:solidFill>
                <a:latin typeface="Courier"/>
              </a:rPr>
              <a:t>(YEAR)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summarize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YEARMODA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first</a:t>
            </a:r>
            <a:r>
              <a:rPr>
                <a:solidFill>
                  <a:srgbClr val="003B4F"/>
                </a:solidFill>
                <a:latin typeface="Courier"/>
              </a:rPr>
              <a:t>(YEARMODA),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TEMP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mean</a:t>
            </a:r>
            <a:r>
              <a:rPr>
                <a:solidFill>
                  <a:srgbClr val="003B4F"/>
                </a:solidFill>
                <a:latin typeface="Courier"/>
              </a:rPr>
              <a:t>(TEMP, </a:t>
            </a:r>
            <a:r>
              <a:rPr>
                <a:solidFill>
                  <a:srgbClr val="657422"/>
                </a:solidFill>
                <a:latin typeface="Courier"/>
              </a:rPr>
              <a:t>na.rm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8F5902"/>
                </a:solidFill>
                <a:latin typeface="Courier"/>
              </a:rPr>
              <a:t>TRUE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)</a:t>
            </a:r>
            <a:br/>
            <a:br/>
            <a:r>
              <a:rPr>
                <a:solidFill>
                  <a:srgbClr val="4758AB"/>
                </a:solidFill>
                <a:latin typeface="Courier"/>
              </a:rPr>
              <a:t>head</a:t>
            </a:r>
            <a:r>
              <a:rPr>
                <a:solidFill>
                  <a:srgbClr val="003B4F"/>
                </a:solidFill>
                <a:latin typeface="Courier"/>
              </a:rPr>
              <a:t>(dlh_year_df)</a:t>
            </a:r>
          </a:p>
          <a:p>
            <a:pPr lvl="0" indent="0">
              <a:buNone/>
            </a:pPr>
            <a:r>
              <a:rPr>
                <a:latin typeface="Courier"/>
              </a:rPr>
              <a:t># A tibble: 6 × 3
   YEAR YEARMODA    TEMP
  &lt;int&gt; &lt;date&gt;     &lt;dbl&gt;
1  1948 1948-01-01  3.76
2  1949 1949-01-01  4.10
3  1950 1950-01-01  1.60
4  1951 1951-01-01  2.41
5  1952 1952-01-01  4.55
6  1953 1953-01-01  4.55</a:t>
            </a:r>
          </a:p>
          <a:p>
            <a:pPr lvl="0" indent="0">
              <a:buNone/>
            </a:pPr>
            <a:r>
              <a:rPr>
                <a:solidFill>
                  <a:srgbClr val="003B4F"/>
                </a:solidFill>
                <a:latin typeface="Courier"/>
              </a:rPr>
              <a:t>yearly_temp_plot &lt;- dlh_year_df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ggplot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aes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YEAR,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TEMP))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geom_point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size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2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geom_line</a:t>
            </a:r>
            <a:r>
              <a:rPr>
                <a:solidFill>
                  <a:srgbClr val="003B4F"/>
                </a:solidFill>
                <a:latin typeface="Courier"/>
              </a:rPr>
              <a:t>()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geom_smooth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method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"lm"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color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"firebrick"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labs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title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"Duluth Annual Mean Temperature, 1948–2025"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"Year"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"Mean Temp (°C)"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theme_minimal</a:t>
            </a:r>
            <a:r>
              <a:rPr>
                <a:solidFill>
                  <a:srgbClr val="003B4F"/>
                </a:solidFill>
                <a:latin typeface="Courier"/>
              </a:rPr>
              <a:t>()</a:t>
            </a:r>
            <a:br/>
            <a:br/>
            <a:r>
              <a:rPr>
                <a:solidFill>
                  <a:srgbClr val="003B4F"/>
                </a:solidFill>
                <a:latin typeface="Courier"/>
              </a:rPr>
              <a:t>yearly_temp_plot</a:t>
            </a:r>
          </a:p>
        </p:txBody>
      </p:sp>
      <p:pic>
        <p:nvPicPr>
          <p:cNvPr descr="weather_data_r_download_summarize_files/figure-pptx/yearly-plot-06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127000" y="1562100"/>
            <a:ext cx="4432300" cy="27305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5" name="Text Placeholder 4"/>
          <p:cNvSpPr>
            <a:spLocks noGrp="1"/>
          </p:cNvSpPr>
          <p:nvPr>
            <p:ph idx="3" sz="quarter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Now the trend is obvious.</a:t>
            </a:r>
          </a:p>
          <a:p>
            <a:pPr lvl="0"/>
            <a:r>
              <a:rPr/>
              <a:t>The seasonal noise is completely averaged out</a:t>
            </a:r>
          </a:p>
          <a:p>
            <a:pPr lvl="0"/>
            <a:r>
              <a:rPr/>
              <a:t>78 points instead of 28,000 — and the story is </a:t>
            </a:r>
            <a:r>
              <a:rPr i="1"/>
              <a:t>clearer</a:t>
            </a:r>
            <a:r>
              <a:rPr/>
              <a:t>, not weaker</a:t>
            </a:r>
          </a:p>
          <a:p>
            <a:pPr lvl="0"/>
            <a:r>
              <a:rPr/>
              <a:t>The blue/red trend line is the same kind of </a:t>
            </a:r>
            <a:r>
              <a:rPr>
                <a:latin typeface="Courier"/>
              </a:rPr>
              <a:t>geom_smooth(method = "lm")</a:t>
            </a:r>
            <a:r>
              <a:rPr/>
              <a:t> line from Lecture 03</a:t>
            </a:r>
          </a:p>
          <a:p>
            <a:pPr lvl="0" indent="0" marL="0">
              <a:buNone/>
            </a:pPr>
            <a:r>
              <a:rPr/>
              <a:t>This is the power of </a:t>
            </a:r>
            <a:r>
              <a:rPr>
                <a:latin typeface="Courier"/>
              </a:rPr>
              <a:t>group_by() %&gt;% summarize()</a:t>
            </a:r>
            <a:r>
              <a:rPr/>
              <a:t>: the right level of summary reveals the signal.</a:t>
            </a:r>
          </a:p>
        </p:txBody>
      </p:sp>
    </p:spTree>
  </p:cSld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1A1A2E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Same Data, Three Levels — Side by Side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0" y="660400"/>
          <a:ext cx="4191000" cy="3810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397000"/>
                <a:gridCol w="1397000"/>
                <a:gridCol w="13970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Level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What it shows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What it hides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Daily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every weather event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the long-term trend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Monthly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the seasonal cycle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day-to-day noise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Yearly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the climate trend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season, weather events</a:t>
                      </a:r>
                    </a:p>
                  </a:txBody>
                </a:tc>
              </a:tr>
            </a:tbl>
          </a:graphicData>
        </a:graphic>
      </p:graphicFrame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Important</a:t>
            </a:r>
          </a:p>
          <a:p>
            <a:pPr lvl="0" indent="0" marL="1270000">
              <a:buNone/>
            </a:pPr>
            <a:r>
              <a:rPr sz="2000" b="1"/>
              <a:t>Summarizing is not “losing information” — it’s choosing which question you’re answering.</a:t>
            </a:r>
          </a:p>
          <a:p>
            <a:pPr lvl="0" indent="0" marL="0">
              <a:buNone/>
            </a:pPr>
            <a:r>
              <a:rPr/>
              <a:t>📖 R4DS Ch. 3.5 — </a:t>
            </a:r>
            <a:r>
              <a:rPr>
                <a:latin typeface="Courier"/>
              </a:rPr>
              <a:t>group_by()</a:t>
            </a:r>
            <a:r>
              <a:rPr/>
              <a:t> + </a:t>
            </a:r>
            <a:r>
              <a:rPr>
                <a:latin typeface="Courier"/>
              </a:rPr>
              <a:t>summarize()</a:t>
            </a:r>
            <a:r>
              <a:rPr/>
              <a:t> workflow</a:t>
            </a:r>
          </a:p>
        </p:txBody>
      </p:sp>
    </p:spTree>
  </p:cSld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1A1A2E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What Is the Rate of Change? — Reusing </a:t>
            </a:r>
            <a:r>
              <a:rPr>
                <a:latin typeface="Courier"/>
              </a:rPr>
              <a:t>lm()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Fit a regression: TEMP predicted by YEAR ---------------</a:t>
            </a:r>
            <a:br/>
            <a:r>
              <a:rPr>
                <a:solidFill>
                  <a:srgbClr val="003B4F"/>
                </a:solidFill>
                <a:latin typeface="Courier"/>
              </a:rPr>
              <a:t>yearly_temp_model &lt;- </a:t>
            </a:r>
            <a:r>
              <a:rPr>
                <a:solidFill>
                  <a:srgbClr val="4758AB"/>
                </a:solidFill>
                <a:latin typeface="Courier"/>
              </a:rPr>
              <a:t>lm</a:t>
            </a:r>
            <a:r>
              <a:rPr>
                <a:solidFill>
                  <a:srgbClr val="003B4F"/>
                </a:solidFill>
                <a:latin typeface="Courier"/>
              </a:rPr>
              <a:t>(TEMP </a:t>
            </a:r>
            <a:r>
              <a:rPr>
                <a:solidFill>
                  <a:srgbClr val="5E5E5E"/>
                </a:solidFill>
                <a:latin typeface="Courier"/>
              </a:rPr>
              <a:t>~</a:t>
            </a:r>
            <a:r>
              <a:rPr>
                <a:solidFill>
                  <a:srgbClr val="003B4F"/>
                </a:solidFill>
                <a:latin typeface="Courier"/>
              </a:rPr>
              <a:t> YEAR, </a:t>
            </a:r>
            <a:r>
              <a:rPr>
                <a:solidFill>
                  <a:srgbClr val="657422"/>
                </a:solidFill>
                <a:latin typeface="Courier"/>
              </a:rPr>
              <a:t>data =</a:t>
            </a:r>
            <a:r>
              <a:rPr>
                <a:solidFill>
                  <a:srgbClr val="003B4F"/>
                </a:solidFill>
                <a:latin typeface="Courier"/>
              </a:rPr>
              <a:t> dlh_year_df)</a:t>
            </a:r>
            <a:br/>
            <a:br/>
            <a:r>
              <a:rPr>
                <a:solidFill>
                  <a:srgbClr val="4758AB"/>
                </a:solidFill>
                <a:latin typeface="Courier"/>
              </a:rPr>
              <a:t>summary</a:t>
            </a:r>
            <a:r>
              <a:rPr>
                <a:solidFill>
                  <a:srgbClr val="003B4F"/>
                </a:solidFill>
                <a:latin typeface="Courier"/>
              </a:rPr>
              <a:t>(yearly_temp_model)</a:t>
            </a:r>
          </a:p>
          <a:p>
            <a:pPr lvl="0" indent="0">
              <a:buNone/>
            </a:pPr>
            <a:r>
              <a:rPr>
                <a:latin typeface="Courier"/>
              </a:rPr>
              <a:t>
Call:
lm(formula = TEMP ~ YEAR, data = dlh_year_df)
Residuals:
     Min       1Q   Median       3Q      Max 
-1.99794 -0.51059  0.00688  0.49950  1.90458 
Coefficients:
              Estimate Std. Error t value Pr(&gt;|t|)    
(Intercept) -49.096842   9.119103  -5.384 9.77e-07 ***
YEAR          0.026872   0.004585   5.860 1.49e-07 ***
---
Signif. codes:  0 '***' 0.001 '**' 0.01 '*' 0.05 '.' 0.1 ' ' 1
Residual standard error: 0.8774 on 68 degrees of freedom
Multiple R-squared:  0.3356,    Adjusted R-squared:  0.3258 
F-statistic: 34.34 on 1 and 68 DF,  p-value: 1.489e-07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This is exactly Lecture 05’s </a:t>
            </a:r>
            <a:r>
              <a:rPr b="1">
                <a:latin typeface="Courier"/>
              </a:rPr>
              <a:t>lm()</a:t>
            </a:r>
            <a:r>
              <a:rPr b="1"/>
              <a:t> syntax</a:t>
            </a:r>
            <a:r>
              <a:rPr/>
              <a:t> — only now:</a:t>
            </a:r>
          </a:p>
          <a:p>
            <a:pPr lvl="0"/>
            <a:r>
              <a:rPr>
                <a:latin typeface="Courier"/>
              </a:rPr>
              <a:t>X</a:t>
            </a:r>
            <a:r>
              <a:rPr/>
              <a:t> = </a:t>
            </a:r>
            <a:r>
              <a:rPr>
                <a:latin typeface="Courier"/>
              </a:rPr>
              <a:t>YEAR</a:t>
            </a:r>
            <a:r>
              <a:rPr/>
              <a:t> (instead of paper mass)</a:t>
            </a:r>
          </a:p>
          <a:p>
            <a:pPr lvl="0"/>
            <a:r>
              <a:rPr>
                <a:latin typeface="Courier"/>
              </a:rPr>
              <a:t>Y</a:t>
            </a:r>
            <a:r>
              <a:rPr/>
              <a:t> = </a:t>
            </a:r>
            <a:r>
              <a:rPr>
                <a:latin typeface="Courier"/>
              </a:rPr>
              <a:t>TEMP</a:t>
            </a:r>
            <a:r>
              <a:rPr/>
              <a:t> (instead of paper area)</a:t>
            </a:r>
          </a:p>
          <a:p>
            <a:pPr lvl="0"/>
            <a:r>
              <a:rPr/>
              <a:t>The </a:t>
            </a:r>
            <a:r>
              <a:rPr b="1"/>
              <a:t>slope</a:t>
            </a:r>
            <a:r>
              <a:rPr/>
              <a:t> is no longer “cm² per gram” — it’s </a:t>
            </a:r>
            <a:r>
              <a:rPr b="1"/>
              <a:t>°C per year</a:t>
            </a:r>
          </a:p>
          <a:p>
            <a:pPr lvl="0" indent="0" marL="0">
              <a:buNone/>
            </a:pPr>
            <a:r>
              <a:rPr b="1"/>
              <a:t>H₀:</a:t>
            </a:r>
            <a:r>
              <a:rPr/>
              <a:t> β = 0 (no warming trend)</a:t>
            </a:r>
          </a:p>
          <a:p>
            <a:pPr lvl="0" indent="0" marL="0">
              <a:buNone/>
            </a:pPr>
            <a:r>
              <a:rPr b="1"/>
              <a:t>Hₐ:</a:t>
            </a:r>
            <a:r>
              <a:rPr/>
              <a:t> β ≠ 0 (temperature is changing over time)</a:t>
            </a:r>
          </a:p>
        </p:txBody>
      </p:sp>
    </p:spTree>
  </p:cSld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1A1A2E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Extracting and Interpreting the Slope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Pull the slope and convert to °C per decade ------------</a:t>
            </a:r>
            <a:br/>
            <a:r>
              <a:rPr>
                <a:solidFill>
                  <a:srgbClr val="003B4F"/>
                </a:solidFill>
                <a:latin typeface="Courier"/>
              </a:rPr>
              <a:t>yearly_intercept &lt;- </a:t>
            </a:r>
            <a:r>
              <a:rPr>
                <a:solidFill>
                  <a:srgbClr val="4758AB"/>
                </a:solidFill>
                <a:latin typeface="Courier"/>
              </a:rPr>
              <a:t>coef</a:t>
            </a:r>
            <a:r>
              <a:rPr>
                <a:solidFill>
                  <a:srgbClr val="003B4F"/>
                </a:solidFill>
                <a:latin typeface="Courier"/>
              </a:rPr>
              <a:t>(yearly_temp_model)[</a:t>
            </a:r>
            <a:r>
              <a:rPr>
                <a:solidFill>
                  <a:srgbClr val="AD0000"/>
                </a:solidFill>
                <a:latin typeface="Courier"/>
              </a:rPr>
              <a:t>1</a:t>
            </a:r>
            <a:r>
              <a:rPr>
                <a:solidFill>
                  <a:srgbClr val="003B4F"/>
                </a:solidFill>
                <a:latin typeface="Courier"/>
              </a:rPr>
              <a:t>]</a:t>
            </a:r>
            <a:br/>
            <a:r>
              <a:rPr>
                <a:solidFill>
                  <a:srgbClr val="003B4F"/>
                </a:solidFill>
                <a:latin typeface="Courier"/>
              </a:rPr>
              <a:t>yearly_slope &lt;- </a:t>
            </a:r>
            <a:r>
              <a:rPr>
                <a:solidFill>
                  <a:srgbClr val="4758AB"/>
                </a:solidFill>
                <a:latin typeface="Courier"/>
              </a:rPr>
              <a:t>coef</a:t>
            </a:r>
            <a:r>
              <a:rPr>
                <a:solidFill>
                  <a:srgbClr val="003B4F"/>
                </a:solidFill>
                <a:latin typeface="Courier"/>
              </a:rPr>
              <a:t>(yearly_temp_model)[</a:t>
            </a:r>
            <a:r>
              <a:rPr>
                <a:solidFill>
                  <a:srgbClr val="AD0000"/>
                </a:solidFill>
                <a:latin typeface="Courier"/>
              </a:rPr>
              <a:t>2</a:t>
            </a:r>
            <a:r>
              <a:rPr>
                <a:solidFill>
                  <a:srgbClr val="003B4F"/>
                </a:solidFill>
                <a:latin typeface="Courier"/>
              </a:rPr>
              <a:t>]</a:t>
            </a:r>
            <a:br/>
            <a:br/>
            <a:r>
              <a:rPr>
                <a:solidFill>
                  <a:srgbClr val="4758AB"/>
                </a:solidFill>
                <a:latin typeface="Courier"/>
              </a:rPr>
              <a:t>cat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"Slope (b)         ="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4758AB"/>
                </a:solidFill>
                <a:latin typeface="Courier"/>
              </a:rPr>
              <a:t>round</a:t>
            </a:r>
            <a:r>
              <a:rPr>
                <a:solidFill>
                  <a:srgbClr val="003B4F"/>
                </a:solidFill>
                <a:latin typeface="Courier"/>
              </a:rPr>
              <a:t>(yearly_slope, </a:t>
            </a:r>
            <a:r>
              <a:rPr>
                <a:solidFill>
                  <a:srgbClr val="AD0000"/>
                </a:solidFill>
                <a:latin typeface="Courier"/>
              </a:rPr>
              <a:t>4</a:t>
            </a:r>
            <a:r>
              <a:rPr>
                <a:solidFill>
                  <a:srgbClr val="003B4F"/>
                </a:solidFill>
                <a:latin typeface="Courier"/>
              </a:rPr>
              <a:t>), </a:t>
            </a:r>
            <a:r>
              <a:rPr>
                <a:solidFill>
                  <a:srgbClr val="20794D"/>
                </a:solidFill>
                <a:latin typeface="Courier"/>
              </a:rPr>
              <a:t>"°C/year</a:t>
            </a:r>
            <a:r>
              <a:rPr>
                <a:solidFill>
                  <a:srgbClr val="5E5E5E"/>
                </a:solidFill>
                <a:latin typeface="Courier"/>
              </a:rPr>
              <a:t>\n</a:t>
            </a:r>
            <a:r>
              <a:rPr>
                <a:solidFill>
                  <a:srgbClr val="20794D"/>
                </a:solidFill>
                <a:latin typeface="Courier"/>
              </a:rPr>
              <a:t>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  <a:p>
            <a:pPr lvl="0" indent="0">
              <a:buNone/>
            </a:pPr>
            <a:r>
              <a:rPr>
                <a:latin typeface="Courier"/>
              </a:rPr>
              <a:t>Slope (b)         = 0.0269 °C/year</a:t>
            </a:r>
          </a:p>
          <a:p>
            <a:pPr lvl="0" indent="0">
              <a:buNone/>
            </a:pPr>
            <a:r>
              <a:rPr>
                <a:solidFill>
                  <a:srgbClr val="4758AB"/>
                </a:solidFill>
                <a:latin typeface="Courier"/>
              </a:rPr>
              <a:t>cat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"Warming rate       ="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4758AB"/>
                </a:solidFill>
                <a:latin typeface="Courier"/>
              </a:rPr>
              <a:t>round</a:t>
            </a:r>
            <a:r>
              <a:rPr>
                <a:solidFill>
                  <a:srgbClr val="003B4F"/>
                </a:solidFill>
                <a:latin typeface="Courier"/>
              </a:rPr>
              <a:t>(yearly_slope </a:t>
            </a:r>
            <a:r>
              <a:rPr>
                <a:solidFill>
                  <a:srgbClr val="5E5E5E"/>
                </a:solidFill>
                <a:latin typeface="Courier"/>
              </a:rPr>
              <a:t>*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10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3</a:t>
            </a:r>
            <a:r>
              <a:rPr>
                <a:solidFill>
                  <a:srgbClr val="003B4F"/>
                </a:solidFill>
                <a:latin typeface="Courier"/>
              </a:rPr>
              <a:t>), </a:t>
            </a:r>
            <a:r>
              <a:rPr>
                <a:solidFill>
                  <a:srgbClr val="20794D"/>
                </a:solidFill>
                <a:latin typeface="Courier"/>
              </a:rPr>
              <a:t>"°C per decade</a:t>
            </a:r>
            <a:r>
              <a:rPr>
                <a:solidFill>
                  <a:srgbClr val="5E5E5E"/>
                </a:solidFill>
                <a:latin typeface="Courier"/>
              </a:rPr>
              <a:t>\n</a:t>
            </a:r>
            <a:r>
              <a:rPr>
                <a:solidFill>
                  <a:srgbClr val="20794D"/>
                </a:solidFill>
                <a:latin typeface="Courier"/>
              </a:rPr>
              <a:t>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  <a:p>
            <a:pPr lvl="0" indent="0">
              <a:buNone/>
            </a:pPr>
            <a:r>
              <a:rPr>
                <a:latin typeface="Courier"/>
              </a:rPr>
              <a:t>Warming rate       = 0.269 °C per decade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Why multiply by 10?</a:t>
            </a:r>
          </a:p>
          <a:p>
            <a:pPr lvl="0"/>
            <a:r>
              <a:rPr/>
              <a:t>The raw slope is in °C </a:t>
            </a:r>
            <a:r>
              <a:rPr b="1"/>
              <a:t>per year</a:t>
            </a:r>
            <a:r>
              <a:rPr/>
              <a:t> — a small, hard-to-feel number</a:t>
            </a:r>
          </a:p>
          <a:p>
            <a:pPr lvl="0"/>
            <a:r>
              <a:rPr/>
              <a:t>Multiplying by 10 converts to °C </a:t>
            </a:r>
            <a:r>
              <a:rPr b="1"/>
              <a:t>per decade</a:t>
            </a:r>
            <a:r>
              <a:rPr/>
              <a:t> — easier to communicate</a:t>
            </a:r>
          </a:p>
          <a:p>
            <a:pPr lvl="0"/>
            <a:r>
              <a:rPr/>
              <a:t>This is the same </a:t>
            </a:r>
            <a:r>
              <a:rPr>
                <a:latin typeface="Courier"/>
              </a:rPr>
              <a:t>coef()</a:t>
            </a:r>
            <a:r>
              <a:rPr/>
              <a:t> extraction skill from Lecture 05</a:t>
            </a:r>
          </a:p>
          <a:p>
            <a:pPr lvl="0" indent="0" marL="1270000">
              <a:buNone/>
            </a:pPr>
            <a:r>
              <a:rPr sz="2000" i="1"/>
              <a:t>b</a:t>
            </a:r>
            <a:r>
              <a:rPr sz="2000"/>
              <a:t> = 0.02 °C/year → 0.2 °C/decade — small year to year, but adds up over 78 years</a:t>
            </a:r>
          </a:p>
        </p:txBody>
      </p:sp>
    </p:spTree>
  </p:cSld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1A1A2E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Does the Same Pattern Hold at the Monthly Level?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Fit the same model on the monthly summary ---------------</a:t>
            </a:r>
            <a:br/>
            <a:r>
              <a:rPr>
                <a:solidFill>
                  <a:srgbClr val="003B4F"/>
                </a:solidFill>
                <a:latin typeface="Courier"/>
              </a:rPr>
              <a:t>monthly_temp_model &lt;- </a:t>
            </a:r>
            <a:r>
              <a:rPr>
                <a:solidFill>
                  <a:srgbClr val="4758AB"/>
                </a:solidFill>
                <a:latin typeface="Courier"/>
              </a:rPr>
              <a:t>lm</a:t>
            </a:r>
            <a:r>
              <a:rPr>
                <a:solidFill>
                  <a:srgbClr val="003B4F"/>
                </a:solidFill>
                <a:latin typeface="Courier"/>
              </a:rPr>
              <a:t>(TEMP </a:t>
            </a:r>
            <a:r>
              <a:rPr>
                <a:solidFill>
                  <a:srgbClr val="5E5E5E"/>
                </a:solidFill>
                <a:latin typeface="Courier"/>
              </a:rPr>
              <a:t>~</a:t>
            </a:r>
            <a:r>
              <a:rPr>
                <a:solidFill>
                  <a:srgbClr val="003B4F"/>
                </a:solidFill>
                <a:latin typeface="Courier"/>
              </a:rPr>
              <a:t> YEARMODA, </a:t>
            </a:r>
            <a:r>
              <a:rPr>
                <a:solidFill>
                  <a:srgbClr val="657422"/>
                </a:solidFill>
                <a:latin typeface="Courier"/>
              </a:rPr>
              <a:t>data =</a:t>
            </a:r>
            <a:r>
              <a:rPr>
                <a:solidFill>
                  <a:srgbClr val="003B4F"/>
                </a:solidFill>
                <a:latin typeface="Courier"/>
              </a:rPr>
              <a:t> dlh_month_df)</a:t>
            </a:r>
            <a:br/>
            <a:br/>
            <a:r>
              <a:rPr>
                <a:solidFill>
                  <a:srgbClr val="4758AB"/>
                </a:solidFill>
                <a:latin typeface="Courier"/>
              </a:rPr>
              <a:t>summary</a:t>
            </a:r>
            <a:r>
              <a:rPr>
                <a:solidFill>
                  <a:srgbClr val="003B4F"/>
                </a:solidFill>
                <a:latin typeface="Courier"/>
              </a:rPr>
              <a:t>(monthly_temp_model)</a:t>
            </a:r>
          </a:p>
          <a:p>
            <a:pPr lvl="0" indent="0">
              <a:buNone/>
            </a:pPr>
            <a:r>
              <a:rPr>
                <a:latin typeface="Courier"/>
              </a:rPr>
              <a:t>
Call:
lm(formula = TEMP ~ YEARMODA, data = dlh_month_df)
Residuals:
    Min      1Q  Median      3Q     Max 
-23.285  -9.826   1.130  10.303  17.402 
Coefficients:
             Estimate Std. Error t value Pr(&gt;|t|)    
(Intercept) 3.734e+00  4.954e-01   7.538 1.25e-13 ***
YEARMODA    7.788e-05  4.588e-05   1.698   0.0899 .  
---
Signif. codes:  0 '***' 0.001 '**' 0.01 '*' 0.05 '.' 0.1 ' ' 1
Residual standard error: 11.04 on 834 degrees of freedom
Multiple R-squared:  0.003444,  Adjusted R-squared:  0.002249 
F-statistic: 2.882 on 1 and 834 DF,  p-value: 0.08995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Compare to the yearly model:</a:t>
            </a:r>
          </a:p>
          <a:p>
            <a:pPr lvl="0"/>
            <a:r>
              <a:rPr/>
              <a:t>Same overall warming direction</a:t>
            </a:r>
          </a:p>
          <a:p>
            <a:pPr lvl="0"/>
            <a:r>
              <a:rPr/>
              <a:t>More residual scatter, because each point still carries some seasonal “memory”</a:t>
            </a:r>
          </a:p>
          <a:p>
            <a:pPr lvl="0"/>
            <a:r>
              <a:rPr/>
              <a:t>The yearly summary gives the cleanest, most interpretable slope for a </a:t>
            </a:r>
            <a:r>
              <a:rPr i="1"/>
              <a:t>long-term</a:t>
            </a:r>
            <a:r>
              <a:rPr/>
              <a:t> trend question</a:t>
            </a:r>
          </a:p>
          <a:p>
            <a:pPr lvl="0" indent="0" marL="0">
              <a:buNone/>
            </a:pPr>
            <a:r>
              <a:rPr/>
              <a:t>This is why we chose the </a:t>
            </a:r>
            <a:r>
              <a:rPr b="1"/>
              <a:t>yearly</a:t>
            </a:r>
            <a:r>
              <a:rPr/>
              <a:t> summary for our headline result.</a:t>
            </a:r>
          </a:p>
        </p:txBody>
      </p:sp>
    </p:spTree>
  </p:cSld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1A1A2E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A New Question — Is Every Season Warming the Same?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So far we’ve asked:</a:t>
            </a:r>
            <a:r>
              <a:rPr/>
              <a:t> is Duluth warming overall?</a:t>
            </a:r>
          </a:p>
          <a:p>
            <a:pPr lvl="0" indent="0" marL="0">
              <a:buNone/>
            </a:pPr>
            <a:r>
              <a:rPr b="1"/>
              <a:t>New question:</a:t>
            </a:r>
            <a:r>
              <a:rPr/>
              <a:t> is </a:t>
            </a:r>
            <a:r>
              <a:rPr b="1"/>
              <a:t>winter</a:t>
            </a:r>
            <a:r>
              <a:rPr/>
              <a:t> warming at the same rate as </a:t>
            </a:r>
            <a:r>
              <a:rPr b="1"/>
              <a:t>summer</a:t>
            </a:r>
            <a:r>
              <a:rPr/>
              <a:t>?</a:t>
            </a:r>
          </a:p>
          <a:p>
            <a:pPr lvl="0" indent="0" marL="0">
              <a:buNone/>
            </a:pPr>
            <a:r>
              <a:rPr/>
              <a:t>This matters biologically — earlier springs, shorter ice seasons, and changing growing seasons don’t depend on the </a:t>
            </a:r>
            <a:r>
              <a:rPr i="1"/>
              <a:t>annual average</a:t>
            </a:r>
            <a:r>
              <a:rPr/>
              <a:t>. They depend on which </a:t>
            </a:r>
            <a:r>
              <a:rPr b="1"/>
              <a:t>season</a:t>
            </a:r>
            <a:r>
              <a:rPr/>
              <a:t> is changing fastest.</a:t>
            </a:r>
          </a:p>
          <a:p>
            <a:pPr lvl="0" indent="0" marL="0">
              <a:buNone/>
            </a:pPr>
            <a:r>
              <a:rPr b="1"/>
              <a:t>Plan:</a:t>
            </a:r>
          </a:p>
          <a:p>
            <a:pPr lvl="0" indent="-342900" marL="342900">
              <a:buAutoNum type="arabicPeriod"/>
            </a:pPr>
            <a:r>
              <a:rPr/>
              <a:t>Label every day as summer or winter using </a:t>
            </a:r>
            <a:r>
              <a:rPr>
                <a:latin typeface="Courier"/>
              </a:rPr>
              <a:t>case_when()</a:t>
            </a:r>
          </a:p>
          <a:p>
            <a:pPr lvl="0" indent="-342900" marL="342900">
              <a:buAutoNum type="arabicPeriod"/>
            </a:pPr>
            <a:r>
              <a:rPr/>
              <a:t>Summarize mean temperature by year </a:t>
            </a:r>
            <a:r>
              <a:rPr b="1"/>
              <a:t>within each season</a:t>
            </a:r>
          </a:p>
          <a:p>
            <a:pPr lvl="0" indent="-342900" marL="342900">
              <a:buAutoNum type="arabicPeriod"/>
            </a:pPr>
            <a:r>
              <a:rPr/>
              <a:t>Fit a </a:t>
            </a:r>
            <a:r>
              <a:rPr i="1"/>
              <a:t>separate</a:t>
            </a:r>
            <a:r>
              <a:rPr/>
              <a:t> </a:t>
            </a:r>
            <a:r>
              <a:rPr>
                <a:latin typeface="Courier"/>
              </a:rPr>
              <a:t>lm()</a:t>
            </a:r>
            <a:r>
              <a:rPr/>
              <a:t> for each season</a:t>
            </a:r>
          </a:p>
          <a:p>
            <a:pPr lvl="0" indent="-342900" marL="342900">
              <a:buAutoNum type="arabicPeriod"/>
            </a:pPr>
            <a:r>
              <a:rPr/>
              <a:t>Compare the two slopes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Tip</a:t>
            </a:r>
          </a:p>
          <a:p>
            <a:pPr lvl="0" indent="0" marL="1270000">
              <a:buNone/>
            </a:pPr>
            <a:r>
              <a:rPr sz="2000" b="1"/>
              <a:t>🖐 Try it yourself</a:t>
            </a:r>
          </a:p>
          <a:p>
            <a:pPr lvl="0" indent="0" marL="1270000">
              <a:buNone/>
            </a:pPr>
            <a:r>
              <a:rPr sz="2000"/>
              <a:t>Make a prediction now: which season do you think is warming faster — winter or summer? We’ll find out with real data.</a:t>
            </a:r>
          </a:p>
        </p:txBody>
      </p:sp>
    </p:spTree>
  </p:cSld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1A1A2E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Building a Season Variable with </a:t>
            </a:r>
            <a:r>
              <a:rPr>
                <a:latin typeface="Courier"/>
              </a:rPr>
              <a:t>case_when()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Label each day as summer, winter, or shoulder season ----</a:t>
            </a:r>
            <a:br/>
            <a:r>
              <a:rPr>
                <a:solidFill>
                  <a:srgbClr val="003B4F"/>
                </a:solidFill>
                <a:latin typeface="Courier"/>
              </a:rPr>
              <a:t>dlh_season_df &lt;- dlh_temp_df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mutate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season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case_when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MONTH </a:t>
            </a:r>
            <a:r>
              <a:rPr>
                <a:solidFill>
                  <a:srgbClr val="5E5E5E"/>
                </a:solidFill>
                <a:latin typeface="Courier"/>
              </a:rPr>
              <a:t>%in%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c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AD0000"/>
                </a:solidFill>
                <a:latin typeface="Courier"/>
              </a:rPr>
              <a:t>6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7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8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~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"summer"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MONTH </a:t>
            </a:r>
            <a:r>
              <a:rPr>
                <a:solidFill>
                  <a:srgbClr val="5E5E5E"/>
                </a:solidFill>
                <a:latin typeface="Courier"/>
              </a:rPr>
              <a:t>%in%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c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AD0000"/>
                </a:solidFill>
                <a:latin typeface="Courier"/>
              </a:rPr>
              <a:t>12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1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2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~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"winter"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</a:t>
            </a:r>
            <a:r>
              <a:rPr>
                <a:solidFill>
                  <a:srgbClr val="8F5902"/>
                </a:solidFill>
                <a:latin typeface="Courier"/>
              </a:rPr>
              <a:t>TRUE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5E5E5E"/>
                </a:solidFill>
                <a:latin typeface="Courier"/>
              </a:rPr>
              <a:t>~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"shoulder"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)</a:t>
            </a:r>
            <a:br/>
            <a:br/>
            <a:r>
              <a:rPr>
                <a:solidFill>
                  <a:srgbClr val="5E5E5E"/>
                </a:solidFill>
                <a:latin typeface="Courier"/>
              </a:rPr>
              <a:t># Quick check - did it work? -------------------------------</a:t>
            </a:r>
            <a:br/>
            <a:r>
              <a:rPr>
                <a:solidFill>
                  <a:srgbClr val="003B4F"/>
                </a:solidFill>
                <a:latin typeface="Courier"/>
              </a:rPr>
              <a:t>dlh_season_df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count</a:t>
            </a:r>
            <a:r>
              <a:rPr>
                <a:solidFill>
                  <a:srgbClr val="003B4F"/>
                </a:solidFill>
                <a:latin typeface="Courier"/>
              </a:rPr>
              <a:t>(season)</a:t>
            </a:r>
          </a:p>
          <a:p>
            <a:pPr lvl="0" indent="0">
              <a:buNone/>
            </a:pPr>
            <a:r>
              <a:rPr>
                <a:latin typeface="Courier"/>
              </a:rPr>
              <a:t>     season     n
     &lt;char&gt; &lt;int&gt;
1: shoulder 12718
2:   summer  6436
3:   winter  6287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Reading </a:t>
            </a:r>
            <a:r>
              <a:rPr b="1">
                <a:latin typeface="Courier"/>
              </a:rPr>
              <a:t>case_when()</a:t>
            </a:r>
            <a:r>
              <a:rPr b="1"/>
              <a:t>:</a:t>
            </a:r>
          </a:p>
          <a:p>
            <a:pPr lvl="0"/>
            <a:r>
              <a:rPr/>
              <a:t>Each line is read top to bottom: </a:t>
            </a:r>
            <a:r>
              <a:rPr i="1"/>
              <a:t>condition</a:t>
            </a:r>
            <a:r>
              <a:rPr/>
              <a:t> </a:t>
            </a:r>
            <a:r>
              <a:rPr>
                <a:latin typeface="Courier"/>
              </a:rPr>
              <a:t>~</a:t>
            </a:r>
            <a:r>
              <a:rPr/>
              <a:t> </a:t>
            </a:r>
            <a:r>
              <a:rPr i="1"/>
              <a:t>result</a:t>
            </a:r>
          </a:p>
          <a:p>
            <a:pPr lvl="0"/>
            <a:r>
              <a:rPr>
                <a:latin typeface="Courier"/>
              </a:rPr>
              <a:t>MONTH %in% c(6, 7, 8)</a:t>
            </a:r>
            <a:r>
              <a:rPr/>
              <a:t> — “is MONTH one of 6, 7, or 8?”</a:t>
            </a:r>
          </a:p>
          <a:p>
            <a:pPr lvl="0"/>
            <a:r>
              <a:rPr>
                <a:latin typeface="Courier"/>
              </a:rPr>
              <a:t>TRUE ~ "shoulder"</a:t>
            </a:r>
            <a:r>
              <a:rPr/>
              <a:t> — the catch-all for everything not matched above (spring/fall)</a:t>
            </a:r>
          </a:p>
          <a:p>
            <a:pPr lvl="0" indent="0" marL="0">
              <a:buNone/>
            </a:pPr>
            <a:r>
              <a:rPr/>
              <a:t>This is a new, more powerful cousin of the </a:t>
            </a:r>
            <a:r>
              <a:rPr>
                <a:latin typeface="Courier"/>
              </a:rPr>
              <a:t>ifelse()</a:t>
            </a:r>
            <a:r>
              <a:rPr/>
              <a:t> you’ve used before — </a:t>
            </a:r>
            <a:r>
              <a:rPr>
                <a:latin typeface="Courier"/>
              </a:rPr>
              <a:t>case_when()</a:t>
            </a:r>
            <a:r>
              <a:rPr/>
              <a:t> handles </a:t>
            </a:r>
            <a:r>
              <a:rPr b="1"/>
              <a:t>many</a:t>
            </a:r>
            <a:r>
              <a:rPr/>
              <a:t> conditions cleanly.</a:t>
            </a:r>
          </a:p>
          <a:p>
            <a:pPr lvl="0" indent="0" marL="0">
              <a:buNone/>
            </a:pPr>
            <a:r>
              <a:rPr/>
              <a:t>📖 R4DS Ch. 3.4 — </a:t>
            </a:r>
            <a:r>
              <a:rPr>
                <a:latin typeface="Courier"/>
              </a:rPr>
              <a:t>case_when()</a:t>
            </a:r>
            <a:r>
              <a:rPr/>
              <a:t> for multi-way </a:t>
            </a:r>
            <a:r>
              <a:rPr>
                <a:latin typeface="Courier"/>
              </a:rPr>
              <a:t>mutate()</a:t>
            </a:r>
          </a:p>
        </p:txBody>
      </p:sp>
    </p:spTree>
  </p:cSld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1A1A2E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Summarize Each Season by Year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Keep only summer and winter, then summarize by year -----</a:t>
            </a:r>
            <a:br/>
            <a:r>
              <a:rPr>
                <a:solidFill>
                  <a:srgbClr val="003B4F"/>
                </a:solidFill>
                <a:latin typeface="Courier"/>
              </a:rPr>
              <a:t>season_year_df &lt;- dlh_season_df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filter</a:t>
            </a:r>
            <a:r>
              <a:rPr>
                <a:solidFill>
                  <a:srgbClr val="003B4F"/>
                </a:solidFill>
                <a:latin typeface="Courier"/>
              </a:rPr>
              <a:t>(season </a:t>
            </a:r>
            <a:r>
              <a:rPr>
                <a:solidFill>
                  <a:srgbClr val="5E5E5E"/>
                </a:solidFill>
                <a:latin typeface="Courier"/>
              </a:rPr>
              <a:t>%in%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c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"summer"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20794D"/>
                </a:solidFill>
                <a:latin typeface="Courier"/>
              </a:rPr>
              <a:t>"winter"</a:t>
            </a:r>
            <a:r>
              <a:rPr>
                <a:solidFill>
                  <a:srgbClr val="003B4F"/>
                </a:solidFill>
                <a:latin typeface="Courier"/>
              </a:rPr>
              <a:t>))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group_by</a:t>
            </a:r>
            <a:r>
              <a:rPr>
                <a:solidFill>
                  <a:srgbClr val="003B4F"/>
                </a:solidFill>
                <a:latin typeface="Courier"/>
              </a:rPr>
              <a:t>(YEAR, season)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summarize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TEMP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mean</a:t>
            </a:r>
            <a:r>
              <a:rPr>
                <a:solidFill>
                  <a:srgbClr val="003B4F"/>
                </a:solidFill>
                <a:latin typeface="Courier"/>
              </a:rPr>
              <a:t>(TEMP, </a:t>
            </a:r>
            <a:r>
              <a:rPr>
                <a:solidFill>
                  <a:srgbClr val="657422"/>
                </a:solidFill>
                <a:latin typeface="Courier"/>
              </a:rPr>
              <a:t>na.rm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8F5902"/>
                </a:solidFill>
                <a:latin typeface="Courier"/>
              </a:rPr>
              <a:t>TRUE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)</a:t>
            </a:r>
            <a:br/>
            <a:br/>
            <a:r>
              <a:rPr>
                <a:solidFill>
                  <a:srgbClr val="4758AB"/>
                </a:solidFill>
                <a:latin typeface="Courier"/>
              </a:rPr>
              <a:t>head</a:t>
            </a:r>
            <a:r>
              <a:rPr>
                <a:solidFill>
                  <a:srgbClr val="003B4F"/>
                </a:solidFill>
                <a:latin typeface="Courier"/>
              </a:rPr>
              <a:t>(season_year_df)</a:t>
            </a:r>
          </a:p>
          <a:p>
            <a:pPr lvl="0" indent="0">
              <a:buNone/>
            </a:pPr>
            <a:r>
              <a:rPr>
                <a:latin typeface="Courier"/>
              </a:rPr>
              <a:t># A tibble: 6 × 3
# Groups:   YEAR [3]
   YEAR season  TEMP
  &lt;int&gt; &lt;chr&gt;  &lt;dbl&gt;
1  1948 summer  17.4
2  1948 winter -12.6
3  1949 summer  18.4
4  1949 winter -11.4
5  1950 summer  15.3
6  1950 winter -13.6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What changed:</a:t>
            </a:r>
          </a:p>
          <a:p>
            <a:pPr lvl="0"/>
            <a:r>
              <a:rPr>
                <a:latin typeface="Courier"/>
              </a:rPr>
              <a:t>filter()</a:t>
            </a:r>
            <a:r>
              <a:rPr/>
              <a:t> drops shoulder-season days — we only want the two extremes</a:t>
            </a:r>
          </a:p>
          <a:p>
            <a:pPr lvl="0"/>
            <a:r>
              <a:rPr>
                <a:latin typeface="Courier"/>
              </a:rPr>
              <a:t>group_by(YEAR, season)</a:t>
            </a:r>
            <a:r>
              <a:rPr/>
              <a:t> — grouping by </a:t>
            </a:r>
            <a:r>
              <a:rPr b="1"/>
              <a:t>two</a:t>
            </a:r>
            <a:r>
              <a:rPr/>
              <a:t> variables gives us one mean temperature per year </a:t>
            </a:r>
            <a:r>
              <a:rPr b="1"/>
              <a:t>per season</a:t>
            </a:r>
          </a:p>
          <a:p>
            <a:pPr lvl="0" indent="0" marL="0">
              <a:buNone/>
            </a:pPr>
            <a:r>
              <a:rPr/>
              <a:t>This produces a tidy long-format data frame — perfect for both plotting and modeling.</a:t>
            </a:r>
          </a:p>
        </p:txBody>
      </p:sp>
    </p:spTree>
  </p:cSld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/>
          <a:lstStyle/>
          <a:p>
            <a:pPr lvl="0" indent="0" marL="0">
              <a:buNone/>
            </a:pPr>
            <a:r>
              <a:rPr/>
              <a:t>Plot Both Seasons Together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Plot both seasons with separate trend lines --------------</a:t>
            </a:r>
            <a:br/>
            <a:r>
              <a:rPr>
                <a:solidFill>
                  <a:srgbClr val="003B4F"/>
                </a:solidFill>
                <a:latin typeface="Courier"/>
              </a:rPr>
              <a:t>season_temp_plot &lt;- season_year_df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ggplot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aes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YEAR,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TEMP, </a:t>
            </a:r>
            <a:r>
              <a:rPr>
                <a:solidFill>
                  <a:srgbClr val="657422"/>
                </a:solidFill>
                <a:latin typeface="Courier"/>
              </a:rPr>
              <a:t>color =</a:t>
            </a:r>
            <a:r>
              <a:rPr>
                <a:solidFill>
                  <a:srgbClr val="003B4F"/>
                </a:solidFill>
                <a:latin typeface="Courier"/>
              </a:rPr>
              <a:t> season))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geom_point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size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1.8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alpha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0.7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geom_smooth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method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"lm"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se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8F5902"/>
                </a:solidFill>
                <a:latin typeface="Courier"/>
              </a:rPr>
              <a:t>TRUE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scale_color_manual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values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c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</a:t>
            </a:r>
            <a:r>
              <a:rPr>
                <a:solidFill>
                  <a:srgbClr val="20794D"/>
                </a:solidFill>
                <a:latin typeface="Courier"/>
              </a:rPr>
              <a:t>"summer"</a:t>
            </a:r>
            <a:r>
              <a:rPr>
                <a:solidFill>
                  <a:srgbClr val="003B4F"/>
                </a:solidFill>
                <a:latin typeface="Courier"/>
              </a:rPr>
              <a:t> = </a:t>
            </a:r>
            <a:r>
              <a:rPr>
                <a:solidFill>
                  <a:srgbClr val="20794D"/>
                </a:solidFill>
                <a:latin typeface="Courier"/>
              </a:rPr>
              <a:t>"firebrick"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</a:t>
            </a:r>
            <a:r>
              <a:rPr>
                <a:solidFill>
                  <a:srgbClr val="20794D"/>
                </a:solidFill>
                <a:latin typeface="Courier"/>
              </a:rPr>
              <a:t>"winter"</a:t>
            </a:r>
            <a:r>
              <a:rPr>
                <a:solidFill>
                  <a:srgbClr val="003B4F"/>
                </a:solidFill>
                <a:latin typeface="Courier"/>
              </a:rPr>
              <a:t> = </a:t>
            </a:r>
            <a:r>
              <a:rPr>
                <a:solidFill>
                  <a:srgbClr val="20794D"/>
                </a:solidFill>
                <a:latin typeface="Courier"/>
              </a:rPr>
              <a:t>"steelblue"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labs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title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"Duluth Summer vs. Winter Temperature Trends"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"Year"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"Mean Temp (°C)"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color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"Season"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theme_minimal</a:t>
            </a:r>
            <a:r>
              <a:rPr>
                <a:solidFill>
                  <a:srgbClr val="003B4F"/>
                </a:solidFill>
                <a:latin typeface="Courier"/>
              </a:rPr>
              <a:t>()</a:t>
            </a:r>
            <a:br/>
            <a:br/>
            <a:r>
              <a:rPr>
                <a:solidFill>
                  <a:srgbClr val="003B4F"/>
                </a:solidFill>
                <a:latin typeface="Courier"/>
              </a:rPr>
              <a:t>season_temp_plot</a:t>
            </a:r>
          </a:p>
        </p:txBody>
      </p:sp>
      <p:pic>
        <p:nvPicPr>
          <p:cNvPr descr="weather_data_r_download_summarize_files/figure-pptx/season-plot-06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127000" y="1562100"/>
            <a:ext cx="4432300" cy="27305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5" name="Text Placeholder 4"/>
          <p:cNvSpPr>
            <a:spLocks noGrp="1"/>
          </p:cNvSpPr>
          <p:nvPr>
            <p:ph idx="3" sz="quarter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What to look for:</a:t>
            </a:r>
          </a:p>
          <a:p>
            <a:pPr lvl="0"/>
            <a:r>
              <a:rPr/>
              <a:t>Two clearly separated bands — winter is much colder than summer, as expected</a:t>
            </a:r>
          </a:p>
          <a:p>
            <a:pPr lvl="0"/>
            <a:r>
              <a:rPr/>
              <a:t>Compare the </a:t>
            </a:r>
            <a:r>
              <a:rPr b="1"/>
              <a:t>steepness</a:t>
            </a:r>
            <a:r>
              <a:rPr/>
              <a:t> of each trend line, not just the starting height</a:t>
            </a:r>
          </a:p>
          <a:p>
            <a:pPr lvl="0"/>
            <a:r>
              <a:rPr/>
              <a:t>A steeper slope means a faster rate of warming for that season</a:t>
            </a:r>
          </a:p>
        </p:txBody>
      </p:sp>
    </p:spTree>
  </p:cSld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1A1A2E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Fit a Separate Model for Each Season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Summer-only model -----------------------------------------</a:t>
            </a:r>
            <a:br/>
            <a:r>
              <a:rPr>
                <a:solidFill>
                  <a:srgbClr val="003B4F"/>
                </a:solidFill>
                <a:latin typeface="Courier"/>
              </a:rPr>
              <a:t>summer_df &lt;- season_year_df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filter</a:t>
            </a:r>
            <a:r>
              <a:rPr>
                <a:solidFill>
                  <a:srgbClr val="003B4F"/>
                </a:solidFill>
                <a:latin typeface="Courier"/>
              </a:rPr>
              <a:t>(season </a:t>
            </a:r>
            <a:r>
              <a:rPr>
                <a:solidFill>
                  <a:srgbClr val="5E5E5E"/>
                </a:solidFill>
                <a:latin typeface="Courier"/>
              </a:rPr>
              <a:t>==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"summer"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summer_model &lt;- </a:t>
            </a:r>
            <a:r>
              <a:rPr>
                <a:solidFill>
                  <a:srgbClr val="4758AB"/>
                </a:solidFill>
                <a:latin typeface="Courier"/>
              </a:rPr>
              <a:t>lm</a:t>
            </a:r>
            <a:r>
              <a:rPr>
                <a:solidFill>
                  <a:srgbClr val="003B4F"/>
                </a:solidFill>
                <a:latin typeface="Courier"/>
              </a:rPr>
              <a:t>(TEMP </a:t>
            </a:r>
            <a:r>
              <a:rPr>
                <a:solidFill>
                  <a:srgbClr val="5E5E5E"/>
                </a:solidFill>
                <a:latin typeface="Courier"/>
              </a:rPr>
              <a:t>~</a:t>
            </a:r>
            <a:r>
              <a:rPr>
                <a:solidFill>
                  <a:srgbClr val="003B4F"/>
                </a:solidFill>
                <a:latin typeface="Courier"/>
              </a:rPr>
              <a:t> YEAR, </a:t>
            </a:r>
            <a:r>
              <a:rPr>
                <a:solidFill>
                  <a:srgbClr val="657422"/>
                </a:solidFill>
                <a:latin typeface="Courier"/>
              </a:rPr>
              <a:t>data =</a:t>
            </a:r>
            <a:r>
              <a:rPr>
                <a:solidFill>
                  <a:srgbClr val="003B4F"/>
                </a:solidFill>
                <a:latin typeface="Courier"/>
              </a:rPr>
              <a:t> summer_df)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summer_slope &lt;- </a:t>
            </a:r>
            <a:r>
              <a:rPr>
                <a:solidFill>
                  <a:srgbClr val="4758AB"/>
                </a:solidFill>
                <a:latin typeface="Courier"/>
              </a:rPr>
              <a:t>coef</a:t>
            </a:r>
            <a:r>
              <a:rPr>
                <a:solidFill>
                  <a:srgbClr val="003B4F"/>
                </a:solidFill>
                <a:latin typeface="Courier"/>
              </a:rPr>
              <a:t>(summer_model)[</a:t>
            </a:r>
            <a:r>
              <a:rPr>
                <a:solidFill>
                  <a:srgbClr val="AD0000"/>
                </a:solidFill>
                <a:latin typeface="Courier"/>
              </a:rPr>
              <a:t>2</a:t>
            </a:r>
            <a:r>
              <a:rPr>
                <a:solidFill>
                  <a:srgbClr val="003B4F"/>
                </a:solidFill>
                <a:latin typeface="Courier"/>
              </a:rPr>
              <a:t>]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Winter-only model -----------------------------------------</a:t>
            </a:r>
            <a:br/>
            <a:r>
              <a:rPr>
                <a:solidFill>
                  <a:srgbClr val="003B4F"/>
                </a:solidFill>
                <a:latin typeface="Courier"/>
              </a:rPr>
              <a:t>winter_df &lt;- season_year_df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filter</a:t>
            </a:r>
            <a:r>
              <a:rPr>
                <a:solidFill>
                  <a:srgbClr val="003B4F"/>
                </a:solidFill>
                <a:latin typeface="Courier"/>
              </a:rPr>
              <a:t>(season </a:t>
            </a:r>
            <a:r>
              <a:rPr>
                <a:solidFill>
                  <a:srgbClr val="5E5E5E"/>
                </a:solidFill>
                <a:latin typeface="Courier"/>
              </a:rPr>
              <a:t>==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"winter"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winter_model &lt;- </a:t>
            </a:r>
            <a:r>
              <a:rPr>
                <a:solidFill>
                  <a:srgbClr val="4758AB"/>
                </a:solidFill>
                <a:latin typeface="Courier"/>
              </a:rPr>
              <a:t>lm</a:t>
            </a:r>
            <a:r>
              <a:rPr>
                <a:solidFill>
                  <a:srgbClr val="003B4F"/>
                </a:solidFill>
                <a:latin typeface="Courier"/>
              </a:rPr>
              <a:t>(TEMP </a:t>
            </a:r>
            <a:r>
              <a:rPr>
                <a:solidFill>
                  <a:srgbClr val="5E5E5E"/>
                </a:solidFill>
                <a:latin typeface="Courier"/>
              </a:rPr>
              <a:t>~</a:t>
            </a:r>
            <a:r>
              <a:rPr>
                <a:solidFill>
                  <a:srgbClr val="003B4F"/>
                </a:solidFill>
                <a:latin typeface="Courier"/>
              </a:rPr>
              <a:t> YEAR, </a:t>
            </a:r>
            <a:r>
              <a:rPr>
                <a:solidFill>
                  <a:srgbClr val="657422"/>
                </a:solidFill>
                <a:latin typeface="Courier"/>
              </a:rPr>
              <a:t>data =</a:t>
            </a:r>
            <a:r>
              <a:rPr>
                <a:solidFill>
                  <a:srgbClr val="003B4F"/>
                </a:solidFill>
                <a:latin typeface="Courier"/>
              </a:rPr>
              <a:t> winter_df)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winter_slope &lt;- </a:t>
            </a:r>
            <a:r>
              <a:rPr>
                <a:solidFill>
                  <a:srgbClr val="4758AB"/>
                </a:solidFill>
                <a:latin typeface="Courier"/>
              </a:rPr>
              <a:t>coef</a:t>
            </a:r>
            <a:r>
              <a:rPr>
                <a:solidFill>
                  <a:srgbClr val="003B4F"/>
                </a:solidFill>
                <a:latin typeface="Courier"/>
              </a:rPr>
              <a:t>(winter_model)[</a:t>
            </a:r>
            <a:r>
              <a:rPr>
                <a:solidFill>
                  <a:srgbClr val="AD0000"/>
                </a:solidFill>
                <a:latin typeface="Courier"/>
              </a:rPr>
              <a:t>2</a:t>
            </a:r>
            <a:r>
              <a:rPr>
                <a:solidFill>
                  <a:srgbClr val="003B4F"/>
                </a:solidFill>
                <a:latin typeface="Courier"/>
              </a:rPr>
              <a:t>]</a:t>
            </a:r>
          </a:p>
          <a:p>
            <a:pPr lvl="0" indent="0">
              <a:buNone/>
            </a:pPr>
            <a:r>
              <a:rPr>
                <a:solidFill>
                  <a:srgbClr val="4758AB"/>
                </a:solidFill>
                <a:latin typeface="Courier"/>
              </a:rPr>
              <a:t>cat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"Summer warming rate:"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4758AB"/>
                </a:solidFill>
                <a:latin typeface="Courier"/>
              </a:rPr>
              <a:t>round</a:t>
            </a:r>
            <a:r>
              <a:rPr>
                <a:solidFill>
                  <a:srgbClr val="003B4F"/>
                </a:solidFill>
                <a:latin typeface="Courier"/>
              </a:rPr>
              <a:t>(summer_slope </a:t>
            </a:r>
            <a:r>
              <a:rPr>
                <a:solidFill>
                  <a:srgbClr val="5E5E5E"/>
                </a:solidFill>
                <a:latin typeface="Courier"/>
              </a:rPr>
              <a:t>*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10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3</a:t>
            </a:r>
            <a:r>
              <a:rPr>
                <a:solidFill>
                  <a:srgbClr val="003B4F"/>
                </a:solidFill>
                <a:latin typeface="Courier"/>
              </a:rPr>
              <a:t>), </a:t>
            </a:r>
            <a:r>
              <a:rPr>
                <a:solidFill>
                  <a:srgbClr val="20794D"/>
                </a:solidFill>
                <a:latin typeface="Courier"/>
              </a:rPr>
              <a:t>"°C/decade</a:t>
            </a:r>
            <a:r>
              <a:rPr>
                <a:solidFill>
                  <a:srgbClr val="5E5E5E"/>
                </a:solidFill>
                <a:latin typeface="Courier"/>
              </a:rPr>
              <a:t>\n</a:t>
            </a:r>
            <a:r>
              <a:rPr>
                <a:solidFill>
                  <a:srgbClr val="20794D"/>
                </a:solidFill>
                <a:latin typeface="Courier"/>
              </a:rPr>
              <a:t>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  <a:p>
            <a:pPr lvl="0" indent="0">
              <a:buNone/>
            </a:pPr>
            <a:r>
              <a:rPr>
                <a:latin typeface="Courier"/>
              </a:rPr>
              <a:t>Summer warming rate: 0.211 °C/decade</a:t>
            </a:r>
          </a:p>
          <a:p>
            <a:pPr lvl="0" indent="0">
              <a:buNone/>
            </a:pPr>
            <a:r>
              <a:rPr>
                <a:solidFill>
                  <a:srgbClr val="4758AB"/>
                </a:solidFill>
                <a:latin typeface="Courier"/>
              </a:rPr>
              <a:t>cat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"Winter warming rate:"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4758AB"/>
                </a:solidFill>
                <a:latin typeface="Courier"/>
              </a:rPr>
              <a:t>round</a:t>
            </a:r>
            <a:r>
              <a:rPr>
                <a:solidFill>
                  <a:srgbClr val="003B4F"/>
                </a:solidFill>
                <a:latin typeface="Courier"/>
              </a:rPr>
              <a:t>(winter_slope </a:t>
            </a:r>
            <a:r>
              <a:rPr>
                <a:solidFill>
                  <a:srgbClr val="5E5E5E"/>
                </a:solidFill>
                <a:latin typeface="Courier"/>
              </a:rPr>
              <a:t>*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10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3</a:t>
            </a:r>
            <a:r>
              <a:rPr>
                <a:solidFill>
                  <a:srgbClr val="003B4F"/>
                </a:solidFill>
                <a:latin typeface="Courier"/>
              </a:rPr>
              <a:t>), </a:t>
            </a:r>
            <a:r>
              <a:rPr>
                <a:solidFill>
                  <a:srgbClr val="20794D"/>
                </a:solidFill>
                <a:latin typeface="Courier"/>
              </a:rPr>
              <a:t>"°C/decade</a:t>
            </a:r>
            <a:r>
              <a:rPr>
                <a:solidFill>
                  <a:srgbClr val="5E5E5E"/>
                </a:solidFill>
                <a:latin typeface="Courier"/>
              </a:rPr>
              <a:t>\n</a:t>
            </a:r>
            <a:r>
              <a:rPr>
                <a:solidFill>
                  <a:srgbClr val="20794D"/>
                </a:solidFill>
                <a:latin typeface="Courier"/>
              </a:rPr>
              <a:t>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  <a:p>
            <a:pPr lvl="0" indent="0">
              <a:buNone/>
            </a:pPr>
            <a:r>
              <a:rPr>
                <a:latin typeface="Courier"/>
              </a:rPr>
              <a:t>Winter warming rate: 0.342 °C/decade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Why fit two separate models</a:t>
            </a:r>
            <a:r>
              <a:rPr/>
              <a:t> instead of one model with </a:t>
            </a:r>
            <a:r>
              <a:rPr>
                <a:latin typeface="Courier"/>
              </a:rPr>
              <a:t>season</a:t>
            </a:r>
            <a:r>
              <a:rPr/>
              <a:t> as a predictor?</a:t>
            </a:r>
          </a:p>
          <a:p>
            <a:pPr lvl="0"/>
            <a:r>
              <a:rPr/>
              <a:t>Two simple models are easier to interpret at this stage</a:t>
            </a:r>
          </a:p>
          <a:p>
            <a:pPr lvl="0"/>
            <a:r>
              <a:rPr/>
              <a:t>Each gives us a clean, separate slope (°C/decade) to directly compare</a:t>
            </a:r>
          </a:p>
          <a:p>
            <a:pPr lvl="0" indent="0" marL="0">
              <a:buNone/>
            </a:pPr>
            <a:r>
              <a:rPr b="1"/>
              <a:t>Spoiler from the climate science literature:</a:t>
            </a:r>
            <a:r>
              <a:rPr/>
              <a:t> in most northern locations, </a:t>
            </a:r>
            <a:r>
              <a:rPr b="1"/>
              <a:t>winter warms faster than summer</a:t>
            </a:r>
            <a:r>
              <a:rPr/>
              <a:t> — fewer extreme-cold days, shorter ice seasons. Does Duluth’s data agree?</a:t>
            </a:r>
          </a:p>
        </p:txBody>
      </p:sp>
    </p:spTree>
  </p:cSld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1A1A2E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What We Learned Today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Concepts:</a:t>
            </a:r>
          </a:p>
          <a:p>
            <a:pPr lvl="0"/>
            <a:r>
              <a:rPr/>
              <a:t>Real climate data can be downloaded </a:t>
            </a:r>
            <a:r>
              <a:rPr b="1"/>
              <a:t>directly into R</a:t>
            </a:r>
            <a:r>
              <a:rPr/>
              <a:t> with </a:t>
            </a:r>
            <a:r>
              <a:rPr>
                <a:latin typeface="Courier"/>
              </a:rPr>
              <a:t>GSODR</a:t>
            </a:r>
          </a:p>
          <a:p>
            <a:pPr lvl="0"/>
            <a:r>
              <a:rPr/>
              <a:t>Raw daily data hides long-term trends inside seasonal/day-to-day noise</a:t>
            </a:r>
          </a:p>
          <a:p>
            <a:pPr lvl="0"/>
            <a:r>
              <a:rPr>
                <a:latin typeface="Courier"/>
              </a:rPr>
              <a:t>group_by() %&gt;% summarize()</a:t>
            </a:r>
            <a:r>
              <a:rPr/>
              <a:t> at different time scales reveals different stories</a:t>
            </a:r>
          </a:p>
          <a:p>
            <a:pPr lvl="0"/>
            <a:r>
              <a:rPr/>
              <a:t>The same </a:t>
            </a:r>
            <a:r>
              <a:rPr>
                <a:latin typeface="Courier"/>
              </a:rPr>
              <a:t>lm()</a:t>
            </a:r>
            <a:r>
              <a:rPr/>
              <a:t> workflow from Lecture 05 works on </a:t>
            </a:r>
            <a:r>
              <a:rPr i="1"/>
              <a:t>any</a:t>
            </a:r>
            <a:r>
              <a:rPr/>
              <a:t> X ~ Y relationship — including time</a:t>
            </a:r>
          </a:p>
          <a:p>
            <a:pPr lvl="0"/>
            <a:r>
              <a:rPr>
                <a:latin typeface="Courier"/>
              </a:rPr>
              <a:t>case_when()</a:t>
            </a:r>
            <a:r>
              <a:rPr/>
              <a:t> builds a new categorical variable from multiple conditions</a:t>
            </a:r>
          </a:p>
          <a:p>
            <a:pPr lvl="0"/>
            <a:r>
              <a:rPr/>
              <a:t>Splitting data by group (season) before modeling lets us compare </a:t>
            </a:r>
            <a:r>
              <a:rPr b="1"/>
              <a:t>rates of change</a:t>
            </a:r>
          </a:p>
          <a:p>
            <a:pPr lvl="0" indent="0" marL="0">
              <a:buNone/>
            </a:pPr>
            <a:r>
              <a:rPr b="1"/>
              <a:t>R skills:</a:t>
            </a:r>
          </a:p>
          <a:p>
            <a:pPr lvl="0"/>
            <a:r>
              <a:rPr>
                <a:latin typeface="Courier"/>
              </a:rPr>
              <a:t>get_GSOD()</a:t>
            </a:r>
            <a:r>
              <a:rPr/>
              <a:t> — download NOAA station data</a:t>
            </a:r>
          </a:p>
          <a:p>
            <a:pPr lvl="0"/>
            <a:r>
              <a:rPr>
                <a:latin typeface="Courier"/>
              </a:rPr>
              <a:t>group_by(YEAR, MONTH)</a:t>
            </a:r>
            <a:r>
              <a:rPr/>
              <a:t> / </a:t>
            </a:r>
            <a:r>
              <a:rPr>
                <a:latin typeface="Courier"/>
              </a:rPr>
              <a:t>group_by(YEAR)</a:t>
            </a:r>
            <a:r>
              <a:rPr/>
              <a:t> — multi-level time summaries</a:t>
            </a:r>
          </a:p>
          <a:p>
            <a:pPr lvl="0"/>
            <a:r>
              <a:rPr>
                <a:latin typeface="Courier"/>
              </a:rPr>
              <a:t>case_when()</a:t>
            </a:r>
            <a:r>
              <a:rPr/>
              <a:t> — multi-condition </a:t>
            </a:r>
            <a:r>
              <a:rPr>
                <a:latin typeface="Courier"/>
              </a:rPr>
              <a:t>mutate()</a:t>
            </a:r>
          </a:p>
          <a:p>
            <a:pPr lvl="0"/>
            <a:r>
              <a:rPr>
                <a:latin typeface="Courier"/>
              </a:rPr>
              <a:t>filter(x %in% c(...))</a:t>
            </a:r>
            <a:r>
              <a:rPr/>
              <a:t> — keep only specific categories</a:t>
            </a:r>
          </a:p>
          <a:p>
            <a:pPr lvl="0"/>
            <a:r>
              <a:rPr/>
              <a:t>Two-group regression comparison with separate </a:t>
            </a:r>
            <a:r>
              <a:rPr>
                <a:latin typeface="Courier"/>
              </a:rPr>
              <a:t>lm()</a:t>
            </a:r>
            <a:r>
              <a:rPr/>
              <a:t> calls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References:</a:t>
            </a:r>
          </a:p>
          <a:p>
            <a:pPr lvl="0"/>
            <a:r>
              <a:rPr/>
              <a:t>📖 R4DS Ch. 3 — Data transformation</a:t>
            </a:r>
          </a:p>
          <a:p>
            <a:pPr lvl="0"/>
            <a:r>
              <a:rPr/>
              <a:t>📖 R4DS Ch. 17 — Dates and times</a:t>
            </a:r>
          </a:p>
          <a:p>
            <a:pPr lvl="0"/>
            <a:r>
              <a:rPr/>
              <a:t>📖 Data Carpentry — R for Ecologists</a:t>
            </a:r>
          </a:p>
          <a:p>
            <a:pPr lvl="0" indent="0" marL="0">
              <a:buNone/>
            </a:pPr>
            <a:r>
              <a:rPr b="1"/>
              <a:t>Up next — Homework:</a:t>
            </a:r>
          </a:p>
          <a:p>
            <a:pPr lvl="0"/>
            <a:r>
              <a:rPr/>
              <a:t>Pick </a:t>
            </a:r>
            <a:r>
              <a:rPr b="1"/>
              <a:t>your own city</a:t>
            </a:r>
            <a:r>
              <a:rPr/>
              <a:t> (anywhere with a long GSOD record)</a:t>
            </a:r>
          </a:p>
          <a:p>
            <a:pPr lvl="0"/>
            <a:r>
              <a:rPr/>
              <a:t>Repeat this entire workflow: download → raw plot → summarize → model the trend</a:t>
            </a:r>
          </a:p>
          <a:p>
            <a:pPr lvl="0"/>
            <a:r>
              <a:rPr/>
              <a:t>Build your own summer vs. winter </a:t>
            </a:r>
            <a:r>
              <a:rPr>
                <a:latin typeface="Courier"/>
              </a:rPr>
              <a:t>case_when()</a:t>
            </a:r>
            <a:r>
              <a:rPr/>
              <a:t> comparison</a:t>
            </a:r>
          </a:p>
          <a:p>
            <a:pPr lvl="0"/>
            <a:r>
              <a:rPr/>
              <a:t>Write a short results paragraph comparing your city’s warming rate to Duluth’s</a:t>
            </a:r>
          </a:p>
        </p:txBody>
      </p:sp>
    </p:spTree>
  </p:cSld>
</p:sld>
</file>

<file path=ppt/theme/theme1.xml><?xml version="1.0" encoding="utf-8"?>
<a:theme xmlns:a="http://schemas.openxmlformats.org/drawingml/2006/main" name="UMD Biostatistics">
  <a:themeElements>
    <a:clrScheme name="UMD">
      <a:dk1>
        <a:sysClr val="windowText" lastClr="000000"/>
      </a:dk1>
      <a:lt1>
        <a:sysClr val="window" lastClr="FFFFFF"/>
      </a:lt1>
      <a:dk2>
        <a:srgbClr val="4A4A4A"/>
      </a:dk2>
      <a:lt2>
        <a:srgbClr val="F0F4F8"/>
      </a:lt2>
      <a:accent1>
        <a:srgbClr val="F4CD54"/>
      </a:accent1>
      <a:accent2>
        <a:srgbClr val="002147"/>
      </a:accent2>
      <a:accent3>
        <a:srgbClr val="0072B2"/>
      </a:accent3>
      <a:accent4>
        <a:srgbClr val="009E73"/>
      </a:accent4>
      <a:accent5>
        <a:srgbClr val="E69F00"/>
      </a:accent5>
      <a:accent6>
        <a:srgbClr val="56B4E9"/>
      </a:accent6>
      <a:hlink>
        <a:srgbClr val="0563C1"/>
      </a:hlink>
      <a:folHlink>
        <a:srgbClr val="1A1A2E"/>
      </a:folHlink>
    </a:clrScheme>
    <a:fontScheme name="UMD">
      <a:majorFont>
        <a:latin typeface="Cambria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UMD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10</TotalTime>
  <Words>46</Words>
  <Application>Microsoft Macintosh PowerPoint</Application>
  <PresentationFormat>On-screen Show (16:9)</PresentationFormat>
  <Paragraphs>14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8" baseType="lpstr">
      <vt:lpstr>Arial</vt:lpstr>
      <vt:lpstr>Calibri</vt:lpstr>
      <vt:lpstr>Cambria</vt:lpstr>
      <vt:lpstr>UMD Biostatistics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Lecture 06 — Real Climate Data in R</dc:title>
  <dc:creator>Bill Perry</dc:creator>
  <cp:keywords/>
  <dc:description>How to use API (auto program interface) to download and ssummarize weather data.</dc:description>
  <dcterms:created xsi:type="dcterms:W3CDTF">2026-07-02T20:05:16Z</dcterms:created>
  <dcterms:modified xsi:type="dcterms:W3CDTF">2026-07-02T20:05:16Z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authors">
    <vt:lpwstr/>
  </property>
  <property fmtid="{D5CDD505-2E9C-101B-9397-08002B2CF9AE}" pid="3" name="biblio-config">
    <vt:lpwstr>True</vt:lpwstr>
  </property>
  <property fmtid="{D5CDD505-2E9C-101B-9397-08002B2CF9AE}" pid="4" name="by-author">
    <vt:lpwstr/>
  </property>
  <property fmtid="{D5CDD505-2E9C-101B-9397-08002B2CF9AE}" pid="5" name="categories">
    <vt:lpwstr/>
  </property>
  <property fmtid="{D5CDD505-2E9C-101B-9397-08002B2CF9AE}" pid="6" name="date">
    <vt:lpwstr>2026-07-02</vt:lpwstr>
  </property>
  <property fmtid="{D5CDD505-2E9C-101B-9397-08002B2CF9AE}" pid="7" name="engines">
    <vt:lpwstr/>
  </property>
  <property fmtid="{D5CDD505-2E9C-101B-9397-08002B2CF9AE}" pid="8" name="execute">
    <vt:lpwstr/>
  </property>
  <property fmtid="{D5CDD505-2E9C-101B-9397-08002B2CF9AE}" pid="9" name="header-includes">
    <vt:lpwstr/>
  </property>
  <property fmtid="{D5CDD505-2E9C-101B-9397-08002B2CF9AE}" pid="10" name="include-after">
    <vt:lpwstr/>
  </property>
  <property fmtid="{D5CDD505-2E9C-101B-9397-08002B2CF9AE}" pid="11" name="include-before">
    <vt:lpwstr/>
  </property>
  <property fmtid="{D5CDD505-2E9C-101B-9397-08002B2CF9AE}" pid="12" name="labels">
    <vt:lpwstr/>
  </property>
  <property fmtid="{D5CDD505-2E9C-101B-9397-08002B2CF9AE}" pid="13" name="order">
    <vt:lpwstr>6</vt:lpwstr>
  </property>
  <property fmtid="{D5CDD505-2E9C-101B-9397-08002B2CF9AE}" pid="14" name="resources">
    <vt:lpwstr/>
  </property>
  <property fmtid="{D5CDD505-2E9C-101B-9397-08002B2CF9AE}" pid="15" name="subtitle">
    <vt:lpwstr>Downloading, summarizing, and modeling Duluth weather station data</vt:lpwstr>
  </property>
  <property fmtid="{D5CDD505-2E9C-101B-9397-08002B2CF9AE}" pid="16" name="toc-title">
    <vt:lpwstr>Table of contents</vt:lpwstr>
  </property>
  <property fmtid="{D5CDD505-2E9C-101B-9397-08002B2CF9AE}" pid="17" name="type">
    <vt:lpwstr>lecture</vt:lpwstr>
  </property>
  <property fmtid="{D5CDD505-2E9C-101B-9397-08002B2CF9AE}" pid="18" name="week">
    <vt:lpwstr>3</vt:lpwstr>
  </property>
</Properties>
</file>