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layers" TargetMode="External" /><Relationship Id="rId3" Type="http://schemas.openxmlformats.org/officeDocument/2006/relationships/hyperlink" Target="https://r4ds.hadley.nz/communication" TargetMode="External" /><Relationship Id="rId4" Type="http://schemas.openxmlformats.org/officeDocument/2006/relationships/hyperlink" Target="http://shinyapps.org/apps/RGraphCompendium/index.php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factors" TargetMode="Externa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communication" TargetMode="Externa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layers" TargetMode="External" /><Relationship Id="rId3" Type="http://schemas.openxmlformats.org/officeDocument/2006/relationships/hyperlink" Target="https://r4ds.hadley.nz/communication" TargetMode="External" /><Relationship Id="rId4" Type="http://schemas.openxmlformats.org/officeDocument/2006/relationships/hyperlink" Target="http://shinyapps.org/apps/RGraphCompendium/index.ph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— Telling a Story with ggplot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a plot that shows everything to a figure that says one thing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Basic ggplot</a:t>
            </a:r>
            <a:r>
              <a:rPr/>
              <a:t> — </a:t>
            </a:r>
            <a:r>
              <a:rPr>
                <a:latin typeface="Courier"/>
              </a:rPr>
              <a:t>geom_boxplot()</a:t>
            </a:r>
            <a:r>
              <a:rPr/>
              <a:t>, </a:t>
            </a:r>
            <a:r>
              <a:rPr>
                <a:latin typeface="Courier"/>
              </a:rPr>
              <a:t>geom_point()</a:t>
            </a:r>
            <a:r>
              <a:rPr/>
              <a:t>, </a:t>
            </a:r>
            <a:r>
              <a:rPr>
                <a:latin typeface="Courier"/>
              </a:rPr>
              <a:t>position_jitter()</a:t>
            </a:r>
          </a:p>
          <a:p>
            <a:pPr lvl="0"/>
            <a:r>
              <a:rPr b="1"/>
              <a:t>Advanced plotting</a:t>
            </a:r>
            <a:r>
              <a:rPr/>
              <a:t> — </a:t>
            </a:r>
            <a:r>
              <a:rPr>
                <a:latin typeface="Courier"/>
              </a:rPr>
              <a:t>facet_wrap()</a:t>
            </a:r>
            <a:r>
              <a:rPr/>
              <a:t>, </a:t>
            </a:r>
            <a:r>
              <a:rPr>
                <a:latin typeface="Courier"/>
              </a:rPr>
              <a:t>stat_summary()</a:t>
            </a:r>
            <a:r>
              <a:rPr/>
              <a:t>, </a:t>
            </a:r>
            <a:r>
              <a:rPr>
                <a:latin typeface="Courier"/>
              </a:rPr>
              <a:t>geom_smooth()</a:t>
            </a:r>
            <a:r>
              <a:rPr/>
              <a:t>, patchwork, log scales</a:t>
            </a:r>
          </a:p>
          <a:p>
            <a:pPr lvl="0"/>
            <a:r>
              <a:rPr/>
              <a:t>You can now build almost any figure ggplot is capable of drawing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Advanced Plotting</a:t>
            </a:r>
          </a:p>
          <a:p>
            <a:pPr lvl="0" indent="0" marL="1270000">
              <a:buNone/>
            </a:pPr>
            <a:r>
              <a:rPr sz="2000"/>
              <a:t>You now have the </a:t>
            </a:r>
            <a:r>
              <a:rPr sz="2000" i="1"/>
              <a:t>mechanics</a:t>
            </a:r>
            <a:r>
              <a:rPr sz="2000"/>
              <a:t>. Today is different: no new geoms. Today is about </a:t>
            </a:r>
            <a:r>
              <a:rPr sz="2000" b="1"/>
              <a:t>choosing</a:t>
            </a:r>
            <a:r>
              <a:rPr sz="2000"/>
              <a:t> which mechanics to use, and which to leave out, so your one figure makes one point.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 this lecture solves:</a:t>
            </a:r>
          </a:p>
          <a:p>
            <a:pPr lvl="0"/>
            <a:r>
              <a:rPr/>
              <a:t>Your final-project talk is 5 minutes and </a:t>
            </a:r>
            <a:r>
              <a:rPr b="1"/>
              <a:t>one figure</a:t>
            </a:r>
          </a:p>
          <a:p>
            <a:pPr lvl="0"/>
            <a:r>
              <a:rPr/>
              <a:t>A technically-correct plot can still fail to communicate</a:t>
            </a:r>
          </a:p>
          <a:p>
            <a:pPr lvl="0"/>
            <a:r>
              <a:rPr/>
              <a:t>“I made a boxplot” is not the same as “I told a story”</a:t>
            </a:r>
          </a:p>
          <a:p>
            <a:pPr lvl="0" indent="0" marL="0">
              <a:buNone/>
            </a:pPr>
            <a:r>
              <a:rPr b="1"/>
              <a:t>What we’ll practice:</a:t>
            </a:r>
          </a:p>
          <a:p>
            <a:pPr lvl="0"/>
            <a:r>
              <a:rPr/>
              <a:t>Start from the question, not the geom</a:t>
            </a:r>
          </a:p>
          <a:p>
            <a:pPr lvl="0"/>
            <a:r>
              <a:rPr/>
              <a:t>Cut everything that doesn’t serve the point</a:t>
            </a:r>
          </a:p>
          <a:p>
            <a:pPr lvl="0"/>
            <a:r>
              <a:rPr/>
              <a:t>Direct labeling instead of a legend, when you can</a:t>
            </a:r>
          </a:p>
          <a:p>
            <a:pPr lvl="0"/>
            <a:r>
              <a:rPr/>
              <a:t>Order categories to match the story, not the alphabet</a:t>
            </a:r>
          </a:p>
          <a:p>
            <a:pPr lvl="0"/>
            <a:r>
              <a:rPr/>
              <a:t>Color with intent, and with accessibility in mind</a:t>
            </a:r>
          </a:p>
          <a:p>
            <a:pPr lvl="0"/>
            <a:r>
              <a:rPr/>
              <a:t>A title that states the finding, not the variable names</a:t>
            </a:r>
          </a:p>
          <a:p>
            <a:pPr lvl="0"/>
            <a:r>
              <a:rPr>
                <a:latin typeface="Courier"/>
              </a:rPr>
              <a:t>annotate()</a:t>
            </a:r>
            <a:r>
              <a:rPr/>
              <a:t> to point at the one thing that matters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redesign a technically-correct-but-confusing plot into one that a stranger understands in five seconds.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  <a:r>
              <a:rPr/>
              <a:t> mostly tools you already know, used differently.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9</a:t>
            </a:r>
            <a:r>
              <a:rPr/>
              <a:t> — Layers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11</a:t>
            </a:r>
            <a:r>
              <a:rPr/>
              <a:t> — Communication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A Compendium of Clean Graphs in R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a redesigned plot → </a:t>
            </a:r>
            <a:r>
              <a:rPr>
                <a:latin typeface="Courier"/>
              </a:rPr>
              <a:t>_plot_v2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chunks today. After each, switch to the activity and redesign a plot yourself.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what’s wrong with a plot </a:t>
            </a:r>
            <a:r>
              <a:rPr i="1"/>
              <a:t>before</a:t>
            </a:r>
            <a:r>
              <a:rPr/>
              <a:t> I tell you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the redesign by hand</a:t>
            </a:r>
          </a:p>
          <a:p>
            <a:pPr lvl="0" indent="-342900" marL="342900">
              <a:buAutoNum type="arabicPeriod"/>
            </a:pPr>
            <a:r>
              <a:rPr b="1"/>
              <a:t>Compare</a:t>
            </a:r>
            <a:r>
              <a:rPr/>
              <a:t> your five-second read of the before vs. the after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this lecture matters</a:t>
            </a:r>
          </a:p>
          <a:p>
            <a:pPr lvl="0" indent="0" marL="1270000">
              <a:buNone/>
            </a:pPr>
            <a:r>
              <a:rPr sz="2000"/>
              <a:t>Every remaining lecture in this course ends with a plot. This is the only lecture that tells you how to </a:t>
            </a:r>
            <a:r>
              <a:rPr sz="2000" b="1"/>
              <a:t>judge</a:t>
            </a:r>
            <a:r>
              <a:rPr sz="2000"/>
              <a:t> whether that plot is any good — a skill no geom teaches by itself.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cleans up messy column names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Reuse our cleaned leaf data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Chunk 1 of 2 · The Rule — One Figure, One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starting from the question, and the “five-second test.”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1–3.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From the Question, Not the Geom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one line of </a:t>
            </a:r>
            <a:r>
              <a:rPr>
                <a:latin typeface="Courier"/>
              </a:rPr>
              <a:t>ggplot()</a:t>
            </a:r>
            <a:r>
              <a:rPr/>
              <a:t>, answer this in a full sentence:</a:t>
            </a:r>
          </a:p>
          <a:p>
            <a:pPr lvl="0" indent="0" marL="1270000">
              <a:buNone/>
            </a:pPr>
            <a:r>
              <a:rPr sz="2000"/>
              <a:t>“This figure shows that </a:t>
            </a:r>
            <a:r>
              <a:rPr sz="2000" b="1"/>
              <a:t>____</a:t>
            </a:r>
            <a:r>
              <a:rPr sz="2000"/>
              <a:t>.”</a:t>
            </a:r>
          </a:p>
          <a:p>
            <a:pPr lvl="0" indent="0" marL="0">
              <a:buNone/>
            </a:pPr>
            <a:r>
              <a:rPr/>
              <a:t>If you cannot finish that sentence, you are not ready to plot yet — you are still exploring. Exploring is fine, but exploratory plots and </a:t>
            </a:r>
            <a:r>
              <a:rPr b="1"/>
              <a:t>the</a:t>
            </a:r>
            <a:r>
              <a:rPr/>
              <a:t> final figure are not the same plot.</a:t>
            </a:r>
          </a:p>
          <a:p>
            <a:pPr lvl="0" indent="0" marL="0">
              <a:buNone/>
            </a:pPr>
            <a:r>
              <a:rPr b="1"/>
              <a:t>Our sentence today:</a:t>
            </a:r>
          </a:p>
          <a:p>
            <a:pPr lvl="0" indent="0" marL="1270000">
              <a:buNone/>
            </a:pPr>
            <a:r>
              <a:rPr sz="2000"/>
              <a:t>“Leaves on the shady side of the tree are heavier than leaves on the sunny side.”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dozen exploratory plots is normal and good. Your final talk gets </a:t>
            </a:r>
            <a:r>
              <a:rPr sz="2000" b="1"/>
              <a:t>one</a:t>
            </a:r>
            <a:r>
              <a:rPr sz="2000"/>
              <a:t>. Decide which one </a:t>
            </a:r>
            <a:r>
              <a:rPr sz="2000" i="1"/>
              <a:t>earns</a:t>
            </a:r>
            <a:r>
              <a:rPr sz="2000"/>
              <a:t> that slot by asking whether it finishes the sentence above.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Five-Second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your plot to a labmate for </a:t>
            </a:r>
            <a:r>
              <a:rPr b="1"/>
              <a:t>five seconds</a:t>
            </a:r>
            <a:r>
              <a:rPr/>
              <a:t>, then hide it. Ask: “What did that plot say?”</a:t>
            </a:r>
          </a:p>
          <a:p>
            <a:pPr lvl="0"/>
            <a:r>
              <a:rPr/>
              <a:t>If they repeat your sentence back — the plot works</a:t>
            </a:r>
          </a:p>
          <a:p>
            <a:pPr lvl="0"/>
            <a:r>
              <a:rPr/>
              <a:t>If they describe the </a:t>
            </a:r>
            <a:r>
              <a:rPr i="1"/>
              <a:t>axes</a:t>
            </a:r>
            <a:r>
              <a:rPr/>
              <a:t> instead of the </a:t>
            </a:r>
            <a:r>
              <a:rPr i="1"/>
              <a:t>finding</a:t>
            </a:r>
            <a:r>
              <a:rPr/>
              <a:t> — it doesn’t yet</a:t>
            </a:r>
          </a:p>
          <a:p>
            <a:pPr lvl="0"/>
            <a:r>
              <a:rPr/>
              <a:t>If they ask “wait, what am I looking at?” — start over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same test we asked you to plan for in the final-project worksheet: </a:t>
            </a:r>
            <a:r>
              <a:rPr sz="2000" i="1"/>
              <a:t>“Slide 3 — the ONE figure that shows your result.”</a:t>
            </a:r>
            <a:r>
              <a:rPr sz="2000"/>
              <a:t> Today is where you learn to build that slide.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Plot That Shows Everything (and Says Nothing)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Before you look at the code, predict what will be wrong with this plot even though every line of code is correct.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Technically correct — but a poor final figure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tree_busy_plot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"weight_g by 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"weight_g"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theme_gray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tree_busy_plot</a:t>
            </a:r>
          </a:p>
        </p:txBody>
      </p:sp>
      <p:pic>
        <p:nvPicPr>
          <p:cNvPr descr="ggplot_storytelling_lecture_files/figure-pptx/bad-plot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What’s wrong here</a:t>
            </a:r>
          </a:p>
          <a:p>
            <a:pPr lvl="0"/>
            <a:r>
              <a:rPr sz="2000"/>
              <a:t>Faceting by the </a:t>
            </a:r>
            <a:r>
              <a:rPr sz="2000" b="1"/>
              <a:t>same</a:t>
            </a:r>
            <a:r>
              <a:rPr sz="2000"/>
              <a:t> variable that’s on the x-axis — pure redundancy</a:t>
            </a:r>
          </a:p>
          <a:p>
            <a:pPr lvl="0"/>
            <a:r>
              <a:rPr sz="2000"/>
              <a:t>Legend repeats what the x-axis already says</a:t>
            </a:r>
          </a:p>
          <a:p>
            <a:pPr lvl="0"/>
            <a:r>
              <a:rPr sz="2000"/>
              <a:t>Title is a variable name, not a finding</a:t>
            </a:r>
          </a:p>
          <a:p>
            <a:pPr lvl="0"/>
            <a:r>
              <a:rPr sz="2000"/>
              <a:t>Axis labels are raw column names, not readable text</a:t>
            </a:r>
          </a:p>
          <a:p>
            <a:pPr lvl="0"/>
            <a:r>
              <a:rPr sz="2000"/>
              <a:t>Default gray background adds visual noise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Chunk 2 of 2 · The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cutting redundancy, direct labeling, deliberate ordering and color, and a finding-based title.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4–7.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#1 — Cut Anything That Repeats Itself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Removed the redundant facet_wrap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tree_plot_v2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tree_plot_v2</a:t>
            </a:r>
          </a:p>
        </p:txBody>
      </p:sp>
      <p:pic>
        <p:nvPicPr>
          <p:cNvPr descr="ggplot_storytelling_lecture_files/figure-pptx/fix-redundancy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two elements of your plot show the same information twice (facet + x-axis, legend + x-axis, title + axis label), delete one. Redundancy is not clarity — it’s clutter that </a:t>
            </a:r>
            <a:r>
              <a:rPr sz="2000" i="1"/>
              <a:t>looks</a:t>
            </a:r>
            <a:r>
              <a:rPr sz="2000"/>
              <a:t> like effort.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#2 — Direct Labels Instead of a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Our x-axis already says “sunny” and “shady.” Do we need the </a:t>
            </a:r>
            <a:r>
              <a:rPr sz="2000">
                <a:latin typeface="Courier"/>
              </a:rPr>
              <a:t>fill = side</a:t>
            </a:r>
            <a:r>
              <a:rPr sz="2000"/>
              <a:t> legend at all?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legend — the x-axis already tells us the group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tree_plot_v3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tree_plot_v3</a:t>
            </a:r>
          </a:p>
        </p:txBody>
      </p:sp>
      <p:pic>
        <p:nvPicPr>
          <p:cNvPr descr="ggplot_storytelling_lecture_files/figure-pptx/fix-legen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A legend forces the reader’s eye to travel back and forth</a:t>
            </a:r>
          </a:p>
          <a:p>
            <a:pPr lvl="0"/>
            <a:r>
              <a:rPr/>
              <a:t>When the x-axis (or a direct label) already names the groups, the legend is dead weight</a:t>
            </a:r>
          </a:p>
          <a:p>
            <a:pPr lvl="0"/>
            <a:r>
              <a:rPr b="1"/>
              <a:t>Rule of thumb:</a:t>
            </a:r>
            <a:r>
              <a:rPr/>
              <a:t> if removing the legend loses zero information, remove it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#3 — Order With Intent, Not the Alphabet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fct_relevel() puts categories in a meaningful order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tree_plot_v4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tree_plot_v4</a:t>
            </a:r>
          </a:p>
        </p:txBody>
      </p:sp>
      <p:pic>
        <p:nvPicPr>
          <p:cNvPr descr="ggplot_storytelling_lecture_files/figure-pptx/fix-ord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Alphabetical order (</a:t>
            </a:r>
            <a:r>
              <a:rPr>
                <a:latin typeface="Courier"/>
              </a:rPr>
              <a:t>shady</a:t>
            </a:r>
            <a:r>
              <a:rPr/>
              <a:t> before </a:t>
            </a:r>
            <a:r>
              <a:rPr>
                <a:latin typeface="Courier"/>
              </a:rPr>
              <a:t>sunny</a:t>
            </a:r>
            <a:r>
              <a:rPr/>
              <a:t>) is an accident of spelling, not a decision</a:t>
            </a:r>
          </a:p>
          <a:p>
            <a:pPr lvl="0"/>
            <a:r>
              <a:rPr>
                <a:latin typeface="Courier"/>
              </a:rPr>
              <a:t>fct_relevel()</a:t>
            </a:r>
            <a:r>
              <a:rPr/>
              <a:t> lets you choose the order that matches your story: baseline first, then the comparison</a:t>
            </a:r>
          </a:p>
          <a:p>
            <a:pPr lvl="0"/>
            <a:r>
              <a:rPr/>
              <a:t>Order becomes especially important with </a:t>
            </a:r>
            <a:r>
              <a:rPr b="1"/>
              <a:t>3+ groups</a:t>
            </a:r>
            <a:r>
              <a:rPr/>
              <a:t> — put them in a logical sequence (low to high, control then treatments, etc.)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Ch 17 — Factors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#4 — Color With Intent (and Colorblind Safety)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Choose two colors deliberately, not ggplot's defaults 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tree_plot_v5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"#E69F00"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"#0072B2"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tree_plot_v5</a:t>
            </a:r>
          </a:p>
        </p:txBody>
      </p:sp>
      <p:pic>
        <p:nvPicPr>
          <p:cNvPr descr="ggplot_storytelling_lecture_files/figure-pptx/fix-colo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Red/green combinations are unreadable to ~8% of men with red-green color blindness. </a:t>
            </a:r>
            <a:r>
              <a:rPr sz="2000">
                <a:latin typeface="Courier"/>
              </a:rPr>
              <a:t>#E69F00</a:t>
            </a:r>
            <a:r>
              <a:rPr sz="2000"/>
              <a:t> (orange) and </a:t>
            </a:r>
            <a:r>
              <a:rPr sz="2000">
                <a:latin typeface="Courier"/>
              </a:rPr>
              <a:t>#0072B2</a:t>
            </a:r>
            <a:r>
              <a:rPr sz="2000"/>
              <a:t> (blue) are from the </a:t>
            </a:r>
            <a:r>
              <a:rPr sz="2000" b="1"/>
              <a:t>Okabe-Ito palette</a:t>
            </a:r>
            <a:r>
              <a:rPr sz="2000"/>
              <a:t>, designed to stay distinguishable for colorblind readers.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Colour should encode the group your reader most needs to compare — not just “make it look nice.”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#5 — A Title That States the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Compare </a:t>
            </a:r>
            <a:r>
              <a:rPr sz="2000">
                <a:latin typeface="Courier"/>
              </a:rPr>
              <a:t>"weight_g by side"</a:t>
            </a:r>
            <a:r>
              <a:rPr sz="2000"/>
              <a:t> to </a:t>
            </a:r>
            <a:r>
              <a:rPr sz="2000">
                <a:latin typeface="Courier"/>
              </a:rPr>
              <a:t>"Shady leaves are heavier than sunny leaves"</a:t>
            </a:r>
            <a:r>
              <a:rPr sz="2000"/>
              <a:t>. Which one lets someone understand the plot </a:t>
            </a:r>
            <a:r>
              <a:rPr sz="2000" i="1"/>
              <a:t>without ever looking at the axes</a:t>
            </a:r>
            <a:r>
              <a:rPr sz="2000"/>
              <a:t>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title states the finding; labs() explains the rest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tree_final_plot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sunny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"#E69F00"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shady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"#0072B2"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"Shady-side leaves are heavier than sunny-side leaves"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"Each point is one leaf; boxes show the median and interquartile range"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 = 10 leaves per 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tree_final_plot</a:t>
            </a:r>
          </a:p>
        </p:txBody>
      </p:sp>
      <p:pic>
        <p:nvPicPr>
          <p:cNvPr descr="ggplot_storytelling_lecture_files/figure-pptx/fix-titl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Title</a:t>
            </a:r>
            <a:r>
              <a:rPr/>
              <a:t> = the finding, in plain English</a:t>
            </a:r>
          </a:p>
          <a:p>
            <a:pPr lvl="0"/>
            <a:r>
              <a:rPr b="1"/>
              <a:t>Subtitle</a:t>
            </a:r>
            <a:r>
              <a:rPr/>
              <a:t> = one sentence of method/context</a:t>
            </a:r>
          </a:p>
          <a:p>
            <a:pPr lvl="0"/>
            <a:r>
              <a:rPr b="1"/>
              <a:t>Caption</a:t>
            </a:r>
            <a:r>
              <a:rPr/>
              <a:t> = sample size or data source — small print, not the headline</a:t>
            </a:r>
          </a:p>
          <a:p>
            <a:pPr lvl="0"/>
            <a:r>
              <a:rPr>
                <a:latin typeface="Courier"/>
              </a:rPr>
              <a:t>x = NULL</a:t>
            </a:r>
            <a:r>
              <a:rPr/>
              <a:t> — when categories are self-explanatory, drop a redundant axis label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Ch 11 — Communication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#6 — </a:t>
            </a:r>
            <a:r>
              <a:rPr>
                <a:latin typeface="Courier"/>
              </a:rPr>
              <a:t>annotate()</a:t>
            </a:r>
            <a:r>
              <a:rPr/>
              <a:t> to Point at the One Thing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annotate() draws a fixed element, not tied to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mean_shady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tree_final_plot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mean: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(mean_shady,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 g"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"#0072B2"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</p:txBody>
      </p:sp>
      <p:pic>
        <p:nvPicPr>
          <p:cNvPr descr="ggplot_storytelling_lecture_files/figure-pptx/fix-annota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annotate()</a:t>
            </a:r>
            <a:r>
              <a:rPr/>
              <a:t> places a single fixed label — it does not come from a </a:t>
            </a:r>
            <a:r>
              <a:rPr>
                <a:latin typeface="Courier"/>
              </a:rPr>
              <a:t>geom_*()</a:t>
            </a:r>
            <a:r>
              <a:rPr/>
              <a:t> mapped to data</a:t>
            </a:r>
          </a:p>
          <a:p>
            <a:pPr lvl="0"/>
            <a:r>
              <a:rPr/>
              <a:t>Use it to call out the one number your audience should leave remembering</a:t>
            </a:r>
          </a:p>
          <a:p>
            <a:pPr lvl="0"/>
            <a:r>
              <a:rPr b="1"/>
              <a:t>Do not over-annotate</a:t>
            </a:r>
            <a:r>
              <a:rPr/>
              <a:t> — one callout per figure is usually the right number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🛑 Pause — Do Activity Parts 1–7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the “busy” plot all the way through every fix, and redesign a second plot on your own using </a:t>
            </a:r>
            <a:r>
              <a:rPr>
                <a:latin typeface="Courier"/>
              </a:rPr>
              <a:t>height_cm</a:t>
            </a:r>
            <a:r>
              <a:rPr/>
              <a:t> or </a:t>
            </a:r>
            <a:r>
              <a:rPr>
                <a:latin typeface="Courier"/>
              </a:rPr>
              <a:t>width_cm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Start every final figure from a </a:t>
            </a:r>
            <a:r>
              <a:rPr b="1"/>
              <a:t>finished sentence</a:t>
            </a:r>
            <a:r>
              <a:rPr/>
              <a:t>, not a geom</a:t>
            </a:r>
          </a:p>
          <a:p>
            <a:pPr lvl="0"/>
            <a:r>
              <a:rPr/>
              <a:t>The </a:t>
            </a:r>
            <a:r>
              <a:rPr b="1"/>
              <a:t>five-second test</a:t>
            </a:r>
            <a:r>
              <a:rPr/>
              <a:t>: does a stranger repeat your finding back?</a:t>
            </a:r>
          </a:p>
          <a:p>
            <a:pPr lvl="0"/>
            <a:r>
              <a:rPr/>
              <a:t>Cut redundancy: repeated legends, facets, and titles are clutter</a:t>
            </a:r>
          </a:p>
          <a:p>
            <a:pPr lvl="0"/>
            <a:r>
              <a:rPr/>
              <a:t>Direct-label when you can; drop the legend when the axis already says it</a:t>
            </a:r>
          </a:p>
          <a:p>
            <a:pPr lvl="0"/>
            <a:r>
              <a:rPr b="1"/>
              <a:t>Order</a:t>
            </a:r>
            <a:r>
              <a:rPr/>
              <a:t> categories with intent (</a:t>
            </a:r>
            <a:r>
              <a:rPr>
                <a:latin typeface="Courier"/>
              </a:rPr>
              <a:t>fct_relevel()</a:t>
            </a:r>
            <a:r>
              <a:rPr/>
              <a:t>), not alphabetically</a:t>
            </a:r>
          </a:p>
          <a:p>
            <a:pPr lvl="0"/>
            <a:r>
              <a:rPr b="1"/>
              <a:t>Color</a:t>
            </a:r>
            <a:r>
              <a:rPr/>
              <a:t> with intent, and check colorblind safety (Okabe-Ito palette)</a:t>
            </a:r>
          </a:p>
          <a:p>
            <a:pPr lvl="0"/>
            <a:r>
              <a:rPr b="1"/>
              <a:t>Title = finding. Subtitle = method. Caption = fine print.</a:t>
            </a:r>
          </a:p>
          <a:p>
            <a:pPr lvl="0"/>
            <a:r>
              <a:rPr>
                <a:latin typeface="Courier"/>
              </a:rPr>
              <a:t>annotate()</a:t>
            </a:r>
            <a:r>
              <a:rPr/>
              <a:t> to point at exactly one number or region that matters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9</a:t>
            </a:r>
            <a:r>
              <a:rPr/>
              <a:t> — Layers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11</a:t>
            </a:r>
            <a:r>
              <a:rPr/>
              <a:t> — Communication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A Compendium of Clean Graphs in R</a:t>
            </a:r>
          </a:p>
          <a:p>
            <a:pPr lvl="0" indent="0" marL="0">
              <a:buNone/>
            </a:pPr>
            <a:r>
              <a:rPr b="1"/>
              <a:t>Up next:</a:t>
            </a:r>
          </a:p>
          <a:p>
            <a:pPr lvl="0"/>
            <a:r>
              <a:rPr/>
              <a:t>Final Project Milestone work — you’ll use every fix from today on your own dataset’s take-home figure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— Telling a Story with ggplot</dc:title>
  <dc:creator>Bill Perry</dc:creator>
  <cp:keywords/>
  <dc:description>A third ggplot lecture focused on communication, not new geoms: choosing one figure, decluttering, direct labeling, deliberate color and ordering, and writing a title that states the finding.</dc:description>
  <dcterms:created xsi:type="dcterms:W3CDTF">2026-08-27T17:13:18Z</dcterms:created>
  <dcterms:modified xsi:type="dcterms:W3CDTF">2026-08-27T17:13:18Z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8.5</vt:lpwstr>
  </property>
  <property fmtid="{D5CDD505-2E9C-101B-9397-08002B2CF9AE}" pid="13" name="subtitle">
    <vt:lpwstr>From a plot that shows everything to a figure that says one thing</vt:lpwstr>
  </property>
  <property fmtid="{D5CDD505-2E9C-101B-9397-08002B2CF9AE}" pid="14" name="toc-title">
    <vt:lpwstr>Table of contents</vt:lpwstr>
  </property>
  <property fmtid="{D5CDD505-2E9C-101B-9397-08002B2CF9AE}" pid="15" name="type">
    <vt:lpwstr>lecture</vt:lpwstr>
  </property>
  <property fmtid="{D5CDD505-2E9C-101B-9397-08002B2CF9AE}" pid="16" name="week">
    <vt:lpwstr>4</vt:lpwstr>
  </property>
</Properties>
</file>