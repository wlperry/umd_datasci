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00 — Finding Your Own Files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Folders, paths, and why OneDrive and Google Drive break things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Touch R At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this comes first</a:t>
            </a:r>
          </a:p>
          <a:p>
            <a:pPr lvl="0" indent="0" marL="1270000">
              <a:buNone/>
            </a:pPr>
            <a:r>
              <a:rPr sz="2000"/>
              <a:t>Every single thing we do this semester — loading data, saving a plot, submitting homework, using Git — depends on one skill: knowing </a:t>
            </a:r>
            <a:r>
              <a:rPr sz="2000" b="1"/>
              <a:t>exactly</a:t>
            </a:r>
            <a:r>
              <a:rPr sz="2000"/>
              <a:t> where a file lives on your computer. This lecture has zero code. It is the most important 50 minutes of the term.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See your computer’s real folder structure, not just app icons</a:t>
            </a:r>
          </a:p>
          <a:p>
            <a:pPr lvl="0"/>
            <a:r>
              <a:rPr/>
              <a:t>Turn on </a:t>
            </a:r>
            <a:r>
              <a:rPr b="1"/>
              <a:t>file extensions</a:t>
            </a:r>
            <a:r>
              <a:rPr/>
              <a:t> so you can see what kind of file something actually is</a:t>
            </a:r>
          </a:p>
          <a:p>
            <a:pPr lvl="0"/>
            <a:r>
              <a:rPr/>
              <a:t>Understand what a </a:t>
            </a:r>
            <a:r>
              <a:rPr b="1"/>
              <a:t>path</a:t>
            </a:r>
            <a:r>
              <a:rPr/>
              <a:t> is, and why it matters to R</a:t>
            </a:r>
          </a:p>
          <a:p>
            <a:pPr lvl="0"/>
            <a:r>
              <a:rPr/>
              <a:t>Learn the difference between a file that is </a:t>
            </a:r>
            <a:r>
              <a:rPr b="1"/>
              <a:t>really on your computer</a:t>
            </a:r>
            <a:r>
              <a:rPr/>
              <a:t> and one that only </a:t>
            </a:r>
            <a:r>
              <a:rPr i="1"/>
              <a:t>looks</a:t>
            </a:r>
            <a:r>
              <a:rPr/>
              <a:t> like it is</a:t>
            </a:r>
          </a:p>
          <a:p>
            <a:pPr lvl="0"/>
            <a:r>
              <a:rPr/>
              <a:t>Understand why </a:t>
            </a:r>
            <a:r>
              <a:rPr b="1"/>
              <a:t>OneDrive</a:t>
            </a:r>
            <a:r>
              <a:rPr/>
              <a:t> and </a:t>
            </a:r>
            <a:r>
              <a:rPr b="1"/>
              <a:t>Google Drive</a:t>
            </a:r>
            <a:r>
              <a:rPr/>
              <a:t> cause real, repeatable problems for coding — and how to avoid them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end, you will create one folder that you know, with total confidence, is a real folder on your local hard drive — and you’ll use that same folder all semester.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Today’s new vocabulary: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Plain-English 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 extension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letters after the dot: </a:t>
                      </a:r>
                      <a:r>
                        <a:rPr>
                          <a:latin typeface="Courier"/>
                        </a:rPr>
                        <a:t>.csv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.docx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.R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full address of a file, folder by folder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Actually stored on this computer’s hard drive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Cloud-only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placeholder — the real file lives on the internet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Part 1 of 4 · Seeing What’s Really There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Turn On File Extensions — macOS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Open </a:t>
            </a:r>
            <a:r>
              <a:rPr b="1"/>
              <a:t>Finder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Finder → Settings</a:t>
            </a:r>
            <a:r>
              <a:rPr/>
              <a:t> (or </a:t>
            </a:r>
            <a:r>
              <a:rPr b="1"/>
              <a:t>Preferences</a:t>
            </a:r>
            <a:r>
              <a:rPr/>
              <a:t> on older macOS)</a:t>
            </a:r>
          </a:p>
          <a:p>
            <a:pPr lvl="0" indent="-342900" marL="342900">
              <a:buAutoNum type="arabicPeriod"/>
            </a:pPr>
            <a:r>
              <a:rPr/>
              <a:t>Click the </a:t>
            </a:r>
            <a:r>
              <a:rPr b="1"/>
              <a:t>Advanced</a:t>
            </a:r>
            <a:r>
              <a:rPr/>
              <a:t> tab</a:t>
            </a:r>
          </a:p>
          <a:p>
            <a:pPr lvl="0" indent="-342900" marL="342900">
              <a:buAutoNum type="arabicPeriod"/>
            </a:pPr>
            <a:r>
              <a:rPr/>
              <a:t>Check </a:t>
            </a:r>
            <a:r>
              <a:rPr b="1"/>
              <a:t>“Show all filename extensions”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Without this on, </a:t>
            </a:r>
            <a:r>
              <a:rPr sz="2000">
                <a:latin typeface="Courier"/>
              </a:rPr>
              <a:t>leaf_data.csv</a:t>
            </a:r>
            <a:r>
              <a:rPr sz="2000"/>
              <a:t> and </a:t>
            </a:r>
            <a:r>
              <a:rPr sz="2000">
                <a:latin typeface="Courier"/>
              </a:rPr>
              <a:t>leaf_data.xlsx</a:t>
            </a:r>
            <a:r>
              <a:rPr sz="2000"/>
              <a:t> and </a:t>
            </a:r>
            <a:r>
              <a:rPr sz="2000">
                <a:latin typeface="Courier"/>
              </a:rPr>
              <a:t>leaf_data.docx</a:t>
            </a:r>
            <a:r>
              <a:rPr sz="2000"/>
              <a:t> all just look like </a:t>
            </a:r>
            <a:r>
              <a:rPr sz="2000" b="1"/>
              <a:t>“leaf_data”</a:t>
            </a:r>
            <a:r>
              <a:rPr sz="2000"/>
              <a:t> with no way to tell them apart except a tiny icon. Turn this on today, permanently.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Turn On File Extensions —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Open </a:t>
            </a:r>
            <a:r>
              <a:rPr b="1"/>
              <a:t>File Explorer</a:t>
            </a:r>
            <a:r>
              <a:rPr/>
              <a:t> (folder icon in the taskbar)</a:t>
            </a:r>
          </a:p>
          <a:p>
            <a:pPr lvl="0" indent="-342900" marL="342900">
              <a:buAutoNum type="arabicPeriod"/>
            </a:pPr>
            <a:r>
              <a:rPr/>
              <a:t>Click the </a:t>
            </a:r>
            <a:r>
              <a:rPr b="1"/>
              <a:t>View</a:t>
            </a:r>
            <a:r>
              <a:rPr/>
              <a:t> tab at the top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Show</a:t>
            </a:r>
            <a:r>
              <a:rPr/>
              <a:t>, then check </a:t>
            </a:r>
            <a:r>
              <a:rPr b="1"/>
              <a:t>File name extensions</a:t>
            </a:r>
            <a:br/>
            <a:r>
              <a:rPr i="1"/>
              <a:t>(Older Windows: View → Options → View tab → uncheck “Hide extensions for known file types”)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Do this once, right now, on your own laptop — not later “when it matters.” It matters starting with the very first homework.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File Extension Actually Tells You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Plain data table (what R usually wants)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.xlsx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Excel workbook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.docx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Word document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R script — plain text with R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.qmd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Quarto document (code + writing)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fixed, non-editable document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extension is not decoration — it tells your computer, and R, </a:t>
            </a:r>
            <a:r>
              <a:rPr sz="2000" b="1"/>
              <a:t>which program should open the file and how to read it</a:t>
            </a:r>
            <a:r>
              <a:rPr sz="2000"/>
              <a:t>. A </a:t>
            </a:r>
            <a:r>
              <a:rPr sz="2000">
                <a:latin typeface="Courier"/>
              </a:rPr>
              <a:t>.csv</a:t>
            </a:r>
            <a:r>
              <a:rPr sz="2000"/>
              <a:t> that got accidentally renamed </a:t>
            </a:r>
            <a:r>
              <a:rPr sz="2000">
                <a:latin typeface="Courier"/>
              </a:rPr>
              <a:t>.csv.docx</a:t>
            </a:r>
            <a:r>
              <a:rPr sz="2000"/>
              <a:t> will fail to load, and the extension is the only clue why.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Part 2 of 4 · Folders and Paths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Computer Is a Tree of Folders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file lives inside a folder, which lives inside another folder, all the way back to the very top of your hard drive.</a:t>
            </a:r>
          </a:p>
          <a:p>
            <a:pPr lvl="0" indent="0" marL="0">
              <a:buNone/>
            </a:pPr>
            <a:r>
              <a:rPr b="1"/>
              <a:t>A path is just that chain of folder names, written out:</a:t>
            </a:r>
          </a:p>
          <a:p>
            <a:pPr lvl="0" indent="0">
              <a:buNone/>
            </a:pPr>
            <a:r>
              <a:rPr>
                <a:latin typeface="Courier"/>
              </a:rPr>
              <a:t>Mac:      /Users/yourname/Documents/datasci-coursework/data/leaf.csv
Windows:  C:\Users\yourname\Documents\datasci-coursework\data\leaf.csv</a:t>
            </a:r>
          </a:p>
          <a:p>
            <a:pPr lvl="0" indent="0" marL="0">
              <a:buNone/>
            </a:pPr>
            <a:r>
              <a:rPr/>
              <a:t>Read it left to right: hard drive → Users → your account → Documents → your course folder → </a:t>
            </a:r>
            <a:r>
              <a:rPr>
                <a:latin typeface="Courier"/>
              </a:rPr>
              <a:t>data</a:t>
            </a:r>
            <a:r>
              <a:rPr/>
              <a:t> → the file.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Mac vs. Windows paths</a:t>
            </a:r>
          </a:p>
          <a:p>
            <a:pPr lvl="0" indent="0" marL="1270000">
              <a:buNone/>
            </a:pPr>
            <a:r>
              <a:rPr sz="2000"/>
              <a:t>Mac and Linux use forward slashes </a:t>
            </a:r>
            <a:r>
              <a:rPr sz="2000">
                <a:latin typeface="Courier"/>
              </a:rPr>
              <a:t>/</a:t>
            </a:r>
            <a:r>
              <a:rPr sz="2000"/>
              <a:t>. Windows uses backslashes </a:t>
            </a:r>
            <a:r>
              <a:rPr sz="2000">
                <a:latin typeface="Courier"/>
              </a:rPr>
              <a:t>\</a:t>
            </a:r>
            <a:r>
              <a:rPr sz="2000"/>
              <a:t>. R almost always wants forward slashes </a:t>
            </a:r>
            <a:r>
              <a:rPr sz="2000">
                <a:latin typeface="Courier"/>
              </a:rPr>
              <a:t>/</a:t>
            </a:r>
            <a:r>
              <a:rPr sz="2000"/>
              <a:t>, even on Windows — R will tell you if you get this wrong.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Finding a File’s Exact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Mac:</a:t>
            </a:r>
            <a:r>
              <a:rPr/>
              <a:t> right-click the file in Finder, hold </a:t>
            </a:r>
            <a:r>
              <a:rPr>
                <a:latin typeface="Courier"/>
              </a:rPr>
              <a:t>Option</a:t>
            </a:r>
            <a:r>
              <a:rPr/>
              <a:t>, and choose </a:t>
            </a:r>
            <a:r>
              <a:rPr b="1"/>
              <a:t>“Copy [filename] as Pathname”</a:t>
            </a:r>
          </a:p>
          <a:p>
            <a:pPr lvl="0" indent="0" marL="0">
              <a:buNone/>
            </a:pPr>
            <a:r>
              <a:rPr b="1"/>
              <a:t>Windows:</a:t>
            </a:r>
            <a:r>
              <a:rPr/>
              <a:t> hold </a:t>
            </a:r>
            <a:r>
              <a:rPr>
                <a:latin typeface="Courier"/>
              </a:rPr>
              <a:t>Shift</a:t>
            </a:r>
            <a:r>
              <a:rPr/>
              <a:t>, right-click the file, choose </a:t>
            </a:r>
            <a:r>
              <a:rPr b="1"/>
              <a:t>“Copy as path”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you are ever unsure why R says </a:t>
            </a:r>
            <a:r>
              <a:rPr sz="2000" i="1"/>
              <a:t>“cannot find file,”</a:t>
            </a:r>
            <a:r>
              <a:rPr sz="2000"/>
              <a:t> the fix is almost always: get the real path this way, and compare it — character by character — to what you typed into </a:t>
            </a:r>
            <a:r>
              <a:rPr sz="2000">
                <a:latin typeface="Courier"/>
              </a:rPr>
              <a:t>read_csv()</a:t>
            </a:r>
            <a:r>
              <a:rPr sz="2000"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Absolute vs. Relative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An </a:t>
            </a:r>
            <a:r>
              <a:rPr b="1"/>
              <a:t>absolute path</a:t>
            </a:r>
            <a:r>
              <a:rPr/>
              <a:t> starts from the very top of the drive: </a:t>
            </a:r>
            <a:r>
              <a:rPr>
                <a:latin typeface="Courier"/>
              </a:rPr>
              <a:t>/Users/yourname/Documents/...</a:t>
            </a:r>
          </a:p>
          <a:p>
            <a:pPr lvl="0"/>
            <a:r>
              <a:rPr/>
              <a:t>A </a:t>
            </a:r>
            <a:r>
              <a:rPr b="1"/>
              <a:t>relative path</a:t>
            </a:r>
            <a:r>
              <a:rPr/>
              <a:t> starts from wherever your R Project currently is: </a:t>
            </a:r>
            <a:r>
              <a:rPr>
                <a:latin typeface="Courier"/>
              </a:rPr>
              <a:t>data/leaf.csv</a:t>
            </a:r>
          </a:p>
          <a:p>
            <a:pPr lvl="0" indent="0" marL="0">
              <a:buNone/>
            </a:pPr>
            <a:r>
              <a:rPr b="1"/>
              <a:t>In this course, we always use relative paths inside an R Project</a:t>
            </a:r>
            <a:r>
              <a:rPr/>
              <a:t> — that’s </a:t>
            </a:r>
            <a:r>
              <a:rPr i="1"/>
              <a:t>why</a:t>
            </a:r>
            <a:r>
              <a:rPr/>
              <a:t> we set up a project folder in Lecture 02. It means your code works identically on your laptop and your instructor’s.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An absolute path like </a:t>
            </a:r>
            <a:r>
              <a:rPr sz="2000">
                <a:latin typeface="Courier"/>
              </a:rPr>
              <a:t>/Users/wlperry/Desktop/leaf.csv</a:t>
            </a:r>
            <a:r>
              <a:rPr sz="2000"/>
              <a:t> will </a:t>
            </a:r>
            <a:r>
              <a:rPr sz="2000" b="1"/>
              <a:t>never work on anyone else’s computer</a:t>
            </a:r>
            <a:r>
              <a:rPr sz="2000"/>
              <a:t> — including your own after you rename your user account or get a new laptop. This is exactly the kind of thing that breaks “reproducibility.”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Part 3 of 4 · The Cloud-Storage Trap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File vs. Cloud-Only Placeholder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OneDrive</a:t>
            </a:r>
            <a:r>
              <a:rPr/>
              <a:t> and </a:t>
            </a:r>
            <a:r>
              <a:rPr b="1"/>
              <a:t>Google Drive</a:t>
            </a:r>
            <a:r>
              <a:rPr/>
              <a:t> can show a file in a folder </a:t>
            </a:r>
            <a:r>
              <a:rPr b="1"/>
              <a:t>without the file actually being on your computer.</a:t>
            </a:r>
            <a:r>
              <a:rPr/>
              <a:t> Instead, a tiny placeholder “promises” to download it the moment something opens it.</a:t>
            </a:r>
          </a:p>
          <a:p>
            <a:pPr lvl="0" indent="0" marL="0">
              <a:buNone/>
            </a:pPr>
            <a:r>
              <a:rPr/>
              <a:t>Look for a small icon next to the filename: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Icon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outline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actually here yet — internet required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Solid checkmark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Truly downloaded and on this computer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Why this breaks R specifically</a:t>
            </a:r>
          </a:p>
          <a:p>
            <a:pPr lvl="0" indent="0" marL="1270000">
              <a:buNone/>
            </a:pPr>
            <a:r>
              <a:rPr sz="2000"/>
              <a:t>R does not politely wait for a cloud download the way opening a document does. It fails immediately with </a:t>
            </a:r>
            <a:r>
              <a:rPr sz="2000" i="1"/>
              <a:t>“cannot find file”</a:t>
            </a:r>
            <a:r>
              <a:rPr sz="2000"/>
              <a:t> or </a:t>
            </a:r>
            <a:r>
              <a:rPr sz="2000" i="1"/>
              <a:t>“file not found”</a:t>
            </a:r>
            <a:r>
              <a:rPr sz="2000"/>
              <a:t> — even though you can clearly see the file sitting right there in the folder.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Fixing It — Force Files to Actually Be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OneDrive (Mac or Windows):</a:t>
            </a:r>
            <a:r>
              <a:rPr/>
              <a:t> right-click the folder → </a:t>
            </a:r>
            <a:r>
              <a:rPr b="1"/>
              <a:t>“Always keep on this device”</a:t>
            </a:r>
          </a:p>
          <a:p>
            <a:pPr lvl="0" indent="0" marL="0">
              <a:buNone/>
            </a:pPr>
            <a:r>
              <a:rPr b="1"/>
              <a:t>Google Drive:</a:t>
            </a:r>
            <a:r>
              <a:rPr/>
              <a:t> right-click the folder in Google Drive for Desktop → </a:t>
            </a:r>
            <a:r>
              <a:rPr b="1"/>
              <a:t>“Available offline”</a:t>
            </a:r>
          </a:p>
          <a:p>
            <a:pPr lvl="0" indent="0" marL="0">
              <a:buNone/>
            </a:pPr>
            <a:r>
              <a:rPr/>
              <a:t>Wait for the sync icon to change from a cloud to a checkmark before you trust that R can see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Simplest fix of all</a:t>
            </a:r>
          </a:p>
          <a:p>
            <a:pPr lvl="0" indent="0" marL="1270000">
              <a:buNone/>
            </a:pPr>
            <a:r>
              <a:rPr sz="2000"/>
              <a:t>For this course, keep your project folder somewhere that is </a:t>
            </a:r>
            <a:r>
              <a:rPr sz="2000" b="1"/>
              <a:t>never synced at all</a:t>
            </a:r>
            <a:r>
              <a:rPr sz="2000"/>
              <a:t> — a </a:t>
            </a:r>
            <a:r>
              <a:rPr sz="2000">
                <a:latin typeface="Courier"/>
              </a:rPr>
              <a:t>Documents</a:t>
            </a:r>
            <a:r>
              <a:rPr sz="2000"/>
              <a:t> folder on a computer with OneDrive/Google Drive turned off for that location, or a completely separate local folder like </a:t>
            </a:r>
            <a:r>
              <a:rPr sz="2000">
                <a:latin typeface="Courier"/>
              </a:rPr>
              <a:t>Documents/datasci-coursework</a:t>
            </a:r>
            <a:r>
              <a:rPr sz="2000"/>
              <a:t> outside any synced path.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Class Rule for Where Files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Make </a:t>
            </a:r>
            <a:r>
              <a:rPr b="1"/>
              <a:t>one</a:t>
            </a:r>
            <a:r>
              <a:rPr/>
              <a:t> folder for this entire course — e.g. </a:t>
            </a:r>
            <a:r>
              <a:rPr>
                <a:latin typeface="Courier"/>
              </a:rPr>
              <a:t>datasci-coursework</a:t>
            </a:r>
          </a:p>
          <a:p>
            <a:pPr lvl="0" indent="-342900" marL="342900">
              <a:buAutoNum type="arabicPeriod"/>
            </a:pPr>
            <a:r>
              <a:rPr/>
              <a:t>Put it somewhere simple: </a:t>
            </a:r>
            <a:r>
              <a:rPr>
                <a:latin typeface="Courier"/>
              </a:rPr>
              <a:t>Desktop</a:t>
            </a:r>
            <a:r>
              <a:rPr/>
              <a:t>, or </a:t>
            </a:r>
            <a:r>
              <a:rPr>
                <a:latin typeface="Courier"/>
              </a:rPr>
              <a:t>Documents</a:t>
            </a:r>
          </a:p>
          <a:p>
            <a:pPr lvl="0" indent="-342900" marL="342900">
              <a:buAutoNum type="arabicPeriod"/>
            </a:pPr>
            <a:r>
              <a:rPr/>
              <a:t>Confirm it is </a:t>
            </a:r>
            <a:r>
              <a:rPr b="1"/>
              <a:t>not</a:t>
            </a:r>
            <a:r>
              <a:rPr/>
              <a:t> inside a folder with a cloud icon anywhere in its path</a:t>
            </a:r>
          </a:p>
          <a:p>
            <a:pPr lvl="0" indent="-342900" marL="342900">
              <a:buAutoNum type="arabicPeriod"/>
            </a:pPr>
            <a:r>
              <a:rPr/>
              <a:t>This is the same folder you turned into a Git repository, if you’ve done that lecture</a:t>
            </a:r>
          </a:p>
          <a:p>
            <a:pPr lvl="0" indent="-342900" marL="342900">
              <a:buAutoNum type="arabicPeriod"/>
            </a:pPr>
            <a:r>
              <a:rPr/>
              <a:t>Everything for this class lives inside it, in the 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 structure from Lecture 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One known folder, checked once, used all semester, beats a scattered mess of Desktop icons, Downloads-folder clutter, and mystery cloud files every single time.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Part 4 of 4 · Common Traps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Files Secretly Hide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Downloads folder</a:t>
            </a:r>
            <a:r>
              <a:rPr/>
              <a:t> — browsers save here by default; files pile up unsorted for years</a:t>
            </a:r>
          </a:p>
          <a:p>
            <a:pPr lvl="0"/>
            <a:r>
              <a:rPr b="1"/>
              <a:t>Desktop</a:t>
            </a:r>
            <a:r>
              <a:rPr/>
              <a:t> — technically a real folder (</a:t>
            </a:r>
            <a:r>
              <a:rPr>
                <a:latin typeface="Courier"/>
              </a:rPr>
              <a:t>~/Desktop</a:t>
            </a:r>
            <a:r>
              <a:rPr/>
              <a:t>), but on some setups Desktop </a:t>
            </a:r>
            <a:r>
              <a:rPr b="1"/>
              <a:t>itself</a:t>
            </a:r>
            <a:r>
              <a:rPr/>
              <a:t> is silently synced to iCloud or OneDrive</a:t>
            </a:r>
          </a:p>
          <a:p>
            <a:pPr lvl="0"/>
            <a:r>
              <a:rPr b="1"/>
              <a:t>“Recent” or “Quick access” views</a:t>
            </a:r>
            <a:r>
              <a:rPr/>
              <a:t> — these are shortcuts to files, </a:t>
            </a:r>
            <a:r>
              <a:rPr b="1"/>
              <a:t>not</a:t>
            </a:r>
            <a:r>
              <a:rPr/>
              <a:t> the files’ real locations; don’t trust the folder they </a:t>
            </a:r>
            <a:r>
              <a:rPr i="1"/>
              <a:t>appear</a:t>
            </a:r>
            <a:r>
              <a:rPr/>
              <a:t> to be in</a:t>
            </a:r>
          </a:p>
          <a:p>
            <a:pPr lvl="0"/>
            <a:r>
              <a:rPr b="1"/>
              <a:t>Two files with the same name</a:t>
            </a:r>
            <a:r>
              <a:rPr/>
              <a:t> in different folders — R will load whichever path you actually typed, which might not be the one you meant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you’re on a Mac and Desktop shows a cloud icon or the phrase “Desktop &amp; Documents Folders” appears anywhere in System Settings → Apple ID → iCloud, your Desktop is being synced — treat it the same as OneDrive/Google Drive above.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File extensions</a:t>
            </a:r>
            <a:r>
              <a:rPr/>
              <a:t> are always visible now, on both Mac and Windows</a:t>
            </a:r>
          </a:p>
          <a:p>
            <a:pPr lvl="0"/>
            <a:r>
              <a:rPr/>
              <a:t>A </a:t>
            </a:r>
            <a:r>
              <a:rPr b="1"/>
              <a:t>path</a:t>
            </a:r>
            <a:r>
              <a:rPr/>
              <a:t> is the full folder-by-folder address of a file</a:t>
            </a:r>
          </a:p>
          <a:p>
            <a:pPr lvl="0"/>
            <a:r>
              <a:rPr b="1"/>
              <a:t>Relative paths inside an R Project</a:t>
            </a:r>
            <a:r>
              <a:rPr/>
              <a:t> are why our code works on any computer</a:t>
            </a:r>
          </a:p>
          <a:p>
            <a:pPr lvl="0"/>
            <a:r>
              <a:rPr/>
              <a:t>A cloud icon means a file is </a:t>
            </a:r>
            <a:r>
              <a:rPr b="1"/>
              <a:t>not actually here yet</a:t>
            </a:r>
            <a:r>
              <a:rPr/>
              <a:t> — R will fail to see it</a:t>
            </a:r>
          </a:p>
          <a:p>
            <a:pPr lvl="0"/>
            <a:r>
              <a:rPr b="1"/>
              <a:t>OneDrive and Google Drive</a:t>
            </a:r>
            <a:r>
              <a:rPr/>
              <a:t> need “always keep on this device” / “available offline” turned on for anything R needs to read</a:t>
            </a:r>
          </a:p>
          <a:p>
            <a:pPr lvl="0"/>
            <a:r>
              <a:rPr/>
              <a:t>You now have </a:t>
            </a:r>
            <a:r>
              <a:rPr b="1"/>
              <a:t>one</a:t>
            </a:r>
            <a:r>
              <a:rPr/>
              <a:t> known, local, unsynced folder for this entire course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Reference:</a:t>
            </a:r>
          </a:p>
          <a:p>
            <a:pPr lvl="0"/>
            <a:r>
              <a:rPr/>
              <a:t>🌐 </a:t>
            </a:r>
            <a:r>
              <a:rPr>
                <a:hlinkClick r:id="rId2"/>
              </a:rPr>
              <a:t>Data Carpentry — organizing data</a:t>
            </a:r>
          </a:p>
          <a:p>
            <a:pPr lvl="0" indent="0" marL="0">
              <a:buNone/>
            </a:pPr>
            <a:r>
              <a:rPr b="1"/>
              <a:t>Up next — Lecture 01:</a:t>
            </a:r>
          </a:p>
          <a:p>
            <a:pPr lvl="0"/>
            <a:r>
              <a:rPr/>
              <a:t>Getting started with R and Positron, inside the folder you just set up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00 — Finding Your Own Files</dc:title>
  <dc:creator>Bill Perry</dc:creator>
  <cp:keywords/>
  <dc:description>A no-assumptions orientation to the Mac and Windows file systems, how to see what’s actually on your computer, and why OneDrive/Google Drive sync folders quietly break data science work if you don’t understand them.</dc:description>
  <dcterms:created xsi:type="dcterms:W3CDTF">2026-08-27T20:06:45Z</dcterms:created>
  <dcterms:modified xsi:type="dcterms:W3CDTF">2026-08-27T20:06:45Z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0.5</vt:lpwstr>
  </property>
  <property fmtid="{D5CDD505-2E9C-101B-9397-08002B2CF9AE}" pid="13" name="subtitle">
    <vt:lpwstr>Folders, paths, and why OneDrive and Google Drive break things</vt:lpwstr>
  </property>
  <property fmtid="{D5CDD505-2E9C-101B-9397-08002B2CF9AE}" pid="14" name="toc-title">
    <vt:lpwstr>Table of contents</vt:lpwstr>
  </property>
  <property fmtid="{D5CDD505-2E9C-101B-9397-08002B2CF9AE}" pid="15" name="type">
    <vt:lpwstr>lecture</vt:lpwstr>
  </property>
  <property fmtid="{D5CDD505-2E9C-101B-9397-08002B2CF9AE}" pid="16" name="week">
    <vt:lpwstr>1</vt:lpwstr>
  </property>
</Properties>
</file>