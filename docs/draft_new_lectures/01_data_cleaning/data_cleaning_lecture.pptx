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9" Type="http://schemas.openxmlformats.org/officeDocument/2006/relationships/viewProps" Target="viewProps.xml" /><Relationship Id="rId28" Type="http://schemas.openxmlformats.org/officeDocument/2006/relationships/presProps" Target="presProps.xml" /><Relationship Id="rId1" Type="http://schemas.openxmlformats.org/officeDocument/2006/relationships/slideMaster" Target="slideMasters/slideMaster1.xml" /><Relationship Id="rId31" Type="http://schemas.openxmlformats.org/officeDocument/2006/relationships/tableStyles" Target="tableStyles.xml" /><Relationship Id="rId3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missing-values" TargetMode="External" /><Relationship Id="rId3" Type="http://schemas.openxmlformats.org/officeDocument/2006/relationships/hyperlink" Target="https://r4ds.hadley.nz/factors" TargetMode="External" /><Relationship Id="rId4" Type="http://schemas.openxmlformats.org/officeDocument/2006/relationships/hyperlink" Target="https://datacarpentry.github.io/R-ecology-lesson/"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missing-values"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strings"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missing-values"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missing-values" TargetMode="External" /><Relationship Id="rId3" Type="http://schemas.openxmlformats.org/officeDocument/2006/relationships/hyperlink" Target="https://r4ds.hadley.nz/strings" TargetMode="External" /><Relationship Id="rId4" Type="http://schemas.openxmlformats.org/officeDocument/2006/relationships/hyperlink" Target="https://datacarpentry.github.io/R-ecology-lesson/"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Lecture 03B — Cleaning Messy Data</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From a real messy spreadsheet to a trustworthy data frame</a:t>
            </a:r>
            <a:br/>
            <a:br/>
            <a:r>
              <a:rPr/>
              <a:t>Bill Perry</a:t>
            </a:r>
          </a:p>
        </p:txBody>
      </p:sp>
      <p:sp>
        <p:nvSpPr>
          <p:cNvPr id="4" name="Date Placeholder 3"/>
          <p:cNvSpPr>
            <a:spLocks noGrp="1"/>
          </p:cNvSpPr>
          <p:nvPr>
            <p:ph idx="10" sz="half" type="dt"/>
          </p:nvPr>
        </p:nvSpPr>
        <p:spPr/>
        <p:txBody>
          <a:bodyPr/>
          <a:lstStyle/>
          <a:p>
            <a:pPr lvl="0" indent="0" marL="0">
              <a:buNone/>
            </a:pPr>
            <a:r>
              <a:rPr/>
              <a:t>2026-08-27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we left off (Lecture 03 — Wrangling)</a:t>
            </a:r>
          </a:p>
        </p:txBody>
      </p:sp>
      <p:sp>
        <p:nvSpPr>
          <p:cNvPr id="3" name="Content Placeholder 2"/>
          <p:cNvSpPr>
            <a:spLocks noGrp="1"/>
          </p:cNvSpPr>
          <p:nvPr>
            <p:ph idx="1"/>
          </p:nvPr>
        </p:nvSpPr>
        <p:spPr/>
        <p:txBody>
          <a:bodyPr/>
          <a:lstStyle/>
          <a:p>
            <a:pPr lvl="0"/>
            <a:r>
              <a:rPr>
                <a:latin typeface="Courier"/>
              </a:rPr>
              <a:t>filter()</a:t>
            </a:r>
            <a:r>
              <a:rPr/>
              <a:t>, </a:t>
            </a:r>
            <a:r>
              <a:rPr>
                <a:latin typeface="Courier"/>
              </a:rPr>
              <a:t>select()</a:t>
            </a:r>
            <a:r>
              <a:rPr/>
              <a:t>, </a:t>
            </a:r>
            <a:r>
              <a:rPr>
                <a:latin typeface="Courier"/>
              </a:rPr>
              <a:t>mutate()</a:t>
            </a:r>
            <a:r>
              <a:rPr/>
              <a:t>, </a:t>
            </a:r>
            <a:r>
              <a:rPr>
                <a:latin typeface="Courier"/>
              </a:rPr>
              <a:t>arrange()</a:t>
            </a:r>
            <a:r>
              <a:rPr/>
              <a:t> — the core verbs</a:t>
            </a:r>
          </a:p>
          <a:p>
            <a:pPr lvl="0"/>
            <a:r>
              <a:rPr/>
              <a:t>Mean, median, variance, SD, SE — and </a:t>
            </a:r>
            <a:r>
              <a:rPr>
                <a:latin typeface="Courier"/>
              </a:rPr>
              <a:t>sum(!is.na())</a:t>
            </a:r>
            <a:r>
              <a:rPr/>
              <a:t> for a correct </a:t>
            </a:r>
            <a:r>
              <a:rPr i="1"/>
              <a:t>n</a:t>
            </a:r>
          </a:p>
          <a:p>
            <a:pPr lvl="0"/>
            <a:r>
              <a:rPr>
                <a:latin typeface="Courier"/>
              </a:rPr>
              <a:t>group_by()</a:t>
            </a:r>
            <a:r>
              <a:rPr/>
              <a:t> + </a:t>
            </a:r>
            <a:r>
              <a:rPr>
                <a:latin typeface="Courier"/>
              </a:rPr>
              <a:t>summarize()</a:t>
            </a:r>
            <a:r>
              <a:rPr/>
              <a:t>, and </a:t>
            </a:r>
            <a:r>
              <a:rPr>
                <a:latin typeface="Courier"/>
              </a:rPr>
              <a:t>skim()</a:t>
            </a:r>
            <a:r>
              <a:rPr/>
              <a:t> for a fast overview</a:t>
            </a:r>
          </a:p>
          <a:p>
            <a:pPr lvl="0"/>
            <a:r>
              <a:rPr/>
              <a:t>Boxplots with jittered points; mean ± SE plots with </a:t>
            </a:r>
            <a:r>
              <a:rPr>
                <a:latin typeface="Courier"/>
              </a:rPr>
              <a:t>stat_summary()</a:t>
            </a:r>
          </a:p>
          <a:p>
            <a:pPr lvl="0" indent="0" marL="1270000">
              <a:buNone/>
            </a:pPr>
            <a:r>
              <a:rPr sz="2000" b="1"/>
              <a:t>Note</a:t>
            </a:r>
          </a:p>
          <a:p>
            <a:pPr lvl="0" indent="0" marL="1270000">
              <a:buNone/>
            </a:pPr>
            <a:r>
              <a:rPr sz="2000" b="1"/>
              <a:t>✅ Key idea from Lecture 03</a:t>
            </a:r>
          </a:p>
          <a:p>
            <a:pPr lvl="0" indent="0" marL="1270000">
              <a:buNone/>
            </a:pPr>
            <a:r>
              <a:rPr sz="2000"/>
              <a:t>Wrangling verbs assume your data is already trustworthy — every value is the right type, spelled consistently, and really means what it says. Today’s data is </a:t>
            </a:r>
            <a:r>
              <a:rPr sz="2000" b="1"/>
              <a:t>not</a:t>
            </a:r>
            <a:r>
              <a:rPr sz="2000"/>
              <a:t> that clean. We fix it first.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Goals for Today</a:t>
            </a:r>
          </a:p>
        </p:txBody>
      </p:sp>
      <p:sp>
        <p:nvSpPr>
          <p:cNvPr id="3" name="Content Placeholder 2"/>
          <p:cNvSpPr>
            <a:spLocks noGrp="1"/>
          </p:cNvSpPr>
          <p:nvPr>
            <p:ph idx="1" sz="half"/>
          </p:nvPr>
        </p:nvSpPr>
        <p:spPr/>
        <p:txBody>
          <a:bodyPr/>
          <a:lstStyle/>
          <a:p>
            <a:pPr lvl="0" indent="0" marL="0">
              <a:buNone/>
            </a:pPr>
            <a:r>
              <a:rPr b="1"/>
              <a:t>The real-world problem:</a:t>
            </a:r>
          </a:p>
          <a:p>
            <a:pPr lvl="0"/>
            <a:r>
              <a:rPr/>
              <a:t>Field data entered by hand is never perfect</a:t>
            </a:r>
          </a:p>
          <a:p>
            <a:pPr lvl="0"/>
            <a:r>
              <a:rPr/>
              <a:t>Typos, inconsistent capitalization, stray spaces</a:t>
            </a:r>
          </a:p>
          <a:p>
            <a:pPr lvl="0"/>
            <a:r>
              <a:rPr/>
              <a:t>Missing values coded a dozen different ways</a:t>
            </a:r>
          </a:p>
          <a:p>
            <a:pPr lvl="0"/>
            <a:r>
              <a:rPr/>
              <a:t>Numbers accidentally typed as text</a:t>
            </a:r>
          </a:p>
          <a:p>
            <a:pPr lvl="0"/>
            <a:r>
              <a:rPr/>
              <a:t>Rows entered twice by mistake</a:t>
            </a:r>
          </a:p>
          <a:p>
            <a:pPr lvl="0" indent="0" marL="0">
              <a:buNone/>
            </a:pPr>
            <a:r>
              <a:rPr b="1"/>
              <a:t>What we’ll learn:</a:t>
            </a:r>
          </a:p>
          <a:p>
            <a:pPr lvl="0"/>
            <a:r>
              <a:rPr/>
              <a:t>How to </a:t>
            </a:r>
            <a:r>
              <a:rPr i="1"/>
              <a:t>see</a:t>
            </a:r>
            <a:r>
              <a:rPr/>
              <a:t> messiness with </a:t>
            </a:r>
            <a:r>
              <a:rPr>
                <a:latin typeface="Courier"/>
              </a:rPr>
              <a:t>skim()</a:t>
            </a:r>
            <a:r>
              <a:rPr/>
              <a:t> and </a:t>
            </a:r>
            <a:r>
              <a:rPr>
                <a:latin typeface="Courier"/>
              </a:rPr>
              <a:t>count()</a:t>
            </a:r>
          </a:p>
          <a:p>
            <a:pPr lvl="0"/>
            <a:r>
              <a:rPr/>
              <a:t>Fix text inconsistency: </a:t>
            </a:r>
            <a:r>
              <a:rPr>
                <a:latin typeface="Courier"/>
              </a:rPr>
              <a:t>str_trim()</a:t>
            </a:r>
            <a:r>
              <a:rPr/>
              <a:t>, </a:t>
            </a:r>
            <a:r>
              <a:rPr>
                <a:latin typeface="Courier"/>
              </a:rPr>
              <a:t>str_to_lower()</a:t>
            </a:r>
          </a:p>
          <a:p>
            <a:pPr lvl="0"/>
            <a:r>
              <a:rPr/>
              <a:t>Fix fake NA codes: </a:t>
            </a:r>
            <a:r>
              <a:rPr>
                <a:latin typeface="Courier"/>
              </a:rPr>
              <a:t>na = c(...)</a:t>
            </a:r>
            <a:r>
              <a:rPr/>
              <a:t>, </a:t>
            </a:r>
            <a:r>
              <a:rPr>
                <a:latin typeface="Courier"/>
              </a:rPr>
              <a:t>na_if()</a:t>
            </a:r>
          </a:p>
          <a:p>
            <a:pPr lvl="0"/>
            <a:r>
              <a:rPr/>
              <a:t>Fix numbers-as-text: </a:t>
            </a:r>
            <a:r>
              <a:rPr>
                <a:latin typeface="Courier"/>
              </a:rPr>
              <a:t>parse_number()</a:t>
            </a:r>
          </a:p>
          <a:p>
            <a:pPr lvl="0"/>
            <a:r>
              <a:rPr/>
              <a:t>Find and remove duplicates: </a:t>
            </a:r>
            <a:r>
              <a:rPr>
                <a:latin typeface="Courier"/>
              </a:rPr>
              <a:t>distinct()</a:t>
            </a:r>
          </a:p>
          <a:p>
            <a:pPr lvl="0"/>
            <a:r>
              <a:rPr/>
              <a:t>Flag, don’t silently delete, suspicious values</a:t>
            </a:r>
          </a:p>
          <a:p>
            <a:pPr lvl="0" indent="0" marL="1270000">
              <a:buNone/>
            </a:pPr>
            <a:r>
              <a:rPr sz="2000" b="1"/>
              <a:t>Tip</a:t>
            </a:r>
          </a:p>
          <a:p>
            <a:pPr lvl="0" indent="0" marL="1270000">
              <a:buNone/>
            </a:pPr>
            <a:r>
              <a:rPr sz="2000" b="1"/>
              <a:t>🖐 Try it yourself</a:t>
            </a:r>
          </a:p>
          <a:p>
            <a:pPr lvl="0" indent="0" marL="1270000">
              <a:buNone/>
            </a:pPr>
            <a:r>
              <a:rPr sz="2000"/>
              <a:t>By the end you will take a genuinely messy leaf dataset and turn it into a clean </a:t>
            </a:r>
            <a:r>
              <a:rPr sz="2000">
                <a:latin typeface="Courier"/>
              </a:rPr>
              <a:t>_df</a:t>
            </a:r>
            <a:r>
              <a:rPr sz="2000"/>
              <a:t> you would trust enough to analyze.</a:t>
            </a:r>
          </a:p>
        </p:txBody>
      </p:sp>
      <p:sp>
        <p:nvSpPr>
          <p:cNvPr id="4" name="Content Placeholder 3"/>
          <p:cNvSpPr>
            <a:spLocks noGrp="1"/>
          </p:cNvSpPr>
          <p:nvPr>
            <p:ph idx="2" sz="half"/>
          </p:nvPr>
        </p:nvSpPr>
        <p:spPr/>
        <p:txBody>
          <a:bodyPr/>
          <a:lstStyle/>
          <a:p>
            <a:pPr lvl="0" indent="0" marL="0">
              <a:buNone/>
            </a:pPr>
            <a:r>
              <a:rPr b="1"/>
              <a:t>Our tools today:</a:t>
            </a:r>
          </a:p>
          <a:p>
            <a:pPr lvl="0"/>
            <a:r>
              <a:rPr>
                <a:latin typeface="Courier"/>
              </a:rPr>
              <a:t>tidyverse</a:t>
            </a:r>
            <a:r>
              <a:rPr/>
              <a:t> (</a:t>
            </a:r>
            <a:r>
              <a:rPr>
                <a:latin typeface="Courier"/>
              </a:rPr>
              <a:t>stringr</a:t>
            </a:r>
            <a:r>
              <a:rPr/>
              <a:t>, </a:t>
            </a:r>
            <a:r>
              <a:rPr>
                <a:latin typeface="Courier"/>
              </a:rPr>
              <a:t>readr</a:t>
            </a:r>
            <a:r>
              <a:rPr/>
              <a:t>, </a:t>
            </a:r>
            <a:r>
              <a:rPr>
                <a:latin typeface="Courier"/>
              </a:rPr>
              <a:t>dplyr</a:t>
            </a:r>
            <a:r>
              <a:rPr/>
              <a:t>)</a:t>
            </a:r>
          </a:p>
          <a:p>
            <a:pPr lvl="0"/>
            <a:r>
              <a:rPr>
                <a:latin typeface="Courier"/>
              </a:rPr>
              <a:t>janitor</a:t>
            </a:r>
          </a:p>
          <a:p>
            <a:pPr lvl="0" indent="0" marL="0">
              <a:buNone/>
            </a:pPr>
            <a:r>
              <a:rPr b="1"/>
              <a:t>References:</a:t>
            </a:r>
          </a:p>
          <a:p>
            <a:pPr lvl="0"/>
            <a:r>
              <a:rPr/>
              <a:t>📖 </a:t>
            </a:r>
            <a:r>
              <a:rPr>
                <a:hlinkClick r:id="rId2"/>
              </a:rPr>
              <a:t>R4DS Ch 18</a:t>
            </a:r>
            <a:r>
              <a:rPr/>
              <a:t> — Missing Values</a:t>
            </a:r>
          </a:p>
          <a:p>
            <a:pPr lvl="0"/>
            <a:r>
              <a:rPr/>
              <a:t>📖 </a:t>
            </a:r>
            <a:r>
              <a:rPr>
                <a:hlinkClick r:id="rId3"/>
              </a:rPr>
              <a:t>R4DS Ch 17</a:t>
            </a:r>
            <a:r>
              <a:rPr/>
              <a:t> — Strings &amp; Factors basics</a:t>
            </a:r>
          </a:p>
          <a:p>
            <a:pPr lvl="0"/>
            <a:r>
              <a:rPr/>
              <a:t>🌐 </a:t>
            </a:r>
            <a:r>
              <a:rPr>
                <a:hlinkClick r:id="rId4"/>
              </a:rPr>
              <a:t>Data Carpentry — Data Cleaning</a:t>
            </a:r>
          </a:p>
          <a:p>
            <a:pPr lvl="0" indent="0" marL="0">
              <a:buNone/>
            </a:pPr>
            <a:r>
              <a:rPr b="1"/>
              <a:t>Naming conventions:</a:t>
            </a:r>
          </a:p>
          <a:p>
            <a:pPr lvl="0"/>
            <a:r>
              <a:rPr/>
              <a:t>data frames → </a:t>
            </a:r>
            <a:r>
              <a:rPr>
                <a:latin typeface="Courier"/>
              </a:rPr>
              <a:t>_df</a:t>
            </a:r>
          </a:p>
          <a:p>
            <a:pPr lvl="0"/>
            <a:r>
              <a:rPr/>
              <a:t>plots → </a:t>
            </a:r>
            <a:r>
              <a:rPr>
                <a:latin typeface="Courier"/>
              </a:rPr>
              <a:t>_plot</a:t>
            </a:r>
          </a:p>
          <a:p>
            <a:pPr lvl="0"/>
            <a:r>
              <a:rPr/>
              <a:t>raw vs. clean → </a:t>
            </a:r>
            <a:r>
              <a:rPr>
                <a:latin typeface="Courier"/>
              </a:rPr>
              <a:t>raw_df</a:t>
            </a:r>
            <a:r>
              <a:rPr/>
              <a:t> then </a:t>
            </a:r>
            <a:r>
              <a:rPr>
                <a:latin typeface="Courier"/>
              </a:rPr>
              <a:t>clean_df</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Use These Slides — Predict · Type · Run</a:t>
            </a:r>
          </a:p>
        </p:txBody>
      </p:sp>
      <p:sp>
        <p:nvSpPr>
          <p:cNvPr id="3" name="Content Placeholder 2"/>
          <p:cNvSpPr>
            <a:spLocks noGrp="1"/>
          </p:cNvSpPr>
          <p:nvPr>
            <p:ph idx="1" sz="half"/>
          </p:nvPr>
        </p:nvSpPr>
        <p:spPr/>
        <p:txBody>
          <a:bodyPr/>
          <a:lstStyle/>
          <a:p>
            <a:pPr lvl="0" indent="0" marL="0">
              <a:buNone/>
            </a:pPr>
            <a:r>
              <a:rPr/>
              <a:t>This lecture runs in </a:t>
            </a:r>
            <a:r>
              <a:rPr b="1"/>
              <a:t>four short chunks</a:t>
            </a:r>
            <a:r>
              <a:rPr/>
              <a:t>. After each chunk, switch to the activity worksheet and type the code yourself against the real messy file.</a:t>
            </a:r>
          </a:p>
          <a:p>
            <a:pPr lvl="0" indent="0" marL="0">
              <a:buNone/>
            </a:pPr>
            <a:r>
              <a:rPr b="1"/>
              <a:t>For every code block, do three things:</a:t>
            </a:r>
          </a:p>
          <a:p>
            <a:pPr lvl="0" indent="-342900" marL="342900">
              <a:buAutoNum type="arabicPeriod"/>
            </a:pPr>
            <a:r>
              <a:rPr b="1"/>
              <a:t>Predict</a:t>
            </a:r>
            <a:r>
              <a:rPr/>
              <a:t> — before it runs, say what you think the output will be</a:t>
            </a:r>
          </a:p>
          <a:p>
            <a:pPr lvl="0" indent="-342900" marL="342900">
              <a:buAutoNum type="arabicPeriod"/>
            </a:pPr>
            <a:r>
              <a:rPr b="1"/>
              <a:t>Type</a:t>
            </a:r>
            <a:r>
              <a:rPr/>
              <a:t> it out by hand — do not copy-paste</a:t>
            </a:r>
          </a:p>
          <a:p>
            <a:pPr lvl="0" indent="-342900" marL="342900">
              <a:buAutoNum type="arabicPeriod"/>
            </a:pPr>
            <a:r>
              <a:rPr b="1"/>
              <a:t>Run</a:t>
            </a:r>
            <a:r>
              <a:rPr/>
              <a:t> it and compare to your prediction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Why this lecture matters most</a:t>
            </a:r>
          </a:p>
          <a:p>
            <a:pPr lvl="0" indent="0" marL="1270000">
              <a:buNone/>
            </a:pPr>
            <a:r>
              <a:rPr sz="2000"/>
              <a:t>Every other lecture in this course assumes clean data. In real research, </a:t>
            </a:r>
            <a:r>
              <a:rPr sz="2000" b="1"/>
              <a:t>cleaning is where most of your time actually goes</a:t>
            </a:r>
            <a:r>
              <a:rPr sz="2000"/>
              <a:t> — often 50–80% of a project. Skipping this step is the single most common way student projects get silently wrong answers.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Load Libraries and the Messy Data</a:t>
            </a:r>
          </a:p>
        </p:txBody>
      </p:sp>
      <p:sp>
        <p:nvSpPr>
          <p:cNvPr id="3" name="Content Placeholder 2"/>
          <p:cNvSpPr>
            <a:spLocks noGrp="1"/>
          </p:cNvSpPr>
          <p:nvPr>
            <p:ph idx="1"/>
          </p:nvPr>
        </p:nvSpPr>
        <p:spPr/>
        <p:txBody>
          <a:bodyPr/>
          <a:lstStyle/>
          <a:p>
            <a:pPr lvl="0" indent="0">
              <a:buNone/>
            </a:pPr>
            <a:r>
              <a:rPr>
                <a:solidFill>
                  <a:srgbClr val="5E5E5E"/>
                </a:solidFill>
                <a:latin typeface="Courier"/>
              </a:rPr>
              <a:t># Load all packages at the top of every script ----------</a:t>
            </a:r>
            <a:br/>
            <a:r>
              <a:rPr>
                <a:solidFill>
                  <a:srgbClr val="4758AB"/>
                </a:solidFill>
                <a:latin typeface="Courier"/>
              </a:rPr>
              <a:t>library</a:t>
            </a:r>
            <a:r>
              <a:rPr>
                <a:solidFill>
                  <a:srgbClr val="003B4F"/>
                </a:solidFill>
                <a:latin typeface="Courier"/>
              </a:rPr>
              <a:t>(tidyverse) </a:t>
            </a:r>
            <a:r>
              <a:rPr>
                <a:solidFill>
                  <a:srgbClr val="5E5E5E"/>
                </a:solidFill>
                <a:latin typeface="Courier"/>
              </a:rPr>
              <a:t># dplyr, stringr, readr, ggplot2</a:t>
            </a:r>
            <a:br/>
            <a:r>
              <a:rPr>
                <a:solidFill>
                  <a:srgbClr val="4758AB"/>
                </a:solidFill>
                <a:latin typeface="Courier"/>
              </a:rPr>
              <a:t>library</a:t>
            </a:r>
            <a:r>
              <a:rPr>
                <a:solidFill>
                  <a:srgbClr val="003B4F"/>
                </a:solidFill>
                <a:latin typeface="Courier"/>
              </a:rPr>
              <a:t>(janitor)   </a:t>
            </a:r>
            <a:r>
              <a:rPr>
                <a:solidFill>
                  <a:srgbClr val="5E5E5E"/>
                </a:solidFill>
                <a:latin typeface="Courier"/>
              </a:rPr>
              <a:t># clean_names() and friends</a:t>
            </a:r>
          </a:p>
          <a:p>
            <a:pPr lvl="0" indent="0">
              <a:buNone/>
            </a:pPr>
            <a:r>
              <a:rPr>
                <a:solidFill>
                  <a:srgbClr val="5E5E5E"/>
                </a:solidFill>
                <a:latin typeface="Courier"/>
              </a:rPr>
              <a:t># Read the RAW file exactly as it was entered ------------</a:t>
            </a:r>
            <a:br/>
            <a:r>
              <a:rPr>
                <a:solidFill>
                  <a:srgbClr val="003B4F"/>
                </a:solidFill>
                <a:latin typeface="Courier"/>
              </a:rPr>
              <a:t>leaf_raw_df &lt;- </a:t>
            </a:r>
            <a:r>
              <a:rPr>
                <a:solidFill>
                  <a:srgbClr val="4758AB"/>
                </a:solidFill>
                <a:latin typeface="Courier"/>
              </a:rPr>
              <a:t>read_csv</a:t>
            </a:r>
            <a:r>
              <a:rPr>
                <a:solidFill>
                  <a:srgbClr val="003B4F"/>
                </a:solidFill>
                <a:latin typeface="Courier"/>
              </a:rPr>
              <a:t>(</a:t>
            </a:r>
            <a:r>
              <a:rPr>
                <a:solidFill>
                  <a:srgbClr val="20794D"/>
                </a:solidFill>
                <a:latin typeface="Courier"/>
              </a:rPr>
              <a:t>"data/messy_leaf_data.csv"</a:t>
            </a:r>
            <a:r>
              <a:rPr>
                <a:solidFill>
                  <a:srgbClr val="003B4F"/>
                </a:solidFill>
                <a:latin typeface="Courier"/>
              </a:rPr>
              <a:t>)</a:t>
            </a:r>
          </a:p>
          <a:p>
            <a:pPr lvl="0" indent="0" marL="1270000">
              <a:buNone/>
            </a:pPr>
            <a:r>
              <a:rPr sz="2000" b="1"/>
              <a:t>Note</a:t>
            </a:r>
          </a:p>
          <a:p>
            <a:pPr lvl="0" indent="0" marL="1270000">
              <a:buNone/>
            </a:pPr>
            <a:r>
              <a:rPr sz="2000" b="1"/>
              <a:t>Install once — load every session</a:t>
            </a:r>
          </a:p>
          <a:p>
            <a:pPr lvl="0"/>
            <a:r>
              <a:rPr sz="2000"/>
              <a:t>Run in the Console one time only: </a:t>
            </a:r>
            <a:r>
              <a:rPr sz="2000">
                <a:latin typeface="Courier"/>
              </a:rPr>
              <a:t>install.packages("janitor")</a:t>
            </a:r>
          </a:p>
          <a:p>
            <a:pPr lvl="0"/>
            <a:r>
              <a:rPr sz="2000"/>
              <a:t>Then every session: </a:t>
            </a:r>
            <a:r>
              <a:rPr sz="2000">
                <a:latin typeface="Courier"/>
              </a:rPr>
              <a:t>library(janitor)</a:t>
            </a:r>
            <a:r>
              <a:rPr sz="2000"/>
              <a:t> activates it.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Chunk 1 of 4 · Finding the Mess</a:t>
            </a:r>
          </a:p>
        </p:txBody>
      </p:sp>
      <p:sp>
        <p:nvSpPr>
          <p:cNvPr id="3" name="Content Placeholder 2"/>
          <p:cNvSpPr>
            <a:spLocks noGrp="1"/>
          </p:cNvSpPr>
          <p:nvPr>
            <p:ph idx="1"/>
          </p:nvPr>
        </p:nvSpPr>
        <p:spPr/>
        <p:txBody>
          <a:bodyPr/>
          <a:lstStyle/>
          <a:p>
            <a:pPr lvl="0" indent="0" marL="0">
              <a:buNone/>
            </a:pPr>
            <a:r>
              <a:rPr b="1"/>
              <a:t>We will cover:</a:t>
            </a:r>
            <a:r>
              <a:rPr/>
              <a:t> </a:t>
            </a:r>
            <a:r>
              <a:rPr>
                <a:latin typeface="Courier"/>
              </a:rPr>
              <a:t>glimpse()</a:t>
            </a:r>
            <a:r>
              <a:rPr/>
              <a:t>, </a:t>
            </a:r>
            <a:r>
              <a:rPr>
                <a:latin typeface="Courier"/>
              </a:rPr>
              <a:t>skim()</a:t>
            </a:r>
            <a:r>
              <a:rPr/>
              <a:t>, and </a:t>
            </a:r>
            <a:r>
              <a:rPr>
                <a:latin typeface="Courier"/>
              </a:rPr>
              <a:t>count()</a:t>
            </a:r>
            <a:r>
              <a:rPr/>
              <a:t> as your mess-detectors, and </a:t>
            </a:r>
            <a:r>
              <a:rPr>
                <a:latin typeface="Courier"/>
              </a:rPr>
              <a:t>clean_names()</a:t>
            </a:r>
            <a:r>
              <a:rPr/>
              <a:t> for column names.</a:t>
            </a:r>
          </a:p>
          <a:p>
            <a:pPr lvl="0" indent="0" marL="1270000">
              <a:buNone/>
            </a:pPr>
            <a:r>
              <a:rPr sz="2000" b="1"/>
              <a:t>Tip</a:t>
            </a:r>
          </a:p>
          <a:p>
            <a:pPr lvl="0" indent="0" marL="1270000">
              <a:buNone/>
            </a:pPr>
            <a:r>
              <a:rPr sz="2000" b="1"/>
              <a:t>🖐 After this chunk you will do Activity Parts 1–2.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Rule #1 — Never Trust a Spreadsheet on Sight</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Always look before you touch anything --------------</a:t>
            </a:r>
            <a:br/>
            <a:r>
              <a:rPr>
                <a:solidFill>
                  <a:srgbClr val="4758AB"/>
                </a:solidFill>
                <a:latin typeface="Courier"/>
              </a:rPr>
              <a:t>glimpse</a:t>
            </a:r>
            <a:r>
              <a:rPr>
                <a:solidFill>
                  <a:srgbClr val="003B4F"/>
                </a:solidFill>
                <a:latin typeface="Courier"/>
              </a:rPr>
              <a:t>(leaf_raw_df)</a:t>
            </a:r>
          </a:p>
          <a:p>
            <a:pPr lvl="0" indent="0">
              <a:buNone/>
            </a:pPr>
            <a:r>
              <a:rPr>
                <a:latin typeface="Courier"/>
              </a:rPr>
              <a:t>Rows: 20
Columns: 8
$ id             &lt;dbl&gt; 1, 2, 3, 4, 5, 6, 7, 8, 9, 10, 11, 12, 13, 14, 15, 16, …
$ tree_id        &lt;chr&gt; "Tree1", "Tree1", "Tree1", "Tree1", "tree_02", "tree_02…
$ side           &lt;chr&gt; "Sunny", "sunny", "SHADY", "shady", "Sunny", "sunny", "…
$ weight_g       &lt;chr&gt; "5.2", "4.8", "7.9", "8.1", "5.5g", NA, "7.6", "7.6", "…
$ height_cm      &lt;chr&gt; "28.4", "26.1", "33.2", "34.0", "27.9", "25.8", "32.5",…
$ width_cm       &lt;dbl&gt; 14.1, 13.5, 17.8, 18.2, 14.4, 13.2, 17.1, 17.1, 13.9, 1…
$ date_collected &lt;chr&gt; "2026-06-01", "2026-06-01", "2026-06-01", "6/1/2026", "…
$ notes          &lt;chr&gt; NA, NA, NA, NA, "recorded with units by mistake", "scal…</a:t>
            </a:r>
          </a:p>
          <a:p>
            <a:pPr lvl="0" indent="0">
              <a:buNone/>
            </a:pPr>
            <a:r>
              <a:rPr>
                <a:solidFill>
                  <a:srgbClr val="4758AB"/>
                </a:solidFill>
                <a:latin typeface="Courier"/>
              </a:rPr>
              <a:t>dim</a:t>
            </a:r>
            <a:r>
              <a:rPr>
                <a:solidFill>
                  <a:srgbClr val="003B4F"/>
                </a:solidFill>
                <a:latin typeface="Courier"/>
              </a:rPr>
              <a:t>(leaf_raw_df)</a:t>
            </a:r>
          </a:p>
          <a:p>
            <a:pPr lvl="0" indent="0">
              <a:buNone/>
            </a:pPr>
            <a:r>
              <a:rPr>
                <a:latin typeface="Courier"/>
              </a:rPr>
              <a:t>[1] 20  8</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Watch out!</a:t>
            </a:r>
          </a:p>
          <a:p>
            <a:pPr lvl="0" indent="0" marL="1270000">
              <a:buNone/>
            </a:pPr>
            <a:r>
              <a:rPr sz="2000"/>
              <a:t>Notice </a:t>
            </a:r>
            <a:r>
              <a:rPr sz="2000">
                <a:latin typeface="Courier"/>
              </a:rPr>
              <a:t>weight_g</a:t>
            </a:r>
            <a:r>
              <a:rPr sz="2000"/>
              <a:t> is </a:t>
            </a:r>
            <a:r>
              <a:rPr sz="2000">
                <a:latin typeface="Courier"/>
              </a:rPr>
              <a:t>&lt;chr&gt;</a:t>
            </a:r>
            <a:r>
              <a:rPr sz="2000"/>
              <a:t> (text), not </a:t>
            </a:r>
            <a:r>
              <a:rPr sz="2000">
                <a:latin typeface="Courier"/>
              </a:rPr>
              <a:t>&lt;dbl&gt;</a:t>
            </a:r>
            <a:r>
              <a:rPr sz="2000"/>
              <a:t> (numeric) — a huge red flag. Something in that column is not a plain number.</a:t>
            </a:r>
          </a:p>
          <a:p>
            <a:pPr lvl="0" indent="0" marL="0">
              <a:buNone/>
            </a:pPr>
            <a:r>
              <a:rPr/>
              <a:t>📖 </a:t>
            </a:r>
            <a:r>
              <a:rPr>
                <a:hlinkClick r:id="rId2"/>
              </a:rPr>
              <a:t>R4DS §18 — Missing Values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Column Names — </a:t>
            </a:r>
            <a:r>
              <a:rPr>
                <a:latin typeface="Courier"/>
              </a:rPr>
              <a:t>clean_names()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janitor::clean_names() standardizes column names ----</a:t>
            </a:r>
            <a:br/>
            <a:r>
              <a:rPr>
                <a:solidFill>
                  <a:srgbClr val="4758AB"/>
                </a:solidFill>
                <a:latin typeface="Courier"/>
              </a:rPr>
              <a:t>names</a:t>
            </a:r>
            <a:r>
              <a:rPr>
                <a:solidFill>
                  <a:srgbClr val="003B4F"/>
                </a:solidFill>
                <a:latin typeface="Courier"/>
              </a:rPr>
              <a:t>(leaf_raw_df)</a:t>
            </a:r>
          </a:p>
          <a:p>
            <a:pPr lvl="0" indent="0">
              <a:buNone/>
            </a:pPr>
            <a:r>
              <a:rPr>
                <a:latin typeface="Courier"/>
              </a:rPr>
              <a:t>[1] "id"             "tree_id"        "side"           "weight_g"      
[5] "height_cm"      "width_cm"       "date_collected" "notes"         </a:t>
            </a:r>
          </a:p>
          <a:p>
            <a:pPr lvl="0" indent="0">
              <a:buNone/>
            </a:pPr>
            <a:r>
              <a:rPr>
                <a:solidFill>
                  <a:srgbClr val="003B4F"/>
                </a:solidFill>
                <a:latin typeface="Courier"/>
              </a:rPr>
              <a:t>leaf_raw_df &lt;- leaf_raw_df </a:t>
            </a:r>
            <a:r>
              <a:rPr>
                <a:solidFill>
                  <a:srgbClr val="5E5E5E"/>
                </a:solidFill>
                <a:latin typeface="Courier"/>
              </a:rPr>
              <a:t>%&gt;%</a:t>
            </a:r>
            <a:r>
              <a:rPr>
                <a:solidFill>
                  <a:srgbClr val="003B4F"/>
                </a:solidFill>
                <a:latin typeface="Courier"/>
              </a:rPr>
              <a:t> </a:t>
            </a:r>
            <a:r>
              <a:rPr>
                <a:solidFill>
                  <a:srgbClr val="4758AB"/>
                </a:solidFill>
                <a:latin typeface="Courier"/>
              </a:rPr>
              <a:t>clean_names</a:t>
            </a:r>
            <a:r>
              <a:rPr>
                <a:solidFill>
                  <a:srgbClr val="003B4F"/>
                </a:solidFill>
                <a:latin typeface="Courier"/>
              </a:rPr>
              <a:t>()</a:t>
            </a:r>
            <a:br/>
            <a:br/>
            <a:r>
              <a:rPr>
                <a:solidFill>
                  <a:srgbClr val="4758AB"/>
                </a:solidFill>
                <a:latin typeface="Courier"/>
              </a:rPr>
              <a:t>names</a:t>
            </a:r>
            <a:r>
              <a:rPr>
                <a:solidFill>
                  <a:srgbClr val="003B4F"/>
                </a:solidFill>
                <a:latin typeface="Courier"/>
              </a:rPr>
              <a:t>(leaf_raw_df)</a:t>
            </a:r>
          </a:p>
          <a:p>
            <a:pPr lvl="0" indent="0">
              <a:buNone/>
            </a:pPr>
            <a:r>
              <a:rPr>
                <a:latin typeface="Courier"/>
              </a:rPr>
              <a:t>[1] "id"             "tree_id"        "side"           "weight_g"      
[5] "height_cm"      "width_cm"       "date_collected" "notes"         </a:t>
            </a:r>
          </a:p>
        </p:txBody>
      </p:sp>
      <p:sp>
        <p:nvSpPr>
          <p:cNvPr id="4" name="Content Placeholder 3"/>
          <p:cNvSpPr>
            <a:spLocks noGrp="1"/>
          </p:cNvSpPr>
          <p:nvPr>
            <p:ph idx="2" sz="half"/>
          </p:nvPr>
        </p:nvSpPr>
        <p:spPr/>
        <p:txBody>
          <a:bodyPr/>
          <a:lstStyle/>
          <a:p>
            <a:pPr lvl="0"/>
            <a:r>
              <a:rPr/>
              <a:t>Forces lowercase, </a:t>
            </a:r>
            <a:r>
              <a:rPr>
                <a:latin typeface="Courier"/>
              </a:rPr>
              <a:t>snake_case</a:t>
            </a:r>
            <a:r>
              <a:rPr/>
              <a:t>, no spaces or symbols</a:t>
            </a:r>
          </a:p>
          <a:p>
            <a:pPr lvl="0"/>
            <a:r>
              <a:rPr/>
              <a:t>Our names already happened to be tidy — but real spreadsheets rarely are (</a:t>
            </a:r>
            <a:r>
              <a:rPr>
                <a:latin typeface="Courier"/>
              </a:rPr>
              <a:t>"Weight (g)"</a:t>
            </a:r>
            <a:r>
              <a:rPr/>
              <a:t>, </a:t>
            </a:r>
            <a:r>
              <a:rPr>
                <a:latin typeface="Courier"/>
              </a:rPr>
              <a:t>"Tree ID"</a:t>
            </a:r>
            <a:r>
              <a:rPr/>
              <a:t>, </a:t>
            </a:r>
            <a:r>
              <a:rPr>
                <a:latin typeface="Courier"/>
              </a:rPr>
              <a:t>"% Cover"</a:t>
            </a:r>
            <a:r>
              <a:rPr/>
              <a:t>)</a:t>
            </a:r>
          </a:p>
          <a:p>
            <a:pPr lvl="0"/>
            <a:r>
              <a:rPr b="1"/>
              <a:t>Always run this first</a:t>
            </a:r>
            <a:r>
              <a:rPr/>
              <a:t> — it costs nothing and prevents backtick nightmares like </a:t>
            </a:r>
            <a:r>
              <a:rPr>
                <a:latin typeface="Courier"/>
              </a:rPr>
              <a:t>`Tree ID`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Rule #2 — Count Categories, Never Assume</a:t>
            </a:r>
          </a:p>
        </p:txBody>
      </p:sp>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b="1"/>
              <a:t>🔮 Predict first:</a:t>
            </a:r>
            <a:r>
              <a:rPr sz="2000"/>
              <a:t> How many </a:t>
            </a:r>
            <a:r>
              <a:rPr sz="2000" i="1"/>
              <a:t>distinct</a:t>
            </a:r>
            <a:r>
              <a:rPr sz="2000"/>
              <a:t> values do you think </a:t>
            </a:r>
            <a:r>
              <a:rPr sz="2000">
                <a:latin typeface="Courier"/>
              </a:rPr>
              <a:t>side</a:t>
            </a:r>
            <a:r>
              <a:rPr sz="2000"/>
              <a:t> has? There are only two real sides — sunny and shady. Guess the number </a:t>
            </a:r>
            <a:r>
              <a:rPr sz="2000">
                <a:latin typeface="Courier"/>
              </a:rPr>
              <a:t>count()</a:t>
            </a:r>
            <a:r>
              <a:rPr sz="2000"/>
              <a:t> will show, then run it.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a:buNone/>
            </a:pPr>
            <a:r>
              <a:rPr>
                <a:solidFill>
                  <a:srgbClr val="5E5E5E"/>
                </a:solidFill>
                <a:latin typeface="Courier"/>
              </a:rPr>
              <a:t># count() shows every distinct value AND its frequency -</a:t>
            </a:r>
            <a:br/>
            <a:r>
              <a:rPr>
                <a:solidFill>
                  <a:srgbClr val="003B4F"/>
                </a:solidFill>
                <a:latin typeface="Courier"/>
              </a:rPr>
              <a:t>leaf_raw_df </a:t>
            </a:r>
            <a:r>
              <a:rPr>
                <a:solidFill>
                  <a:srgbClr val="5E5E5E"/>
                </a:solidFill>
                <a:latin typeface="Courier"/>
              </a:rPr>
              <a:t>%&gt;%</a:t>
            </a:r>
            <a:r>
              <a:rPr>
                <a:solidFill>
                  <a:srgbClr val="003B4F"/>
                </a:solidFill>
                <a:latin typeface="Courier"/>
              </a:rPr>
              <a:t> </a:t>
            </a:r>
            <a:r>
              <a:rPr>
                <a:solidFill>
                  <a:srgbClr val="4758AB"/>
                </a:solidFill>
                <a:latin typeface="Courier"/>
              </a:rPr>
              <a:t>count</a:t>
            </a:r>
            <a:r>
              <a:rPr>
                <a:solidFill>
                  <a:srgbClr val="003B4F"/>
                </a:solidFill>
                <a:latin typeface="Courier"/>
              </a:rPr>
              <a:t>(side)</a:t>
            </a:r>
          </a:p>
          <a:p>
            <a:pPr lvl="0" indent="0">
              <a:buNone/>
            </a:pPr>
            <a:r>
              <a:rPr>
                <a:latin typeface="Courier"/>
              </a:rPr>
              <a:t># A tibble: 6 × 2
  side      n
  &lt;chr&gt; &lt;int&gt;
1 SHADY     2
2 SUNNY     1
3 Shady     2
4 Sunny     3
5 shady     6
6 sunny     6</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Watch out!</a:t>
            </a:r>
          </a:p>
          <a:p>
            <a:pPr lvl="0" indent="0" marL="1270000">
              <a:buNone/>
            </a:pPr>
            <a:r>
              <a:rPr sz="2000">
                <a:latin typeface="Courier"/>
              </a:rPr>
              <a:t>"Sunny"</a:t>
            </a:r>
            <a:r>
              <a:rPr sz="2000"/>
              <a:t>, </a:t>
            </a:r>
            <a:r>
              <a:rPr sz="2000">
                <a:latin typeface="Courier"/>
              </a:rPr>
              <a:t>"sunny "</a:t>
            </a:r>
            <a:r>
              <a:rPr sz="2000"/>
              <a:t>, </a:t>
            </a:r>
            <a:r>
              <a:rPr sz="2000">
                <a:latin typeface="Courier"/>
              </a:rPr>
              <a:t>"sunny"</a:t>
            </a:r>
            <a:r>
              <a:rPr sz="2000"/>
              <a:t>, </a:t>
            </a:r>
            <a:r>
              <a:rPr sz="2000">
                <a:latin typeface="Courier"/>
              </a:rPr>
              <a:t>" SHADY"</a:t>
            </a:r>
            <a:r>
              <a:rPr sz="2000"/>
              <a:t>, </a:t>
            </a:r>
            <a:r>
              <a:rPr sz="2000">
                <a:latin typeface="Courier"/>
              </a:rPr>
              <a:t>"Shady"</a:t>
            </a:r>
            <a:r>
              <a:rPr sz="2000"/>
              <a:t> are all </a:t>
            </a:r>
            <a:r>
              <a:rPr sz="2000" b="1"/>
              <a:t>different strings</a:t>
            </a:r>
            <a:r>
              <a:rPr sz="2000"/>
              <a:t> to R — capitalization and whitespace count. Two categories became eight.</a:t>
            </a:r>
          </a:p>
          <a:p>
            <a:pPr lvl="0" indent="0" marL="0">
              <a:buNone/>
            </a:pPr>
            <a:r>
              <a:rPr>
                <a:latin typeface="Courier"/>
              </a:rPr>
              <a:t>count()</a:t>
            </a:r>
            <a:r>
              <a:rPr/>
              <a:t> is the single fastest way to catch a messy categorical column — run it on every </a:t>
            </a:r>
            <a:r>
              <a:rPr>
                <a:latin typeface="Courier"/>
              </a:rPr>
              <a:t>&lt;chr&gt;</a:t>
            </a:r>
            <a:r>
              <a:rPr/>
              <a:t> column before you trust it.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Chunk 2 of 4 · Fixing Text — Case &amp; Whitespace</a:t>
            </a:r>
          </a:p>
        </p:txBody>
      </p:sp>
      <p:sp>
        <p:nvSpPr>
          <p:cNvPr id="3" name="Content Placeholder 2"/>
          <p:cNvSpPr>
            <a:spLocks noGrp="1"/>
          </p:cNvSpPr>
          <p:nvPr>
            <p:ph idx="1"/>
          </p:nvPr>
        </p:nvSpPr>
        <p:spPr/>
        <p:txBody>
          <a:bodyPr/>
          <a:lstStyle/>
          <a:p>
            <a:pPr lvl="0" indent="0" marL="0">
              <a:buNone/>
            </a:pPr>
            <a:r>
              <a:rPr b="1"/>
              <a:t>We will cover:</a:t>
            </a:r>
            <a:r>
              <a:rPr/>
              <a:t> </a:t>
            </a:r>
            <a:r>
              <a:rPr>
                <a:latin typeface="Courier"/>
              </a:rPr>
              <a:t>str_trim()</a:t>
            </a:r>
            <a:r>
              <a:rPr/>
              <a:t>, </a:t>
            </a:r>
            <a:r>
              <a:rPr>
                <a:latin typeface="Courier"/>
              </a:rPr>
              <a:t>str_to_lower()</a:t>
            </a:r>
            <a:r>
              <a:rPr/>
              <a:t>, and rebuilding a clean </a:t>
            </a:r>
            <a:r>
              <a:rPr>
                <a:latin typeface="Courier"/>
              </a:rPr>
              <a:t>side</a:t>
            </a:r>
            <a:r>
              <a:rPr/>
              <a:t> column.</a:t>
            </a:r>
          </a:p>
          <a:p>
            <a:pPr lvl="0" indent="0" marL="1270000">
              <a:buNone/>
            </a:pPr>
            <a:r>
              <a:rPr sz="2000" b="1"/>
              <a:t>Tip</a:t>
            </a:r>
          </a:p>
          <a:p>
            <a:pPr lvl="0" indent="0" marL="1270000">
              <a:buNone/>
            </a:pPr>
            <a:r>
              <a:rPr sz="2000" b="1"/>
              <a:t>🖐 After this chunk: Activity Part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str_trim()</a:t>
            </a:r>
            <a:r>
              <a:rPr/>
              <a:t> — Killing Invisible Spaces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str_trim() removes leading/trailing whitespace -------</a:t>
            </a:r>
            <a:br/>
            <a:r>
              <a:rPr>
                <a:solidFill>
                  <a:srgbClr val="003B4F"/>
                </a:solidFill>
                <a:latin typeface="Courier"/>
              </a:rPr>
              <a:t>x &lt;- </a:t>
            </a:r>
            <a:r>
              <a:rPr>
                <a:solidFill>
                  <a:srgbClr val="4758AB"/>
                </a:solidFill>
                <a:latin typeface="Courier"/>
              </a:rPr>
              <a:t>c</a:t>
            </a:r>
            <a:r>
              <a:rPr>
                <a:solidFill>
                  <a:srgbClr val="003B4F"/>
                </a:solidFill>
                <a:latin typeface="Courier"/>
              </a:rPr>
              <a:t>(</a:t>
            </a:r>
            <a:r>
              <a:rPr>
                <a:solidFill>
                  <a:srgbClr val="20794D"/>
                </a:solidFill>
                <a:latin typeface="Courier"/>
              </a:rPr>
              <a:t>"sunny"</a:t>
            </a:r>
            <a:r>
              <a:rPr>
                <a:solidFill>
                  <a:srgbClr val="003B4F"/>
                </a:solidFill>
                <a:latin typeface="Courier"/>
              </a:rPr>
              <a:t>, </a:t>
            </a:r>
            <a:r>
              <a:rPr>
                <a:solidFill>
                  <a:srgbClr val="20794D"/>
                </a:solidFill>
                <a:latin typeface="Courier"/>
              </a:rPr>
              <a:t>" sunny"</a:t>
            </a:r>
            <a:r>
              <a:rPr>
                <a:solidFill>
                  <a:srgbClr val="003B4F"/>
                </a:solidFill>
                <a:latin typeface="Courier"/>
              </a:rPr>
              <a:t>, </a:t>
            </a:r>
            <a:r>
              <a:rPr>
                <a:solidFill>
                  <a:srgbClr val="20794D"/>
                </a:solidFill>
                <a:latin typeface="Courier"/>
              </a:rPr>
              <a:t>"sunny "</a:t>
            </a:r>
            <a:r>
              <a:rPr>
                <a:solidFill>
                  <a:srgbClr val="003B4F"/>
                </a:solidFill>
                <a:latin typeface="Courier"/>
              </a:rPr>
              <a:t>, </a:t>
            </a:r>
            <a:r>
              <a:rPr>
                <a:solidFill>
                  <a:srgbClr val="20794D"/>
                </a:solidFill>
                <a:latin typeface="Courier"/>
              </a:rPr>
              <a:t>"  sunny  "</a:t>
            </a:r>
            <a:r>
              <a:rPr>
                <a:solidFill>
                  <a:srgbClr val="003B4F"/>
                </a:solidFill>
                <a:latin typeface="Courier"/>
              </a:rPr>
              <a:t>)</a:t>
            </a:r>
            <a:br/>
            <a:r>
              <a:rPr>
                <a:solidFill>
                  <a:srgbClr val="003B4F"/>
                </a:solidFill>
                <a:latin typeface="Courier"/>
              </a:rPr>
              <a:t>x</a:t>
            </a:r>
          </a:p>
          <a:p>
            <a:pPr lvl="0" indent="0">
              <a:buNone/>
            </a:pPr>
            <a:r>
              <a:rPr>
                <a:latin typeface="Courier"/>
              </a:rPr>
              <a:t>[1] "sunny"     " sunny"    "sunny "    "  sunny  "</a:t>
            </a:r>
          </a:p>
          <a:p>
            <a:pPr lvl="0" indent="0">
              <a:buNone/>
            </a:pPr>
            <a:r>
              <a:rPr>
                <a:solidFill>
                  <a:srgbClr val="4758AB"/>
                </a:solidFill>
                <a:latin typeface="Courier"/>
              </a:rPr>
              <a:t>str_trim</a:t>
            </a:r>
            <a:r>
              <a:rPr>
                <a:solidFill>
                  <a:srgbClr val="003B4F"/>
                </a:solidFill>
                <a:latin typeface="Courier"/>
              </a:rPr>
              <a:t>(x)</a:t>
            </a:r>
          </a:p>
          <a:p>
            <a:pPr lvl="0" indent="0">
              <a:buNone/>
            </a:pPr>
            <a:r>
              <a:rPr>
                <a:latin typeface="Courier"/>
              </a:rPr>
              <a:t>[1] "sunny" "sunny" "sunny" "sunny"</a:t>
            </a:r>
          </a:p>
        </p:txBody>
      </p:sp>
      <p:sp>
        <p:nvSpPr>
          <p:cNvPr id="4" name="Content Placeholder 3"/>
          <p:cNvSpPr>
            <a:spLocks noGrp="1"/>
          </p:cNvSpPr>
          <p:nvPr>
            <p:ph idx="2" sz="half"/>
          </p:nvPr>
        </p:nvSpPr>
        <p:spPr/>
        <p:txBody>
          <a:bodyPr/>
          <a:lstStyle/>
          <a:p>
            <a:pPr lvl="0"/>
            <a:r>
              <a:rPr/>
              <a:t>Whitespace is </a:t>
            </a:r>
            <a:r>
              <a:rPr b="1"/>
              <a:t>invisible</a:t>
            </a:r>
            <a:r>
              <a:rPr/>
              <a:t> in a printed value — you cannot see the bug by eye</a:t>
            </a:r>
          </a:p>
          <a:p>
            <a:pPr lvl="0"/>
            <a:r>
              <a:rPr>
                <a:latin typeface="Courier"/>
              </a:rPr>
              <a:t>" sunny"</a:t>
            </a:r>
            <a:r>
              <a:rPr/>
              <a:t> and </a:t>
            </a:r>
            <a:r>
              <a:rPr>
                <a:latin typeface="Courier"/>
              </a:rPr>
              <a:t>"sunny"</a:t>
            </a:r>
            <a:r>
              <a:rPr/>
              <a:t> look identical in </a:t>
            </a:r>
            <a:r>
              <a:rPr>
                <a:latin typeface="Courier"/>
              </a:rPr>
              <a:t>head()</a:t>
            </a:r>
            <a:r>
              <a:rPr/>
              <a:t> but are different strings</a:t>
            </a:r>
          </a:p>
          <a:p>
            <a:pPr lvl="0"/>
            <a:r>
              <a:rPr>
                <a:latin typeface="Courier"/>
              </a:rPr>
              <a:t>str_trim()</a:t>
            </a:r>
            <a:r>
              <a:rPr/>
              <a:t> removes spaces from both ends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str_to_lower()</a:t>
            </a:r>
            <a:r>
              <a:rPr/>
              <a:t> — Killing Case Differences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str_to_lower() forces everything to lowercase --------</a:t>
            </a:r>
            <a:br/>
            <a:r>
              <a:rPr>
                <a:solidFill>
                  <a:srgbClr val="003B4F"/>
                </a:solidFill>
                <a:latin typeface="Courier"/>
              </a:rPr>
              <a:t>y &lt;- </a:t>
            </a:r>
            <a:r>
              <a:rPr>
                <a:solidFill>
                  <a:srgbClr val="4758AB"/>
                </a:solidFill>
                <a:latin typeface="Courier"/>
              </a:rPr>
              <a:t>c</a:t>
            </a:r>
            <a:r>
              <a:rPr>
                <a:solidFill>
                  <a:srgbClr val="003B4F"/>
                </a:solidFill>
                <a:latin typeface="Courier"/>
              </a:rPr>
              <a:t>(</a:t>
            </a:r>
            <a:r>
              <a:rPr>
                <a:solidFill>
                  <a:srgbClr val="20794D"/>
                </a:solidFill>
                <a:latin typeface="Courier"/>
              </a:rPr>
              <a:t>"Sunny"</a:t>
            </a:r>
            <a:r>
              <a:rPr>
                <a:solidFill>
                  <a:srgbClr val="003B4F"/>
                </a:solidFill>
                <a:latin typeface="Courier"/>
              </a:rPr>
              <a:t>, </a:t>
            </a:r>
            <a:r>
              <a:rPr>
                <a:solidFill>
                  <a:srgbClr val="20794D"/>
                </a:solidFill>
                <a:latin typeface="Courier"/>
              </a:rPr>
              <a:t>"SUNNY"</a:t>
            </a:r>
            <a:r>
              <a:rPr>
                <a:solidFill>
                  <a:srgbClr val="003B4F"/>
                </a:solidFill>
                <a:latin typeface="Courier"/>
              </a:rPr>
              <a:t>, </a:t>
            </a:r>
            <a:r>
              <a:rPr>
                <a:solidFill>
                  <a:srgbClr val="20794D"/>
                </a:solidFill>
                <a:latin typeface="Courier"/>
              </a:rPr>
              <a:t>"sunny"</a:t>
            </a:r>
            <a:r>
              <a:rPr>
                <a:solidFill>
                  <a:srgbClr val="003B4F"/>
                </a:solidFill>
                <a:latin typeface="Courier"/>
              </a:rPr>
              <a:t>, </a:t>
            </a:r>
            <a:r>
              <a:rPr>
                <a:solidFill>
                  <a:srgbClr val="20794D"/>
                </a:solidFill>
                <a:latin typeface="Courier"/>
              </a:rPr>
              <a:t>"SHADY"</a:t>
            </a:r>
            <a:r>
              <a:rPr>
                <a:solidFill>
                  <a:srgbClr val="003B4F"/>
                </a:solidFill>
                <a:latin typeface="Courier"/>
              </a:rPr>
              <a:t>, </a:t>
            </a:r>
            <a:r>
              <a:rPr>
                <a:solidFill>
                  <a:srgbClr val="20794D"/>
                </a:solidFill>
                <a:latin typeface="Courier"/>
              </a:rPr>
              <a:t>"Shady"</a:t>
            </a:r>
            <a:r>
              <a:rPr>
                <a:solidFill>
                  <a:srgbClr val="003B4F"/>
                </a:solidFill>
                <a:latin typeface="Courier"/>
              </a:rPr>
              <a:t>)</a:t>
            </a:r>
            <a:br/>
            <a:r>
              <a:rPr>
                <a:solidFill>
                  <a:srgbClr val="4758AB"/>
                </a:solidFill>
                <a:latin typeface="Courier"/>
              </a:rPr>
              <a:t>str_to_lower</a:t>
            </a:r>
            <a:r>
              <a:rPr>
                <a:solidFill>
                  <a:srgbClr val="003B4F"/>
                </a:solidFill>
                <a:latin typeface="Courier"/>
              </a:rPr>
              <a:t>(y)</a:t>
            </a:r>
          </a:p>
          <a:p>
            <a:pPr lvl="0" indent="0">
              <a:buNone/>
            </a:pPr>
            <a:r>
              <a:rPr>
                <a:latin typeface="Courier"/>
              </a:rPr>
              <a:t>[1] "sunny" "sunny" "sunny" "shady" "shady"</a:t>
            </a:r>
          </a:p>
        </p:txBody>
      </p:sp>
      <p:sp>
        <p:nvSpPr>
          <p:cNvPr id="4" name="Content Placeholder 3"/>
          <p:cNvSpPr>
            <a:spLocks noGrp="1"/>
          </p:cNvSpPr>
          <p:nvPr>
            <p:ph idx="2" sz="half"/>
          </p:nvPr>
        </p:nvSpPr>
        <p:spPr/>
        <p:txBody>
          <a:bodyPr/>
          <a:lstStyle/>
          <a:p>
            <a:pPr lvl="0"/>
            <a:r>
              <a:rPr/>
              <a:t>Combine both fixes in one </a:t>
            </a:r>
            <a:r>
              <a:rPr>
                <a:latin typeface="Courier"/>
              </a:rPr>
              <a:t>mutate()</a:t>
            </a:r>
            <a:r>
              <a:rPr/>
              <a:t> step</a:t>
            </a:r>
          </a:p>
          <a:p>
            <a:pPr lvl="0"/>
            <a:r>
              <a:rPr/>
              <a:t>Order does not matter here, but always do this </a:t>
            </a:r>
            <a:r>
              <a:rPr b="1"/>
              <a:t>before</a:t>
            </a:r>
            <a:r>
              <a:rPr/>
              <a:t> you </a:t>
            </a:r>
            <a:r>
              <a:rPr>
                <a:latin typeface="Courier"/>
              </a:rPr>
              <a:t>count()</a:t>
            </a:r>
            <a:r>
              <a:rPr/>
              <a:t> or </a:t>
            </a:r>
            <a:r>
              <a:rPr>
                <a:latin typeface="Courier"/>
              </a:rPr>
              <a:t>group_by()</a:t>
            </a:r>
          </a:p>
          <a:p>
            <a:pPr lvl="0" indent="0" marL="0">
              <a:buNone/>
            </a:pPr>
            <a:r>
              <a:rPr/>
              <a:t>📖 </a:t>
            </a:r>
            <a:r>
              <a:rPr>
                <a:hlinkClick r:id="rId2"/>
              </a:rPr>
              <a:t>R4DS §17 — Strings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Fixing </a:t>
            </a:r>
            <a:r>
              <a:rPr>
                <a:latin typeface="Courier"/>
              </a:rPr>
              <a:t>side</a:t>
            </a:r>
            <a:r>
              <a:rPr/>
              <a:t> — Putting It Together</a:t>
            </a:r>
          </a:p>
        </p:txBody>
      </p:sp>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b="1"/>
              <a:t>🔮 Predict first:</a:t>
            </a:r>
            <a:r>
              <a:rPr sz="2000"/>
              <a:t> After trimming and lowercasing, how many distinct values should </a:t>
            </a:r>
            <a:r>
              <a:rPr sz="2000">
                <a:latin typeface="Courier"/>
              </a:rPr>
              <a:t>count(side)</a:t>
            </a:r>
            <a:r>
              <a:rPr sz="2000"/>
              <a:t> show?</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a:buNone/>
            </a:pPr>
            <a:r>
              <a:rPr>
                <a:solidFill>
                  <a:srgbClr val="5E5E5E"/>
                </a:solidFill>
                <a:latin typeface="Courier"/>
              </a:rPr>
              <a:t># Trim whitespace and force lowercase in one mutate ----</a:t>
            </a:r>
            <a:br/>
            <a:r>
              <a:rPr>
                <a:solidFill>
                  <a:srgbClr val="003B4F"/>
                </a:solidFill>
                <a:latin typeface="Courier"/>
              </a:rPr>
              <a:t>leaf_clean_df &lt;- leaf_raw_df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side =</a:t>
            </a:r>
            <a:r>
              <a:rPr>
                <a:solidFill>
                  <a:srgbClr val="003B4F"/>
                </a:solidFill>
                <a:latin typeface="Courier"/>
              </a:rPr>
              <a:t> </a:t>
            </a:r>
            <a:r>
              <a:rPr>
                <a:solidFill>
                  <a:srgbClr val="4758AB"/>
                </a:solidFill>
                <a:latin typeface="Courier"/>
              </a:rPr>
              <a:t>str_trim</a:t>
            </a:r>
            <a:r>
              <a:rPr>
                <a:solidFill>
                  <a:srgbClr val="003B4F"/>
                </a:solidFill>
                <a:latin typeface="Courier"/>
              </a:rPr>
              <a:t>(side))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side =</a:t>
            </a:r>
            <a:r>
              <a:rPr>
                <a:solidFill>
                  <a:srgbClr val="003B4F"/>
                </a:solidFill>
                <a:latin typeface="Courier"/>
              </a:rPr>
              <a:t> </a:t>
            </a:r>
            <a:r>
              <a:rPr>
                <a:solidFill>
                  <a:srgbClr val="4758AB"/>
                </a:solidFill>
                <a:latin typeface="Courier"/>
              </a:rPr>
              <a:t>str_to_lower</a:t>
            </a:r>
            <a:r>
              <a:rPr>
                <a:solidFill>
                  <a:srgbClr val="003B4F"/>
                </a:solidFill>
                <a:latin typeface="Courier"/>
              </a:rPr>
              <a:t>(side))</a:t>
            </a:r>
            <a:br/>
            <a:br/>
            <a:r>
              <a:rPr>
                <a:solidFill>
                  <a:srgbClr val="003B4F"/>
                </a:solidFill>
                <a:latin typeface="Courier"/>
              </a:rPr>
              <a:t>leaf_clean_df </a:t>
            </a:r>
            <a:r>
              <a:rPr>
                <a:solidFill>
                  <a:srgbClr val="5E5E5E"/>
                </a:solidFill>
                <a:latin typeface="Courier"/>
              </a:rPr>
              <a:t>%&gt;%</a:t>
            </a:r>
            <a:r>
              <a:rPr>
                <a:solidFill>
                  <a:srgbClr val="003B4F"/>
                </a:solidFill>
                <a:latin typeface="Courier"/>
              </a:rPr>
              <a:t> </a:t>
            </a:r>
            <a:r>
              <a:rPr>
                <a:solidFill>
                  <a:srgbClr val="4758AB"/>
                </a:solidFill>
                <a:latin typeface="Courier"/>
              </a:rPr>
              <a:t>count</a:t>
            </a:r>
            <a:r>
              <a:rPr>
                <a:solidFill>
                  <a:srgbClr val="003B4F"/>
                </a:solidFill>
                <a:latin typeface="Courier"/>
              </a:rPr>
              <a:t>(side)</a:t>
            </a:r>
          </a:p>
          <a:p>
            <a:pPr lvl="0" indent="0">
              <a:buNone/>
            </a:pPr>
            <a:r>
              <a:rPr>
                <a:latin typeface="Courier"/>
              </a:rPr>
              <a:t># A tibble: 2 × 2
  side      n
  &lt;chr&gt; &lt;int&gt;
1 shady    10
2 sunny    10</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a:t>Two clean categories, exactly as the field notebook intended. This single </a:t>
            </a:r>
            <a:r>
              <a:rPr sz="2000">
                <a:latin typeface="Courier"/>
              </a:rPr>
              <a:t>mutate()</a:t>
            </a:r>
            <a:r>
              <a:rPr sz="2000"/>
              <a:t> pair is one of the most common lines you will ever write in 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Chunk 3 of 4 · Fixing Fake Missing Values</a:t>
            </a:r>
          </a:p>
        </p:txBody>
      </p:sp>
      <p:sp>
        <p:nvSpPr>
          <p:cNvPr id="3" name="Content Placeholder 2"/>
          <p:cNvSpPr>
            <a:spLocks noGrp="1"/>
          </p:cNvSpPr>
          <p:nvPr>
            <p:ph idx="1"/>
          </p:nvPr>
        </p:nvSpPr>
        <p:spPr/>
        <p:txBody>
          <a:bodyPr/>
          <a:lstStyle/>
          <a:p>
            <a:pPr lvl="0" indent="0" marL="0">
              <a:buNone/>
            </a:pPr>
            <a:r>
              <a:rPr b="1"/>
              <a:t>We will cover:</a:t>
            </a:r>
            <a:r>
              <a:rPr/>
              <a:t> the many disguises of “missing,” </a:t>
            </a:r>
            <a:r>
              <a:rPr>
                <a:latin typeface="Courier"/>
              </a:rPr>
              <a:t>na_if()</a:t>
            </a:r>
            <a:r>
              <a:rPr/>
              <a:t>, and telling </a:t>
            </a:r>
            <a:r>
              <a:rPr>
                <a:latin typeface="Courier"/>
              </a:rPr>
              <a:t>read_csv()</a:t>
            </a:r>
            <a:r>
              <a:rPr/>
              <a:t> about them up front.</a:t>
            </a:r>
          </a:p>
          <a:p>
            <a:pPr lvl="0" indent="0" marL="1270000">
              <a:buNone/>
            </a:pPr>
            <a:r>
              <a:rPr sz="2000" b="1"/>
              <a:t>Tip</a:t>
            </a:r>
          </a:p>
          <a:p>
            <a:pPr lvl="0" indent="0" marL="1270000">
              <a:buNone/>
            </a:pPr>
            <a:r>
              <a:rPr sz="2000" b="1"/>
              <a:t>🖐 After this chunk: Activity Part 4.</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Missing Data Wears Many Disguises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Look at the raw weight_g column as text --------------</a:t>
            </a:r>
            <a:br/>
            <a:r>
              <a:rPr>
                <a:solidFill>
                  <a:srgbClr val="003B4F"/>
                </a:solidFill>
                <a:latin typeface="Courier"/>
              </a:rPr>
              <a:t>leaf_raw_df </a:t>
            </a:r>
            <a:r>
              <a:rPr>
                <a:solidFill>
                  <a:srgbClr val="5E5E5E"/>
                </a:solidFill>
                <a:latin typeface="Courier"/>
              </a:rPr>
              <a:t>%&gt;%</a:t>
            </a:r>
            <a:r>
              <a:rPr>
                <a:solidFill>
                  <a:srgbClr val="003B4F"/>
                </a:solidFill>
                <a:latin typeface="Courier"/>
              </a:rPr>
              <a:t> </a:t>
            </a:r>
            <a:r>
              <a:rPr>
                <a:solidFill>
                  <a:srgbClr val="4758AB"/>
                </a:solidFill>
                <a:latin typeface="Courier"/>
              </a:rPr>
              <a:t>count</a:t>
            </a:r>
            <a:r>
              <a:rPr>
                <a:solidFill>
                  <a:srgbClr val="003B4F"/>
                </a:solidFill>
                <a:latin typeface="Courier"/>
              </a:rPr>
              <a:t>(weight_g) </a:t>
            </a:r>
            <a:r>
              <a:rPr>
                <a:solidFill>
                  <a:srgbClr val="5E5E5E"/>
                </a:solidFill>
                <a:latin typeface="Courier"/>
              </a:rPr>
              <a:t>%&gt;%</a:t>
            </a:r>
            <a:r>
              <a:rPr>
                <a:solidFill>
                  <a:srgbClr val="003B4F"/>
                </a:solidFill>
                <a:latin typeface="Courier"/>
              </a:rPr>
              <a:t> </a:t>
            </a:r>
            <a:r>
              <a:rPr>
                <a:solidFill>
                  <a:srgbClr val="4758AB"/>
                </a:solidFill>
                <a:latin typeface="Courier"/>
              </a:rPr>
              <a:t>arrange</a:t>
            </a:r>
            <a:r>
              <a:rPr>
                <a:solidFill>
                  <a:srgbClr val="003B4F"/>
                </a:solidFill>
                <a:latin typeface="Courier"/>
              </a:rPr>
              <a:t>(weight_g)</a:t>
            </a:r>
          </a:p>
          <a:p>
            <a:pPr lvl="0" indent="0">
              <a:buNone/>
            </a:pPr>
            <a:r>
              <a:rPr>
                <a:latin typeface="Courier"/>
              </a:rPr>
              <a:t># A tibble: 19 × 2
   weight_g     n
   &lt;chr&gt;    &lt;int&gt;
 1 -999         1
 2 4.7          1
 3 4.8          1
 4 4.9          1
 5 5.0          1
 6 5.1          1
 7 5.2          1
 8 5.3          1
 9 5.5g         1
10 52           1
11 7.6          2
12 7.8          1
13 7.9          1
14 8.0          1
15 8.1          1
16 8.2          1
17 8.4          1
18 999          1
19 &lt;NA&gt;         1</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Watch out!</a:t>
            </a:r>
          </a:p>
          <a:p>
            <a:pPr lvl="0" indent="0" marL="1270000">
              <a:buNone/>
            </a:pPr>
            <a:r>
              <a:rPr sz="2000"/>
              <a:t>Real “missing” shows up as </a:t>
            </a:r>
            <a:r>
              <a:rPr sz="2000">
                <a:latin typeface="Courier"/>
              </a:rPr>
              <a:t>NA</a:t>
            </a:r>
            <a:r>
              <a:rPr sz="2000"/>
              <a:t>, </a:t>
            </a:r>
            <a:r>
              <a:rPr sz="2000">
                <a:latin typeface="Courier"/>
              </a:rPr>
              <a:t>"N/A"</a:t>
            </a:r>
            <a:r>
              <a:rPr sz="2000"/>
              <a:t>, </a:t>
            </a:r>
            <a:r>
              <a:rPr sz="2000">
                <a:latin typeface="Courier"/>
              </a:rPr>
              <a:t>-999</a:t>
            </a:r>
            <a:r>
              <a:rPr sz="2000"/>
              <a:t>, </a:t>
            </a:r>
            <a:r>
              <a:rPr sz="2000">
                <a:latin typeface="Courier"/>
              </a:rPr>
              <a:t>999</a:t>
            </a:r>
            <a:r>
              <a:rPr sz="2000"/>
              <a:t>, and true blank cells — </a:t>
            </a:r>
            <a:r>
              <a:rPr sz="2000" b="1"/>
              <a:t>all in the same column</a:t>
            </a:r>
            <a:r>
              <a:rPr sz="2000"/>
              <a:t>. R only recognizes a true blank or the literal text </a:t>
            </a:r>
            <a:r>
              <a:rPr sz="2000">
                <a:latin typeface="Courier"/>
              </a:rPr>
              <a:t>NA</a:t>
            </a:r>
            <a:r>
              <a:rPr sz="2000"/>
              <a:t> as missing by default. </a:t>
            </a:r>
            <a:r>
              <a:rPr sz="2000">
                <a:latin typeface="Courier"/>
              </a:rPr>
              <a:t>-999</a:t>
            </a:r>
            <a:r>
              <a:rPr sz="2000"/>
              <a:t> and </a:t>
            </a:r>
            <a:r>
              <a:rPr sz="2000">
                <a:latin typeface="Courier"/>
              </a:rPr>
              <a:t>999</a:t>
            </a:r>
            <a:r>
              <a:rPr sz="2000"/>
              <a:t> look like perfectly valid numbers to 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Fixing It at the Source — </a:t>
            </a:r>
            <a:r>
              <a:rPr>
                <a:latin typeface="Courier"/>
              </a:rPr>
              <a:t>read_csv(na = ...)</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Tell read_csv about every missing-value code you saw -</a:t>
            </a:r>
            <a:br/>
            <a:r>
              <a:rPr>
                <a:solidFill>
                  <a:srgbClr val="003B4F"/>
                </a:solidFill>
                <a:latin typeface="Courier"/>
              </a:rPr>
              <a:t>leaf_raw_df &lt;- </a:t>
            </a:r>
            <a:r>
              <a:rPr>
                <a:solidFill>
                  <a:srgbClr val="4758AB"/>
                </a:solidFill>
                <a:latin typeface="Courier"/>
              </a:rPr>
              <a:t>read_csv</a:t>
            </a:r>
            <a:r>
              <a:rPr>
                <a:solidFill>
                  <a:srgbClr val="003B4F"/>
                </a:solidFill>
                <a:latin typeface="Courier"/>
              </a:rPr>
              <a:t>(</a:t>
            </a:r>
            <a:br/>
            <a:r>
              <a:rPr>
                <a:solidFill>
                  <a:srgbClr val="003B4F"/>
                </a:solidFill>
                <a:latin typeface="Courier"/>
              </a:rPr>
              <a:t>  </a:t>
            </a:r>
            <a:r>
              <a:rPr>
                <a:solidFill>
                  <a:srgbClr val="20794D"/>
                </a:solidFill>
                <a:latin typeface="Courier"/>
              </a:rPr>
              <a:t>"data/messy_leaf_data.csv"</a:t>
            </a:r>
            <a:r>
              <a:rPr>
                <a:solidFill>
                  <a:srgbClr val="003B4F"/>
                </a:solidFill>
                <a:latin typeface="Courier"/>
              </a:rPr>
              <a:t>,</a:t>
            </a:r>
            <a:br/>
            <a:r>
              <a:rPr>
                <a:solidFill>
                  <a:srgbClr val="003B4F"/>
                </a:solidFill>
                <a:latin typeface="Courier"/>
              </a:rPr>
              <a:t>  </a:t>
            </a:r>
            <a:r>
              <a:rPr>
                <a:solidFill>
                  <a:srgbClr val="657422"/>
                </a:solidFill>
                <a:latin typeface="Courier"/>
              </a:rPr>
              <a:t>na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a:t>
            </a:r>
            <a:r>
              <a:rPr>
                <a:solidFill>
                  <a:srgbClr val="003B4F"/>
                </a:solidFill>
                <a:latin typeface="Courier"/>
              </a:rPr>
              <a:t>, </a:t>
            </a:r>
            <a:r>
              <a:rPr>
                <a:solidFill>
                  <a:srgbClr val="20794D"/>
                </a:solidFill>
                <a:latin typeface="Courier"/>
              </a:rPr>
              <a:t>"NA"</a:t>
            </a:r>
            <a:r>
              <a:rPr>
                <a:solidFill>
                  <a:srgbClr val="003B4F"/>
                </a:solidFill>
                <a:latin typeface="Courier"/>
              </a:rPr>
              <a:t>, </a:t>
            </a:r>
            <a:r>
              <a:rPr>
                <a:solidFill>
                  <a:srgbClr val="20794D"/>
                </a:solidFill>
                <a:latin typeface="Courier"/>
              </a:rPr>
              <a:t>"N/A"</a:t>
            </a:r>
            <a:r>
              <a:rPr>
                <a:solidFill>
                  <a:srgbClr val="003B4F"/>
                </a:solidFill>
                <a:latin typeface="Courier"/>
              </a:rPr>
              <a:t>, </a:t>
            </a:r>
            <a:r>
              <a:rPr>
                <a:solidFill>
                  <a:srgbClr val="20794D"/>
                </a:solidFill>
                <a:latin typeface="Courier"/>
              </a:rPr>
              <a:t>"-999"</a:t>
            </a:r>
            <a:r>
              <a:rPr>
                <a:solidFill>
                  <a:srgbClr val="003B4F"/>
                </a:solidFill>
                <a:latin typeface="Courier"/>
              </a:rPr>
              <a:t>, </a:t>
            </a:r>
            <a:r>
              <a:rPr>
                <a:solidFill>
                  <a:srgbClr val="20794D"/>
                </a:solidFill>
                <a:latin typeface="Courier"/>
              </a:rPr>
              <a:t>"999"</a:t>
            </a:r>
            <a:r>
              <a:rPr>
                <a:solidFill>
                  <a:srgbClr val="003B4F"/>
                </a:solidFill>
                <a:latin typeface="Courier"/>
              </a:rPr>
              <a:t>)</a:t>
            </a:r>
            <a:br/>
            <a:r>
              <a:rPr>
                <a:solidFill>
                  <a:srgbClr val="003B4F"/>
                </a:solidFill>
                <a:latin typeface="Courier"/>
              </a:rPr>
              <a:t>)</a:t>
            </a:r>
            <a:br/>
            <a:br/>
            <a:r>
              <a:rPr>
                <a:solidFill>
                  <a:srgbClr val="003B4F"/>
                </a:solidFill>
                <a:latin typeface="Courier"/>
              </a:rPr>
              <a:t>leaf_raw_df </a:t>
            </a:r>
            <a:r>
              <a:rPr>
                <a:solidFill>
                  <a:srgbClr val="5E5E5E"/>
                </a:solidFill>
                <a:latin typeface="Courier"/>
              </a:rPr>
              <a:t>%&gt;%</a:t>
            </a:r>
            <a:r>
              <a:rPr>
                <a:solidFill>
                  <a:srgbClr val="003B4F"/>
                </a:solidFill>
                <a:latin typeface="Courier"/>
              </a:rPr>
              <a:t> </a:t>
            </a:r>
            <a:r>
              <a:rPr>
                <a:solidFill>
                  <a:srgbClr val="4758AB"/>
                </a:solidFill>
                <a:latin typeface="Courier"/>
              </a:rPr>
              <a:t>count</a:t>
            </a:r>
            <a:r>
              <a:rPr>
                <a:solidFill>
                  <a:srgbClr val="003B4F"/>
                </a:solidFill>
                <a:latin typeface="Courier"/>
              </a:rPr>
              <a:t>(</a:t>
            </a:r>
            <a:r>
              <a:rPr>
                <a:solidFill>
                  <a:srgbClr val="4758AB"/>
                </a:solidFill>
                <a:latin typeface="Courier"/>
              </a:rPr>
              <a:t>is.na</a:t>
            </a:r>
            <a:r>
              <a:rPr>
                <a:solidFill>
                  <a:srgbClr val="003B4F"/>
                </a:solidFill>
                <a:latin typeface="Courier"/>
              </a:rPr>
              <a:t>(weight_g))</a:t>
            </a:r>
          </a:p>
          <a:p>
            <a:pPr lvl="0" indent="0">
              <a:buNone/>
            </a:pPr>
            <a:r>
              <a:rPr>
                <a:latin typeface="Courier"/>
              </a:rPr>
              <a:t># A tibble: 2 × 2
  `is.na(weight_g)`     n
  &lt;lgl&gt;             &lt;int&gt;
1 FALSE                17
2 TRUE                  3</a:t>
            </a:r>
          </a:p>
        </p:txBody>
      </p:sp>
      <p:sp>
        <p:nvSpPr>
          <p:cNvPr id="4" name="Content Placeholder 3"/>
          <p:cNvSpPr>
            <a:spLocks noGrp="1"/>
          </p:cNvSpPr>
          <p:nvPr>
            <p:ph idx="2" sz="half"/>
          </p:nvPr>
        </p:nvSpPr>
        <p:spPr/>
        <p:txBody>
          <a:bodyPr/>
          <a:lstStyle/>
          <a:p>
            <a:pPr lvl="0"/>
            <a:r>
              <a:rPr b="1"/>
              <a:t>Best practice:</a:t>
            </a:r>
            <a:r>
              <a:rPr/>
              <a:t> fix missing-value codes at </a:t>
            </a:r>
            <a:r>
              <a:rPr>
                <a:latin typeface="Courier"/>
              </a:rPr>
              <a:t>read_csv()</a:t>
            </a:r>
            <a:r>
              <a:rPr/>
              <a:t> time, before anything else</a:t>
            </a:r>
          </a:p>
          <a:p>
            <a:pPr lvl="0"/>
            <a:r>
              <a:rPr/>
              <a:t>You must first </a:t>
            </a:r>
            <a:r>
              <a:rPr>
                <a:latin typeface="Courier"/>
              </a:rPr>
              <a:t>count()</a:t>
            </a:r>
            <a:r>
              <a:rPr/>
              <a:t> a column to </a:t>
            </a:r>
            <a:r>
              <a:rPr i="1"/>
              <a:t>discover</a:t>
            </a:r>
            <a:r>
              <a:rPr/>
              <a:t> what its missing codes even are — R cannot guess for you</a:t>
            </a:r>
          </a:p>
          <a:p>
            <a:pPr lvl="0"/>
            <a:r>
              <a:rPr>
                <a:latin typeface="Courier"/>
              </a:rPr>
              <a:t>-999</a:t>
            </a:r>
            <a:r>
              <a:rPr/>
              <a:t> and </a:t>
            </a:r>
            <a:r>
              <a:rPr>
                <a:latin typeface="Courier"/>
              </a:rPr>
              <a:t>999</a:t>
            </a:r>
            <a:r>
              <a:rPr/>
              <a:t> were both used </a:t>
            </a:r>
            <a:r>
              <a:rPr b="1"/>
              <a:t>in the same column</a:t>
            </a:r>
            <a:r>
              <a:rPr/>
              <a:t> — inspect every numeric-looking column this way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na_if()</a:t>
            </a:r>
            <a:r>
              <a:rPr/>
              <a:t> — Fixing It After the Fact</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na_if() converts a specific value to a true NA -------</a:t>
            </a:r>
            <a:br/>
            <a:r>
              <a:rPr>
                <a:solidFill>
                  <a:srgbClr val="003B4F"/>
                </a:solidFill>
                <a:latin typeface="Courier"/>
              </a:rPr>
              <a:t>z &lt;- </a:t>
            </a:r>
            <a:r>
              <a:rPr>
                <a:solidFill>
                  <a:srgbClr val="4758AB"/>
                </a:solidFill>
                <a:latin typeface="Courier"/>
              </a:rPr>
              <a:t>c</a:t>
            </a:r>
            <a:r>
              <a:rPr>
                <a:solidFill>
                  <a:srgbClr val="003B4F"/>
                </a:solidFill>
                <a:latin typeface="Courier"/>
              </a:rPr>
              <a:t>(</a:t>
            </a:r>
            <a:r>
              <a:rPr>
                <a:solidFill>
                  <a:srgbClr val="AD0000"/>
                </a:solidFill>
                <a:latin typeface="Courier"/>
              </a:rPr>
              <a:t>5.2</a:t>
            </a:r>
            <a:r>
              <a:rPr>
                <a:solidFill>
                  <a:srgbClr val="003B4F"/>
                </a:solidFill>
                <a:latin typeface="Courier"/>
              </a:rPr>
              <a:t>, </a:t>
            </a:r>
            <a:r>
              <a:rPr>
                <a:solidFill>
                  <a:srgbClr val="AD0000"/>
                </a:solidFill>
                <a:latin typeface="Courier"/>
              </a:rPr>
              <a:t>4.8</a:t>
            </a:r>
            <a:r>
              <a:rPr>
                <a:solidFill>
                  <a:srgbClr val="003B4F"/>
                </a:solidFill>
                <a:latin typeface="Courier"/>
              </a:rPr>
              <a:t>, </a:t>
            </a:r>
            <a:r>
              <a:rPr>
                <a:solidFill>
                  <a:srgbClr val="5E5E5E"/>
                </a:solidFill>
                <a:latin typeface="Courier"/>
              </a:rPr>
              <a:t>-</a:t>
            </a:r>
            <a:r>
              <a:rPr>
                <a:solidFill>
                  <a:srgbClr val="AD0000"/>
                </a:solidFill>
                <a:latin typeface="Courier"/>
              </a:rPr>
              <a:t>999</a:t>
            </a:r>
            <a:r>
              <a:rPr>
                <a:solidFill>
                  <a:srgbClr val="003B4F"/>
                </a:solidFill>
                <a:latin typeface="Courier"/>
              </a:rPr>
              <a:t>, </a:t>
            </a:r>
            <a:r>
              <a:rPr>
                <a:solidFill>
                  <a:srgbClr val="AD0000"/>
                </a:solidFill>
                <a:latin typeface="Courier"/>
              </a:rPr>
              <a:t>7.9</a:t>
            </a:r>
            <a:r>
              <a:rPr>
                <a:solidFill>
                  <a:srgbClr val="003B4F"/>
                </a:solidFill>
                <a:latin typeface="Courier"/>
              </a:rPr>
              <a:t>, </a:t>
            </a:r>
            <a:r>
              <a:rPr>
                <a:solidFill>
                  <a:srgbClr val="AD0000"/>
                </a:solidFill>
                <a:latin typeface="Courier"/>
              </a:rPr>
              <a:t>999</a:t>
            </a:r>
            <a:r>
              <a:rPr>
                <a:solidFill>
                  <a:srgbClr val="003B4F"/>
                </a:solidFill>
                <a:latin typeface="Courier"/>
              </a:rPr>
              <a:t>)</a:t>
            </a:r>
            <a:br/>
            <a:br/>
            <a:r>
              <a:rPr>
                <a:solidFill>
                  <a:srgbClr val="4758AB"/>
                </a:solidFill>
                <a:latin typeface="Courier"/>
              </a:rPr>
              <a:t>na_if</a:t>
            </a:r>
            <a:r>
              <a:rPr>
                <a:solidFill>
                  <a:srgbClr val="003B4F"/>
                </a:solidFill>
                <a:latin typeface="Courier"/>
              </a:rPr>
              <a:t>(z, </a:t>
            </a:r>
            <a:r>
              <a:rPr>
                <a:solidFill>
                  <a:srgbClr val="5E5E5E"/>
                </a:solidFill>
                <a:latin typeface="Courier"/>
              </a:rPr>
              <a:t>-</a:t>
            </a:r>
            <a:r>
              <a:rPr>
                <a:solidFill>
                  <a:srgbClr val="AD0000"/>
                </a:solidFill>
                <a:latin typeface="Courier"/>
              </a:rPr>
              <a:t>999</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na_if</a:t>
            </a:r>
            <a:r>
              <a:rPr>
                <a:solidFill>
                  <a:srgbClr val="003B4F"/>
                </a:solidFill>
                <a:latin typeface="Courier"/>
              </a:rPr>
              <a:t>(</a:t>
            </a:r>
            <a:r>
              <a:rPr>
                <a:solidFill>
                  <a:srgbClr val="AD0000"/>
                </a:solidFill>
                <a:latin typeface="Courier"/>
              </a:rPr>
              <a:t>999</a:t>
            </a:r>
            <a:r>
              <a:rPr>
                <a:solidFill>
                  <a:srgbClr val="003B4F"/>
                </a:solidFill>
                <a:latin typeface="Courier"/>
              </a:rPr>
              <a:t>)</a:t>
            </a:r>
          </a:p>
          <a:p>
            <a:pPr lvl="0" indent="0">
              <a:buNone/>
            </a:pPr>
            <a:r>
              <a:rPr>
                <a:latin typeface="Courier"/>
              </a:rPr>
              <a:t>[1] 5.2 4.8  NA 7.9  NA</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a:t>Use </a:t>
            </a:r>
            <a:r>
              <a:rPr sz="2000">
                <a:latin typeface="Courier"/>
              </a:rPr>
              <a:t>na_if()</a:t>
            </a:r>
            <a:r>
              <a:rPr sz="2000"/>
              <a:t> inside </a:t>
            </a:r>
            <a:r>
              <a:rPr sz="2000">
                <a:latin typeface="Courier"/>
              </a:rPr>
              <a:t>mutate()</a:t>
            </a:r>
            <a:r>
              <a:rPr sz="2000"/>
              <a:t> when you discover a sentinel value </a:t>
            </a:r>
            <a:r>
              <a:rPr sz="2000" b="1"/>
              <a:t>after</a:t>
            </a:r>
            <a:r>
              <a:rPr sz="2000"/>
              <a:t> loading, or when only one column (not the whole file) uses that code.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Chunk 4 of 4 · Numbers-as-Text, Duplicates &amp; Outliers</a:t>
            </a:r>
          </a:p>
        </p:txBody>
      </p:sp>
      <p:sp>
        <p:nvSpPr>
          <p:cNvPr id="3" name="Content Placeholder 2"/>
          <p:cNvSpPr>
            <a:spLocks noGrp="1"/>
          </p:cNvSpPr>
          <p:nvPr>
            <p:ph idx="1"/>
          </p:nvPr>
        </p:nvSpPr>
        <p:spPr/>
        <p:txBody>
          <a:bodyPr/>
          <a:lstStyle/>
          <a:p>
            <a:pPr lvl="0" indent="0" marL="0">
              <a:buNone/>
            </a:pPr>
            <a:r>
              <a:rPr b="1"/>
              <a:t>We will cover:</a:t>
            </a:r>
            <a:r>
              <a:rPr/>
              <a:t> </a:t>
            </a:r>
            <a:r>
              <a:rPr>
                <a:latin typeface="Courier"/>
              </a:rPr>
              <a:t>parse_number()</a:t>
            </a:r>
            <a:r>
              <a:rPr/>
              <a:t>, </a:t>
            </a:r>
            <a:r>
              <a:rPr>
                <a:latin typeface="Courier"/>
              </a:rPr>
              <a:t>distinct()</a:t>
            </a:r>
            <a:r>
              <a:rPr/>
              <a:t>, and flagging (not deleting) suspicious values.</a:t>
            </a:r>
          </a:p>
          <a:p>
            <a:pPr lvl="0" indent="0" marL="1270000">
              <a:buNone/>
            </a:pPr>
            <a:r>
              <a:rPr sz="2000" b="1"/>
              <a:t>Tip</a:t>
            </a:r>
          </a:p>
          <a:p>
            <a:pPr lvl="0" indent="0" marL="1270000">
              <a:buNone/>
            </a:pPr>
            <a:r>
              <a:rPr sz="2000" b="1"/>
              <a:t>🖐 After this chunk: Activity Parts 5–7.</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parse_number()</a:t>
            </a:r>
            <a:r>
              <a:rPr/>
              <a:t> — Rescuing Numbers Trapped in Text</a:t>
            </a:r>
          </a:p>
        </p:txBody>
      </p:sp>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b="1"/>
              <a:t>🔮 Predict first:</a:t>
            </a:r>
            <a:r>
              <a:rPr sz="2000"/>
              <a:t> </a:t>
            </a:r>
            <a:r>
              <a:rPr sz="2000">
                <a:latin typeface="Courier"/>
              </a:rPr>
              <a:t>weight_g</a:t>
            </a:r>
            <a:r>
              <a:rPr sz="2000"/>
              <a:t> is </a:t>
            </a:r>
            <a:r>
              <a:rPr sz="2000">
                <a:latin typeface="Courier"/>
              </a:rPr>
              <a:t>&lt;chr&gt;</a:t>
            </a:r>
            <a:r>
              <a:rPr sz="2000"/>
              <a:t> because one entry is </a:t>
            </a:r>
            <a:r>
              <a:rPr sz="2000">
                <a:latin typeface="Courier"/>
              </a:rPr>
              <a:t>"5.5g"</a:t>
            </a:r>
            <a:r>
              <a:rPr sz="2000"/>
              <a:t>. What do you think </a:t>
            </a:r>
            <a:r>
              <a:rPr sz="2000">
                <a:latin typeface="Courier"/>
              </a:rPr>
              <a:t>parse_number("5.5g")</a:t>
            </a:r>
            <a:r>
              <a:rPr sz="2000"/>
              <a:t> returns?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a:buNone/>
            </a:pPr>
            <a:r>
              <a:rPr>
                <a:solidFill>
                  <a:srgbClr val="5E5E5E"/>
                </a:solidFill>
                <a:latin typeface="Courier"/>
              </a:rPr>
              <a:t># parse_number() extracts the numeric part of text -----</a:t>
            </a:r>
            <a:br/>
            <a:r>
              <a:rPr>
                <a:solidFill>
                  <a:srgbClr val="4758AB"/>
                </a:solidFill>
                <a:latin typeface="Courier"/>
              </a:rPr>
              <a:t>parse_number</a:t>
            </a:r>
            <a:r>
              <a:rPr>
                <a:solidFill>
                  <a:srgbClr val="003B4F"/>
                </a:solidFill>
                <a:latin typeface="Courier"/>
              </a:rPr>
              <a:t>(</a:t>
            </a:r>
            <a:r>
              <a:rPr>
                <a:solidFill>
                  <a:srgbClr val="20794D"/>
                </a:solidFill>
                <a:latin typeface="Courier"/>
              </a:rPr>
              <a:t>"5.5g"</a:t>
            </a:r>
            <a:r>
              <a:rPr>
                <a:solidFill>
                  <a:srgbClr val="003B4F"/>
                </a:solidFill>
                <a:latin typeface="Courier"/>
              </a:rPr>
              <a:t>)</a:t>
            </a:r>
          </a:p>
          <a:p>
            <a:pPr lvl="0" indent="0">
              <a:buNone/>
            </a:pPr>
            <a:r>
              <a:rPr>
                <a:latin typeface="Courier"/>
              </a:rPr>
              <a:t>[1] 5.5</a:t>
            </a:r>
          </a:p>
          <a:p>
            <a:pPr lvl="0" indent="0">
              <a:buNone/>
            </a:pPr>
            <a:r>
              <a:rPr>
                <a:solidFill>
                  <a:srgbClr val="4758AB"/>
                </a:solidFill>
                <a:latin typeface="Courier"/>
              </a:rPr>
              <a:t>parse_number</a:t>
            </a:r>
            <a:r>
              <a:rPr>
                <a:solidFill>
                  <a:srgbClr val="003B4F"/>
                </a:solidFill>
                <a:latin typeface="Courier"/>
              </a:rPr>
              <a:t>(</a:t>
            </a:r>
            <a:r>
              <a:rPr>
                <a:solidFill>
                  <a:srgbClr val="20794D"/>
                </a:solidFill>
                <a:latin typeface="Courier"/>
              </a:rPr>
              <a:t>"$12.50"</a:t>
            </a:r>
            <a:r>
              <a:rPr>
                <a:solidFill>
                  <a:srgbClr val="003B4F"/>
                </a:solidFill>
                <a:latin typeface="Courier"/>
              </a:rPr>
              <a:t>)</a:t>
            </a:r>
          </a:p>
          <a:p>
            <a:pPr lvl="0" indent="0">
              <a:buNone/>
            </a:pPr>
            <a:r>
              <a:rPr>
                <a:latin typeface="Courier"/>
              </a:rPr>
              <a:t>[1] 12.5</a:t>
            </a:r>
          </a:p>
          <a:p>
            <a:pPr lvl="0" indent="0">
              <a:buNone/>
            </a:pPr>
            <a:r>
              <a:rPr>
                <a:solidFill>
                  <a:srgbClr val="4758AB"/>
                </a:solidFill>
                <a:latin typeface="Courier"/>
              </a:rPr>
              <a:t>parse_number</a:t>
            </a:r>
            <a:r>
              <a:rPr>
                <a:solidFill>
                  <a:srgbClr val="003B4F"/>
                </a:solidFill>
                <a:latin typeface="Courier"/>
              </a:rPr>
              <a:t>(</a:t>
            </a:r>
            <a:r>
              <a:rPr>
                <a:solidFill>
                  <a:srgbClr val="20794D"/>
                </a:solidFill>
                <a:latin typeface="Courier"/>
              </a:rPr>
              <a:t>"14 cm"</a:t>
            </a:r>
            <a:r>
              <a:rPr>
                <a:solidFill>
                  <a:srgbClr val="003B4F"/>
                </a:solidFill>
                <a:latin typeface="Courier"/>
              </a:rPr>
              <a:t>)</a:t>
            </a:r>
          </a:p>
          <a:p>
            <a:pPr lvl="0" indent="0">
              <a:buNone/>
            </a:pPr>
            <a:r>
              <a:rPr>
                <a:latin typeface="Courier"/>
              </a:rPr>
              <a:t>[1] 14</a:t>
            </a:r>
          </a:p>
          <a:p>
            <a:pPr lvl="0" indent="0">
              <a:buNone/>
            </a:pPr>
            <a:r>
              <a:rPr>
                <a:solidFill>
                  <a:srgbClr val="003B4F"/>
                </a:solidFill>
                <a:latin typeface="Courier"/>
              </a:rPr>
              <a:t>leaf_clean_df &lt;- leaf_raw_df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weight_g =</a:t>
            </a:r>
            <a:r>
              <a:rPr>
                <a:solidFill>
                  <a:srgbClr val="003B4F"/>
                </a:solidFill>
                <a:latin typeface="Courier"/>
              </a:rPr>
              <a:t> </a:t>
            </a:r>
            <a:r>
              <a:rPr>
                <a:solidFill>
                  <a:srgbClr val="4758AB"/>
                </a:solidFill>
                <a:latin typeface="Courier"/>
              </a:rPr>
              <a:t>parse_number</a:t>
            </a:r>
            <a:r>
              <a:rPr>
                <a:solidFill>
                  <a:srgbClr val="003B4F"/>
                </a:solidFill>
                <a:latin typeface="Courier"/>
              </a:rPr>
              <a:t>(weight_g))</a:t>
            </a:r>
            <a:br/>
            <a:br/>
            <a:r>
              <a:rPr>
                <a:solidFill>
                  <a:srgbClr val="4758AB"/>
                </a:solidFill>
                <a:latin typeface="Courier"/>
              </a:rPr>
              <a:t>glimpse</a:t>
            </a:r>
            <a:r>
              <a:rPr>
                <a:solidFill>
                  <a:srgbClr val="003B4F"/>
                </a:solidFill>
                <a:latin typeface="Courier"/>
              </a:rPr>
              <a:t>(leaf_clean_df)</a:t>
            </a:r>
          </a:p>
          <a:p>
            <a:pPr lvl="0" indent="0">
              <a:buNone/>
            </a:pPr>
            <a:r>
              <a:rPr>
                <a:latin typeface="Courier"/>
              </a:rPr>
              <a:t>Rows: 20
Columns: 8
$ id             &lt;dbl&gt; 1, 2, 3, 4, 5, 6, 7, 8, 9, 10, 11, 12, 13, 14, 15, 16, …
$ tree_id        &lt;chr&gt; "Tree1", "Tree1", "Tree1", "Tree1", "tree_02", "tree_02…
$ side           &lt;chr&gt; "Sunny", "sunny", "SHADY", "shady", "Sunny", "sunny", "…
$ weight_g       &lt;dbl&gt; 5.2, 4.8, 7.9, 8.1, 5.5, NA, 7.6, 7.6, 5.1, NA, 8.4, 52…
$ height_cm      &lt;dbl&gt; 28.4, 26.1, 33.2, 34.0, 27.9, 25.8, 32.5, 32.5, 26.5, 2…
$ width_cm       &lt;dbl&gt; 14.1, 13.5, 17.8, 18.2, 14.4, 13.2, 17.1, 17.1, 13.9, 1…
$ date_collected &lt;chr&gt; "2026-06-01", "2026-06-01", "2026-06-01", "6/1/2026", "…
$ notes          &lt;chr&gt; NA, NA, NA, NA, "recorded with units by mistake", "scal…</a:t>
            </a:r>
          </a:p>
        </p:txBody>
      </p:sp>
      <p:sp>
        <p:nvSpPr>
          <p:cNvPr id="4" name="Content Placeholder 3"/>
          <p:cNvSpPr>
            <a:spLocks noGrp="1"/>
          </p:cNvSpPr>
          <p:nvPr>
            <p:ph idx="2" sz="half"/>
          </p:nvPr>
        </p:nvSpPr>
        <p:spPr/>
        <p:txBody>
          <a:bodyPr/>
          <a:lstStyle/>
          <a:p>
            <a:pPr lvl="0"/>
            <a:r>
              <a:rPr>
                <a:latin typeface="Courier"/>
              </a:rPr>
              <a:t>parse_number()</a:t>
            </a:r>
            <a:r>
              <a:rPr/>
              <a:t> strips currency symbols, units, and commas, keeping the digits</a:t>
            </a:r>
          </a:p>
          <a:p>
            <a:pPr lvl="0"/>
            <a:r>
              <a:rPr/>
              <a:t>After this, </a:t>
            </a:r>
            <a:r>
              <a:rPr>
                <a:latin typeface="Courier"/>
              </a:rPr>
              <a:t>weight_g</a:t>
            </a:r>
            <a:r>
              <a:rPr/>
              <a:t> is finally </a:t>
            </a:r>
            <a:r>
              <a:rPr>
                <a:latin typeface="Courier"/>
              </a:rPr>
              <a:t>&lt;dbl&gt;</a:t>
            </a:r>
            <a:r>
              <a:rPr/>
              <a:t> — a real number you can compute a mean on</a:t>
            </a:r>
          </a:p>
          <a:p>
            <a:pPr lvl="0" indent="0" marL="0">
              <a:buNone/>
            </a:pPr>
            <a:r>
              <a:rPr/>
              <a:t>📖 </a:t>
            </a:r>
            <a:r>
              <a:rPr>
                <a:hlinkClick r:id="rId2"/>
              </a:rPr>
              <a:t>R4DS §18</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Finding Duplicate Rows — </a:t>
            </a:r>
            <a:r>
              <a:rPr>
                <a:latin typeface="Courier"/>
              </a:rPr>
              <a:t>distinct()</a:t>
            </a:r>
            <a:r>
              <a:rPr/>
              <a:t> and </a:t>
            </a:r>
            <a:r>
              <a:rPr>
                <a:latin typeface="Courier"/>
              </a:rPr>
              <a:t>duplicated()</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Check for exact duplicate rows -----------------------</a:t>
            </a:r>
            <a:br/>
            <a:r>
              <a:rPr>
                <a:solidFill>
                  <a:srgbClr val="4758AB"/>
                </a:solidFill>
                <a:latin typeface="Courier"/>
              </a:rPr>
              <a:t>sum</a:t>
            </a:r>
            <a:r>
              <a:rPr>
                <a:solidFill>
                  <a:srgbClr val="003B4F"/>
                </a:solidFill>
                <a:latin typeface="Courier"/>
              </a:rPr>
              <a:t>(</a:t>
            </a:r>
            <a:r>
              <a:rPr>
                <a:solidFill>
                  <a:srgbClr val="4758AB"/>
                </a:solidFill>
                <a:latin typeface="Courier"/>
              </a:rPr>
              <a:t>duplicated</a:t>
            </a:r>
            <a:r>
              <a:rPr>
                <a:solidFill>
                  <a:srgbClr val="003B4F"/>
                </a:solidFill>
                <a:latin typeface="Courier"/>
              </a:rPr>
              <a:t>(leaf_raw_df))</a:t>
            </a:r>
          </a:p>
          <a:p>
            <a:pPr lvl="0" indent="0">
              <a:buNone/>
            </a:pPr>
            <a:r>
              <a:rPr>
                <a:latin typeface="Courier"/>
              </a:rPr>
              <a:t>[1] 0</a:t>
            </a:r>
          </a:p>
          <a:p>
            <a:pPr lvl="0" indent="0">
              <a:buNone/>
            </a:pPr>
            <a:r>
              <a:rPr>
                <a:solidFill>
                  <a:srgbClr val="003B4F"/>
                </a:solidFill>
                <a:latin typeface="Courier"/>
              </a:rPr>
              <a:t>leaf_raw_df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4758AB"/>
                </a:solidFill>
                <a:latin typeface="Courier"/>
              </a:rPr>
              <a:t>duplicated</a:t>
            </a:r>
            <a:r>
              <a:rPr>
                <a:solidFill>
                  <a:srgbClr val="003B4F"/>
                </a:solidFill>
                <a:latin typeface="Courier"/>
              </a:rPr>
              <a:t>(leaf_raw_df) </a:t>
            </a:r>
            <a:r>
              <a:rPr>
                <a:solidFill>
                  <a:srgbClr val="5E5E5E"/>
                </a:solidFill>
                <a:latin typeface="Courier"/>
              </a:rPr>
              <a:t>|</a:t>
            </a:r>
            <a:r>
              <a:rPr>
                <a:solidFill>
                  <a:srgbClr val="003B4F"/>
                </a:solidFill>
                <a:latin typeface="Courier"/>
              </a:rPr>
              <a:t> </a:t>
            </a:r>
            <a:r>
              <a:rPr>
                <a:solidFill>
                  <a:srgbClr val="4758AB"/>
                </a:solidFill>
                <a:latin typeface="Courier"/>
              </a:rPr>
              <a:t>duplicated</a:t>
            </a:r>
            <a:r>
              <a:rPr>
                <a:solidFill>
                  <a:srgbClr val="003B4F"/>
                </a:solidFill>
                <a:latin typeface="Courier"/>
              </a:rPr>
              <a:t>(leaf_raw_df, </a:t>
            </a:r>
            <a:r>
              <a:rPr>
                <a:solidFill>
                  <a:srgbClr val="657422"/>
                </a:solidFill>
                <a:latin typeface="Courier"/>
              </a:rPr>
              <a:t>fromLast =</a:t>
            </a:r>
            <a:r>
              <a:rPr>
                <a:solidFill>
                  <a:srgbClr val="003B4F"/>
                </a:solidFill>
                <a:latin typeface="Courier"/>
              </a:rPr>
              <a:t> </a:t>
            </a:r>
            <a:r>
              <a:rPr>
                <a:solidFill>
                  <a:srgbClr val="8F5902"/>
                </a:solidFill>
                <a:latin typeface="Courier"/>
              </a:rPr>
              <a:t>TRUE</a:t>
            </a:r>
            <a:r>
              <a:rPr>
                <a:solidFill>
                  <a:srgbClr val="003B4F"/>
                </a:solidFill>
                <a:latin typeface="Courier"/>
              </a:rPr>
              <a:t>))</a:t>
            </a:r>
          </a:p>
          <a:p>
            <a:pPr lvl="0" indent="0">
              <a:buNone/>
            </a:pPr>
            <a:r>
              <a:rPr>
                <a:latin typeface="Courier"/>
              </a:rPr>
              <a:t># A tibble: 0 × 8
# ℹ 8 variables: id &lt;dbl&gt;, tree_id &lt;chr&gt;, side &lt;chr&gt;, weight_g &lt;chr&gt;,
#   height_cm &lt;dbl&gt;, width_cm &lt;dbl&gt;, date_collected &lt;chr&gt;, notes &lt;chr&gt;</a:t>
            </a:r>
          </a:p>
          <a:p>
            <a:pPr lvl="0" indent="0">
              <a:buNone/>
            </a:pPr>
            <a:r>
              <a:rPr>
                <a:solidFill>
                  <a:srgbClr val="5E5E5E"/>
                </a:solidFill>
                <a:latin typeface="Courier"/>
              </a:rPr>
              <a:t># distinct() keeps only the first copy of each row -----</a:t>
            </a:r>
            <a:br/>
            <a:r>
              <a:rPr>
                <a:solidFill>
                  <a:srgbClr val="003B4F"/>
                </a:solidFill>
                <a:latin typeface="Courier"/>
              </a:rPr>
              <a:t>leaf_clean_df &lt;- leaf_raw_df </a:t>
            </a:r>
            <a:r>
              <a:rPr>
                <a:solidFill>
                  <a:srgbClr val="5E5E5E"/>
                </a:solidFill>
                <a:latin typeface="Courier"/>
              </a:rPr>
              <a:t>%&gt;%</a:t>
            </a:r>
            <a:r>
              <a:rPr>
                <a:solidFill>
                  <a:srgbClr val="003B4F"/>
                </a:solidFill>
                <a:latin typeface="Courier"/>
              </a:rPr>
              <a:t> </a:t>
            </a:r>
            <a:r>
              <a:rPr>
                <a:solidFill>
                  <a:srgbClr val="4758AB"/>
                </a:solidFill>
                <a:latin typeface="Courier"/>
              </a:rPr>
              <a:t>distinct</a:t>
            </a:r>
            <a:r>
              <a:rPr>
                <a:solidFill>
                  <a:srgbClr val="003B4F"/>
                </a:solidFill>
                <a:latin typeface="Courier"/>
              </a:rPr>
              <a:t>()</a:t>
            </a:r>
            <a:br/>
            <a:br/>
            <a:r>
              <a:rPr>
                <a:solidFill>
                  <a:srgbClr val="4758AB"/>
                </a:solidFill>
                <a:latin typeface="Courier"/>
              </a:rPr>
              <a:t>nrow</a:t>
            </a:r>
            <a:r>
              <a:rPr>
                <a:solidFill>
                  <a:srgbClr val="003B4F"/>
                </a:solidFill>
                <a:latin typeface="Courier"/>
              </a:rPr>
              <a:t>(leaf_raw_df)</a:t>
            </a:r>
          </a:p>
          <a:p>
            <a:pPr lvl="0" indent="0">
              <a:buNone/>
            </a:pPr>
            <a:r>
              <a:rPr>
                <a:latin typeface="Courier"/>
              </a:rPr>
              <a:t>[1] 20</a:t>
            </a:r>
          </a:p>
          <a:p>
            <a:pPr lvl="0" indent="0">
              <a:buNone/>
            </a:pPr>
            <a:r>
              <a:rPr>
                <a:solidFill>
                  <a:srgbClr val="4758AB"/>
                </a:solidFill>
                <a:latin typeface="Courier"/>
              </a:rPr>
              <a:t>nrow</a:t>
            </a:r>
            <a:r>
              <a:rPr>
                <a:solidFill>
                  <a:srgbClr val="003B4F"/>
                </a:solidFill>
                <a:latin typeface="Courier"/>
              </a:rPr>
              <a:t>(leaf_clean_df)</a:t>
            </a:r>
          </a:p>
          <a:p>
            <a:pPr lvl="0" indent="0">
              <a:buNone/>
            </a:pPr>
            <a:r>
              <a:rPr>
                <a:latin typeface="Courier"/>
              </a:rPr>
              <a:t>[1] 20</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a:latin typeface="Courier"/>
              </a:rPr>
              <a:t>duplicated()</a:t>
            </a:r>
            <a:r>
              <a:rPr sz="2000"/>
              <a:t> flags rows so you can </a:t>
            </a:r>
            <a:r>
              <a:rPr sz="2000" b="1"/>
              <a:t>look at them before deleting</a:t>
            </a:r>
            <a:r>
              <a:rPr sz="2000"/>
              <a:t> — always inspect first. </a:t>
            </a:r>
            <a:r>
              <a:rPr sz="2000">
                <a:latin typeface="Courier"/>
              </a:rPr>
              <a:t>distinct()</a:t>
            </a:r>
            <a:r>
              <a:rPr sz="2000"/>
              <a:t> then removes exact repeats, keeping one copy.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Flagging Outliers Instead of Deleting Them</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Flag, don't silently delete, suspicious values -------</a:t>
            </a:r>
            <a:br/>
            <a:r>
              <a:rPr>
                <a:solidFill>
                  <a:srgbClr val="003B4F"/>
                </a:solidFill>
                <a:latin typeface="Courier"/>
              </a:rPr>
              <a:t>leaf_flagged_df &lt;- leaf_clean_df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weight_flag =</a:t>
            </a:r>
            <a:r>
              <a:rPr>
                <a:solidFill>
                  <a:srgbClr val="003B4F"/>
                </a:solidFill>
                <a:latin typeface="Courier"/>
              </a:rPr>
              <a:t> </a:t>
            </a:r>
            <a:r>
              <a:rPr>
                <a:solidFill>
                  <a:srgbClr val="4758AB"/>
                </a:solidFill>
                <a:latin typeface="Courier"/>
              </a:rPr>
              <a:t>if_else</a:t>
            </a:r>
            <a:r>
              <a:rPr>
                <a:solidFill>
                  <a:srgbClr val="003B4F"/>
                </a:solidFill>
                <a:latin typeface="Courier"/>
              </a:rPr>
              <a:t>(weight_g </a:t>
            </a:r>
            <a:r>
              <a:rPr>
                <a:solidFill>
                  <a:srgbClr val="5E5E5E"/>
                </a:solidFill>
                <a:latin typeface="Courier"/>
              </a:rPr>
              <a:t>&gt;</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20794D"/>
                </a:solidFill>
                <a:latin typeface="Courier"/>
              </a:rPr>
              <a:t>"check this value"</a:t>
            </a:r>
            <a:r>
              <a:rPr>
                <a:solidFill>
                  <a:srgbClr val="003B4F"/>
                </a:solidFill>
                <a:latin typeface="Courier"/>
              </a:rPr>
              <a:t>, </a:t>
            </a:r>
            <a:r>
              <a:rPr>
                <a:solidFill>
                  <a:srgbClr val="20794D"/>
                </a:solidFill>
                <a:latin typeface="Courier"/>
              </a:rPr>
              <a:t>"ok"</a:t>
            </a:r>
            <a:r>
              <a:rPr>
                <a:solidFill>
                  <a:srgbClr val="003B4F"/>
                </a:solidFill>
                <a:latin typeface="Courier"/>
              </a:rPr>
              <a:t>))</a:t>
            </a:r>
            <a:br/>
            <a:br/>
            <a:r>
              <a:rPr>
                <a:solidFill>
                  <a:srgbClr val="003B4F"/>
                </a:solidFill>
                <a:latin typeface="Courier"/>
              </a:rPr>
              <a:t>leaf_flagged_df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(weight_flag </a:t>
            </a:r>
            <a:r>
              <a:rPr>
                <a:solidFill>
                  <a:srgbClr val="5E5E5E"/>
                </a:solidFill>
                <a:latin typeface="Courier"/>
              </a:rPr>
              <a:t>==</a:t>
            </a:r>
            <a:r>
              <a:rPr>
                <a:solidFill>
                  <a:srgbClr val="003B4F"/>
                </a:solidFill>
                <a:latin typeface="Courier"/>
              </a:rPr>
              <a:t> </a:t>
            </a:r>
            <a:r>
              <a:rPr>
                <a:solidFill>
                  <a:srgbClr val="20794D"/>
                </a:solidFill>
                <a:latin typeface="Courier"/>
              </a:rPr>
              <a:t>"check this value"</a:t>
            </a:r>
            <a:r>
              <a:rPr>
                <a:solidFill>
                  <a:srgbClr val="003B4F"/>
                </a:solidFill>
                <a:latin typeface="Courier"/>
              </a:rPr>
              <a:t>)</a:t>
            </a:r>
          </a:p>
          <a:p>
            <a:pPr lvl="0" indent="0">
              <a:buNone/>
            </a:pPr>
            <a:r>
              <a:rPr>
                <a:latin typeface="Courier"/>
              </a:rPr>
              <a:t># A tibble: 17 × 9
      id tree_id side  weight_g height_cm width_cm date_collected notes         
   &lt;dbl&gt; &lt;chr&gt;   &lt;chr&gt; &lt;chr&gt;        &lt;dbl&gt;    &lt;dbl&gt; &lt;chr&gt;          &lt;chr&gt;         
 1     1 Tree1   Sunny 5.2           28.4     14.1 2026-06-01     &lt;NA&gt;          
 2     2 Tree1   sunny 4.8           26.1     13.5 2026-06-01     &lt;NA&gt;          
 3     3 Tree1   SHADY 7.9           33.2     17.8 2026-06-01     &lt;NA&gt;          
 4     4 Tree1   shady 8.1           34       18.2 6/1/2026       &lt;NA&gt;          
 5     5 tree_02 Sunny 5.5g          27.9     14.4 2026-06-02     recorded with…
 6     7 tree_02 Shady 7.6           32.5     17.1 6/2/2026       &lt;NA&gt;          
 7     8 tree_02 SHADY 7.6           32.5     17.1 6/2/2026       duplicate ent…
 8     9 Tree 3  sunny 5.1           26.5     13.9 2026-06-02     &lt;NA&gt;          
 9    11 Tree 3  shady 8.4           35.1     18.6 2026-06-03     &lt;NA&gt;          
10    12 Tree 3  shady 52            34.6     18   2026-06-03     typo - decima…
11    13 Tree4   Sunny 4.9           NA       13.6 2026-06-03     height not re…
12    14 Tree4   sunny 5.3           27.2     14   2026-06-03     &lt;NA&gt;          
13    16 Tree4   shady 8.0           33.5     17.6 6/3/2026       &lt;NA&gt;          
14    17 tree_05 SUNNY 5.0           26.8     13.8 2026-06-04     &lt;NA&gt;          
15    18 tree_05 sunny 4.7           NA       13.1 2026-06-04     height not re…
16    19 tree_05 Shady 7.8           32.9     NA   2026-06-04     width not rec…
17    20 tree_05 shady 8.2           34.4     18.3 2026-06-04     &lt;NA&gt;          
# ℹ 1 more variable: weight_flag &lt;chr&gt;</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Watch out!</a:t>
            </a:r>
          </a:p>
          <a:p>
            <a:pPr lvl="0" indent="0" marL="1270000">
              <a:buNone/>
            </a:pPr>
            <a:r>
              <a:rPr sz="2000"/>
              <a:t>A </a:t>
            </a:r>
            <a:r>
              <a:rPr sz="2000">
                <a:latin typeface="Courier"/>
              </a:rPr>
              <a:t>52</a:t>
            </a:r>
            <a:r>
              <a:rPr sz="2000"/>
              <a:t> where every other leaf is </a:t>
            </a:r>
            <a:r>
              <a:rPr sz="2000">
                <a:latin typeface="Courier"/>
              </a:rPr>
              <a:t>4</a:t>
            </a:r>
            <a:r>
              <a:rPr sz="2000"/>
              <a:t>–</a:t>
            </a:r>
            <a:r>
              <a:rPr sz="2000">
                <a:latin typeface="Courier"/>
              </a:rPr>
              <a:t>8</a:t>
            </a:r>
            <a:r>
              <a:rPr sz="2000"/>
              <a:t> g is almost certainly a decimal-point typo for </a:t>
            </a:r>
            <a:r>
              <a:rPr sz="2000">
                <a:latin typeface="Courier"/>
              </a:rPr>
              <a:t>5.2</a:t>
            </a:r>
            <a:r>
              <a:rPr sz="2000"/>
              <a:t> — but you were not there when it was measured. </a:t>
            </a:r>
            <a:r>
              <a:rPr sz="2000" b="1"/>
              <a:t>Flag and go back to the field notebook</a:t>
            </a:r>
            <a:r>
              <a:rPr sz="2000"/>
              <a:t>; do not silently delete or “fix” a number you are only guessing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Pause — Do Activity Parts 1–7 Now</a:t>
            </a:r>
          </a:p>
        </p:txBody>
      </p:sp>
      <p:sp>
        <p:nvSpPr>
          <p:cNvPr id="3" name="Content Placeholder 2"/>
          <p:cNvSpPr>
            <a:spLocks noGrp="1"/>
          </p:cNvSpPr>
          <p:nvPr>
            <p:ph idx="1"/>
          </p:nvPr>
        </p:nvSpPr>
        <p:spPr/>
        <p:txBody>
          <a:bodyPr/>
          <a:lstStyle/>
          <a:p>
            <a:pPr lvl="0" indent="0" marL="0">
              <a:buNone/>
            </a:pPr>
            <a:r>
              <a:rPr/>
              <a:t>Take the raw messy file all the way through: detect the mess, fix text, fix fake NAs, rescue numbers-as-text, remove duplicates, and flag outliers.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 Learned Today</a:t>
            </a:r>
          </a:p>
        </p:txBody>
      </p:sp>
      <p:sp>
        <p:nvSpPr>
          <p:cNvPr id="3" name="Content Placeholder 2"/>
          <p:cNvSpPr>
            <a:spLocks noGrp="1"/>
          </p:cNvSpPr>
          <p:nvPr>
            <p:ph idx="1" sz="half"/>
          </p:nvPr>
        </p:nvSpPr>
        <p:spPr/>
        <p:txBody>
          <a:bodyPr/>
          <a:lstStyle/>
          <a:p>
            <a:pPr lvl="0"/>
            <a:r>
              <a:rPr b="1"/>
              <a:t>See the mess first:</a:t>
            </a:r>
            <a:r>
              <a:rPr/>
              <a:t> </a:t>
            </a:r>
            <a:r>
              <a:rPr>
                <a:latin typeface="Courier"/>
              </a:rPr>
              <a:t>glimpse()</a:t>
            </a:r>
            <a:r>
              <a:rPr/>
              <a:t>, </a:t>
            </a:r>
            <a:r>
              <a:rPr>
                <a:latin typeface="Courier"/>
              </a:rPr>
              <a:t>skim()</a:t>
            </a:r>
            <a:r>
              <a:rPr/>
              <a:t>, </a:t>
            </a:r>
            <a:r>
              <a:rPr>
                <a:latin typeface="Courier"/>
              </a:rPr>
              <a:t>count()</a:t>
            </a:r>
            <a:r>
              <a:rPr/>
              <a:t> on every </a:t>
            </a:r>
            <a:r>
              <a:rPr>
                <a:latin typeface="Courier"/>
              </a:rPr>
              <a:t>&lt;chr&gt;</a:t>
            </a:r>
            <a:r>
              <a:rPr/>
              <a:t> column</a:t>
            </a:r>
          </a:p>
          <a:p>
            <a:pPr lvl="0"/>
            <a:r>
              <a:rPr b="1"/>
              <a:t>Column names:</a:t>
            </a:r>
            <a:r>
              <a:rPr/>
              <a:t> </a:t>
            </a:r>
            <a:r>
              <a:rPr>
                <a:latin typeface="Courier"/>
              </a:rPr>
              <a:t>janitor::clean_names()</a:t>
            </a:r>
          </a:p>
          <a:p>
            <a:pPr lvl="0"/>
            <a:r>
              <a:rPr b="1"/>
              <a:t>Text inconsistency:</a:t>
            </a:r>
            <a:r>
              <a:rPr/>
              <a:t> </a:t>
            </a:r>
            <a:r>
              <a:rPr>
                <a:latin typeface="Courier"/>
              </a:rPr>
              <a:t>str_trim()</a:t>
            </a:r>
            <a:r>
              <a:rPr/>
              <a:t> + </a:t>
            </a:r>
            <a:r>
              <a:rPr>
                <a:latin typeface="Courier"/>
              </a:rPr>
              <a:t>str_to_lower()</a:t>
            </a:r>
          </a:p>
          <a:p>
            <a:pPr lvl="0"/>
            <a:r>
              <a:rPr b="1"/>
              <a:t>Fake missing codes:</a:t>
            </a:r>
            <a:r>
              <a:rPr/>
              <a:t> </a:t>
            </a:r>
            <a:r>
              <a:rPr>
                <a:latin typeface="Courier"/>
              </a:rPr>
              <a:t>na = c(...)</a:t>
            </a:r>
            <a:r>
              <a:rPr/>
              <a:t> at </a:t>
            </a:r>
            <a:r>
              <a:rPr>
                <a:latin typeface="Courier"/>
              </a:rPr>
              <a:t>read_csv()</a:t>
            </a:r>
            <a:r>
              <a:rPr/>
              <a:t>, or </a:t>
            </a:r>
            <a:r>
              <a:rPr>
                <a:latin typeface="Courier"/>
              </a:rPr>
              <a:t>na_if()</a:t>
            </a:r>
            <a:r>
              <a:rPr/>
              <a:t> after</a:t>
            </a:r>
          </a:p>
          <a:p>
            <a:pPr lvl="0"/>
            <a:r>
              <a:rPr b="1"/>
              <a:t>Numbers trapped in text:</a:t>
            </a:r>
            <a:r>
              <a:rPr/>
              <a:t> </a:t>
            </a:r>
            <a:r>
              <a:rPr>
                <a:latin typeface="Courier"/>
              </a:rPr>
              <a:t>parse_number()</a:t>
            </a:r>
          </a:p>
          <a:p>
            <a:pPr lvl="0"/>
            <a:r>
              <a:rPr b="1"/>
              <a:t>Duplicate rows:</a:t>
            </a:r>
            <a:r>
              <a:rPr/>
              <a:t> </a:t>
            </a:r>
            <a:r>
              <a:rPr>
                <a:latin typeface="Courier"/>
              </a:rPr>
              <a:t>duplicated()</a:t>
            </a:r>
            <a:r>
              <a:rPr/>
              <a:t> to inspect, </a:t>
            </a:r>
            <a:r>
              <a:rPr>
                <a:latin typeface="Courier"/>
              </a:rPr>
              <a:t>distinct()</a:t>
            </a:r>
            <a:r>
              <a:rPr/>
              <a:t> to remove</a:t>
            </a:r>
          </a:p>
          <a:p>
            <a:pPr lvl="0"/>
            <a:r>
              <a:rPr b="1"/>
              <a:t>Suspicious values:</a:t>
            </a:r>
            <a:r>
              <a:rPr/>
              <a:t> flag with </a:t>
            </a:r>
            <a:r>
              <a:rPr>
                <a:latin typeface="Courier"/>
              </a:rPr>
              <a:t>mutate()</a:t>
            </a:r>
            <a:r>
              <a:rPr/>
              <a:t>, never delete silently</a:t>
            </a:r>
          </a:p>
        </p:txBody>
      </p:sp>
      <p:sp>
        <p:nvSpPr>
          <p:cNvPr id="4" name="Content Placeholder 3"/>
          <p:cNvSpPr>
            <a:spLocks noGrp="1"/>
          </p:cNvSpPr>
          <p:nvPr>
            <p:ph idx="2" sz="half"/>
          </p:nvPr>
        </p:nvSpPr>
        <p:spPr/>
        <p:txBody>
          <a:bodyPr/>
          <a:lstStyle/>
          <a:p>
            <a:pPr lvl="0" indent="0" marL="0">
              <a:buNone/>
            </a:pPr>
            <a:r>
              <a:rPr b="1"/>
              <a:t>References:</a:t>
            </a:r>
          </a:p>
          <a:p>
            <a:pPr lvl="0"/>
            <a:r>
              <a:rPr/>
              <a:t>📖 </a:t>
            </a:r>
            <a:r>
              <a:rPr>
                <a:hlinkClick r:id="rId2"/>
              </a:rPr>
              <a:t>R4DS §18</a:t>
            </a:r>
            <a:r>
              <a:rPr/>
              <a:t> — Missing Values</a:t>
            </a:r>
          </a:p>
          <a:p>
            <a:pPr lvl="0"/>
            <a:r>
              <a:rPr/>
              <a:t>📖 </a:t>
            </a:r>
            <a:r>
              <a:rPr>
                <a:hlinkClick r:id="rId3"/>
              </a:rPr>
              <a:t>R4DS §17</a:t>
            </a:r>
            <a:r>
              <a:rPr/>
              <a:t> — Strings</a:t>
            </a:r>
          </a:p>
          <a:p>
            <a:pPr lvl="0"/>
            <a:r>
              <a:rPr/>
              <a:t>🌐 </a:t>
            </a:r>
            <a:r>
              <a:rPr>
                <a:hlinkClick r:id="rId4"/>
              </a:rPr>
              <a:t>Data Carpentry — Cleaning</a:t>
            </a:r>
          </a:p>
          <a:p>
            <a:pPr lvl="0" indent="0" marL="0">
              <a:buNone/>
            </a:pPr>
            <a:r>
              <a:rPr b="1"/>
              <a:t>Golden rule:</a:t>
            </a:r>
          </a:p>
          <a:p>
            <a:pPr lvl="0" indent="0" marL="1270000">
              <a:buNone/>
            </a:pPr>
            <a:r>
              <a:rPr sz="2000"/>
              <a:t>Never overwrite your raw file. </a:t>
            </a:r>
            <a:r>
              <a:rPr sz="2000">
                <a:latin typeface="Courier"/>
              </a:rPr>
              <a:t>raw_df</a:t>
            </a:r>
            <a:r>
              <a:rPr sz="2000"/>
              <a:t> stays untouched; every fix creates or updates </a:t>
            </a:r>
            <a:r>
              <a:rPr sz="2000">
                <a:latin typeface="Courier"/>
              </a:rPr>
              <a:t>clean_df</a:t>
            </a:r>
            <a:r>
              <a:rPr sz="2000"/>
              <a:t>.</a:t>
            </a:r>
          </a:p>
          <a:p>
            <a:pPr lvl="0" indent="0" marL="0">
              <a:buNone/>
            </a:pPr>
            <a:r>
              <a:rPr b="1"/>
              <a:t>Up next — Lecture 04:</a:t>
            </a:r>
          </a:p>
          <a:p>
            <a:pPr lvl="0"/>
            <a:r>
              <a:rPr/>
              <a:t>Two-sample t-test, now on data you actually trust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03B — Cleaning Messy Data</dc:title>
  <dc:creator>Bill Perry</dc:creator>
  <cp:keywords/>
  <dc:description>Every real dataset arrives messy. Learn to spot and fix inconsistent capitalization, stray whitespace, fake NA codes, duplicate rows, and numbers stored as text before you ever try to analyze anything.</dc:description>
  <dcterms:created xsi:type="dcterms:W3CDTF">2026-08-27T17:13:16Z</dcterms:created>
  <dcterms:modified xsi:type="dcterms:W3CDTF">2026-08-27T17:13:16Z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date">
    <vt:lpwstr>2026-08-27</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3.5</vt:lpwstr>
  </property>
  <property fmtid="{D5CDD505-2E9C-101B-9397-08002B2CF9AE}" pid="13" name="subtitle">
    <vt:lpwstr>From a real messy spreadsheet to a trustworthy data frame</vt:lpwstr>
  </property>
  <property fmtid="{D5CDD505-2E9C-101B-9397-08002B2CF9AE}" pid="14" name="toc-title">
    <vt:lpwstr>Table of contents</vt:lpwstr>
  </property>
  <property fmtid="{D5CDD505-2E9C-101B-9397-08002B2CF9AE}" pid="15" name="type">
    <vt:lpwstr>lecture</vt:lpwstr>
  </property>
  <property fmtid="{D5CDD505-2E9C-101B-9397-08002B2CF9AE}" pid="16" name="week">
    <vt:lpwstr>2</vt:lpwstr>
  </property>
</Properties>
</file>